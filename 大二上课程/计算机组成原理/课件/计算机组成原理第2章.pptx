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02"/>
  </p:handoutMasterIdLst>
  <p:sldIdLst>
    <p:sldId id="256" r:id="rId3"/>
    <p:sldId id="558" r:id="rId5"/>
    <p:sldId id="321" r:id="rId6"/>
    <p:sldId id="718" r:id="rId7"/>
    <p:sldId id="377" r:id="rId8"/>
    <p:sldId id="715" r:id="rId9"/>
    <p:sldId id="263" r:id="rId10"/>
    <p:sldId id="501" r:id="rId11"/>
    <p:sldId id="502" r:id="rId12"/>
    <p:sldId id="384" r:id="rId13"/>
    <p:sldId id="598" r:id="rId14"/>
    <p:sldId id="387" r:id="rId15"/>
    <p:sldId id="344" r:id="rId16"/>
    <p:sldId id="506" r:id="rId17"/>
    <p:sldId id="507" r:id="rId18"/>
    <p:sldId id="392" r:id="rId19"/>
    <p:sldId id="632" r:id="rId20"/>
    <p:sldId id="396" r:id="rId21"/>
    <p:sldId id="259" r:id="rId22"/>
    <p:sldId id="368" r:id="rId23"/>
    <p:sldId id="509" r:id="rId24"/>
    <p:sldId id="510" r:id="rId25"/>
    <p:sldId id="592" r:id="rId26"/>
    <p:sldId id="629" r:id="rId27"/>
    <p:sldId id="400" r:id="rId28"/>
    <p:sldId id="585" r:id="rId29"/>
    <p:sldId id="379" r:id="rId30"/>
    <p:sldId id="717" r:id="rId31"/>
    <p:sldId id="406" r:id="rId32"/>
    <p:sldId id="543" r:id="rId33"/>
    <p:sldId id="549" r:id="rId34"/>
    <p:sldId id="602" r:id="rId35"/>
    <p:sldId id="599" r:id="rId36"/>
    <p:sldId id="409" r:id="rId37"/>
    <p:sldId id="514" r:id="rId38"/>
    <p:sldId id="516" r:id="rId39"/>
    <p:sldId id="353" r:id="rId40"/>
    <p:sldId id="412" r:id="rId41"/>
    <p:sldId id="354" r:id="rId42"/>
    <p:sldId id="332" r:id="rId43"/>
    <p:sldId id="550" r:id="rId44"/>
    <p:sldId id="416" r:id="rId45"/>
    <p:sldId id="551" r:id="rId46"/>
    <p:sldId id="552" r:id="rId47"/>
    <p:sldId id="417" r:id="rId48"/>
    <p:sldId id="517" r:id="rId49"/>
    <p:sldId id="591" r:id="rId50"/>
    <p:sldId id="413" r:id="rId51"/>
    <p:sldId id="425" r:id="rId52"/>
    <p:sldId id="426" r:id="rId53"/>
    <p:sldId id="436" r:id="rId54"/>
    <p:sldId id="586" r:id="rId55"/>
    <p:sldId id="427" r:id="rId56"/>
    <p:sldId id="428" r:id="rId57"/>
    <p:sldId id="617" r:id="rId58"/>
    <p:sldId id="618" r:id="rId59"/>
    <p:sldId id="500" r:id="rId60"/>
    <p:sldId id="597" r:id="rId61"/>
    <p:sldId id="557" r:id="rId62"/>
    <p:sldId id="418" r:id="rId63"/>
    <p:sldId id="518" r:id="rId64"/>
    <p:sldId id="587" r:id="rId65"/>
    <p:sldId id="521" r:id="rId66"/>
    <p:sldId id="566" r:id="rId67"/>
    <p:sldId id="608" r:id="rId68"/>
    <p:sldId id="568" r:id="rId69"/>
    <p:sldId id="569" r:id="rId70"/>
    <p:sldId id="595" r:id="rId71"/>
    <p:sldId id="574" r:id="rId72"/>
    <p:sldId id="576" r:id="rId73"/>
    <p:sldId id="577" r:id="rId74"/>
    <p:sldId id="570" r:id="rId75"/>
    <p:sldId id="610" r:id="rId76"/>
    <p:sldId id="546" r:id="rId77"/>
    <p:sldId id="473" r:id="rId78"/>
    <p:sldId id="611" r:id="rId79"/>
    <p:sldId id="475" r:id="rId80"/>
    <p:sldId id="537" r:id="rId81"/>
    <p:sldId id="476" r:id="rId82"/>
    <p:sldId id="479" r:id="rId83"/>
    <p:sldId id="612" r:id="rId84"/>
    <p:sldId id="554" r:id="rId85"/>
    <p:sldId id="556" r:id="rId86"/>
    <p:sldId id="589" r:id="rId87"/>
    <p:sldId id="483" r:id="rId88"/>
    <p:sldId id="539" r:id="rId89"/>
    <p:sldId id="485" r:id="rId90"/>
    <p:sldId id="541" r:id="rId91"/>
    <p:sldId id="619" r:id="rId92"/>
    <p:sldId id="630" r:id="rId93"/>
    <p:sldId id="623" r:id="rId94"/>
    <p:sldId id="624" r:id="rId95"/>
    <p:sldId id="626" r:id="rId96"/>
    <p:sldId id="627" r:id="rId97"/>
    <p:sldId id="628" r:id="rId98"/>
    <p:sldId id="584" r:id="rId99"/>
    <p:sldId id="631" r:id="rId100"/>
    <p:sldId id="596" r:id="rId101"/>
  </p:sldIdLst>
  <p:sldSz cx="9144000" cy="6858000" type="screen4x3"/>
  <p:notesSz cx="6858000" cy="9144000"/>
  <p:custDataLst>
    <p:tags r:id="rId106"/>
  </p:custDataLst>
  <p:defaultTextStyle>
    <a:defPPr>
      <a:defRPr lang="zh-CN"/>
    </a:defPPr>
    <a:lvl1pPr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FF3399"/>
    <a:srgbClr val="CCECFF"/>
    <a:srgbClr val="FFCC99"/>
    <a:srgbClr val="CCCCFF"/>
    <a:srgbClr val="FFCCFF"/>
    <a:srgbClr val="CCFFFF"/>
    <a:srgbClr val="CC99FF"/>
    <a:srgbClr val="99CC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4" autoAdjust="0"/>
    <p:restoredTop sz="94650" autoAdjust="0"/>
  </p:normalViewPr>
  <p:slideViewPr>
    <p:cSldViewPr showGuides="1">
      <p:cViewPr>
        <p:scale>
          <a:sx n="70" d="100"/>
          <a:sy n="70" d="100"/>
        </p:scale>
        <p:origin x="-821" y="-197"/>
      </p:cViewPr>
      <p:guideLst>
        <p:guide orient="horz" pos="2124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6" Type="http://schemas.openxmlformats.org/officeDocument/2006/relationships/tags" Target="tags/tag374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EF9B27F6-252B-4348-BABE-898E991E8DF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3CFE8EDC-34A9-4DEA-B9EA-ED3551F6672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学时（数据编码</a:t>
            </a:r>
            <a:r>
              <a:rPr lang="en-US" dirty="0" smtClean="0">
                <a:sym typeface="+mn-ea"/>
              </a:rPr>
              <a:t>&amp;</a:t>
            </a:r>
            <a:r>
              <a:rPr lang="zh-CN" altLang="en-US" dirty="0" smtClean="0">
                <a:sym typeface="+mn-ea"/>
              </a:rPr>
              <a:t>表示</a:t>
            </a:r>
            <a:r>
              <a:rPr lang="zh-CN" dirty="0" smtClean="0">
                <a:sym typeface="+mn-ea"/>
              </a:rPr>
              <a:t>）</a:t>
            </a:r>
            <a:r>
              <a:rPr lang="zh-CN" altLang="en-US" dirty="0" smtClean="0">
                <a:sym typeface="+mn-ea"/>
              </a:rPr>
              <a:t>，数据运算需</a:t>
            </a:r>
            <a:r>
              <a:rPr lang="en-US" altLang="zh-CN" dirty="0" smtClean="0">
                <a:sym typeface="+mn-ea"/>
              </a:rPr>
              <a:t>5</a:t>
            </a:r>
            <a:r>
              <a:rPr lang="zh-CN" altLang="en-US" dirty="0" smtClean="0">
                <a:sym typeface="+mn-ea"/>
              </a:rPr>
              <a:t>学时（含数电复习），运算器组成需</a:t>
            </a:r>
            <a:r>
              <a:rPr lang="en-US" altLang="zh-CN" dirty="0" smtClean="0">
                <a:sym typeface="+mn-ea"/>
              </a:rPr>
              <a:t>1</a:t>
            </a:r>
            <a:r>
              <a:rPr lang="zh-CN" altLang="en-US" dirty="0" smtClean="0">
                <a:sym typeface="+mn-ea"/>
              </a:rPr>
              <a:t>学时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spc="-100" dirty="0" smtClean="0">
                <a:solidFill>
                  <a:schemeClr val="tx1"/>
                </a:solidFill>
              </a:rPr>
              <a:t>△表示考核要求较低，了解级别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记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、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、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，其余增减；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0x(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前缀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altLang="zh-CN" sz="11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负数用正补数表示，加法运算时操作数的符号相同，只进行加法，结果符号按规则确定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①</a:t>
            </a:r>
            <a:r>
              <a:rPr lang="en-US" altLang="zh-CN" dirty="0" smtClean="0"/>
              <a:t>C </a:t>
            </a:r>
            <a:r>
              <a:rPr lang="zh-CN" altLang="en-US" dirty="0" smtClean="0"/>
              <a:t>②</a:t>
            </a:r>
            <a:r>
              <a:rPr lang="en-US" altLang="zh-CN" dirty="0" smtClean="0"/>
              <a:t>B </a:t>
            </a:r>
            <a:r>
              <a:rPr lang="zh-CN" altLang="en-US" dirty="0" smtClean="0"/>
              <a:t>③</a:t>
            </a:r>
            <a:r>
              <a:rPr lang="en-US" altLang="zh-CN" dirty="0" smtClean="0"/>
              <a:t>C </a:t>
            </a:r>
            <a:r>
              <a:rPr lang="zh-CN" altLang="en-US" dirty="0" smtClean="0"/>
              <a:t>④</a:t>
            </a:r>
            <a:r>
              <a:rPr lang="en-US" altLang="zh-CN" dirty="0" smtClean="0"/>
              <a:t>A </a:t>
            </a:r>
            <a:r>
              <a:rPr lang="zh-CN" altLang="en-US" dirty="0" smtClean="0"/>
              <a:t>⑤</a:t>
            </a:r>
            <a:r>
              <a:rPr lang="en-US" altLang="zh-CN" dirty="0" smtClean="0"/>
              <a:t>B </a:t>
            </a:r>
            <a:r>
              <a:rPr lang="zh-CN" altLang="en-US" dirty="0" smtClean="0"/>
              <a:t>⑥</a:t>
            </a:r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2BAF18F-04AB-450F-904F-078C1A5CD726}" type="slidenum">
              <a:rPr lang="en-US" altLang="zh-CN"/>
            </a:fld>
            <a:endParaRPr lang="en-US" altLang="zh-CN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8421</a:t>
            </a:r>
            <a:r>
              <a:rPr lang="zh-CN" altLang="en-US" dirty="0"/>
              <a:t>码</a:t>
            </a:r>
            <a:r>
              <a:rPr lang="en-US" altLang="zh-CN" dirty="0"/>
              <a:t>—</a:t>
            </a:r>
            <a:r>
              <a:rPr lang="zh-CN" altLang="en-US" dirty="0"/>
              <a:t>便于运算；格雷码</a:t>
            </a:r>
            <a:r>
              <a:rPr lang="en-US" altLang="zh-CN" dirty="0"/>
              <a:t>—</a:t>
            </a:r>
            <a:r>
              <a:rPr lang="zh-CN" altLang="en-US" dirty="0"/>
              <a:t>用于计数器时，每次只有一位变化；其他码</a:t>
            </a:r>
            <a:r>
              <a:rPr lang="en-US" altLang="zh-CN" dirty="0"/>
              <a:t>--</a:t>
            </a:r>
            <a:r>
              <a:rPr lang="zh-CN" altLang="en-US" dirty="0"/>
              <a:t>加减法时，最高位能正确产生进</a:t>
            </a:r>
            <a:r>
              <a:rPr lang="en-US" altLang="zh-CN" dirty="0"/>
              <a:t>/</a:t>
            </a:r>
            <a:r>
              <a:rPr lang="zh-CN" altLang="en-US" dirty="0"/>
              <a:t>借位</a:t>
            </a:r>
            <a:endParaRPr lang="zh-CN" altLang="en-US" dirty="0"/>
          </a:p>
          <a:p>
            <a:r>
              <a:rPr lang="en-US" altLang="zh-CN" dirty="0"/>
              <a:t>2421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5211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84-2-1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的权为－</a:t>
            </a:r>
            <a:r>
              <a:rPr lang="en-US" altLang="zh-CN" dirty="0"/>
              <a:t>2(</a:t>
            </a:r>
            <a:r>
              <a:rPr lang="zh-CN" altLang="en-US" dirty="0"/>
              <a:t>负</a:t>
            </a:r>
            <a:r>
              <a:rPr lang="en-US" altLang="zh-CN" dirty="0"/>
              <a:t>2)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的权为－</a:t>
            </a:r>
            <a:r>
              <a:rPr lang="en-US" altLang="zh-CN" dirty="0"/>
              <a:t>1(</a:t>
            </a:r>
            <a:r>
              <a:rPr lang="zh-CN" altLang="en-US" dirty="0"/>
              <a:t>负</a:t>
            </a:r>
            <a:r>
              <a:rPr lang="en-US" altLang="zh-CN" dirty="0"/>
              <a:t>1)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4311</a:t>
            </a:r>
            <a:r>
              <a:rPr lang="zh-CN" altLang="en-US" dirty="0"/>
              <a:t>码</a:t>
            </a:r>
            <a:r>
              <a:rPr lang="en-US" altLang="zh-CN" dirty="0"/>
              <a:t>-- bit3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后</a:t>
            </a:r>
            <a:r>
              <a:rPr lang="en-US" altLang="zh-CN" dirty="0"/>
              <a:t>4</a:t>
            </a:r>
            <a:r>
              <a:rPr lang="zh-CN" altLang="en-US" dirty="0"/>
              <a:t>种编码的特征：</a:t>
            </a:r>
            <a:r>
              <a:rPr lang="en-US" altLang="zh-CN" dirty="0"/>
              <a:t>0-9</a:t>
            </a:r>
            <a:r>
              <a:rPr lang="zh-CN" altLang="en-US" dirty="0"/>
              <a:t>、</a:t>
            </a:r>
            <a:r>
              <a:rPr lang="en-US" altLang="zh-CN" dirty="0"/>
              <a:t>1-8</a:t>
            </a:r>
            <a:r>
              <a:rPr lang="zh-CN" altLang="en-US" dirty="0"/>
              <a:t>、</a:t>
            </a:r>
            <a:r>
              <a:rPr lang="en-US" altLang="zh-CN" dirty="0"/>
              <a:t>2-7</a:t>
            </a:r>
            <a:r>
              <a:rPr lang="zh-CN" altLang="en-US" dirty="0"/>
              <a:t>、</a:t>
            </a:r>
            <a:r>
              <a:rPr lang="en-US" altLang="zh-CN" dirty="0"/>
              <a:t>3-6</a:t>
            </a:r>
            <a:r>
              <a:rPr lang="zh-CN" altLang="en-US" dirty="0"/>
              <a:t>、</a:t>
            </a:r>
            <a:r>
              <a:rPr lang="en-US" altLang="zh-CN" dirty="0"/>
              <a:t>4-5</a:t>
            </a:r>
            <a:r>
              <a:rPr lang="zh-CN" altLang="en-US" dirty="0"/>
              <a:t>按位或的结果刚好为</a:t>
            </a:r>
            <a:r>
              <a:rPr lang="en-US" altLang="zh-CN" dirty="0"/>
              <a:t>1111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Unicode</a:t>
            </a:r>
            <a:r>
              <a:rPr lang="zh-CN" altLang="en-US" dirty="0" smtClean="0">
                <a:sym typeface="+mn-ea"/>
              </a:rPr>
              <a:t>有</a:t>
            </a:r>
            <a:r>
              <a:rPr lang="en-US" altLang="zh-CN" dirty="0" smtClean="0">
                <a:sym typeface="+mn-ea"/>
              </a:rPr>
              <a:t>UTF-8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UCS-2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UTF-16</a:t>
            </a:r>
            <a:r>
              <a:rPr lang="zh-CN" altLang="en-US" dirty="0" smtClean="0">
                <a:sym typeface="+mn-ea"/>
              </a:rPr>
              <a:t>等多种编码格式，</a:t>
            </a:r>
            <a:r>
              <a:rPr lang="en-US" altLang="zh-CN" dirty="0" smtClean="0">
                <a:sym typeface="+mn-ea"/>
              </a:rPr>
              <a:t>UTF-8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UTF-16</a:t>
            </a:r>
            <a:r>
              <a:rPr lang="zh-CN" altLang="en-US" dirty="0" smtClean="0">
                <a:sym typeface="+mn-ea"/>
              </a:rPr>
              <a:t>为变长编码，</a:t>
            </a:r>
            <a:r>
              <a:rPr lang="en-US" altLang="zh-CN" dirty="0" smtClean="0">
                <a:sym typeface="+mn-ea"/>
              </a:rPr>
              <a:t>UCS-2</a:t>
            </a:r>
            <a:r>
              <a:rPr lang="zh-CN" altLang="en-US" dirty="0" smtClean="0">
                <a:sym typeface="+mn-ea"/>
              </a:rPr>
              <a:t>为定长编码。</a:t>
            </a:r>
            <a:endParaRPr lang="en-US" altLang="zh-CN" dirty="0" smtClean="0"/>
          </a:p>
          <a:p>
            <a:r>
              <a:rPr lang="en-US" altLang="zh-CN" dirty="0" smtClean="0">
                <a:sym typeface="+mn-ea"/>
              </a:rPr>
              <a:t>UTF-8</a:t>
            </a:r>
            <a:r>
              <a:rPr lang="zh-CN" altLang="en-US" dirty="0" smtClean="0">
                <a:sym typeface="+mn-ea"/>
              </a:rPr>
              <a:t>长度为</a:t>
            </a:r>
            <a:r>
              <a:rPr lang="en-US" altLang="zh-CN" dirty="0" smtClean="0">
                <a:sym typeface="+mn-ea"/>
              </a:rPr>
              <a:t>1B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2B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3B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4B</a:t>
            </a:r>
            <a:r>
              <a:rPr lang="zh-CN" altLang="en-US" dirty="0" smtClean="0">
                <a:sym typeface="+mn-ea"/>
              </a:rPr>
              <a:t>，欧系语言字符用</a:t>
            </a:r>
            <a:r>
              <a:rPr lang="en-US" altLang="zh-CN" dirty="0" smtClean="0">
                <a:sym typeface="+mn-ea"/>
              </a:rPr>
              <a:t>1</a:t>
            </a:r>
            <a:r>
              <a:rPr lang="en-US" dirty="0" smtClean="0">
                <a:sym typeface="+mn-ea"/>
              </a:rPr>
              <a:t>Bytes</a:t>
            </a:r>
            <a:r>
              <a:rPr lang="zh-CN" altLang="en-US" dirty="0" smtClean="0">
                <a:sym typeface="+mn-ea"/>
              </a:rPr>
              <a:t>或</a:t>
            </a:r>
            <a:r>
              <a:rPr lang="en-US" altLang="zh-CN" dirty="0" smtClean="0">
                <a:sym typeface="+mn-ea"/>
              </a:rPr>
              <a:t>2</a:t>
            </a:r>
            <a:r>
              <a:rPr lang="en-US" dirty="0" smtClean="0">
                <a:sym typeface="+mn-ea"/>
              </a:rPr>
              <a:t>Bytes</a:t>
            </a:r>
            <a:r>
              <a:rPr lang="zh-CN" altLang="en-US" dirty="0" smtClean="0">
                <a:sym typeface="+mn-ea"/>
              </a:rPr>
              <a:t>表示，大部分亚系语言字符用</a:t>
            </a:r>
            <a:r>
              <a:rPr lang="en-US" altLang="zh-CN" dirty="0" smtClean="0">
                <a:sym typeface="+mn-ea"/>
              </a:rPr>
              <a:t>3</a:t>
            </a:r>
            <a:r>
              <a:rPr lang="en-US" dirty="0" smtClean="0">
                <a:sym typeface="+mn-ea"/>
              </a:rPr>
              <a:t>Bytes</a:t>
            </a:r>
            <a:r>
              <a:rPr lang="zh-CN" altLang="en-US" dirty="0" smtClean="0">
                <a:sym typeface="+mn-ea"/>
              </a:rPr>
              <a:t>表示，一些补充字符用</a:t>
            </a:r>
            <a:r>
              <a:rPr lang="en-US" altLang="zh-CN" dirty="0" smtClean="0">
                <a:sym typeface="+mn-ea"/>
              </a:rPr>
              <a:t>4</a:t>
            </a:r>
            <a:r>
              <a:rPr lang="en-US" dirty="0" smtClean="0">
                <a:sym typeface="+mn-ea"/>
              </a:rPr>
              <a:t>Bytes</a:t>
            </a:r>
            <a:r>
              <a:rPr lang="zh-CN" altLang="en-US" dirty="0" smtClean="0">
                <a:sym typeface="+mn-ea"/>
              </a:rPr>
              <a:t>表示。</a:t>
            </a:r>
            <a:endParaRPr lang="en-US" altLang="zh-CN" dirty="0" smtClean="0"/>
          </a:p>
          <a:p>
            <a:r>
              <a:rPr lang="en-US" altLang="zh-CN" dirty="0" smtClean="0">
                <a:sym typeface="+mn-ea"/>
              </a:rPr>
              <a:t>UCS-2</a:t>
            </a:r>
            <a:r>
              <a:rPr lang="zh-CN" altLang="en-US" dirty="0" smtClean="0">
                <a:sym typeface="+mn-ea"/>
              </a:rPr>
              <a:t>长度为</a:t>
            </a:r>
            <a:r>
              <a:rPr lang="en-US" altLang="zh-CN" dirty="0" smtClean="0">
                <a:sym typeface="+mn-ea"/>
              </a:rPr>
              <a:t>2B</a:t>
            </a:r>
            <a:r>
              <a:rPr lang="zh-CN" altLang="en-US" dirty="0" smtClean="0">
                <a:sym typeface="+mn-ea"/>
              </a:rPr>
              <a:t>。</a:t>
            </a:r>
            <a:endParaRPr lang="en-US" altLang="zh-CN" dirty="0" smtClean="0"/>
          </a:p>
          <a:p>
            <a:r>
              <a:rPr lang="en-US" altLang="zh-CN" dirty="0" smtClean="0">
                <a:sym typeface="+mn-ea"/>
              </a:rPr>
              <a:t>UTF-16</a:t>
            </a:r>
            <a:r>
              <a:rPr lang="zh-CN" altLang="en-US" dirty="0" smtClean="0">
                <a:sym typeface="+mn-ea"/>
              </a:rPr>
              <a:t>长度为</a:t>
            </a:r>
            <a:r>
              <a:rPr lang="en-US" altLang="zh-CN" dirty="0" smtClean="0">
                <a:sym typeface="+mn-ea"/>
              </a:rPr>
              <a:t>2B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smtClean="0">
                <a:sym typeface="+mn-ea"/>
              </a:rPr>
              <a:t>4B</a:t>
            </a:r>
            <a:r>
              <a:rPr lang="zh-CN" altLang="en-US" dirty="0" smtClean="0">
                <a:sym typeface="+mn-ea"/>
              </a:rPr>
              <a:t>，欧系语言的字符（包括</a:t>
            </a:r>
            <a:r>
              <a:rPr lang="en-US" altLang="zh-CN" dirty="0" smtClean="0">
                <a:sym typeface="+mn-ea"/>
              </a:rPr>
              <a:t>ASCII</a:t>
            </a:r>
            <a:r>
              <a:rPr lang="zh-CN" altLang="en-US" dirty="0" smtClean="0">
                <a:sym typeface="+mn-ea"/>
              </a:rPr>
              <a:t>码）和大部分的亚系语言是用</a:t>
            </a:r>
            <a:r>
              <a:rPr lang="en-US" altLang="zh-CN" dirty="0" smtClean="0">
                <a:sym typeface="+mn-ea"/>
              </a:rPr>
              <a:t>2Bytes</a:t>
            </a:r>
            <a:r>
              <a:rPr lang="zh-CN" altLang="en-US" dirty="0" smtClean="0">
                <a:sym typeface="+mn-ea"/>
              </a:rPr>
              <a:t>表示的。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码距反例：校验码为</a:t>
            </a:r>
            <a:r>
              <a:rPr lang="en-US" altLang="zh-CN" dirty="0" smtClean="0"/>
              <a:t>000</a:t>
            </a:r>
            <a:r>
              <a:rPr lang="zh-CN" altLang="en-US" dirty="0" smtClean="0"/>
              <a:t>～</a:t>
            </a:r>
            <a:r>
              <a:rPr lang="en-US" altLang="zh-CN" dirty="0" smtClean="0"/>
              <a:t>111</a:t>
            </a:r>
            <a:r>
              <a:rPr lang="zh-CN" altLang="en-US" dirty="0" smtClean="0"/>
              <a:t>，无法发现</a:t>
            </a:r>
            <a:r>
              <a:rPr lang="en-US" altLang="zh-CN" dirty="0" smtClean="0"/>
              <a:t>000</a:t>
            </a:r>
            <a:r>
              <a:rPr lang="zh-CN" altLang="en-US" dirty="0" smtClean="0"/>
              <a:t>错成</a:t>
            </a:r>
            <a:r>
              <a:rPr lang="en-US" altLang="zh-CN" dirty="0" smtClean="0"/>
              <a:t>001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BA197E5-CD6B-4E25-92D3-F93262E84D8D}" type="slidenum">
              <a:rPr lang="en-US" altLang="zh-CN"/>
            </a:fld>
            <a:endParaRPr lang="en-US" altLang="zh-CN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8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SEC(</a:t>
            </a:r>
            <a:r>
              <a:rPr kumimoji="1" lang="en-US" altLang="zh-CN" sz="18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Single error correction</a:t>
            </a:r>
            <a:r>
              <a:rPr kumimoji="1" lang="en-US" altLang="zh-CN" sz="18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zh-CN" altLang="zh-CN" sz="18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4E48F21-25A8-44C9-A2F8-7713AD637361}" type="slidenum">
              <a:rPr lang="en-US" altLang="zh-CN"/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校验位错的严重性小于数据位，故如此安排</a:t>
            </a:r>
            <a:r>
              <a:rPr lang="en-US" altLang="zh-CN" dirty="0" smtClean="0"/>
              <a:t>P1P2P3P4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F08DBF7-3EB9-4DF8-B7EF-B2D775D85028}" type="slidenum">
              <a:rPr lang="en-US" altLang="zh-CN"/>
            </a:fld>
            <a:endParaRPr lang="en-US" altLang="zh-CN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P27-</a:t>
            </a:r>
            <a:r>
              <a:rPr lang="zh-CN" altLang="en-US" dirty="0" smtClean="0"/>
              <a:t>看检验位的编码目标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看检验位编码方法</a:t>
            </a:r>
            <a:endParaRPr lang="en-US" altLang="zh-CN" dirty="0" smtClean="0"/>
          </a:p>
          <a:p>
            <a:r>
              <a:rPr lang="zh-CN" altLang="en-US" dirty="0" smtClean="0"/>
              <a:t>注：若增加一个校验位，使每位数据加入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个校验组，即可检测出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位错和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数据表示（</a:t>
            </a:r>
            <a:r>
              <a:rPr lang="en-US" altLang="zh-CN" dirty="0" smtClean="0"/>
              <a:t>Data</a:t>
            </a:r>
            <a:r>
              <a:rPr lang="en-US" altLang="zh-CN" baseline="0" dirty="0" smtClean="0"/>
              <a:t> Representation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①：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表示成数值数据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如无符号整数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，否则无法运算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②：</a:t>
            </a:r>
            <a:r>
              <a:rPr 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不知道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需先明确三要素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8AB2958-8808-4C5A-A21E-238716B6508C}" type="slidenum">
              <a:rPr lang="en-US" altLang="zh-CN"/>
            </a:fld>
            <a:endParaRPr lang="en-US" altLang="zh-CN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思考：补码便于运算实现</a:t>
            </a:r>
            <a:r>
              <a:rPr lang="en-US" altLang="zh-CN" dirty="0" smtClean="0"/>
              <a:t>(</a:t>
            </a:r>
            <a:r>
              <a:rPr lang="zh-CN" altLang="en-US" dirty="0" smtClean="0"/>
              <a:t>减法无需比较大小，符号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数据可一起运算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32</a:t>
            </a:r>
            <a:r>
              <a:rPr lang="zh-CN" altLang="en-US" dirty="0" smtClean="0"/>
              <a:t>位的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语言编译器中，</a:t>
            </a:r>
            <a:r>
              <a:rPr lang="en-US" altLang="zh-CN" dirty="0" err="1" smtClean="0"/>
              <a:t>int</a:t>
            </a:r>
            <a:r>
              <a:rPr lang="zh-CN" altLang="en-US" dirty="0"/>
              <a:t>和</a:t>
            </a:r>
            <a:r>
              <a:rPr lang="en-US" altLang="zh-CN" dirty="0"/>
              <a:t>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的数据长度默认相同，可以不同（设置编译选项）。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思考②：改变源程序的变量类型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思考：零扩展时，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n+k</a:t>
            </a:r>
            <a:r>
              <a:rPr kumimoji="1" lang="en-US" altLang="zh-CN" sz="800" kern="12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dirty="0" smtClean="0"/>
              <a:t>端接地；符号扩展时，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n+k</a:t>
            </a:r>
            <a:r>
              <a:rPr kumimoji="1" lang="en-US" altLang="zh-CN" sz="800" kern="12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dirty="0" smtClean="0"/>
              <a:t>端接</a:t>
            </a:r>
            <a:r>
              <a:rPr lang="en-US" altLang="zh-CN" dirty="0" smtClean="0"/>
              <a:t>VCC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chemeClr val="tx1"/>
                </a:solidFill>
              </a:rPr>
              <a:t>R</a:t>
            </a:r>
            <a:r>
              <a:rPr lang="en-US" altLang="zh-CN" sz="1200" baseline="-18000" dirty="0" smtClean="0">
                <a:solidFill>
                  <a:schemeClr val="tx1"/>
                </a:solidFill>
              </a:rPr>
              <a:t>E</a:t>
            </a:r>
            <a:r>
              <a:rPr lang="en-US" altLang="zh-CN" sz="1200" dirty="0" smtClean="0">
                <a:solidFill>
                  <a:schemeClr val="tx1"/>
                </a:solidFill>
              </a:rPr>
              <a:t>=2</a:t>
            </a:r>
            <a:r>
              <a:rPr lang="zh-CN" altLang="en-US" sz="1200" dirty="0" smtClean="0">
                <a:solidFill>
                  <a:schemeClr val="tx1"/>
                </a:solidFill>
              </a:rPr>
              <a:t>的原因</a:t>
            </a:r>
            <a:r>
              <a:rPr lang="en-US" altLang="zh-CN" sz="1200" dirty="0" smtClean="0">
                <a:solidFill>
                  <a:schemeClr val="tx1"/>
                </a:solidFill>
              </a:rPr>
              <a:t>--</a:t>
            </a:r>
            <a:r>
              <a:rPr lang="zh-CN" altLang="en-US" sz="1200" dirty="0" smtClean="0">
                <a:solidFill>
                  <a:schemeClr val="tx1"/>
                </a:solidFill>
              </a:rPr>
              <a:t>整数的表数范围与基无关，</a:t>
            </a:r>
            <a:r>
              <a:rPr lang="zh-CN" altLang="en-US" sz="1100" dirty="0" smtClean="0">
                <a:solidFill>
                  <a:schemeClr val="tx1"/>
                </a:solidFill>
              </a:rPr>
              <a:t>小利于对阶</a:t>
            </a:r>
            <a:endParaRPr lang="en-US" altLang="zh-CN" sz="1100" dirty="0" smtClean="0">
              <a:solidFill>
                <a:schemeClr val="accent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练习：</a:t>
            </a:r>
            <a:r>
              <a:rPr lang="en-US" altLang="zh-CN" dirty="0" smtClean="0"/>
              <a:t>-54=10110</a:t>
            </a:r>
            <a:r>
              <a:rPr lang="en-US" altLang="zh-CN" baseline="0" dirty="0" smtClean="0"/>
              <a:t> 1001010</a:t>
            </a:r>
            <a:r>
              <a:rPr lang="zh-CN" altLang="en-US" baseline="0" dirty="0" smtClean="0"/>
              <a:t>，</a:t>
            </a:r>
            <a:r>
              <a:rPr lang="en-US" altLang="zh-CN" baseline="0" dirty="0" smtClean="0"/>
              <a:t>645H=-0.11011</a:t>
            </a:r>
            <a:r>
              <a:rPr lang="zh-CN" altLang="en-US" baseline="0" dirty="0" smtClean="0"/>
              <a:t>*</a:t>
            </a:r>
            <a:r>
              <a:rPr lang="en-US" altLang="zh-CN" baseline="0" dirty="0" smtClean="0"/>
              <a:t>2</a:t>
            </a:r>
            <a:r>
              <a:rPr lang="en-US" altLang="zh-CN" baseline="30000" dirty="0" smtClean="0"/>
              <a:t>-100</a:t>
            </a:r>
            <a:r>
              <a:rPr lang="zh-CN" altLang="en-US" baseline="0" dirty="0" smtClean="0"/>
              <a:t>。          </a:t>
            </a:r>
            <a:r>
              <a:rPr lang="en-US" altLang="zh-CN" dirty="0" smtClean="0"/>
              <a:t>P13-</a:t>
            </a:r>
            <a:r>
              <a:rPr lang="zh-CN" altLang="en-US" dirty="0" smtClean="0"/>
              <a:t>看各种编码规则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0FDB513-E615-41B2-847F-1451662208B9}" type="slidenum">
              <a:rPr lang="en-US" altLang="zh-CN"/>
            </a:fld>
            <a:endParaRPr lang="en-US" altLang="zh-CN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IEEE-754</a:t>
            </a:r>
            <a:r>
              <a:rPr lang="zh-CN" altLang="en-US" dirty="0" smtClean="0"/>
              <a:t>标准是</a:t>
            </a:r>
            <a:r>
              <a:rPr lang="en-US" altLang="zh-CN" dirty="0" smtClean="0"/>
              <a:t>1985</a:t>
            </a:r>
            <a:r>
              <a:rPr lang="zh-CN" altLang="en-US" dirty="0" smtClean="0"/>
              <a:t>年发布的，又称为</a:t>
            </a:r>
            <a:r>
              <a:rPr lang="en-US" altLang="zh-CN" dirty="0" smtClean="0"/>
              <a:t>IEEE-754-1985</a:t>
            </a:r>
            <a:r>
              <a:rPr lang="zh-CN" altLang="en-US" dirty="0" smtClean="0"/>
              <a:t>标准。</a:t>
            </a:r>
            <a:r>
              <a:rPr lang="en-US" altLang="zh-CN" dirty="0" smtClean="0"/>
              <a:t>IEEE-754-2008</a:t>
            </a:r>
            <a:r>
              <a:rPr lang="zh-CN" altLang="en-US" dirty="0" smtClean="0"/>
              <a:t>标准增加了半精度（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位）、四精度（</a:t>
            </a:r>
            <a:r>
              <a:rPr lang="en-US" altLang="zh-CN" dirty="0" smtClean="0"/>
              <a:t>128</a:t>
            </a:r>
            <a:r>
              <a:rPr lang="zh-CN" altLang="en-US" dirty="0" smtClean="0"/>
              <a:t>位）。</a:t>
            </a:r>
            <a:endParaRPr lang="en-US" altLang="zh-CN" dirty="0" smtClean="0"/>
          </a:p>
          <a:p>
            <a:r>
              <a:rPr lang="zh-CN" altLang="en-US" dirty="0" smtClean="0"/>
              <a:t>半精度</a:t>
            </a:r>
            <a:r>
              <a:rPr lang="en-US" altLang="zh-CN" dirty="0" smtClean="0"/>
              <a:t>-S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位，</a:t>
            </a:r>
            <a:r>
              <a:rPr lang="en-US" altLang="zh-CN" dirty="0" smtClean="0"/>
              <a:t>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5</a:t>
            </a:r>
            <a:r>
              <a:rPr lang="zh-CN" altLang="en-US" dirty="0" smtClean="0"/>
              <a:t>位，</a:t>
            </a:r>
            <a:r>
              <a:rPr lang="en-US" altLang="zh-CN" dirty="0" smtClean="0"/>
              <a:t>M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10</a:t>
            </a:r>
            <a:r>
              <a:rPr lang="zh-CN" altLang="en-US" dirty="0" smtClean="0"/>
              <a:t>位，</a:t>
            </a:r>
            <a:r>
              <a:rPr lang="en-US" altLang="zh-CN" dirty="0" smtClean="0"/>
              <a:t>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</a:t>
            </a:r>
            <a:r>
              <a:rPr lang="zh-CN" altLang="en-US" smtClean="0"/>
              <a:t>的编码方法不变。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P38-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IEEE 754</a:t>
            </a:r>
            <a:r>
              <a:rPr lang="zh-CN" altLang="en-US" dirty="0" smtClean="0"/>
              <a:t>编码方法</a:t>
            </a:r>
            <a:endParaRPr lang="en-US" altLang="zh-CN" dirty="0" smtClean="0"/>
          </a:p>
          <a:p>
            <a:r>
              <a:rPr lang="zh-CN" altLang="en-US" dirty="0" smtClean="0"/>
              <a:t>练习：</a:t>
            </a:r>
            <a:r>
              <a:rPr lang="en-US" altLang="zh-CN" dirty="0" smtClean="0"/>
              <a:t>1 10000110 011010…0=C3340000H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P85-</a:t>
            </a:r>
            <a:r>
              <a:rPr lang="zh-CN" altLang="en-US" dirty="0" smtClean="0"/>
              <a:t>看加减运算的基础是逻辑运算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注：</a:t>
            </a:r>
            <a:r>
              <a:rPr lang="en-US" altLang="zh-CN" dirty="0" smtClean="0"/>
              <a:t>Unicode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、汉字，</a:t>
            </a:r>
            <a:r>
              <a:rPr lang="en-US" altLang="zh-CN" dirty="0" smtClean="0"/>
              <a:t>Unicode</a:t>
            </a:r>
            <a:r>
              <a:rPr lang="zh-CN" altLang="en-US" dirty="0" smtClean="0"/>
              <a:t>与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不兼容（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用</a:t>
            </a:r>
            <a:r>
              <a:rPr lang="en-US" altLang="zh-CN" dirty="0" smtClean="0"/>
              <a:t>Unicode</a:t>
            </a:r>
            <a:r>
              <a:rPr lang="zh-CN" altLang="en-US" dirty="0" smtClean="0"/>
              <a:t>表示）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逻辑操作</a:t>
            </a:r>
            <a:r>
              <a:rPr lang="en-US" altLang="zh-CN" dirty="0" smtClean="0"/>
              <a:t>(</a:t>
            </a:r>
            <a:r>
              <a:rPr lang="zh-CN" altLang="en-US" smtClean="0"/>
              <a:t>如</a:t>
            </a:r>
            <a:r>
              <a:rPr lang="en-US" altLang="zh-CN" smtClean="0"/>
              <a:t>&amp;)</a:t>
            </a:r>
            <a:r>
              <a:rPr lang="zh-CN" altLang="en-US" dirty="0" smtClean="0"/>
              <a:t>的</a:t>
            </a:r>
            <a:r>
              <a:rPr lang="en-US" altLang="zh-CN" dirty="0" smtClean="0"/>
              <a:t>OPD</a:t>
            </a:r>
            <a:r>
              <a:rPr lang="zh-CN" altLang="en-US" dirty="0" smtClean="0"/>
              <a:t>为逻辑数，应采用无符号扩展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P10-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[-X]</a:t>
            </a:r>
            <a:r>
              <a:rPr lang="zh-CN" altLang="en-US" baseline="-18000" dirty="0" smtClean="0"/>
              <a:t>补</a:t>
            </a:r>
            <a:r>
              <a:rPr lang="zh-CN" altLang="en-US" dirty="0" smtClean="0"/>
              <a:t>与</a:t>
            </a:r>
            <a:r>
              <a:rPr lang="en-US" altLang="zh-CN" dirty="0" smtClean="0"/>
              <a:t>[X]</a:t>
            </a:r>
            <a:r>
              <a:rPr lang="zh-CN" altLang="en-US" baseline="-18000" dirty="0" smtClean="0"/>
              <a:t>补</a:t>
            </a:r>
            <a:r>
              <a:rPr lang="zh-CN" altLang="en-US" dirty="0" smtClean="0"/>
              <a:t>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9DF8B98-FB28-4A7D-A5E6-556048424D1F}" type="slidenum">
              <a:rPr lang="en-US" altLang="zh-CN"/>
            </a:fld>
            <a:endParaRPr lang="en-US" altLang="zh-CN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练习：</a:t>
            </a:r>
            <a:r>
              <a:rPr lang="en-US" altLang="zh-CN" dirty="0" smtClean="0"/>
              <a:t>[X+Y]</a:t>
            </a:r>
            <a:r>
              <a:rPr lang="zh-CN" altLang="en-US" baseline="-25000" dirty="0" smtClean="0"/>
              <a:t>补</a:t>
            </a:r>
            <a:r>
              <a:rPr lang="en-US" altLang="zh-CN" dirty="0" smtClean="0"/>
              <a:t>=00100111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[X-Y]</a:t>
            </a:r>
            <a:r>
              <a:rPr lang="zh-CN" altLang="en-US" baseline="-25000" dirty="0" smtClean="0"/>
              <a:t>补</a:t>
            </a:r>
            <a:r>
              <a:rPr lang="en-US" altLang="zh-CN" dirty="0" smtClean="0"/>
              <a:t>=11110111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F0DF1D-44FC-4B5F-B12F-F7B19867F30D}" type="slidenum">
              <a:rPr lang="en-US" altLang="zh-CN"/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思考：加减法器的</a:t>
            </a:r>
            <a:r>
              <a:rPr lang="en-US" altLang="zh-CN" dirty="0" smtClean="0"/>
              <a:t>op</a:t>
            </a:r>
            <a:r>
              <a:rPr lang="zh-CN" altLang="en-US" dirty="0" smtClean="0"/>
              <a:t>引脚内部增加一个非门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EC6FC2B-17C4-47AB-AD0F-9779176E3C3F}" type="slidenum">
              <a:rPr lang="en-US" altLang="zh-CN"/>
            </a:fld>
            <a:endParaRPr lang="en-US" altLang="zh-CN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看加法溢出特征</a:t>
            </a:r>
            <a:r>
              <a:rPr lang="zh-CN" dirty="0" smtClean="0"/>
              <a:t>，</a:t>
            </a:r>
            <a:r>
              <a:rPr lang="zh-CN" altLang="en-US" dirty="0" smtClean="0"/>
              <a:t>看加法器与加减法器关系</a:t>
            </a:r>
            <a:endParaRPr lang="en-US" altLang="zh-CN" dirty="0" smtClean="0"/>
          </a:p>
          <a:p>
            <a:r>
              <a:rPr lang="en-US" altLang="zh-CN" dirty="0" err="1" smtClean="0"/>
              <a:t>a#b#z+abz</a:t>
            </a:r>
            <a:r>
              <a:rPr lang="en-US" altLang="zh-CN" dirty="0" smtClean="0"/>
              <a:t>#=</a:t>
            </a:r>
            <a:r>
              <a:rPr lang="en-US" altLang="zh-CN" dirty="0" err="1" smtClean="0"/>
              <a:t>a#b#z+a#zbz+az#b#z+az#bz</a:t>
            </a:r>
            <a:r>
              <a:rPr lang="en-US" altLang="zh-CN" dirty="0" smtClean="0"/>
              <a:t>#=(</a:t>
            </a:r>
            <a:r>
              <a:rPr lang="en-US" altLang="zh-CN" dirty="0" err="1" smtClean="0"/>
              <a:t>a#z+az</a:t>
            </a:r>
            <a:r>
              <a:rPr lang="en-US" altLang="zh-CN" dirty="0" smtClean="0"/>
              <a:t>#)(</a:t>
            </a:r>
            <a:r>
              <a:rPr lang="en-US" altLang="zh-CN" dirty="0" err="1" smtClean="0"/>
              <a:t>b#z+bz</a:t>
            </a:r>
            <a:r>
              <a:rPr lang="en-US" altLang="zh-CN" dirty="0" smtClean="0"/>
              <a:t>#)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75A9C76-2F73-48B8-9480-7A0D9E088AF2}" type="slidenum">
              <a:rPr lang="en-US" altLang="zh-CN"/>
            </a:fld>
            <a:endParaRPr lang="en-US" altLang="zh-CN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练习：</a:t>
            </a:r>
            <a:r>
              <a:rPr lang="en-US" altLang="zh-CN" dirty="0" smtClean="0"/>
              <a:t>[A]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=001111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=011000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[-B]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=101000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[A+B]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=100111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[A-B]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=110111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位符号位判断，</a:t>
            </a:r>
            <a:r>
              <a:rPr lang="en-US" altLang="zh-CN" dirty="0" smtClean="0"/>
              <a:t>A+B</a:t>
            </a:r>
            <a:r>
              <a:rPr lang="zh-CN" altLang="en-US" dirty="0" smtClean="0"/>
              <a:t>溢出（</a:t>
            </a:r>
            <a:r>
              <a:rPr lang="en-US" altLang="zh-CN" dirty="0" smtClean="0"/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/>
              <a:t>0=1</a:t>
            </a:r>
            <a:r>
              <a:rPr lang="zh-CN" altLang="en-US" dirty="0" smtClean="0"/>
              <a:t>），</a:t>
            </a:r>
            <a:r>
              <a:rPr lang="en-US" altLang="zh-CN" dirty="0" smtClean="0"/>
              <a:t>A-B</a:t>
            </a:r>
            <a:r>
              <a:rPr lang="zh-CN" altLang="en-US" dirty="0" smtClean="0"/>
              <a:t>不溢出（</a:t>
            </a:r>
            <a:r>
              <a:rPr lang="en-US" altLang="zh-CN" dirty="0" smtClean="0"/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/>
              <a:t>1=1</a:t>
            </a:r>
            <a:r>
              <a:rPr lang="zh-CN" altLang="en-US" dirty="0" smtClean="0"/>
              <a:t>）。</a:t>
            </a:r>
            <a:endParaRPr lang="zh-CN" altLang="zh-CN" dirty="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P50-</a:t>
            </a:r>
            <a:r>
              <a:rPr lang="zh-CN" altLang="en-US" dirty="0" smtClean="0"/>
              <a:t>看有</a:t>
            </a:r>
            <a:r>
              <a:rPr lang="en-US" altLang="zh-CN" dirty="0" smtClean="0"/>
              <a:t>/</a:t>
            </a:r>
            <a:r>
              <a:rPr lang="zh-CN" altLang="en-US" dirty="0" smtClean="0"/>
              <a:t>无符号运算规则相同、逻辑实现相同，</a:t>
            </a:r>
            <a:r>
              <a:rPr lang="en-US" altLang="zh-CN" dirty="0" smtClean="0"/>
              <a:t>P52-</a:t>
            </a:r>
            <a:r>
              <a:rPr lang="zh-CN" altLang="en-US" dirty="0" smtClean="0"/>
              <a:t>看溢出判断方法不同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①</a:t>
            </a:r>
            <a:r>
              <a:rPr lang="zh-CN" altLang="en-US" dirty="0" smtClean="0"/>
              <a:t>：加法时为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、减法是为</a:t>
            </a:r>
            <a:r>
              <a:rPr lang="en-US" altLang="zh-CN" dirty="0" smtClean="0"/>
              <a:t>1</a:t>
            </a:r>
            <a:r>
              <a:rPr lang="zh-CN" altLang="en-US" baseline="0" dirty="0" smtClean="0"/>
              <a:t>      </a:t>
            </a:r>
            <a:r>
              <a:rPr lang="en-US" altLang="zh-CN" dirty="0" smtClean="0"/>
              <a:t>P54-</a:t>
            </a:r>
            <a:r>
              <a:rPr lang="zh-CN" altLang="en-US" dirty="0" smtClean="0"/>
              <a:t>看</a:t>
            </a:r>
            <a:r>
              <a:rPr lang="en-US" altLang="zh-CN" sz="12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1200" baseline="-18000" dirty="0" err="1" smtClean="0">
                <a:solidFill>
                  <a:schemeClr val="tx1"/>
                </a:solidFill>
              </a:rPr>
              <a:t>in</a:t>
            </a:r>
            <a:r>
              <a:rPr lang="en-US" altLang="zh-CN" sz="1200" dirty="0" smtClean="0">
                <a:solidFill>
                  <a:schemeClr val="tx1"/>
                </a:solidFill>
              </a:rPr>
              <a:t>=1</a:t>
            </a:r>
            <a:r>
              <a:rPr lang="zh-CN" altLang="en-US" sz="1200" dirty="0" smtClean="0">
                <a:solidFill>
                  <a:schemeClr val="tx1"/>
                </a:solidFill>
              </a:rPr>
              <a:t>时</a:t>
            </a:r>
            <a:r>
              <a:rPr lang="en-US" altLang="zh-CN" sz="1200" dirty="0" smtClean="0">
                <a:solidFill>
                  <a:schemeClr val="tx1"/>
                </a:solidFill>
              </a:rPr>
              <a:t>F</a:t>
            </a:r>
            <a:r>
              <a:rPr lang="zh-CN" altLang="en-US" sz="1200" dirty="0" smtClean="0">
                <a:solidFill>
                  <a:schemeClr val="tx1"/>
                </a:solidFill>
              </a:rPr>
              <a:t>＝</a:t>
            </a:r>
            <a:r>
              <a:rPr lang="en-US" altLang="zh-CN" sz="1200" dirty="0" smtClean="0">
                <a:solidFill>
                  <a:schemeClr val="tx1"/>
                </a:solidFill>
              </a:rPr>
              <a:t>A-B              </a:t>
            </a:r>
            <a:r>
              <a:rPr lang="zh-CN" altLang="en-US">
                <a:sym typeface="+mn-ea"/>
              </a:rPr>
              <a:t>练习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74H+A3H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74H-A3H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P50-</a:t>
            </a:r>
            <a:r>
              <a:rPr lang="zh-CN" altLang="en-US" dirty="0" smtClean="0"/>
              <a:t>看补码加减法器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x=10000110B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y=11110110B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z1=x-y=(0)10010000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z2=</a:t>
            </a:r>
            <a:r>
              <a:rPr lang="en-US" altLang="zh-CN" dirty="0" err="1" smtClean="0"/>
              <a:t>x+y</a:t>
            </a:r>
            <a:r>
              <a:rPr lang="en-US" altLang="zh-CN" dirty="0" smtClean="0"/>
              <a:t>=(1)01111100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(R1)=86H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(R5)=90H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(R6)=7CH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m=86H=-122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n=F6H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k1=m-n=x-y=86H-F6H=90H=-112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）能。加法器实现的是模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无符号加法运算；无符号的加法直接实现，减法用加补数来实现；根据补码加减公式，有符号的加法用机器数相加即可实现，减法用加机器数的补数即可实现；故整数加</a:t>
            </a:r>
            <a:r>
              <a:rPr lang="en-US" altLang="zh-CN" dirty="0" smtClean="0"/>
              <a:t>/</a:t>
            </a:r>
            <a:r>
              <a:rPr lang="zh-CN" altLang="en-US" dirty="0" smtClean="0"/>
              <a:t>减可用同一加法器及辅助电路实现。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）判断：若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同号相加或异号相减，结果与被加</a:t>
            </a:r>
            <a:r>
              <a:rPr lang="en-US" altLang="zh-CN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减</a:t>
            </a:r>
            <a:r>
              <a:rPr lang="en-US" altLang="zh-CN" sz="12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数异号，则结果溢出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     </a:t>
            </a:r>
            <a:r>
              <a:rPr lang="zh-CN" altLang="en-US" dirty="0" smtClean="0"/>
              <a:t>应用：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机器数的最高位均为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，仅</a:t>
            </a:r>
            <a:r>
              <a:rPr lang="en-US" altLang="zh-CN" dirty="0" smtClean="0"/>
              <a:t>k2</a:t>
            </a:r>
            <a:r>
              <a:rPr lang="zh-CN" altLang="en-US" dirty="0" smtClean="0"/>
              <a:t>可能溢出（有符号加法），</a:t>
            </a:r>
            <a:r>
              <a:rPr lang="en-US" altLang="zh-CN" dirty="0" smtClean="0"/>
              <a:t>k2=(1)01111100</a:t>
            </a:r>
            <a:r>
              <a:rPr lang="zh-CN" altLang="en-US" dirty="0" smtClean="0"/>
              <a:t>，溢出。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练习：</a:t>
            </a:r>
            <a:r>
              <a:rPr lang="en-US" altLang="zh-CN" dirty="0" smtClean="0"/>
              <a:t>B&gt;&gt;1=11110011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A+B&lt;&lt;2=10101011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P60-</a:t>
            </a:r>
            <a:r>
              <a:rPr lang="zh-CN" altLang="en-US" dirty="0" smtClean="0"/>
              <a:t>看桶型移位器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05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看部分积</a:t>
            </a:r>
            <a:r>
              <a:rPr lang="en-US" altLang="zh-CN" dirty="0" smtClean="0"/>
              <a:t>-</a:t>
            </a:r>
            <a:r>
              <a:rPr lang="zh-CN" altLang="en-US" dirty="0" smtClean="0"/>
              <a:t>乘数空位的关系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看附加位初值，</a:t>
            </a:r>
            <a:r>
              <a:rPr lang="en-US" altLang="zh-CN" dirty="0" smtClean="0"/>
              <a:t>P64-</a:t>
            </a:r>
            <a:r>
              <a:rPr lang="zh-CN" altLang="en-US" dirty="0" smtClean="0"/>
              <a:t>对比无符号乘法</a:t>
            </a:r>
            <a:endParaRPr lang="en-US" altLang="zh-CN" dirty="0" smtClean="0"/>
          </a:p>
          <a:p>
            <a:r>
              <a:rPr lang="zh-CN" altLang="en-US" dirty="0" smtClean="0"/>
              <a:t>思考：除</a:t>
            </a:r>
            <a:r>
              <a:rPr lang="en-US" altLang="zh-CN" dirty="0" smtClean="0"/>
              <a:t>+0</a:t>
            </a:r>
            <a:r>
              <a:rPr lang="zh-CN" altLang="en-US" dirty="0" smtClean="0"/>
              <a:t>外，</a:t>
            </a:r>
            <a:r>
              <a:rPr lang="en-US" altLang="zh-CN" b="0" dirty="0" smtClean="0"/>
              <a:t>+</a:t>
            </a:r>
            <a:r>
              <a:rPr kumimoji="1" lang="en-US" altLang="zh-CN" sz="1200" b="0" kern="1200" dirty="0" smtClean="0">
                <a:solidFill>
                  <a:srgbClr val="990099"/>
                </a:solidFill>
                <a:latin typeface="+mn-ea"/>
                <a:ea typeface="宋体" panose="02010600030101010101" pitchFamily="2" charset="-122"/>
                <a:cs typeface="+mn-cs"/>
              </a:rPr>
              <a:t>[A]</a:t>
            </a:r>
            <a:r>
              <a:rPr kumimoji="1" lang="zh-CN" altLang="en-US" sz="1200" b="0" kern="1200" baseline="-16000" dirty="0" smtClean="0">
                <a:solidFill>
                  <a:srgbClr val="990099"/>
                </a:solidFill>
                <a:latin typeface="+mn-ea"/>
                <a:ea typeface="宋体" panose="02010600030101010101" pitchFamily="2" charset="-122"/>
                <a:cs typeface="+mn-cs"/>
              </a:rPr>
              <a:t>补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与</a:t>
            </a:r>
            <a:r>
              <a:rPr lang="en-US" altLang="zh-CN" b="0" dirty="0" smtClean="0"/>
              <a:t>+</a:t>
            </a:r>
            <a:r>
              <a:rPr kumimoji="1" lang="en-US" altLang="zh-CN" sz="1200" b="0" kern="1200" dirty="0" smtClean="0">
                <a:solidFill>
                  <a:srgbClr val="990099"/>
                </a:solidFill>
                <a:latin typeface="+mn-ea"/>
                <a:ea typeface="宋体" panose="02010600030101010101" pitchFamily="2" charset="-122"/>
                <a:cs typeface="+mn-cs"/>
              </a:rPr>
              <a:t>[-A]</a:t>
            </a:r>
            <a:r>
              <a:rPr kumimoji="1" lang="zh-CN" altLang="en-US" sz="1200" b="0" kern="1200" baseline="-16000" dirty="0" smtClean="0">
                <a:solidFill>
                  <a:srgbClr val="990099"/>
                </a:solidFill>
                <a:latin typeface="+mn-ea"/>
                <a:ea typeface="宋体" panose="02010600030101010101" pitchFamily="2" charset="-122"/>
                <a:cs typeface="+mn-cs"/>
              </a:rPr>
              <a:t>补</a:t>
            </a:r>
            <a:r>
              <a:rPr kumimoji="1" lang="zh-CN" altLang="en-US" sz="1200" b="0" kern="1200" baseline="0" dirty="0" smtClean="0">
                <a:solidFill>
                  <a:srgbClr val="990099"/>
                </a:solidFill>
                <a:latin typeface="+mn-ea"/>
                <a:ea typeface="宋体" panose="02010600030101010101" pitchFamily="2" charset="-122"/>
                <a:cs typeface="+mn-cs"/>
              </a:rPr>
              <a:t>永远交替进行，故永远不会产生进位</a:t>
            </a:r>
            <a:endParaRPr lang="zh-CN" altLang="en-US" b="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P66-</a:t>
            </a:r>
            <a:r>
              <a:rPr lang="zh-CN" altLang="en-US" dirty="0" smtClean="0"/>
              <a:t>对比无符号乘法器组成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P67-</a:t>
            </a:r>
            <a:r>
              <a:rPr lang="zh-CN" altLang="en-US" dirty="0" smtClean="0"/>
              <a:t>对比无符号乘法，思考：增加了一种加数，带进位右移改为算术右移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P64-</a:t>
            </a:r>
            <a:r>
              <a:rPr lang="zh-CN" altLang="en-US" dirty="0" smtClean="0"/>
              <a:t>看无符号乘法运算规则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P66-</a:t>
            </a:r>
            <a:r>
              <a:rPr lang="zh-CN" altLang="en-US" dirty="0" smtClean="0"/>
              <a:t>对比无符号乘法器组成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①控制线</a:t>
            </a:r>
            <a:r>
              <a:rPr lang="en-US" altLang="zh-CN" dirty="0" smtClean="0"/>
              <a:t>G</a:t>
            </a:r>
            <a:r>
              <a:rPr lang="en-US" altLang="zh-CN" baseline="0" dirty="0" smtClean="0"/>
              <a:t> </a:t>
            </a:r>
            <a:r>
              <a:rPr lang="zh-CN" altLang="en-US" dirty="0" smtClean="0"/>
              <a:t>②</a:t>
            </a:r>
            <a:r>
              <a:rPr lang="en-US" altLang="zh-CN" dirty="0" smtClean="0"/>
              <a:t>Y7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dirty="0" smtClean="0"/>
              <a:t>Y0 </a:t>
            </a:r>
            <a:r>
              <a:rPr lang="zh-CN" altLang="en-US" dirty="0" smtClean="0"/>
              <a:t>③使能线</a:t>
            </a:r>
            <a:r>
              <a:rPr lang="en-US" altLang="zh-CN" dirty="0" smtClean="0"/>
              <a:t>E</a:t>
            </a:r>
            <a:r>
              <a:rPr lang="zh-CN" altLang="en-US" dirty="0" smtClean="0"/>
              <a:t>等 ④选择线</a:t>
            </a:r>
            <a:r>
              <a:rPr lang="en-US" altLang="zh-CN" dirty="0" smtClean="0"/>
              <a:t>S2~S0 </a:t>
            </a:r>
            <a:r>
              <a:rPr lang="zh-CN" altLang="en-US" dirty="0" smtClean="0"/>
              <a:t>⑤</a:t>
            </a:r>
            <a:r>
              <a:rPr lang="en-US" altLang="zh-CN" dirty="0" smtClean="0"/>
              <a:t>Ci-1 </a:t>
            </a:r>
            <a:r>
              <a:rPr lang="zh-CN" altLang="en-US" dirty="0" smtClean="0"/>
              <a:t>⑥</a:t>
            </a:r>
            <a:r>
              <a:rPr lang="en-US" altLang="zh-CN" dirty="0" smtClean="0"/>
              <a:t>Ci</a:t>
            </a:r>
            <a:endParaRPr lang="en-US" altLang="zh-CN" dirty="0" smtClean="0"/>
          </a:p>
          <a:p>
            <a:r>
              <a:rPr lang="zh-CN" altLang="en-US" dirty="0" smtClean="0"/>
              <a:t>练习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：①一个</a:t>
            </a:r>
            <a:r>
              <a:rPr lang="en-US" altLang="zh-CN" dirty="0" smtClean="0"/>
              <a:t>AND</a:t>
            </a:r>
            <a:r>
              <a:rPr lang="zh-CN" altLang="en-US" dirty="0" smtClean="0"/>
              <a:t>、一个</a:t>
            </a:r>
            <a:r>
              <a:rPr lang="en-US" altLang="zh-CN" dirty="0" smtClean="0"/>
              <a:t>MUX</a:t>
            </a:r>
            <a:r>
              <a:rPr lang="zh-CN" altLang="en-US" dirty="0" smtClean="0"/>
              <a:t>；②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AND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个或门，</a:t>
            </a:r>
            <a:r>
              <a:rPr lang="en-US" altLang="zh-CN" dirty="0" smtClean="0"/>
              <a:t>AB+BE</a:t>
            </a:r>
            <a:r>
              <a:rPr lang="zh-CN" altLang="en-US" dirty="0" smtClean="0"/>
              <a:t>。不可以用三态门（逻辑值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高阻值</a:t>
            </a:r>
            <a:r>
              <a:rPr lang="en-US" altLang="zh-CN" dirty="0" smtClean="0"/>
              <a:t>=</a:t>
            </a:r>
            <a:r>
              <a:rPr lang="zh-CN" altLang="en-US" dirty="0" smtClean="0"/>
              <a:t>高阻）</a:t>
            </a:r>
            <a:endParaRPr lang="en-US" altLang="zh-CN" dirty="0" smtClean="0"/>
          </a:p>
          <a:p>
            <a:r>
              <a:rPr lang="zh-CN" altLang="en-US" dirty="0" smtClean="0"/>
              <a:t>练习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S=Y</a:t>
            </a:r>
            <a:r>
              <a:rPr lang="en-US" altLang="zh-CN" baseline="-18000" dirty="0" smtClean="0"/>
              <a:t>O</a:t>
            </a:r>
            <a:r>
              <a:rPr lang="en-US" altLang="zh-CN" dirty="0" smtClean="0"/>
              <a:t>&amp;X</a:t>
            </a:r>
            <a:r>
              <a:rPr lang="en-US" altLang="zh-CN" baseline="-18000" dirty="0" smtClean="0"/>
              <a:t>O</a:t>
            </a:r>
            <a:r>
              <a:rPr lang="en-US" altLang="zh-CN" dirty="0" smtClean="0"/>
              <a:t>+Y</a:t>
            </a:r>
            <a:r>
              <a:rPr lang="en-US" altLang="zh-CN" baseline="-18000" dirty="0" smtClean="0"/>
              <a:t>A</a:t>
            </a:r>
            <a:r>
              <a:rPr lang="en-US" altLang="zh-CN" dirty="0" smtClean="0"/>
              <a:t>&amp;(X</a:t>
            </a:r>
            <a:r>
              <a:rPr lang="en-US" altLang="zh-CN" baseline="-18000" dirty="0" smtClean="0"/>
              <a:t>O</a:t>
            </a:r>
            <a:r>
              <a:rPr lang="en-US" altLang="zh-CN" dirty="0" smtClean="0"/>
              <a:t>+</a:t>
            </a:r>
            <a:r>
              <a:rPr lang="en-US" altLang="zh-CN" baseline="0" dirty="0" smtClean="0"/>
              <a:t>X</a:t>
            </a:r>
            <a:r>
              <a:rPr lang="en-US" altLang="zh-CN" baseline="-18000" dirty="0" smtClean="0"/>
              <a:t>A</a:t>
            </a:r>
            <a:r>
              <a:rPr lang="en-US" altLang="zh-CN" dirty="0" smtClean="0"/>
              <a:t>)+Y</a:t>
            </a:r>
            <a:r>
              <a:rPr lang="en-US" altLang="zh-CN" baseline="-18000" dirty="0" smtClean="0"/>
              <a:t>B</a:t>
            </a:r>
            <a:r>
              <a:rPr lang="en-US" altLang="zh-CN" dirty="0" smtClean="0"/>
              <a:t>&amp;(X</a:t>
            </a:r>
            <a:r>
              <a:rPr lang="en-US" altLang="zh-CN" baseline="-18000" dirty="0" smtClean="0"/>
              <a:t>O</a:t>
            </a:r>
            <a:r>
              <a:rPr lang="en-US" altLang="zh-CN" dirty="0" smtClean="0"/>
              <a:t>+X</a:t>
            </a:r>
            <a:r>
              <a:rPr lang="en-US" altLang="zh-CN" baseline="-18000" dirty="0" smtClean="0"/>
              <a:t>B</a:t>
            </a:r>
            <a:r>
              <a:rPr lang="en-US" altLang="zh-CN" dirty="0" smtClean="0"/>
              <a:t>)+Y</a:t>
            </a:r>
            <a:r>
              <a:rPr lang="en-US" altLang="zh-CN" baseline="-18000" dirty="0" smtClean="0"/>
              <a:t>AB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个译码器＋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个与门＋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个或门</a:t>
            </a:r>
            <a:r>
              <a:rPr lang="en-US" altLang="zh-CN" dirty="0" smtClean="0"/>
              <a:t>(OR2*2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OR4*1)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个选择器＋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个译码器＋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个或门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①控制电平</a:t>
            </a:r>
            <a:r>
              <a:rPr lang="en-US" altLang="zh-CN" dirty="0" smtClean="0"/>
              <a:t>E </a:t>
            </a:r>
            <a:r>
              <a:rPr lang="zh-CN" altLang="en-US" dirty="0" smtClean="0"/>
              <a:t>②</a:t>
            </a:r>
            <a:r>
              <a:rPr lang="en-US" altLang="zh-CN" dirty="0" smtClean="0"/>
              <a:t>CP</a:t>
            </a:r>
            <a:r>
              <a:rPr lang="en-US" altLang="zh-CN" baseline="0" dirty="0" smtClean="0"/>
              <a:t> </a:t>
            </a:r>
            <a:r>
              <a:rPr lang="zh-CN" altLang="en-US" dirty="0" smtClean="0"/>
              <a:t>③</a:t>
            </a:r>
            <a:r>
              <a:rPr lang="en-US" altLang="zh-CN" dirty="0" smtClean="0"/>
              <a:t>Q7~Q0  </a:t>
            </a:r>
            <a:r>
              <a:rPr lang="zh-CN" altLang="en-US" dirty="0" smtClean="0"/>
              <a:t>④置数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写入</a:t>
            </a:r>
            <a:r>
              <a:rPr lang="en-US" altLang="zh-CN" dirty="0" smtClean="0"/>
              <a:t>) </a:t>
            </a:r>
            <a:r>
              <a:rPr lang="zh-CN" altLang="en-US" dirty="0" smtClean="0"/>
              <a:t>⑤</a:t>
            </a:r>
            <a:r>
              <a:rPr lang="en-US" altLang="zh-CN" dirty="0" smtClean="0"/>
              <a:t>D2~D0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LD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4222890-F605-42A2-9D27-A2D60802600B}" type="slidenum">
              <a:rPr lang="en-US" altLang="zh-CN"/>
            </a:fld>
            <a:endParaRPr lang="en-US" altLang="zh-CN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P56-</a:t>
            </a:r>
            <a:r>
              <a:rPr lang="zh-CN" altLang="en-US" dirty="0" smtClean="0"/>
              <a:t>看标志位的逻辑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  <a:ea typeface="+mn-ea"/>
              </a:rPr>
              <a:t>思考：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101 </a:t>
            </a:r>
            <a:r>
              <a:rPr lang="en-US" altLang="zh-CN" sz="1200" u="sng" dirty="0" smtClean="0">
                <a:solidFill>
                  <a:schemeClr val="tx1"/>
                </a:solidFill>
                <a:latin typeface="+mn-ea"/>
                <a:ea typeface="+mn-ea"/>
              </a:rPr>
              <a:t>000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 001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1200" baseline="-18000" dirty="0" smtClean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endParaRPr lang="en-US" altLang="zh-CN" sz="1200" baseline="-180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连接需求：</a:t>
            </a:r>
            <a:r>
              <a:rPr lang="en-US" altLang="zh-CN" dirty="0" smtClean="0"/>
              <a:t>CF=C#</a:t>
            </a:r>
            <a:r>
              <a:rPr lang="zh-CN" altLang="en-US" dirty="0" smtClean="0"/>
              <a:t>（无借位时</a:t>
            </a:r>
            <a:r>
              <a:rPr lang="en-US" altLang="zh-CN" dirty="0" smtClean="0"/>
              <a:t>C=1</a:t>
            </a:r>
            <a:r>
              <a:rPr lang="zh-CN" altLang="en-US" dirty="0" smtClean="0"/>
              <a:t>），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=CF#</a:t>
            </a:r>
            <a:r>
              <a:rPr lang="zh-CN" altLang="en-US" dirty="0" smtClean="0"/>
              <a:t>（原因同上），</a:t>
            </a:r>
            <a:r>
              <a:rPr lang="en-US" altLang="zh-CN" dirty="0" smtClean="0"/>
              <a:t>Rn-1=C/S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Qn-1=R0</a:t>
            </a:r>
            <a:r>
              <a:rPr lang="zh-CN" altLang="en-US" dirty="0" smtClean="0"/>
              <a:t>因为无</a:t>
            </a:r>
            <a:r>
              <a:rPr lang="en-US" altLang="zh-CN" dirty="0" smtClean="0"/>
              <a:t>/</a:t>
            </a:r>
            <a:r>
              <a:rPr lang="zh-CN" altLang="en-US" dirty="0" smtClean="0"/>
              <a:t>有符号乘法为带进位</a:t>
            </a:r>
            <a:r>
              <a:rPr lang="en-US" altLang="zh-CN" dirty="0" smtClean="0"/>
              <a:t>/</a:t>
            </a:r>
            <a:r>
              <a:rPr lang="zh-CN" altLang="en-US" dirty="0" smtClean="0"/>
              <a:t>算术右移、一起移位</a:t>
            </a:r>
            <a:endParaRPr lang="en-US" altLang="zh-CN" dirty="0" smtClean="0"/>
          </a:p>
          <a:p>
            <a:r>
              <a:rPr lang="en-US" altLang="zh-CN" dirty="0" smtClean="0"/>
              <a:t>        Vu</a:t>
            </a:r>
            <a:r>
              <a:rPr lang="zh-CN" altLang="en-US" dirty="0" smtClean="0"/>
              <a:t>、</a:t>
            </a:r>
            <a:r>
              <a:rPr lang="en-US" altLang="zh-CN" dirty="0" smtClean="0"/>
              <a:t>Vs</a:t>
            </a:r>
            <a:r>
              <a:rPr lang="zh-CN" altLang="en-US" dirty="0" smtClean="0"/>
              <a:t>看有</a:t>
            </a:r>
            <a:r>
              <a:rPr lang="en-US" altLang="zh-CN" dirty="0" smtClean="0"/>
              <a:t>/</a:t>
            </a:r>
            <a:r>
              <a:rPr lang="zh-CN" altLang="en-US" dirty="0" smtClean="0"/>
              <a:t>无符号乘法的溢出判断</a:t>
            </a:r>
            <a:endParaRPr lang="en-US" altLang="zh-CN" dirty="0" smtClean="0"/>
          </a:p>
          <a:p>
            <a:r>
              <a:rPr lang="zh-CN" altLang="en-US" dirty="0" smtClean="0"/>
              <a:t>思考：乘除指令只使用一种移位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9526-6BBD-4A50-A669-516FE580F7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0FAEB-EB5E-4D31-9EB0-9E44A91E629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B9B86-2936-4B08-BD86-E74C881D64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63C00-78FB-4CDD-A48C-06E9CF06F1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EFD5D0-E101-4D84-8971-D7C8C16F48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2A0D0-3E82-4FF3-9CEB-6E3B37107FC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600" b="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A7E77-9B5E-4915-B2B7-6B73A385B0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1E5E7-4E2F-449F-B4DE-60BB993E18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00C549-99FE-4843-AD6F-6249B5E470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4D215-3808-4588-927C-A27939A24F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fld id="{2A93905D-6CB0-41A5-B23C-35C9B333FAA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slide" Target="slide82.xml"/><Relationship Id="rId4" Type="http://schemas.openxmlformats.org/officeDocument/2006/relationships/slide" Target="slide75.xml"/><Relationship Id="rId3" Type="http://schemas.openxmlformats.org/officeDocument/2006/relationships/slide" Target="slide48.xml"/><Relationship Id="rId2" Type="http://schemas.openxmlformats.org/officeDocument/2006/relationships/slide" Target="slide2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1" Type="http://schemas.openxmlformats.org/officeDocument/2006/relationships/notesSlide" Target="../notesSlides/notesSlide5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30.xml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3" Type="http://schemas.openxmlformats.org/officeDocument/2006/relationships/notesSlide" Target="../notesSlides/notesSlide9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123.xml"/><Relationship Id="rId30" Type="http://schemas.openxmlformats.org/officeDocument/2006/relationships/tags" Target="../tags/tag122.xml"/><Relationship Id="rId3" Type="http://schemas.openxmlformats.org/officeDocument/2006/relationships/tags" Target="../tags/tag95.xml"/><Relationship Id="rId29" Type="http://schemas.openxmlformats.org/officeDocument/2006/relationships/tags" Target="../tags/tag121.xml"/><Relationship Id="rId28" Type="http://schemas.openxmlformats.org/officeDocument/2006/relationships/tags" Target="../tags/tag120.xml"/><Relationship Id="rId27" Type="http://schemas.openxmlformats.org/officeDocument/2006/relationships/tags" Target="../tags/tag119.xml"/><Relationship Id="rId26" Type="http://schemas.openxmlformats.org/officeDocument/2006/relationships/tags" Target="../tags/tag118.xml"/><Relationship Id="rId25" Type="http://schemas.openxmlformats.org/officeDocument/2006/relationships/tags" Target="../tags/tag117.xml"/><Relationship Id="rId24" Type="http://schemas.openxmlformats.org/officeDocument/2006/relationships/tags" Target="../tags/tag116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9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7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8.xml"/><Relationship Id="rId1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8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5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9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0.xml"/><Relationship Id="rId1" Type="http://schemas.openxmlformats.org/officeDocument/2006/relationships/slide" Target="slide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slide" Target="slide8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7.xml"/><Relationship Id="rId5" Type="http://schemas.openxmlformats.org/officeDocument/2006/relationships/slide" Target="slide54.xml"/><Relationship Id="rId4" Type="http://schemas.openxmlformats.org/officeDocument/2006/relationships/slide" Target="slide86.xml"/><Relationship Id="rId3" Type="http://schemas.openxmlformats.org/officeDocument/2006/relationships/hyperlink" Target="&#35745;&#31639;&#26426;&#32452;&#25104;&#21407;&#29702;&#22797;&#20064;.pptx#-1,10,PowerPoint%20&#28436;&#31034;&#25991;&#31295;" TargetMode="External"/><Relationship Id="rId2" Type="http://schemas.openxmlformats.org/officeDocument/2006/relationships/slide" Target="slide55.xml"/><Relationship Id="rId1" Type="http://schemas.openxmlformats.org/officeDocument/2006/relationships/slide" Target="slide57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1" Type="http://schemas.openxmlformats.org/officeDocument/2006/relationships/notesSlide" Target="../notesSlides/notesSlide35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5745;&#31639;&#26426;&#32452;&#25104;&#21407;&#29702;&#22797;&#20064;.pptx#-1,10,PowerPoint%20&#28436;&#31034;&#25991;&#31295;" TargetMode="External"/><Relationship Id="rId1" Type="http://schemas.openxmlformats.org/officeDocument/2006/relationships/slide" Target="slide5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slide" Target="slide56.xml"/><Relationship Id="rId3" Type="http://schemas.openxmlformats.org/officeDocument/2006/relationships/slide" Target="slide58.xml"/><Relationship Id="rId24" Type="http://schemas.openxmlformats.org/officeDocument/2006/relationships/notesSlide" Target="../notesSlides/notesSlide38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186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slide" Target="slide50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" Target="slide52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7.xml"/><Relationship Id="rId1" Type="http://schemas.openxmlformats.org/officeDocument/2006/relationships/slide" Target="slide43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8" Type="http://schemas.openxmlformats.org/officeDocument/2006/relationships/notesSlide" Target="../notesSlides/notesSlide40.xml"/><Relationship Id="rId47" Type="http://schemas.openxmlformats.org/officeDocument/2006/relationships/slideLayout" Target="../slideLayouts/slideLayout7.xml"/><Relationship Id="rId46" Type="http://schemas.openxmlformats.org/officeDocument/2006/relationships/tags" Target="../tags/tag231.xml"/><Relationship Id="rId45" Type="http://schemas.openxmlformats.org/officeDocument/2006/relationships/tags" Target="../tags/tag230.xml"/><Relationship Id="rId44" Type="http://schemas.openxmlformats.org/officeDocument/2006/relationships/tags" Target="../tags/tag229.xml"/><Relationship Id="rId43" Type="http://schemas.openxmlformats.org/officeDocument/2006/relationships/tags" Target="../tags/tag228.xml"/><Relationship Id="rId42" Type="http://schemas.openxmlformats.org/officeDocument/2006/relationships/tags" Target="../tags/tag227.xml"/><Relationship Id="rId41" Type="http://schemas.openxmlformats.org/officeDocument/2006/relationships/tags" Target="../tags/tag226.xml"/><Relationship Id="rId40" Type="http://schemas.openxmlformats.org/officeDocument/2006/relationships/tags" Target="../tags/tag225.xml"/><Relationship Id="rId4" Type="http://schemas.openxmlformats.org/officeDocument/2006/relationships/tags" Target="../tags/tag189.xml"/><Relationship Id="rId39" Type="http://schemas.openxmlformats.org/officeDocument/2006/relationships/tags" Target="../tags/tag224.xml"/><Relationship Id="rId38" Type="http://schemas.openxmlformats.org/officeDocument/2006/relationships/tags" Target="../tags/tag223.xml"/><Relationship Id="rId37" Type="http://schemas.openxmlformats.org/officeDocument/2006/relationships/tags" Target="../tags/tag222.xml"/><Relationship Id="rId36" Type="http://schemas.openxmlformats.org/officeDocument/2006/relationships/tags" Target="../tags/tag221.xml"/><Relationship Id="rId35" Type="http://schemas.openxmlformats.org/officeDocument/2006/relationships/tags" Target="../tags/tag220.xml"/><Relationship Id="rId34" Type="http://schemas.openxmlformats.org/officeDocument/2006/relationships/tags" Target="../tags/tag219.xml"/><Relationship Id="rId33" Type="http://schemas.openxmlformats.org/officeDocument/2006/relationships/tags" Target="../tags/tag218.xml"/><Relationship Id="rId32" Type="http://schemas.openxmlformats.org/officeDocument/2006/relationships/tags" Target="../tags/tag217.xml"/><Relationship Id="rId31" Type="http://schemas.openxmlformats.org/officeDocument/2006/relationships/tags" Target="../tags/tag216.xml"/><Relationship Id="rId30" Type="http://schemas.openxmlformats.org/officeDocument/2006/relationships/tags" Target="../tags/tag215.xml"/><Relationship Id="rId3" Type="http://schemas.openxmlformats.org/officeDocument/2006/relationships/tags" Target="../tags/tag188.xml"/><Relationship Id="rId29" Type="http://schemas.openxmlformats.org/officeDocument/2006/relationships/tags" Target="../tags/tag214.xml"/><Relationship Id="rId28" Type="http://schemas.openxmlformats.org/officeDocument/2006/relationships/tags" Target="../tags/tag213.xml"/><Relationship Id="rId27" Type="http://schemas.openxmlformats.org/officeDocument/2006/relationships/tags" Target="../tags/tag212.xml"/><Relationship Id="rId26" Type="http://schemas.openxmlformats.org/officeDocument/2006/relationships/tags" Target="../tags/tag211.xml"/><Relationship Id="rId25" Type="http://schemas.openxmlformats.org/officeDocument/2006/relationships/tags" Target="../tags/tag210.xml"/><Relationship Id="rId24" Type="http://schemas.openxmlformats.org/officeDocument/2006/relationships/tags" Target="../tags/tag209.xml"/><Relationship Id="rId23" Type="http://schemas.openxmlformats.org/officeDocument/2006/relationships/tags" Target="../tags/tag208.xml"/><Relationship Id="rId22" Type="http://schemas.openxmlformats.org/officeDocument/2006/relationships/tags" Target="../tags/tag207.xml"/><Relationship Id="rId21" Type="http://schemas.openxmlformats.org/officeDocument/2006/relationships/tags" Target="../tags/tag206.xml"/><Relationship Id="rId20" Type="http://schemas.openxmlformats.org/officeDocument/2006/relationships/tags" Target="../tags/tag205.xml"/><Relationship Id="rId2" Type="http://schemas.openxmlformats.org/officeDocument/2006/relationships/slide" Target="slide91.xml"/><Relationship Id="rId19" Type="http://schemas.openxmlformats.org/officeDocument/2006/relationships/tags" Target="../tags/tag204.xml"/><Relationship Id="rId18" Type="http://schemas.openxmlformats.org/officeDocument/2006/relationships/tags" Target="../tags/tag203.xml"/><Relationship Id="rId17" Type="http://schemas.openxmlformats.org/officeDocument/2006/relationships/tags" Target="../tags/tag202.xml"/><Relationship Id="rId16" Type="http://schemas.openxmlformats.org/officeDocument/2006/relationships/tags" Target="../tags/tag201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" Target="slide5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slide" Target="slide6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2" Type="http://schemas.openxmlformats.org/officeDocument/2006/relationships/notesSlide" Target="../notesSlides/notesSlide45.xml"/><Relationship Id="rId81" Type="http://schemas.openxmlformats.org/officeDocument/2006/relationships/slideLayout" Target="../slideLayouts/slideLayout7.xml"/><Relationship Id="rId80" Type="http://schemas.openxmlformats.org/officeDocument/2006/relationships/tags" Target="../tags/tag312.xml"/><Relationship Id="rId8" Type="http://schemas.openxmlformats.org/officeDocument/2006/relationships/tags" Target="../tags/tag240.xml"/><Relationship Id="rId79" Type="http://schemas.openxmlformats.org/officeDocument/2006/relationships/tags" Target="../tags/tag311.xml"/><Relationship Id="rId78" Type="http://schemas.openxmlformats.org/officeDocument/2006/relationships/tags" Target="../tags/tag310.xml"/><Relationship Id="rId77" Type="http://schemas.openxmlformats.org/officeDocument/2006/relationships/tags" Target="../tags/tag309.xml"/><Relationship Id="rId76" Type="http://schemas.openxmlformats.org/officeDocument/2006/relationships/tags" Target="../tags/tag308.xml"/><Relationship Id="rId75" Type="http://schemas.openxmlformats.org/officeDocument/2006/relationships/tags" Target="../tags/tag307.xml"/><Relationship Id="rId74" Type="http://schemas.openxmlformats.org/officeDocument/2006/relationships/tags" Target="../tags/tag306.xml"/><Relationship Id="rId73" Type="http://schemas.openxmlformats.org/officeDocument/2006/relationships/tags" Target="../tags/tag305.xml"/><Relationship Id="rId72" Type="http://schemas.openxmlformats.org/officeDocument/2006/relationships/tags" Target="../tags/tag304.xml"/><Relationship Id="rId71" Type="http://schemas.openxmlformats.org/officeDocument/2006/relationships/tags" Target="../tags/tag303.xml"/><Relationship Id="rId70" Type="http://schemas.openxmlformats.org/officeDocument/2006/relationships/tags" Target="../tags/tag302.xml"/><Relationship Id="rId7" Type="http://schemas.openxmlformats.org/officeDocument/2006/relationships/tags" Target="../tags/tag239.xml"/><Relationship Id="rId69" Type="http://schemas.openxmlformats.org/officeDocument/2006/relationships/tags" Target="../tags/tag301.xml"/><Relationship Id="rId68" Type="http://schemas.openxmlformats.org/officeDocument/2006/relationships/tags" Target="../tags/tag300.xml"/><Relationship Id="rId67" Type="http://schemas.openxmlformats.org/officeDocument/2006/relationships/tags" Target="../tags/tag299.xml"/><Relationship Id="rId66" Type="http://schemas.openxmlformats.org/officeDocument/2006/relationships/tags" Target="../tags/tag298.xml"/><Relationship Id="rId65" Type="http://schemas.openxmlformats.org/officeDocument/2006/relationships/tags" Target="../tags/tag297.xml"/><Relationship Id="rId64" Type="http://schemas.openxmlformats.org/officeDocument/2006/relationships/tags" Target="../tags/tag296.xml"/><Relationship Id="rId63" Type="http://schemas.openxmlformats.org/officeDocument/2006/relationships/tags" Target="../tags/tag295.xml"/><Relationship Id="rId62" Type="http://schemas.openxmlformats.org/officeDocument/2006/relationships/tags" Target="../tags/tag294.xml"/><Relationship Id="rId61" Type="http://schemas.openxmlformats.org/officeDocument/2006/relationships/tags" Target="../tags/tag293.xml"/><Relationship Id="rId60" Type="http://schemas.openxmlformats.org/officeDocument/2006/relationships/tags" Target="../tags/tag292.xml"/><Relationship Id="rId6" Type="http://schemas.openxmlformats.org/officeDocument/2006/relationships/tags" Target="../tags/tag238.xml"/><Relationship Id="rId59" Type="http://schemas.openxmlformats.org/officeDocument/2006/relationships/tags" Target="../tags/tag291.xml"/><Relationship Id="rId58" Type="http://schemas.openxmlformats.org/officeDocument/2006/relationships/tags" Target="../tags/tag290.xml"/><Relationship Id="rId57" Type="http://schemas.openxmlformats.org/officeDocument/2006/relationships/tags" Target="../tags/tag289.xml"/><Relationship Id="rId56" Type="http://schemas.openxmlformats.org/officeDocument/2006/relationships/tags" Target="../tags/tag288.xml"/><Relationship Id="rId55" Type="http://schemas.openxmlformats.org/officeDocument/2006/relationships/tags" Target="../tags/tag287.xml"/><Relationship Id="rId54" Type="http://schemas.openxmlformats.org/officeDocument/2006/relationships/tags" Target="../tags/tag286.xml"/><Relationship Id="rId53" Type="http://schemas.openxmlformats.org/officeDocument/2006/relationships/tags" Target="../tags/tag285.xml"/><Relationship Id="rId52" Type="http://schemas.openxmlformats.org/officeDocument/2006/relationships/tags" Target="../tags/tag284.xml"/><Relationship Id="rId51" Type="http://schemas.openxmlformats.org/officeDocument/2006/relationships/tags" Target="../tags/tag283.xml"/><Relationship Id="rId50" Type="http://schemas.openxmlformats.org/officeDocument/2006/relationships/tags" Target="../tags/tag282.xml"/><Relationship Id="rId5" Type="http://schemas.openxmlformats.org/officeDocument/2006/relationships/tags" Target="../tags/tag237.xml"/><Relationship Id="rId49" Type="http://schemas.openxmlformats.org/officeDocument/2006/relationships/tags" Target="../tags/tag281.xml"/><Relationship Id="rId48" Type="http://schemas.openxmlformats.org/officeDocument/2006/relationships/tags" Target="../tags/tag280.xml"/><Relationship Id="rId47" Type="http://schemas.openxmlformats.org/officeDocument/2006/relationships/tags" Target="../tags/tag279.xml"/><Relationship Id="rId46" Type="http://schemas.openxmlformats.org/officeDocument/2006/relationships/tags" Target="../tags/tag278.xml"/><Relationship Id="rId45" Type="http://schemas.openxmlformats.org/officeDocument/2006/relationships/tags" Target="../tags/tag277.xml"/><Relationship Id="rId44" Type="http://schemas.openxmlformats.org/officeDocument/2006/relationships/tags" Target="../tags/tag276.xml"/><Relationship Id="rId43" Type="http://schemas.openxmlformats.org/officeDocument/2006/relationships/tags" Target="../tags/tag275.xml"/><Relationship Id="rId42" Type="http://schemas.openxmlformats.org/officeDocument/2006/relationships/tags" Target="../tags/tag274.xml"/><Relationship Id="rId41" Type="http://schemas.openxmlformats.org/officeDocument/2006/relationships/tags" Target="../tags/tag273.xml"/><Relationship Id="rId40" Type="http://schemas.openxmlformats.org/officeDocument/2006/relationships/tags" Target="../tags/tag272.xml"/><Relationship Id="rId4" Type="http://schemas.openxmlformats.org/officeDocument/2006/relationships/tags" Target="../tags/tag236.xml"/><Relationship Id="rId39" Type="http://schemas.openxmlformats.org/officeDocument/2006/relationships/tags" Target="../tags/tag271.xml"/><Relationship Id="rId38" Type="http://schemas.openxmlformats.org/officeDocument/2006/relationships/tags" Target="../tags/tag270.xml"/><Relationship Id="rId37" Type="http://schemas.openxmlformats.org/officeDocument/2006/relationships/tags" Target="../tags/tag269.xml"/><Relationship Id="rId36" Type="http://schemas.openxmlformats.org/officeDocument/2006/relationships/tags" Target="../tags/tag268.xml"/><Relationship Id="rId35" Type="http://schemas.openxmlformats.org/officeDocument/2006/relationships/tags" Target="../tags/tag267.xml"/><Relationship Id="rId34" Type="http://schemas.openxmlformats.org/officeDocument/2006/relationships/tags" Target="../tags/tag266.xml"/><Relationship Id="rId33" Type="http://schemas.openxmlformats.org/officeDocument/2006/relationships/tags" Target="../tags/tag265.xml"/><Relationship Id="rId32" Type="http://schemas.openxmlformats.org/officeDocument/2006/relationships/tags" Target="../tags/tag264.xml"/><Relationship Id="rId31" Type="http://schemas.openxmlformats.org/officeDocument/2006/relationships/tags" Target="../tags/tag263.xml"/><Relationship Id="rId30" Type="http://schemas.openxmlformats.org/officeDocument/2006/relationships/tags" Target="../tags/tag262.xml"/><Relationship Id="rId3" Type="http://schemas.openxmlformats.org/officeDocument/2006/relationships/tags" Target="../tags/tag235.xml"/><Relationship Id="rId29" Type="http://schemas.openxmlformats.org/officeDocument/2006/relationships/tags" Target="../tags/tag261.xml"/><Relationship Id="rId28" Type="http://schemas.openxmlformats.org/officeDocument/2006/relationships/tags" Target="../tags/tag260.xml"/><Relationship Id="rId27" Type="http://schemas.openxmlformats.org/officeDocument/2006/relationships/tags" Target="../tags/tag259.xml"/><Relationship Id="rId26" Type="http://schemas.openxmlformats.org/officeDocument/2006/relationships/tags" Target="../tags/tag258.xml"/><Relationship Id="rId25" Type="http://schemas.openxmlformats.org/officeDocument/2006/relationships/tags" Target="../tags/tag257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tags" Target="../tags/tag234.xml"/><Relationship Id="rId19" Type="http://schemas.openxmlformats.org/officeDocument/2006/relationships/tags" Target="../tags/tag251.xml"/><Relationship Id="rId18" Type="http://schemas.openxmlformats.org/officeDocument/2006/relationships/tags" Target="../tags/tag250.xml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slide" Target="slide60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6" Type="http://schemas.openxmlformats.org/officeDocument/2006/relationships/notesSlide" Target="../notesSlides/notesSlide4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26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tags" Target="../tags/tag3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69.xml"/><Relationship Id="rId1" Type="http://schemas.openxmlformats.org/officeDocument/2006/relationships/slide" Target="slide7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333.xml"/><Relationship Id="rId8" Type="http://schemas.openxmlformats.org/officeDocument/2006/relationships/tags" Target="../tags/tag332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slide" Target="slide73.xml"/><Relationship Id="rId19" Type="http://schemas.openxmlformats.org/officeDocument/2006/relationships/notesSlide" Target="../notesSlides/notesSlide47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41.xml"/><Relationship Id="rId16" Type="http://schemas.openxmlformats.org/officeDocument/2006/relationships/tags" Target="../tags/tag340.xml"/><Relationship Id="rId15" Type="http://schemas.openxmlformats.org/officeDocument/2006/relationships/tags" Target="../tags/tag339.xml"/><Relationship Id="rId14" Type="http://schemas.openxmlformats.org/officeDocument/2006/relationships/tags" Target="../tags/tag338.xml"/><Relationship Id="rId13" Type="http://schemas.openxmlformats.org/officeDocument/2006/relationships/tags" Target="../tags/tag337.xml"/><Relationship Id="rId12" Type="http://schemas.openxmlformats.org/officeDocument/2006/relationships/tags" Target="../tags/tag336.xml"/><Relationship Id="rId11" Type="http://schemas.openxmlformats.org/officeDocument/2006/relationships/tags" Target="../tags/tag335.xml"/><Relationship Id="rId10" Type="http://schemas.openxmlformats.org/officeDocument/2006/relationships/tags" Target="../tags/tag334.xml"/><Relationship Id="rId1" Type="http://schemas.openxmlformats.org/officeDocument/2006/relationships/slide" Target="slide70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7.xml"/><Relationship Id="rId2" Type="http://schemas.openxmlformats.org/officeDocument/2006/relationships/slide" Target="slide94.xml"/><Relationship Id="rId1" Type="http://schemas.openxmlformats.org/officeDocument/2006/relationships/slide" Target="slide7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4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0" Type="http://schemas.openxmlformats.org/officeDocument/2006/relationships/notesSlide" Target="../notesSlides/notesSlide50.xml"/><Relationship Id="rId2" Type="http://schemas.openxmlformats.org/officeDocument/2006/relationships/tags" Target="../tags/tag34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58.xml"/><Relationship Id="rId17" Type="http://schemas.openxmlformats.org/officeDocument/2006/relationships/tags" Target="../tags/tag357.xml"/><Relationship Id="rId16" Type="http://schemas.openxmlformats.org/officeDocument/2006/relationships/tags" Target="../tags/tag356.xml"/><Relationship Id="rId15" Type="http://schemas.openxmlformats.org/officeDocument/2006/relationships/tags" Target="../tags/tag355.xml"/><Relationship Id="rId14" Type="http://schemas.openxmlformats.org/officeDocument/2006/relationships/tags" Target="../tags/tag354.xml"/><Relationship Id="rId13" Type="http://schemas.openxmlformats.org/officeDocument/2006/relationships/tags" Target="../tags/tag353.xml"/><Relationship Id="rId12" Type="http://schemas.openxmlformats.org/officeDocument/2006/relationships/tags" Target="../tags/tag352.xml"/><Relationship Id="rId11" Type="http://schemas.openxmlformats.org/officeDocument/2006/relationships/tags" Target="../tags/tag351.xml"/><Relationship Id="rId10" Type="http://schemas.openxmlformats.org/officeDocument/2006/relationships/tags" Target="../tags/tag350.xml"/><Relationship Id="rId1" Type="http://schemas.openxmlformats.org/officeDocument/2006/relationships/slide" Target="slide6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5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8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368.xml"/><Relationship Id="rId6" Type="http://schemas.openxmlformats.org/officeDocument/2006/relationships/slide" Target="slide92.xml"/><Relationship Id="rId5" Type="http://schemas.openxmlformats.org/officeDocument/2006/relationships/slide" Target="slide41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0" Type="http://schemas.openxmlformats.org/officeDocument/2006/relationships/notesSlide" Target="../notesSlides/notesSlide56.xml"/><Relationship Id="rId1" Type="http://schemas.openxmlformats.org/officeDocument/2006/relationships/oleObject" Target="../embeddings/oleObject2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50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70.xml"/><Relationship Id="rId1" Type="http://schemas.openxmlformats.org/officeDocument/2006/relationships/tags" Target="../tags/tag369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6.xml"/></Relationships>
</file>

<file path=ppt/slides/_rels/slide9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slide" Target="slide85.xml"/><Relationship Id="rId1" Type="http://schemas.openxmlformats.org/officeDocument/2006/relationships/slide" Target="slide9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3.xml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7.xml"/><Relationship Id="rId2" Type="http://schemas.openxmlformats.org/officeDocument/2006/relationships/slide" Target="slide92.xml"/><Relationship Id="rId1" Type="http://schemas.openxmlformats.org/officeDocument/2006/relationships/slide" Target="slide6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5745;&#31639;&#26426;&#32452;&#25104;&#21407;&#29702;&#31532;5&#31456;.pptx#-1,18,PowerPoint%20&#28436;&#31034;&#25991;&#31295;" TargetMode="External"/><Relationship Id="rId1" Type="http://schemas.openxmlformats.org/officeDocument/2006/relationships/slide" Target="slide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838200" y="2595563"/>
            <a:ext cx="7621588" cy="938719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第二章 数据的</a:t>
            </a:r>
            <a:r>
              <a:rPr lang="zh-CN" altLang="en-US" sz="440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表示与运算 </a:t>
            </a:r>
            <a:endParaRPr lang="zh-CN" altLang="en-US" sz="4400" b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04664"/>
            <a:ext cx="8893652" cy="5431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⑴数据的编码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机器数编码、十进制数编码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、字符编码，校验码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(×)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⑵数据的表示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数据表示方法，整数的表示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含</a:t>
            </a:r>
            <a:r>
              <a:rPr lang="zh-CN" altLang="en-US" sz="1800" dirty="0">
                <a:solidFill>
                  <a:schemeClr val="tx1"/>
                </a:solidFill>
              </a:rPr>
              <a:t>位扩展</a:t>
            </a:r>
            <a:r>
              <a:rPr lang="zh-CN" altLang="en-US" sz="1800" dirty="0" smtClean="0">
                <a:solidFill>
                  <a:schemeClr val="tx1"/>
                </a:solidFill>
              </a:rPr>
              <a:t>运算实现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实数的表示，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非数值数据的表示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含</a:t>
            </a:r>
            <a:r>
              <a:rPr lang="zh-CN" altLang="en-US" sz="1800" dirty="0" smtClean="0">
                <a:solidFill>
                  <a:schemeClr val="tx1"/>
                </a:solidFill>
              </a:rPr>
              <a:t>逻辑</a:t>
            </a:r>
            <a:r>
              <a:rPr lang="zh-CN" altLang="en-US" sz="1800" dirty="0">
                <a:solidFill>
                  <a:schemeClr val="tx1"/>
                </a:solidFill>
              </a:rPr>
              <a:t>运算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关系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运算实现方法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⑶数据的运算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zh-CN" altLang="en-US" sz="2200" dirty="0" smtClean="0">
                <a:solidFill>
                  <a:schemeClr val="accent2"/>
                </a:solidFill>
              </a:rPr>
              <a:t>     定点运算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有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无符号的</a:t>
            </a:r>
            <a:r>
              <a:rPr lang="zh-CN" altLang="en-US" sz="2200" b="1" spc="-100" dirty="0" smtClean="0">
                <a:solidFill>
                  <a:schemeClr val="tx1"/>
                </a:solidFill>
              </a:rPr>
              <a:t>加减、移位、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乘法</a:t>
            </a:r>
            <a:r>
              <a:rPr lang="en-US" altLang="zh-CN" sz="1800" spc="-100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spc="-100" dirty="0">
                <a:solidFill>
                  <a:schemeClr val="tx1"/>
                </a:solidFill>
              </a:rPr>
              <a:t>)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运算</a:t>
            </a:r>
            <a:r>
              <a:rPr lang="en-US" altLang="zh-CN" sz="1800" spc="-10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方法</a:t>
            </a:r>
            <a:r>
              <a:rPr lang="en-US" altLang="zh-CN" sz="1800" spc="-100" dirty="0" smtClean="0">
                <a:solidFill>
                  <a:schemeClr val="tx1"/>
                </a:solidFill>
              </a:rPr>
              <a:t>/</a:t>
            </a:r>
            <a:r>
              <a:rPr lang="zh-CN" altLang="en-US" sz="1800" b="1" spc="-100" dirty="0" smtClean="0">
                <a:solidFill>
                  <a:schemeClr val="tx1"/>
                </a:solidFill>
              </a:rPr>
              <a:t>部件组织</a:t>
            </a:r>
            <a:r>
              <a:rPr lang="en-US" altLang="zh-CN" sz="1800" b="1" spc="-100" dirty="0" smtClean="0">
                <a:solidFill>
                  <a:schemeClr val="tx1"/>
                </a:solidFill>
              </a:rPr>
              <a:t>)</a:t>
            </a:r>
            <a:endParaRPr lang="en-US" altLang="zh-CN" sz="2200" b="1" spc="-100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浮点运算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减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spc="-100" dirty="0" smtClean="0">
                <a:solidFill>
                  <a:schemeClr val="tx1"/>
                </a:solidFill>
              </a:rPr>
              <a:t>△</a:t>
            </a:r>
            <a:r>
              <a:rPr lang="en-US" altLang="zh-CN" sz="2000" spc="-100" dirty="0" smtClean="0">
                <a:solidFill>
                  <a:schemeClr val="tx1"/>
                </a:solidFill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运算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⑷</a:t>
            </a:r>
            <a:r>
              <a:rPr lang="zh-CN" altLang="en-US" sz="2200" dirty="0" smtClean="0">
                <a:solidFill>
                  <a:srgbClr val="C00000"/>
                </a:solidFill>
              </a:rPr>
              <a:t>运算器的组成</a:t>
            </a:r>
            <a:endParaRPr lang="en-US" altLang="zh-CN" sz="2200" dirty="0" smtClean="0">
              <a:solidFill>
                <a:srgbClr val="C00000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     加法器的组成，运算器的组成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功能组织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部件设计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部件连接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71780" indent="-271780">
              <a:spcBef>
                <a:spcPts val="300"/>
              </a:spcBef>
            </a:pPr>
            <a:r>
              <a:rPr lang="en-US" altLang="zh-CN" dirty="0" smtClean="0">
                <a:solidFill>
                  <a:srgbClr val="FF3399"/>
                </a:solidFill>
              </a:rPr>
              <a:t> ※</a:t>
            </a:r>
            <a:r>
              <a:rPr lang="zh-CN" altLang="en-US" dirty="0">
                <a:solidFill>
                  <a:srgbClr val="FF3399"/>
                </a:solidFill>
              </a:rPr>
              <a:t>总体</a:t>
            </a:r>
            <a:r>
              <a:rPr lang="zh-CN" altLang="en-US" dirty="0" smtClean="0">
                <a:solidFill>
                  <a:srgbClr val="FF3399"/>
                </a:solidFill>
              </a:rPr>
              <a:t>要求：</a:t>
            </a:r>
            <a:r>
              <a:rPr lang="zh-CN" altLang="en-US" sz="2200" u="sng" dirty="0" smtClean="0">
                <a:solidFill>
                  <a:schemeClr val="accent2"/>
                </a:solidFill>
              </a:rPr>
              <a:t>掌握</a:t>
            </a:r>
            <a:r>
              <a:rPr lang="zh-CN" altLang="en-US" sz="2200" dirty="0" smtClean="0">
                <a:solidFill>
                  <a:schemeClr val="tx1"/>
                </a:solidFill>
              </a:rPr>
              <a:t>数据</a:t>
            </a:r>
            <a:r>
              <a:rPr lang="zh-CN" altLang="en-US" sz="2200" dirty="0">
                <a:solidFill>
                  <a:schemeClr val="tx1"/>
                </a:solidFill>
              </a:rPr>
              <a:t>表示方法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chemeClr val="accent2"/>
                </a:solidFill>
              </a:rPr>
              <a:t>可</a:t>
            </a:r>
            <a:r>
              <a:rPr lang="zh-CN" altLang="en-US" sz="2200" u="sng" dirty="0" smtClean="0">
                <a:solidFill>
                  <a:schemeClr val="accent2"/>
                </a:solidFill>
              </a:rPr>
              <a:t>组织</a:t>
            </a:r>
            <a:r>
              <a:rPr lang="zh-CN" altLang="en-US" sz="2200" dirty="0" smtClean="0">
                <a:solidFill>
                  <a:schemeClr val="tx1"/>
                </a:solidFill>
              </a:rPr>
              <a:t>运算方法及运算部件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7" name="AutoShape 45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92774" y="980729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92774" y="1844825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92774" y="321297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92774" y="407776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292774" y="450912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3B02-2F07-4D10-BAF3-BB6E6B1CEC22}" type="slidenum">
              <a:rPr lang="en-US" altLang="zh-CN"/>
            </a:fld>
            <a:endParaRPr lang="en-US" altLang="zh-CN"/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838200" y="251937"/>
            <a:ext cx="7467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3000" dirty="0">
                <a:solidFill>
                  <a:schemeClr val="tx1"/>
                </a:solidFill>
              </a:rPr>
              <a:t>§2.1 </a:t>
            </a:r>
            <a:r>
              <a:rPr lang="zh-CN" altLang="en-US" sz="3000" dirty="0">
                <a:solidFill>
                  <a:schemeClr val="tx1"/>
                </a:solidFill>
              </a:rPr>
              <a:t>数据的编码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179388" y="1340768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一、数制及其转换</a:t>
            </a:r>
            <a:endParaRPr lang="zh-CN" altLang="en-US" sz="2400" dirty="0"/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179389" y="1844824"/>
            <a:ext cx="5328716" cy="3592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进位计数制     </a:t>
            </a:r>
            <a:r>
              <a:rPr lang="en-US" altLang="zh-CN" sz="2200" dirty="0" smtClean="0">
                <a:solidFill>
                  <a:schemeClr val="tx1"/>
                </a:solidFill>
              </a:rPr>
              <a:t>--</a:t>
            </a:r>
            <a:r>
              <a:rPr lang="zh-CN" altLang="en-US" sz="2200" dirty="0" smtClean="0">
                <a:solidFill>
                  <a:schemeClr val="tx1"/>
                </a:solidFill>
              </a:rPr>
              <a:t>又称</a:t>
            </a:r>
            <a:r>
              <a:rPr lang="zh-CN" altLang="en-US" sz="2200" dirty="0" smtClean="0">
                <a:solidFill>
                  <a:srgbClr val="FF3399"/>
                </a:solidFill>
              </a:rPr>
              <a:t>进</a:t>
            </a:r>
            <a:r>
              <a:rPr lang="zh-CN" altLang="en-US" sz="2200" dirty="0">
                <a:solidFill>
                  <a:srgbClr val="FF3399"/>
                </a:solidFill>
              </a:rPr>
              <a:t>制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zh-CN" altLang="en-US" sz="2200" dirty="0" smtClean="0">
                <a:solidFill>
                  <a:srgbClr val="FF3399"/>
                </a:solidFill>
              </a:rPr>
              <a:t>数制</a:t>
            </a:r>
            <a:endParaRPr lang="en-US" altLang="zh-CN" sz="2200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常用的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种进制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pPr marL="0" indent="0" eaLnBrk="1" latinLnBrk="0" hangingPunct="1">
              <a:spcBef>
                <a:spcPts val="21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C00000"/>
                </a:solidFill>
              </a:rPr>
              <a:t>进制数的表示：</a:t>
            </a:r>
            <a:endParaRPr lang="zh-CN" altLang="en-US" sz="2200" dirty="0">
              <a:solidFill>
                <a:srgbClr val="FF3399"/>
              </a:solidFill>
            </a:endParaRPr>
          </a:p>
        </p:txBody>
      </p:sp>
      <p:sp>
        <p:nvSpPr>
          <p:cNvPr id="114701" name="Text Box 13"/>
          <p:cNvSpPr txBox="1">
            <a:spLocks noChangeArrowheads="1"/>
          </p:cNvSpPr>
          <p:nvPr/>
        </p:nvSpPr>
        <p:spPr bwMode="auto">
          <a:xfrm>
            <a:off x="2771800" y="2298938"/>
            <a:ext cx="496867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参数有数码、基数、位权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进位规则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14791" name="Group 10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15695" y="2896870"/>
          <a:ext cx="7417435" cy="1549400"/>
        </p:xfrm>
        <a:graphic>
          <a:graphicData uri="http://schemas.openxmlformats.org/drawingml/2006/table">
            <a:tbl>
              <a:tblPr/>
              <a:tblGrid>
                <a:gridCol w="1369060"/>
                <a:gridCol w="1079500"/>
                <a:gridCol w="1223645"/>
                <a:gridCol w="1368425"/>
                <a:gridCol w="2376805"/>
              </a:tblGrid>
              <a:tr h="309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二进制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八进制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十进制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十六进制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0,1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0,1,…,7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0,1,…,9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0,1,…,9,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A,B,…,F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位权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1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18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1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en-US" altLang="zh-CN" sz="18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1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18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1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书写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后缀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缺省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grpSp>
        <p:nvGrpSpPr>
          <p:cNvPr id="114793" name="Group 105"/>
          <p:cNvGrpSpPr/>
          <p:nvPr/>
        </p:nvGrpSpPr>
        <p:grpSpPr bwMode="auto">
          <a:xfrm>
            <a:off x="2843808" y="4716000"/>
            <a:ext cx="5399088" cy="1135062"/>
            <a:chOff x="113" y="3339"/>
            <a:chExt cx="3401" cy="715"/>
          </a:xfrm>
        </p:grpSpPr>
        <p:sp>
          <p:nvSpPr>
            <p:cNvPr id="114782" name="Text Box 94"/>
            <p:cNvSpPr txBox="1">
              <a:spLocks noChangeArrowheads="1"/>
            </p:cNvSpPr>
            <p:nvPr/>
          </p:nvSpPr>
          <p:spPr bwMode="auto">
            <a:xfrm>
              <a:off x="113" y="3430"/>
              <a:ext cx="2767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i="1" dirty="0" smtClean="0">
                  <a:solidFill>
                    <a:schemeClr val="tx1"/>
                  </a:solidFill>
                </a:rPr>
                <a:t>N</a:t>
              </a:r>
              <a:r>
                <a:rPr lang="en-US" altLang="zh-CN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</a:rPr>
                <a:t>)</a:t>
              </a:r>
              <a:r>
                <a:rPr lang="en-US" altLang="zh-CN" b="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</a:rPr>
                <a:t>=(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-1</a:t>
              </a:r>
              <a:r>
                <a:rPr lang="en-US" altLang="zh-CN" b="0" dirty="0">
                  <a:solidFill>
                    <a:schemeClr val="tx1"/>
                  </a:solidFill>
                </a:rPr>
                <a:t>…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1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0</a:t>
              </a:r>
              <a:r>
                <a:rPr lang="en-US" altLang="zh-CN" b="0" dirty="0">
                  <a:solidFill>
                    <a:schemeClr val="tx1"/>
                  </a:solidFill>
                </a:rPr>
                <a:t>.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-1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-2</a:t>
              </a:r>
              <a:r>
                <a:rPr lang="en-US" altLang="zh-CN" b="0" dirty="0">
                  <a:solidFill>
                    <a:schemeClr val="tx1"/>
                  </a:solidFill>
                </a:rPr>
                <a:t>…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0" baseline="-18000" dirty="0">
                  <a:solidFill>
                    <a:schemeClr val="tx1"/>
                  </a:solidFill>
                </a:rPr>
                <a:t>-</a:t>
              </a:r>
              <a:r>
                <a:rPr lang="en-US" altLang="zh-CN" b="0" i="1" baseline="-18000" dirty="0">
                  <a:solidFill>
                    <a:schemeClr val="tx1"/>
                  </a:solidFill>
                  <a:latin typeface="+mn-lt"/>
                </a:rPr>
                <a:t>m</a:t>
              </a:r>
              <a:r>
                <a:rPr lang="en-US" altLang="zh-CN" dirty="0">
                  <a:solidFill>
                    <a:schemeClr val="tx1"/>
                  </a:solidFill>
                </a:rPr>
                <a:t>)</a:t>
              </a:r>
              <a:r>
                <a:rPr lang="en-US" altLang="zh-CN" b="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pPr>
                <a:lnSpc>
                  <a:spcPct val="145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   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其中，</a:t>
              </a:r>
              <a:r>
                <a:rPr lang="en-US" altLang="zh-CN" sz="2000" b="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i="1" baseline="-18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dirty="0">
                  <a:solidFill>
                    <a:schemeClr val="tx1"/>
                  </a:solidFill>
                </a:rPr>
                <a:t>∈{0,1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,…,</a:t>
              </a:r>
              <a:r>
                <a:rPr lang="en-US" altLang="zh-CN" sz="2000" b="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-1}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14792" name="Object 104"/>
            <p:cNvGraphicFramePr>
              <a:graphicFrameLocks noChangeAspect="1"/>
            </p:cNvGraphicFramePr>
            <p:nvPr/>
          </p:nvGraphicFramePr>
          <p:xfrm>
            <a:off x="2789" y="3339"/>
            <a:ext cx="725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044" name="公式" r:id="rId2" imgW="635000" imgH="431800" progId="Equation.3">
                    <p:embed/>
                  </p:oleObj>
                </mc:Choice>
                <mc:Fallback>
                  <p:oleObj name="公式" r:id="rId2" imgW="635000" imgH="431800" progId="Equation.3">
                    <p:embed/>
                    <p:pic>
                      <p:nvPicPr>
                        <p:cNvPr id="0" name="Picture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3339"/>
                          <a:ext cx="725" cy="4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526"/>
          <p:cNvSpPr txBox="1">
            <a:spLocks noChangeArrowheads="1"/>
          </p:cNvSpPr>
          <p:nvPr/>
        </p:nvSpPr>
        <p:spPr bwMode="auto">
          <a:xfrm>
            <a:off x="179512" y="825242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 </a:t>
            </a:r>
            <a:r>
              <a:rPr lang="en-US" altLang="zh-CN" sz="2200" dirty="0" smtClean="0">
                <a:solidFill>
                  <a:srgbClr val="FF3399"/>
                </a:solidFill>
              </a:rPr>
              <a:t>※</a:t>
            </a:r>
            <a:r>
              <a:rPr lang="zh-CN" altLang="en-US" sz="2200" dirty="0" smtClean="0">
                <a:solidFill>
                  <a:srgbClr val="FF3399"/>
                </a:solidFill>
              </a:rPr>
              <a:t>主要内容：</a:t>
            </a:r>
            <a:r>
              <a:rPr lang="zh-CN" altLang="en-US" sz="2200" dirty="0" smtClean="0">
                <a:solidFill>
                  <a:schemeClr val="tx1"/>
                </a:solidFill>
              </a:rPr>
              <a:t>进制转换，机器数</a:t>
            </a:r>
            <a:r>
              <a:rPr lang="en-US" altLang="zh-CN" sz="2200" dirty="0" smtClean="0">
                <a:solidFill>
                  <a:schemeClr val="tx1"/>
                </a:solidFill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</a:rPr>
              <a:t>十进制数</a:t>
            </a:r>
            <a:r>
              <a:rPr lang="en-US" altLang="zh-CN" sz="2200" dirty="0" smtClean="0">
                <a:solidFill>
                  <a:schemeClr val="tx1"/>
                </a:solidFill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</a:rPr>
              <a:t>字符的编码，校验码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332000" y="5868000"/>
            <a:ext cx="6210437" cy="369332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如何</a:t>
            </a:r>
            <a:r>
              <a:rPr lang="zh-CN" altLang="en-US" sz="1800" dirty="0" smtClean="0">
                <a:solidFill>
                  <a:schemeClr val="tx1"/>
                </a:solidFill>
              </a:rPr>
              <a:t>记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en-US" altLang="zh-CN" sz="18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800" dirty="0" smtClean="0">
                <a:solidFill>
                  <a:schemeClr val="tx1"/>
                </a:solidFill>
              </a:rPr>
              <a:t>F</a:t>
            </a:r>
            <a:r>
              <a:rPr lang="zh-CN" altLang="en-US" sz="1800" dirty="0" smtClean="0">
                <a:solidFill>
                  <a:schemeClr val="tx1"/>
                </a:solidFill>
              </a:rPr>
              <a:t>对应的</a:t>
            </a:r>
            <a:r>
              <a:rPr lang="zh-CN" altLang="en-US" sz="1800" dirty="0">
                <a:solidFill>
                  <a:schemeClr val="tx1"/>
                </a:solidFill>
              </a:rPr>
              <a:t>值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r>
              <a:rPr lang="en-US" altLang="zh-CN" sz="1800" dirty="0" smtClean="0">
                <a:solidFill>
                  <a:schemeClr val="tx1"/>
                </a:solidFill>
              </a:rPr>
              <a:t>C</a:t>
            </a:r>
            <a:r>
              <a:rPr lang="zh-CN" altLang="en-US" sz="1800" dirty="0" smtClean="0">
                <a:solidFill>
                  <a:schemeClr val="tx1"/>
                </a:solidFill>
              </a:rPr>
              <a:t>语言是如何</a:t>
            </a:r>
            <a:r>
              <a:rPr lang="zh-CN" altLang="en-US" sz="1800" dirty="0">
                <a:solidFill>
                  <a:schemeClr val="tx1"/>
                </a:solidFill>
              </a:rPr>
              <a:t>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16</a:t>
            </a:r>
            <a:r>
              <a:rPr lang="zh-CN" altLang="en-US" sz="1800" dirty="0" smtClean="0">
                <a:solidFill>
                  <a:schemeClr val="tx1"/>
                </a:solidFill>
              </a:rPr>
              <a:t>进制数的？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83561" y="4464000"/>
            <a:ext cx="536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marL="990600" indent="-990600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注：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B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—</a:t>
            </a:r>
            <a:r>
              <a:rPr lang="en-US" sz="1600" b="1" dirty="0" smtClean="0">
                <a:solidFill>
                  <a:schemeClr val="tx1"/>
                </a:solidFill>
              </a:rPr>
              <a:t>Binary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，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O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—Octal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—Decimal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H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—Hexadecimal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40"/>
    </mc:Choice>
    <mc:Fallback>
      <p:transition spd="slow" advTm="9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 animBg="1"/>
      <p:bldP spid="114700" grpId="0" bldLvl="0" animBg="1"/>
      <p:bldP spid="114701" grpId="0"/>
      <p:bldP spid="13" grpId="0" bldLvl="0" animBg="1"/>
      <p:bldP spid="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243718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24000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、不同进制</a:t>
            </a:r>
            <a:r>
              <a:rPr lang="zh-CN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数的转换</a:t>
            </a:r>
            <a:endParaRPr lang="zh-CN" sz="2200" b="1" dirty="0" smtClean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070" y="706120"/>
            <a:ext cx="4013835" cy="5053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进制数→十进制数的转换：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十进制数→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进制数的转换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*二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八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十六进制数的转换：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6741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00430" y="705485"/>
            <a:ext cx="8086725" cy="251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位权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展开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101.01)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(1×2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1×2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1×2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5.25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3A.C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(3×16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10×16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12×16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58.75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整数与小数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分别转换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整数为除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基取余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减权定位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法，小数为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乘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基取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整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减权定位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法</a:t>
            </a:r>
            <a:endParaRPr lang="zh-CN" altLang="en-US" sz="2200" b="1" u="sng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2—19.625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-3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10011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101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endParaRPr lang="en-US" altLang="zh-CN" sz="2000" b="1" u="sng" baseline="-18000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18870" y="3204210"/>
            <a:ext cx="2160270" cy="1583690"/>
            <a:chOff x="1084" y="5046"/>
            <a:chExt cx="3402" cy="2494"/>
          </a:xfrm>
        </p:grpSpPr>
        <p:sp>
          <p:nvSpPr>
            <p:cNvPr id="116774" name="Text Box 3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84" y="5046"/>
              <a:ext cx="3402" cy="24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   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19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最低位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2 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9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2 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4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2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最高位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  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余数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  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1" name="肘形连接符 20"/>
            <p:cNvCxnSpPr/>
            <p:nvPr>
              <p:custDataLst>
                <p:tags r:id="rId5"/>
              </p:custDataLst>
            </p:nvPr>
          </p:nvCxnSpPr>
          <p:spPr>
            <a:xfrm>
              <a:off x="2041" y="6690"/>
              <a:ext cx="454" cy="397"/>
            </a:xfrm>
            <a:prstGeom prst="bentConnector3">
              <a:avLst>
                <a:gd name="adj1" fmla="val 3048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肘形连接符 3"/>
            <p:cNvCxnSpPr/>
            <p:nvPr>
              <p:custDataLst>
                <p:tags r:id="rId6"/>
              </p:custDataLst>
            </p:nvPr>
          </p:nvCxnSpPr>
          <p:spPr>
            <a:xfrm>
              <a:off x="1871" y="6293"/>
              <a:ext cx="624" cy="397"/>
            </a:xfrm>
            <a:prstGeom prst="bentConnector3">
              <a:avLst>
                <a:gd name="adj1" fmla="val 1272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肘形连接符 4"/>
            <p:cNvCxnSpPr/>
            <p:nvPr>
              <p:custDataLst>
                <p:tags r:id="rId7"/>
              </p:custDataLst>
            </p:nvPr>
          </p:nvCxnSpPr>
          <p:spPr>
            <a:xfrm>
              <a:off x="1701" y="5896"/>
              <a:ext cx="794" cy="397"/>
            </a:xfrm>
            <a:prstGeom prst="bentConnector3">
              <a:avLst>
                <a:gd name="adj1" fmla="val 95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肘形连接符 5"/>
            <p:cNvCxnSpPr/>
            <p:nvPr>
              <p:custDataLst>
                <p:tags r:id="rId8"/>
              </p:custDataLst>
            </p:nvPr>
          </p:nvCxnSpPr>
          <p:spPr>
            <a:xfrm>
              <a:off x="1531" y="5499"/>
              <a:ext cx="964" cy="397"/>
            </a:xfrm>
            <a:prstGeom prst="bentConnector3">
              <a:avLst>
                <a:gd name="adj1" fmla="val 30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肘形连接符 6"/>
            <p:cNvCxnSpPr/>
            <p:nvPr>
              <p:custDataLst>
                <p:tags r:id="rId9"/>
              </p:custDataLst>
            </p:nvPr>
          </p:nvCxnSpPr>
          <p:spPr>
            <a:xfrm>
              <a:off x="1361" y="5102"/>
              <a:ext cx="1134" cy="397"/>
            </a:xfrm>
            <a:prstGeom prst="bentConnector3">
              <a:avLst>
                <a:gd name="adj1" fmla="val 20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10"/>
              </p:custDataLst>
            </p:nvPr>
          </p:nvCxnSpPr>
          <p:spPr>
            <a:xfrm flipV="1">
              <a:off x="3798" y="5513"/>
              <a:ext cx="0" cy="113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" name="Text Box 5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353936" y="3240000"/>
            <a:ext cx="2160000" cy="1548000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18000" tIns="10795" rIns="18000" bIns="10800"/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＜</a:t>
            </a:r>
            <a:r>
              <a:rPr lang="en-US" altLang="zh-CN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3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3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3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Box 5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59755" y="4104000"/>
            <a:ext cx="3168000" cy="900000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18000" tIns="10800" rIns="18000" bIns="10800"/>
          <a:p>
            <a:pPr marL="457200" indent="-457200">
              <a:lnSpc>
                <a:spcPct val="10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0.625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0.125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0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0.125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0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0.125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-3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    </a:t>
            </a:r>
            <a:r>
              <a:rPr lang="zh-CN" altLang="en-US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-3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759450" y="3132000"/>
            <a:ext cx="2844165" cy="899795"/>
            <a:chOff x="1951" y="7875"/>
            <a:chExt cx="4479" cy="1417"/>
          </a:xfrm>
        </p:grpSpPr>
        <p:sp>
          <p:nvSpPr>
            <p:cNvPr id="119812" name="Text Box 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951" y="7875"/>
              <a:ext cx="4479" cy="141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marL="457200" indent="-457200">
                <a:lnSpc>
                  <a:spcPct val="12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0.625×2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1800" b="1" u="sng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.25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最高位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>
                <a:lnSpc>
                  <a:spcPct val="105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0.25 ×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1800" b="1" u="sng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.5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>
                <a:lnSpc>
                  <a:spcPct val="105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0.5  ×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1800" b="1" u="sng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.0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最低位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)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14"/>
              </p:custDataLst>
            </p:nvPr>
          </p:nvCxnSpPr>
          <p:spPr>
            <a:xfrm>
              <a:off x="5614" y="8462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5" name="Text Box 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28675" y="5168900"/>
            <a:ext cx="810196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整数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与小数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转换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，数位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不够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向两边补零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1:3/4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baseline="-180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003935" y="5656580"/>
            <a:ext cx="6666865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511425" indent="-2511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练习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(97.75)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1100001.11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141.6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61.C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11425" indent="-2511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2D.E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101101.111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55.7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45.875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772000" y="5724245"/>
            <a:ext cx="4158000" cy="540000"/>
            <a:chOff x="2751041" y="5217192"/>
            <a:chExt cx="4158000" cy="540000"/>
          </a:xfrm>
        </p:grpSpPr>
        <p:sp>
          <p:nvSpPr>
            <p:cNvPr id="18" name="矩形 17"/>
            <p:cNvSpPr/>
            <p:nvPr>
              <p:custDataLst>
                <p:tags r:id="rId17"/>
              </p:custDataLst>
            </p:nvPr>
          </p:nvSpPr>
          <p:spPr bwMode="auto">
            <a:xfrm>
              <a:off x="3291041" y="5217192"/>
              <a:ext cx="1260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8"/>
              </p:custDataLst>
            </p:nvPr>
          </p:nvSpPr>
          <p:spPr bwMode="auto">
            <a:xfrm>
              <a:off x="2751041" y="5505192"/>
              <a:ext cx="1260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9"/>
              </p:custDataLst>
            </p:nvPr>
          </p:nvSpPr>
          <p:spPr bwMode="auto">
            <a:xfrm>
              <a:off x="5181041" y="5217192"/>
              <a:ext cx="612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20"/>
              </p:custDataLst>
            </p:nvPr>
          </p:nvSpPr>
          <p:spPr bwMode="auto">
            <a:xfrm>
              <a:off x="4407041" y="5505192"/>
              <a:ext cx="504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21"/>
              </p:custDataLst>
            </p:nvPr>
          </p:nvSpPr>
          <p:spPr bwMode="auto">
            <a:xfrm>
              <a:off x="6405041" y="5217192"/>
              <a:ext cx="504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2"/>
              </p:custDataLst>
            </p:nvPr>
          </p:nvSpPr>
          <p:spPr bwMode="auto">
            <a:xfrm>
              <a:off x="5307041" y="5505192"/>
              <a:ext cx="756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6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6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6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6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6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5" grpId="0" bldLvl="0" animBg="1"/>
      <p:bldP spid="16" grpId="0" bldLvl="0" animBg="1"/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43893" y="836712"/>
            <a:ext cx="3492003" cy="49225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数值数据：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336800" indent="-2336800"/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336800" indent="-2336800">
              <a:lnSpc>
                <a:spcPct val="105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   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2336800" indent="-2336800">
              <a:spcBef>
                <a:spcPts val="300"/>
              </a:spcBef>
            </a:pPr>
            <a:r>
              <a:rPr lang="zh-CN" altLang="en-US" dirty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运算特征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u="sng" dirty="0" smtClean="0">
              <a:solidFill>
                <a:srgbClr val="990099"/>
              </a:solidFill>
            </a:endParaRPr>
          </a:p>
          <a:p>
            <a:pPr marL="2336800" indent="-2336800">
              <a:spcBef>
                <a:spcPts val="30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机器数：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2511425" indent="-2511425">
              <a:lnSpc>
                <a:spcPct val="90000"/>
              </a:lnSpc>
            </a:pPr>
            <a:r>
              <a:rPr lang="zh-CN" altLang="en-US" sz="2000" b="0" dirty="0">
                <a:solidFill>
                  <a:schemeClr val="tx1"/>
                </a:solidFill>
              </a:rPr>
              <a:t> 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2511425" indent="-2511425"/>
            <a:endParaRPr lang="en-US" altLang="zh-CN" sz="2000" dirty="0">
              <a:solidFill>
                <a:schemeClr val="accent2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真值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2511425" indent="-251142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机器</a:t>
            </a:r>
            <a:r>
              <a:rPr lang="zh-CN" altLang="en-US" dirty="0" smtClean="0">
                <a:solidFill>
                  <a:srgbClr val="C00000"/>
                </a:solidFill>
              </a:rPr>
              <a:t>数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编码：     </a:t>
            </a:r>
            <a:endParaRPr lang="zh-CN" altLang="en-US" dirty="0">
              <a:solidFill>
                <a:schemeClr val="tx1"/>
              </a:solidFill>
            </a:endParaRPr>
          </a:p>
          <a:p>
            <a:pPr marL="2511425" indent="-2511425"/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目标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tx1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>
                <a:solidFill>
                  <a:schemeClr val="accent2"/>
                </a:solidFill>
              </a:rPr>
              <a:t>类型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79AC3-BB89-4712-9B53-08A29ECD4132}" type="slidenum">
              <a:rPr lang="en-US" altLang="zh-CN"/>
            </a:fld>
            <a:endParaRPr lang="en-US" altLang="zh-CN"/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179388" y="348045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二、机器数及其编码</a:t>
            </a:r>
            <a:endParaRPr lang="zh-CN" altLang="en-US" sz="2400" dirty="0"/>
          </a:p>
        </p:txBody>
      </p:sp>
      <p:sp>
        <p:nvSpPr>
          <p:cNvPr id="17" name="Text Box 349"/>
          <p:cNvSpPr txBox="1">
            <a:spLocks noChangeArrowheads="1"/>
          </p:cNvSpPr>
          <p:nvPr/>
        </p:nvSpPr>
        <p:spPr bwMode="auto">
          <a:xfrm>
            <a:off x="539551" y="5733256"/>
            <a:ext cx="8425061" cy="400110"/>
          </a:xfrm>
          <a:prstGeom prst="rect">
            <a:avLst/>
          </a:prstGeom>
          <a:solidFill>
            <a:srgbClr val="CCFFFF">
              <a:alpha val="80000"/>
            </a:srgbClr>
          </a:solidFill>
          <a:ln w="15875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FF3399"/>
                </a:solidFill>
              </a:rPr>
              <a:t>PPT</a:t>
            </a:r>
            <a:r>
              <a:rPr lang="zh-CN" altLang="en-US" sz="2000" dirty="0" smtClean="0">
                <a:solidFill>
                  <a:srgbClr val="FF3399"/>
                </a:solidFill>
              </a:rPr>
              <a:t>约定</a:t>
            </a:r>
            <a:r>
              <a:rPr lang="zh-CN" altLang="en-US" sz="2000" dirty="0">
                <a:solidFill>
                  <a:srgbClr val="FF3399"/>
                </a:solidFill>
              </a:rPr>
              <a:t>：</a:t>
            </a:r>
            <a:r>
              <a:rPr lang="zh-CN" altLang="en-US" sz="2000" dirty="0" smtClean="0">
                <a:solidFill>
                  <a:schemeClr val="tx1"/>
                </a:solidFill>
              </a:rPr>
              <a:t>本章数据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zh-CN" altLang="en-US" sz="2000" u="sng" dirty="0" smtClean="0">
                <a:solidFill>
                  <a:schemeClr val="tx1"/>
                </a:solidFill>
              </a:rPr>
              <a:t>书写方式</a:t>
            </a:r>
            <a:r>
              <a:rPr lang="zh-CN" altLang="en-US" sz="2000" dirty="0" smtClean="0">
                <a:solidFill>
                  <a:schemeClr val="tx1"/>
                </a:solidFill>
              </a:rPr>
              <a:t>默认为二进制、省略后缀</a:t>
            </a:r>
            <a:r>
              <a:rPr lang="en-US" altLang="zh-CN" sz="2000" dirty="0" smtClean="0">
                <a:solidFill>
                  <a:schemeClr val="tx1"/>
                </a:solidFill>
              </a:rPr>
              <a:t>B</a:t>
            </a:r>
            <a:r>
              <a:rPr lang="zh-CN" altLang="en-US" sz="2000" dirty="0" smtClean="0">
                <a:solidFill>
                  <a:schemeClr val="tx1"/>
                </a:solidFill>
              </a:rPr>
              <a:t>，特殊说明除外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40000" y="3468349"/>
            <a:ext cx="609972" cy="216025"/>
            <a:chOff x="7543378" y="3760465"/>
            <a:chExt cx="609972" cy="216025"/>
          </a:xfrm>
        </p:grpSpPr>
        <p:sp>
          <p:nvSpPr>
            <p:cNvPr id="13" name="Text Box 39"/>
            <p:cNvSpPr txBox="1">
              <a:spLocks noChangeArrowheads="1"/>
            </p:cNvSpPr>
            <p:nvPr/>
          </p:nvSpPr>
          <p:spPr bwMode="auto">
            <a:xfrm>
              <a:off x="7543378" y="3760466"/>
              <a:ext cx="263968" cy="216024"/>
            </a:xfrm>
            <a:prstGeom prst="rect">
              <a:avLst/>
            </a:prstGeom>
            <a:solidFill>
              <a:srgbClr val="FFCC99"/>
            </a:solidFill>
            <a:ln w="12700" algn="ctr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 Box 39"/>
            <p:cNvSpPr txBox="1">
              <a:spLocks noChangeArrowheads="1"/>
            </p:cNvSpPr>
            <p:nvPr/>
          </p:nvSpPr>
          <p:spPr bwMode="auto">
            <a:xfrm>
              <a:off x="7805899" y="3760465"/>
              <a:ext cx="347451" cy="216024"/>
            </a:xfrm>
            <a:prstGeom prst="rect">
              <a:avLst/>
            </a:prstGeom>
            <a:solidFill>
              <a:srgbClr val="99CCFF"/>
            </a:solidFill>
            <a:ln w="12700" algn="ctr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1691556" y="2617434"/>
            <a:ext cx="7273056" cy="1686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11425" indent="-2511425"/>
            <a:r>
              <a:rPr lang="zh-CN" altLang="en-US" dirty="0" smtClean="0">
                <a:solidFill>
                  <a:schemeClr val="tx1"/>
                </a:solidFill>
              </a:rPr>
              <a:t>指</a:t>
            </a:r>
            <a:r>
              <a:rPr lang="zh-CN" altLang="en-US" dirty="0" smtClean="0">
                <a:solidFill>
                  <a:schemeClr val="tx1"/>
                </a:solidFill>
              </a:rPr>
              <a:t>计算机内部</a:t>
            </a:r>
            <a:r>
              <a:rPr lang="zh-CN" altLang="en-US" u="sng" dirty="0">
                <a:solidFill>
                  <a:srgbClr val="990099"/>
                </a:solidFill>
              </a:rPr>
              <a:t>用编码表示</a:t>
            </a:r>
            <a:r>
              <a:rPr lang="zh-CN" altLang="en-US" dirty="0" smtClean="0">
                <a:solidFill>
                  <a:schemeClr val="tx1"/>
                </a:solidFill>
              </a:rPr>
              <a:t>的数据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511425" indent="-2511425">
              <a:lnSpc>
                <a:spcPct val="90000"/>
              </a:lnSpc>
            </a:pPr>
            <a:r>
              <a:rPr lang="zh-CN" altLang="en-US" sz="1800" b="0" dirty="0" smtClean="0">
                <a:solidFill>
                  <a:schemeClr val="tx1"/>
                </a:solidFill>
              </a:rPr>
              <a:t>         └</a:t>
            </a:r>
            <a:r>
              <a:rPr lang="zh-CN" altLang="en-US" sz="1800" dirty="0" smtClean="0">
                <a:solidFill>
                  <a:schemeClr val="tx1"/>
                </a:solidFill>
              </a:rPr>
              <a:t>→二进制→</a:t>
            </a:r>
            <a:r>
              <a:rPr lang="zh-CN" altLang="en-US" sz="1800" b="0" dirty="0">
                <a:solidFill>
                  <a:schemeClr val="tx1"/>
                </a:solidFill>
              </a:rPr>
              <a:t>┘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   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←含符号、小数点</a:t>
            </a:r>
            <a:endParaRPr lang="en-US" altLang="zh-CN" sz="1800" b="0" dirty="0" smtClean="0">
              <a:solidFill>
                <a:schemeClr val="tx1"/>
              </a:solidFill>
            </a:endParaRPr>
          </a:p>
          <a:p>
            <a:pPr marL="2511425" indent="-2511425"/>
            <a:r>
              <a:rPr lang="zh-CN" altLang="en-US" sz="2000" dirty="0" smtClean="0">
                <a:solidFill>
                  <a:schemeClr val="tx1"/>
                </a:solidFill>
              </a:rPr>
              <a:t>如：</a:t>
            </a:r>
            <a:r>
              <a:rPr lang="en-US" altLang="zh-CN" sz="2000" dirty="0" smtClean="0">
                <a:solidFill>
                  <a:schemeClr val="tx1"/>
                </a:solidFill>
              </a:rPr>
              <a:t>(+10)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2000" dirty="0" smtClean="0">
                <a:solidFill>
                  <a:schemeClr val="tx1"/>
                </a:solidFill>
              </a:rPr>
              <a:t>→(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(-10)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2000" dirty="0" smtClean="0">
                <a:solidFill>
                  <a:schemeClr val="tx1"/>
                </a:solidFill>
              </a:rPr>
              <a:t>→(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(-10.1)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2000" dirty="0" smtClean="0">
                <a:solidFill>
                  <a:schemeClr val="tx1"/>
                </a:solidFill>
              </a:rPr>
              <a:t>→(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10101)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accent2"/>
                </a:solidFill>
              </a:rPr>
              <a:t> </a:t>
            </a:r>
            <a:endParaRPr lang="en-US" altLang="zh-CN" sz="2000" dirty="0" smtClean="0">
              <a:solidFill>
                <a:schemeClr val="accent2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指</a:t>
            </a:r>
            <a:r>
              <a:rPr lang="zh-CN" altLang="en-US" dirty="0" smtClean="0">
                <a:solidFill>
                  <a:schemeClr val="tx1"/>
                </a:solidFill>
              </a:rPr>
              <a:t>机器数真正的值，即数学上的数据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1763813" y="4653136"/>
            <a:ext cx="7236420" cy="105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11425" indent="-2511425"/>
            <a:r>
              <a:rPr lang="zh-CN" altLang="en-US" dirty="0" smtClean="0">
                <a:solidFill>
                  <a:schemeClr val="tx1"/>
                </a:solidFill>
              </a:rPr>
              <a:t>便于硬件</a:t>
            </a:r>
            <a:r>
              <a:rPr lang="zh-CN" altLang="en-US" u="sng" dirty="0" smtClean="0">
                <a:solidFill>
                  <a:schemeClr val="tx1"/>
                </a:solidFill>
              </a:rPr>
              <a:t>实现运算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130" dirty="0" smtClean="0">
                <a:solidFill>
                  <a:schemeClr val="tx1"/>
                </a:solidFill>
              </a:rPr>
              <a:t>如符号</a:t>
            </a:r>
            <a:r>
              <a:rPr lang="en-US" altLang="zh-CN" sz="1800" spc="-130" dirty="0">
                <a:solidFill>
                  <a:schemeClr val="tx1"/>
                </a:solidFill>
              </a:rPr>
              <a:t>/</a:t>
            </a:r>
            <a:r>
              <a:rPr lang="zh-CN" altLang="en-US" sz="1800" spc="-130" dirty="0">
                <a:solidFill>
                  <a:schemeClr val="tx1"/>
                </a:solidFill>
              </a:rPr>
              <a:t>数值</a:t>
            </a:r>
            <a:r>
              <a:rPr lang="zh-CN" altLang="en-US" sz="1800" u="sng" spc="-130" dirty="0">
                <a:solidFill>
                  <a:srgbClr val="990099"/>
                </a:solidFill>
              </a:rPr>
              <a:t>一起</a:t>
            </a:r>
            <a:r>
              <a:rPr lang="zh-CN" altLang="en-US" sz="1800" u="sng" spc="-130" dirty="0" smtClean="0">
                <a:solidFill>
                  <a:srgbClr val="990099"/>
                </a:solidFill>
              </a:rPr>
              <a:t>运算</a:t>
            </a:r>
            <a:r>
              <a:rPr lang="zh-CN" altLang="en-US" sz="1800" spc="-130" dirty="0" smtClean="0">
                <a:solidFill>
                  <a:schemeClr val="tx1"/>
                </a:solidFill>
              </a:rPr>
              <a:t>、</a:t>
            </a:r>
            <a:r>
              <a:rPr lang="zh-CN" altLang="en-US" sz="1800" spc="-130" dirty="0">
                <a:solidFill>
                  <a:schemeClr val="tx1"/>
                </a:solidFill>
              </a:rPr>
              <a:t>减法</a:t>
            </a:r>
            <a:r>
              <a:rPr lang="zh-CN" altLang="en-US" sz="1800" u="sng" spc="-130" dirty="0">
                <a:solidFill>
                  <a:srgbClr val="990099"/>
                </a:solidFill>
              </a:rPr>
              <a:t>不比较</a:t>
            </a:r>
            <a:r>
              <a:rPr lang="zh-CN" altLang="en-US" sz="1800" u="sng" spc="-130" dirty="0" smtClean="0">
                <a:solidFill>
                  <a:srgbClr val="990099"/>
                </a:solidFill>
              </a:rPr>
              <a:t>大小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dirty="0">
                <a:solidFill>
                  <a:schemeClr val="tx1"/>
                </a:solidFill>
              </a:rPr>
              <a:t>原码、补码、</a:t>
            </a:r>
            <a:r>
              <a:rPr lang="zh-CN" altLang="en-US" dirty="0" smtClean="0">
                <a:solidFill>
                  <a:schemeClr val="tx1"/>
                </a:solidFill>
              </a:rPr>
              <a:t>移码等</a:t>
            </a:r>
            <a:r>
              <a:rPr lang="zh-CN" altLang="en-US" dirty="0">
                <a:solidFill>
                  <a:schemeClr val="tx1"/>
                </a:solidFill>
              </a:rPr>
              <a:t>，均用</a:t>
            </a:r>
            <a:r>
              <a:rPr lang="zh-CN" altLang="en-US" u="sng" dirty="0">
                <a:solidFill>
                  <a:srgbClr val="FF3399"/>
                </a:solidFill>
              </a:rPr>
              <a:t>二进制</a:t>
            </a:r>
            <a:r>
              <a:rPr lang="zh-CN" altLang="en-US" dirty="0" smtClean="0">
                <a:solidFill>
                  <a:schemeClr val="tx1"/>
                </a:solidFill>
              </a:rPr>
              <a:t>表示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1763688" y="1281252"/>
            <a:ext cx="7200924" cy="13388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zh-CN" altLang="en-US" dirty="0" smtClean="0">
                <a:solidFill>
                  <a:schemeClr val="tx1"/>
                </a:solidFill>
              </a:rPr>
              <a:t>符号</a:t>
            </a:r>
            <a:r>
              <a:rPr lang="en-US" altLang="zh-CN" dirty="0" smtClean="0">
                <a:solidFill>
                  <a:schemeClr val="tx1"/>
                </a:solidFill>
              </a:rPr>
              <a:t>] </a:t>
            </a:r>
            <a:r>
              <a:rPr lang="zh-CN" altLang="en-US" dirty="0" smtClean="0">
                <a:solidFill>
                  <a:schemeClr val="tx1"/>
                </a:solidFill>
              </a:rPr>
              <a:t>数码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zh-CN" altLang="en-US" dirty="0" smtClean="0">
                <a:solidFill>
                  <a:schemeClr val="tx1"/>
                </a:solidFill>
              </a:rPr>
              <a:t>小数点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数码</a:t>
            </a:r>
            <a:r>
              <a:rPr lang="en-US" altLang="zh-CN" dirty="0" smtClean="0">
                <a:solidFill>
                  <a:schemeClr val="tx1"/>
                </a:solidFill>
              </a:rPr>
              <a:t>]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[ ]</a:t>
            </a:r>
            <a:r>
              <a:rPr lang="zh-CN" altLang="en-US" sz="1800" dirty="0" smtClean="0">
                <a:solidFill>
                  <a:schemeClr val="tx1"/>
                </a:solidFill>
              </a:rPr>
              <a:t>表示可缺省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336800" indent="-2336800">
              <a:lnSpc>
                <a:spcPct val="105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 如：</a:t>
            </a:r>
            <a:r>
              <a:rPr lang="en-US" altLang="zh-CN" sz="2000" dirty="0">
                <a:solidFill>
                  <a:schemeClr val="tx1"/>
                </a:solidFill>
              </a:rPr>
              <a:t>(10)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(+10)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(-</a:t>
            </a:r>
            <a:r>
              <a:rPr lang="en-US" altLang="zh-CN" sz="2000" dirty="0" smtClean="0">
                <a:solidFill>
                  <a:schemeClr val="tx1"/>
                </a:solidFill>
              </a:rPr>
              <a:t>10)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(-</a:t>
            </a:r>
            <a:r>
              <a:rPr lang="en-US" altLang="zh-CN" sz="2000" dirty="0">
                <a:solidFill>
                  <a:schemeClr val="tx1"/>
                </a:solidFill>
              </a:rPr>
              <a:t>10.1)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2336800" indent="-2336800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符号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与数值</a:t>
            </a:r>
            <a:r>
              <a:rPr lang="zh-CN" altLang="en-US" u="sng" dirty="0">
                <a:solidFill>
                  <a:srgbClr val="990099"/>
                </a:solidFill>
                <a:latin typeface="Times New Roman" panose="02020603050405020304" pitchFamily="18" charset="0"/>
              </a:rPr>
              <a:t>分开运算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 smtClean="0">
                <a:solidFill>
                  <a:schemeClr val="tx1"/>
                </a:solidFill>
              </a:rPr>
              <a:t>减法</a:t>
            </a:r>
            <a:r>
              <a:rPr lang="zh-CN" altLang="en-US" dirty="0">
                <a:solidFill>
                  <a:schemeClr val="tx1"/>
                </a:solidFill>
              </a:rPr>
              <a:t>先</a:t>
            </a:r>
            <a:r>
              <a:rPr lang="zh-CN" altLang="en-US" u="sng" dirty="0">
                <a:solidFill>
                  <a:srgbClr val="990099"/>
                </a:solidFill>
              </a:rPr>
              <a:t>比较</a:t>
            </a:r>
            <a:r>
              <a:rPr lang="zh-CN" altLang="en-US" u="sng" dirty="0" smtClean="0">
                <a:solidFill>
                  <a:srgbClr val="990099"/>
                </a:solidFill>
              </a:rPr>
              <a:t>大小</a:t>
            </a:r>
            <a:endParaRPr lang="en-US" altLang="zh-CN" u="sng" dirty="0" smtClean="0">
              <a:solidFill>
                <a:srgbClr val="99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7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93527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4000"/>
            <a:ext cx="4236085" cy="58235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3399"/>
                </a:solidFill>
              </a:rPr>
              <a:t>原</a:t>
            </a:r>
            <a:r>
              <a:rPr lang="zh-CN" altLang="en-US" b="1" dirty="0" smtClean="0">
                <a:solidFill>
                  <a:srgbClr val="FF3399"/>
                </a:solidFill>
              </a:rPr>
              <a:t>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sign-magnitude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FF3399"/>
                </a:solidFill>
              </a:rPr>
              <a:t>表示法</a:t>
            </a:r>
            <a:endParaRPr lang="en-US" altLang="zh-CN" b="1" dirty="0">
              <a:solidFill>
                <a:srgbClr val="FF3399"/>
              </a:solidFill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编码思想：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整数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原码定义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小</a:t>
            </a:r>
            <a:r>
              <a:rPr lang="zh-CN" altLang="en-US" dirty="0" smtClean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数</a:t>
            </a:r>
            <a:r>
              <a:rPr lang="zh-CN" altLang="en-US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原码定义</a:t>
            </a:r>
            <a:r>
              <a:rPr lang="zh-CN" altLang="en-US" dirty="0" smtClean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原码的特性：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表示特性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运算方法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343"/>
          <p:cNvSpPr txBox="1">
            <a:spLocks noChangeArrowheads="1"/>
          </p:cNvSpPr>
          <p:nvPr/>
        </p:nvSpPr>
        <p:spPr bwMode="auto">
          <a:xfrm>
            <a:off x="2016125" y="791845"/>
            <a:ext cx="6988175" cy="3338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/>
            <a:r>
              <a:rPr lang="zh-CN" altLang="en-US" dirty="0" smtClean="0">
                <a:solidFill>
                  <a:schemeClr val="tx1"/>
                </a:solidFill>
              </a:rPr>
              <a:t>机器数的</a:t>
            </a:r>
            <a:r>
              <a:rPr lang="zh-CN" altLang="en-US" u="sng" dirty="0" smtClean="0">
                <a:solidFill>
                  <a:srgbClr val="990099"/>
                </a:solidFill>
              </a:rPr>
              <a:t>最高位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符号位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dirty="0" smtClean="0">
                <a:solidFill>
                  <a:schemeClr val="tx1"/>
                </a:solidFill>
              </a:rPr>
              <a:t>0/1</a:t>
            </a:r>
            <a:r>
              <a:rPr lang="zh-CN" altLang="en-US" dirty="0" smtClean="0">
                <a:solidFill>
                  <a:schemeClr val="tx1"/>
                </a:solidFill>
              </a:rPr>
              <a:t>表示</a:t>
            </a:r>
            <a:r>
              <a:rPr lang="en-US" altLang="zh-CN" dirty="0" smtClean="0">
                <a:solidFill>
                  <a:schemeClr val="tx1"/>
                </a:solidFill>
              </a:rPr>
              <a:t>+/-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zh-CN" altLang="en-US" dirty="0" smtClean="0">
                <a:solidFill>
                  <a:schemeClr val="tx1"/>
                </a:solidFill>
              </a:rPr>
              <a:t>        </a:t>
            </a:r>
            <a:r>
              <a:rPr lang="zh-CN" altLang="en-US" u="sng" dirty="0" smtClean="0">
                <a:solidFill>
                  <a:srgbClr val="990099"/>
                </a:solidFill>
              </a:rPr>
              <a:t>其余位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数值位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为真值的</a:t>
            </a:r>
            <a:r>
              <a:rPr lang="zh-CN" altLang="en-US" u="sng" dirty="0" smtClean="0">
                <a:solidFill>
                  <a:schemeClr val="tx1"/>
                </a:solidFill>
              </a:rPr>
              <a:t>绝对值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＝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±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i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或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  <a:sym typeface="+mn-ea"/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i="1" dirty="0" smtClean="0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accent2"/>
                </a:solidFill>
                <a:sym typeface="+mn-ea"/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0</a:t>
            </a:r>
            <a:endParaRPr lang="en-US" altLang="zh-CN" baseline="-18000" dirty="0" smtClean="0">
              <a:solidFill>
                <a:schemeClr val="tx1"/>
              </a:solidFill>
              <a:sym typeface="+mn-ea"/>
            </a:endParaRPr>
          </a:p>
          <a:p>
            <a:pPr marL="1973580" indent="-1973580"/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/>
            <a:endParaRPr lang="en-US" altLang="zh-CN" sz="20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i="1" dirty="0" smtClean="0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＝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±</a:t>
            </a:r>
            <a:r>
              <a:rPr lang="en-US" altLang="zh-CN" dirty="0">
                <a:solidFill>
                  <a:schemeClr val="accent2"/>
                </a:solidFill>
                <a:sym typeface="+mn-ea"/>
              </a:rPr>
              <a:t>0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  <a:sym typeface="+mn-ea"/>
              </a:rPr>
              <a:t>-1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  <a:sym typeface="+mn-ea"/>
              </a:rPr>
              <a:t>-(n-1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  <a:sym typeface="+mn-ea"/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i="1" dirty="0" smtClean="0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accent2"/>
                </a:solidFill>
                <a:sym typeface="+mn-ea"/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zh-CN" baseline="-18000" dirty="0">
                <a:solidFill>
                  <a:schemeClr val="tx1"/>
                </a:solidFill>
                <a:sym typeface="+mn-ea"/>
              </a:rPr>
              <a:t>(n-1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         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└─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──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编码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时</a:t>
            </a:r>
            <a:r>
              <a:rPr lang="zh-CN" altLang="en-US" sz="1800" dirty="0" smtClean="0">
                <a:solidFill>
                  <a:srgbClr val="990099"/>
                </a:solidFill>
                <a:sym typeface="+mn-ea"/>
              </a:rPr>
              <a:t>省略</a:t>
            </a:r>
            <a:r>
              <a:rPr lang="en-US" altLang="zh-CN" sz="1800" dirty="0">
                <a:solidFill>
                  <a:srgbClr val="990099"/>
                </a:solidFill>
                <a:sym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──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┘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硬件</a:t>
            </a:r>
            <a:r>
              <a:rPr lang="zh-CN" altLang="en-US" sz="1800" dirty="0" smtClean="0">
                <a:solidFill>
                  <a:srgbClr val="990099"/>
                </a:solidFill>
                <a:sym typeface="+mn-ea"/>
              </a:rPr>
              <a:t>隐含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表示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                                          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此处</a:t>
            </a:r>
            <a:r>
              <a:rPr lang="zh-CN" altLang="en-US" sz="1800" dirty="0" smtClean="0">
                <a:solidFill>
                  <a:srgbClr val="990099"/>
                </a:solidFill>
                <a:sym typeface="+mn-ea"/>
              </a:rPr>
              <a:t>便于阅读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93533" name="Text Box 3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00" y="2160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例</a:t>
            </a:r>
            <a:r>
              <a:rPr lang="en-US" altLang="zh-CN" sz="2200" dirty="0">
                <a:solidFill>
                  <a:srgbClr val="990099"/>
                </a:solidFill>
              </a:rPr>
              <a:t>1—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dirty="0"/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110]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 smtClean="0"/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 smtClean="0"/>
              <a:t>-</a:t>
            </a:r>
            <a:r>
              <a:rPr lang="en-US" altLang="zh-CN" sz="2200" dirty="0">
                <a:solidFill>
                  <a:schemeClr val="tx1"/>
                </a:solidFill>
              </a:rPr>
              <a:t>110]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 smtClean="0"/>
              <a:t>1</a:t>
            </a:r>
            <a:r>
              <a:rPr lang="en-US" altLang="zh-CN" sz="2200" dirty="0" smtClean="0">
                <a:solidFill>
                  <a:schemeClr val="tx1"/>
                </a:solidFill>
              </a:rPr>
              <a:t>110</a:t>
            </a:r>
            <a:r>
              <a:rPr lang="zh-CN" altLang="en-US" sz="2200" dirty="0" smtClean="0">
                <a:solidFill>
                  <a:schemeClr val="tx1"/>
                </a:solidFill>
              </a:rPr>
              <a:t>；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/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101</a:t>
            </a:r>
            <a:r>
              <a:rPr lang="zh-CN" altLang="en-US" sz="2200" dirty="0">
                <a:solidFill>
                  <a:schemeClr val="tx1"/>
                </a:solidFill>
              </a:rPr>
              <a:t>时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/>
              <a:t>-</a:t>
            </a:r>
            <a:r>
              <a:rPr lang="en-US" altLang="zh-CN" sz="2200" dirty="0" smtClean="0">
                <a:solidFill>
                  <a:schemeClr val="tx1"/>
                </a:solidFill>
              </a:rPr>
              <a:t>101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990099"/>
                </a:solidFill>
                <a:sym typeface="+mn-ea"/>
              </a:rPr>
              <a:t>    </a:t>
            </a:r>
            <a:r>
              <a:rPr lang="en-US" altLang="zh-CN" sz="2200" dirty="0" smtClean="0">
                <a:solidFill>
                  <a:srgbClr val="990099"/>
                </a:solidFill>
                <a:sym typeface="+mn-ea"/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[</a:t>
            </a:r>
            <a:r>
              <a:rPr lang="en-US" altLang="zh-CN" sz="2200" dirty="0" smtClean="0">
                <a:sym typeface="+mn-ea"/>
              </a:rPr>
              <a:t>+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  <a:sym typeface="+mn-ea"/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=</a:t>
            </a:r>
            <a:r>
              <a:rPr lang="en-US" altLang="zh-CN" sz="2200" dirty="0">
                <a:sym typeface="+mn-ea"/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000</a:t>
            </a:r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[</a:t>
            </a:r>
            <a:r>
              <a:rPr lang="en-US" altLang="zh-CN" sz="2200" dirty="0" smtClean="0">
                <a:sym typeface="+mn-ea"/>
              </a:rPr>
              <a:t>-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sym typeface="+mn-ea"/>
              </a:rPr>
              <a:t>000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  <a:sym typeface="+mn-ea"/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=</a:t>
            </a:r>
            <a:r>
              <a:rPr lang="en-US" altLang="zh-CN" sz="2200" dirty="0" smtClean="0">
                <a:sym typeface="+mn-ea"/>
              </a:rPr>
              <a:t>1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000</a:t>
            </a:r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 sz="2200" dirty="0" smtClean="0">
                <a:solidFill>
                  <a:schemeClr val="accent2"/>
                </a:solidFill>
                <a:sym typeface="+mn-ea"/>
              </a:rPr>
              <a:t>※[+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0]</a:t>
            </a:r>
            <a:r>
              <a:rPr lang="zh-CN" altLang="en-US" sz="2200" baseline="-18000" dirty="0">
                <a:solidFill>
                  <a:schemeClr val="accent2"/>
                </a:solidFill>
                <a:sym typeface="+mn-ea"/>
              </a:rPr>
              <a:t>原</a:t>
            </a: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≠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[-0]</a:t>
            </a:r>
            <a:r>
              <a:rPr lang="zh-CN" altLang="en-US" sz="2200" baseline="-18000" dirty="0">
                <a:solidFill>
                  <a:schemeClr val="accent2"/>
                </a:solidFill>
                <a:sym typeface="+mn-ea"/>
              </a:rPr>
              <a:t>原</a:t>
            </a:r>
            <a:endParaRPr lang="zh-CN" altLang="en-US" sz="2200" baseline="-18000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179705" y="3762375"/>
            <a:ext cx="665416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2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 smtClean="0"/>
              <a:t>+</a:t>
            </a:r>
            <a:r>
              <a:rPr lang="en-US" altLang="zh-CN" sz="2200" dirty="0"/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.101]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/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.101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dirty="0"/>
              <a:t>-0</a:t>
            </a:r>
            <a:r>
              <a:rPr lang="en-US" altLang="zh-CN" sz="2200" dirty="0">
                <a:solidFill>
                  <a:schemeClr val="tx1"/>
                </a:solidFill>
              </a:rPr>
              <a:t>.101]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 smtClean="0"/>
              <a:t>1</a:t>
            </a:r>
            <a:r>
              <a:rPr lang="en-US" altLang="zh-CN" sz="2200" dirty="0" smtClean="0">
                <a:solidFill>
                  <a:schemeClr val="tx1"/>
                </a:solidFill>
              </a:rPr>
              <a:t>.101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         若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/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.01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/>
              <a:t>-</a:t>
            </a:r>
            <a:r>
              <a:rPr lang="en-US" altLang="zh-CN" sz="2200" dirty="0" smtClean="0"/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.01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67625" name="Text Box 41"/>
          <p:cNvSpPr txBox="1">
            <a:spLocks noChangeArrowheads="1"/>
          </p:cNvSpPr>
          <p:nvPr/>
        </p:nvSpPr>
        <p:spPr bwMode="auto">
          <a:xfrm>
            <a:off x="2341245" y="5084445"/>
            <a:ext cx="6624320" cy="1291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  <a:sym typeface="+mn-ea"/>
              </a:rPr>
              <a:t>原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表示值的范围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相同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[+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0]</a:t>
            </a:r>
            <a:r>
              <a:rPr lang="zh-CN" altLang="en-US" sz="1800" baseline="-18000" dirty="0">
                <a:solidFill>
                  <a:schemeClr val="tx1"/>
                </a:solidFill>
                <a:sym typeface="+mn-ea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≠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[-0]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符号</a:t>
            </a:r>
            <a:r>
              <a:rPr lang="zh-CN" altLang="en-US" dirty="0">
                <a:solidFill>
                  <a:schemeClr val="tx1"/>
                </a:solidFill>
              </a:rPr>
              <a:t>与数值</a:t>
            </a:r>
            <a:r>
              <a:rPr lang="zh-CN" altLang="en-US" u="sng" dirty="0">
                <a:solidFill>
                  <a:schemeClr val="tx1"/>
                </a:solidFill>
              </a:rPr>
              <a:t>分开</a:t>
            </a:r>
            <a:r>
              <a:rPr lang="zh-CN" altLang="en-US" u="sng" dirty="0" smtClean="0">
                <a:solidFill>
                  <a:schemeClr val="tx1"/>
                </a:solidFill>
              </a:rPr>
              <a:t>运算</a:t>
            </a:r>
            <a:r>
              <a:rPr lang="zh-CN" altLang="en-US" dirty="0" smtClean="0">
                <a:solidFill>
                  <a:schemeClr val="tx1"/>
                </a:solidFill>
              </a:rPr>
              <a:t>、减法</a:t>
            </a:r>
            <a:r>
              <a:rPr lang="zh-CN" altLang="en-US" u="sng" dirty="0" smtClean="0">
                <a:solidFill>
                  <a:schemeClr val="tx1"/>
                </a:solidFill>
              </a:rPr>
              <a:t>先比较大小</a:t>
            </a:r>
            <a:endParaRPr lang="en-US" altLang="zh-CN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</a:t>
            </a:r>
            <a:r>
              <a:rPr lang="en-US" altLang="zh-CN" sz="1800" b="0" dirty="0" smtClean="0">
                <a:solidFill>
                  <a:schemeClr val="tx1"/>
                </a:solidFill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</a:rPr>
              <a:t>→</a:t>
            </a:r>
            <a:r>
              <a:rPr lang="zh-CN" altLang="en-US" sz="1800" dirty="0" smtClean="0">
                <a:solidFill>
                  <a:schemeClr val="tx1"/>
                </a:solidFill>
              </a:rPr>
              <a:t>不利于硬件实现←</a:t>
            </a:r>
            <a:r>
              <a:rPr sz="1800" b="0" dirty="0" smtClean="0">
                <a:solidFill>
                  <a:schemeClr val="tx1"/>
                </a:solidFill>
              </a:rPr>
              <a:t>┴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dirty="0" smtClean="0">
                <a:solidFill>
                  <a:schemeClr val="tx1"/>
                </a:solidFill>
              </a:rPr>
              <a:t>常用减法实现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3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1724-601E-435D-B6AA-51BC763A6C42}" type="slidenum">
              <a:rPr lang="en-US" altLang="zh-CN"/>
            </a:fld>
            <a:endParaRPr lang="en-US" altLang="zh-CN" dirty="0"/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179388" y="332656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补码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t</a:t>
            </a:r>
            <a:r>
              <a:rPr lang="en-US" altLang="zh-CN" sz="1800" b="0" dirty="0" err="1" smtClean="0">
                <a:solidFill>
                  <a:schemeClr val="tx1"/>
                </a:solidFill>
                <a:latin typeface="+mn-lt"/>
              </a:rPr>
              <a:t>wo</a:t>
            </a:r>
            <a:r>
              <a:rPr lang="en-US" altLang="zh-CN" sz="1800" b="0" dirty="0" err="1" smtClean="0">
                <a:solidFill>
                  <a:schemeClr val="tx1"/>
                </a:solidFill>
                <a:latin typeface="+mn-lt"/>
                <a:sym typeface="Symbol" panose="05050102010706020507"/>
              </a:rPr>
              <a:t></a:t>
            </a:r>
            <a:r>
              <a:rPr lang="en-US" altLang="zh-CN" sz="1800" b="0" dirty="0" err="1" smtClean="0">
                <a:solidFill>
                  <a:schemeClr val="tx1"/>
                </a:solidFill>
                <a:latin typeface="+mn-lt"/>
              </a:rPr>
              <a:t>s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 complement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表示</a:t>
            </a:r>
            <a:r>
              <a:rPr lang="zh-CN" altLang="en-US" dirty="0">
                <a:solidFill>
                  <a:srgbClr val="FF3399"/>
                </a:solidFill>
              </a:rPr>
              <a:t>法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/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编码目标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 smtClean="0">
                <a:solidFill>
                  <a:schemeClr val="tx1"/>
                </a:solidFill>
              </a:rPr>
              <a:t>符号与数值</a:t>
            </a:r>
            <a:r>
              <a:rPr lang="zh-CN" altLang="en-US" u="sng" dirty="0">
                <a:solidFill>
                  <a:srgbClr val="990099"/>
                </a:solidFill>
              </a:rPr>
              <a:t>一起</a:t>
            </a:r>
            <a:r>
              <a:rPr lang="zh-CN" altLang="en-US" u="sng" dirty="0" smtClean="0">
                <a:solidFill>
                  <a:srgbClr val="990099"/>
                </a:solidFill>
              </a:rPr>
              <a:t>运算</a:t>
            </a:r>
            <a:r>
              <a:rPr lang="zh-CN" altLang="en-US" dirty="0" smtClean="0">
                <a:solidFill>
                  <a:schemeClr val="tx1"/>
                </a:solidFill>
              </a:rPr>
              <a:t>，②减法</a:t>
            </a:r>
            <a:r>
              <a:rPr lang="zh-CN" altLang="en-US" u="sng" dirty="0" smtClean="0">
                <a:solidFill>
                  <a:srgbClr val="990099"/>
                </a:solidFill>
              </a:rPr>
              <a:t>不比较大小</a:t>
            </a:r>
            <a:endParaRPr lang="zh-CN" altLang="en-US" u="sng" dirty="0">
              <a:solidFill>
                <a:srgbClr val="990099"/>
              </a:solidFill>
            </a:endParaRP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179388" y="1260000"/>
            <a:ext cx="8785225" cy="5253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786380" indent="-27863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有模运算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r>
              <a:rPr lang="zh-CN" altLang="en-US" u="sng" dirty="0" smtClean="0">
                <a:solidFill>
                  <a:schemeClr val="tx1"/>
                </a:solidFill>
              </a:rPr>
              <a:t>仅</a:t>
            </a:r>
            <a:r>
              <a:rPr lang="zh-CN" altLang="en-US" u="sng" dirty="0">
                <a:solidFill>
                  <a:schemeClr val="tx1"/>
                </a:solidFill>
              </a:rPr>
              <a:t>计量</a:t>
            </a:r>
            <a:r>
              <a:rPr lang="zh-CN" altLang="en-US" dirty="0">
                <a:solidFill>
                  <a:schemeClr val="tx1"/>
                </a:solidFill>
              </a:rPr>
              <a:t>小于</a:t>
            </a:r>
            <a:r>
              <a:rPr lang="en-US" altLang="zh-CN" b="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模</a:t>
            </a:r>
            <a:r>
              <a:rPr lang="en-US" altLang="zh-CN" b="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</a:rPr>
              <a:t>的部分，其余部分被丢弃</a:t>
            </a:r>
            <a:endParaRPr lang="zh-CN" altLang="en-US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00000"/>
              </a:lnSpc>
              <a:spcAft>
                <a:spcPts val="0"/>
              </a:spcAft>
            </a:pP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 smtClean="0">
                <a:solidFill>
                  <a:schemeClr val="accent2"/>
                </a:solidFill>
              </a:rPr>
              <a:t>                             </a:t>
            </a:r>
            <a:r>
              <a:rPr lang="en-US" altLang="zh-CN" sz="1800" baseline="-25000" dirty="0" smtClean="0">
                <a:solidFill>
                  <a:schemeClr val="accent2"/>
                </a:solidFill>
              </a:rPr>
              <a:t> 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计量系统的计数</a:t>
            </a:r>
            <a:r>
              <a:rPr lang="zh-CN" altLang="en-US" sz="1800" dirty="0" smtClean="0">
                <a:solidFill>
                  <a:schemeClr val="tx1"/>
                </a:solidFill>
              </a:rPr>
              <a:t>范围，适于定长运算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zh-CN" altLang="en-US" sz="1800" dirty="0" smtClean="0">
                <a:solidFill>
                  <a:srgbClr val="990099"/>
                </a:solidFill>
              </a:rPr>
              <a:t>       如：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时针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模＝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12)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点拨到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点，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7 (mod 12)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zh-CN" altLang="en-US" dirty="0" smtClean="0">
                <a:solidFill>
                  <a:schemeClr val="accent2"/>
                </a:solidFill>
              </a:rPr>
              <a:t>    同余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en-US" altLang="zh-CN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补数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sym typeface="+mn-ea"/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990099"/>
                </a:solidFill>
                <a:sym typeface="+mn-ea"/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  <a:sym typeface="+mn-ea"/>
              </a:rPr>
              <a:t>运算</a:t>
            </a:r>
            <a:r>
              <a:rPr lang="zh-CN" altLang="en-US" dirty="0">
                <a:solidFill>
                  <a:srgbClr val="990099"/>
                </a:solidFill>
                <a:sym typeface="+mn-ea"/>
              </a:rPr>
              <a:t>特征：</a:t>
            </a:r>
            <a:endParaRPr lang="zh-CN" altLang="en-US" dirty="0">
              <a:solidFill>
                <a:srgbClr val="990099"/>
              </a:solidFill>
              <a:sym typeface="+mn-ea"/>
            </a:endParaRPr>
          </a:p>
          <a:p>
            <a:pPr marL="2786380" indent="-2786380">
              <a:lnSpc>
                <a:spcPct val="100000"/>
              </a:lnSpc>
              <a:spcAft>
                <a:spcPts val="0"/>
              </a:spcAft>
            </a:pPr>
            <a:endParaRPr lang="en-US" altLang="zh-CN" sz="1000" dirty="0">
              <a:solidFill>
                <a:srgbClr val="C00000"/>
              </a:solidFill>
              <a:sym typeface="+mn-ea"/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编码目标的实现</a:t>
            </a:r>
            <a:r>
              <a:rPr lang="zh-CN" altLang="en-US" dirty="0" smtClean="0">
                <a:sym typeface="+mn-ea"/>
              </a:rPr>
              <a:t>：  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硬件是有模运算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    目标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②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zh-CN" altLang="en-US" sz="1800" dirty="0" smtClean="0">
              <a:solidFill>
                <a:schemeClr val="accent2"/>
              </a:solidFill>
              <a:sym typeface="+mn-ea"/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dirty="0" smtClean="0">
                <a:solidFill>
                  <a:schemeClr val="accent2"/>
                </a:solidFill>
                <a:sym typeface="+mn-ea"/>
              </a:rPr>
              <a:t>目标</a:t>
            </a: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①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1763688" y="2304000"/>
            <a:ext cx="6120929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>
              <a:lnSpc>
                <a:spcPct val="125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满足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b="0" i="1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kM</a:t>
            </a:r>
            <a:r>
              <a:rPr lang="en-US" altLang="zh-CN" sz="1800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18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为整数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786380" indent="-2786380">
              <a:lnSpc>
                <a:spcPct val="125000"/>
              </a:lnSpc>
            </a:pPr>
            <a:r>
              <a:rPr lang="zh-CN" altLang="en-US" dirty="0" smtClean="0">
                <a:solidFill>
                  <a:schemeClr val="tx1"/>
                </a:solidFill>
              </a:rPr>
              <a:t>则</a:t>
            </a:r>
            <a:r>
              <a:rPr lang="zh-CN" altLang="en-US" dirty="0">
                <a:solidFill>
                  <a:schemeClr val="tx1"/>
                </a:solidFill>
              </a:rPr>
              <a:t>记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≡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(mod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，称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为模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u="sng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同余</a:t>
            </a:r>
            <a:endParaRPr lang="en-US" altLang="zh-CN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 marL="2786380" indent="-2786380">
              <a:lnSpc>
                <a:spcPct val="125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 如：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+3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≡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+15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(mod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12)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-3≡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+9 (mod 12)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1727835" y="3564000"/>
            <a:ext cx="7230110" cy="1254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若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满足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＋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＝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，称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互为模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的</a:t>
            </a:r>
            <a:r>
              <a:rPr lang="zh-CN" altLang="en-US" u="sng" dirty="0">
                <a:solidFill>
                  <a:srgbClr val="990099"/>
                </a:solidFill>
                <a:sym typeface="+mn-ea"/>
              </a:rPr>
              <a:t>补</a:t>
            </a:r>
            <a:r>
              <a:rPr lang="zh-CN" altLang="en-US" u="sng" dirty="0" smtClean="0">
                <a:solidFill>
                  <a:srgbClr val="990099"/>
                </a:solidFill>
                <a:sym typeface="+mn-ea"/>
              </a:rPr>
              <a:t>数</a:t>
            </a:r>
            <a:endParaRPr lang="en-US" altLang="zh-CN" u="sng" dirty="0" smtClean="0">
              <a:solidFill>
                <a:srgbClr val="990099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dirty="0" smtClean="0">
                <a:solidFill>
                  <a:schemeClr val="tx1"/>
                </a:solidFill>
              </a:rPr>
              <a:t>      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i="1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="0" i="1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b="0" i="1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(mod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 smtClean="0">
                <a:solidFill>
                  <a:schemeClr val="tx1"/>
                </a:solidFill>
              </a:rPr>
              <a:t>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  └</a:t>
            </a:r>
            <a:r>
              <a:rPr lang="zh-CN" altLang="en-US" sz="1800" dirty="0" smtClean="0">
                <a:solidFill>
                  <a:schemeClr val="tx1"/>
                </a:solidFill>
              </a:rPr>
              <a:t>→</a:t>
            </a:r>
            <a:r>
              <a:rPr lang="zh-CN" altLang="en-US" sz="1800" spc="80" dirty="0" smtClean="0">
                <a:solidFill>
                  <a:srgbClr val="FF3399"/>
                </a:solidFill>
              </a:rPr>
              <a:t>减法可用加法实现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┴</a:t>
            </a:r>
            <a:r>
              <a:rPr lang="zh-CN" altLang="en-US" sz="1800" dirty="0" smtClean="0">
                <a:solidFill>
                  <a:schemeClr val="tx1"/>
                </a:solidFill>
              </a:rPr>
              <a:t>→可简化硬件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016125" y="5112000"/>
            <a:ext cx="694800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正数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用其本身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、负数</a:t>
            </a:r>
            <a:r>
              <a:rPr lang="zh-CN" altLang="en-US" u="sng" dirty="0">
                <a:solidFill>
                  <a:schemeClr val="tx1"/>
                </a:solidFill>
                <a:sym typeface="+mn-ea"/>
              </a:rPr>
              <a:t>用其正补数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表示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600" spc="80" dirty="0" smtClean="0">
                <a:solidFill>
                  <a:schemeClr val="tx1"/>
                </a:solidFill>
                <a:sym typeface="+mn-ea"/>
              </a:rPr>
              <a:t>减法用加法实现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如模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12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时，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9</a:t>
            </a:r>
            <a:r>
              <a:rPr lang="zh-CN" altLang="en-US" sz="1800" dirty="0" smtClean="0">
                <a:solidFill>
                  <a:srgbClr val="C00000"/>
                </a:solidFill>
                <a:sym typeface="+mn-ea"/>
              </a:rPr>
              <a:t>－</a:t>
            </a:r>
            <a:r>
              <a:rPr lang="en-US" altLang="zh-CN" sz="1800" dirty="0" smtClean="0">
                <a:solidFill>
                  <a:srgbClr val="C00000"/>
                </a:solidFill>
                <a:sym typeface="+mn-ea"/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≡9</a:t>
            </a:r>
            <a:r>
              <a:rPr lang="zh-CN" altLang="en-US" sz="1800" dirty="0" smtClean="0">
                <a:solidFill>
                  <a:srgbClr val="C00000"/>
                </a:solidFill>
                <a:sym typeface="+mn-ea"/>
              </a:rPr>
              <a:t>＋</a:t>
            </a:r>
            <a:r>
              <a:rPr lang="en-US" altLang="zh-CN" sz="1800" dirty="0" smtClean="0">
                <a:solidFill>
                  <a:srgbClr val="C00000"/>
                </a:solidFill>
                <a:sym typeface="+mn-ea"/>
              </a:rPr>
              <a:t>8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(-9)≡4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3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结果符号</a:t>
            </a:r>
            <a:r>
              <a:rPr lang="zh-CN" altLang="en-US" u="sng" dirty="0" smtClean="0">
                <a:solidFill>
                  <a:schemeClr val="tx1"/>
                </a:solidFill>
              </a:rPr>
              <a:t>等于</a:t>
            </a:r>
            <a:r>
              <a:rPr lang="zh-CN" altLang="en-US" dirty="0" smtClean="0">
                <a:solidFill>
                  <a:schemeClr val="tx1"/>
                </a:solidFill>
              </a:rPr>
              <a:t>其值类型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100" dirty="0" smtClean="0">
                <a:solidFill>
                  <a:schemeClr val="tx1"/>
                </a:solidFill>
                <a:sym typeface="+mn-ea"/>
              </a:rPr>
              <a:t>本身</a:t>
            </a:r>
            <a:r>
              <a:rPr lang="en-US" altLang="zh-CN" sz="1800" spc="-100" dirty="0" smtClean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800" spc="-100" dirty="0" smtClean="0">
                <a:solidFill>
                  <a:schemeClr val="tx1"/>
                </a:solidFill>
                <a:sym typeface="+mn-ea"/>
              </a:rPr>
              <a:t>正补数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600" spc="-100" dirty="0" smtClean="0">
                <a:solidFill>
                  <a:schemeClr val="tx1"/>
                </a:solidFill>
                <a:sym typeface="+mn-ea"/>
              </a:rPr>
              <a:t>下节</a:t>
            </a:r>
            <a:r>
              <a:rPr lang="zh-CN" altLang="en-US" sz="1600" spc="-100" dirty="0">
                <a:solidFill>
                  <a:schemeClr val="tx1"/>
                </a:solidFill>
                <a:sym typeface="+mn-ea"/>
              </a:rPr>
              <a:t>证明</a:t>
            </a:r>
            <a:endParaRPr lang="zh-CN" altLang="en-US" sz="1600" spc="-100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651E-4F17-46BA-803F-F4A3BBFA307B}" type="slidenum">
              <a:rPr lang="en-US" altLang="zh-CN"/>
            </a:fld>
            <a:endParaRPr lang="en-US" altLang="zh-CN" dirty="0"/>
          </a:p>
        </p:txBody>
      </p:sp>
      <p:sp>
        <p:nvSpPr>
          <p:cNvPr id="370694" name="Text Box 6"/>
          <p:cNvSpPr txBox="1">
            <a:spLocks noChangeArrowheads="1"/>
          </p:cNvSpPr>
          <p:nvPr/>
        </p:nvSpPr>
        <p:spPr bwMode="auto">
          <a:xfrm>
            <a:off x="179705" y="340995"/>
            <a:ext cx="2654300" cy="6193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FF3399"/>
                </a:solidFill>
              </a:rPr>
              <a:t>(1)</a:t>
            </a:r>
            <a:r>
              <a:rPr lang="zh-CN" altLang="en-US" dirty="0">
                <a:solidFill>
                  <a:srgbClr val="FF3399"/>
                </a:solidFill>
              </a:rPr>
              <a:t>补码定义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/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*编码思想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zh-CN" altLang="en-US" dirty="0">
              <a:solidFill>
                <a:srgbClr val="C00000"/>
              </a:solidFill>
            </a:endParaRPr>
          </a:p>
          <a:p>
            <a:pPr marL="1973580" indent="-1973580"/>
            <a:endParaRPr lang="zh-CN" altLang="en-US" dirty="0">
              <a:solidFill>
                <a:srgbClr val="C00000"/>
              </a:solidFill>
              <a:sym typeface="+mn-ea"/>
            </a:endParaRPr>
          </a:p>
          <a:p>
            <a:pPr marL="1973580" indent="-1973580"/>
            <a:r>
              <a:rPr lang="en-US" altLang="zh-CN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整数补码定义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：</a:t>
            </a:r>
            <a:endParaRPr lang="zh-CN" altLang="en-US" dirty="0" smtClean="0">
              <a:solidFill>
                <a:srgbClr val="C00000"/>
              </a:solidFill>
              <a:sym typeface="+mn-ea"/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小数补码定义：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205" y="2230040"/>
            <a:ext cx="7204075" cy="684530"/>
            <a:chOff x="1757" y="7668"/>
            <a:chExt cx="11345" cy="1078"/>
          </a:xfrm>
        </p:grpSpPr>
        <p:sp>
          <p:nvSpPr>
            <p:cNvPr id="2" name="Text Box 39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224" y="8276"/>
              <a:ext cx="1701" cy="397"/>
            </a:xfrm>
            <a:prstGeom prst="rect">
              <a:avLst/>
            </a:prstGeom>
            <a:solidFill>
              <a:srgbClr val="CCFFFF"/>
            </a:solidFill>
            <a:ln w="12700" algn="ctr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" name="Text Box 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412" y="7668"/>
              <a:ext cx="6690" cy="107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0000"/>
                </a:lnSpc>
              </a:pPr>
              <a:r>
                <a:rPr lang="en-US" altLang="zh-CN" sz="2000" b="1" dirty="0" smtClean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0×2</a:t>
              </a:r>
              <a:r>
                <a:rPr lang="en-US" altLang="zh-CN" sz="2000" b="1" baseline="30000" dirty="0" smtClean="0">
                  <a:solidFill>
                    <a:schemeClr val="accent2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en-US" altLang="zh-CN" sz="20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i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          </a:t>
              </a:r>
              <a:r>
                <a:rPr lang="en-US" altLang="zh-CN" sz="2000" b="1" i="1" baseline="-250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≤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＜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endPara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0000"/>
                </a:spcBef>
              </a:pPr>
              <a:r>
                <a:rPr lang="en-US" altLang="zh-CN" sz="2000" b="1" dirty="0" smtClean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1×2</a:t>
              </a:r>
              <a:r>
                <a:rPr lang="en-US" altLang="zh-CN" sz="2000" b="1" baseline="30000" dirty="0" smtClean="0">
                  <a:solidFill>
                    <a:schemeClr val="accent2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(2</a:t>
              </a:r>
              <a:r>
                <a:rPr lang="en-US" altLang="zh-CN" sz="20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－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|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|)  -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≤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＜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57" y="7983"/>
              <a:ext cx="4593" cy="6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[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]</a:t>
              </a:r>
              <a:r>
                <a:rPr lang="zh-CN" altLang="en-US" sz="2000" b="1" baseline="-200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补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en-US" altLang="zh-CN" sz="20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(mod 2</a:t>
              </a:r>
              <a:r>
                <a:rPr lang="en-US" altLang="zh-CN" sz="20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en-US" altLang="zh-CN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endPara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AutoShape 11"/>
            <p:cNvSpPr/>
            <p:nvPr>
              <p:custDataLst>
                <p:tags r:id="rId4"/>
              </p:custDataLst>
            </p:nvPr>
          </p:nvSpPr>
          <p:spPr bwMode="auto">
            <a:xfrm>
              <a:off x="6297" y="7835"/>
              <a:ext cx="115" cy="793"/>
            </a:xfrm>
            <a:prstGeom prst="leftBrace">
              <a:avLst>
                <a:gd name="adj1" fmla="val 2654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sp>
        <p:nvSpPr>
          <p:cNvPr id="7" name="Text Box 34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0235" y="2844000"/>
            <a:ext cx="8429625" cy="3222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3—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[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1000+(1000-001)=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1000+(1000-111)=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练习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1—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A=-01100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、求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[A]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4—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[+000]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=0000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[-000]</a:t>
            </a:r>
            <a:r>
              <a:rPr lang="zh-CN" altLang="en-US" sz="22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补码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唯一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5—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≥0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200" b="1" baseline="-18000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=2</a:t>
            </a:r>
            <a:r>
              <a:rPr lang="en-US" altLang="zh-CN" sz="22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4-1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-1=+7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200" b="1" baseline="-18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min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=-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4-1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=-8  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补码比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原码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</a:t>
            </a:r>
            <a:endParaRPr lang="zh-CN" altLang="en-US" sz="1800" b="1" u="sng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796805" y="3420169"/>
            <a:ext cx="2825908" cy="1944008"/>
            <a:chOff x="5868560" y="908744"/>
            <a:chExt cx="2825908" cy="1944008"/>
          </a:xfrm>
        </p:grpSpPr>
        <p:sp>
          <p:nvSpPr>
            <p:cNvPr id="100" name="椭圆 99"/>
            <p:cNvSpPr/>
            <p:nvPr>
              <p:custDataLst>
                <p:tags r:id="rId6"/>
              </p:custDataLst>
            </p:nvPr>
          </p:nvSpPr>
          <p:spPr bwMode="auto">
            <a:xfrm>
              <a:off x="5940552" y="980752"/>
              <a:ext cx="2520000" cy="1872000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Text Box 26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12560" y="1124768"/>
              <a:ext cx="2681908" cy="158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p>
              <a:pPr>
                <a:lnSpc>
                  <a:spcPct val="95000"/>
                </a:lnSpc>
              </a:pP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-001       </a:t>
              </a:r>
              <a:r>
                <a:rPr lang="en-US" altLang="zh-CN" sz="14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+001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-101            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+010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1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-011               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+011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-100                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+100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1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-101                </a:t>
              </a:r>
              <a:r>
                <a:rPr lang="en-US" altLang="zh-CN" sz="14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+101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-110            </a:t>
              </a:r>
              <a:r>
                <a:rPr lang="en-US" altLang="zh-CN" sz="14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+110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-111        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+111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2" name="直接连接符 101"/>
            <p:cNvCxnSpPr/>
            <p:nvPr>
              <p:custDataLst>
                <p:tags r:id="rId8"/>
              </p:custDataLst>
            </p:nvPr>
          </p:nvCxnSpPr>
          <p:spPr bwMode="auto">
            <a:xfrm>
              <a:off x="5868560" y="191685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6040268" y="1457100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6286738" y="1224484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5904560" y="168697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12"/>
              </p:custDataLst>
            </p:nvPr>
          </p:nvCxnSpPr>
          <p:spPr bwMode="auto">
            <a:xfrm>
              <a:off x="8424840" y="191685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8253116" y="1457100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8008003" y="1224484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8388824" y="168697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6308900" y="2623082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6056860" y="239046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918414" y="216058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7962346" y="2623082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8225408" y="239046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8374970" y="216058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22"/>
              </p:custDataLst>
            </p:nvPr>
          </p:nvCxnSpPr>
          <p:spPr bwMode="auto">
            <a:xfrm>
              <a:off x="7236696" y="908744"/>
              <a:ext cx="0" cy="108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 Box 26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092720" y="1016776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p>
              <a:pPr algn="ctr">
                <a:lnSpc>
                  <a:spcPct val="85000"/>
                </a:lnSpc>
              </a:pPr>
              <a:r>
                <a:rPr lang="en-US" altLang="zh-CN" sz="1600" spc="-100" dirty="0" smtClean="0">
                  <a:solidFill>
                    <a:schemeClr val="tx1"/>
                  </a:solidFill>
                </a:rPr>
                <a:t>000</a:t>
              </a:r>
              <a:endParaRPr lang="en-US" altLang="zh-CN" sz="1600" spc="-1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64" name="Text Box 260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364741" y="3636193"/>
            <a:ext cx="3600000" cy="158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p>
            <a:pPr>
              <a:lnSpc>
                <a:spcPct val="95000"/>
              </a:lnSpc>
            </a:pP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4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1111                   </a:t>
            </a:r>
            <a:r>
              <a:rPr lang="en-US" altLang="zh-CN" sz="14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0001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4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1110                  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0010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1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1101                            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0011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100                             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0100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1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1011                            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0101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1010                          </a:t>
            </a:r>
            <a:r>
              <a:rPr lang="en-US" altLang="zh-CN" sz="14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0110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1001                     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0111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165" name="组合 164"/>
          <p:cNvGrpSpPr/>
          <p:nvPr/>
        </p:nvGrpSpPr>
        <p:grpSpPr>
          <a:xfrm>
            <a:off x="6876909" y="5155346"/>
            <a:ext cx="504190" cy="281047"/>
            <a:chOff x="4860032" y="4732129"/>
            <a:chExt cx="504190" cy="281047"/>
          </a:xfrm>
        </p:grpSpPr>
        <p:cxnSp>
          <p:nvCxnSpPr>
            <p:cNvPr id="166" name="直接连接符 165"/>
            <p:cNvCxnSpPr/>
            <p:nvPr>
              <p:custDataLst>
                <p:tags r:id="rId25"/>
              </p:custDataLst>
            </p:nvPr>
          </p:nvCxnSpPr>
          <p:spPr bwMode="auto">
            <a:xfrm>
              <a:off x="5148064" y="4905176"/>
              <a:ext cx="0" cy="108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7" name="Text Box 26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860032" y="4732129"/>
              <a:ext cx="504190" cy="1727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p>
              <a:pPr algn="ctr">
                <a:lnSpc>
                  <a:spcPct val="8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1000</a:t>
              </a:r>
              <a:endPara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71" name="Text Box 260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876909" y="5436393"/>
            <a:ext cx="504000" cy="2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p>
            <a:pPr algn="ctr">
              <a:lnSpc>
                <a:spcPct val="85000"/>
              </a:lnSpc>
            </a:pP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1000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72" name="Text Box 260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876909" y="3204145"/>
            <a:ext cx="504000" cy="2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p>
            <a:pPr algn="ctr">
              <a:lnSpc>
                <a:spcPct val="85000"/>
              </a:lnSpc>
            </a:pP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0000</a:t>
            </a:r>
            <a:endParaRPr lang="en-US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73580" y="791845"/>
            <a:ext cx="7167880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/>
            <a:r>
              <a:rPr lang="zh-CN" altLang="en-US" dirty="0">
                <a:solidFill>
                  <a:schemeClr val="tx1"/>
                </a:solidFill>
              </a:rPr>
              <a:t>机器</a:t>
            </a:r>
            <a:r>
              <a:rPr lang="zh-CN" altLang="en-US" dirty="0" smtClean="0">
                <a:solidFill>
                  <a:schemeClr val="tx1"/>
                </a:solidFill>
              </a:rPr>
              <a:t>数的</a:t>
            </a:r>
            <a:r>
              <a:rPr lang="zh-CN" altLang="en-US" u="sng" dirty="0" smtClean="0">
                <a:solidFill>
                  <a:srgbClr val="990099"/>
                </a:solidFill>
              </a:rPr>
              <a:t>最高位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符号位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dirty="0" smtClean="0">
                <a:solidFill>
                  <a:schemeClr val="tx1"/>
                </a:solidFill>
              </a:rPr>
              <a:t>0/1</a:t>
            </a:r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en-US" altLang="zh-CN" dirty="0">
                <a:solidFill>
                  <a:schemeClr val="tx1"/>
                </a:solidFill>
              </a:rPr>
              <a:t>+/-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zh-CN" altLang="en-US" dirty="0">
              <a:solidFill>
                <a:schemeClr val="tx1"/>
              </a:solidFill>
            </a:endParaRPr>
          </a:p>
          <a:p>
            <a:pPr marL="1973580" indent="-1973580"/>
            <a:r>
              <a:rPr lang="zh-CN" altLang="en-US" dirty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zh-CN" altLang="en-US" u="sng" dirty="0">
                <a:solidFill>
                  <a:srgbClr val="990099"/>
                </a:solidFill>
              </a:rPr>
              <a:t>其余</a:t>
            </a:r>
            <a:r>
              <a:rPr lang="zh-CN" altLang="en-US" u="sng" dirty="0" smtClean="0">
                <a:solidFill>
                  <a:srgbClr val="990099"/>
                </a:solidFill>
              </a:rPr>
              <a:t>位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数值位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zh-CN" altLang="en-US" u="sng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本身</a:t>
            </a:r>
            <a:r>
              <a:rPr lang="zh-CN" altLang="en-US" dirty="0" smtClean="0">
                <a:solidFill>
                  <a:schemeClr val="tx1"/>
                </a:solidFill>
              </a:rPr>
              <a:t>或</a:t>
            </a:r>
            <a:r>
              <a:rPr lang="zh-CN" altLang="en-US" u="sng" dirty="0" smtClean="0">
                <a:solidFill>
                  <a:schemeClr val="tx1"/>
                </a:solidFill>
              </a:rPr>
              <a:t>正补</a:t>
            </a:r>
            <a:r>
              <a:rPr lang="zh-CN" altLang="en-US" u="sng" dirty="0">
                <a:solidFill>
                  <a:schemeClr val="tx1"/>
                </a:solidFill>
              </a:rPr>
              <a:t>数</a:t>
            </a:r>
            <a:endParaRPr lang="zh-CN" altLang="en-US" u="sng" dirty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  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±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，则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模为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[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  <a:sym typeface="+mn-ea"/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i="1" dirty="0" smtClean="0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 smtClean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accent2"/>
                </a:solidFill>
                <a:sym typeface="+mn-ea"/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  <a:sym typeface="+mn-ea"/>
              </a:rPr>
              <a:t>0</a:t>
            </a:r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24" name="AutoShape 29"/>
          <p:cNvSpPr/>
          <p:nvPr/>
        </p:nvSpPr>
        <p:spPr bwMode="auto">
          <a:xfrm>
            <a:off x="7593412" y="2960369"/>
            <a:ext cx="1008000" cy="252000"/>
          </a:xfrm>
          <a:prstGeom prst="borderCallout2">
            <a:avLst>
              <a:gd name="adj1" fmla="val 54480"/>
              <a:gd name="adj2" fmla="val 239"/>
              <a:gd name="adj3" fmla="val 48129"/>
              <a:gd name="adj4" fmla="val -137591"/>
              <a:gd name="adj5" fmla="val -35025"/>
              <a:gd name="adj6" fmla="val -166002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＝正补数</a:t>
            </a:r>
            <a:endParaRPr lang="zh-CN" altLang="en-US" sz="1600" b="1"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388" name="Text Box 52"/>
          <p:cNvSpPr txBox="1">
            <a:spLocks noChangeArrowheads="1"/>
          </p:cNvSpPr>
          <p:nvPr/>
        </p:nvSpPr>
        <p:spPr bwMode="auto">
          <a:xfrm>
            <a:off x="2619375" y="5929630"/>
            <a:ext cx="646874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±</a:t>
            </a:r>
            <a:r>
              <a:rPr lang="en-US" altLang="zh-CN" dirty="0">
                <a:solidFill>
                  <a:schemeClr val="tx1"/>
                </a:solidFill>
              </a:rPr>
              <a:t>0.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</a:rPr>
              <a:t>-1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</a:rPr>
              <a:t>-(n-1)</a:t>
            </a:r>
            <a:r>
              <a:rPr lang="zh-CN" altLang="en-US" dirty="0">
                <a:solidFill>
                  <a:schemeClr val="tx1"/>
                </a:solidFill>
              </a:rPr>
              <a:t>，则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 smtClean="0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-(</a:t>
            </a:r>
            <a:r>
              <a:rPr lang="en-US" altLang="zh-CN" baseline="-18000" dirty="0">
                <a:solidFill>
                  <a:schemeClr val="tx1"/>
                </a:solidFill>
              </a:rPr>
              <a:t>n-1)</a:t>
            </a:r>
            <a:endParaRPr lang="en-US" altLang="zh-CN" baseline="-18000" dirty="0">
              <a:solidFill>
                <a:schemeClr val="tx1"/>
              </a:solidFill>
            </a:endParaRPr>
          </a:p>
        </p:txBody>
      </p:sp>
    </p:spTree>
    <p:custDataLst>
      <p:tags r:id="rId2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819"/>
    </mc:Choice>
    <mc:Fallback>
      <p:transition spd="slow" advTm="308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164" grpId="0" bldLvl="0" animBg="1"/>
      <p:bldP spid="171" grpId="0" bldLvl="0" animBg="1"/>
      <p:bldP spid="172" grpId="0" bldLvl="0" animBg="1"/>
      <p:bldP spid="1438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6A44-BCBA-4DC3-A03C-46DDD3472C95}" type="slidenum">
              <a:rPr lang="en-US" altLang="zh-CN"/>
            </a:fld>
            <a:endParaRPr lang="en-US" altLang="zh-CN"/>
          </a:p>
        </p:txBody>
      </p:sp>
      <p:sp>
        <p:nvSpPr>
          <p:cNvPr id="371734" name="Text Box 22"/>
          <p:cNvSpPr txBox="1">
            <a:spLocks noChangeArrowheads="1"/>
          </p:cNvSpPr>
          <p:nvPr/>
        </p:nvSpPr>
        <p:spPr bwMode="auto">
          <a:xfrm>
            <a:off x="179388" y="334293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FF3399"/>
                </a:solidFill>
              </a:rPr>
              <a:t>(2)</a:t>
            </a:r>
            <a:r>
              <a:rPr lang="zh-CN" altLang="en-US" dirty="0">
                <a:solidFill>
                  <a:srgbClr val="FF3399"/>
                </a:solidFill>
              </a:rPr>
              <a:t>补码的特性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与</a:t>
            </a: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C00000"/>
                </a:solidFill>
              </a:rPr>
              <a:t>]</a:t>
            </a:r>
            <a:r>
              <a:rPr lang="zh-CN" altLang="en-US" baseline="-18000" dirty="0">
                <a:solidFill>
                  <a:srgbClr val="C00000"/>
                </a:solidFill>
              </a:rPr>
              <a:t>补</a:t>
            </a:r>
            <a:r>
              <a:rPr lang="zh-CN" altLang="en-US" dirty="0">
                <a:solidFill>
                  <a:srgbClr val="C00000"/>
                </a:solidFill>
              </a:rPr>
              <a:t>的关系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＝±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n-2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baseline="-20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aseline="-18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aseline="-18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baseline="-1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56665"/>
            <a:ext cx="8508365" cy="5077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①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时，</a:t>
            </a:r>
            <a:r>
              <a:rPr lang="zh-CN" altLang="en-US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i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i="1" baseline="-25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；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baseline="-18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200" b="1" baseline="-18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②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时，</a:t>
            </a:r>
            <a:r>
              <a:rPr lang="zh-CN" altLang="en-US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endParaRPr lang="en-US" altLang="zh-CN" sz="2200" b="1" dirty="0" smtClean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baseline="-18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200" b="1" baseline="-18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endParaRPr lang="zh-CN" altLang="en-US" sz="2200" b="1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→[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简便方法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accent2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 smtClean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6—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+101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Y]</a:t>
            </a:r>
            <a:r>
              <a:rPr lang="zh-CN" altLang="en-US" sz="2200" b="1" baseline="-18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1011</a:t>
            </a:r>
            <a:endParaRPr lang="en-US" altLang="zh-CN" sz="22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    [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简便方法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  <a:r>
              <a:rPr lang="en-US" altLang="zh-CN" sz="2200" b="1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accent2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 marL="1973580" indent="-197358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 smtClean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7—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Y]</a:t>
            </a:r>
            <a:r>
              <a:rPr lang="zh-CN" altLang="en-US" sz="2200" b="1" baseline="-18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+101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101</a:t>
            </a:r>
            <a:endParaRPr lang="en-US" altLang="zh-CN" sz="2200" b="1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  <p:sp>
        <p:nvSpPr>
          <p:cNvPr id="34" name="AutoShape 29"/>
          <p:cNvSpPr/>
          <p:nvPr>
            <p:custDataLst>
              <p:tags r:id="rId2"/>
            </p:custDataLst>
          </p:nvPr>
        </p:nvSpPr>
        <p:spPr bwMode="auto">
          <a:xfrm>
            <a:off x="5400675" y="619760"/>
            <a:ext cx="3564000" cy="252000"/>
          </a:xfrm>
          <a:prstGeom prst="borderCallout2">
            <a:avLst>
              <a:gd name="adj1" fmla="val 94242"/>
              <a:gd name="adj2" fmla="val 79125"/>
              <a:gd name="adj3" fmla="val 447019"/>
              <a:gd name="adj4" fmla="val 78484"/>
              <a:gd name="adj5" fmla="val 586619"/>
              <a:gd name="adj6" fmla="val 6469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11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+1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不能影响符号位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n-2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=0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除外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Text Box 2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68000" y="1224280"/>
            <a:ext cx="4752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200" b="1" dirty="0" smtClean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</a:rPr>
              <a:t>0</a:t>
            </a:r>
            <a:r>
              <a:rPr lang="en-US" altLang="zh-CN" sz="22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smtClean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0000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n-2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…</a:t>
            </a:r>
            <a:r>
              <a:rPr lang="en-US" altLang="zh-CN" sz="2200" b="1" i="1" dirty="0" smtClean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0000" dirty="0" smtClean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baseline="-25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22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smtClean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y</a:t>
            </a:r>
            <a:r>
              <a:rPr lang="en-US" altLang="zh-CN" sz="2200" b="1" baseline="-18000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n-2</a:t>
            </a:r>
            <a:r>
              <a: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…</a:t>
            </a:r>
            <a:r>
              <a:rPr lang="en-US" altLang="zh-CN" sz="2200" b="1" i="1" dirty="0" smtClean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y</a:t>
            </a:r>
            <a:r>
              <a:rPr lang="en-US" altLang="zh-CN" sz="2200" b="1" baseline="-18000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0</a:t>
            </a:r>
            <a:endParaRPr lang="en-US" altLang="zh-CN" sz="2200" b="1" baseline="-18000" dirty="0" smtClean="0">
              <a:solidFill>
                <a:schemeClr val="tx1"/>
              </a:solidFill>
              <a:highlight>
                <a:srgbClr val="FFFF00"/>
              </a:highlight>
              <a:latin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2879725" y="1692275"/>
            <a:ext cx="5184140" cy="756285"/>
            <a:chOff x="4987" y="4247"/>
            <a:chExt cx="8164" cy="1191"/>
          </a:xfrm>
        </p:grpSpPr>
        <p:sp>
          <p:nvSpPr>
            <p:cNvPr id="37" name="Text Box 1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87" y="4247"/>
              <a:ext cx="8164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10795" rIns="36195" bIns="10795">
              <a:noAutofit/>
            </a:bodyPr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+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[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+(2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-1)+1]+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10…0+(1…1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en-US" altLang="zh-CN" sz="22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5"/>
              </p:custDataLst>
            </p:nvPr>
          </p:nvCxnSpPr>
          <p:spPr>
            <a:xfrm flipV="1">
              <a:off x="11024" y="5041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6"/>
              </p:custDataLst>
            </p:nvPr>
          </p:nvCxnSpPr>
          <p:spPr>
            <a:xfrm flipV="1">
              <a:off x="12129" y="5041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" name="组合 39"/>
          <p:cNvGrpSpPr/>
          <p:nvPr/>
        </p:nvGrpSpPr>
        <p:grpSpPr>
          <a:xfrm>
            <a:off x="2664000" y="2448000"/>
            <a:ext cx="5652135" cy="756285"/>
            <a:chOff x="3314" y="5064"/>
            <a:chExt cx="8901" cy="1191"/>
          </a:xfrm>
        </p:grpSpPr>
        <p:sp>
          <p:nvSpPr>
            <p:cNvPr id="41" name="Text Box 2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14" y="5064"/>
              <a:ext cx="8901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36195" tIns="10795" rIns="36195" bIns="10795">
              <a:noAutofit/>
            </a:bodyPr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[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]</a:t>
              </a:r>
              <a:r>
                <a:rPr lang="zh-CN" altLang="en-US" sz="2200" b="1" baseline="-200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补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[2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+(2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-1)+1]</a:t>
              </a:r>
              <a:endPara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-[(1…1-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)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+1]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-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+1</a:t>
              </a:r>
              <a:endParaRPr lang="en-US" altLang="zh-CN" sz="22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2" name="直接连接符 41"/>
            <p:cNvCxnSpPr/>
            <p:nvPr>
              <p:custDataLst>
                <p:tags r:id="rId8"/>
              </p:custDataLst>
            </p:nvPr>
          </p:nvCxnSpPr>
          <p:spPr>
            <a:xfrm flipV="1">
              <a:off x="10193" y="5868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>
              <p:custDataLst>
                <p:tags r:id="rId9"/>
              </p:custDataLst>
            </p:nvPr>
          </p:nvCxnSpPr>
          <p:spPr>
            <a:xfrm flipV="1">
              <a:off x="11278" y="5868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" name="组合 43"/>
          <p:cNvGrpSpPr/>
          <p:nvPr/>
        </p:nvGrpSpPr>
        <p:grpSpPr>
          <a:xfrm>
            <a:off x="3168000" y="3201035"/>
            <a:ext cx="4530725" cy="1043940"/>
            <a:chOff x="5837" y="5606"/>
            <a:chExt cx="7135" cy="1644"/>
          </a:xfrm>
        </p:grpSpPr>
        <p:sp>
          <p:nvSpPr>
            <p:cNvPr id="45" name="Text Box 2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837" y="5606"/>
              <a:ext cx="7135" cy="16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p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      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</a:rPr>
                <a:t>0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；</a:t>
              </a:r>
              <a:endPara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i="1" dirty="0" smtClean="0">
                  <a:solidFill>
                    <a:schemeClr val="tx1"/>
                  </a:solidFill>
                  <a:sym typeface="+mn-ea"/>
                </a:rPr>
                <a:t>＜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＜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；</a:t>
              </a:r>
              <a:endPara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   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endParaRPr lang="en-US" altLang="zh-CN" sz="2200" b="1" baseline="-20000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11"/>
              </p:custDataLst>
            </p:nvPr>
          </p:nvCxnSpPr>
          <p:spPr>
            <a:xfrm flipV="1">
              <a:off x="10478" y="6447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直接连接符 46"/>
            <p:cNvCxnSpPr/>
            <p:nvPr>
              <p:custDataLst>
                <p:tags r:id="rId12"/>
              </p:custDataLst>
            </p:nvPr>
          </p:nvCxnSpPr>
          <p:spPr>
            <a:xfrm flipV="1">
              <a:off x="11586" y="6447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组合 47"/>
          <p:cNvGrpSpPr/>
          <p:nvPr/>
        </p:nvGrpSpPr>
        <p:grpSpPr>
          <a:xfrm>
            <a:off x="3348000" y="4752000"/>
            <a:ext cx="5054600" cy="1043940"/>
            <a:chOff x="5811" y="8179"/>
            <a:chExt cx="7960" cy="1644"/>
          </a:xfrm>
        </p:grpSpPr>
        <p:sp>
          <p:nvSpPr>
            <p:cNvPr id="49" name="Text Box 2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811" y="8179"/>
              <a:ext cx="7960" cy="16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p>
              <a:pPr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          </a:t>
              </a:r>
              <a:r>
                <a:rPr lang="en-US" altLang="zh-CN" sz="2200" b="1" spc="3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</a:rPr>
                <a:t>+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y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y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；</a:t>
              </a:r>
              <a:endPara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且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≠0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endPara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且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en-US" altLang="zh-CN" sz="2200" b="1" baseline="30000" dirty="0" smtClean="0">
                  <a:solidFill>
                    <a:schemeClr val="tx1"/>
                  </a:solidFill>
                  <a:highlight>
                    <a:srgbClr val="FFFF00"/>
                  </a:highlight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endParaRPr lang="en-US" altLang="zh-CN" sz="2200" b="1" baseline="30000" dirty="0" smtClean="0">
                <a:solidFill>
                  <a:schemeClr val="tx1"/>
                </a:solidFill>
                <a:highlight>
                  <a:srgbClr val="FFFF00"/>
                </a:highlight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4"/>
              </p:custDataLst>
            </p:nvPr>
          </p:nvCxnSpPr>
          <p:spPr>
            <a:xfrm flipV="1">
              <a:off x="11197" y="8917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直接连接符 50"/>
            <p:cNvCxnSpPr/>
            <p:nvPr>
              <p:custDataLst>
                <p:tags r:id="rId15"/>
              </p:custDataLst>
            </p:nvPr>
          </p:nvCxnSpPr>
          <p:spPr>
            <a:xfrm flipV="1">
              <a:off x="12265" y="8917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1"/>
    </mc:Choice>
    <mc:Fallback>
      <p:transition spd="slow" advTm="7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64019-76E6-4880-AE9D-0B5FE069B0DC}" type="slidenum">
              <a:rPr lang="en-US" altLang="zh-CN"/>
            </a:fld>
            <a:endParaRPr lang="en-US" altLang="zh-CN"/>
          </a:p>
        </p:txBody>
      </p:sp>
      <p:sp>
        <p:nvSpPr>
          <p:cNvPr id="32" name="Text Box 42"/>
          <p:cNvSpPr txBox="1">
            <a:spLocks noChangeArrowheads="1"/>
          </p:cNvSpPr>
          <p:nvPr/>
        </p:nvSpPr>
        <p:spPr bwMode="auto">
          <a:xfrm>
            <a:off x="179512" y="4513421"/>
            <a:ext cx="8785101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FF3399"/>
                </a:solidFill>
              </a:rPr>
              <a:t>注意：</a:t>
            </a:r>
            <a:r>
              <a:rPr lang="zh-CN" altLang="en-US" dirty="0" smtClean="0">
                <a:solidFill>
                  <a:schemeClr val="tx1"/>
                </a:solidFill>
              </a:rPr>
              <a:t>上述方法</a:t>
            </a:r>
            <a:r>
              <a:rPr lang="zh-CN" altLang="en-US" u="sng" dirty="0" smtClean="0">
                <a:solidFill>
                  <a:srgbClr val="0070C0"/>
                </a:solidFill>
              </a:rPr>
              <a:t>也适用于</a:t>
            </a:r>
            <a:r>
              <a:rPr lang="zh-CN" altLang="en-US" dirty="0" smtClean="0">
                <a:solidFill>
                  <a:schemeClr val="tx1"/>
                </a:solidFill>
              </a:rPr>
              <a:t>小数补码，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         </a:t>
            </a:r>
            <a:r>
              <a:rPr lang="zh-CN" altLang="en-US" u="sng" dirty="0" smtClean="0">
                <a:solidFill>
                  <a:srgbClr val="0070C0"/>
                </a:solidFill>
              </a:rPr>
              <a:t>不适用于</a:t>
            </a:r>
            <a:r>
              <a:rPr lang="zh-CN" altLang="en-US" dirty="0" smtClean="0">
                <a:solidFill>
                  <a:schemeClr val="tx1"/>
                </a:solidFill>
              </a:rPr>
              <a:t>最小负数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正数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负数的表示范围不同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3527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3850"/>
            <a:ext cx="8840470" cy="4149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*[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[-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b="1" baseline="-1800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的关系：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设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b="1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n-1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n-2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…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←减法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X-Y=X+(-Y)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n-1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sym typeface="+mn-ea"/>
              </a:rPr>
              <a:t>＝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n-1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200" b="1" baseline="30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-|</a:t>
            </a:r>
            <a:r>
              <a:rPr lang="en-US" altLang="zh-CN" sz="2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|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i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i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sym typeface="+mn-ea"/>
              </a:rPr>
              <a:t>＝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→[-</a:t>
            </a:r>
            <a:r>
              <a:rPr lang="en-US" altLang="zh-CN" sz="2200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简便方法：</a:t>
            </a:r>
            <a:r>
              <a:rPr lang="en-US" altLang="zh-CN" sz="2200" b="1" dirty="0">
                <a:solidFill>
                  <a:schemeClr val="accent2"/>
                </a:solidFill>
                <a:sym typeface="+mn-ea"/>
              </a:rPr>
              <a:t> </a:t>
            </a:r>
            <a:endParaRPr lang="en-US" altLang="zh-CN" sz="2200" b="1" dirty="0">
              <a:solidFill>
                <a:schemeClr val="accent2"/>
              </a:solidFill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8—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[-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[-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Y]</a:t>
            </a:r>
            <a:r>
              <a:rPr lang="zh-CN" altLang="en-US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0101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32000" y="1224000"/>
            <a:ext cx="3528060" cy="323850"/>
            <a:chOff x="3685" y="8802"/>
            <a:chExt cx="5556" cy="510"/>
          </a:xfrm>
        </p:grpSpPr>
        <p:sp>
          <p:nvSpPr>
            <p:cNvPr id="26" name="Text Box 17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685" y="8802"/>
              <a:ext cx="5556" cy="5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10795" rIns="36195" bIns="10795">
              <a:noAutofit/>
            </a:bodyPr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00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endPara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V="1">
              <a:off x="4040" y="8951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 flipV="1">
              <a:off x="5145" y="8951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" name="直接连接符 2"/>
            <p:cNvCxnSpPr/>
            <p:nvPr>
              <p:custDataLst>
                <p:tags r:id="rId5"/>
              </p:custDataLst>
            </p:nvPr>
          </p:nvCxnSpPr>
          <p:spPr>
            <a:xfrm flipV="1">
              <a:off x="7197" y="8945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>
              <p:custDataLst>
                <p:tags r:id="rId6"/>
              </p:custDataLst>
            </p:nvPr>
          </p:nvCxnSpPr>
          <p:spPr>
            <a:xfrm flipV="1">
              <a:off x="8302" y="8945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7"/>
              </p:custDataLst>
            </p:nvPr>
          </p:nvCxnSpPr>
          <p:spPr>
            <a:xfrm flipV="1">
              <a:off x="6411" y="8949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AutoShape 29"/>
          <p:cNvSpPr/>
          <p:nvPr>
            <p:custDataLst>
              <p:tags r:id="rId8"/>
            </p:custDataLst>
          </p:nvPr>
        </p:nvSpPr>
        <p:spPr bwMode="auto">
          <a:xfrm>
            <a:off x="6984000" y="2664000"/>
            <a:ext cx="1944000" cy="540000"/>
          </a:xfrm>
          <a:prstGeom prst="borderCallout2">
            <a:avLst>
              <a:gd name="adj1" fmla="val 60912"/>
              <a:gd name="adj2" fmla="val -326"/>
              <a:gd name="adj3" fmla="val 59737"/>
              <a:gd name="adj4" fmla="val -18357"/>
              <a:gd name="adj5" fmla="val 12817"/>
              <a:gd name="adj6" fmla="val -2858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11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+1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不能影响符号位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1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n-2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=0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除外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404000" y="3168000"/>
            <a:ext cx="5039995" cy="720090"/>
            <a:chOff x="5837" y="5380"/>
            <a:chExt cx="7937" cy="1134"/>
          </a:xfrm>
        </p:grpSpPr>
        <p:sp>
          <p:nvSpPr>
            <p:cNvPr id="19" name="Text Box 2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837" y="5380"/>
              <a:ext cx="7937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p>
              <a:pPr>
                <a:lnSpc>
                  <a:spcPct val="100000"/>
                </a:lnSpc>
              </a:pP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≠10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00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 smtClean="0">
                  <a:solidFill>
                    <a:schemeClr val="tx1"/>
                  </a:solidFill>
                  <a:highlight>
                    <a:srgbClr val="FFFF00"/>
                  </a:highlight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；</a:t>
              </a:r>
              <a:endPara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10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无法表示</a:t>
              </a:r>
              <a:endParaRPr lang="zh-CN" altLang="en-US" sz="2200" b="1" baseline="-20000" dirty="0" smtClean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10"/>
              </p:custDataLst>
            </p:nvPr>
          </p:nvCxnSpPr>
          <p:spPr>
            <a:xfrm flipV="1">
              <a:off x="11450" y="5575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11"/>
              </p:custDataLst>
            </p:nvPr>
          </p:nvCxnSpPr>
          <p:spPr>
            <a:xfrm flipV="1">
              <a:off x="12555" y="5575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12"/>
              </p:custDataLst>
            </p:nvPr>
          </p:nvCxnSpPr>
          <p:spPr>
            <a:xfrm flipV="1">
              <a:off x="10679" y="5579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/>
          <p:cNvGrpSpPr/>
          <p:nvPr/>
        </p:nvGrpSpPr>
        <p:grpSpPr>
          <a:xfrm>
            <a:off x="3115490" y="1996795"/>
            <a:ext cx="4566285" cy="683895"/>
            <a:chOff x="3685" y="8802"/>
            <a:chExt cx="7191" cy="1077"/>
          </a:xfrm>
        </p:grpSpPr>
        <p:sp>
          <p:nvSpPr>
            <p:cNvPr id="10" name="Text Box 1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685" y="8802"/>
              <a:ext cx="7191" cy="10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10795" rIns="36195" bIns="10795">
              <a:noAutofit/>
            </a:bodyPr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|</a:t>
              </a:r>
              <a:r>
                <a:rPr lang="en-US" altLang="zh-CN" sz="2200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|</a:t>
              </a:r>
              <a:r>
                <a:rPr lang="zh-CN" altLang="en-US" sz="22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＝</a:t>
              </a:r>
              <a:r>
                <a:rPr lang="en-US" altLang="zh-CN" sz="2200" dirty="0" smtClean="0">
                  <a:solidFill>
                    <a:schemeClr val="tx1"/>
                  </a:solidFill>
                  <a:sym typeface="+mn-ea"/>
                </a:rPr>
                <a:t>2</a:t>
              </a:r>
              <a:r>
                <a:rPr lang="en-US" altLang="zh-CN" sz="2200" baseline="30000" dirty="0" smtClean="0">
                  <a:solidFill>
                    <a:schemeClr val="tx1"/>
                  </a:solidFill>
                  <a:sym typeface="+mn-ea"/>
                </a:rPr>
                <a:t>n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-[</a:t>
              </a:r>
              <a:r>
                <a:rPr lang="en-US" altLang="zh-CN" sz="2200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]</a:t>
              </a:r>
              <a:r>
                <a:rPr lang="zh-CN" altLang="en-US" sz="2200" baseline="-25000" dirty="0">
                  <a:solidFill>
                    <a:schemeClr val="tx1"/>
                  </a:solidFill>
                  <a:sym typeface="+mn-ea"/>
                </a:rPr>
                <a:t>补</a:t>
              </a:r>
              <a:r>
                <a:rPr lang="zh-CN" altLang="en-US" sz="2200" dirty="0" smtClean="0">
                  <a:solidFill>
                    <a:schemeClr val="tx1"/>
                  </a:solidFill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dirty="0" smtClean="0">
                  <a:solidFill>
                    <a:schemeClr val="tx1"/>
                  </a:solidFill>
                  <a:cs typeface="宋体" panose="02010600030101010101" pitchFamily="2" charset="-122"/>
                  <a:sym typeface="+mn-ea"/>
                </a:rPr>
                <a:t>1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dirty="0" smtClean="0">
                  <a:solidFill>
                    <a:schemeClr val="tx1"/>
                  </a:solidFill>
                  <a:cs typeface="宋体" panose="02010600030101010101" pitchFamily="2" charset="-122"/>
                  <a:sym typeface="+mn-ea"/>
                </a:rPr>
                <a:t>1-</a:t>
              </a:r>
              <a:r>
                <a:rPr lang="en-US" altLang="zh-CN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sym typeface="+mn-ea"/>
                </a:rPr>
                <a:t>n-1</a:t>
              </a:r>
              <a:r>
                <a:rPr lang="en-US" altLang="zh-CN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sym typeface="+mn-ea"/>
                </a:rPr>
                <a:t>n-2</a:t>
              </a:r>
              <a:r>
                <a:rPr lang="en-US" altLang="zh-CN" sz="2200" dirty="0">
                  <a:solidFill>
                    <a:schemeClr val="tx1"/>
                  </a:solidFill>
                  <a:sym typeface="+mn-ea"/>
                </a:rPr>
                <a:t>…</a:t>
              </a:r>
              <a:r>
                <a:rPr lang="en-US" altLang="zh-CN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sym typeface="+mn-ea"/>
                </a:rPr>
                <a:t>0</a:t>
              </a:r>
              <a:r>
                <a:rPr lang="en-US" altLang="zh-CN" sz="2200" dirty="0" smtClean="0">
                  <a:solidFill>
                    <a:schemeClr val="tx1"/>
                  </a:solidFill>
                  <a:cs typeface="宋体" panose="02010600030101010101" pitchFamily="2" charset="-122"/>
                  <a:sym typeface="+mn-ea"/>
                </a:rPr>
                <a:t>+1</a:t>
              </a:r>
              <a:endPara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 smtClean="0">
                  <a:solidFill>
                    <a:schemeClr val="tx1"/>
                  </a:solidFill>
                  <a:sym typeface="+mn-ea"/>
                </a:rPr>
                <a:t>            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sym typeface="+mn-ea"/>
                </a:rPr>
                <a:t> </a:t>
              </a:r>
              <a:r>
                <a:rPr lang="zh-CN" altLang="en-US" sz="2200" b="1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00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baseline="-25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i="1" dirty="0">
                  <a:solidFill>
                    <a:schemeClr val="tx1"/>
                  </a:solidFill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 smtClean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endParaRPr lang="en-US" altLang="zh-CN" sz="2200" b="1" dirty="0" smtClean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14"/>
              </p:custDataLst>
            </p:nvPr>
          </p:nvCxnSpPr>
          <p:spPr>
            <a:xfrm flipV="1">
              <a:off x="7736" y="9456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5"/>
              </p:custDataLst>
            </p:nvPr>
          </p:nvCxnSpPr>
          <p:spPr>
            <a:xfrm flipV="1">
              <a:off x="8813" y="9456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6999" y="9456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3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35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1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179388" y="332656"/>
            <a:ext cx="8785100" cy="21306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3—</a:t>
            </a:r>
            <a:endParaRPr lang="en-US" altLang="zh-CN" dirty="0">
              <a:solidFill>
                <a:srgbClr val="990099"/>
              </a:solidFill>
            </a:endParaRPr>
          </a:p>
          <a:p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=+01001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10111 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  C</a:t>
            </a:r>
            <a:r>
              <a:rPr lang="en-US" altLang="zh-CN" sz="2000" dirty="0">
                <a:solidFill>
                  <a:schemeClr val="tx1"/>
                </a:solidFill>
              </a:rPr>
              <a:t>. 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 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②</a:t>
            </a:r>
            <a:r>
              <a:rPr lang="zh-CN" altLang="en-US" sz="2200" dirty="0" smtClean="0">
                <a:solidFill>
                  <a:schemeClr val="tx1"/>
                </a:solidFill>
              </a:rPr>
              <a:t>若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=-</a:t>
            </a:r>
            <a:r>
              <a:rPr lang="en-US" altLang="zh-CN" sz="2200" dirty="0">
                <a:solidFill>
                  <a:schemeClr val="tx1"/>
                </a:solidFill>
              </a:rPr>
              <a:t>01010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 A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  </a:t>
            </a:r>
            <a:r>
              <a:rPr lang="en-US" altLang="zh-CN" sz="2000" dirty="0">
                <a:solidFill>
                  <a:schemeClr val="tx1"/>
                </a:solidFill>
              </a:rPr>
              <a:t>B.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4" name="Text Box 53"/>
          <p:cNvSpPr txBox="1">
            <a:spLocks noChangeArrowheads="1"/>
          </p:cNvSpPr>
          <p:nvPr/>
        </p:nvSpPr>
        <p:spPr bwMode="auto">
          <a:xfrm>
            <a:off x="179388" y="2420888"/>
            <a:ext cx="8785099" cy="16689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③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=001010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endParaRPr lang="en-US" altLang="zh-CN" sz="2000" dirty="0" smtClean="0">
              <a:solidFill>
                <a:srgbClr val="990099"/>
              </a:solidFill>
            </a:endParaRPr>
          </a:p>
          <a:p>
            <a:r>
              <a:rPr lang="en-US" altLang="zh-CN" sz="2200" dirty="0" smtClean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④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=101110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-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01110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 </a:t>
            </a:r>
            <a:r>
              <a:rPr lang="en-US" altLang="zh-CN" sz="2000" dirty="0" smtClean="0">
                <a:solidFill>
                  <a:schemeClr val="tx1"/>
                </a:solidFill>
              </a:rPr>
              <a:t>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10010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 </a:t>
            </a:r>
            <a:r>
              <a:rPr lang="en-US" altLang="zh-CN" sz="2000" dirty="0" smtClean="0">
                <a:solidFill>
                  <a:schemeClr val="tx1"/>
                </a:solidFill>
              </a:rPr>
              <a:t>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01110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Text Box 59"/>
          <p:cNvSpPr txBox="1">
            <a:spLocks noChangeArrowheads="1"/>
          </p:cNvSpPr>
          <p:nvPr/>
        </p:nvSpPr>
        <p:spPr bwMode="auto">
          <a:xfrm>
            <a:off x="179389" y="4005064"/>
            <a:ext cx="8785098" cy="10039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⑤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=001110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+01110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[-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110010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35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 ⑥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=101110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-10010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[-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010010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3568" y="5062825"/>
            <a:ext cx="8208912" cy="1246495"/>
            <a:chOff x="683568" y="4077360"/>
            <a:chExt cx="8208912" cy="1246495"/>
          </a:xfrm>
        </p:grpSpPr>
        <p:sp>
          <p:nvSpPr>
            <p:cNvPr id="7" name="矩形 6"/>
            <p:cNvSpPr/>
            <p:nvPr/>
          </p:nvSpPr>
          <p:spPr bwMode="auto">
            <a:xfrm>
              <a:off x="7524328" y="4581128"/>
              <a:ext cx="120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 cap="flat" cmpd="sng" algn="ctr">
              <a:solidFill>
                <a:srgbClr val="CC99FF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5096837" y="4941168"/>
              <a:ext cx="1152128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 cap="flat" cmpd="sng" algn="ctr">
              <a:solidFill>
                <a:srgbClr val="CC99FF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Line 101"/>
            <p:cNvSpPr>
              <a:spLocks noChangeShapeType="1"/>
            </p:cNvSpPr>
            <p:nvPr/>
          </p:nvSpPr>
          <p:spPr bwMode="auto">
            <a:xfrm>
              <a:off x="7560064" y="4626692"/>
              <a:ext cx="36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2"/>
            <p:cNvSpPr>
              <a:spLocks noChangeShapeType="1"/>
            </p:cNvSpPr>
            <p:nvPr/>
          </p:nvSpPr>
          <p:spPr bwMode="auto">
            <a:xfrm>
              <a:off x="8186254" y="4626690"/>
              <a:ext cx="176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1"/>
            <p:cNvSpPr>
              <a:spLocks noChangeShapeType="1"/>
            </p:cNvSpPr>
            <p:nvPr/>
          </p:nvSpPr>
          <p:spPr bwMode="auto">
            <a:xfrm>
              <a:off x="5119105" y="4989197"/>
              <a:ext cx="3875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2"/>
            <p:cNvSpPr>
              <a:spLocks noChangeShapeType="1"/>
            </p:cNvSpPr>
            <p:nvPr/>
          </p:nvSpPr>
          <p:spPr bwMode="auto">
            <a:xfrm>
              <a:off x="5772871" y="4997665"/>
              <a:ext cx="176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00"/>
            <p:cNvSpPr txBox="1">
              <a:spLocks noChangeArrowheads="1"/>
            </p:cNvSpPr>
            <p:nvPr/>
          </p:nvSpPr>
          <p:spPr bwMode="auto">
            <a:xfrm>
              <a:off x="683568" y="4077360"/>
              <a:ext cx="8208912" cy="124649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原码、补码编码规则：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设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=±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)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≥0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 smtClean="0">
                  <a:solidFill>
                    <a:schemeClr val="tx1"/>
                  </a:solidFill>
                </a:rPr>
                <a:t>原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0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；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zh-CN" altLang="en-US" sz="20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[-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+1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＜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原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；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+1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[-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baseline="-18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888000" y="4149080"/>
            <a:ext cx="3312000" cy="746018"/>
            <a:chOff x="3930732" y="4149080"/>
            <a:chExt cx="3312000" cy="746018"/>
          </a:xfrm>
        </p:grpSpPr>
        <p:sp>
          <p:nvSpPr>
            <p:cNvPr id="15" name="矩形 14"/>
            <p:cNvSpPr/>
            <p:nvPr/>
          </p:nvSpPr>
          <p:spPr bwMode="auto">
            <a:xfrm>
              <a:off x="3930732" y="4151521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3930732" y="4581128"/>
              <a:ext cx="972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6234732" y="4149080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6198732" y="4578687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DBB0-2797-4D1B-B867-62871D74DBD1}" type="slidenum">
              <a:rPr lang="en-US" altLang="zh-CN"/>
            </a:fld>
            <a:endParaRPr lang="en-US" altLang="zh-CN"/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179705" y="332740"/>
            <a:ext cx="871283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FF3399"/>
                </a:solidFill>
              </a:rPr>
              <a:t>3</a:t>
            </a:r>
            <a:r>
              <a:rPr lang="zh-CN" altLang="en-US" dirty="0">
                <a:solidFill>
                  <a:srgbClr val="FF3399"/>
                </a:solidFill>
              </a:rPr>
              <a:t>、移码表示法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/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编码目标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真值连续时，机器数也连续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机器数＝真值＋偏移量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210971" name="Text Box 27"/>
          <p:cNvSpPr txBox="1">
            <a:spLocks noChangeArrowheads="1"/>
          </p:cNvSpPr>
          <p:nvPr/>
        </p:nvSpPr>
        <p:spPr bwMode="auto">
          <a:xfrm>
            <a:off x="179388" y="2494989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整数移码定义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r>
              <a:rPr lang="zh-CN" altLang="en-US" spc="-100" dirty="0" smtClean="0">
                <a:solidFill>
                  <a:schemeClr val="tx1"/>
                </a:solidFill>
              </a:rPr>
              <a:t>设</a:t>
            </a:r>
            <a:r>
              <a:rPr lang="en-US" altLang="zh-CN" i="1" spc="-1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pc="-1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pc="-100" dirty="0" smtClean="0">
                <a:solidFill>
                  <a:schemeClr val="tx1"/>
                </a:solidFill>
              </a:rPr>
              <a:t>±</a:t>
            </a:r>
            <a:r>
              <a:rPr lang="en-US" altLang="zh-CN" i="1" spc="-100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pc="-100" baseline="-18000" dirty="0">
                <a:solidFill>
                  <a:schemeClr val="tx1"/>
                </a:solidFill>
              </a:rPr>
              <a:t>n-2</a:t>
            </a:r>
            <a:r>
              <a:rPr lang="en-US" altLang="zh-CN" spc="-100" dirty="0">
                <a:solidFill>
                  <a:schemeClr val="tx1"/>
                </a:solidFill>
              </a:rPr>
              <a:t>…</a:t>
            </a:r>
            <a:r>
              <a:rPr lang="en-US" altLang="zh-CN" i="1" spc="-100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pc="-100" baseline="-18000" dirty="0">
                <a:solidFill>
                  <a:schemeClr val="tx1"/>
                </a:solidFill>
              </a:rPr>
              <a:t>0</a:t>
            </a:r>
            <a:r>
              <a:rPr lang="zh-CN" altLang="en-US" spc="-100" dirty="0" smtClean="0">
                <a:solidFill>
                  <a:schemeClr val="tx1"/>
                </a:solidFill>
              </a:rPr>
              <a:t>，则模＝</a:t>
            </a:r>
            <a:r>
              <a:rPr lang="en-US" altLang="zh-CN" spc="-100" dirty="0" smtClean="0">
                <a:solidFill>
                  <a:schemeClr val="tx1"/>
                </a:solidFill>
              </a:rPr>
              <a:t>2</a:t>
            </a:r>
            <a:r>
              <a:rPr lang="en-US" altLang="zh-CN" spc="-100" baseline="30000" dirty="0" smtClean="0">
                <a:solidFill>
                  <a:schemeClr val="tx1"/>
                </a:solidFill>
              </a:rPr>
              <a:t>n</a:t>
            </a:r>
            <a:r>
              <a:rPr lang="zh-CN" altLang="en-US" spc="-100" dirty="0">
                <a:solidFill>
                  <a:schemeClr val="tx1"/>
                </a:solidFill>
              </a:rPr>
              <a:t>、偏移</a:t>
            </a:r>
            <a:r>
              <a:rPr lang="zh-CN" altLang="en-US" spc="-100" dirty="0" smtClean="0">
                <a:solidFill>
                  <a:schemeClr val="tx1"/>
                </a:solidFill>
              </a:rPr>
              <a:t>量＝</a:t>
            </a:r>
            <a:r>
              <a:rPr lang="en-US" altLang="zh-CN" spc="-100" dirty="0" smtClean="0">
                <a:solidFill>
                  <a:schemeClr val="tx1"/>
                </a:solidFill>
              </a:rPr>
              <a:t>2</a:t>
            </a:r>
            <a:r>
              <a:rPr lang="en-US" altLang="zh-CN" spc="-100" baseline="30000" dirty="0" smtClean="0">
                <a:solidFill>
                  <a:schemeClr val="tx1"/>
                </a:solidFill>
              </a:rPr>
              <a:t>n-1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endParaRPr lang="zh-CN" altLang="en-US" spc="-1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移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990099"/>
                </a:solidFill>
              </a:rPr>
              <a:t>2</a:t>
            </a:r>
            <a:r>
              <a:rPr lang="en-US" altLang="zh-CN" baseline="30000" dirty="0" smtClean="0">
                <a:solidFill>
                  <a:srgbClr val="990099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(mod </a:t>
            </a:r>
            <a:r>
              <a:rPr lang="en-US" altLang="zh-CN" dirty="0">
                <a:solidFill>
                  <a:srgbClr val="990099"/>
                </a:solidFill>
              </a:rPr>
              <a:t>2</a:t>
            </a:r>
            <a:r>
              <a:rPr lang="en-US" altLang="zh-CN" baseline="30000" dirty="0">
                <a:solidFill>
                  <a:srgbClr val="990099"/>
                </a:solidFill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-2</a:t>
            </a:r>
            <a:r>
              <a:rPr lang="en-US" altLang="zh-CN" baseline="30000" dirty="0">
                <a:solidFill>
                  <a:schemeClr val="tx1"/>
                </a:solidFill>
              </a:rPr>
              <a:t>n-1</a:t>
            </a:r>
            <a:r>
              <a:rPr lang="en-US" altLang="zh-CN" dirty="0">
                <a:solidFill>
                  <a:schemeClr val="tx1"/>
                </a:solidFill>
              </a:rPr>
              <a:t>≤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n-1</a:t>
            </a:r>
            <a:endParaRPr lang="en-US" altLang="zh-CN" baseline="30000" dirty="0">
              <a:solidFill>
                <a:schemeClr val="tx1"/>
              </a:solidFill>
            </a:endParaRPr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179705" y="3773170"/>
            <a:ext cx="859028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13—</a:t>
            </a:r>
            <a:r>
              <a:rPr lang="en-US" altLang="zh-CN" sz="2200" dirty="0" smtClean="0">
                <a:solidFill>
                  <a:schemeClr val="tx1"/>
                </a:solidFill>
              </a:rPr>
              <a:t>[-</a:t>
            </a:r>
            <a:r>
              <a:rPr lang="en-US" altLang="zh-CN" sz="2200" dirty="0">
                <a:solidFill>
                  <a:schemeClr val="tx1"/>
                </a:solidFill>
              </a:rPr>
              <a:t>111]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=0001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[-001]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=0111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[±000]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=1000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1973580" indent="-1973580"/>
            <a:r>
              <a:rPr lang="zh-CN" altLang="en-US" sz="2200" dirty="0">
                <a:solidFill>
                  <a:schemeClr val="tx1"/>
                </a:solidFill>
              </a:rPr>
              <a:t>          </a:t>
            </a:r>
            <a:r>
              <a:rPr lang="en-US" altLang="zh-CN" sz="2200" dirty="0">
                <a:solidFill>
                  <a:schemeClr val="tx1"/>
                </a:solidFill>
              </a:rPr>
              <a:t>[+001]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=1001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[+111]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=1111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[-1000]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=0000</a:t>
            </a:r>
            <a:endParaRPr lang="en-US" altLang="zh-CN" sz="2200" b="0" dirty="0">
              <a:solidFill>
                <a:schemeClr val="tx1"/>
              </a:solidFill>
            </a:endParaRPr>
          </a:p>
        </p:txBody>
      </p:sp>
      <p:grpSp>
        <p:nvGrpSpPr>
          <p:cNvPr id="210983" name="Group 39"/>
          <p:cNvGrpSpPr/>
          <p:nvPr/>
        </p:nvGrpSpPr>
        <p:grpSpPr bwMode="auto">
          <a:xfrm>
            <a:off x="1476375" y="1340942"/>
            <a:ext cx="7056438" cy="1223962"/>
            <a:chOff x="930" y="2251"/>
            <a:chExt cx="4445" cy="771"/>
          </a:xfrm>
        </p:grpSpPr>
        <p:sp>
          <p:nvSpPr>
            <p:cNvPr id="210974" name="Text Box 30"/>
            <p:cNvSpPr txBox="1">
              <a:spLocks noChangeArrowheads="1"/>
            </p:cNvSpPr>
            <p:nvPr/>
          </p:nvSpPr>
          <p:spPr bwMode="auto">
            <a:xfrm>
              <a:off x="930" y="2251"/>
              <a:ext cx="4445" cy="77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dirty="0">
                  <a:solidFill>
                    <a:schemeClr val="tx1"/>
                  </a:solidFill>
                </a:rPr>
                <a:t>补码</a:t>
              </a:r>
              <a:r>
                <a:rPr lang="zh-CN" altLang="en-US" sz="1800" dirty="0">
                  <a:solidFill>
                    <a:srgbClr val="FF3399"/>
                  </a:solidFill>
                </a:rPr>
                <a:t>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r>
                <a:rPr lang="zh-CN" altLang="en-US" sz="1800" dirty="0">
                  <a:solidFill>
                    <a:schemeClr val="tx1"/>
                  </a:solidFill>
                </a:rPr>
                <a:t>移码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pPr>
                <a:lnSpc>
                  <a:spcPct val="1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真值    </a:t>
              </a:r>
              <a:r>
                <a:rPr lang="en-US" altLang="zh-CN" sz="1800" dirty="0">
                  <a:solidFill>
                    <a:schemeClr val="tx1"/>
                  </a:solidFill>
                </a:rPr>
                <a:t>-2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-(2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    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-1     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       +1      +(2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grpSp>
          <p:nvGrpSpPr>
            <p:cNvPr id="210975" name="Group 31"/>
            <p:cNvGrpSpPr/>
            <p:nvPr/>
          </p:nvGrpSpPr>
          <p:grpSpPr bwMode="auto">
            <a:xfrm>
              <a:off x="1519" y="2704"/>
              <a:ext cx="3674" cy="91"/>
              <a:chOff x="1792" y="1571"/>
              <a:chExt cx="3674" cy="91"/>
            </a:xfrm>
          </p:grpSpPr>
          <p:sp>
            <p:nvSpPr>
              <p:cNvPr id="210976" name="Line 32"/>
              <p:cNvSpPr>
                <a:spLocks noChangeShapeType="1"/>
              </p:cNvSpPr>
              <p:nvPr/>
            </p:nvSpPr>
            <p:spPr bwMode="auto">
              <a:xfrm flipV="1">
                <a:off x="1792" y="1661"/>
                <a:ext cx="36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7" name="Line 33"/>
              <p:cNvSpPr>
                <a:spLocks noChangeShapeType="1"/>
              </p:cNvSpPr>
              <p:nvPr/>
            </p:nvSpPr>
            <p:spPr bwMode="auto">
              <a:xfrm flipV="1">
                <a:off x="2472" y="1572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8" name="Line 34"/>
              <p:cNvSpPr>
                <a:spLocks noChangeShapeType="1"/>
              </p:cNvSpPr>
              <p:nvPr/>
            </p:nvSpPr>
            <p:spPr bwMode="auto">
              <a:xfrm flipV="1">
                <a:off x="5239" y="1572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9" name="Line 35"/>
              <p:cNvSpPr>
                <a:spLocks noChangeShapeType="1"/>
              </p:cNvSpPr>
              <p:nvPr/>
            </p:nvSpPr>
            <p:spPr bwMode="auto">
              <a:xfrm flipV="1">
                <a:off x="3833" y="1572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0" name="Line 36"/>
              <p:cNvSpPr>
                <a:spLocks noChangeShapeType="1"/>
              </p:cNvSpPr>
              <p:nvPr/>
            </p:nvSpPr>
            <p:spPr bwMode="auto">
              <a:xfrm flipV="1">
                <a:off x="3288" y="1572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1" name="Line 37"/>
              <p:cNvSpPr>
                <a:spLocks noChangeShapeType="1"/>
              </p:cNvSpPr>
              <p:nvPr/>
            </p:nvSpPr>
            <p:spPr bwMode="auto">
              <a:xfrm flipV="1">
                <a:off x="4422" y="1572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2" name="Line 38"/>
              <p:cNvSpPr>
                <a:spLocks noChangeShapeType="1"/>
              </p:cNvSpPr>
              <p:nvPr/>
            </p:nvSpPr>
            <p:spPr bwMode="auto">
              <a:xfrm flipV="1">
                <a:off x="1882" y="1571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0984" name="Text Box 40"/>
          <p:cNvSpPr txBox="1">
            <a:spLocks noChangeArrowheads="1"/>
          </p:cNvSpPr>
          <p:nvPr/>
        </p:nvSpPr>
        <p:spPr bwMode="auto">
          <a:xfrm>
            <a:off x="179263" y="4653389"/>
            <a:ext cx="8785225" cy="151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移码的特性：</a:t>
            </a:r>
            <a:endParaRPr lang="zh-CN" altLang="en-US" dirty="0">
              <a:solidFill>
                <a:srgbClr val="C00000"/>
              </a:solidFill>
            </a:endParaRPr>
          </a:p>
          <a:p>
            <a:pPr marL="1698625" indent="-1698625"/>
            <a:r>
              <a:rPr lang="zh-CN" altLang="en-US" dirty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 ①数轴上</a:t>
            </a:r>
            <a:r>
              <a:rPr lang="zh-CN" altLang="en-US" dirty="0">
                <a:solidFill>
                  <a:schemeClr val="tx1"/>
                </a:solidFill>
              </a:rPr>
              <a:t>数</a:t>
            </a:r>
            <a:r>
              <a:rPr lang="zh-CN" altLang="en-US" dirty="0" smtClean="0">
                <a:solidFill>
                  <a:schemeClr val="tx1"/>
                </a:solidFill>
              </a:rPr>
              <a:t>的移码为</a:t>
            </a:r>
            <a:r>
              <a:rPr lang="zh-CN" altLang="en-US" u="sng" dirty="0">
                <a:solidFill>
                  <a:srgbClr val="990099"/>
                </a:solidFill>
              </a:rPr>
              <a:t>连续</a:t>
            </a:r>
            <a:r>
              <a:rPr lang="zh-CN" altLang="en-US" u="sng" dirty="0" smtClean="0">
                <a:solidFill>
                  <a:srgbClr val="990099"/>
                </a:solidFill>
              </a:rPr>
              <a:t>编码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dirty="0">
                <a:solidFill>
                  <a:schemeClr val="tx1"/>
                </a:solidFill>
              </a:rPr>
              <a:t>便于比较</a:t>
            </a:r>
            <a:r>
              <a:rPr lang="zh-CN" altLang="en-US" dirty="0" smtClean="0">
                <a:solidFill>
                  <a:schemeClr val="tx1"/>
                </a:solidFill>
              </a:rPr>
              <a:t>大小</a:t>
            </a:r>
            <a:endParaRPr lang="zh-CN" altLang="en-US" dirty="0">
              <a:solidFill>
                <a:schemeClr val="tx1"/>
              </a:solidFill>
            </a:endParaRPr>
          </a:p>
          <a:p>
            <a:pPr marL="1698625" indent="-1698625">
              <a:lnSpc>
                <a:spcPct val="135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②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移符号位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补符号位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移数值位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补数值位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Line 124"/>
          <p:cNvSpPr>
            <a:spLocks noChangeShapeType="1"/>
          </p:cNvSpPr>
          <p:nvPr/>
        </p:nvSpPr>
        <p:spPr bwMode="auto">
          <a:xfrm flipV="1">
            <a:off x="2844000" y="5688000"/>
            <a:ext cx="126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" name="AutoShape 29"/>
          <p:cNvSpPr/>
          <p:nvPr/>
        </p:nvSpPr>
        <p:spPr bwMode="auto">
          <a:xfrm>
            <a:off x="3131840" y="3496167"/>
            <a:ext cx="2880000" cy="252000"/>
          </a:xfrm>
          <a:prstGeom prst="borderCallout2">
            <a:avLst>
              <a:gd name="adj1" fmla="val 54480"/>
              <a:gd name="adj2" fmla="val 239"/>
              <a:gd name="adj3" fmla="val 54326"/>
              <a:gd name="adj4" fmla="val -5692"/>
              <a:gd name="adj5" fmla="val -49131"/>
              <a:gd name="adj6" fmla="val -12163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补码为</a:t>
            </a:r>
            <a:r>
              <a:rPr lang="en-US" altLang="zh-CN" sz="1600" dirty="0" smtClean="0">
                <a:solidFill>
                  <a:schemeClr val="tx1"/>
                </a:solidFill>
              </a:rPr>
              <a:t>2</a:t>
            </a:r>
            <a:r>
              <a:rPr lang="en-US" altLang="zh-CN" sz="1600" baseline="30000" dirty="0" smtClean="0">
                <a:solidFill>
                  <a:schemeClr val="tx1"/>
                </a:solidFill>
              </a:rPr>
              <a:t>n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600" dirty="0" smtClean="0">
                <a:solidFill>
                  <a:schemeClr val="tx1"/>
                </a:solidFill>
              </a:rPr>
              <a:t>，即负数的符号位</a:t>
            </a:r>
            <a:r>
              <a:rPr lang="en-US" altLang="zh-CN" sz="1600" dirty="0" smtClean="0">
                <a:solidFill>
                  <a:schemeClr val="tx1"/>
                </a:solidFill>
              </a:rPr>
              <a:t>=1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71" grpId="0"/>
      <p:bldP spid="210972" grpId="0" bldLvl="0" animBg="1"/>
      <p:bldP spid="210984" grpId="0" bldLvl="0" animBg="1"/>
      <p:bldP spid="19" grpId="0" bldLvl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CF2B8-C638-4DDE-B232-B89798203936}" type="slidenum">
              <a:rPr lang="en-US" altLang="zh-CN"/>
            </a:fld>
            <a:endParaRPr lang="en-US" altLang="zh-CN"/>
          </a:p>
        </p:txBody>
      </p:sp>
      <p:sp>
        <p:nvSpPr>
          <p:cNvPr id="28" name="Text Box 31"/>
          <p:cNvSpPr txBox="1">
            <a:spLocks noChangeArrowheads="1"/>
          </p:cNvSpPr>
          <p:nvPr/>
        </p:nvSpPr>
        <p:spPr bwMode="auto">
          <a:xfrm>
            <a:off x="179388" y="332656"/>
            <a:ext cx="8785225" cy="2695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1973580" indent="-1973580"/>
            <a:r>
              <a:rPr lang="en-US" altLang="zh-CN" b="0" dirty="0" smtClean="0">
                <a:solidFill>
                  <a:srgbClr val="FF3399"/>
                </a:solidFill>
              </a:rPr>
              <a:t> ※</a:t>
            </a:r>
            <a:r>
              <a:rPr lang="zh-CN" altLang="en-US" dirty="0">
                <a:solidFill>
                  <a:srgbClr val="FF3399"/>
                </a:solidFill>
              </a:rPr>
              <a:t>机器</a:t>
            </a:r>
            <a:r>
              <a:rPr lang="zh-CN" altLang="en-US" dirty="0" smtClean="0">
                <a:solidFill>
                  <a:srgbClr val="FF3399"/>
                </a:solidFill>
              </a:rPr>
              <a:t>数编码小结：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>
              <a:spcBef>
                <a:spcPts val="2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①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原码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补码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移码的</a:t>
            </a:r>
            <a:r>
              <a:rPr lang="zh-CN" altLang="en-US" sz="2200" u="sng" spc="-40" dirty="0" smtClean="0">
                <a:solidFill>
                  <a:schemeClr val="tx1"/>
                </a:solidFill>
              </a:rPr>
              <a:t>最高位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均为</a:t>
            </a:r>
            <a:r>
              <a:rPr lang="zh-CN" altLang="en-US" sz="2200" spc="-40" dirty="0" smtClean="0">
                <a:solidFill>
                  <a:srgbClr val="990099"/>
                </a:solidFill>
              </a:rPr>
              <a:t>符号位、</a:t>
            </a:r>
            <a:r>
              <a:rPr lang="zh-CN" altLang="en-US" sz="2200" u="sng" spc="-40" dirty="0" smtClean="0">
                <a:solidFill>
                  <a:schemeClr val="tx1"/>
                </a:solidFill>
              </a:rPr>
              <a:t>其余位</a:t>
            </a:r>
            <a:r>
              <a:rPr lang="zh-CN" altLang="en-US" sz="2200" spc="-40" dirty="0">
                <a:solidFill>
                  <a:schemeClr val="tx1"/>
                </a:solidFill>
              </a:rPr>
              <a:t>均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为</a:t>
            </a:r>
            <a:r>
              <a:rPr lang="zh-CN" altLang="en-US" sz="2200" spc="-40" dirty="0" smtClean="0">
                <a:solidFill>
                  <a:srgbClr val="990099"/>
                </a:solidFill>
              </a:rPr>
              <a:t>数值位</a:t>
            </a:r>
            <a:endParaRPr lang="en-US" altLang="zh-CN" sz="2200" spc="-40" dirty="0" smtClean="0">
              <a:solidFill>
                <a:srgbClr val="990099"/>
              </a:solidFill>
            </a:endParaRPr>
          </a:p>
          <a:p>
            <a:pPr marL="1973580" indent="-1973580"/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②</a:t>
            </a:r>
            <a:r>
              <a:rPr lang="zh-CN" altLang="en-US" sz="2200" dirty="0" smtClean="0">
                <a:solidFill>
                  <a:schemeClr val="tx1"/>
                </a:solidFill>
              </a:rPr>
              <a:t>符号位中，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spc="-40" dirty="0">
                <a:solidFill>
                  <a:schemeClr val="tx1"/>
                </a:solidFill>
              </a:rPr>
              <a:t>码</a:t>
            </a:r>
            <a:r>
              <a:rPr lang="en-US" altLang="zh-CN" sz="2200" spc="-40" dirty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补码用</a:t>
            </a:r>
            <a:r>
              <a:rPr lang="en-US" altLang="zh-CN" sz="2200" u="sng" spc="-40" dirty="0" smtClean="0">
                <a:solidFill>
                  <a:srgbClr val="990099"/>
                </a:solidFill>
              </a:rPr>
              <a:t>0/1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表示正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负，移码</a:t>
            </a:r>
            <a:r>
              <a:rPr lang="zh-CN" altLang="en-US" sz="2200" u="sng" spc="-40" dirty="0" smtClean="0">
                <a:solidFill>
                  <a:srgbClr val="990099"/>
                </a:solidFill>
              </a:rPr>
              <a:t>反之</a:t>
            </a:r>
            <a:endParaRPr lang="en-US" altLang="zh-CN" sz="2200" u="sng" dirty="0">
              <a:solidFill>
                <a:srgbClr val="990099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③数值位中，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≥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，原码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补码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移码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      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，原码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，补码</a:t>
            </a:r>
            <a:r>
              <a:rPr lang="en-US" altLang="zh-CN" sz="2200" dirty="0" smtClean="0">
                <a:solidFill>
                  <a:schemeClr val="tx1"/>
                </a:solidFill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</a:rPr>
              <a:t>移码＝</a:t>
            </a:r>
            <a:r>
              <a:rPr lang="en-US" altLang="zh-CN" sz="2200" dirty="0" smtClean="0">
                <a:solidFill>
                  <a:schemeClr val="tx1"/>
                </a:solidFill>
              </a:rPr>
              <a:t>|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200" baseline="-160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 smtClean="0">
                <a:solidFill>
                  <a:schemeClr val="tx1"/>
                </a:solidFill>
              </a:rPr>
              <a:t>    ④</a:t>
            </a:r>
            <a:r>
              <a:rPr lang="zh-CN" altLang="en-US" sz="2200" dirty="0" smtClean="0">
                <a:solidFill>
                  <a:schemeClr val="tx1"/>
                </a:solidFill>
              </a:rPr>
              <a:t>补码、移码比</a:t>
            </a:r>
            <a:r>
              <a:rPr lang="zh-CN" altLang="en-US" sz="2200" dirty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码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多</a:t>
            </a:r>
            <a:r>
              <a:rPr lang="zh-CN" altLang="en-US" sz="2200" u="sng" dirty="0">
                <a:solidFill>
                  <a:srgbClr val="990099"/>
                </a:solidFill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个负数</a:t>
            </a:r>
            <a:endParaRPr lang="en-US" altLang="zh-CN" sz="2200" dirty="0" smtClean="0">
              <a:solidFill>
                <a:srgbClr val="990099"/>
              </a:solidFill>
            </a:endParaRPr>
          </a:p>
        </p:txBody>
      </p:sp>
      <p:sp>
        <p:nvSpPr>
          <p:cNvPr id="29" name="Line 32"/>
          <p:cNvSpPr>
            <a:spLocks noChangeShapeType="1"/>
          </p:cNvSpPr>
          <p:nvPr/>
        </p:nvSpPr>
        <p:spPr bwMode="auto">
          <a:xfrm flipV="1">
            <a:off x="6876000" y="2155716"/>
            <a:ext cx="36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043608" y="3068960"/>
            <a:ext cx="7559675" cy="1944216"/>
            <a:chOff x="1043608" y="3429000"/>
            <a:chExt cx="7559675" cy="1944216"/>
          </a:xfrm>
        </p:grpSpPr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1043608" y="3429000"/>
              <a:ext cx="7559675" cy="194421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原码    </a:t>
              </a:r>
              <a:r>
                <a:rPr lang="zh-CN" altLang="en-US" sz="2000" dirty="0">
                  <a:solidFill>
                    <a:srgbClr val="990099"/>
                  </a:solidFill>
                </a:rPr>
                <a:t>无</a:t>
              </a:r>
              <a:r>
                <a:rPr lang="zh-CN" altLang="en-US" sz="2000" dirty="0">
                  <a:solidFill>
                    <a:srgbClr val="FF3399"/>
                  </a:solidFill>
                </a:rPr>
                <a:t>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                            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补码</a:t>
              </a:r>
              <a:r>
                <a:rPr lang="zh-CN" altLang="en-US" sz="2000" dirty="0" smtClean="0"/>
                <a:t> </a:t>
              </a:r>
              <a:r>
                <a:rPr lang="zh-CN" altLang="en-US" sz="2000" dirty="0" smtClean="0">
                  <a:solidFill>
                    <a:srgbClr val="FF3399"/>
                  </a:solidFill>
                </a:rPr>
                <a:t>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 smtClean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1…11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移码  </a:t>
              </a:r>
              <a:r>
                <a:rPr lang="en-US" altLang="zh-CN" sz="2000" dirty="0" smtClean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9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真值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-2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  -(2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-1)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-1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+1      +(2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-1)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34" name="Group 34"/>
            <p:cNvGrpSpPr/>
            <p:nvPr/>
          </p:nvGrpSpPr>
          <p:grpSpPr bwMode="auto">
            <a:xfrm>
              <a:off x="2051671" y="4797152"/>
              <a:ext cx="6408738" cy="144463"/>
              <a:chOff x="1519" y="2704"/>
              <a:chExt cx="4037" cy="91"/>
            </a:xfrm>
          </p:grpSpPr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>
                <a:off x="1519" y="2795"/>
                <a:ext cx="403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36"/>
              <p:cNvSpPr>
                <a:spLocks noChangeShapeType="1"/>
              </p:cNvSpPr>
              <p:nvPr/>
            </p:nvSpPr>
            <p:spPr bwMode="auto">
              <a:xfrm flipV="1">
                <a:off x="2244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7"/>
              <p:cNvSpPr>
                <a:spLocks noChangeShapeType="1"/>
              </p:cNvSpPr>
              <p:nvPr/>
            </p:nvSpPr>
            <p:spPr bwMode="auto">
              <a:xfrm flipV="1">
                <a:off x="5374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8"/>
              <p:cNvSpPr>
                <a:spLocks noChangeShapeType="1"/>
              </p:cNvSpPr>
              <p:nvPr/>
            </p:nvSpPr>
            <p:spPr bwMode="auto">
              <a:xfrm flipV="1">
                <a:off x="3787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39"/>
              <p:cNvSpPr>
                <a:spLocks noChangeShapeType="1"/>
              </p:cNvSpPr>
              <p:nvPr/>
            </p:nvSpPr>
            <p:spPr bwMode="auto">
              <a:xfrm flipV="1">
                <a:off x="3152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40"/>
              <p:cNvSpPr>
                <a:spLocks noChangeShapeType="1"/>
              </p:cNvSpPr>
              <p:nvPr/>
            </p:nvSpPr>
            <p:spPr bwMode="auto">
              <a:xfrm flipV="1">
                <a:off x="4467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 flipV="1">
                <a:off x="1609" y="2704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179388" y="5048714"/>
            <a:ext cx="8857107" cy="9725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 smtClean="0">
                <a:solidFill>
                  <a:srgbClr val="990099"/>
                </a:solidFill>
              </a:rPr>
              <a:t>测试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=+</a:t>
            </a:r>
            <a:r>
              <a:rPr lang="en-US" altLang="zh-CN" sz="2200" dirty="0" smtClean="0">
                <a:solidFill>
                  <a:schemeClr val="tx1"/>
                </a:solidFill>
              </a:rPr>
              <a:t>01001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 smtClean="0">
                <a:solidFill>
                  <a:schemeClr val="tx1"/>
                </a:solidFill>
              </a:rPr>
              <a:t>=001001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=001001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移</a:t>
            </a:r>
            <a:r>
              <a:rPr lang="en-US" altLang="zh-CN" sz="2200" dirty="0" smtClean="0">
                <a:solidFill>
                  <a:schemeClr val="tx1"/>
                </a:solidFill>
              </a:rPr>
              <a:t>=101001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rgbClr val="990099"/>
                </a:solidFill>
              </a:rPr>
              <a:t> </a:t>
            </a:r>
            <a:r>
              <a:rPr lang="en-US" altLang="zh-CN" sz="2200" dirty="0" smtClean="0">
                <a:solidFill>
                  <a:srgbClr val="990099"/>
                </a:solidFill>
              </a:rPr>
              <a:t>         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=-01010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en-US" altLang="zh-CN" sz="2200" dirty="0" smtClean="0">
                <a:solidFill>
                  <a:schemeClr val="tx1"/>
                </a:solidFill>
              </a:rPr>
              <a:t>=101010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=110110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 smtClean="0">
                <a:solidFill>
                  <a:schemeClr val="tx1"/>
                </a:solidFill>
              </a:rPr>
              <a:t>=010110             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176000" y="5159748"/>
            <a:ext cx="4728597" cy="720080"/>
            <a:chOff x="4214119" y="5445224"/>
            <a:chExt cx="4728597" cy="720080"/>
          </a:xfrm>
        </p:grpSpPr>
        <p:sp>
          <p:nvSpPr>
            <p:cNvPr id="44" name="矩形 43"/>
            <p:cNvSpPr/>
            <p:nvPr/>
          </p:nvSpPr>
          <p:spPr bwMode="auto">
            <a:xfrm>
              <a:off x="4241636" y="5445224"/>
              <a:ext cx="8748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4214119" y="5851334"/>
              <a:ext cx="853429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166499" y="5445224"/>
              <a:ext cx="842887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6132934" y="5851334"/>
              <a:ext cx="853429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8099829" y="5445224"/>
              <a:ext cx="842887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8039269" y="5851334"/>
              <a:ext cx="864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4" name="AutoShape 4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836930"/>
            <a:ext cx="5089525" cy="4561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</a:t>
            </a:r>
            <a:r>
              <a:rPr lang="en-US" altLang="zh-CN" dirty="0" smtClean="0">
                <a:solidFill>
                  <a:srgbClr val="C00000"/>
                </a:solidFill>
              </a:rPr>
              <a:t>BCD</a:t>
            </a:r>
            <a:r>
              <a:rPr lang="zh-CN" altLang="en-US" dirty="0" smtClean="0">
                <a:solidFill>
                  <a:srgbClr val="C00000"/>
                </a:solidFill>
              </a:rPr>
              <a:t>码：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Binary Coded Decimal</a:t>
            </a:r>
            <a:r>
              <a:rPr lang="zh-CN" altLang="en-US" sz="18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dirty="0" smtClean="0">
                <a:solidFill>
                  <a:schemeClr val="tx1"/>
                </a:solidFill>
              </a:rPr>
              <a:t>二</a:t>
            </a:r>
            <a:r>
              <a:rPr lang="en-US" altLang="zh-CN" sz="1800" dirty="0" smtClean="0">
                <a:solidFill>
                  <a:schemeClr val="tx1"/>
                </a:solidFill>
              </a:rPr>
              <a:t>-</a:t>
            </a:r>
            <a:r>
              <a:rPr lang="zh-CN" altLang="en-US" sz="1800" dirty="0" smtClean="0">
                <a:solidFill>
                  <a:schemeClr val="tx1"/>
                </a:solidFill>
              </a:rPr>
              <a:t>十进制编码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*</a:t>
            </a:r>
            <a:r>
              <a:rPr lang="en-US" altLang="zh-CN" dirty="0" smtClean="0">
                <a:solidFill>
                  <a:srgbClr val="C00000"/>
                </a:solidFill>
                <a:sym typeface="+mn-ea"/>
              </a:rPr>
              <a:t>BCD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编码的种类：</a:t>
            </a:r>
            <a:endParaRPr lang="zh-CN" altLang="en-US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 smtClean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十进制数</a:t>
            </a:r>
            <a:r>
              <a:rPr lang="zh-CN" altLang="en-US" dirty="0" smtClean="0">
                <a:solidFill>
                  <a:srgbClr val="C00000"/>
                </a:solidFill>
                <a:sym typeface="+mn-ea"/>
              </a:rPr>
              <a:t>的表示： 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常仅整数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8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   格式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 smtClean="0">
              <a:solidFill>
                <a:schemeClr val="accent2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   编码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331CE-E610-4A6A-8910-72D302E3434F}" type="slidenum">
              <a:rPr lang="en-US" altLang="zh-CN"/>
            </a:fld>
            <a:endParaRPr lang="en-US" altLang="zh-CN" dirty="0"/>
          </a:p>
        </p:txBody>
      </p:sp>
      <p:sp>
        <p:nvSpPr>
          <p:cNvPr id="375812" name="Text Box 4"/>
          <p:cNvSpPr txBox="1">
            <a:spLocks noChangeArrowheads="1"/>
          </p:cNvSpPr>
          <p:nvPr/>
        </p:nvSpPr>
        <p:spPr bwMode="auto">
          <a:xfrm>
            <a:off x="215931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三、十进制数编码</a:t>
            </a:r>
            <a:endParaRPr lang="zh-CN" altLang="en-US" sz="2400" dirty="0"/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1117600" y="836930"/>
            <a:ext cx="7882890" cy="4838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指</a:t>
            </a: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位二进制编码表示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位十进制数位的编码</a:t>
            </a:r>
            <a:r>
              <a:rPr lang="zh-CN" altLang="en-US" dirty="0" smtClean="0">
                <a:solidFill>
                  <a:schemeClr val="tx1"/>
                </a:solidFill>
              </a:rPr>
              <a:t>方式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1800" dirty="0" smtClean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         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分为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有</a:t>
            </a:r>
            <a:r>
              <a:rPr lang="zh-CN" altLang="en-US" u="sng" dirty="0">
                <a:solidFill>
                  <a:schemeClr val="tx1"/>
                </a:solidFill>
                <a:sym typeface="+mn-ea"/>
              </a:rPr>
              <a:t>权码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</a:t>
            </a:r>
            <a:r>
              <a:rPr lang="zh-CN" altLang="en-US" u="sng" dirty="0">
                <a:solidFill>
                  <a:schemeClr val="tx1"/>
                </a:solidFill>
                <a:sym typeface="+mn-ea"/>
              </a:rPr>
              <a:t>无权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码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格雷码等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BCD</a:t>
            </a: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码缺省类型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8421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码！   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特殊声明除外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数值位＋符号位，长度＝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存储单元长度</a:t>
            </a:r>
            <a:endParaRPr lang="zh-CN" altLang="en-US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数值位为</a:t>
            </a:r>
            <a:r>
              <a:rPr lang="en-US" altLang="zh-CN" u="sng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BCD</a:t>
            </a:r>
            <a:r>
              <a:rPr lang="zh-CN" altLang="en-US" u="sng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码</a:t>
            </a:r>
            <a:r>
              <a:rPr lang="zh-CN" altLang="en-US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，符号位为</a:t>
            </a:r>
            <a:r>
              <a:rPr lang="zh-CN" altLang="en-US" u="sng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特殊编码</a:t>
            </a:r>
            <a:r>
              <a:rPr lang="en-US" altLang="zh-CN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 </a:t>
            </a:r>
            <a:endParaRPr lang="en-US" altLang="zh-CN" dirty="0" smtClean="0">
              <a:solidFill>
                <a:schemeClr val="tx1"/>
              </a:solidFill>
              <a:uFillTx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                                      </a:t>
            </a:r>
            <a:r>
              <a:rPr lang="en-US" altLang="zh-CN" sz="1800" b="0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+/-/</a:t>
            </a:r>
            <a:r>
              <a:rPr lang="zh-CN" altLang="en-US" sz="18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无为</a:t>
            </a:r>
            <a:r>
              <a:rPr lang="en-US" altLang="zh-CN" sz="18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1100/1101/1111</a:t>
            </a:r>
            <a:endParaRPr lang="en-US" altLang="zh-CN" dirty="0" smtClean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76045" name="Group 237"/>
          <p:cNvGraphicFramePr>
            <a:graphicFrameLocks noGrp="1"/>
          </p:cNvGraphicFramePr>
          <p:nvPr/>
        </p:nvGraphicFramePr>
        <p:xfrm>
          <a:off x="1403648" y="2160000"/>
          <a:ext cx="7343855" cy="951424"/>
        </p:xfrm>
        <a:graphic>
          <a:graphicData uri="http://schemas.openxmlformats.org/drawingml/2006/table">
            <a:tbl>
              <a:tblPr/>
              <a:tblGrid>
                <a:gridCol w="1099619"/>
                <a:gridCol w="604281"/>
                <a:gridCol w="604281"/>
                <a:gridCol w="671423"/>
                <a:gridCol w="671423"/>
                <a:gridCol w="671423"/>
                <a:gridCol w="604281"/>
                <a:gridCol w="604281"/>
                <a:gridCol w="604281"/>
                <a:gridCol w="604281"/>
                <a:gridCol w="604281"/>
              </a:tblGrid>
              <a:tr h="32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>
                        <a:alpha val="80000"/>
                      </a:srgbClr>
                    </a:solidFill>
                  </a:tcPr>
                </a:tc>
              </a:tr>
              <a:tr h="3129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余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6028" name="Text Box 220"/>
          <p:cNvSpPr txBox="1">
            <a:spLocks noChangeArrowheads="1"/>
          </p:cNvSpPr>
          <p:nvPr/>
        </p:nvSpPr>
        <p:spPr bwMode="auto">
          <a:xfrm>
            <a:off x="179388" y="5580000"/>
            <a:ext cx="8821768" cy="783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000" dirty="0"/>
              <a:t>   </a:t>
            </a:r>
            <a:r>
              <a:rPr lang="en-US" altLang="zh-CN" sz="2000" dirty="0" smtClean="0"/>
              <a:t>  </a:t>
            </a:r>
            <a:r>
              <a:rPr lang="zh-CN" altLang="en-US" sz="2000" dirty="0" smtClean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 </a:t>
            </a:r>
            <a:r>
              <a:rPr lang="en-US" altLang="zh-CN" sz="2000" spc="-50" dirty="0"/>
              <a:t>+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427</a:t>
            </a:r>
            <a:r>
              <a:rPr lang="zh-CN" altLang="en-US" sz="2000" spc="-50" dirty="0" smtClean="0">
                <a:solidFill>
                  <a:schemeClr val="tx1"/>
                </a:solidFill>
              </a:rPr>
              <a:t>为</a:t>
            </a:r>
            <a:r>
              <a:rPr lang="en-US" altLang="zh-CN" sz="2000" spc="-50" dirty="0">
                <a:solidFill>
                  <a:schemeClr val="tx1"/>
                </a:solidFill>
              </a:rPr>
              <a:t>0100 0010 0111 </a:t>
            </a:r>
            <a:r>
              <a:rPr lang="en-US" altLang="zh-CN" sz="2000" spc="-50" dirty="0" smtClean="0"/>
              <a:t>1100</a:t>
            </a:r>
            <a:r>
              <a:rPr lang="zh-CN" altLang="en-US" sz="2000" spc="-5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spc="-50" dirty="0" smtClean="0"/>
              <a:t>-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23</a:t>
            </a:r>
            <a:r>
              <a:rPr lang="zh-CN" altLang="en-US" sz="2000" spc="-50" dirty="0">
                <a:solidFill>
                  <a:schemeClr val="tx1"/>
                </a:solidFill>
              </a:rPr>
              <a:t>为</a:t>
            </a:r>
            <a:r>
              <a:rPr lang="en-US" altLang="zh-CN" sz="2000" spc="-50" dirty="0" smtClean="0">
                <a:solidFill>
                  <a:srgbClr val="0070C0"/>
                </a:solidFill>
              </a:rPr>
              <a:t>0000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 </a:t>
            </a:r>
            <a:r>
              <a:rPr lang="en-US" altLang="zh-CN" sz="2000" spc="-50" dirty="0">
                <a:solidFill>
                  <a:schemeClr val="tx1"/>
                </a:solidFill>
              </a:rPr>
              <a:t>0010 0011 </a:t>
            </a:r>
            <a:r>
              <a:rPr lang="en-US" altLang="zh-CN" sz="2000" spc="-50" dirty="0" smtClean="0"/>
              <a:t>1101</a:t>
            </a:r>
            <a:r>
              <a:rPr lang="zh-CN" altLang="en-US" sz="2000" spc="-50" dirty="0" smtClean="0">
                <a:solidFill>
                  <a:schemeClr val="tx1"/>
                </a:solidFill>
              </a:rPr>
              <a:t>，</a:t>
            </a:r>
            <a:endParaRPr lang="en-US" altLang="zh-CN" sz="2000" spc="-50" dirty="0" smtClean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sz="2000" spc="-50" dirty="0" smtClean="0"/>
              <a:t>           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426</a:t>
            </a:r>
            <a:r>
              <a:rPr lang="zh-CN" altLang="en-US" sz="2000" spc="-50" dirty="0" smtClean="0">
                <a:solidFill>
                  <a:schemeClr val="tx1"/>
                </a:solidFill>
              </a:rPr>
              <a:t>为</a:t>
            </a:r>
            <a:r>
              <a:rPr lang="en-US" altLang="zh-CN" sz="2000" spc="-50" dirty="0">
                <a:solidFill>
                  <a:schemeClr val="tx1"/>
                </a:solidFill>
              </a:rPr>
              <a:t>0100 0010 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0110 </a:t>
            </a:r>
            <a:r>
              <a:rPr lang="en-US" altLang="zh-CN" sz="2000" spc="-50" dirty="0" smtClean="0"/>
              <a:t>1111</a:t>
            </a:r>
            <a:endParaRPr lang="en-US" altLang="zh-CN" sz="2000" spc="-50" dirty="0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68350" y="4536000"/>
            <a:ext cx="2807845" cy="288635"/>
            <a:chOff x="4762" y="8392"/>
            <a:chExt cx="4422" cy="455"/>
          </a:xfrm>
        </p:grpSpPr>
        <p:sp>
          <p:nvSpPr>
            <p:cNvPr id="127074" name="Text Box 9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762" y="8392"/>
              <a:ext cx="1247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数值位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937" y="8392"/>
              <a:ext cx="1247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符号位</a:t>
              </a:r>
              <a:endParaRPr lang="zh-CN" altLang="en-US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690" y="8392"/>
              <a:ext cx="1247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数值位</a:t>
              </a:r>
              <a:endParaRPr lang="zh-CN" altLang="en-US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Text Box 9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009" y="8393"/>
              <a:ext cx="680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endParaRPr lang="en-US" altLang="zh-CN" sz="1800" b="1" i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7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5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5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5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5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7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02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677F-3574-4D6E-BFE9-362E72D7945A}" type="slidenum">
              <a:rPr lang="en-US" altLang="zh-CN"/>
            </a:fld>
            <a:endParaRPr lang="en-US" altLang="zh-CN"/>
          </a:p>
        </p:txBody>
      </p:sp>
      <p:sp>
        <p:nvSpPr>
          <p:cNvPr id="377053" name="Text Box 221"/>
          <p:cNvSpPr txBox="1">
            <a:spLocks noChangeArrowheads="1"/>
          </p:cNvSpPr>
          <p:nvPr/>
        </p:nvSpPr>
        <p:spPr bwMode="auto">
          <a:xfrm>
            <a:off x="179512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四、字符编码</a:t>
            </a:r>
            <a:endParaRPr lang="zh-CN" altLang="en-US" sz="2400" dirty="0"/>
          </a:p>
        </p:txBody>
      </p:sp>
      <p:sp>
        <p:nvSpPr>
          <p:cNvPr id="377054" name="Text Box 222"/>
          <p:cNvSpPr txBox="1">
            <a:spLocks noChangeArrowheads="1"/>
          </p:cNvSpPr>
          <p:nvPr/>
        </p:nvSpPr>
        <p:spPr bwMode="auto">
          <a:xfrm>
            <a:off x="179512" y="792000"/>
            <a:ext cx="8784974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指字符</a:t>
            </a:r>
            <a:r>
              <a:rPr lang="zh-CN" altLang="en-US" u="sng" dirty="0" smtClean="0">
                <a:solidFill>
                  <a:schemeClr val="tx1"/>
                </a:solidFill>
              </a:rPr>
              <a:t>在字符集中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zh-CN" altLang="en-US" u="sng" dirty="0" smtClean="0">
                <a:solidFill>
                  <a:schemeClr val="tx1"/>
                </a:solidFill>
              </a:rPr>
              <a:t>唯一</a:t>
            </a:r>
            <a:r>
              <a:rPr lang="zh-CN" altLang="en-US" dirty="0" smtClean="0">
                <a:solidFill>
                  <a:schemeClr val="accent2"/>
                </a:solidFill>
              </a:rPr>
              <a:t>数字化代码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表示</a:t>
            </a:r>
            <a:r>
              <a:rPr lang="zh-CN" altLang="en-US" sz="2000" u="sng" dirty="0" smtClean="0">
                <a:solidFill>
                  <a:srgbClr val="990099"/>
                </a:solidFill>
              </a:rPr>
              <a:t>序号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zh-CN" altLang="en-US" sz="2000" u="sng" dirty="0" smtClean="0">
                <a:solidFill>
                  <a:srgbClr val="990099"/>
                </a:solidFill>
              </a:rPr>
              <a:t>特征号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77055" name="Text Box 223"/>
          <p:cNvSpPr txBox="1">
            <a:spLocks noChangeArrowheads="1"/>
          </p:cNvSpPr>
          <p:nvPr/>
        </p:nvSpPr>
        <p:spPr bwMode="auto">
          <a:xfrm>
            <a:off x="179263" y="1260000"/>
            <a:ext cx="8785225" cy="1106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编码种类：</a:t>
            </a:r>
            <a:r>
              <a:rPr lang="zh-CN" altLang="en-US" dirty="0">
                <a:solidFill>
                  <a:schemeClr val="tx1"/>
                </a:solidFill>
              </a:rPr>
              <a:t>交换码、内</a:t>
            </a:r>
            <a:r>
              <a:rPr lang="zh-CN" altLang="en-US" dirty="0" smtClean="0">
                <a:solidFill>
                  <a:schemeClr val="tx1"/>
                </a:solidFill>
              </a:rPr>
              <a:t>码、输入</a:t>
            </a:r>
            <a:r>
              <a:rPr lang="zh-CN" altLang="en-US" dirty="0">
                <a:solidFill>
                  <a:schemeClr val="tx1"/>
                </a:solidFill>
              </a:rPr>
              <a:t>码、字模</a:t>
            </a:r>
            <a:r>
              <a:rPr lang="zh-CN" altLang="en-US" dirty="0" smtClean="0">
                <a:solidFill>
                  <a:schemeClr val="tx1"/>
                </a:solidFill>
              </a:rPr>
              <a:t>码等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                 </a:t>
            </a:r>
            <a:r>
              <a:rPr lang="en-US" altLang="zh-CN" sz="1800" b="0" dirty="0" smtClean="0">
                <a:solidFill>
                  <a:schemeClr val="tx1"/>
                </a:solidFill>
                <a:sym typeface="+mn-ea"/>
              </a:rPr>
              <a:t>│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     </a:t>
            </a:r>
            <a:r>
              <a:rPr sz="1800" b="0" dirty="0">
                <a:solidFill>
                  <a:schemeClr val="tx1"/>
                </a:solidFill>
                <a:sym typeface="+mn-ea"/>
              </a:rPr>
              <a:t>└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  <a:sym typeface="+mn-ea"/>
              </a:rPr>
              <a:t>存储时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的编码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数据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，如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char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型字符的值</a:t>
            </a:r>
            <a:endParaRPr lang="en-US" altLang="zh-CN" sz="18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accent2"/>
                </a:solidFill>
              </a:rPr>
              <a:t>                   </a:t>
            </a:r>
            <a:r>
              <a:rPr sz="1800" b="0" dirty="0">
                <a:solidFill>
                  <a:schemeClr val="tx1"/>
                </a:solidFill>
                <a:sym typeface="+mn-ea"/>
              </a:rPr>
              <a:t>└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传送时</a:t>
            </a:r>
            <a:r>
              <a:rPr lang="zh-CN" altLang="en-US" sz="1800" dirty="0">
                <a:solidFill>
                  <a:schemeClr val="tx1"/>
                </a:solidFill>
              </a:rPr>
              <a:t>的编码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序号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，如字符的</a:t>
            </a:r>
            <a:r>
              <a:rPr lang="en-US" altLang="zh-CN" sz="1800" dirty="0" smtClean="0">
                <a:solidFill>
                  <a:schemeClr val="tx1"/>
                </a:solidFill>
              </a:rPr>
              <a:t>ASCII</a:t>
            </a:r>
            <a:r>
              <a:rPr lang="zh-CN" altLang="en-US" sz="1800" dirty="0" smtClean="0">
                <a:solidFill>
                  <a:schemeClr val="tx1"/>
                </a:solidFill>
              </a:rPr>
              <a:t>码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8" name="AutoShape 29"/>
          <p:cNvSpPr/>
          <p:nvPr/>
        </p:nvSpPr>
        <p:spPr bwMode="auto">
          <a:xfrm>
            <a:off x="6948000" y="2339221"/>
            <a:ext cx="1800000" cy="252000"/>
          </a:xfrm>
          <a:prstGeom prst="borderCallout2">
            <a:avLst>
              <a:gd name="adj1" fmla="val 58882"/>
              <a:gd name="adj2" fmla="val -181"/>
              <a:gd name="adj3" fmla="val 60490"/>
              <a:gd name="adj4" fmla="val -13023"/>
              <a:gd name="adj5" fmla="val 331406"/>
              <a:gd name="adj6" fmla="val -2006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相关</a:t>
            </a:r>
            <a:r>
              <a:rPr lang="en-US" altLang="zh-CN" sz="1600" dirty="0" smtClean="0">
                <a:solidFill>
                  <a:schemeClr val="tx1"/>
                </a:solidFill>
              </a:rPr>
              <a:t>: </a:t>
            </a:r>
            <a:r>
              <a:rPr lang="zh-CN" altLang="en-US" sz="1600" dirty="0" smtClean="0">
                <a:solidFill>
                  <a:schemeClr val="tx1"/>
                </a:solidFill>
              </a:rPr>
              <a:t>字符集大小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1" name="AutoShape 29"/>
          <p:cNvSpPr/>
          <p:nvPr/>
        </p:nvSpPr>
        <p:spPr bwMode="auto">
          <a:xfrm>
            <a:off x="1185084" y="2340000"/>
            <a:ext cx="3204000" cy="252000"/>
          </a:xfrm>
          <a:prstGeom prst="borderCallout2">
            <a:avLst>
              <a:gd name="adj1" fmla="val 49136"/>
              <a:gd name="adj2" fmla="val 100214"/>
              <a:gd name="adj3" fmla="val 50113"/>
              <a:gd name="adj4" fmla="val 106094"/>
              <a:gd name="adj5" fmla="val 155485"/>
              <a:gd name="adj6" fmla="val 11694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相关</a:t>
            </a:r>
            <a:r>
              <a:rPr lang="en-US" altLang="zh-CN" sz="1600" dirty="0" smtClean="0">
                <a:solidFill>
                  <a:schemeClr val="tx1"/>
                </a:solidFill>
              </a:rPr>
              <a:t>: </a:t>
            </a:r>
            <a:r>
              <a:rPr lang="zh-CN" altLang="en-US" sz="1600" spc="-50" dirty="0" smtClean="0">
                <a:solidFill>
                  <a:schemeClr val="tx1"/>
                </a:solidFill>
              </a:rPr>
              <a:t>字符集大小、存储单元长度</a:t>
            </a:r>
            <a:endParaRPr lang="zh-CN" altLang="en-US" sz="1600" spc="-50" dirty="0">
              <a:solidFill>
                <a:schemeClr val="tx1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72185" y="2664000"/>
            <a:ext cx="8027670" cy="1115060"/>
            <a:chOff x="1531" y="5556"/>
            <a:chExt cx="12642" cy="1756"/>
          </a:xfrm>
        </p:grpSpPr>
        <p:sp>
          <p:nvSpPr>
            <p:cNvPr id="2" name="Text Box 225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531" y="5783"/>
              <a:ext cx="850" cy="39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chemeClr val="tx1"/>
                  </a:solidFill>
                </a:rPr>
                <a:t>键盘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" name="Rectangle 22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855" y="5556"/>
              <a:ext cx="5953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" name="Rectangle 23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556" y="5669"/>
              <a:ext cx="2041" cy="153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" name="Text Box 23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025" y="5613"/>
              <a:ext cx="397" cy="79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转换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7" name="Text Box 23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44" y="5669"/>
              <a:ext cx="850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处理器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23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65" y="6576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I/O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接口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24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551" y="6293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rgbClr val="FF3300"/>
                  </a:solidFill>
                </a:rPr>
                <a:t>字模码</a:t>
              </a:r>
              <a:endParaRPr lang="zh-CN" altLang="en-US" sz="1800">
                <a:solidFill>
                  <a:srgbClr val="FF3300"/>
                </a:solidFill>
              </a:endParaRPr>
            </a:p>
          </p:txBody>
        </p:sp>
        <p:sp>
          <p:nvSpPr>
            <p:cNvPr id="10" name="Text Box 24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592" y="5613"/>
              <a:ext cx="8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 smtClean="0">
                  <a:solidFill>
                    <a:srgbClr val="FF3300"/>
                  </a:solidFill>
                </a:rPr>
                <a:t>内码</a:t>
              </a:r>
              <a:endParaRPr lang="zh-CN" altLang="en-US" sz="1800" dirty="0">
                <a:solidFill>
                  <a:srgbClr val="FF3300"/>
                </a:solidFill>
              </a:endParaRPr>
            </a:p>
          </p:txBody>
        </p:sp>
        <p:sp>
          <p:nvSpPr>
            <p:cNvPr id="11" name="Text Box 24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551" y="5613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输入码</a:t>
              </a:r>
              <a:endParaRPr lang="zh-CN" altLang="en-US" sz="1800" dirty="0">
                <a:solidFill>
                  <a:srgbClr val="FF3300"/>
                </a:solidFill>
              </a:endParaRPr>
            </a:p>
          </p:txBody>
        </p:sp>
        <p:sp>
          <p:nvSpPr>
            <p:cNvPr id="12" name="Text Box 25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531" y="6293"/>
              <a:ext cx="850" cy="79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chemeClr val="tx1"/>
                  </a:solidFill>
                </a:rPr>
                <a:t>显示器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3" name="Text Box 25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912" y="6803"/>
              <a:ext cx="136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计算机</a:t>
              </a: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 Box 26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768" y="5613"/>
              <a:ext cx="847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 smtClean="0">
                  <a:solidFill>
                    <a:srgbClr val="FF3300"/>
                  </a:solidFill>
                </a:rPr>
                <a:t>内码</a:t>
              </a:r>
              <a:endParaRPr lang="zh-CN" altLang="en-US" sz="1800" dirty="0">
                <a:solidFill>
                  <a:srgbClr val="FF3300"/>
                </a:solidFill>
              </a:endParaRPr>
            </a:p>
          </p:txBody>
        </p:sp>
        <p:sp>
          <p:nvSpPr>
            <p:cNvPr id="15" name="Text Box 26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727" y="5783"/>
              <a:ext cx="1701" cy="3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字符数据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 Box 26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726" y="6293"/>
              <a:ext cx="1191" cy="7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字符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字模库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 Box 26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917" y="6721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MEM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8" name="Text Box 25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921" y="6406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交换码</a:t>
              </a:r>
              <a:endParaRPr lang="zh-CN" altLang="en-US" sz="1800" dirty="0">
                <a:solidFill>
                  <a:srgbClr val="FF3300"/>
                </a:solidFill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17"/>
              </p:custDataLst>
            </p:nvPr>
          </p:nvCxnSpPr>
          <p:spPr>
            <a:xfrm>
              <a:off x="7426" y="6009"/>
              <a:ext cx="141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8"/>
              </p:custDataLst>
            </p:nvPr>
          </p:nvCxnSpPr>
          <p:spPr>
            <a:xfrm>
              <a:off x="8163" y="6009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19"/>
              </p:custDataLst>
            </p:nvPr>
          </p:nvCxnSpPr>
          <p:spPr>
            <a:xfrm>
              <a:off x="4422" y="6009"/>
              <a:ext cx="130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20"/>
              </p:custDataLst>
            </p:nvPr>
          </p:nvCxnSpPr>
          <p:spPr>
            <a:xfrm>
              <a:off x="2381" y="6009"/>
              <a:ext cx="1644" cy="0"/>
            </a:xfrm>
            <a:prstGeom prst="line">
              <a:avLst/>
            </a:prstGeom>
            <a:noFill/>
            <a:ln w="158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2381" y="6690"/>
              <a:ext cx="3345" cy="0"/>
            </a:xfrm>
            <a:prstGeom prst="line">
              <a:avLst/>
            </a:prstGeom>
            <a:noFill/>
            <a:ln w="158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9128" y="6803"/>
              <a:ext cx="2268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" name="Text Box 23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473" y="5670"/>
              <a:ext cx="850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处理器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 Box 23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1394" y="6576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I/O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接口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 Box 26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452" y="5613"/>
              <a:ext cx="847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 smtClean="0">
                  <a:solidFill>
                    <a:srgbClr val="FF3300"/>
                  </a:solidFill>
                </a:rPr>
                <a:t>内码</a:t>
              </a:r>
              <a:endParaRPr lang="zh-CN" altLang="en-US" sz="1800" dirty="0">
                <a:solidFill>
                  <a:srgbClr val="FF3300"/>
                </a:solidFill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26"/>
              </p:custDataLst>
            </p:nvPr>
          </p:nvCxnSpPr>
          <p:spPr>
            <a:xfrm>
              <a:off x="11395" y="6009"/>
              <a:ext cx="107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" name="直接连接符 29"/>
            <p:cNvCxnSpPr/>
            <p:nvPr>
              <p:custDataLst>
                <p:tags r:id="rId27"/>
              </p:custDataLst>
            </p:nvPr>
          </p:nvCxnSpPr>
          <p:spPr>
            <a:xfrm>
              <a:off x="11792" y="6009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sp>
          <p:nvSpPr>
            <p:cNvPr id="31" name="Rectangle 226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225" y="5556"/>
              <a:ext cx="2948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2" name="Text Box 25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2756" y="6860"/>
              <a:ext cx="136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计算机</a:t>
              </a: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0105" name="Text Box 185"/>
          <p:cNvSpPr txBox="1">
            <a:spLocks noChangeArrowheads="1"/>
          </p:cNvSpPr>
          <p:nvPr/>
        </p:nvSpPr>
        <p:spPr bwMode="auto">
          <a:xfrm>
            <a:off x="179388" y="3780000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常见的字符编码：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默认指交换码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    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内码常称为字符数据</a:t>
            </a:r>
            <a:endParaRPr lang="zh-CN" sz="1800" dirty="0" smtClean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3" name="Group 230"/>
          <p:cNvGraphicFramePr>
            <a:graphicFrameLocks noGrp="1"/>
          </p:cNvGraphicFramePr>
          <p:nvPr>
            <p:custDataLst>
              <p:tags r:id="rId30"/>
            </p:custDataLst>
          </p:nvPr>
        </p:nvGraphicFramePr>
        <p:xfrm>
          <a:off x="1091565" y="4352925"/>
          <a:ext cx="7656830" cy="1849120"/>
        </p:xfrm>
        <a:graphic>
          <a:graphicData uri="http://schemas.openxmlformats.org/drawingml/2006/table">
            <a:tbl>
              <a:tblPr/>
              <a:tblGrid>
                <a:gridCol w="1160780"/>
                <a:gridCol w="1023620"/>
                <a:gridCol w="1007745"/>
                <a:gridCol w="446468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编码类型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码点个数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编码长度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美国标准信息交换码，英文，使用最广泛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EBCDIC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十进制交换码，英文，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IBM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rowSpan="2"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Unicode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65536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2"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统一字符码，有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UCS-2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UCS-4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两种字符集，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支持各国语言，使用较广泛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vMerge="1">
                  <a:tcPr/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/>
                </a:tc>
              </a:tr>
              <a:tr h="264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ANSI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美国国家标准协会交换码，英文，含</a:t>
                      </a:r>
                      <a:r>
                        <a:rPr kumimoji="1" lang="en-US" altLang="zh-CN" sz="18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18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800" b="1" i="0" u="none" strike="noStrike" cap="none" spc="-10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GB2312-80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7445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汉字国标码，中文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Text Box 233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036493" y="6268506"/>
            <a:ext cx="25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anchor="ctr">
            <a:spAutoFit/>
          </a:bodyPr>
          <a:p>
            <a:pPr>
              <a:lnSpc>
                <a:spcPct val="100000"/>
              </a:lnSpc>
            </a:pPr>
            <a:r>
              <a:rPr lang="zh-CN" altLang="en-US" sz="2000" dirty="0" smtClean="0">
                <a:solidFill>
                  <a:srgbClr val="C00000"/>
                </a:solidFill>
              </a:rPr>
              <a:t>作业</a:t>
            </a:r>
            <a:r>
              <a:rPr lang="en-US" altLang="zh-CN" sz="2000" dirty="0" smtClean="0">
                <a:solidFill>
                  <a:srgbClr val="C00000"/>
                </a:solidFill>
              </a:rPr>
              <a:t>2-1</a:t>
            </a:r>
            <a:r>
              <a:rPr lang="zh-CN" altLang="en-US" sz="2000" dirty="0" smtClean="0">
                <a:solidFill>
                  <a:srgbClr val="C00000"/>
                </a:solidFill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</a:rPr>
              <a:t>P86</a:t>
            </a:r>
            <a:r>
              <a:rPr lang="zh-CN" altLang="en-US" sz="2000" dirty="0" smtClean="0">
                <a:solidFill>
                  <a:schemeClr val="tx1"/>
                </a:solidFill>
              </a:rPr>
              <a:t>起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～</a:t>
            </a:r>
            <a:r>
              <a:rPr lang="en-US" altLang="zh-CN" sz="2000" dirty="0" smtClean="0">
                <a:solidFill>
                  <a:schemeClr val="tx1"/>
                </a:solidFill>
              </a:rPr>
              <a:t>6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7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7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51" grpId="0" bldLvl="0" animBg="1"/>
      <p:bldP spid="210105" grpId="0" animBg="1"/>
      <p:bldP spid="3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131"/>
          <p:cNvSpPr txBox="1">
            <a:spLocks noChangeArrowheads="1"/>
          </p:cNvSpPr>
          <p:nvPr/>
        </p:nvSpPr>
        <p:spPr bwMode="auto">
          <a:xfrm>
            <a:off x="179512" y="3284984"/>
            <a:ext cx="3239567" cy="2861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*校验</a:t>
            </a:r>
            <a:r>
              <a:rPr lang="zh-CN" altLang="en-US" dirty="0" smtClean="0">
                <a:solidFill>
                  <a:srgbClr val="C00000"/>
                </a:solidFill>
              </a:rPr>
              <a:t>码组成：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rgbClr val="C00000"/>
                </a:solidFill>
              </a:rPr>
              <a:t> *校验原理：</a:t>
            </a:r>
            <a:r>
              <a:rPr lang="zh-CN" altLang="en-US" dirty="0" smtClean="0">
                <a:solidFill>
                  <a:schemeClr val="accent2"/>
                </a:solidFill>
              </a:rPr>
              <a:t>检错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        </a:t>
            </a:r>
            <a:r>
              <a:rPr lang="zh-CN" altLang="en-US" dirty="0" smtClean="0">
                <a:solidFill>
                  <a:schemeClr val="accent2"/>
                </a:solidFill>
              </a:rPr>
              <a:t>纠错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*检验方式：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校验码类型：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2771800" y="2780976"/>
            <a:ext cx="144264" cy="360000"/>
          </a:xfrm>
          <a:prstGeom prst="ellipse">
            <a:avLst/>
          </a:prstGeom>
          <a:solidFill>
            <a:srgbClr val="CCCCFF"/>
          </a:solidFill>
          <a:ln w="15875" cap="flat" cmpd="sng" algn="ctr">
            <a:solidFill>
              <a:srgbClr val="FF339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115616" y="2276872"/>
            <a:ext cx="7776071" cy="937016"/>
            <a:chOff x="1116409" y="2348533"/>
            <a:chExt cx="7776071" cy="937016"/>
          </a:xfrm>
        </p:grpSpPr>
        <p:grpSp>
          <p:nvGrpSpPr>
            <p:cNvPr id="74" name="组合 73"/>
            <p:cNvGrpSpPr/>
            <p:nvPr/>
          </p:nvGrpSpPr>
          <p:grpSpPr>
            <a:xfrm>
              <a:off x="2309046" y="2349549"/>
              <a:ext cx="3374078" cy="936000"/>
              <a:chOff x="2309046" y="2349549"/>
              <a:chExt cx="3374078" cy="936000"/>
            </a:xfrm>
          </p:grpSpPr>
          <p:sp>
            <p:nvSpPr>
              <p:cNvPr id="104" name="Text Box 11"/>
              <p:cNvSpPr txBox="1">
                <a:spLocks noChangeArrowheads="1"/>
              </p:cNvSpPr>
              <p:nvPr/>
            </p:nvSpPr>
            <p:spPr bwMode="auto">
              <a:xfrm>
                <a:off x="3419872" y="2349549"/>
                <a:ext cx="1152427" cy="93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存储器</a:t>
                </a:r>
                <a:endPara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或</a:t>
                </a:r>
                <a:endPara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传输线路</a:t>
                </a:r>
                <a:endPara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Line 104"/>
              <p:cNvSpPr>
                <a:spLocks noChangeShapeType="1"/>
              </p:cNvSpPr>
              <p:nvPr/>
            </p:nvSpPr>
            <p:spPr bwMode="auto">
              <a:xfrm>
                <a:off x="4572298" y="2924597"/>
                <a:ext cx="1110826" cy="2481"/>
              </a:xfrm>
              <a:prstGeom prst="line">
                <a:avLst/>
              </a:prstGeom>
              <a:noFill/>
              <a:ln w="31750" cmpd="dbl">
                <a:solidFill>
                  <a:schemeClr val="accent2"/>
                </a:solidFill>
                <a:round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104"/>
              <p:cNvSpPr>
                <a:spLocks noChangeShapeType="1"/>
              </p:cNvSpPr>
              <p:nvPr/>
            </p:nvSpPr>
            <p:spPr bwMode="auto">
              <a:xfrm>
                <a:off x="2309046" y="2924597"/>
                <a:ext cx="1110826" cy="2481"/>
              </a:xfrm>
              <a:prstGeom prst="line">
                <a:avLst/>
              </a:prstGeom>
              <a:noFill/>
              <a:ln w="31750" cmpd="dbl">
                <a:solidFill>
                  <a:schemeClr val="accent2"/>
                </a:solidFill>
                <a:round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Text Box 93"/>
              <p:cNvSpPr txBox="1">
                <a:spLocks noChangeArrowheads="1"/>
              </p:cNvSpPr>
              <p:nvPr/>
            </p:nvSpPr>
            <p:spPr bwMode="auto">
              <a:xfrm>
                <a:off x="2988072" y="2708573"/>
                <a:ext cx="287338" cy="2160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M</a:t>
                </a:r>
                <a:endParaRPr lang="en-US" altLang="zh-CN" sz="1600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Text Box 118"/>
              <p:cNvSpPr txBox="1">
                <a:spLocks noChangeArrowheads="1"/>
              </p:cNvSpPr>
              <p:nvPr/>
            </p:nvSpPr>
            <p:spPr bwMode="auto">
              <a:xfrm>
                <a:off x="4788198" y="2708573"/>
                <a:ext cx="360363" cy="2160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1600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sym typeface="Symbol" panose="05050102010706020507"/>
                  </a:rPr>
                  <a:t></a:t>
                </a:r>
                <a:endParaRPr lang="en-US" altLang="zh-CN" sz="1600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8" name="Rectangle 40"/>
            <p:cNvSpPr>
              <a:spLocks noChangeArrowheads="1"/>
            </p:cNvSpPr>
            <p:nvPr/>
          </p:nvSpPr>
          <p:spPr bwMode="auto">
            <a:xfrm>
              <a:off x="1116409" y="2349549"/>
              <a:ext cx="1584325" cy="93600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41"/>
            <p:cNvSpPr>
              <a:spLocks noChangeArrowheads="1"/>
            </p:cNvSpPr>
            <p:nvPr/>
          </p:nvSpPr>
          <p:spPr bwMode="auto">
            <a:xfrm>
              <a:off x="5289848" y="2348533"/>
              <a:ext cx="3602632" cy="93600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AutoShape 100"/>
            <p:cNvSpPr>
              <a:spLocks noChangeArrowheads="1"/>
            </p:cNvSpPr>
            <p:nvPr/>
          </p:nvSpPr>
          <p:spPr bwMode="auto">
            <a:xfrm>
              <a:off x="1260872" y="2492549"/>
              <a:ext cx="576263" cy="288000"/>
            </a:xfrm>
            <a:prstGeom prst="can">
              <a:avLst>
                <a:gd name="adj" fmla="val 351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1" name="Line 101"/>
            <p:cNvSpPr>
              <a:spLocks noChangeShapeType="1"/>
            </p:cNvSpPr>
            <p:nvPr/>
          </p:nvSpPr>
          <p:spPr bwMode="auto">
            <a:xfrm flipH="1">
              <a:off x="1548209" y="2780581"/>
              <a:ext cx="0" cy="360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102"/>
            <p:cNvSpPr txBox="1">
              <a:spLocks noChangeArrowheads="1"/>
            </p:cNvSpPr>
            <p:nvPr/>
          </p:nvSpPr>
          <p:spPr bwMode="auto">
            <a:xfrm>
              <a:off x="1908572" y="2348533"/>
              <a:ext cx="790575" cy="287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发送方</a:t>
              </a:r>
              <a:endParaRPr lang="zh-CN" altLang="en-US" sz="1800" dirty="0"/>
            </a:p>
          </p:txBody>
        </p:sp>
        <p:sp>
          <p:nvSpPr>
            <p:cNvPr id="93" name="Text Box 112"/>
            <p:cNvSpPr txBox="1">
              <a:spLocks noChangeArrowheads="1"/>
            </p:cNvSpPr>
            <p:nvPr/>
          </p:nvSpPr>
          <p:spPr bwMode="auto">
            <a:xfrm>
              <a:off x="7699348" y="2420565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6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" name="Line 121"/>
            <p:cNvSpPr>
              <a:spLocks noChangeShapeType="1"/>
            </p:cNvSpPr>
            <p:nvPr/>
          </p:nvSpPr>
          <p:spPr bwMode="auto">
            <a:xfrm>
              <a:off x="7627341" y="2636565"/>
              <a:ext cx="432048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AutoShape 122"/>
            <p:cNvSpPr>
              <a:spLocks noChangeArrowheads="1"/>
            </p:cNvSpPr>
            <p:nvPr/>
          </p:nvSpPr>
          <p:spPr bwMode="auto">
            <a:xfrm>
              <a:off x="7771157" y="2852589"/>
              <a:ext cx="576263" cy="288000"/>
            </a:xfrm>
            <a:prstGeom prst="can">
              <a:avLst>
                <a:gd name="adj" fmla="val 351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1" name="Line 123"/>
            <p:cNvSpPr>
              <a:spLocks noChangeShapeType="1"/>
            </p:cNvSpPr>
            <p:nvPr/>
          </p:nvSpPr>
          <p:spPr bwMode="auto">
            <a:xfrm flipH="1">
              <a:off x="8059387" y="2636564"/>
              <a:ext cx="1" cy="306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124"/>
            <p:cNvSpPr txBox="1">
              <a:spLocks noChangeArrowheads="1"/>
            </p:cNvSpPr>
            <p:nvPr/>
          </p:nvSpPr>
          <p:spPr bwMode="auto">
            <a:xfrm>
              <a:off x="8101905" y="2348533"/>
              <a:ext cx="790575" cy="287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接收方</a:t>
              </a:r>
              <a:endParaRPr lang="zh-CN" altLang="en-US" sz="1800" dirty="0"/>
            </a:p>
          </p:txBody>
        </p:sp>
        <p:sp>
          <p:nvSpPr>
            <p:cNvPr id="103" name="Line 92"/>
            <p:cNvSpPr>
              <a:spLocks noChangeShapeType="1"/>
            </p:cNvSpPr>
            <p:nvPr/>
          </p:nvSpPr>
          <p:spPr bwMode="auto">
            <a:xfrm>
              <a:off x="1548209" y="2924597"/>
              <a:ext cx="863551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headEnd type="oval" w="sm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Text Box 131"/>
          <p:cNvSpPr txBox="1">
            <a:spLocks noChangeArrowheads="1"/>
          </p:cNvSpPr>
          <p:nvPr/>
        </p:nvSpPr>
        <p:spPr bwMode="auto">
          <a:xfrm>
            <a:off x="2051471" y="4194000"/>
            <a:ext cx="6985025" cy="1938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    </a:t>
            </a:r>
            <a:r>
              <a:rPr lang="zh-CN" altLang="en-US" u="sng" dirty="0" smtClean="0">
                <a:solidFill>
                  <a:srgbClr val="990099"/>
                </a:solidFill>
              </a:rPr>
              <a:t>判断</a:t>
            </a:r>
            <a:r>
              <a:rPr lang="zh-CN" altLang="en-US" dirty="0" smtClean="0">
                <a:solidFill>
                  <a:srgbClr val="0070C0"/>
                </a:solidFill>
              </a:rPr>
              <a:t>所收</a:t>
            </a:r>
            <a:r>
              <a:rPr lang="zh-CN" altLang="en-US" dirty="0" smtClean="0">
                <a:solidFill>
                  <a:schemeClr val="tx1"/>
                </a:solidFill>
              </a:rPr>
              <a:t>校验码∈合法码字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    基于非法码</a:t>
            </a:r>
            <a:r>
              <a:rPr lang="zh-CN" altLang="en-US" dirty="0">
                <a:solidFill>
                  <a:schemeClr val="tx1"/>
                </a:solidFill>
              </a:rPr>
              <a:t>字</a:t>
            </a:r>
            <a:r>
              <a:rPr lang="zh-CN" altLang="en-US" dirty="0" smtClean="0">
                <a:solidFill>
                  <a:schemeClr val="tx1"/>
                </a:solidFill>
              </a:rPr>
              <a:t>→</a:t>
            </a:r>
            <a:r>
              <a:rPr lang="zh-CN" altLang="en-US" u="sng" dirty="0" smtClean="0">
                <a:solidFill>
                  <a:srgbClr val="990099"/>
                </a:solidFill>
              </a:rPr>
              <a:t>定位</a:t>
            </a:r>
            <a:r>
              <a:rPr lang="zh-CN" altLang="en-US" dirty="0" smtClean="0">
                <a:solidFill>
                  <a:schemeClr val="tx1"/>
                </a:solidFill>
              </a:rPr>
              <a:t>错误→</a:t>
            </a:r>
            <a:r>
              <a:rPr lang="zh-CN" altLang="en-US" u="sng" dirty="0" smtClean="0">
                <a:solidFill>
                  <a:srgbClr val="990099"/>
                </a:solidFill>
              </a:rPr>
              <a:t>纠正</a:t>
            </a:r>
            <a:r>
              <a:rPr lang="zh-CN" altLang="en-US" dirty="0" smtClean="0">
                <a:solidFill>
                  <a:schemeClr val="tx1"/>
                </a:solidFill>
              </a:rPr>
              <a:t>错误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取反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tx1"/>
                </a:solidFill>
              </a:rPr>
              <a:t>并行校验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接收完再校验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、串行校验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边接收边校验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pc="-30" dirty="0" smtClean="0">
                <a:solidFill>
                  <a:schemeClr val="tx1"/>
                </a:solidFill>
              </a:rPr>
              <a:t>  奇偶校验码</a:t>
            </a:r>
            <a:r>
              <a:rPr lang="zh-CN" altLang="en-US" spc="-30" dirty="0">
                <a:solidFill>
                  <a:schemeClr val="tx1"/>
                </a:solidFill>
              </a:rPr>
              <a:t>、海明校验码，循环冗余校验码</a:t>
            </a:r>
            <a:r>
              <a:rPr lang="en-US" altLang="zh-CN" sz="1800" dirty="0">
                <a:solidFill>
                  <a:schemeClr val="tx1"/>
                </a:solidFill>
              </a:rPr>
              <a:t>(CRC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C661-6600-44DF-9B78-B8289BB0D6B1}" type="slidenum">
              <a:rPr lang="en-US" altLang="zh-CN"/>
            </a:fld>
            <a:endParaRPr lang="en-US" altLang="zh-CN"/>
          </a:p>
        </p:txBody>
      </p:sp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179388" y="836712"/>
            <a:ext cx="8785349" cy="1400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437005" indent="-143700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数据校验过程：   </a:t>
            </a:r>
            <a:r>
              <a:rPr lang="en-US" altLang="zh-CN" sz="2000" dirty="0" smtClean="0">
                <a:solidFill>
                  <a:schemeClr val="tx1"/>
                </a:solidFill>
              </a:rPr>
              <a:t>--</a:t>
            </a:r>
            <a:r>
              <a:rPr lang="zh-CN" altLang="en-US" sz="2000" dirty="0" smtClean="0">
                <a:solidFill>
                  <a:srgbClr val="FF3399"/>
                </a:solidFill>
              </a:rPr>
              <a:t>冗余校验</a:t>
            </a:r>
            <a:r>
              <a:rPr lang="zh-CN" altLang="en-US" sz="2000" dirty="0" smtClean="0">
                <a:solidFill>
                  <a:schemeClr val="tx1"/>
                </a:solidFill>
              </a:rPr>
              <a:t>思想</a:t>
            </a:r>
            <a:endParaRPr lang="zh-CN" altLang="en-US" dirty="0">
              <a:solidFill>
                <a:schemeClr val="tx1"/>
              </a:solidFill>
            </a:endParaRPr>
          </a:p>
          <a:p>
            <a:pPr marL="1437005" indent="-1437005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①用待发</a:t>
            </a:r>
            <a:r>
              <a:rPr lang="zh-CN" altLang="en-US" sz="2200" dirty="0" smtClean="0">
                <a:solidFill>
                  <a:schemeClr val="tx1"/>
                </a:solidFill>
              </a:rPr>
              <a:t>数据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形成</a:t>
            </a:r>
            <a:r>
              <a:rPr lang="zh-CN" altLang="en-US" sz="2200" dirty="0" smtClean="0">
                <a:solidFill>
                  <a:schemeClr val="tx1"/>
                </a:solidFill>
              </a:rPr>
              <a:t>校验信息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与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一起</a:t>
            </a:r>
            <a:r>
              <a:rPr lang="zh-CN" altLang="en-US" sz="2200" dirty="0" smtClean="0">
                <a:solidFill>
                  <a:schemeClr val="tx1"/>
                </a:solidFill>
              </a:rPr>
              <a:t>传送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1437005" indent="-1437005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②</a:t>
            </a:r>
            <a:r>
              <a:rPr lang="zh-CN" altLang="en-US" sz="2200" dirty="0" smtClean="0">
                <a:solidFill>
                  <a:schemeClr val="tx1"/>
                </a:solidFill>
              </a:rPr>
              <a:t>用所收数据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形成</a:t>
            </a:r>
            <a:r>
              <a:rPr lang="zh-CN" altLang="en-US" sz="2200" dirty="0" smtClean="0">
                <a:solidFill>
                  <a:schemeClr val="tx1"/>
                </a:solidFill>
              </a:rPr>
              <a:t>校验信息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比较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</a:rPr>
              <a:t>及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校验</a:t>
            </a:r>
            <a:r>
              <a:rPr lang="zh-CN" altLang="en-US" sz="2200" dirty="0" smtClean="0">
                <a:solidFill>
                  <a:schemeClr val="tx1"/>
                </a:solidFill>
              </a:rPr>
              <a:t>并返回状态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179388" y="348045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五、校验码</a:t>
            </a:r>
            <a:endParaRPr lang="zh-CN" altLang="en-US" sz="2400" dirty="0"/>
          </a:p>
        </p:txBody>
      </p:sp>
      <p:sp>
        <p:nvSpPr>
          <p:cNvPr id="218243" name="Text Box 131"/>
          <p:cNvSpPr txBox="1">
            <a:spLocks noChangeArrowheads="1"/>
          </p:cNvSpPr>
          <p:nvPr/>
        </p:nvSpPr>
        <p:spPr bwMode="auto">
          <a:xfrm>
            <a:off x="2267621" y="3284984"/>
            <a:ext cx="240525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u="sng" dirty="0" smtClean="0">
                <a:solidFill>
                  <a:srgbClr val="990099"/>
                </a:solidFill>
              </a:rPr>
              <a:t>数据位</a:t>
            </a:r>
            <a:r>
              <a:rPr lang="zh-CN" altLang="en-US" dirty="0" smtClean="0">
                <a:solidFill>
                  <a:schemeClr val="tx1"/>
                </a:solidFill>
              </a:rPr>
              <a:t>及</a:t>
            </a:r>
            <a:r>
              <a:rPr lang="zh-CN" altLang="en-US" u="sng" dirty="0" smtClean="0">
                <a:solidFill>
                  <a:srgbClr val="990099"/>
                </a:solidFill>
              </a:rPr>
              <a:t>校验位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en-US" altLang="zh-CN" u="sng" dirty="0" smtClean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4284032" y="3717032"/>
            <a:ext cx="3164594" cy="576064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98" name="Text Box 131"/>
          <p:cNvSpPr txBox="1">
            <a:spLocks noChangeArrowheads="1"/>
          </p:cNvSpPr>
          <p:nvPr/>
        </p:nvSpPr>
        <p:spPr bwMode="auto">
          <a:xfrm>
            <a:off x="899592" y="3861048"/>
            <a:ext cx="7200000" cy="324000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 码距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zh-CN" altLang="en-US" sz="1800" spc="-30" dirty="0" smtClean="0">
                <a:solidFill>
                  <a:schemeClr val="tx1"/>
                </a:solidFill>
                <a:latin typeface="+mn-ea"/>
                <a:ea typeface="+mn-ea"/>
              </a:rPr>
              <a:t>任意</a:t>
            </a:r>
            <a:r>
              <a:rPr lang="en-US" altLang="zh-CN" sz="1800" spc="-30" dirty="0" smtClean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1800" spc="-30" dirty="0" smtClean="0">
                <a:solidFill>
                  <a:schemeClr val="tx1"/>
                </a:solidFill>
                <a:latin typeface="+mn-ea"/>
                <a:ea typeface="+mn-ea"/>
              </a:rPr>
              <a:t>个编码</a:t>
            </a: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中</a:t>
            </a:r>
            <a:r>
              <a:rPr lang="zh-CN" altLang="en-US" sz="1800" u="sng" spc="-30" dirty="0" smtClean="0">
                <a:solidFill>
                  <a:srgbClr val="0070C0"/>
                </a:solidFill>
                <a:latin typeface="+mn-ea"/>
                <a:ea typeface="+mn-ea"/>
              </a:rPr>
              <a:t>位值不同</a:t>
            </a:r>
            <a:r>
              <a:rPr lang="zh-CN" altLang="en-US" sz="1800" spc="-30" dirty="0" smtClean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1800" u="sng" spc="-30" dirty="0">
                <a:solidFill>
                  <a:schemeClr val="tx1"/>
                </a:solidFill>
                <a:latin typeface="+mn-ea"/>
                <a:ea typeface="+mn-ea"/>
              </a:rPr>
              <a:t>最小</a:t>
            </a:r>
            <a:r>
              <a:rPr lang="zh-CN" altLang="en-US" sz="1800" u="sng" spc="-30" dirty="0" smtClean="0">
                <a:solidFill>
                  <a:schemeClr val="tx1"/>
                </a:solidFill>
                <a:latin typeface="+mn-ea"/>
                <a:ea typeface="+mn-ea"/>
              </a:rPr>
              <a:t>个数</a:t>
            </a:r>
            <a:r>
              <a:rPr lang="zh-CN" altLang="en-US" sz="1800" spc="-30" dirty="0" smtClean="0">
                <a:solidFill>
                  <a:schemeClr val="tx1"/>
                </a:solidFill>
                <a:latin typeface="+mn-ea"/>
                <a:ea typeface="+mn-ea"/>
              </a:rPr>
              <a:t>，如</a:t>
            </a:r>
            <a:r>
              <a:rPr lang="en-US" altLang="zh-CN" sz="1800" spc="-30" dirty="0" smtClean="0">
                <a:solidFill>
                  <a:schemeClr val="tx1"/>
                </a:solidFill>
                <a:latin typeface="+mn-ea"/>
                <a:ea typeface="+mn-ea"/>
              </a:rPr>
              <a:t>{000,011,101,110}</a:t>
            </a:r>
            <a:r>
              <a:rPr lang="zh-CN" altLang="en-US" sz="1800" spc="-3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spc="-30" dirty="0" smtClean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1800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1547664" y="2348880"/>
            <a:ext cx="6077543" cy="792064"/>
            <a:chOff x="1549797" y="2347863"/>
            <a:chExt cx="6077543" cy="792064"/>
          </a:xfrm>
        </p:grpSpPr>
        <p:sp>
          <p:nvSpPr>
            <p:cNvPr id="110" name="Text Box 94"/>
            <p:cNvSpPr txBox="1">
              <a:spLocks noChangeArrowheads="1"/>
            </p:cNvSpPr>
            <p:nvPr/>
          </p:nvSpPr>
          <p:spPr bwMode="auto">
            <a:xfrm>
              <a:off x="1837134" y="2923927"/>
              <a:ext cx="720725" cy="216000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函数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" name="Line 95"/>
            <p:cNvSpPr>
              <a:spLocks noChangeShapeType="1"/>
            </p:cNvSpPr>
            <p:nvPr/>
          </p:nvSpPr>
          <p:spPr bwMode="auto">
            <a:xfrm flipV="1">
              <a:off x="2556272" y="3067943"/>
              <a:ext cx="8636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96"/>
            <p:cNvSpPr txBox="1">
              <a:spLocks noChangeArrowheads="1"/>
            </p:cNvSpPr>
            <p:nvPr/>
          </p:nvSpPr>
          <p:spPr bwMode="auto">
            <a:xfrm>
              <a:off x="2988072" y="2887943"/>
              <a:ext cx="287338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13" name="Line 97"/>
            <p:cNvSpPr>
              <a:spLocks noChangeShapeType="1"/>
            </p:cNvSpPr>
            <p:nvPr/>
          </p:nvSpPr>
          <p:spPr bwMode="auto">
            <a:xfrm flipV="1">
              <a:off x="1549797" y="3067943"/>
              <a:ext cx="287338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Text Box 103"/>
            <p:cNvSpPr txBox="1">
              <a:spLocks noChangeArrowheads="1"/>
            </p:cNvSpPr>
            <p:nvPr/>
          </p:nvSpPr>
          <p:spPr bwMode="auto">
            <a:xfrm>
              <a:off x="6835575" y="2851919"/>
              <a:ext cx="791765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比较器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5" name="Line 105"/>
            <p:cNvSpPr>
              <a:spLocks noChangeShapeType="1"/>
            </p:cNvSpPr>
            <p:nvPr/>
          </p:nvSpPr>
          <p:spPr bwMode="auto">
            <a:xfrm>
              <a:off x="6403850" y="2923927"/>
              <a:ext cx="431726" cy="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106"/>
            <p:cNvSpPr txBox="1">
              <a:spLocks noChangeArrowheads="1"/>
            </p:cNvSpPr>
            <p:nvPr/>
          </p:nvSpPr>
          <p:spPr bwMode="auto">
            <a:xfrm>
              <a:off x="6474889" y="2743927"/>
              <a:ext cx="360363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>
              <a:defPPr>
                <a:defRPr lang="zh-CN"/>
              </a:defPPr>
              <a:lvl1pPr>
                <a:lnSpc>
                  <a:spcPct val="90000"/>
                </a:lnSpc>
                <a:defRPr sz="1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</a:lstStyle>
            <a:p>
              <a:r>
                <a:rPr lang="en-US" altLang="zh-CN" sz="1600" dirty="0">
                  <a:solidFill>
                    <a:srgbClr val="CC3300"/>
                  </a:solidFill>
                </a:rPr>
                <a:t>P</a:t>
              </a:r>
              <a:r>
                <a:rPr lang="en-US" altLang="zh-CN" sz="1600" dirty="0">
                  <a:solidFill>
                    <a:srgbClr val="CC3300"/>
                  </a:solidFill>
                  <a:sym typeface="Symbol" panose="05050102010706020507"/>
                </a:rPr>
                <a:t></a:t>
              </a:r>
              <a:endParaRPr lang="en-US" altLang="zh-CN" sz="1600" dirty="0">
                <a:solidFill>
                  <a:srgbClr val="CC3300"/>
                </a:solidFill>
              </a:endParaRPr>
            </a:p>
          </p:txBody>
        </p:sp>
        <p:sp>
          <p:nvSpPr>
            <p:cNvPr id="117" name="Line 107"/>
            <p:cNvSpPr>
              <a:spLocks noChangeShapeType="1"/>
            </p:cNvSpPr>
            <p:nvPr/>
          </p:nvSpPr>
          <p:spPr bwMode="auto">
            <a:xfrm flipV="1">
              <a:off x="4572299" y="3067943"/>
              <a:ext cx="2263276" cy="34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108"/>
            <p:cNvSpPr txBox="1">
              <a:spLocks noChangeArrowheads="1"/>
            </p:cNvSpPr>
            <p:nvPr/>
          </p:nvSpPr>
          <p:spPr bwMode="auto">
            <a:xfrm>
              <a:off x="4788198" y="2887943"/>
              <a:ext cx="287338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latin typeface="Times New Roman" panose="02020603050405020304" pitchFamily="18" charset="0"/>
                </a:rPr>
                <a:t>P</a:t>
              </a:r>
              <a:r>
                <a:rPr lang="en-US" altLang="zh-CN" sz="1600" dirty="0" smtClean="0">
                  <a:latin typeface="Times New Roman" panose="02020603050405020304" pitchFamily="18" charset="0"/>
                  <a:sym typeface="Symbol" panose="05050102010706020507"/>
                </a:rPr>
                <a:t>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119" name="Text Box 109"/>
            <p:cNvSpPr txBox="1">
              <a:spLocks noChangeArrowheads="1"/>
            </p:cNvSpPr>
            <p:nvPr/>
          </p:nvSpPr>
          <p:spPr bwMode="auto">
            <a:xfrm>
              <a:off x="6763740" y="2419895"/>
              <a:ext cx="863600" cy="216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纠正器</a:t>
              </a:r>
              <a:endParaRPr lang="zh-CN" altLang="en-US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20" name="Line 110"/>
            <p:cNvSpPr>
              <a:spLocks noChangeShapeType="1"/>
            </p:cNvSpPr>
            <p:nvPr/>
          </p:nvSpPr>
          <p:spPr bwMode="auto">
            <a:xfrm flipH="1" flipV="1">
              <a:off x="7195292" y="2635895"/>
              <a:ext cx="248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11"/>
            <p:cNvSpPr>
              <a:spLocks noChangeShapeType="1"/>
            </p:cNvSpPr>
            <p:nvPr/>
          </p:nvSpPr>
          <p:spPr bwMode="auto">
            <a:xfrm flipH="1" flipV="1">
              <a:off x="4572298" y="2347863"/>
              <a:ext cx="2622994" cy="101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 Box 117"/>
            <p:cNvSpPr txBox="1">
              <a:spLocks noChangeArrowheads="1"/>
            </p:cNvSpPr>
            <p:nvPr/>
          </p:nvSpPr>
          <p:spPr bwMode="auto">
            <a:xfrm>
              <a:off x="5683124" y="2779911"/>
              <a:ext cx="720725" cy="216000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函数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" name="Line 119"/>
            <p:cNvSpPr>
              <a:spLocks noChangeShapeType="1"/>
            </p:cNvSpPr>
            <p:nvPr/>
          </p:nvSpPr>
          <p:spPr bwMode="auto">
            <a:xfrm flipH="1" flipV="1">
              <a:off x="5436096" y="2563919"/>
              <a:ext cx="0" cy="288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sp>
          <p:nvSpPr>
            <p:cNvPr id="124" name="Line 120"/>
            <p:cNvSpPr>
              <a:spLocks noChangeShapeType="1"/>
            </p:cNvSpPr>
            <p:nvPr/>
          </p:nvSpPr>
          <p:spPr bwMode="auto">
            <a:xfrm>
              <a:off x="5434310" y="2563887"/>
              <a:ext cx="1329429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125"/>
            <p:cNvSpPr txBox="1">
              <a:spLocks noChangeArrowheads="1"/>
            </p:cNvSpPr>
            <p:nvPr/>
          </p:nvSpPr>
          <p:spPr bwMode="auto">
            <a:xfrm>
              <a:off x="4675012" y="2347863"/>
              <a:ext cx="576263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990099"/>
                  </a:solidFill>
                  <a:latin typeface="Times New Roman" panose="02020603050405020304" pitchFamily="18" charset="0"/>
                </a:rPr>
                <a:t>CHK</a:t>
              </a:r>
              <a:endParaRPr lang="zh-CN" altLang="en-US" sz="1600" dirty="0">
                <a:solidFill>
                  <a:srgbClr val="99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6" name="Line 129"/>
            <p:cNvSpPr>
              <a:spLocks noChangeShapeType="1"/>
            </p:cNvSpPr>
            <p:nvPr/>
          </p:nvSpPr>
          <p:spPr bwMode="auto">
            <a:xfrm flipH="1" flipV="1">
              <a:off x="2700734" y="2348880"/>
              <a:ext cx="7191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108"/>
            <p:cNvSpPr txBox="1">
              <a:spLocks noChangeArrowheads="1"/>
            </p:cNvSpPr>
            <p:nvPr/>
          </p:nvSpPr>
          <p:spPr bwMode="auto">
            <a:xfrm>
              <a:off x="7267300" y="2635895"/>
              <a:ext cx="18345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rgbClr val="FF3399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28" name="直接连接符 127"/>
            <p:cNvCxnSpPr/>
            <p:nvPr/>
          </p:nvCxnSpPr>
          <p:spPr bwMode="auto">
            <a:xfrm>
              <a:off x="7195292" y="2348880"/>
              <a:ext cx="0" cy="72008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2" name="Text Box 131"/>
          <p:cNvSpPr txBox="1">
            <a:spLocks noChangeArrowheads="1"/>
          </p:cNvSpPr>
          <p:nvPr/>
        </p:nvSpPr>
        <p:spPr bwMode="auto">
          <a:xfrm>
            <a:off x="4499992" y="3284984"/>
            <a:ext cx="37799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，码</a:t>
            </a:r>
            <a:r>
              <a:rPr lang="zh-CN" altLang="en-US" dirty="0">
                <a:solidFill>
                  <a:schemeClr val="tx1"/>
                </a:solidFill>
              </a:rPr>
              <a:t>距</a:t>
            </a:r>
            <a:r>
              <a:rPr lang="zh-CN" altLang="en-US" dirty="0">
                <a:solidFill>
                  <a:srgbClr val="FF3399"/>
                </a:solidFill>
              </a:rPr>
              <a:t>≥</a:t>
            </a:r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合法</a:t>
            </a:r>
            <a:r>
              <a:rPr lang="zh-CN" altLang="en-US" sz="1800" dirty="0">
                <a:solidFill>
                  <a:schemeClr val="tx1"/>
                </a:solidFill>
              </a:rPr>
              <a:t>码字</a:t>
            </a:r>
            <a:r>
              <a:rPr lang="zh-CN" altLang="en-US" sz="1800" dirty="0" smtClean="0">
                <a:solidFill>
                  <a:schemeClr val="tx1"/>
                </a:solidFill>
              </a:rPr>
              <a:t>＜全部</a:t>
            </a:r>
            <a:r>
              <a:rPr lang="zh-CN" altLang="en-US" sz="1800" dirty="0" smtClean="0">
                <a:solidFill>
                  <a:schemeClr val="tx1"/>
                </a:solidFill>
              </a:rPr>
              <a:t>编码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2916063" y="3140936"/>
            <a:ext cx="3456000" cy="252000"/>
          </a:xfrm>
          <a:prstGeom prst="straightConnector1">
            <a:avLst/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2" grpId="0" animBg="1"/>
      <p:bldP spid="218119" grpId="0"/>
      <p:bldP spid="9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9" y="332656"/>
            <a:ext cx="3888555" cy="638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55825" indent="-2155825"/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奇偶校验码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掌握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  <a:p>
            <a:pPr marL="2155825" indent="-2155825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校验原理：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155825" indent="-2155825"/>
            <a:endParaRPr lang="en-US" altLang="zh-CN" dirty="0">
              <a:solidFill>
                <a:srgbClr val="C00000"/>
              </a:solidFill>
            </a:endParaRPr>
          </a:p>
          <a:p>
            <a:pPr marL="2155825" indent="-2155825">
              <a:lnSpc>
                <a:spcPct val="105000"/>
              </a:lnSpc>
              <a:spcBef>
                <a:spcPts val="0"/>
              </a:spcBef>
            </a:pPr>
            <a:endParaRPr lang="en-US" altLang="zh-CN" sz="1800" dirty="0" smtClean="0">
              <a:solidFill>
                <a:srgbClr val="C00000"/>
              </a:solidFill>
            </a:endParaRPr>
          </a:p>
          <a:p>
            <a:pPr marL="2155825" indent="-2155825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校验</a:t>
            </a:r>
            <a:r>
              <a:rPr lang="zh-CN" altLang="en-US" dirty="0" smtClean="0">
                <a:solidFill>
                  <a:srgbClr val="C00000"/>
                </a:solidFill>
              </a:rPr>
              <a:t>码组</a:t>
            </a:r>
            <a:r>
              <a:rPr lang="zh-CN" altLang="en-US" dirty="0">
                <a:solidFill>
                  <a:srgbClr val="C00000"/>
                </a:solidFill>
              </a:rPr>
              <a:t>成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155825" indent="-2155825">
              <a:spcBef>
                <a:spcPts val="2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校验位编码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rgbClr val="990099"/>
              </a:solidFill>
            </a:endParaRPr>
          </a:p>
          <a:p>
            <a:pPr marL="2155825" indent="-2155825"/>
            <a:endParaRPr lang="en-US" altLang="zh-CN" sz="2200" dirty="0" smtClean="0">
              <a:solidFill>
                <a:srgbClr val="990099"/>
              </a:solidFill>
            </a:endParaRPr>
          </a:p>
          <a:p>
            <a:pPr marL="2684780" indent="-2684780"/>
            <a:endParaRPr lang="en-US" altLang="zh-CN" sz="2000" dirty="0" smtClean="0">
              <a:solidFill>
                <a:srgbClr val="C00000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校验方法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 marL="2684780" indent="-2684780">
              <a:lnSpc>
                <a:spcPct val="105000"/>
              </a:lnSpc>
              <a:spcBef>
                <a:spcPts val="300"/>
              </a:spcBef>
            </a:pPr>
            <a:endParaRPr lang="en-US" altLang="zh-CN" sz="1800" dirty="0" smtClean="0">
              <a:solidFill>
                <a:srgbClr val="C00000"/>
              </a:solidFill>
            </a:endParaRPr>
          </a:p>
          <a:p>
            <a:pPr marL="2684780" indent="-2684780">
              <a:spcBef>
                <a:spcPts val="0"/>
              </a:spcBef>
            </a:pPr>
            <a:endParaRPr lang="en-US" altLang="zh-CN" sz="2000" dirty="0" smtClean="0">
              <a:solidFill>
                <a:srgbClr val="C00000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校验方式：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dirty="0" smtClean="0">
                <a:solidFill>
                  <a:srgbClr val="C00000"/>
                </a:solidFill>
              </a:rPr>
              <a:t> *应用：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051720" y="836712"/>
            <a:ext cx="6948264" cy="18053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编码时，使</a:t>
            </a:r>
            <a:r>
              <a:rPr lang="zh-CN" altLang="en-US" dirty="0">
                <a:solidFill>
                  <a:schemeClr val="tx1"/>
                </a:solidFill>
              </a:rPr>
              <a:t>校验码</a:t>
            </a:r>
            <a:r>
              <a:rPr lang="zh-CN" altLang="en-US" dirty="0" smtClean="0">
                <a:solidFill>
                  <a:schemeClr val="tx1"/>
                </a:solidFill>
              </a:rPr>
              <a:t>中的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zh-CN" altLang="en-US" u="sng" dirty="0" smtClean="0">
                <a:solidFill>
                  <a:schemeClr val="tx1"/>
                </a:solidFill>
              </a:rPr>
              <a:t>奇数</a:t>
            </a:r>
            <a:r>
              <a:rPr lang="en-US" altLang="zh-CN" u="sng" dirty="0" smtClean="0">
                <a:solidFill>
                  <a:schemeClr val="tx1"/>
                </a:solidFill>
              </a:rPr>
              <a:t>/</a:t>
            </a:r>
            <a:r>
              <a:rPr lang="zh-CN" altLang="en-US" u="sng" dirty="0" smtClean="0">
                <a:solidFill>
                  <a:schemeClr val="tx1"/>
                </a:solidFill>
              </a:rPr>
              <a:t>偶数</a:t>
            </a:r>
            <a:r>
              <a:rPr lang="zh-CN" altLang="en-US" dirty="0" smtClean="0">
                <a:solidFill>
                  <a:schemeClr val="tx1"/>
                </a:solidFill>
              </a:rPr>
              <a:t>个；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u="sng" dirty="0" smtClean="0">
                <a:solidFill>
                  <a:schemeClr val="tx1"/>
                </a:solidFill>
              </a:rPr>
              <a:t>检测</a:t>
            </a:r>
            <a:r>
              <a:rPr lang="zh-CN" altLang="en-US" dirty="0" smtClean="0">
                <a:solidFill>
                  <a:schemeClr val="tx1"/>
                </a:solidFill>
              </a:rPr>
              <a:t>校验码中的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zh-CN" altLang="en-US" u="sng" dirty="0">
                <a:solidFill>
                  <a:schemeClr val="tx1"/>
                </a:solidFill>
              </a:rPr>
              <a:t>奇数</a:t>
            </a:r>
            <a:r>
              <a:rPr lang="en-US" altLang="zh-CN" u="sng" dirty="0">
                <a:solidFill>
                  <a:schemeClr val="tx1"/>
                </a:solidFill>
              </a:rPr>
              <a:t>/</a:t>
            </a:r>
            <a:r>
              <a:rPr lang="zh-CN" altLang="en-US" u="sng" dirty="0">
                <a:solidFill>
                  <a:schemeClr val="tx1"/>
                </a:solidFill>
              </a:rPr>
              <a:t>偶数</a:t>
            </a:r>
            <a:r>
              <a:rPr lang="zh-CN" altLang="en-US" dirty="0">
                <a:solidFill>
                  <a:schemeClr val="tx1"/>
                </a:solidFill>
              </a:rPr>
              <a:t>个，</a:t>
            </a:r>
            <a:r>
              <a:rPr lang="zh-CN" altLang="en-US" u="sng" dirty="0" smtClean="0">
                <a:solidFill>
                  <a:schemeClr val="tx1"/>
                </a:solidFill>
              </a:rPr>
              <a:t>验证</a:t>
            </a:r>
            <a:r>
              <a:rPr lang="zh-CN" altLang="en-US" dirty="0" smtClean="0">
                <a:solidFill>
                  <a:schemeClr val="tx1"/>
                </a:solidFill>
              </a:rPr>
              <a:t>有无错误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→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种方法→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┘</a:t>
            </a:r>
            <a:endParaRPr lang="en-US" altLang="zh-CN" sz="1800" b="0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                  ，</a:t>
            </a:r>
            <a:r>
              <a:rPr lang="zh-CN" altLang="en-US" dirty="0">
                <a:solidFill>
                  <a:schemeClr val="tx1"/>
                </a:solidFill>
              </a:rPr>
              <a:t>校验位为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区分奇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2699792" y="2564702"/>
            <a:ext cx="6444208" cy="13683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marL="2684780" indent="-2684780"/>
            <a:r>
              <a:rPr lang="zh-CN" altLang="en-US" sz="2200" dirty="0" smtClean="0">
                <a:solidFill>
                  <a:schemeClr val="tx1"/>
                </a:solidFill>
              </a:rPr>
              <a:t>奇校验：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200" dirty="0" smtClean="0">
                <a:solidFill>
                  <a:srgbClr val="990099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rgbClr val="990099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</a:rPr>
              <a:t>+…+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rgbClr val="990099"/>
                </a:solidFill>
              </a:rPr>
              <a:t>+1</a:t>
            </a:r>
            <a:r>
              <a:rPr lang="en-US" altLang="zh-CN" sz="2200" dirty="0">
                <a:solidFill>
                  <a:schemeClr val="tx1"/>
                </a:solidFill>
              </a:rPr>
              <a:t> (mod 2)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sz="2200" dirty="0" smtClean="0">
                <a:solidFill>
                  <a:schemeClr val="tx1"/>
                </a:solidFill>
              </a:rPr>
              <a:t>偶校验：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</a:rPr>
              <a:t>+…+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tx1"/>
                </a:solidFill>
              </a:rPr>
              <a:t>mod 2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lvl="0" indent="-2684780">
              <a:spcBef>
                <a:spcPts val="20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 smtClean="0">
                <a:solidFill>
                  <a:srgbClr val="990099"/>
                </a:solidFill>
              </a:rPr>
              <a:t>1—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r>
              <a:rPr lang="zh-CN" altLang="en-US" sz="2000" dirty="0">
                <a:solidFill>
                  <a:schemeClr val="tx1"/>
                </a:solidFill>
              </a:rPr>
              <a:t>的奇校验码为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、偶校验码</a:t>
            </a:r>
            <a:r>
              <a:rPr lang="zh-CN" altLang="en-US" sz="2000" dirty="0">
                <a:solidFill>
                  <a:schemeClr val="tx1"/>
                </a:solidFill>
              </a:rPr>
              <a:t>为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555776" y="2204896"/>
            <a:ext cx="2592288" cy="288000"/>
            <a:chOff x="5255295" y="3016002"/>
            <a:chExt cx="2592288" cy="288000"/>
          </a:xfrm>
        </p:grpSpPr>
        <p:sp>
          <p:nvSpPr>
            <p:cNvPr id="7" name="Text Box 75"/>
            <p:cNvSpPr txBox="1">
              <a:spLocks noChangeArrowheads="1"/>
            </p:cNvSpPr>
            <p:nvPr/>
          </p:nvSpPr>
          <p:spPr bwMode="auto">
            <a:xfrm>
              <a:off x="5255295" y="3016002"/>
              <a:ext cx="144016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数据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m</a:t>
              </a:r>
              <a:r>
                <a:rPr lang="en-US" altLang="zh-CN" sz="1800" baseline="-22000" dirty="0" err="1" smtClean="0">
                  <a:solidFill>
                    <a:schemeClr val="tx1"/>
                  </a:solidFill>
                </a:rPr>
                <a:t>n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…m</a:t>
              </a:r>
              <a:r>
                <a:rPr lang="en-US" altLang="zh-CN" sz="1800" baseline="-220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baseline="-220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76"/>
            <p:cNvSpPr txBox="1">
              <a:spLocks noChangeArrowheads="1"/>
            </p:cNvSpPr>
            <p:nvPr/>
          </p:nvSpPr>
          <p:spPr bwMode="auto">
            <a:xfrm>
              <a:off x="6695455" y="3016002"/>
              <a:ext cx="1152128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校验位</a:t>
              </a:r>
              <a:r>
                <a:rPr lang="en-US" altLang="zh-CN" sz="1800" dirty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22000" dirty="0">
                  <a:solidFill>
                    <a:schemeClr val="tx1"/>
                  </a:solidFill>
                </a:rPr>
                <a:t>1</a:t>
              </a:r>
              <a:endParaRPr lang="en-US" altLang="zh-CN" sz="1800" baseline="-2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1475531" y="3847368"/>
            <a:ext cx="7560965" cy="27499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accent2"/>
                </a:solidFill>
              </a:rPr>
              <a:t>    故障字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⊕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</a:rPr>
              <a:t>是接收</a:t>
            </a:r>
            <a:r>
              <a:rPr lang="zh-CN" altLang="en-US" dirty="0">
                <a:solidFill>
                  <a:schemeClr val="tx1"/>
                </a:solidFill>
              </a:rPr>
              <a:t>的、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dirty="0" smtClean="0">
                <a:solidFill>
                  <a:schemeClr val="tx1"/>
                </a:solidFill>
              </a:rPr>
              <a:t>是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</a:rPr>
              <a:t>形成的</a:t>
            </a:r>
            <a:endParaRPr lang="zh-CN" altLang="en-US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检  错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zh-CN" altLang="en-US" u="sng" dirty="0" smtClean="0">
                <a:solidFill>
                  <a:srgbClr val="0070C0"/>
                </a:solidFill>
              </a:rPr>
              <a:t>无</a:t>
            </a:r>
            <a:r>
              <a:rPr lang="zh-CN" altLang="en-US" u="sng" dirty="0">
                <a:solidFill>
                  <a:srgbClr val="0070C0"/>
                </a:solidFill>
              </a:rPr>
              <a:t>错误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zh-CN" altLang="en-US" u="sng" dirty="0" smtClean="0">
                <a:solidFill>
                  <a:srgbClr val="0070C0"/>
                </a:solidFill>
              </a:rPr>
              <a:t>有错误</a:t>
            </a:r>
            <a:endParaRPr lang="en-US" altLang="zh-CN" u="sng" dirty="0" smtClean="0">
              <a:solidFill>
                <a:srgbClr val="0070C0"/>
              </a:solidFill>
            </a:endParaRPr>
          </a:p>
          <a:p>
            <a:pPr marL="2684780" indent="-2684780">
              <a:lnSpc>
                <a:spcPct val="105000"/>
              </a:lnSpc>
              <a:spcBef>
                <a:spcPts val="0"/>
              </a:spcBef>
            </a:pPr>
            <a:r>
              <a:rPr lang="zh-CN" altLang="en-US" sz="1800" dirty="0" smtClean="0">
                <a:solidFill>
                  <a:schemeClr val="tx1"/>
                </a:solidFill>
              </a:rPr>
              <a:t>                            可检测奇数个错←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┴</a:t>
            </a:r>
            <a:r>
              <a:rPr lang="zh-CN" altLang="en-US" sz="1800" dirty="0" smtClean="0">
                <a:solidFill>
                  <a:schemeClr val="tx1"/>
                </a:solidFill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</a:rPr>
              <a:t>无纠错能力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2</a:t>
            </a:r>
            <a:r>
              <a:rPr lang="en-US" altLang="zh-CN" sz="2000" dirty="0" smtClean="0">
                <a:solidFill>
                  <a:srgbClr val="990099"/>
                </a:solidFill>
              </a:rPr>
              <a:t>—</a:t>
            </a:r>
            <a:r>
              <a:rPr lang="zh-CN" altLang="en-US" sz="2000" dirty="0" smtClean="0">
                <a:solidFill>
                  <a:schemeClr val="tx1"/>
                </a:solidFill>
              </a:rPr>
              <a:t>所收校验</a:t>
            </a:r>
            <a:r>
              <a:rPr lang="zh-CN" altLang="en-US" sz="2000" dirty="0">
                <a:solidFill>
                  <a:schemeClr val="tx1"/>
                </a:solidFill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</a:rPr>
              <a:t>0101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1010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1011</a:t>
            </a:r>
            <a:r>
              <a:rPr lang="zh-CN" altLang="en-US" sz="2000" dirty="0">
                <a:solidFill>
                  <a:schemeClr val="tx1"/>
                </a:solidFill>
              </a:rPr>
              <a:t>中有一个有错，编码方式</a:t>
            </a:r>
            <a:r>
              <a:rPr lang="zh-CN" altLang="en-US" sz="2000" dirty="0" smtClean="0">
                <a:solidFill>
                  <a:schemeClr val="tx1"/>
                </a:solidFill>
              </a:rPr>
              <a:t>？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  可串行校验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逐位异或求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u="sng" dirty="0" smtClean="0">
                <a:solidFill>
                  <a:schemeClr val="accent2"/>
                </a:solidFill>
              </a:rPr>
              <a:t>广泛</a:t>
            </a:r>
            <a:r>
              <a:rPr lang="zh-CN" altLang="en-US" dirty="0" smtClean="0">
                <a:solidFill>
                  <a:schemeClr val="tx1"/>
                </a:solidFill>
              </a:rPr>
              <a:t>用于</a:t>
            </a:r>
            <a:r>
              <a:rPr lang="en-US" altLang="zh-CN" u="sng" dirty="0">
                <a:solidFill>
                  <a:srgbClr val="990099"/>
                </a:solidFill>
              </a:rPr>
              <a:t>I/O</a:t>
            </a:r>
            <a:r>
              <a:rPr lang="zh-CN" altLang="en-US" u="sng" dirty="0" smtClean="0">
                <a:solidFill>
                  <a:srgbClr val="990099"/>
                </a:solidFill>
              </a:rPr>
              <a:t>传输</a:t>
            </a:r>
            <a:r>
              <a:rPr lang="zh-CN" altLang="en-US" dirty="0">
                <a:solidFill>
                  <a:schemeClr val="tx1"/>
                </a:solidFill>
              </a:rPr>
              <a:t>方面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有甚于无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002DF-BB46-43AB-98FD-9927CFC7E87C}" type="slidenum">
              <a:rPr lang="en-US" altLang="zh-CN"/>
            </a:fld>
            <a:endParaRPr lang="en-US" altLang="zh-CN" dirty="0"/>
          </a:p>
        </p:txBody>
      </p:sp>
      <p:sp>
        <p:nvSpPr>
          <p:cNvPr id="223415" name="AutoShape 18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424" name="AutoShape 19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65"/>
          <p:cNvSpPr txBox="1">
            <a:spLocks noChangeArrowheads="1"/>
          </p:cNvSpPr>
          <p:nvPr/>
        </p:nvSpPr>
        <p:spPr bwMode="auto">
          <a:xfrm>
            <a:off x="179389" y="328007"/>
            <a:ext cx="3744556" cy="41534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、海明校验</a:t>
            </a:r>
            <a:r>
              <a:rPr lang="zh-CN" altLang="en-US" dirty="0" smtClean="0">
                <a:solidFill>
                  <a:srgbClr val="FF3399"/>
                </a:solidFill>
              </a:rPr>
              <a:t>码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了解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校验原理：</a:t>
            </a:r>
            <a:endParaRPr lang="en-US" altLang="zh-CN" spc="-14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校验方法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校验位数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1" name="Text Box 167"/>
          <p:cNvSpPr txBox="1">
            <a:spLocks noChangeArrowheads="1"/>
          </p:cNvSpPr>
          <p:nvPr/>
        </p:nvSpPr>
        <p:spPr bwMode="auto">
          <a:xfrm>
            <a:off x="2051719" y="826344"/>
            <a:ext cx="6912893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pc="-140" dirty="0">
                <a:solidFill>
                  <a:schemeClr val="tx1"/>
                </a:solidFill>
              </a:rPr>
              <a:t>数据分成</a:t>
            </a:r>
            <a:r>
              <a:rPr lang="zh-CN" altLang="en-US" u="sng" spc="-140" dirty="0">
                <a:solidFill>
                  <a:srgbClr val="0070C0"/>
                </a:solidFill>
              </a:rPr>
              <a:t>多个有重叠</a:t>
            </a:r>
            <a:r>
              <a:rPr lang="zh-CN" altLang="en-US" spc="-140" dirty="0">
                <a:solidFill>
                  <a:schemeClr val="tx1"/>
                </a:solidFill>
              </a:rPr>
              <a:t>的组，各</a:t>
            </a:r>
            <a:r>
              <a:rPr lang="zh-CN" altLang="en-US" spc="-140" dirty="0" smtClean="0">
                <a:solidFill>
                  <a:schemeClr val="tx1"/>
                </a:solidFill>
              </a:rPr>
              <a:t>组采用</a:t>
            </a:r>
            <a:r>
              <a:rPr lang="zh-CN" altLang="en-US" u="sng" spc="-140" dirty="0" smtClean="0">
                <a:solidFill>
                  <a:srgbClr val="990099"/>
                </a:solidFill>
              </a:rPr>
              <a:t>奇偶校验</a:t>
            </a:r>
            <a:r>
              <a:rPr lang="zh-CN" altLang="en-US" spc="-140" dirty="0" smtClean="0">
                <a:solidFill>
                  <a:schemeClr val="tx1"/>
                </a:solidFill>
              </a:rPr>
              <a:t>编码；</a:t>
            </a:r>
            <a:endParaRPr lang="en-US" altLang="zh-CN" spc="-140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根据</a:t>
            </a:r>
            <a:r>
              <a:rPr lang="zh-CN" altLang="en-US" u="sng" dirty="0" smtClean="0">
                <a:solidFill>
                  <a:srgbClr val="0070C0"/>
                </a:solidFill>
              </a:rPr>
              <a:t>多重</a:t>
            </a:r>
            <a:r>
              <a:rPr lang="zh-CN" altLang="en-US" u="sng" dirty="0" smtClean="0">
                <a:solidFill>
                  <a:srgbClr val="990099"/>
                </a:solidFill>
              </a:rPr>
              <a:t>奇偶校验</a:t>
            </a:r>
            <a:r>
              <a:rPr lang="zh-CN" altLang="en-US" spc="-100" dirty="0" smtClean="0">
                <a:solidFill>
                  <a:schemeClr val="tx1"/>
                </a:solidFill>
              </a:rPr>
              <a:t>结果，</a:t>
            </a:r>
            <a:r>
              <a:rPr lang="zh-CN" altLang="en-US" u="sng" spc="-100" dirty="0" smtClean="0">
                <a:solidFill>
                  <a:schemeClr val="tx1"/>
                </a:solidFill>
              </a:rPr>
              <a:t>定位</a:t>
            </a:r>
            <a:r>
              <a:rPr lang="en-US" altLang="zh-CN" u="sng" spc="-100" dirty="0" smtClean="0">
                <a:solidFill>
                  <a:schemeClr val="tx1"/>
                </a:solidFill>
              </a:rPr>
              <a:t>(</a:t>
            </a:r>
            <a:r>
              <a:rPr lang="zh-CN" altLang="en-US" u="sng" spc="-100" dirty="0" smtClean="0">
                <a:solidFill>
                  <a:schemeClr val="tx1"/>
                </a:solidFill>
              </a:rPr>
              <a:t>纠正</a:t>
            </a:r>
            <a:r>
              <a:rPr lang="en-US" altLang="zh-CN" u="sng" spc="-100" dirty="0" smtClean="0">
                <a:solidFill>
                  <a:schemeClr val="tx1"/>
                </a:solidFill>
              </a:rPr>
              <a:t>)</a:t>
            </a:r>
            <a:r>
              <a:rPr lang="zh-CN" altLang="en-US" spc="-100" dirty="0" smtClean="0">
                <a:solidFill>
                  <a:schemeClr val="tx1"/>
                </a:solidFill>
              </a:rPr>
              <a:t>错误</a:t>
            </a:r>
            <a:endParaRPr lang="en-US" altLang="zh-CN" spc="-1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spc="-140" dirty="0" smtClean="0">
                <a:solidFill>
                  <a:schemeClr val="tx1"/>
                </a:solidFill>
              </a:rPr>
              <a:t>          </a:t>
            </a:r>
            <a:r>
              <a:rPr lang="zh-CN" altLang="en-US" sz="1800" b="0" spc="-140" dirty="0">
                <a:solidFill>
                  <a:schemeClr val="tx1"/>
                </a:solidFill>
              </a:rPr>
              <a:t>└</a:t>
            </a:r>
            <a:r>
              <a:rPr lang="zh-CN" altLang="en-US" sz="1800" spc="-140" dirty="0">
                <a:solidFill>
                  <a:schemeClr val="tx1"/>
                </a:solidFill>
              </a:rPr>
              <a:t>→</a:t>
            </a:r>
            <a:r>
              <a:rPr lang="zh-CN" altLang="en-US" sz="1800" u="sng" spc="-100" dirty="0">
                <a:solidFill>
                  <a:schemeClr val="tx1"/>
                </a:solidFill>
              </a:rPr>
              <a:t>某</a:t>
            </a:r>
            <a:r>
              <a:rPr lang="zh-CN" altLang="en-US" sz="1800" u="sng" spc="-100" dirty="0" smtClean="0">
                <a:solidFill>
                  <a:schemeClr val="tx1"/>
                </a:solidFill>
              </a:rPr>
              <a:t>位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错导致</a:t>
            </a:r>
            <a:r>
              <a:rPr lang="zh-CN" altLang="en-US" sz="1800" u="sng" spc="-100" dirty="0">
                <a:solidFill>
                  <a:schemeClr val="tx1"/>
                </a:solidFill>
              </a:rPr>
              <a:t>多个</a:t>
            </a:r>
            <a:r>
              <a:rPr lang="zh-CN" altLang="en-US" sz="1800" spc="-100" dirty="0">
                <a:solidFill>
                  <a:schemeClr val="tx1"/>
                </a:solidFill>
              </a:rPr>
              <a:t>校验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位错→</a:t>
            </a:r>
            <a:r>
              <a:rPr lang="zh-CN" altLang="en-US" sz="1800" b="0" spc="-100" dirty="0" smtClean="0">
                <a:solidFill>
                  <a:schemeClr val="tx1"/>
                </a:solidFill>
              </a:rPr>
              <a:t>┘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2" name="Text Box 173"/>
          <p:cNvSpPr txBox="1">
            <a:spLocks noChangeArrowheads="1"/>
          </p:cNvSpPr>
          <p:nvPr/>
        </p:nvSpPr>
        <p:spPr bwMode="auto">
          <a:xfrm>
            <a:off x="1187624" y="2060848"/>
            <a:ext cx="7776988" cy="40934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 smtClean="0">
                <a:solidFill>
                  <a:schemeClr val="accent2"/>
                </a:solidFill>
              </a:rPr>
              <a:t>    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多重奇偶校验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设数据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err="1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</a:rPr>
              <a:t>…m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，校验位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err="1" smtClean="0">
                <a:solidFill>
                  <a:schemeClr val="tx1"/>
                </a:solidFill>
              </a:rPr>
              <a:t>p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k</a:t>
            </a:r>
            <a:r>
              <a:rPr lang="en-US" altLang="zh-CN" dirty="0" smtClean="0">
                <a:solidFill>
                  <a:schemeClr val="tx1"/>
                </a:solidFill>
              </a:rPr>
              <a:t>…p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即有</a:t>
            </a:r>
            <a:r>
              <a:rPr lang="en-US" altLang="zh-CN" sz="2000" dirty="0">
                <a:solidFill>
                  <a:schemeClr val="tx1"/>
                </a:solidFill>
              </a:rPr>
              <a:t>k</a:t>
            </a:r>
            <a:r>
              <a:rPr lang="zh-CN" altLang="en-US" sz="2000" dirty="0">
                <a:solidFill>
                  <a:schemeClr val="tx1"/>
                </a:solidFill>
              </a:rPr>
              <a:t>个奇偶检验组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rgbClr val="990099"/>
                </a:solidFill>
              </a:rPr>
              <a:t>故障字：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s</a:t>
            </a:r>
            <a:r>
              <a:rPr lang="en-US" altLang="zh-CN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…s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 err="1">
                <a:solidFill>
                  <a:schemeClr val="tx1"/>
                </a:solidFill>
              </a:rPr>
              <a:t>s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⊕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(mod 2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rgbClr val="990099"/>
                </a:solidFill>
              </a:rPr>
              <a:t>检错</a:t>
            </a:r>
            <a:r>
              <a:rPr lang="en-US" altLang="zh-CN" dirty="0" smtClean="0">
                <a:solidFill>
                  <a:srgbClr val="990099"/>
                </a:solidFill>
              </a:rPr>
              <a:t>/</a:t>
            </a:r>
            <a:r>
              <a:rPr lang="zh-CN" altLang="en-US" dirty="0" smtClean="0">
                <a:solidFill>
                  <a:srgbClr val="990099"/>
                </a:solidFill>
              </a:rPr>
              <a:t>纠错：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时</a:t>
            </a:r>
            <a:r>
              <a:rPr lang="zh-CN" altLang="en-US" u="sng" dirty="0">
                <a:solidFill>
                  <a:srgbClr val="0070C0"/>
                </a:solidFill>
              </a:rPr>
              <a:t>无错误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S≠0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zh-CN" altLang="en-US" u="sng" dirty="0" smtClean="0">
                <a:solidFill>
                  <a:srgbClr val="0070C0"/>
                </a:solidFill>
              </a:rPr>
              <a:t>值表示</a:t>
            </a:r>
            <a:r>
              <a:rPr lang="zh-CN" altLang="en-US" u="sng" dirty="0">
                <a:solidFill>
                  <a:srgbClr val="0070C0"/>
                </a:solidFill>
              </a:rPr>
              <a:t>错误</a:t>
            </a:r>
            <a:r>
              <a:rPr lang="zh-CN" altLang="en-US" u="sng" dirty="0" smtClean="0">
                <a:solidFill>
                  <a:srgbClr val="0070C0"/>
                </a:solidFill>
              </a:rPr>
              <a:t>位置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 smtClean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＝分组数</a:t>
            </a:r>
            <a:r>
              <a:rPr lang="zh-CN" altLang="en-US" dirty="0" smtClean="0">
                <a:solidFill>
                  <a:schemeClr val="tx1"/>
                </a:solidFill>
              </a:rPr>
              <a:t>，取决于校验能力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</a:t>
            </a:r>
            <a:r>
              <a:rPr lang="zh-CN" altLang="en-US" sz="1800" dirty="0">
                <a:solidFill>
                  <a:schemeClr val="tx1"/>
                </a:solidFill>
              </a:rPr>
              <a:t>纠正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错误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rgbClr val="990099"/>
                </a:solidFill>
              </a:rPr>
              <a:t>例：</a:t>
            </a:r>
            <a:r>
              <a:rPr lang="zh-CN" altLang="en-US" u="sng" dirty="0" smtClean="0">
                <a:solidFill>
                  <a:srgbClr val="0070C0"/>
                </a:solidFill>
              </a:rPr>
              <a:t>单纠错码</a:t>
            </a:r>
            <a:r>
              <a:rPr lang="en-US" altLang="zh-CN" u="sng" dirty="0" smtClean="0">
                <a:solidFill>
                  <a:srgbClr val="0070C0"/>
                </a:solidFill>
              </a:rPr>
              <a:t>SEC</a:t>
            </a:r>
            <a:r>
              <a:rPr lang="zh-CN" altLang="en-US" dirty="0" smtClean="0">
                <a:solidFill>
                  <a:schemeClr val="tx1"/>
                </a:solidFill>
              </a:rPr>
              <a:t>需满足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k</a:t>
            </a:r>
            <a:r>
              <a:rPr lang="en-US" altLang="zh-CN" dirty="0" smtClean="0">
                <a:solidFill>
                  <a:schemeClr val="tx1"/>
                </a:solidFill>
              </a:rPr>
              <a:t>-1</a:t>
            </a:r>
            <a:r>
              <a:rPr lang="zh-CN" altLang="en-US" dirty="0">
                <a:solidFill>
                  <a:schemeClr val="tx1"/>
                </a:solidFill>
              </a:rPr>
              <a:t>≥</a:t>
            </a:r>
            <a:r>
              <a:rPr lang="en-US" altLang="zh-CN" dirty="0" err="1" smtClean="0">
                <a:solidFill>
                  <a:schemeClr val="tx1"/>
                </a:solidFill>
              </a:rPr>
              <a:t>n+k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u="sng" dirty="0">
              <a:solidFill>
                <a:srgbClr val="0070C0"/>
              </a:solidFill>
            </a:endParaRPr>
          </a:p>
          <a:p>
            <a:pPr marL="2684780" indent="-2684780"/>
            <a:endParaRPr lang="en-US" altLang="zh-CN" sz="2000" dirty="0" smtClean="0">
              <a:solidFill>
                <a:schemeClr val="tx1"/>
              </a:solidFill>
            </a:endParaRPr>
          </a:p>
          <a:p>
            <a:pPr marL="2684780" indent="-2684780"/>
            <a:endParaRPr lang="en-US" altLang="zh-CN" sz="20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u="sng" dirty="0" smtClean="0">
                <a:solidFill>
                  <a:srgbClr val="0070C0"/>
                </a:solidFill>
              </a:rPr>
              <a:t>双纠错码</a:t>
            </a:r>
            <a:r>
              <a:rPr lang="zh-CN" altLang="en-US" dirty="0" smtClean="0">
                <a:solidFill>
                  <a:schemeClr val="tx1"/>
                </a:solidFill>
              </a:rPr>
              <a:t>需满足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k</a:t>
            </a:r>
            <a:r>
              <a:rPr lang="en-US" altLang="zh-CN" dirty="0" smtClean="0">
                <a:solidFill>
                  <a:schemeClr val="tx1"/>
                </a:solidFill>
              </a:rPr>
              <a:t>-1</a:t>
            </a:r>
            <a:r>
              <a:rPr lang="zh-CN" altLang="en-US" dirty="0" smtClean="0">
                <a:solidFill>
                  <a:schemeClr val="tx1"/>
                </a:solidFill>
              </a:rPr>
              <a:t>≥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err="1" smtClean="0">
                <a:solidFill>
                  <a:schemeClr val="tx1"/>
                </a:solidFill>
              </a:rPr>
              <a:t>n+k</a:t>
            </a:r>
            <a:r>
              <a:rPr lang="en-US" altLang="zh-CN" dirty="0" smtClean="0">
                <a:solidFill>
                  <a:schemeClr val="tx1"/>
                </a:solidFill>
              </a:rPr>
              <a:t>)+(</a:t>
            </a:r>
            <a:r>
              <a:rPr lang="en-US" altLang="zh-CN" dirty="0" err="1" smtClean="0">
                <a:solidFill>
                  <a:schemeClr val="tx1"/>
                </a:solidFill>
              </a:rPr>
              <a:t>n+k</a:t>
            </a:r>
            <a:r>
              <a:rPr lang="en-US" altLang="zh-CN" dirty="0">
                <a:solidFill>
                  <a:schemeClr val="tx1"/>
                </a:solidFill>
              </a:rPr>
              <a:t>)*(n+k-1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3" name="Group 607"/>
          <p:cNvGraphicFramePr>
            <a:graphicFrameLocks noGrp="1"/>
          </p:cNvGraphicFramePr>
          <p:nvPr/>
        </p:nvGraphicFramePr>
        <p:xfrm>
          <a:off x="2411760" y="4896592"/>
          <a:ext cx="5040561" cy="620640"/>
        </p:xfrm>
        <a:graphic>
          <a:graphicData uri="http://schemas.openxmlformats.org/drawingml/2006/table">
            <a:tbl>
              <a:tblPr/>
              <a:tblGrid>
                <a:gridCol w="1257205"/>
                <a:gridCol w="665292"/>
                <a:gridCol w="669792"/>
                <a:gridCol w="720080"/>
                <a:gridCol w="864096"/>
                <a:gridCol w="864096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196F-76CA-417E-8406-136A7897435C}" type="slidenum">
              <a:rPr lang="en-US" altLang="zh-CN"/>
            </a:fld>
            <a:endParaRPr lang="en-US" altLang="zh-CN"/>
          </a:p>
        </p:txBody>
      </p:sp>
      <p:sp>
        <p:nvSpPr>
          <p:cNvPr id="7711" name="Text Box 543"/>
          <p:cNvSpPr txBox="1">
            <a:spLocks noChangeArrowheads="1"/>
          </p:cNvSpPr>
          <p:nvPr/>
        </p:nvSpPr>
        <p:spPr bwMode="auto">
          <a:xfrm>
            <a:off x="179387" y="332656"/>
            <a:ext cx="8641207" cy="29392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校验码的组成：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以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个校验</a:t>
            </a:r>
            <a:r>
              <a:rPr lang="zh-CN" altLang="en-US" sz="2000" dirty="0" smtClean="0">
                <a:solidFill>
                  <a:schemeClr val="tx1"/>
                </a:solidFill>
              </a:rPr>
              <a:t>组的</a:t>
            </a:r>
            <a:r>
              <a:rPr lang="en-US" altLang="zh-CN" sz="2000" dirty="0" smtClean="0">
                <a:solidFill>
                  <a:schemeClr val="tx1"/>
                </a:solidFill>
              </a:rPr>
              <a:t>SEC</a:t>
            </a:r>
            <a:r>
              <a:rPr lang="zh-CN" altLang="en-US" sz="2000" dirty="0">
                <a:solidFill>
                  <a:schemeClr val="tx1"/>
                </a:solidFill>
              </a:rPr>
              <a:t>码</a:t>
            </a:r>
            <a:r>
              <a:rPr lang="zh-CN" altLang="en-US" sz="2000" dirty="0" smtClean="0">
                <a:solidFill>
                  <a:schemeClr val="tx1"/>
                </a:solidFill>
              </a:rPr>
              <a:t>为例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en-US" altLang="zh-CN" sz="1800" dirty="0" smtClean="0">
                <a:solidFill>
                  <a:schemeClr val="tx1"/>
                </a:solidFill>
              </a:rPr>
              <a:t>M=m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11</a:t>
            </a:r>
            <a:r>
              <a:rPr lang="en-US" altLang="zh-CN" sz="1800" dirty="0" smtClean="0">
                <a:solidFill>
                  <a:schemeClr val="tx1"/>
                </a:solidFill>
              </a:rPr>
              <a:t>…m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、</a:t>
            </a:r>
            <a:r>
              <a:rPr lang="en-US" altLang="zh-CN" sz="1800" dirty="0" smtClean="0">
                <a:solidFill>
                  <a:schemeClr val="tx1"/>
                </a:solidFill>
              </a:rPr>
              <a:t>P=p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</a:rPr>
              <a:t>…p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]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 marL="2684780" indent="-2684780"/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chemeClr val="accent2"/>
                </a:solidFill>
              </a:rPr>
              <a:t>错误位置的约定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 smtClean="0">
                <a:solidFill>
                  <a:schemeClr val="tx1"/>
                </a:solidFill>
              </a:rPr>
              <a:t>值表示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   </a:t>
            </a:r>
            <a:r>
              <a:rPr lang="zh-CN" altLang="en-US" dirty="0">
                <a:solidFill>
                  <a:srgbClr val="990099"/>
                </a:solidFill>
              </a:rPr>
              <a:t>无 错 </a:t>
            </a:r>
            <a:r>
              <a:rPr lang="zh-CN" altLang="en-US" dirty="0" smtClean="0">
                <a:solidFill>
                  <a:srgbClr val="990099"/>
                </a:solidFill>
              </a:rPr>
              <a:t>误：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>
                <a:solidFill>
                  <a:srgbClr val="990099"/>
                </a:solidFill>
              </a:rPr>
              <a:t>  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>
                <a:solidFill>
                  <a:srgbClr val="990099"/>
                </a:solidFill>
              </a:rPr>
              <a:t>校验</a:t>
            </a:r>
            <a:r>
              <a:rPr lang="zh-CN" altLang="en-US" dirty="0" smtClean="0">
                <a:solidFill>
                  <a:srgbClr val="990099"/>
                </a:solidFill>
              </a:rPr>
              <a:t>位错：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>
                <a:solidFill>
                  <a:srgbClr val="990099"/>
                </a:solidFill>
              </a:rPr>
              <a:t>  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>
                <a:solidFill>
                  <a:srgbClr val="990099"/>
                </a:solidFill>
              </a:rPr>
              <a:t>数据</a:t>
            </a:r>
            <a:r>
              <a:rPr lang="zh-CN" altLang="en-US" dirty="0" smtClean="0">
                <a:solidFill>
                  <a:srgbClr val="990099"/>
                </a:solidFill>
              </a:rPr>
              <a:t>位错：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6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校验</a:t>
            </a:r>
            <a:r>
              <a:rPr lang="zh-CN" altLang="en-US" dirty="0">
                <a:solidFill>
                  <a:schemeClr val="accent2"/>
                </a:solidFill>
              </a:rPr>
              <a:t>码字的组成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712" name="Text Box 544"/>
          <p:cNvSpPr txBox="1">
            <a:spLocks noChangeArrowheads="1"/>
          </p:cNvSpPr>
          <p:nvPr/>
        </p:nvSpPr>
        <p:spPr bwMode="auto">
          <a:xfrm>
            <a:off x="3347740" y="2698660"/>
            <a:ext cx="453662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按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</a:rPr>
              <a:t>错误</a:t>
            </a:r>
            <a:r>
              <a:rPr lang="zh-CN" altLang="en-US" dirty="0" smtClean="0">
                <a:solidFill>
                  <a:schemeClr val="tx1"/>
                </a:solidFill>
              </a:rPr>
              <a:t>位置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zh-CN" altLang="en-US" dirty="0" smtClean="0">
                <a:solidFill>
                  <a:schemeClr val="tx1"/>
                </a:solidFill>
              </a:rPr>
              <a:t>值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”</a:t>
            </a:r>
            <a:r>
              <a:rPr lang="zh-CN" altLang="en-US" dirty="0" smtClean="0">
                <a:solidFill>
                  <a:schemeClr val="tx1"/>
                </a:solidFill>
              </a:rPr>
              <a:t>规则排列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7777" name="Group 609"/>
          <p:cNvGraphicFramePr>
            <a:graphicFrameLocks noGrp="1"/>
          </p:cNvGraphicFramePr>
          <p:nvPr/>
        </p:nvGraphicFramePr>
        <p:xfrm>
          <a:off x="1331515" y="3274725"/>
          <a:ext cx="7632973" cy="658332"/>
        </p:xfrm>
        <a:graphic>
          <a:graphicData uri="http://schemas.openxmlformats.org/drawingml/2006/table">
            <a:tbl>
              <a:tblPr/>
              <a:tblGrid>
                <a:gridCol w="719410"/>
                <a:gridCol w="433388"/>
                <a:gridCol w="503237"/>
                <a:gridCol w="431800"/>
                <a:gridCol w="431800"/>
                <a:gridCol w="431800"/>
                <a:gridCol w="431800"/>
                <a:gridCol w="433388"/>
                <a:gridCol w="431800"/>
                <a:gridCol w="431800"/>
                <a:gridCol w="431800"/>
                <a:gridCol w="503237"/>
                <a:gridCol w="504825"/>
                <a:gridCol w="504825"/>
                <a:gridCol w="503238"/>
                <a:gridCol w="504825"/>
              </a:tblGrid>
              <a:tr h="310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sp>
        <p:nvSpPr>
          <p:cNvPr id="7778" name="AutoShape 6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79" name="AutoShape 6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7308304" y="1690548"/>
            <a:ext cx="1296144" cy="1562110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3" name="Text Box 543"/>
          <p:cNvSpPr txBox="1">
            <a:spLocks noChangeArrowheads="1"/>
          </p:cNvSpPr>
          <p:nvPr/>
        </p:nvSpPr>
        <p:spPr bwMode="auto">
          <a:xfrm>
            <a:off x="2771800" y="1261985"/>
            <a:ext cx="604879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 smtClean="0">
                <a:solidFill>
                  <a:schemeClr val="tx1"/>
                </a:solidFill>
              </a:rPr>
              <a:t>0000               </a:t>
            </a:r>
            <a:r>
              <a:rPr lang="en-US" altLang="zh-CN" sz="1800" dirty="0" smtClean="0">
                <a:solidFill>
                  <a:srgbClr val="C00000"/>
                </a:solidFill>
              </a:rPr>
              <a:t>→</a:t>
            </a:r>
            <a:r>
              <a:rPr lang="zh-CN" altLang="en-US" sz="1800" dirty="0" smtClean="0">
                <a:solidFill>
                  <a:srgbClr val="C00000"/>
                </a:solidFill>
              </a:rPr>
              <a:t>信息位置</a:t>
            </a:r>
            <a:r>
              <a:rPr lang="zh-CN" altLang="en-US" sz="1800" dirty="0" smtClean="0">
                <a:solidFill>
                  <a:schemeClr val="tx1"/>
                </a:solidFill>
              </a:rPr>
              <a:t>从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开始</a:t>
            </a:r>
            <a:r>
              <a:rPr lang="zh-CN" altLang="en-US" sz="1800" dirty="0" smtClean="0">
                <a:solidFill>
                  <a:schemeClr val="tx1"/>
                </a:solidFill>
              </a:rPr>
              <a:t>编号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 smtClean="0">
                <a:solidFill>
                  <a:schemeClr val="tx1"/>
                </a:solidFill>
              </a:rPr>
              <a:t>0001(p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0010(p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0100(p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1000(p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其余值</a:t>
            </a:r>
            <a:r>
              <a:rPr lang="en-US" altLang="zh-CN" dirty="0">
                <a:solidFill>
                  <a:schemeClr val="tx1"/>
                </a:solidFill>
              </a:rPr>
              <a:t>(≥2</a:t>
            </a:r>
            <a:r>
              <a:rPr lang="zh-CN" altLang="en-US" dirty="0">
                <a:solidFill>
                  <a:schemeClr val="tx1"/>
                </a:solidFill>
              </a:rPr>
              <a:t>个</a:t>
            </a:r>
            <a:r>
              <a:rPr lang="en-US" altLang="zh-CN" dirty="0" err="1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i</a:t>
            </a:r>
            <a:r>
              <a:rPr lang="en-US" altLang="zh-CN" dirty="0" smtClean="0">
                <a:solidFill>
                  <a:schemeClr val="tx1"/>
                </a:solidFill>
              </a:rPr>
              <a:t>=1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  <a:r>
              <a:rPr lang="zh-CN" altLang="en-US" sz="1800" b="0" dirty="0">
                <a:solidFill>
                  <a:srgbClr val="C00000"/>
                </a:solidFill>
              </a:rPr>
              <a:t> </a:t>
            </a:r>
            <a:r>
              <a:rPr lang="zh-CN" altLang="en-US" sz="1800" b="0" dirty="0" smtClean="0">
                <a:solidFill>
                  <a:srgbClr val="C00000"/>
                </a:solidFill>
              </a:rPr>
              <a:t>←</a:t>
            </a:r>
            <a:r>
              <a:rPr lang="zh-CN" altLang="en-US" sz="1800" dirty="0" smtClean="0">
                <a:solidFill>
                  <a:srgbClr val="C00000"/>
                </a:solidFill>
              </a:rPr>
              <a:t>数据更</a:t>
            </a:r>
            <a:r>
              <a:rPr lang="zh-CN" altLang="en-US" sz="1800" dirty="0">
                <a:solidFill>
                  <a:srgbClr val="C00000"/>
                </a:solidFill>
              </a:rPr>
              <a:t>重要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加入</a:t>
            </a:r>
            <a:r>
              <a:rPr lang="zh-CN" altLang="en-US" sz="1800" dirty="0">
                <a:solidFill>
                  <a:schemeClr val="tx1"/>
                </a:solidFill>
              </a:rPr>
              <a:t>组</a:t>
            </a:r>
            <a:r>
              <a:rPr lang="zh-CN" altLang="en-US" sz="1800" dirty="0" smtClean="0">
                <a:solidFill>
                  <a:schemeClr val="tx1"/>
                </a:solidFill>
              </a:rPr>
              <a:t>≥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个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17EA-9EE5-4C23-9573-058B6B8CB93A}" type="slidenum">
              <a:rPr lang="en-US" altLang="zh-CN"/>
            </a:fld>
            <a:endParaRPr lang="en-US" altLang="zh-CN"/>
          </a:p>
        </p:txBody>
      </p:sp>
      <p:sp>
        <p:nvSpPr>
          <p:cNvPr id="380180" name="AutoShape 130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184" name="AutoShape 130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" name="Group 1312"/>
          <p:cNvGraphicFramePr>
            <a:graphicFrameLocks noGrp="1"/>
          </p:cNvGraphicFramePr>
          <p:nvPr/>
        </p:nvGraphicFramePr>
        <p:xfrm>
          <a:off x="466849" y="3933056"/>
          <a:ext cx="8497639" cy="363060"/>
        </p:xfrm>
        <a:graphic>
          <a:graphicData uri="http://schemas.openxmlformats.org/drawingml/2006/table">
            <a:tbl>
              <a:tblPr/>
              <a:tblGrid>
                <a:gridCol w="972889"/>
                <a:gridCol w="503238"/>
                <a:gridCol w="504825"/>
                <a:gridCol w="503237"/>
                <a:gridCol w="504825"/>
                <a:gridCol w="503238"/>
                <a:gridCol w="504825"/>
                <a:gridCol w="517525"/>
                <a:gridCol w="450850"/>
                <a:gridCol w="542925"/>
                <a:gridCol w="504825"/>
                <a:gridCol w="503237"/>
                <a:gridCol w="504825"/>
                <a:gridCol w="503238"/>
                <a:gridCol w="504825"/>
                <a:gridCol w="468312"/>
              </a:tblGrid>
              <a:tr h="36306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故障字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 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Group 1312"/>
          <p:cNvGraphicFramePr>
            <a:graphicFrameLocks noGrp="1"/>
          </p:cNvGraphicFramePr>
          <p:nvPr/>
        </p:nvGraphicFramePr>
        <p:xfrm>
          <a:off x="466849" y="1700808"/>
          <a:ext cx="8497639" cy="2148516"/>
        </p:xfrm>
        <a:graphic>
          <a:graphicData uri="http://schemas.openxmlformats.org/drawingml/2006/table">
            <a:tbl>
              <a:tblPr/>
              <a:tblGrid>
                <a:gridCol w="972889"/>
                <a:gridCol w="503238"/>
                <a:gridCol w="504825"/>
                <a:gridCol w="503237"/>
                <a:gridCol w="504825"/>
                <a:gridCol w="503238"/>
                <a:gridCol w="504825"/>
                <a:gridCol w="517525"/>
                <a:gridCol w="450850"/>
                <a:gridCol w="542925"/>
                <a:gridCol w="504825"/>
                <a:gridCol w="503237"/>
                <a:gridCol w="504825"/>
                <a:gridCol w="503238"/>
                <a:gridCol w="504825"/>
                <a:gridCol w="468312"/>
              </a:tblGrid>
              <a:tr h="216024">
                <a:tc row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位置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36000" marT="144000" marB="180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1602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0350">
                <a:tc vMerge="1"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Text Box 1295"/>
          <p:cNvSpPr txBox="1">
            <a:spLocks noChangeArrowheads="1"/>
          </p:cNvSpPr>
          <p:nvPr/>
        </p:nvSpPr>
        <p:spPr bwMode="auto">
          <a:xfrm>
            <a:off x="179388" y="4335255"/>
            <a:ext cx="8785225" cy="20460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检验位的编码</a:t>
            </a:r>
            <a:r>
              <a:rPr lang="en-US" altLang="zh-CN" dirty="0" smtClean="0">
                <a:solidFill>
                  <a:schemeClr val="accent2"/>
                </a:solidFill>
              </a:rPr>
              <a:t>—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缺省为偶校验方式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14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9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8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en-US" altLang="zh-CN" dirty="0">
                <a:solidFill>
                  <a:schemeClr val="tx1"/>
                </a:solidFill>
              </a:rPr>
              <a:t>(mod 2)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9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8</a:t>
            </a:r>
            <a:r>
              <a:rPr lang="en-US" altLang="zh-CN" baseline="-18000" dirty="0"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(mod 2)</a:t>
            </a:r>
            <a:r>
              <a:rPr lang="en-US" altLang="zh-CN" dirty="0">
                <a:solidFill>
                  <a:srgbClr val="990099"/>
                </a:solidFill>
              </a:rPr>
              <a:t> </a:t>
            </a:r>
            <a:endParaRPr lang="en-US" altLang="zh-CN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10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10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chemeClr val="tx1"/>
                </a:solidFill>
              </a:rPr>
              <a:t>(mod 2)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11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</a:rPr>
              <a:t>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9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18000" dirty="0">
                <a:solidFill>
                  <a:schemeClr val="tx1"/>
                </a:solidFill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     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  (mod 2)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" name="Text Box 418"/>
          <p:cNvSpPr txBox="1">
            <a:spLocks noChangeArrowheads="1"/>
          </p:cNvSpPr>
          <p:nvPr/>
        </p:nvSpPr>
        <p:spPr bwMode="auto">
          <a:xfrm>
            <a:off x="179388" y="400478"/>
            <a:ext cx="633682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accent2"/>
                </a:solidFill>
              </a:rPr>
              <a:t>    数据的分组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有</a:t>
            </a:r>
            <a:r>
              <a:rPr lang="en-US" altLang="zh-CN" dirty="0" smtClean="0">
                <a:solidFill>
                  <a:schemeClr val="tx1"/>
                </a:solidFill>
              </a:rPr>
              <a:t>k</a:t>
            </a:r>
            <a:r>
              <a:rPr lang="zh-CN" altLang="en-US" dirty="0" smtClean="0">
                <a:solidFill>
                  <a:schemeClr val="tx1"/>
                </a:solidFill>
              </a:rPr>
              <a:t>个奇偶校验组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aphicFrame>
        <p:nvGraphicFramePr>
          <p:cNvPr id="13" name="Group 1312"/>
          <p:cNvGraphicFramePr>
            <a:graphicFrameLocks noGrp="1"/>
          </p:cNvGraphicFramePr>
          <p:nvPr/>
        </p:nvGraphicFramePr>
        <p:xfrm>
          <a:off x="1476771" y="2564904"/>
          <a:ext cx="6551613" cy="1241280"/>
        </p:xfrm>
        <a:graphic>
          <a:graphicData uri="http://schemas.openxmlformats.org/drawingml/2006/table">
            <a:tbl>
              <a:tblPr/>
              <a:tblGrid>
                <a:gridCol w="503238"/>
                <a:gridCol w="504825"/>
                <a:gridCol w="503237"/>
                <a:gridCol w="504825"/>
                <a:gridCol w="503238"/>
                <a:gridCol w="504825"/>
                <a:gridCol w="517525"/>
                <a:gridCol w="450850"/>
                <a:gridCol w="542925"/>
                <a:gridCol w="504825"/>
                <a:gridCol w="503237"/>
                <a:gridCol w="504825"/>
                <a:gridCol w="503238"/>
              </a:tblGrid>
              <a:tr h="198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418"/>
          <p:cNvSpPr txBox="1">
            <a:spLocks noChangeArrowheads="1"/>
          </p:cNvSpPr>
          <p:nvPr/>
        </p:nvSpPr>
        <p:spPr bwMode="auto">
          <a:xfrm>
            <a:off x="1187623" y="836712"/>
            <a:ext cx="7848873" cy="877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>
                <a:solidFill>
                  <a:schemeClr val="tx1"/>
                </a:solidFill>
              </a:rPr>
              <a:t>位置为</a:t>
            </a:r>
            <a:r>
              <a:rPr lang="en-US" altLang="zh-CN" dirty="0">
                <a:solidFill>
                  <a:schemeClr val="tx1"/>
                </a:solidFill>
              </a:rPr>
              <a:t>H(=</a:t>
            </a:r>
            <a:r>
              <a:rPr lang="en-US" altLang="zh-CN" dirty="0" err="1" smtClean="0">
                <a:solidFill>
                  <a:schemeClr val="tx1"/>
                </a:solidFill>
              </a:rPr>
              <a:t>h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k</a:t>
            </a:r>
            <a:r>
              <a:rPr lang="en-US" altLang="zh-CN" dirty="0" smtClean="0">
                <a:solidFill>
                  <a:schemeClr val="tx1"/>
                </a:solidFill>
              </a:rPr>
              <a:t>…h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的数据位，加入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i="1" dirty="0" err="1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|h</a:t>
            </a:r>
            <a:r>
              <a:rPr lang="en-US" altLang="zh-CN" i="1" baseline="-16000" dirty="0" err="1">
                <a:solidFill>
                  <a:schemeClr val="tx1"/>
                </a:solidFill>
                <a:latin typeface="+mn-lt"/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}</a:t>
            </a:r>
            <a:r>
              <a:rPr lang="zh-CN" altLang="en-US" dirty="0" smtClean="0">
                <a:solidFill>
                  <a:schemeClr val="tx1"/>
                </a:solidFill>
              </a:rPr>
              <a:t>的校验组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≥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个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>
              <a:lnSpc>
                <a:spcPct val="105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                      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2000" dirty="0" smtClean="0">
                <a:solidFill>
                  <a:schemeClr val="tx1"/>
                </a:solidFill>
              </a:rPr>
              <a:t>→</a:t>
            </a:r>
            <a:r>
              <a:rPr lang="zh-CN" altLang="en-US" sz="2000" dirty="0">
                <a:solidFill>
                  <a:schemeClr val="tx1"/>
                </a:solidFill>
              </a:rPr>
              <a:t>有错误时</a:t>
            </a:r>
            <a:r>
              <a:rPr lang="zh-CN" altLang="en-US" sz="2000" dirty="0" smtClean="0">
                <a:solidFill>
                  <a:srgbClr val="990099"/>
                </a:solidFill>
              </a:rPr>
              <a:t>→</a:t>
            </a:r>
            <a:r>
              <a:rPr lang="zh-CN" altLang="en-US" sz="2000" b="0" dirty="0" smtClean="0">
                <a:solidFill>
                  <a:srgbClr val="990099"/>
                </a:solidFill>
              </a:rPr>
              <a:t>┴</a:t>
            </a:r>
            <a:r>
              <a:rPr lang="zh-CN" altLang="en-US" sz="2000" dirty="0" smtClean="0">
                <a:solidFill>
                  <a:srgbClr val="990099"/>
                </a:solidFill>
              </a:rPr>
              <a:t>→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</a:t>
            </a:r>
            <a:r>
              <a:rPr lang="en-US" altLang="zh-CN" sz="2000" i="1" baseline="-18000" dirty="0" err="1" smtClean="0">
                <a:solidFill>
                  <a:schemeClr val="tx1"/>
                </a:solidFill>
                <a:latin typeface="+mn-lt"/>
              </a:rPr>
              <a:t>i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rgbClr val="990099"/>
                </a:solidFill>
              </a:rPr>
              <a:t>→</a:t>
            </a:r>
            <a:r>
              <a:rPr lang="zh-CN" altLang="en-US" sz="2000" dirty="0" smtClean="0">
                <a:solidFill>
                  <a:schemeClr val="tx1"/>
                </a:solidFill>
              </a:rPr>
              <a:t>故障字</a:t>
            </a:r>
            <a:r>
              <a:rPr lang="en-US" altLang="zh-CN" sz="2000" dirty="0" smtClean="0">
                <a:solidFill>
                  <a:schemeClr val="tx1"/>
                </a:solidFill>
              </a:rPr>
              <a:t>S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H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179388" y="1410944"/>
            <a:ext cx="8785225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1698625" indent="-1698625"/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求字符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ASCII</a:t>
            </a:r>
            <a:r>
              <a:rPr lang="zh-CN" altLang="en-US" dirty="0">
                <a:solidFill>
                  <a:schemeClr val="tx1"/>
                </a:solidFill>
              </a:rPr>
              <a:t>码</a:t>
            </a:r>
            <a:r>
              <a:rPr lang="en-US" altLang="zh-CN" dirty="0">
                <a:solidFill>
                  <a:schemeClr val="tx1"/>
                </a:solidFill>
              </a:rPr>
              <a:t>(m</a:t>
            </a:r>
            <a:r>
              <a:rPr lang="en-US" altLang="zh-CN" baseline="-20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…m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=1100010)</a:t>
            </a:r>
            <a:r>
              <a:rPr lang="zh-CN" altLang="en-US" dirty="0">
                <a:solidFill>
                  <a:schemeClr val="tx1"/>
                </a:solidFill>
              </a:rPr>
              <a:t>的海明偶校验</a:t>
            </a:r>
            <a:r>
              <a:rPr lang="zh-CN" altLang="en-US" dirty="0" smtClean="0">
                <a:solidFill>
                  <a:schemeClr val="tx1"/>
                </a:solidFill>
              </a:rPr>
              <a:t>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73B3-75B0-4384-8DFD-1F4D35A29530}" type="slidenum">
              <a:rPr lang="en-US" altLang="zh-CN"/>
            </a:fld>
            <a:endParaRPr lang="en-US" altLang="zh-CN"/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1259507" y="1916832"/>
            <a:ext cx="7705105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∵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＞</a:t>
            </a:r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4  ∴</a:t>
            </a:r>
            <a:r>
              <a:rPr lang="zh-CN" altLang="en-US" dirty="0">
                <a:solidFill>
                  <a:schemeClr val="tx1"/>
                </a:solidFill>
              </a:rPr>
              <a:t>校验位</a:t>
            </a:r>
            <a:r>
              <a:rPr lang="zh-CN" altLang="en-US" dirty="0" smtClean="0">
                <a:solidFill>
                  <a:schemeClr val="tx1"/>
                </a:solidFill>
              </a:rPr>
              <a:t>位数＝</a:t>
            </a:r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按</a:t>
            </a:r>
            <a:r>
              <a:rPr lang="zh-CN" altLang="en-US" dirty="0">
                <a:solidFill>
                  <a:schemeClr val="tx1"/>
                </a:solidFill>
              </a:rPr>
              <a:t>故障字约定，校验码为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/>
              <a:t>p</a:t>
            </a:r>
            <a:r>
              <a:rPr lang="en-US" altLang="zh-CN" baseline="-18000" dirty="0"/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/>
              <a:t>p</a:t>
            </a:r>
            <a:r>
              <a:rPr lang="en-US" altLang="zh-CN" baseline="-18000" dirty="0"/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179388" y="358431"/>
            <a:ext cx="8785225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4—</a:t>
            </a:r>
            <a:r>
              <a:rPr lang="zh-CN" altLang="en-US" dirty="0">
                <a:solidFill>
                  <a:schemeClr val="tx1"/>
                </a:solidFill>
              </a:rPr>
              <a:t>若数据有</a:t>
            </a:r>
            <a:r>
              <a:rPr lang="en-US" altLang="zh-CN" dirty="0">
                <a:solidFill>
                  <a:schemeClr val="tx1"/>
                </a:solidFill>
              </a:rPr>
              <a:t>16</a:t>
            </a:r>
            <a:r>
              <a:rPr lang="zh-CN" altLang="en-US" dirty="0">
                <a:solidFill>
                  <a:schemeClr val="tx1"/>
                </a:solidFill>
              </a:rPr>
              <a:t>位，则海明校验码的校验位最少为多少位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1259508" y="863501"/>
            <a:ext cx="7200924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≥</a:t>
            </a:r>
            <a:r>
              <a:rPr lang="en-US" altLang="zh-CN" dirty="0" smtClean="0">
                <a:solidFill>
                  <a:schemeClr val="tx1"/>
                </a:solidFill>
              </a:rPr>
              <a:t>16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最小为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＞</a:t>
            </a:r>
            <a:r>
              <a:rPr lang="en-US" altLang="zh-CN" dirty="0">
                <a:solidFill>
                  <a:schemeClr val="tx1"/>
                </a:solidFill>
              </a:rPr>
              <a:t>21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0938" name="Text Box 10"/>
          <p:cNvSpPr txBox="1">
            <a:spLocks noChangeArrowheads="1"/>
          </p:cNvSpPr>
          <p:nvPr/>
        </p:nvSpPr>
        <p:spPr bwMode="auto">
          <a:xfrm>
            <a:off x="179388" y="4842644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/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偶</a:t>
            </a:r>
            <a:r>
              <a:rPr lang="zh-CN" altLang="en-US" dirty="0">
                <a:solidFill>
                  <a:schemeClr val="tx1"/>
                </a:solidFill>
              </a:rPr>
              <a:t>校验</a:t>
            </a:r>
            <a:r>
              <a:rPr lang="zh-CN" altLang="en-US" dirty="0" smtClean="0">
                <a:solidFill>
                  <a:schemeClr val="tx1"/>
                </a:solidFill>
              </a:rPr>
              <a:t>码＝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3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2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380940" name="Text Box 12"/>
          <p:cNvSpPr txBox="1">
            <a:spLocks noChangeArrowheads="1"/>
          </p:cNvSpPr>
          <p:nvPr/>
        </p:nvSpPr>
        <p:spPr bwMode="auto">
          <a:xfrm>
            <a:off x="179512" y="2924944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根据数据分组规则</a:t>
            </a:r>
            <a:r>
              <a:rPr lang="zh-CN" altLang="en-US" dirty="0">
                <a:solidFill>
                  <a:schemeClr val="tx1"/>
                </a:solidFill>
              </a:rPr>
              <a:t>，得  </a:t>
            </a:r>
            <a:r>
              <a:rPr lang="zh-CN" altLang="en-US" sz="2000" dirty="0">
                <a:solidFill>
                  <a:schemeClr val="tx1"/>
                </a:solidFill>
              </a:rPr>
              <a:t>（偶校验方式）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  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 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en-US" altLang="zh-CN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    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0958" name="AutoShape 3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0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  <p:bldP spid="380935" grpId="0"/>
      <p:bldP spid="380938" grpId="0"/>
      <p:bldP spid="3809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A9497-1F03-4305-9F4E-E9443314FDA7}" type="slidenum">
              <a:rPr lang="en-US" altLang="zh-CN"/>
            </a:fld>
            <a:endParaRPr lang="en-US" altLang="zh-CN"/>
          </a:p>
        </p:txBody>
      </p:sp>
      <p:sp>
        <p:nvSpPr>
          <p:cNvPr id="381974" name="Text Box 22"/>
          <p:cNvSpPr txBox="1">
            <a:spLocks noChangeArrowheads="1"/>
          </p:cNvSpPr>
          <p:nvPr/>
        </p:nvSpPr>
        <p:spPr bwMode="auto">
          <a:xfrm>
            <a:off x="179388" y="325105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6—</a:t>
            </a:r>
            <a:r>
              <a:rPr lang="zh-CN" altLang="en-US" dirty="0" smtClean="0">
                <a:solidFill>
                  <a:schemeClr val="tx1"/>
                </a:solidFill>
              </a:rPr>
              <a:t>某海</a:t>
            </a:r>
            <a:r>
              <a:rPr lang="zh-CN" altLang="en-US" dirty="0">
                <a:solidFill>
                  <a:schemeClr val="tx1"/>
                </a:solidFill>
              </a:rPr>
              <a:t>明偶校验</a:t>
            </a:r>
            <a:r>
              <a:rPr lang="zh-CN" altLang="en-US" dirty="0" smtClean="0">
                <a:solidFill>
                  <a:schemeClr val="tx1"/>
                </a:solidFill>
              </a:rPr>
              <a:t>码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/>
              <a:t>p</a:t>
            </a:r>
            <a:r>
              <a:rPr lang="en-US" altLang="zh-CN" baseline="-18000" dirty="0"/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/>
              <a:t>p</a:t>
            </a:r>
            <a:r>
              <a:rPr lang="en-US" altLang="zh-CN" baseline="-18000" dirty="0"/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/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/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/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，接收的校验码</a:t>
            </a:r>
            <a:r>
              <a:rPr lang="zh-CN" altLang="en-US" dirty="0">
                <a:solidFill>
                  <a:schemeClr val="tx1"/>
                </a:solidFill>
              </a:rPr>
              <a:t>为①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10</a:t>
            </a:r>
            <a:r>
              <a:rPr lang="zh-CN" altLang="en-US" dirty="0" smtClean="0">
                <a:solidFill>
                  <a:schemeClr val="tx1"/>
                </a:solidFill>
              </a:rPr>
              <a:t> ②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 ③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100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，写出数据校验（检错并</a:t>
            </a:r>
            <a:r>
              <a:rPr lang="zh-CN" altLang="en-US" dirty="0">
                <a:solidFill>
                  <a:schemeClr val="tx1"/>
                </a:solidFill>
              </a:rPr>
              <a:t>纠错</a:t>
            </a:r>
            <a:r>
              <a:rPr lang="zh-CN" altLang="en-US" dirty="0" smtClean="0">
                <a:solidFill>
                  <a:schemeClr val="tx1"/>
                </a:solidFill>
              </a:rPr>
              <a:t>）结果。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>
                <a:solidFill>
                  <a:srgbClr val="990099"/>
                </a:solidFill>
              </a:rPr>
              <a:t>解：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381975" name="Text Box 23"/>
          <p:cNvSpPr txBox="1">
            <a:spLocks noChangeArrowheads="1"/>
          </p:cNvSpPr>
          <p:nvPr/>
        </p:nvSpPr>
        <p:spPr bwMode="auto">
          <a:xfrm>
            <a:off x="1187499" y="1700808"/>
            <a:ext cx="7848997" cy="39010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 smtClean="0">
                <a:solidFill>
                  <a:srgbClr val="990099"/>
                </a:solidFill>
              </a:rPr>
              <a:t>①</a:t>
            </a:r>
            <a:r>
              <a:rPr lang="zh-CN" altLang="en-US" sz="2200" dirty="0" smtClean="0">
                <a:solidFill>
                  <a:schemeClr val="tx1"/>
                </a:solidFill>
              </a:rPr>
              <a:t>接收的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2200" dirty="0" smtClean="0">
                <a:solidFill>
                  <a:schemeClr val="tx1"/>
                </a:solidFill>
              </a:rPr>
              <a:t>可得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0100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  <a:r>
              <a:rPr lang="zh-CN" altLang="en-US" sz="2200" dirty="0" smtClean="0">
                <a:solidFill>
                  <a:schemeClr val="tx1"/>
                </a:solidFill>
              </a:rPr>
              <a:t>，得</a:t>
            </a:r>
            <a:r>
              <a:rPr lang="en-US" altLang="zh-CN" sz="2200" dirty="0" smtClean="0">
                <a:solidFill>
                  <a:schemeClr val="tx1"/>
                </a:solidFill>
              </a:rPr>
              <a:t>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zh-CN" altLang="en-US" sz="2200" dirty="0" smtClean="0">
                <a:solidFill>
                  <a:schemeClr val="tx1"/>
                </a:solidFill>
              </a:rPr>
              <a:t>错误</a:t>
            </a:r>
            <a:r>
              <a:rPr lang="zh-CN" altLang="en-US" sz="2200" dirty="0">
                <a:solidFill>
                  <a:schemeClr val="tx1"/>
                </a:solidFill>
              </a:rPr>
              <a:t>，数据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rgbClr val="C00000"/>
                </a:solidFill>
              </a:rPr>
              <a:t>实际</a:t>
            </a:r>
            <a:r>
              <a:rPr lang="zh-CN" altLang="en-US" sz="2200" dirty="0" smtClean="0">
                <a:solidFill>
                  <a:schemeClr val="tx1"/>
                </a:solidFill>
              </a:rPr>
              <a:t>如此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②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0001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有错误，数据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</a:t>
            </a:r>
            <a:r>
              <a:rPr lang="en-US" altLang="zh-CN" sz="22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如此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③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1101000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0110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有错误？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为位置</a:t>
            </a:r>
            <a:r>
              <a:rPr lang="en-US" altLang="zh-CN" sz="2200" dirty="0">
                <a:solidFill>
                  <a:schemeClr val="tx1"/>
                </a:solidFill>
              </a:rPr>
              <a:t>7(m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及位置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错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错判原因</a:t>
            </a:r>
            <a:r>
              <a:rPr lang="zh-CN" altLang="en-US" sz="2200" dirty="0">
                <a:solidFill>
                  <a:schemeClr val="accent2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SEC</a:t>
            </a:r>
            <a:r>
              <a:rPr lang="zh-CN" altLang="en-US" sz="2200" dirty="0">
                <a:solidFill>
                  <a:schemeClr val="tx1"/>
                </a:solidFill>
              </a:rPr>
              <a:t>只能</a:t>
            </a:r>
            <a:r>
              <a:rPr lang="zh-CN" altLang="en-US" sz="2200" u="sng" dirty="0">
                <a:solidFill>
                  <a:schemeClr val="tx1"/>
                </a:solidFill>
              </a:rPr>
              <a:t>纠正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>
                <a:solidFill>
                  <a:schemeClr val="tx1"/>
                </a:solidFill>
              </a:rPr>
              <a:t>，或</a:t>
            </a:r>
            <a:r>
              <a:rPr lang="zh-CN" altLang="en-US" sz="2200" u="sng" dirty="0">
                <a:solidFill>
                  <a:schemeClr val="tx1"/>
                </a:solidFill>
              </a:rPr>
              <a:t>检测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 smtClean="0">
                <a:solidFill>
                  <a:schemeClr val="tx1"/>
                </a:solidFill>
              </a:rPr>
              <a:t>！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6" name="Text Box 1299"/>
          <p:cNvSpPr txBox="1">
            <a:spLocks noChangeArrowheads="1"/>
          </p:cNvSpPr>
          <p:nvPr/>
        </p:nvSpPr>
        <p:spPr bwMode="auto">
          <a:xfrm>
            <a:off x="179389" y="5445224"/>
            <a:ext cx="208835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校验方式：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*应用：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9" name="Text Box 1299"/>
          <p:cNvSpPr txBox="1">
            <a:spLocks noChangeArrowheads="1"/>
          </p:cNvSpPr>
          <p:nvPr/>
        </p:nvSpPr>
        <p:spPr bwMode="auto">
          <a:xfrm>
            <a:off x="1475656" y="5445224"/>
            <a:ext cx="741682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    需并行校验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接收完才求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1800" dirty="0" smtClean="0">
                <a:solidFill>
                  <a:schemeClr val="tx1"/>
                </a:solidFill>
              </a:rPr>
              <a:t>、用</a:t>
            </a:r>
            <a:r>
              <a:rPr lang="zh-CN" altLang="en-US" sz="1800" u="sng" dirty="0">
                <a:solidFill>
                  <a:schemeClr val="tx1"/>
                </a:solidFill>
              </a:rPr>
              <a:t>译码器</a:t>
            </a:r>
            <a:r>
              <a:rPr lang="zh-CN" altLang="en-US" sz="1800" dirty="0">
                <a:solidFill>
                  <a:schemeClr val="tx1"/>
                </a:solidFill>
              </a:rPr>
              <a:t>纠错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常用于</a:t>
            </a:r>
            <a:r>
              <a:rPr lang="zh-CN" altLang="en-US" u="sng" dirty="0" smtClean="0">
                <a:solidFill>
                  <a:srgbClr val="990099"/>
                </a:solidFill>
              </a:rPr>
              <a:t>并行传输、存取</a:t>
            </a:r>
            <a:r>
              <a:rPr lang="zh-CN" altLang="en-US" dirty="0">
                <a:solidFill>
                  <a:schemeClr val="tx1"/>
                </a:solidFill>
              </a:rPr>
              <a:t>方面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出错概率小、可纠错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156176" y="1628800"/>
            <a:ext cx="2520000" cy="108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5 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1800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 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07"/>
          <p:cNvSpPr txBox="1">
            <a:spLocks noChangeArrowheads="1"/>
          </p:cNvSpPr>
          <p:nvPr/>
        </p:nvSpPr>
        <p:spPr bwMode="auto">
          <a:xfrm>
            <a:off x="179513" y="1916832"/>
            <a:ext cx="2952328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校验原理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校验码的组成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 校验位的编码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179388" y="5157192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en-US" altLang="zh-CN" sz="2200" dirty="0" smtClean="0">
                <a:solidFill>
                  <a:srgbClr val="990099"/>
                </a:solidFill>
              </a:rPr>
              <a:t> </a:t>
            </a: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>
                <a:solidFill>
                  <a:srgbClr val="990099"/>
                </a:solidFill>
              </a:rPr>
              <a:t>7—</a:t>
            </a:r>
            <a:r>
              <a:rPr lang="zh-CN" altLang="en-US" sz="2200" dirty="0">
                <a:solidFill>
                  <a:schemeClr val="tx1"/>
                </a:solidFill>
              </a:rPr>
              <a:t>已知</a:t>
            </a:r>
            <a:r>
              <a:rPr lang="en-US" altLang="zh-CN" sz="2200" dirty="0">
                <a:solidFill>
                  <a:schemeClr val="tx1"/>
                </a:solidFill>
              </a:rPr>
              <a:t>M(X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G(X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X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3</a:t>
            </a:r>
            <a:r>
              <a:rPr lang="en-US" altLang="zh-CN" sz="2200" dirty="0" smtClean="0">
                <a:solidFill>
                  <a:schemeClr val="tx1"/>
                </a:solidFill>
              </a:rPr>
              <a:t>+X+1</a:t>
            </a:r>
            <a:r>
              <a:rPr lang="zh-CN" altLang="en-US" sz="2200" dirty="0">
                <a:solidFill>
                  <a:schemeClr val="tx1"/>
                </a:solidFill>
              </a:rPr>
              <a:t>，求其</a:t>
            </a:r>
            <a:r>
              <a:rPr lang="en-US" altLang="zh-CN" sz="2200" dirty="0">
                <a:solidFill>
                  <a:schemeClr val="tx1"/>
                </a:solidFill>
              </a:rPr>
              <a:t>CRC</a:t>
            </a:r>
            <a:r>
              <a:rPr lang="zh-CN" altLang="en-US" sz="2200" dirty="0" smtClean="0">
                <a:solidFill>
                  <a:schemeClr val="tx1"/>
                </a:solidFill>
              </a:rPr>
              <a:t>码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rgbClr val="990099"/>
                </a:solidFill>
              </a:rPr>
              <a:t>解</a:t>
            </a:r>
            <a:r>
              <a:rPr lang="zh-CN" altLang="en-US" sz="2200" dirty="0">
                <a:solidFill>
                  <a:srgbClr val="990099"/>
                </a:solidFill>
              </a:rPr>
              <a:t>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7"/>
          <p:cNvSpPr txBox="1">
            <a:spLocks noChangeArrowheads="1"/>
          </p:cNvSpPr>
          <p:nvPr/>
        </p:nvSpPr>
        <p:spPr bwMode="auto">
          <a:xfrm>
            <a:off x="179388" y="367496"/>
            <a:ext cx="8798215" cy="497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、循环冗余校验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Cyclic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</a:rPr>
              <a:t>Redundancy 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</a:rPr>
              <a:t>Check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CRC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码   </a:t>
            </a:r>
            <a:r>
              <a:rPr lang="zh-CN" altLang="en-US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不考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2051719" y="1916832"/>
            <a:ext cx="6925883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编码时使</a:t>
            </a:r>
            <a:r>
              <a:rPr lang="en-US" altLang="zh-CN" dirty="0" smtClean="0">
                <a:solidFill>
                  <a:schemeClr val="tx1"/>
                </a:solidFill>
              </a:rPr>
              <a:t>CRC</a:t>
            </a:r>
            <a:r>
              <a:rPr lang="zh-CN" altLang="en-US" dirty="0">
                <a:solidFill>
                  <a:schemeClr val="tx1"/>
                </a:solidFill>
              </a:rPr>
              <a:t>码</a:t>
            </a:r>
            <a:r>
              <a:rPr lang="zh-CN" altLang="en-US" dirty="0" smtClean="0">
                <a:solidFill>
                  <a:schemeClr val="tx1"/>
                </a:solidFill>
              </a:rPr>
              <a:t>能被</a:t>
            </a:r>
            <a:r>
              <a:rPr lang="en-US" altLang="zh-CN" dirty="0">
                <a:solidFill>
                  <a:schemeClr val="tx1"/>
                </a:solidFill>
              </a:rPr>
              <a:t>G(X)</a:t>
            </a:r>
            <a:r>
              <a:rPr lang="zh-CN" altLang="en-US" u="sng" dirty="0" smtClean="0">
                <a:solidFill>
                  <a:srgbClr val="990099"/>
                </a:solidFill>
              </a:rPr>
              <a:t>整除</a:t>
            </a:r>
            <a:r>
              <a:rPr lang="zh-CN" altLang="en-US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←模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除法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只关心余数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dirty="0" smtClean="0">
                <a:solidFill>
                  <a:schemeClr val="tx1"/>
                </a:solidFill>
              </a:rPr>
              <a:t>CRC</a:t>
            </a:r>
            <a:r>
              <a:rPr lang="zh-CN" altLang="en-US" dirty="0" smtClean="0">
                <a:solidFill>
                  <a:schemeClr val="tx1"/>
                </a:solidFill>
              </a:rPr>
              <a:t>码除以</a:t>
            </a:r>
            <a:r>
              <a:rPr lang="en-US" altLang="zh-CN" dirty="0" smtClean="0">
                <a:solidFill>
                  <a:schemeClr val="tx1"/>
                </a:solidFill>
              </a:rPr>
              <a:t>G(X)</a:t>
            </a:r>
            <a:r>
              <a:rPr lang="zh-CN" altLang="en-US" dirty="0" smtClean="0">
                <a:solidFill>
                  <a:schemeClr val="tx1"/>
                </a:solidFill>
              </a:rPr>
              <a:t>后的</a:t>
            </a:r>
            <a:r>
              <a:rPr lang="zh-CN" altLang="en-US" dirty="0" smtClean="0">
                <a:solidFill>
                  <a:srgbClr val="990099"/>
                </a:solidFill>
              </a:rPr>
              <a:t>余数</a:t>
            </a:r>
            <a:r>
              <a:rPr lang="zh-CN" altLang="en-US" dirty="0" smtClean="0">
                <a:solidFill>
                  <a:schemeClr val="tx1"/>
                </a:solidFill>
              </a:rPr>
              <a:t>进行校验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0" name="Group 13"/>
          <p:cNvGrpSpPr/>
          <p:nvPr/>
        </p:nvGrpSpPr>
        <p:grpSpPr bwMode="auto">
          <a:xfrm>
            <a:off x="2843758" y="2997647"/>
            <a:ext cx="3168650" cy="287337"/>
            <a:chOff x="1746" y="2841"/>
            <a:chExt cx="1996" cy="181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746" y="2841"/>
              <a:ext cx="1089" cy="18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数据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m</a:t>
              </a:r>
              <a:r>
                <a:rPr lang="en-US" altLang="zh-CN" sz="1800" baseline="-18000" dirty="0" err="1" smtClean="0">
                  <a:solidFill>
                    <a:schemeClr val="tx1"/>
                  </a:solidFill>
                </a:rPr>
                <a:t>n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…m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835" y="2841"/>
              <a:ext cx="907" cy="181"/>
            </a:xfrm>
            <a:prstGeom prst="rect">
              <a:avLst/>
            </a:prstGeom>
            <a:solidFill>
              <a:srgbClr val="FFCC99">
                <a:alpha val="6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校验位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r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…r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Rectangle 24"/>
          <p:cNvSpPr>
            <a:spLocks noChangeArrowheads="1"/>
          </p:cNvSpPr>
          <p:nvPr/>
        </p:nvSpPr>
        <p:spPr bwMode="auto">
          <a:xfrm>
            <a:off x="4716016" y="4509120"/>
            <a:ext cx="1368152" cy="288000"/>
          </a:xfrm>
          <a:prstGeom prst="rect">
            <a:avLst/>
          </a:prstGeom>
          <a:solidFill>
            <a:srgbClr val="CCFFFF"/>
          </a:solidFill>
          <a:ln w="15875" algn="ctr">
            <a:solidFill>
              <a:srgbClr val="CC3300"/>
            </a:solidFill>
            <a:prstDash val="sysDot"/>
            <a:miter lim="800000"/>
          </a:ln>
          <a:effectLst/>
        </p:spPr>
        <p:txBody>
          <a:bodyPr anchor="ctr">
            <a:noAutofit/>
          </a:bodyPr>
          <a:lstStyle/>
          <a:p>
            <a:endParaRPr lang="zh-CN" altLang="en-US"/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1115616" y="3217367"/>
            <a:ext cx="7861987" cy="20344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            </a:t>
            </a:r>
            <a:r>
              <a:rPr lang="en-US" altLang="zh-CN" spc="-70" dirty="0" err="1" smtClean="0">
                <a:solidFill>
                  <a:schemeClr val="tx1"/>
                </a:solidFill>
              </a:rPr>
              <a:t>r</a:t>
            </a:r>
            <a:r>
              <a:rPr lang="en-US" altLang="zh-CN" spc="-70" baseline="-18000" dirty="0" err="1" smtClean="0">
                <a:solidFill>
                  <a:schemeClr val="tx1"/>
                </a:solidFill>
              </a:rPr>
              <a:t>k</a:t>
            </a:r>
            <a:r>
              <a:rPr lang="en-US" altLang="zh-CN" spc="-70" dirty="0" smtClean="0">
                <a:solidFill>
                  <a:schemeClr val="tx1"/>
                </a:solidFill>
              </a:rPr>
              <a:t>…r</a:t>
            </a:r>
            <a:r>
              <a:rPr lang="en-US" altLang="zh-CN" spc="-7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pc="-70" dirty="0">
                <a:solidFill>
                  <a:schemeClr val="tx1"/>
                </a:solidFill>
              </a:rPr>
              <a:t>＝</a:t>
            </a:r>
            <a:r>
              <a:rPr lang="en-US" altLang="zh-CN" spc="-70" dirty="0">
                <a:solidFill>
                  <a:schemeClr val="tx1"/>
                </a:solidFill>
              </a:rPr>
              <a:t>R(X)</a:t>
            </a:r>
            <a:r>
              <a:rPr lang="zh-CN" altLang="en-US" spc="-70" dirty="0">
                <a:solidFill>
                  <a:schemeClr val="tx1"/>
                </a:solidFill>
              </a:rPr>
              <a:t>＝</a:t>
            </a:r>
            <a:r>
              <a:rPr lang="en-US" altLang="zh-CN" spc="-70" dirty="0">
                <a:solidFill>
                  <a:schemeClr val="tx1"/>
                </a:solidFill>
              </a:rPr>
              <a:t>(</a:t>
            </a:r>
            <a:r>
              <a:rPr lang="en-US" altLang="zh-CN" spc="-70" dirty="0" err="1">
                <a:solidFill>
                  <a:schemeClr val="tx1"/>
                </a:solidFill>
              </a:rPr>
              <a:t>m</a:t>
            </a:r>
            <a:r>
              <a:rPr lang="en-US" altLang="zh-CN" spc="-7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pc="-70" dirty="0">
                <a:solidFill>
                  <a:schemeClr val="tx1"/>
                </a:solidFill>
              </a:rPr>
              <a:t>…m</a:t>
            </a:r>
            <a:r>
              <a:rPr lang="en-US" altLang="zh-CN" spc="-70" baseline="-18000" dirty="0">
                <a:solidFill>
                  <a:schemeClr val="tx1"/>
                </a:solidFill>
              </a:rPr>
              <a:t>1</a:t>
            </a:r>
            <a:r>
              <a:rPr lang="en-US" altLang="zh-CN" spc="-70" dirty="0">
                <a:solidFill>
                  <a:schemeClr val="tx1"/>
                </a:solidFill>
              </a:rPr>
              <a:t>&lt;&lt;k</a:t>
            </a:r>
            <a:r>
              <a:rPr lang="en-US" altLang="zh-CN" spc="-70" dirty="0" smtClean="0">
                <a:solidFill>
                  <a:schemeClr val="tx1"/>
                </a:solidFill>
              </a:rPr>
              <a:t>)/G(X</a:t>
            </a:r>
            <a:r>
              <a:rPr lang="en-US" altLang="zh-CN" spc="-70" dirty="0">
                <a:solidFill>
                  <a:schemeClr val="tx1"/>
                </a:solidFill>
              </a:rPr>
              <a:t>)</a:t>
            </a:r>
            <a:r>
              <a:rPr lang="zh-CN" altLang="en-US" spc="-70" dirty="0">
                <a:solidFill>
                  <a:schemeClr val="tx1"/>
                </a:solidFill>
              </a:rPr>
              <a:t>的</a:t>
            </a:r>
            <a:r>
              <a:rPr lang="zh-CN" altLang="en-US" u="sng" spc="-70" dirty="0" smtClean="0">
                <a:solidFill>
                  <a:srgbClr val="990099"/>
                </a:solidFill>
              </a:rPr>
              <a:t>余数</a:t>
            </a:r>
            <a:endParaRPr lang="en-US" altLang="zh-CN" u="sng" spc="-70" dirty="0" smtClean="0">
              <a:solidFill>
                <a:srgbClr val="990099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               即 </a:t>
            </a:r>
            <a:r>
              <a:rPr lang="en-US" altLang="zh-CN" sz="2000" dirty="0" smtClean="0">
                <a:solidFill>
                  <a:schemeClr val="tx1"/>
                </a:solidFill>
              </a:rPr>
              <a:t>M(X)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X</a:t>
            </a:r>
            <a:r>
              <a:rPr lang="en-US" altLang="zh-CN" sz="2000" baseline="30000" dirty="0" err="1" smtClean="0">
                <a:solidFill>
                  <a:schemeClr val="tx1"/>
                </a:solidFill>
              </a:rPr>
              <a:t>k</a:t>
            </a:r>
            <a:r>
              <a:rPr lang="en-US" altLang="zh-CN" sz="2000" dirty="0" smtClean="0">
                <a:solidFill>
                  <a:schemeClr val="tx1"/>
                </a:solidFill>
              </a:rPr>
              <a:t>/G(X)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Q(X)……R(X)   (</a:t>
            </a:r>
            <a:r>
              <a:rPr lang="zh-CN" altLang="en-US" sz="2000" dirty="0" smtClean="0">
                <a:solidFill>
                  <a:schemeClr val="tx1"/>
                </a:solidFill>
              </a:rPr>
              <a:t>模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除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b="0" dirty="0" smtClean="0">
              <a:solidFill>
                <a:srgbClr val="990099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zh-CN" altLang="en-US" sz="2200" dirty="0">
                <a:solidFill>
                  <a:srgbClr val="990099"/>
                </a:solidFill>
              </a:rPr>
              <a:t>能</a:t>
            </a:r>
            <a:r>
              <a:rPr lang="zh-CN" altLang="en-US" sz="2200" dirty="0" smtClean="0">
                <a:solidFill>
                  <a:srgbClr val="990099"/>
                </a:solidFill>
              </a:rPr>
              <a:t>整除推导：</a:t>
            </a:r>
            <a:r>
              <a:rPr lang="en-US" altLang="zh-CN" sz="2200" dirty="0" smtClean="0">
                <a:solidFill>
                  <a:srgbClr val="990099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[</a:t>
            </a:r>
            <a:r>
              <a:rPr lang="en-US" altLang="zh-CN" sz="2000" dirty="0">
                <a:solidFill>
                  <a:schemeClr val="tx1"/>
                </a:solidFill>
              </a:rPr>
              <a:t>M(X)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X</a:t>
            </a:r>
            <a:r>
              <a:rPr lang="en-US" altLang="zh-CN" sz="2000" baseline="30000" dirty="0" err="1" smtClean="0">
                <a:solidFill>
                  <a:schemeClr val="tx1"/>
                </a:solidFill>
              </a:rPr>
              <a:t>k</a:t>
            </a:r>
            <a:r>
              <a:rPr lang="zh-CN" altLang="en-US" sz="2000" dirty="0" smtClean="0">
                <a:solidFill>
                  <a:schemeClr val="tx1"/>
                </a:solidFill>
              </a:rPr>
              <a:t>＋</a:t>
            </a:r>
            <a:r>
              <a:rPr lang="en-US" altLang="zh-CN" sz="2000" dirty="0" smtClean="0">
                <a:solidFill>
                  <a:schemeClr val="tx1"/>
                </a:solidFill>
              </a:rPr>
              <a:t>R(X</a:t>
            </a:r>
            <a:r>
              <a:rPr lang="en-US" altLang="zh-CN" sz="2000" dirty="0">
                <a:solidFill>
                  <a:schemeClr val="tx1"/>
                </a:solidFill>
              </a:rPr>
              <a:t>)]/G(X)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   </a:t>
            </a:r>
            <a:r>
              <a:rPr lang="en-US" altLang="zh-CN" sz="2000" spc="1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模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除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{</a:t>
            </a:r>
            <a:r>
              <a:rPr lang="en-US" altLang="zh-CN" sz="2000" dirty="0">
                <a:solidFill>
                  <a:schemeClr val="tx1"/>
                </a:solidFill>
              </a:rPr>
              <a:t>Q(X)G(X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＋</a:t>
            </a:r>
            <a:r>
              <a:rPr lang="en-US" altLang="zh-CN" sz="2000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R(X)</a:t>
            </a:r>
            <a:r>
              <a:rPr lang="zh-CN" altLang="en-US" sz="2000" dirty="0" smtClean="0">
                <a:solidFill>
                  <a:schemeClr val="tx1"/>
                </a:solidFill>
              </a:rPr>
              <a:t>＋</a:t>
            </a:r>
            <a:r>
              <a:rPr lang="en-US" altLang="zh-CN" sz="2000" dirty="0" smtClean="0">
                <a:solidFill>
                  <a:schemeClr val="tx1"/>
                </a:solidFill>
              </a:rPr>
              <a:t>R(X</a:t>
            </a:r>
            <a:r>
              <a:rPr lang="en-US" altLang="zh-CN" sz="2000" dirty="0">
                <a:solidFill>
                  <a:schemeClr val="tx1"/>
                </a:solidFill>
              </a:rPr>
              <a:t>)}/G(X) </a:t>
            </a:r>
            <a:r>
              <a:rPr lang="en-US" altLang="zh-CN" sz="2000" dirty="0" smtClean="0">
                <a:solidFill>
                  <a:schemeClr val="tx1"/>
                </a:solidFill>
              </a:rPr>
              <a:t>  (</a:t>
            </a:r>
            <a:r>
              <a:rPr lang="zh-CN" altLang="en-US" sz="2000" dirty="0">
                <a:solidFill>
                  <a:schemeClr val="tx1"/>
                </a:solidFill>
              </a:rPr>
              <a:t>模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除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[</a:t>
            </a:r>
            <a:r>
              <a:rPr lang="en-US" altLang="zh-CN" sz="2000" dirty="0">
                <a:solidFill>
                  <a:schemeClr val="tx1"/>
                </a:solidFill>
              </a:rPr>
              <a:t>Q(X)G(X)]/G(X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Q(X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……0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模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除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1547663" y="5589240"/>
            <a:ext cx="7345065" cy="867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200" dirty="0" smtClean="0">
                <a:solidFill>
                  <a:schemeClr val="tx1"/>
                </a:solidFill>
              </a:rPr>
              <a:t>G(X)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1011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1100</a:t>
            </a:r>
            <a:r>
              <a:rPr lang="en-US" altLang="zh-CN" sz="2200" dirty="0" smtClean="0">
                <a:solidFill>
                  <a:srgbClr val="990099"/>
                </a:solidFill>
              </a:rPr>
              <a:t>000</a:t>
            </a:r>
            <a:r>
              <a:rPr lang="en-US" altLang="zh-CN" sz="2200" dirty="0" smtClean="0">
                <a:solidFill>
                  <a:schemeClr val="tx1"/>
                </a:solidFill>
              </a:rPr>
              <a:t>/1011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1110…010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 smtClean="0">
                <a:solidFill>
                  <a:schemeClr val="tx1"/>
                </a:solidFill>
              </a:rPr>
              <a:t>模</a:t>
            </a:r>
            <a:r>
              <a:rPr lang="en-US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</a:rPr>
              <a:t>除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CRC</a:t>
            </a:r>
            <a:r>
              <a:rPr lang="zh-CN" altLang="en-US" sz="2200" dirty="0" smtClean="0">
                <a:solidFill>
                  <a:schemeClr val="tx1"/>
                </a:solidFill>
              </a:rPr>
              <a:t>码＝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</a:t>
            </a:r>
            <a:r>
              <a:rPr lang="en-US" altLang="zh-CN" sz="2200" dirty="0" smtClean="0">
                <a:solidFill>
                  <a:srgbClr val="990099"/>
                </a:solidFill>
              </a:rPr>
              <a:t>000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rgbClr val="990099"/>
                </a:solidFill>
              </a:rPr>
              <a:t>010</a:t>
            </a:r>
            <a:r>
              <a:rPr lang="zh-CN" altLang="en-US" sz="2200" dirty="0" smtClean="0">
                <a:solidFill>
                  <a:srgbClr val="990099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990099"/>
                </a:solidFill>
              </a:rPr>
              <a:t>010</a:t>
            </a:r>
            <a:endParaRPr lang="en-US" altLang="zh-CN" sz="2200" dirty="0">
              <a:solidFill>
                <a:srgbClr val="990099"/>
              </a:solidFill>
            </a:endParaRPr>
          </a:p>
        </p:txBody>
      </p:sp>
      <p:sp>
        <p:nvSpPr>
          <p:cNvPr id="22" name="Text Box 131"/>
          <p:cNvSpPr txBox="1">
            <a:spLocks noChangeArrowheads="1"/>
          </p:cNvSpPr>
          <p:nvPr/>
        </p:nvSpPr>
        <p:spPr bwMode="auto">
          <a:xfrm>
            <a:off x="1115616" y="908720"/>
            <a:ext cx="6552728" cy="954107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编码与多项式</a:t>
            </a:r>
            <a:r>
              <a:rPr lang="en-US" altLang="zh-CN" sz="1800" dirty="0">
                <a:solidFill>
                  <a:srgbClr val="990099"/>
                </a:solidFill>
              </a:rPr>
              <a:t>—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1800" dirty="0">
                <a:solidFill>
                  <a:schemeClr val="tx1"/>
                </a:solidFill>
              </a:rPr>
              <a:t>…m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可用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1800" dirty="0">
                <a:solidFill>
                  <a:schemeClr val="tx1"/>
                </a:solidFill>
              </a:rPr>
              <a:t>X</a:t>
            </a:r>
            <a:r>
              <a:rPr lang="en-US" altLang="zh-CN" sz="1800" baseline="30000" dirty="0">
                <a:solidFill>
                  <a:schemeClr val="tx1"/>
                </a:solidFill>
              </a:rPr>
              <a:t>n-1</a:t>
            </a:r>
            <a:r>
              <a:rPr lang="en-US" altLang="zh-CN" sz="1800" dirty="0">
                <a:solidFill>
                  <a:schemeClr val="tx1"/>
                </a:solidFill>
              </a:rPr>
              <a:t>+…+m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X+m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en-US" altLang="zh-CN" sz="1800" dirty="0">
                <a:solidFill>
                  <a:srgbClr val="0070C0"/>
                </a:solidFill>
              </a:rPr>
              <a:t>M(X)</a:t>
            </a:r>
            <a:r>
              <a:rPr lang="zh-CN" altLang="en-US" sz="1800" dirty="0" smtClean="0">
                <a:solidFill>
                  <a:schemeClr val="tx1"/>
                </a:solidFill>
              </a:rPr>
              <a:t>表示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dirty="0" smtClean="0">
                <a:solidFill>
                  <a:srgbClr val="990099"/>
                </a:solidFill>
              </a:rPr>
              <a:t>模</a:t>
            </a:r>
            <a:r>
              <a:rPr lang="en-US" altLang="zh-CN" sz="1800" dirty="0" smtClean="0">
                <a:solidFill>
                  <a:srgbClr val="990099"/>
                </a:solidFill>
              </a:rPr>
              <a:t>2</a:t>
            </a:r>
            <a:r>
              <a:rPr lang="zh-CN" altLang="en-US" sz="1800" dirty="0" smtClean="0">
                <a:solidFill>
                  <a:srgbClr val="990099"/>
                </a:solidFill>
              </a:rPr>
              <a:t>除法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根据</a:t>
            </a:r>
            <a:r>
              <a:rPr lang="zh-CN" altLang="en-US" sz="1800" u="sng" dirty="0">
                <a:solidFill>
                  <a:schemeClr val="tx1"/>
                </a:solidFill>
              </a:rPr>
              <a:t>余数首位</a:t>
            </a:r>
            <a:r>
              <a:rPr lang="zh-CN" altLang="en-US" sz="1800" dirty="0">
                <a:solidFill>
                  <a:schemeClr val="tx1"/>
                </a:solidFill>
              </a:rPr>
              <a:t>上</a:t>
            </a:r>
            <a:r>
              <a:rPr lang="zh-CN" altLang="en-US" sz="1800" dirty="0" smtClean="0">
                <a:solidFill>
                  <a:schemeClr val="tx1"/>
                </a:solidFill>
              </a:rPr>
              <a:t>商，用</a:t>
            </a:r>
            <a:r>
              <a:rPr lang="zh-CN" altLang="en-US" sz="1800" u="sng" dirty="0">
                <a:solidFill>
                  <a:schemeClr val="tx1"/>
                </a:solidFill>
              </a:rPr>
              <a:t>模</a:t>
            </a:r>
            <a:r>
              <a:rPr lang="en-US" altLang="zh-CN" sz="1800" u="sng" dirty="0">
                <a:solidFill>
                  <a:schemeClr val="tx1"/>
                </a:solidFill>
              </a:rPr>
              <a:t>2</a:t>
            </a:r>
            <a:r>
              <a:rPr lang="zh-CN" altLang="en-US" sz="1800" u="sng" dirty="0">
                <a:solidFill>
                  <a:schemeClr val="tx1"/>
                </a:solidFill>
              </a:rPr>
              <a:t>减法</a:t>
            </a:r>
            <a:r>
              <a:rPr lang="zh-CN" altLang="en-US" sz="1800" dirty="0">
                <a:solidFill>
                  <a:schemeClr val="tx1"/>
                </a:solidFill>
              </a:rPr>
              <a:t>求新余数</a:t>
            </a:r>
            <a:r>
              <a:rPr lang="zh-CN" altLang="en-US" sz="1800" dirty="0" smtClean="0">
                <a:solidFill>
                  <a:schemeClr val="tx1"/>
                </a:solidFill>
              </a:rPr>
              <a:t>，商无意义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dirty="0" smtClean="0">
                <a:solidFill>
                  <a:srgbClr val="990099"/>
                </a:solidFill>
              </a:rPr>
              <a:t>生成多项式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en-US" altLang="zh-CN" sz="1800" dirty="0" smtClean="0">
                <a:solidFill>
                  <a:schemeClr val="tx1"/>
                </a:solidFill>
              </a:rPr>
              <a:t>CRC</a:t>
            </a:r>
            <a:r>
              <a:rPr lang="zh-CN" altLang="en-US" sz="1800" dirty="0" smtClean="0">
                <a:solidFill>
                  <a:schemeClr val="tx1"/>
                </a:solidFill>
              </a:rPr>
              <a:t>码中用作除数的多项式，常用</a:t>
            </a:r>
            <a:r>
              <a:rPr lang="en-US" altLang="zh-CN" sz="1800" dirty="0" smtClean="0">
                <a:solidFill>
                  <a:schemeClr val="tx1"/>
                </a:solidFill>
              </a:rPr>
              <a:t>G(X)</a:t>
            </a:r>
            <a:r>
              <a:rPr lang="zh-CN" altLang="en-US" sz="1800" dirty="0" smtClean="0">
                <a:solidFill>
                  <a:schemeClr val="tx1"/>
                </a:solidFill>
              </a:rPr>
              <a:t>表示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24" name="AutoShape 29"/>
          <p:cNvSpPr/>
          <p:nvPr/>
        </p:nvSpPr>
        <p:spPr bwMode="auto">
          <a:xfrm>
            <a:off x="8100496" y="3933056"/>
            <a:ext cx="936000" cy="252000"/>
          </a:xfrm>
          <a:prstGeom prst="borderCallout2">
            <a:avLst>
              <a:gd name="adj1" fmla="val 53254"/>
              <a:gd name="adj2" fmla="val -326"/>
              <a:gd name="adj3" fmla="val 62112"/>
              <a:gd name="adj4" fmla="val -128097"/>
              <a:gd name="adj5" fmla="val 230950"/>
              <a:gd name="adj6" fmla="val -214401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模</a:t>
            </a:r>
            <a:r>
              <a:rPr lang="en-US" altLang="zh-CN" sz="1600" dirty="0" smtClean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加</a:t>
            </a:r>
            <a:r>
              <a:rPr lang="zh-CN" altLang="en-US" sz="1600" dirty="0" smtClean="0">
                <a:solidFill>
                  <a:schemeClr val="tx1"/>
                </a:solidFill>
              </a:rPr>
              <a:t>法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2746678" y="6525342"/>
            <a:ext cx="1105242" cy="288034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zh-CN" altLang="en-US" sz="1600" dirty="0">
                <a:solidFill>
                  <a:schemeClr val="bg2"/>
                </a:solidFill>
                <a:latin typeface="+mn-ea"/>
                <a:ea typeface="+mn-ea"/>
              </a:rPr>
              <a:t>看</a:t>
            </a:r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模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除法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" grpId="0"/>
      <p:bldP spid="15" grpId="0" animBg="1"/>
      <p:bldP spid="18" grpId="0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5"/>
          <p:cNvSpPr txBox="1">
            <a:spLocks noChangeArrowheads="1"/>
          </p:cNvSpPr>
          <p:nvPr/>
        </p:nvSpPr>
        <p:spPr bwMode="auto">
          <a:xfrm>
            <a:off x="179512" y="337880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*校验方式：</a:t>
            </a:r>
            <a:r>
              <a:rPr lang="zh-CN" altLang="en-US" dirty="0" smtClean="0">
                <a:solidFill>
                  <a:schemeClr val="tx1"/>
                </a:solidFill>
              </a:rPr>
              <a:t>可串行校验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除法是逐位相除的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实现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sz="1800" dirty="0" smtClean="0">
              <a:solidFill>
                <a:schemeClr val="accent2"/>
              </a:solidFill>
            </a:endParaRPr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179512" y="3693656"/>
            <a:ext cx="8856984" cy="24052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对</a:t>
            </a:r>
            <a:r>
              <a:rPr lang="en-US" altLang="zh-CN" dirty="0" smtClean="0">
                <a:solidFill>
                  <a:schemeClr val="accent2"/>
                </a:solidFill>
              </a:rPr>
              <a:t>R(X)</a:t>
            </a:r>
            <a:r>
              <a:rPr lang="zh-CN" altLang="en-US" dirty="0" smtClean="0">
                <a:solidFill>
                  <a:schemeClr val="accent2"/>
                </a:solidFill>
              </a:rPr>
              <a:t>的要求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①不同位置</a:t>
            </a:r>
            <a:r>
              <a:rPr lang="zh-CN" altLang="en-US" dirty="0">
                <a:solidFill>
                  <a:schemeClr val="tx1"/>
                </a:solidFill>
              </a:rPr>
              <a:t>出错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 smtClean="0">
                <a:solidFill>
                  <a:schemeClr val="tx1"/>
                </a:solidFill>
              </a:rPr>
              <a:t>R(X)</a:t>
            </a:r>
            <a:r>
              <a:rPr lang="zh-CN" altLang="en-US" dirty="0" smtClean="0">
                <a:solidFill>
                  <a:schemeClr val="tx1"/>
                </a:solidFill>
              </a:rPr>
              <a:t>不同        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←便于定位错误位置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②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en-US" altLang="zh-CN" i="1" baseline="-18000" dirty="0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baseline="-18000" dirty="0">
                <a:solidFill>
                  <a:schemeClr val="tx1"/>
                </a:solidFill>
              </a:rPr>
              <a:t>+1</a:t>
            </a:r>
            <a:r>
              <a:rPr lang="en-US" altLang="zh-CN" dirty="0">
                <a:solidFill>
                  <a:schemeClr val="tx1"/>
                </a:solidFill>
              </a:rPr>
              <a:t>(X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 err="1" smtClean="0">
                <a:solidFill>
                  <a:schemeClr val="tx1"/>
                </a:solidFill>
              </a:rPr>
              <a:t>R</a:t>
            </a:r>
            <a:r>
              <a:rPr lang="en-US" altLang="zh-CN" i="1" baseline="-18000" dirty="0" err="1" smtClean="0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dirty="0" smtClean="0">
                <a:solidFill>
                  <a:schemeClr val="tx1"/>
                </a:solidFill>
              </a:rPr>
              <a:t>(X</a:t>
            </a:r>
            <a:r>
              <a:rPr lang="en-US" altLang="zh-CN" dirty="0">
                <a:solidFill>
                  <a:schemeClr val="tx1"/>
                </a:solidFill>
              </a:rPr>
              <a:t>)&lt;&lt;</a:t>
            </a:r>
            <a:r>
              <a:rPr lang="en-US" altLang="zh-CN" dirty="0" smtClean="0">
                <a:solidFill>
                  <a:schemeClr val="tx1"/>
                </a:solidFill>
              </a:rPr>
              <a:t>1]/</a:t>
            </a:r>
            <a:r>
              <a:rPr lang="en-US" altLang="zh-CN" dirty="0">
                <a:solidFill>
                  <a:schemeClr val="tx1"/>
                </a:solidFill>
              </a:rPr>
              <a:t>G(X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的余数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  ←便于确定首位错误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b="0" dirty="0" smtClean="0">
                <a:solidFill>
                  <a:schemeClr val="tx1"/>
                </a:solidFill>
              </a:rPr>
              <a:t>             │     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称为</a:t>
            </a:r>
            <a:r>
              <a:rPr lang="zh-CN" altLang="en-US" sz="1800" dirty="0">
                <a:solidFill>
                  <a:srgbClr val="FF3399"/>
                </a:solidFill>
              </a:rPr>
              <a:t>循环码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zh-CN" altLang="en-US" sz="1800" dirty="0" smtClean="0">
                <a:solidFill>
                  <a:schemeClr val="tx1"/>
                </a:solidFill>
              </a:rPr>
              <a:t>原因        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错误位置移动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b="0" dirty="0" smtClean="0">
                <a:solidFill>
                  <a:schemeClr val="tx1"/>
                </a:solidFill>
              </a:rPr>
              <a:t>             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第</a:t>
            </a:r>
            <a:r>
              <a:rPr lang="en-US" altLang="zh-CN" sz="1800" i="1" dirty="0" smtClean="0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sz="1800" dirty="0" smtClean="0">
                <a:solidFill>
                  <a:schemeClr val="tx1"/>
                </a:solidFill>
                <a:latin typeface="+mn-lt"/>
              </a:rPr>
              <a:t>+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出错</a:t>
            </a:r>
            <a:r>
              <a:rPr lang="zh-CN" altLang="en-US" sz="1800" dirty="0" smtClean="0">
                <a:solidFill>
                  <a:schemeClr val="tx1"/>
                </a:solidFill>
              </a:rPr>
              <a:t>时的余数</a:t>
            </a:r>
            <a:endParaRPr lang="zh-CN" altLang="en-US" sz="1800" dirty="0">
              <a:solidFill>
                <a:schemeClr val="tx1"/>
              </a:solidFill>
            </a:endParaRPr>
          </a:p>
          <a:p>
            <a:endParaRPr lang="en-US" altLang="zh-CN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1403648" y="2331736"/>
          <a:ext cx="6696743" cy="1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68"/>
                <a:gridCol w="734296"/>
                <a:gridCol w="1542022"/>
                <a:gridCol w="1360585"/>
                <a:gridCol w="2448272"/>
              </a:tblGrid>
              <a:tr h="270928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初值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拍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拍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后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n-k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拍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7092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M&lt;&lt;1+I</a:t>
                      </a:r>
                      <a:r>
                        <a:rPr lang="en-US" altLang="zh-CN" b="1" i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M&lt;&lt;1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(R&lt;&lt;1+I</a:t>
                      </a:r>
                      <a:r>
                        <a:rPr lang="en-US" altLang="zh-CN" b="1" i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)/G(X)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的余数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(R&lt;&lt;1)/G(X)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的余数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92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b="1" i="1" baseline="-18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y</a:t>
                      </a:r>
                      <a:endParaRPr lang="zh-CN" altLang="en-US" b="1" i="1" baseline="-18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无效数据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校验后数据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首位错时纠错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6516215" y="1285682"/>
            <a:ext cx="1602814" cy="271110"/>
            <a:chOff x="6012160" y="4670058"/>
            <a:chExt cx="1602814" cy="271110"/>
          </a:xfrm>
        </p:grpSpPr>
        <p:sp>
          <p:nvSpPr>
            <p:cNvPr id="42" name="Text Box 11"/>
            <p:cNvSpPr txBox="1">
              <a:spLocks noChangeArrowheads="1"/>
            </p:cNvSpPr>
            <p:nvPr/>
          </p:nvSpPr>
          <p:spPr bwMode="auto">
            <a:xfrm>
              <a:off x="6012160" y="4670058"/>
              <a:ext cx="936103" cy="271110"/>
            </a:xfrm>
            <a:prstGeom prst="rect">
              <a:avLst/>
            </a:prstGeom>
            <a:solidFill>
              <a:srgbClr val="99CCFF"/>
            </a:solidFill>
            <a:ln w="22225">
              <a:noFill/>
              <a:miter lim="800000"/>
            </a:ln>
            <a:effectLst/>
          </p:spPr>
          <p:txBody>
            <a:bodyPr lIns="18000" tIns="0" rIns="18000" bIns="1080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m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…m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 Box 11"/>
            <p:cNvSpPr txBox="1">
              <a:spLocks noChangeArrowheads="1"/>
            </p:cNvSpPr>
            <p:nvPr/>
          </p:nvSpPr>
          <p:spPr bwMode="auto">
            <a:xfrm>
              <a:off x="6948264" y="4670058"/>
              <a:ext cx="666710" cy="271110"/>
            </a:xfrm>
            <a:prstGeom prst="rect">
              <a:avLst/>
            </a:prstGeom>
            <a:solidFill>
              <a:srgbClr val="FFCC99"/>
            </a:solidFill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r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…r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907704" y="1268760"/>
            <a:ext cx="936103" cy="271110"/>
          </a:xfrm>
          <a:prstGeom prst="rect">
            <a:avLst/>
          </a:prstGeom>
          <a:solidFill>
            <a:srgbClr val="99CCFF"/>
          </a:solidFill>
          <a:ln w="22225">
            <a:noFill/>
            <a:miter lim="800000"/>
          </a:ln>
          <a:effectLst/>
        </p:spPr>
        <p:txBody>
          <a:bodyPr lIns="18000" tIns="0" rIns="18000" bIns="108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1800" dirty="0" smtClean="0">
                <a:solidFill>
                  <a:schemeClr val="tx1"/>
                </a:solidFill>
              </a:rPr>
              <a:t>…m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267743" y="908720"/>
            <a:ext cx="4701109" cy="1263537"/>
            <a:chOff x="2051720" y="2993415"/>
            <a:chExt cx="4701109" cy="1263537"/>
          </a:xfrm>
        </p:grpSpPr>
        <p:sp>
          <p:nvSpPr>
            <p:cNvPr id="46" name="Text Box 10"/>
            <p:cNvSpPr txBox="1">
              <a:spLocks noChangeArrowheads="1"/>
            </p:cNvSpPr>
            <p:nvPr/>
          </p:nvSpPr>
          <p:spPr bwMode="auto">
            <a:xfrm>
              <a:off x="2843808" y="2996952"/>
              <a:ext cx="3240000" cy="126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直接箭头连接符 46"/>
            <p:cNvCxnSpPr/>
            <p:nvPr/>
          </p:nvCxnSpPr>
          <p:spPr bwMode="auto">
            <a:xfrm flipH="1">
              <a:off x="5796136" y="3212976"/>
              <a:ext cx="64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8" name="Text Box 10"/>
            <p:cNvSpPr txBox="1">
              <a:spLocks noChangeArrowheads="1"/>
            </p:cNvSpPr>
            <p:nvPr/>
          </p:nvSpPr>
          <p:spPr bwMode="auto">
            <a:xfrm>
              <a:off x="3851920" y="3069282"/>
              <a:ext cx="1944000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移位寄存器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M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(n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位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接箭头连接符 48"/>
            <p:cNvCxnSpPr/>
            <p:nvPr/>
          </p:nvCxnSpPr>
          <p:spPr bwMode="auto">
            <a:xfrm flipH="1">
              <a:off x="2483768" y="4077072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0" name="Text Box 11"/>
            <p:cNvSpPr txBox="1">
              <a:spLocks noChangeArrowheads="1"/>
            </p:cNvSpPr>
            <p:nvPr/>
          </p:nvSpPr>
          <p:spPr bwMode="auto">
            <a:xfrm>
              <a:off x="2051720" y="3949978"/>
              <a:ext cx="413984" cy="19910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CHK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4428136" y="3429000"/>
              <a:ext cx="1368000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余数寄存器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37"/>
            <p:cNvCxnSpPr/>
            <p:nvPr/>
          </p:nvCxnSpPr>
          <p:spPr bwMode="auto">
            <a:xfrm flipH="1" flipV="1">
              <a:off x="5796136" y="3573016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53" name="直接箭头连接符 52"/>
            <p:cNvCxnSpPr/>
            <p:nvPr/>
          </p:nvCxnSpPr>
          <p:spPr bwMode="auto">
            <a:xfrm flipH="1" flipV="1">
              <a:off x="2483816" y="3212976"/>
              <a:ext cx="432000" cy="258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53"/>
            <p:cNvCxnSpPr/>
            <p:nvPr/>
          </p:nvCxnSpPr>
          <p:spPr bwMode="auto">
            <a:xfrm>
              <a:off x="6156176" y="3141290"/>
              <a:ext cx="144016" cy="1440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5" name="Text Box 11"/>
            <p:cNvSpPr txBox="1">
              <a:spLocks noChangeArrowheads="1"/>
            </p:cNvSpPr>
            <p:nvPr/>
          </p:nvSpPr>
          <p:spPr bwMode="auto">
            <a:xfrm>
              <a:off x="6228184" y="2993415"/>
              <a:ext cx="144016" cy="19910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接箭头连接符 55"/>
            <p:cNvCxnSpPr/>
            <p:nvPr/>
          </p:nvCxnSpPr>
          <p:spPr bwMode="auto">
            <a:xfrm>
              <a:off x="2627784" y="3145149"/>
              <a:ext cx="144016" cy="1440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2627784" y="2997274"/>
              <a:ext cx="144016" cy="19910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 Box 11"/>
            <p:cNvSpPr txBox="1">
              <a:spLocks noChangeArrowheads="1"/>
            </p:cNvSpPr>
            <p:nvPr/>
          </p:nvSpPr>
          <p:spPr bwMode="auto">
            <a:xfrm>
              <a:off x="6464797" y="3065423"/>
              <a:ext cx="288032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800" i="1" baseline="-18000" dirty="0" smtClean="0">
                  <a:solidFill>
                    <a:schemeClr val="tx1"/>
                  </a:solidFill>
                  <a:latin typeface="+mn-lt"/>
                </a:rPr>
                <a:t>x</a:t>
              </a:r>
              <a:endParaRPr lang="en-US" altLang="zh-CN" sz="1800" i="1" baseline="-18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9" name="Text Box 11"/>
            <p:cNvSpPr txBox="1">
              <a:spLocks noChangeArrowheads="1"/>
            </p:cNvSpPr>
            <p:nvPr/>
          </p:nvSpPr>
          <p:spPr bwMode="auto">
            <a:xfrm>
              <a:off x="2195736" y="3065423"/>
              <a:ext cx="288032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O</a:t>
              </a:r>
              <a:r>
                <a:rPr lang="en-US" altLang="zh-CN" sz="1800" i="1" baseline="-18000" dirty="0" smtClean="0">
                  <a:solidFill>
                    <a:schemeClr val="tx1"/>
                  </a:solidFill>
                  <a:latin typeface="+mn-lt"/>
                </a:rPr>
                <a:t>y</a:t>
              </a:r>
              <a:endParaRPr lang="en-US" altLang="zh-CN" sz="1800" i="1" baseline="-18000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0" name="直接箭头连接符 59"/>
            <p:cNvCxnSpPr/>
            <p:nvPr/>
          </p:nvCxnSpPr>
          <p:spPr bwMode="auto">
            <a:xfrm flipH="1">
              <a:off x="5148064" y="3681056"/>
              <a:ext cx="1" cy="25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 flipH="1" flipV="1">
              <a:off x="3203848" y="3223852"/>
              <a:ext cx="648000" cy="16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Text Box 11"/>
            <p:cNvSpPr txBox="1">
              <a:spLocks noChangeArrowheads="1"/>
            </p:cNvSpPr>
            <p:nvPr/>
          </p:nvSpPr>
          <p:spPr bwMode="auto">
            <a:xfrm>
              <a:off x="3347864" y="2996952"/>
              <a:ext cx="386291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  <a:latin typeface="+mn-lt"/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4932040" y="3933088"/>
              <a:ext cx="576000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除法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直接箭头连接符 63"/>
            <p:cNvCxnSpPr/>
            <p:nvPr/>
          </p:nvCxnSpPr>
          <p:spPr bwMode="auto">
            <a:xfrm flipH="1">
              <a:off x="5364088" y="3789056"/>
              <a:ext cx="1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>
              <a:off x="5364088" y="3789040"/>
              <a:ext cx="64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>
              <a:off x="6012160" y="3215238"/>
              <a:ext cx="0" cy="57380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H="1">
              <a:off x="5508104" y="4077072"/>
              <a:ext cx="29762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Text Box 11"/>
            <p:cNvSpPr txBox="1">
              <a:spLocks noChangeArrowheads="1"/>
            </p:cNvSpPr>
            <p:nvPr/>
          </p:nvSpPr>
          <p:spPr bwMode="auto">
            <a:xfrm>
              <a:off x="5796136" y="3933056"/>
              <a:ext cx="216000" cy="252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</a:rPr>
                <a:t>G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 bwMode="auto">
            <a:xfrm flipV="1">
              <a:off x="4716016" y="3681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/>
            <p:cNvCxnSpPr/>
            <p:nvPr/>
          </p:nvCxnSpPr>
          <p:spPr bwMode="auto">
            <a:xfrm flipH="1">
              <a:off x="4284040" y="4077072"/>
              <a:ext cx="64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1" name="组合 70"/>
          <p:cNvGrpSpPr/>
          <p:nvPr/>
        </p:nvGrpSpPr>
        <p:grpSpPr>
          <a:xfrm>
            <a:off x="3131871" y="1066988"/>
            <a:ext cx="1368120" cy="1033397"/>
            <a:chOff x="2915848" y="3151683"/>
            <a:chExt cx="1368120" cy="1033397"/>
          </a:xfrm>
        </p:grpSpPr>
        <p:sp>
          <p:nvSpPr>
            <p:cNvPr id="72" name="Text Box 11"/>
            <p:cNvSpPr txBox="1">
              <a:spLocks noChangeArrowheads="1"/>
            </p:cNvSpPr>
            <p:nvPr/>
          </p:nvSpPr>
          <p:spPr bwMode="auto">
            <a:xfrm>
              <a:off x="3275856" y="3501008"/>
              <a:ext cx="720000" cy="19910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首位错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73" name="Text Box 11"/>
            <p:cNvSpPr txBox="1">
              <a:spLocks noChangeArrowheads="1"/>
            </p:cNvSpPr>
            <p:nvPr/>
          </p:nvSpPr>
          <p:spPr bwMode="auto">
            <a:xfrm>
              <a:off x="2915848" y="3151683"/>
              <a:ext cx="288000" cy="64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=1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 bwMode="auto">
            <a:xfrm flipH="1">
              <a:off x="3203848" y="3727747"/>
              <a:ext cx="79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75" name="Text Box 10"/>
            <p:cNvSpPr txBox="1">
              <a:spLocks noChangeArrowheads="1"/>
            </p:cNvSpPr>
            <p:nvPr/>
          </p:nvSpPr>
          <p:spPr bwMode="auto">
            <a:xfrm>
              <a:off x="3995968" y="3573080"/>
              <a:ext cx="288000" cy="61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判断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 Box 11"/>
            <p:cNvSpPr txBox="1">
              <a:spLocks noChangeArrowheads="1"/>
            </p:cNvSpPr>
            <p:nvPr/>
          </p:nvSpPr>
          <p:spPr bwMode="auto">
            <a:xfrm>
              <a:off x="2915936" y="3861048"/>
              <a:ext cx="1080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无法处理错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</p:grpSp>
      <p:sp>
        <p:nvSpPr>
          <p:cNvPr id="77" name="AutoShape 3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AD53-7060-4B1B-8E11-A20B005D6D71}" type="slidenum">
              <a:rPr lang="en-US" altLang="zh-CN"/>
            </a:fld>
            <a:endParaRPr lang="en-US" altLang="zh-CN"/>
          </a:p>
        </p:txBody>
      </p:sp>
      <p:sp>
        <p:nvSpPr>
          <p:cNvPr id="229392" name="Text Box 16"/>
          <p:cNvSpPr txBox="1">
            <a:spLocks noChangeArrowheads="1"/>
          </p:cNvSpPr>
          <p:nvPr/>
        </p:nvSpPr>
        <p:spPr bwMode="auto">
          <a:xfrm>
            <a:off x="179388" y="332656"/>
            <a:ext cx="8785225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*G(X)</a:t>
            </a:r>
            <a:r>
              <a:rPr lang="zh-CN" altLang="en-US" dirty="0" smtClean="0">
                <a:solidFill>
                  <a:srgbClr val="C00000"/>
                </a:solidFill>
              </a:rPr>
              <a:t>的选择：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基本要求</a:t>
            </a:r>
            <a:r>
              <a:rPr lang="en-US" altLang="zh-CN" dirty="0" smtClean="0">
                <a:solidFill>
                  <a:schemeClr val="accent2"/>
                </a:solidFill>
              </a:rPr>
              <a:t>—  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 smtClean="0">
                <a:solidFill>
                  <a:schemeClr val="tx1"/>
                </a:solidFill>
              </a:rPr>
              <a:t>满足对</a:t>
            </a:r>
            <a:r>
              <a:rPr lang="en-US" altLang="zh-CN" sz="2200" dirty="0" smtClean="0">
                <a:solidFill>
                  <a:schemeClr val="tx1"/>
                </a:solidFill>
              </a:rPr>
              <a:t>R(X)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dirty="0" smtClean="0">
                <a:solidFill>
                  <a:schemeClr val="tx1"/>
                </a:solidFill>
              </a:rPr>
              <a:t>要求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 </a:t>
            </a:r>
            <a:r>
              <a:rPr lang="zh-CN" altLang="en-US" dirty="0" smtClean="0">
                <a:solidFill>
                  <a:schemeClr val="tx1"/>
                </a:solidFill>
              </a:rPr>
              <a:t>  ①</a:t>
            </a:r>
            <a:r>
              <a:rPr lang="zh-CN" altLang="en-US" u="sng" dirty="0" smtClean="0">
                <a:solidFill>
                  <a:schemeClr val="tx1"/>
                </a:solidFill>
              </a:rPr>
              <a:t>任一位</a:t>
            </a:r>
            <a:r>
              <a:rPr lang="zh-CN" altLang="en-US" dirty="0" smtClean="0">
                <a:solidFill>
                  <a:schemeClr val="tx1"/>
                </a:solidFill>
              </a:rPr>
              <a:t>错误时，有</a:t>
            </a:r>
            <a:r>
              <a:rPr lang="en-US" altLang="zh-CN" u="sng" dirty="0" smtClean="0">
                <a:solidFill>
                  <a:srgbClr val="990099"/>
                </a:solidFill>
              </a:rPr>
              <a:t>R(X)</a:t>
            </a:r>
            <a:r>
              <a:rPr lang="zh-CN" altLang="en-US" u="sng" dirty="0" smtClean="0">
                <a:solidFill>
                  <a:srgbClr val="990099"/>
                </a:solidFill>
              </a:rPr>
              <a:t>不为</a:t>
            </a:r>
            <a:r>
              <a:rPr lang="en-US" altLang="zh-CN" u="sng" dirty="0" smtClean="0">
                <a:solidFill>
                  <a:srgbClr val="990099"/>
                </a:solidFill>
              </a:rPr>
              <a:t>0</a:t>
            </a:r>
            <a:endParaRPr lang="zh-CN" altLang="en-US" dirty="0">
              <a:solidFill>
                <a:srgbClr val="990099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 </a:t>
            </a:r>
            <a:r>
              <a:rPr lang="zh-CN" altLang="en-US" dirty="0" smtClean="0">
                <a:solidFill>
                  <a:schemeClr val="tx1"/>
                </a:solidFill>
              </a:rPr>
              <a:t>  ②</a:t>
            </a:r>
            <a:r>
              <a:rPr lang="zh-CN" altLang="en-US" u="sng" dirty="0" smtClean="0">
                <a:solidFill>
                  <a:schemeClr val="tx1"/>
                </a:solidFill>
              </a:rPr>
              <a:t>不同位</a:t>
            </a:r>
            <a:r>
              <a:rPr lang="zh-CN" altLang="en-US" dirty="0" smtClean="0">
                <a:solidFill>
                  <a:schemeClr val="tx1"/>
                </a:solidFill>
              </a:rPr>
              <a:t>错误时，有</a:t>
            </a:r>
            <a:r>
              <a:rPr lang="en-US" altLang="zh-CN" u="sng" dirty="0" smtClean="0">
                <a:solidFill>
                  <a:srgbClr val="990099"/>
                </a:solidFill>
              </a:rPr>
              <a:t>R(X)</a:t>
            </a:r>
            <a:r>
              <a:rPr lang="zh-CN" altLang="en-US" u="sng" dirty="0" smtClean="0">
                <a:solidFill>
                  <a:srgbClr val="990099"/>
                </a:solidFill>
              </a:rPr>
              <a:t>各不相同</a:t>
            </a:r>
            <a:endParaRPr lang="zh-CN" altLang="en-US" dirty="0">
              <a:solidFill>
                <a:srgbClr val="990099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   ③</a:t>
            </a:r>
            <a:r>
              <a:rPr lang="zh-CN" altLang="en-US" u="sng" dirty="0" smtClean="0">
                <a:solidFill>
                  <a:schemeClr val="tx1"/>
                </a:solidFill>
              </a:rPr>
              <a:t>任一位</a:t>
            </a:r>
            <a:r>
              <a:rPr lang="zh-CN" altLang="en-US" dirty="0" smtClean="0">
                <a:solidFill>
                  <a:schemeClr val="tx1"/>
                </a:solidFill>
              </a:rPr>
              <a:t>错误时，有</a:t>
            </a:r>
            <a:r>
              <a:rPr lang="en-US" altLang="zh-CN" u="sng" dirty="0" smtClean="0">
                <a:solidFill>
                  <a:srgbClr val="990099"/>
                </a:solidFill>
              </a:rPr>
              <a:t>[</a:t>
            </a:r>
            <a:r>
              <a:rPr lang="en-US" altLang="zh-CN" u="sng" dirty="0" err="1" smtClean="0">
                <a:solidFill>
                  <a:srgbClr val="990099"/>
                </a:solidFill>
              </a:rPr>
              <a:t>R</a:t>
            </a:r>
            <a:r>
              <a:rPr lang="en-US" altLang="zh-CN" i="1" u="sng" baseline="-18000" dirty="0" err="1" smtClean="0">
                <a:solidFill>
                  <a:srgbClr val="990099"/>
                </a:solidFill>
                <a:latin typeface="+mn-lt"/>
              </a:rPr>
              <a:t>i</a:t>
            </a:r>
            <a:r>
              <a:rPr lang="en-US" altLang="zh-CN" u="sng" dirty="0" smtClean="0">
                <a:solidFill>
                  <a:srgbClr val="990099"/>
                </a:solidFill>
              </a:rPr>
              <a:t>(X</a:t>
            </a:r>
            <a:r>
              <a:rPr lang="en-US" altLang="zh-CN" u="sng" dirty="0">
                <a:solidFill>
                  <a:srgbClr val="990099"/>
                </a:solidFill>
              </a:rPr>
              <a:t>)&lt;&lt;1]/</a:t>
            </a:r>
            <a:r>
              <a:rPr lang="en-US" altLang="zh-CN" u="sng" dirty="0" smtClean="0">
                <a:solidFill>
                  <a:srgbClr val="990099"/>
                </a:solidFill>
              </a:rPr>
              <a:t>G(X)</a:t>
            </a:r>
            <a:r>
              <a:rPr lang="zh-CN" altLang="en-US" u="sng" dirty="0" smtClean="0">
                <a:solidFill>
                  <a:srgbClr val="990099"/>
                </a:solidFill>
              </a:rPr>
              <a:t>的余数</a:t>
            </a:r>
            <a:r>
              <a:rPr lang="zh-CN" altLang="en-US" u="sng" dirty="0">
                <a:solidFill>
                  <a:srgbClr val="990099"/>
                </a:solidFill>
              </a:rPr>
              <a:t>＝</a:t>
            </a:r>
            <a:r>
              <a:rPr lang="en-US" altLang="zh-CN" u="sng" dirty="0" smtClean="0">
                <a:solidFill>
                  <a:srgbClr val="990099"/>
                </a:solidFill>
              </a:rPr>
              <a:t>R</a:t>
            </a:r>
            <a:r>
              <a:rPr lang="en-US" altLang="zh-CN" i="1" u="sng" baseline="-18000" dirty="0" smtClean="0">
                <a:solidFill>
                  <a:srgbClr val="990099"/>
                </a:solidFill>
                <a:latin typeface="+mn-lt"/>
              </a:rPr>
              <a:t>i</a:t>
            </a:r>
            <a:r>
              <a:rPr lang="en-US" altLang="zh-CN" u="sng" baseline="-18000" dirty="0" smtClean="0">
                <a:solidFill>
                  <a:srgbClr val="990099"/>
                </a:solidFill>
                <a:latin typeface="+mn-lt"/>
              </a:rPr>
              <a:t>+1</a:t>
            </a:r>
            <a:r>
              <a:rPr lang="en-US" altLang="zh-CN" u="sng" dirty="0" smtClean="0">
                <a:solidFill>
                  <a:srgbClr val="990099"/>
                </a:solidFill>
              </a:rPr>
              <a:t>(X)</a:t>
            </a:r>
            <a:endParaRPr lang="zh-CN" altLang="en-US" u="sng" dirty="0">
              <a:solidFill>
                <a:srgbClr val="990099"/>
              </a:solidFill>
            </a:endParaRPr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179388" y="2636912"/>
            <a:ext cx="8785349" cy="22529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常用</a:t>
            </a:r>
            <a:r>
              <a:rPr lang="zh-CN" altLang="en-US" dirty="0">
                <a:solidFill>
                  <a:schemeClr val="accent2"/>
                </a:solidFill>
              </a:rPr>
              <a:t>的</a:t>
            </a:r>
            <a:r>
              <a:rPr lang="en-US" altLang="zh-CN" dirty="0">
                <a:solidFill>
                  <a:schemeClr val="accent2"/>
                </a:solidFill>
              </a:rPr>
              <a:t>G(X</a:t>
            </a:r>
            <a:r>
              <a:rPr lang="en-US" altLang="zh-CN" dirty="0" smtClean="0">
                <a:solidFill>
                  <a:schemeClr val="accent2"/>
                </a:solidFill>
              </a:rPr>
              <a:t>)—</a:t>
            </a:r>
            <a:endParaRPr lang="zh-CN" altLang="en-US" dirty="0">
              <a:solidFill>
                <a:schemeClr val="accent2"/>
              </a:solidFill>
            </a:endParaRPr>
          </a:p>
          <a:p>
            <a:pPr marL="1973580" indent="-1973580">
              <a:lnSpc>
                <a:spcPct val="115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CRC-CCITT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G(X)=X</a:t>
            </a:r>
            <a:r>
              <a:rPr lang="en-US" altLang="zh-CN" baseline="30000" dirty="0">
                <a:solidFill>
                  <a:schemeClr val="tx1"/>
                </a:solidFill>
              </a:rPr>
              <a:t>16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12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5</a:t>
            </a:r>
            <a:r>
              <a:rPr lang="en-US" altLang="zh-CN" dirty="0">
                <a:solidFill>
                  <a:schemeClr val="tx1"/>
                </a:solidFill>
              </a:rPr>
              <a:t>+1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1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dirty="0" smtClean="0">
                <a:solidFill>
                  <a:schemeClr val="tx1"/>
                </a:solidFill>
              </a:rPr>
              <a:t> CRC-16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en-US" altLang="zh-CN" dirty="0" smtClean="0">
                <a:solidFill>
                  <a:schemeClr val="tx1"/>
                </a:solidFill>
              </a:rPr>
              <a:t>G(X</a:t>
            </a:r>
            <a:r>
              <a:rPr lang="en-US" altLang="zh-CN" dirty="0">
                <a:solidFill>
                  <a:schemeClr val="tx1"/>
                </a:solidFill>
              </a:rPr>
              <a:t>)=X</a:t>
            </a:r>
            <a:r>
              <a:rPr lang="en-US" altLang="zh-CN" baseline="30000" dirty="0">
                <a:solidFill>
                  <a:schemeClr val="tx1"/>
                </a:solidFill>
              </a:rPr>
              <a:t>16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15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+1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1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dirty="0" smtClean="0">
                <a:solidFill>
                  <a:schemeClr val="tx1"/>
                </a:solidFill>
              </a:rPr>
              <a:t> CRC-12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en-US" altLang="zh-CN" dirty="0" smtClean="0">
                <a:solidFill>
                  <a:schemeClr val="tx1"/>
                </a:solidFill>
              </a:rPr>
              <a:t>G(X</a:t>
            </a:r>
            <a:r>
              <a:rPr lang="en-US" altLang="zh-CN" dirty="0">
                <a:solidFill>
                  <a:schemeClr val="tx1"/>
                </a:solidFill>
              </a:rPr>
              <a:t>)=X</a:t>
            </a:r>
            <a:r>
              <a:rPr lang="en-US" altLang="zh-CN" baseline="30000" dirty="0">
                <a:solidFill>
                  <a:schemeClr val="tx1"/>
                </a:solidFill>
              </a:rPr>
              <a:t>12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+X</a:t>
            </a:r>
            <a:r>
              <a:rPr lang="en-US" altLang="zh-CN" baseline="3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+X+1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15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dirty="0" smtClean="0">
                <a:solidFill>
                  <a:schemeClr val="tx1"/>
                </a:solidFill>
              </a:rPr>
              <a:t> CRC-32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en-US" altLang="zh-CN" dirty="0" smtClean="0">
                <a:solidFill>
                  <a:schemeClr val="tx1"/>
                </a:solidFill>
              </a:rPr>
              <a:t>G(X</a:t>
            </a:r>
            <a:r>
              <a:rPr lang="en-US" altLang="zh-CN" dirty="0">
                <a:solidFill>
                  <a:schemeClr val="tx1"/>
                </a:solidFill>
              </a:rPr>
              <a:t>)=</a:t>
            </a:r>
            <a:r>
              <a:rPr lang="en-US" altLang="zh-CN" spc="-130" dirty="0" smtClean="0">
                <a:solidFill>
                  <a:schemeClr val="tx1"/>
                </a:solidFill>
              </a:rPr>
              <a:t>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32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26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23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16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12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11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10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8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7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5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4</a:t>
            </a:r>
            <a:r>
              <a:rPr lang="en-US" altLang="zh-CN" spc="-130" dirty="0" smtClean="0">
                <a:solidFill>
                  <a:schemeClr val="tx1"/>
                </a:solidFill>
              </a:rPr>
              <a:t>+X</a:t>
            </a:r>
            <a:r>
              <a:rPr lang="en-US" altLang="zh-CN" spc="-130" baseline="30000" dirty="0" smtClean="0">
                <a:solidFill>
                  <a:schemeClr val="tx1"/>
                </a:solidFill>
              </a:rPr>
              <a:t>2</a:t>
            </a:r>
            <a:r>
              <a:rPr lang="en-US" altLang="zh-CN" spc="-130" dirty="0" smtClean="0">
                <a:solidFill>
                  <a:schemeClr val="tx1"/>
                </a:solidFill>
              </a:rPr>
              <a:t>+X+1</a:t>
            </a:r>
            <a:endParaRPr lang="en-US" altLang="zh-CN" spc="-130" dirty="0">
              <a:solidFill>
                <a:schemeClr val="tx1"/>
              </a:solidFill>
            </a:endParaRP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179512" y="479715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校验能力：</a:t>
            </a:r>
            <a:r>
              <a:rPr lang="zh-CN" altLang="en-US" dirty="0" smtClean="0">
                <a:solidFill>
                  <a:schemeClr val="tx1"/>
                </a:solidFill>
              </a:rPr>
              <a:t>由</a:t>
            </a:r>
            <a:r>
              <a:rPr lang="en-US" altLang="zh-CN" dirty="0" smtClean="0">
                <a:solidFill>
                  <a:schemeClr val="tx1"/>
                </a:solidFill>
              </a:rPr>
              <a:t>G(X)</a:t>
            </a:r>
            <a:r>
              <a:rPr lang="zh-CN" altLang="en-US" dirty="0" smtClean="0">
                <a:solidFill>
                  <a:schemeClr val="tx1"/>
                </a:solidFill>
              </a:rPr>
              <a:t>决定，</a:t>
            </a:r>
            <a:r>
              <a:rPr lang="zh-CN" altLang="en-US" u="sng" dirty="0" smtClean="0">
                <a:solidFill>
                  <a:srgbClr val="990099"/>
                </a:solidFill>
              </a:rPr>
              <a:t>检错能力较强</a:t>
            </a:r>
            <a:r>
              <a:rPr lang="zh-CN" altLang="en-US" dirty="0" smtClean="0">
                <a:solidFill>
                  <a:schemeClr val="tx1"/>
                </a:solidFill>
              </a:rPr>
              <a:t>、纠错能力较弱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9396" name="Text Box 20"/>
          <p:cNvSpPr txBox="1">
            <a:spLocks noChangeArrowheads="1"/>
          </p:cNvSpPr>
          <p:nvPr/>
        </p:nvSpPr>
        <p:spPr bwMode="auto">
          <a:xfrm>
            <a:off x="179388" y="5303530"/>
            <a:ext cx="8785225" cy="904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应用：</a:t>
            </a:r>
            <a:r>
              <a:rPr lang="zh-CN" altLang="en-US" u="sng" dirty="0" smtClean="0">
                <a:solidFill>
                  <a:schemeClr val="accent2"/>
                </a:solidFill>
              </a:rPr>
              <a:t>广泛</a:t>
            </a:r>
            <a:r>
              <a:rPr lang="zh-CN" altLang="en-US" dirty="0" smtClean="0">
                <a:solidFill>
                  <a:schemeClr val="tx1"/>
                </a:solidFill>
              </a:rPr>
              <a:t>用于</a:t>
            </a:r>
            <a:r>
              <a:rPr lang="zh-CN" altLang="en-US" dirty="0">
                <a:solidFill>
                  <a:schemeClr val="tx1"/>
                </a:solidFill>
              </a:rPr>
              <a:t>网络</a:t>
            </a:r>
            <a:r>
              <a:rPr lang="zh-CN" altLang="en-US" dirty="0" smtClean="0">
                <a:solidFill>
                  <a:schemeClr val="tx1"/>
                </a:solidFill>
              </a:rPr>
              <a:t>通信等方面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检错要求高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1698625" indent="-1698625">
              <a:lnSpc>
                <a:spcPct val="114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                                  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2000" dirty="0" smtClean="0">
                <a:solidFill>
                  <a:schemeClr val="tx1"/>
                </a:solidFill>
              </a:rPr>
              <a:t>→</a:t>
            </a:r>
            <a:r>
              <a:rPr lang="en-US" altLang="zh-CN" sz="2000" dirty="0" smtClean="0">
                <a:solidFill>
                  <a:schemeClr val="tx1"/>
                </a:solidFill>
              </a:rPr>
              <a:t>CRC</a:t>
            </a:r>
            <a:r>
              <a:rPr lang="zh-CN" altLang="en-US" sz="2000" dirty="0" smtClean="0">
                <a:solidFill>
                  <a:schemeClr val="tx1"/>
                </a:solidFill>
              </a:rPr>
              <a:t>＋错时重发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229397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219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4" grpId="0"/>
      <p:bldP spid="229395" grpId="0"/>
      <p:bldP spid="2293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526"/>
          <p:cNvSpPr txBox="1">
            <a:spLocks noChangeArrowheads="1"/>
          </p:cNvSpPr>
          <p:nvPr/>
        </p:nvSpPr>
        <p:spPr bwMode="auto">
          <a:xfrm>
            <a:off x="179513" y="2395478"/>
            <a:ext cx="3958508" cy="2862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应用中的数据类型：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sz="20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硬件支持的数据类型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*数据类型的转换：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04"/>
          <p:cNvSpPr txBox="1">
            <a:spLocks noChangeArrowheads="1"/>
          </p:cNvSpPr>
          <p:nvPr/>
        </p:nvSpPr>
        <p:spPr bwMode="auto">
          <a:xfrm>
            <a:off x="838200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§2.2 </a:t>
            </a:r>
            <a:r>
              <a:rPr lang="zh-CN" altLang="en-US" sz="2800" dirty="0">
                <a:solidFill>
                  <a:schemeClr val="tx1"/>
                </a:solidFill>
              </a:rPr>
              <a:t>数据的表示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Text Box 526"/>
          <p:cNvSpPr txBox="1">
            <a:spLocks noChangeArrowheads="1"/>
          </p:cNvSpPr>
          <p:nvPr/>
        </p:nvSpPr>
        <p:spPr bwMode="auto">
          <a:xfrm>
            <a:off x="179388" y="1700808"/>
            <a:ext cx="8785225" cy="829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数据类型：</a:t>
            </a:r>
            <a:r>
              <a:rPr lang="zh-CN" altLang="en-US" dirty="0" smtClean="0">
                <a:solidFill>
                  <a:schemeClr val="tx1"/>
                </a:solidFill>
              </a:rPr>
              <a:t>指一</a:t>
            </a:r>
            <a:r>
              <a:rPr lang="zh-CN" altLang="en-US" dirty="0">
                <a:solidFill>
                  <a:schemeClr val="tx1"/>
                </a:solidFill>
              </a:rPr>
              <a:t>个</a:t>
            </a:r>
            <a:r>
              <a:rPr lang="zh-CN" altLang="en-US" u="sng" dirty="0">
                <a:solidFill>
                  <a:schemeClr val="tx1"/>
                </a:solidFill>
              </a:rPr>
              <a:t>值的</a:t>
            </a:r>
            <a:r>
              <a:rPr lang="zh-CN" altLang="en-US" u="sng" dirty="0" smtClean="0">
                <a:solidFill>
                  <a:schemeClr val="tx1"/>
                </a:solidFill>
              </a:rPr>
              <a:t>集合</a:t>
            </a:r>
            <a:r>
              <a:rPr lang="zh-CN" altLang="en-US" dirty="0" smtClean="0">
                <a:solidFill>
                  <a:schemeClr val="tx1"/>
                </a:solidFill>
              </a:rPr>
              <a:t>，及定义</a:t>
            </a:r>
            <a:r>
              <a:rPr lang="zh-CN" altLang="en-US" dirty="0">
                <a:solidFill>
                  <a:schemeClr val="tx1"/>
                </a:solidFill>
              </a:rPr>
              <a:t>在该值集上的</a:t>
            </a:r>
            <a:r>
              <a:rPr lang="zh-CN" altLang="en-US" u="sng" dirty="0">
                <a:solidFill>
                  <a:schemeClr val="tx1"/>
                </a:solidFill>
              </a:rPr>
              <a:t>一组操作</a:t>
            </a:r>
            <a:endParaRPr lang="en-US" altLang="zh-CN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b="0" dirty="0">
                <a:solidFill>
                  <a:schemeClr val="tx1"/>
                </a:solidFill>
              </a:rPr>
              <a:t>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                     └→</a:t>
            </a:r>
            <a:r>
              <a:rPr lang="zh-CN" altLang="en-US" sz="1800" dirty="0" smtClean="0">
                <a:solidFill>
                  <a:srgbClr val="990099"/>
                </a:solidFill>
              </a:rPr>
              <a:t>值集</a:t>
            </a:r>
            <a:r>
              <a:rPr lang="zh-CN" altLang="en-US" sz="1800" dirty="0" smtClean="0">
                <a:solidFill>
                  <a:schemeClr val="accent2"/>
                </a:solidFill>
              </a:rPr>
              <a:t>或</a:t>
            </a:r>
            <a:r>
              <a:rPr lang="zh-CN" altLang="en-US" sz="1800" dirty="0" smtClean="0">
                <a:solidFill>
                  <a:srgbClr val="990099"/>
                </a:solidFill>
              </a:rPr>
              <a:t>操作集</a:t>
            </a:r>
            <a:r>
              <a:rPr lang="zh-CN" altLang="en-US" sz="1800" dirty="0" smtClean="0">
                <a:solidFill>
                  <a:schemeClr val="tx1"/>
                </a:solidFill>
              </a:rPr>
              <a:t>不同，数据类型</a:t>
            </a:r>
            <a:r>
              <a:rPr lang="zh-CN" altLang="en-US" sz="1800" dirty="0" smtClean="0">
                <a:solidFill>
                  <a:srgbClr val="FF3399"/>
                </a:solidFill>
              </a:rPr>
              <a:t>不同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┘</a:t>
            </a:r>
            <a:endParaRPr lang="en-US" altLang="zh-CN" sz="1800" b="0" dirty="0" smtClean="0">
              <a:solidFill>
                <a:schemeClr val="tx1"/>
              </a:solidFill>
            </a:endParaRPr>
          </a:p>
        </p:txBody>
      </p:sp>
      <p:grpSp>
        <p:nvGrpSpPr>
          <p:cNvPr id="5" name="Group 544"/>
          <p:cNvGrpSpPr/>
          <p:nvPr/>
        </p:nvGrpSpPr>
        <p:grpSpPr bwMode="auto">
          <a:xfrm>
            <a:off x="2699792" y="2595488"/>
            <a:ext cx="6192838" cy="1625600"/>
            <a:chOff x="1066" y="572"/>
            <a:chExt cx="3901" cy="1024"/>
          </a:xfrm>
        </p:grpSpPr>
        <p:sp>
          <p:nvSpPr>
            <p:cNvPr id="6" name="AutoShape 545"/>
            <p:cNvSpPr/>
            <p:nvPr/>
          </p:nvSpPr>
          <p:spPr bwMode="auto">
            <a:xfrm>
              <a:off x="2335" y="646"/>
              <a:ext cx="46" cy="269"/>
            </a:xfrm>
            <a:prstGeom prst="leftBrace">
              <a:avLst>
                <a:gd name="adj1" fmla="val 65761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AutoShape 546"/>
            <p:cNvSpPr/>
            <p:nvPr/>
          </p:nvSpPr>
          <p:spPr bwMode="auto">
            <a:xfrm>
              <a:off x="2336" y="1016"/>
              <a:ext cx="45" cy="489"/>
            </a:xfrm>
            <a:prstGeom prst="leftBrace">
              <a:avLst>
                <a:gd name="adj1" fmla="val 125926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AutoShape 547"/>
            <p:cNvSpPr/>
            <p:nvPr/>
          </p:nvSpPr>
          <p:spPr bwMode="auto">
            <a:xfrm>
              <a:off x="1445" y="800"/>
              <a:ext cx="29" cy="462"/>
            </a:xfrm>
            <a:prstGeom prst="leftBrace">
              <a:avLst>
                <a:gd name="adj1" fmla="val 11777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Text Box 548"/>
            <p:cNvSpPr txBox="1">
              <a:spLocks noChangeArrowheads="1"/>
            </p:cNvSpPr>
            <p:nvPr/>
          </p:nvSpPr>
          <p:spPr bwMode="auto">
            <a:xfrm>
              <a:off x="1066" y="915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数据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 Box 549"/>
            <p:cNvSpPr txBox="1">
              <a:spLocks noChangeArrowheads="1"/>
            </p:cNvSpPr>
            <p:nvPr/>
          </p:nvSpPr>
          <p:spPr bwMode="auto">
            <a:xfrm>
              <a:off x="1474" y="689"/>
              <a:ext cx="867" cy="17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dist">
                <a:lnSpc>
                  <a:spcPct val="100000"/>
                </a:lnSpc>
              </a:pPr>
              <a:r>
                <a:rPr lang="zh-CN" altLang="en-US" sz="2000" spc="600" dirty="0">
                  <a:solidFill>
                    <a:schemeClr val="tx1"/>
                  </a:solidFill>
                </a:rPr>
                <a:t>数值数据</a:t>
              </a:r>
              <a:endParaRPr lang="zh-CN" altLang="en-US" sz="2000" spc="6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550"/>
            <p:cNvSpPr txBox="1">
              <a:spLocks noChangeArrowheads="1"/>
            </p:cNvSpPr>
            <p:nvPr/>
          </p:nvSpPr>
          <p:spPr bwMode="auto">
            <a:xfrm>
              <a:off x="1475" y="1142"/>
              <a:ext cx="861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非数值数据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 Box 551"/>
            <p:cNvSpPr txBox="1">
              <a:spLocks noChangeArrowheads="1"/>
            </p:cNvSpPr>
            <p:nvPr/>
          </p:nvSpPr>
          <p:spPr bwMode="auto">
            <a:xfrm>
              <a:off x="2382" y="971"/>
              <a:ext cx="2069" cy="6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逻辑数  </a:t>
              </a:r>
              <a:r>
                <a:rPr lang="zh-CN" altLang="en-US" sz="2000" dirty="0" smtClean="0">
                  <a:solidFill>
                    <a:srgbClr val="990099"/>
                  </a:solidFill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--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布尔数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字符</a:t>
              </a:r>
              <a:r>
                <a:rPr lang="en-US" altLang="zh-CN" sz="2000" dirty="0">
                  <a:solidFill>
                    <a:srgbClr val="990099"/>
                  </a:solidFill>
                </a:rPr>
                <a:t>(</a:t>
              </a:r>
              <a:r>
                <a:rPr lang="zh-CN" altLang="en-US" sz="2000" dirty="0">
                  <a:solidFill>
                    <a:srgbClr val="990099"/>
                  </a:solidFill>
                </a:rPr>
                <a:t>串</a:t>
              </a:r>
              <a:r>
                <a:rPr lang="en-US" altLang="zh-CN" sz="2000" dirty="0">
                  <a:solidFill>
                    <a:srgbClr val="990099"/>
                  </a:solidFill>
                </a:rPr>
                <a:t>)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--</a:t>
              </a:r>
              <a:r>
                <a:rPr lang="zh-CN" altLang="en-US" sz="2000" dirty="0">
                  <a:solidFill>
                    <a:schemeClr val="tx1"/>
                  </a:solidFill>
                </a:rPr>
                <a:t>含汉字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其它    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--</a:t>
              </a:r>
              <a:r>
                <a:rPr lang="zh-CN" altLang="en-US" sz="2000" dirty="0">
                  <a:solidFill>
                    <a:schemeClr val="tx1"/>
                  </a:solidFill>
                </a:rPr>
                <a:t>声音、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图形等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 Box 552"/>
            <p:cNvSpPr txBox="1">
              <a:spLocks noChangeArrowheads="1"/>
            </p:cNvSpPr>
            <p:nvPr/>
          </p:nvSpPr>
          <p:spPr bwMode="auto">
            <a:xfrm>
              <a:off x="2382" y="572"/>
              <a:ext cx="2585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无符号数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--</a:t>
              </a:r>
              <a:r>
                <a:rPr lang="zh-CN" altLang="en-US" sz="2000" dirty="0">
                  <a:solidFill>
                    <a:schemeClr val="tx1"/>
                  </a:solidFill>
                </a:rPr>
                <a:t>自然数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有符号数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--</a:t>
              </a:r>
              <a:r>
                <a:rPr lang="zh-CN" altLang="en-US" sz="2000" dirty="0">
                  <a:solidFill>
                    <a:schemeClr val="tx1"/>
                  </a:solidFill>
                </a:rPr>
                <a:t>整数、纯小数、实数等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 Box 526"/>
          <p:cNvSpPr txBox="1">
            <a:spLocks noChangeArrowheads="1"/>
          </p:cNvSpPr>
          <p:nvPr/>
        </p:nvSpPr>
        <p:spPr bwMode="auto">
          <a:xfrm>
            <a:off x="2987824" y="4149080"/>
            <a:ext cx="5855294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u="sng" dirty="0" smtClean="0">
                <a:solidFill>
                  <a:schemeClr val="tx1"/>
                </a:solidFill>
              </a:rPr>
              <a:t>最</a:t>
            </a:r>
            <a:r>
              <a:rPr lang="zh-CN" altLang="en-US" u="sng" dirty="0">
                <a:solidFill>
                  <a:schemeClr val="tx1"/>
                </a:solidFill>
              </a:rPr>
              <a:t>常用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最基本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数据类型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 smtClean="0">
                <a:solidFill>
                  <a:srgbClr val="FF3399"/>
                </a:solidFill>
              </a:rPr>
              <a:t>性</a:t>
            </a:r>
            <a:r>
              <a:rPr lang="en-US" altLang="zh-CN" sz="1800" dirty="0" smtClean="0">
                <a:solidFill>
                  <a:srgbClr val="FF3399"/>
                </a:solidFill>
              </a:rPr>
              <a:t>/</a:t>
            </a:r>
            <a:r>
              <a:rPr lang="zh-CN" altLang="en-US" sz="1800" dirty="0" smtClean="0">
                <a:solidFill>
                  <a:srgbClr val="FF3399"/>
                </a:solidFill>
              </a:rPr>
              <a:t>价高</a:t>
            </a:r>
            <a:endParaRPr lang="en-US" altLang="zh-CN" sz="1800" dirty="0" smtClean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dirty="0">
                <a:solidFill>
                  <a:schemeClr val="tx1"/>
                </a:solidFill>
              </a:rPr>
              <a:t>由程序员、编译程序共同</a:t>
            </a:r>
            <a:r>
              <a:rPr lang="zh-CN" altLang="en-US" dirty="0" smtClean="0">
                <a:solidFill>
                  <a:schemeClr val="tx1"/>
                </a:solidFill>
              </a:rPr>
              <a:t>完成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9" name="Group 556"/>
          <p:cNvGrpSpPr/>
          <p:nvPr/>
        </p:nvGrpSpPr>
        <p:grpSpPr bwMode="auto">
          <a:xfrm>
            <a:off x="1979018" y="5229200"/>
            <a:ext cx="6597654" cy="571500"/>
            <a:chOff x="1339" y="2165"/>
            <a:chExt cx="4156" cy="360"/>
          </a:xfrm>
        </p:grpSpPr>
        <p:sp>
          <p:nvSpPr>
            <p:cNvPr id="30" name="Text Box 557"/>
            <p:cNvSpPr txBox="1">
              <a:spLocks noChangeArrowheads="1"/>
            </p:cNvSpPr>
            <p:nvPr/>
          </p:nvSpPr>
          <p:spPr bwMode="auto">
            <a:xfrm>
              <a:off x="2117" y="2165"/>
              <a:ext cx="544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程序员</a:t>
              </a:r>
              <a:endParaRPr lang="zh-CN" altLang="en-US" sz="1800" dirty="0">
                <a:solidFill>
                  <a:srgbClr val="990099"/>
                </a:solidFill>
              </a:endParaRPr>
            </a:p>
          </p:txBody>
        </p:sp>
        <p:sp>
          <p:nvSpPr>
            <p:cNvPr id="31" name="Text Box 558"/>
            <p:cNvSpPr txBox="1">
              <a:spLocks noChangeArrowheads="1"/>
            </p:cNvSpPr>
            <p:nvPr/>
          </p:nvSpPr>
          <p:spPr bwMode="auto">
            <a:xfrm>
              <a:off x="1339" y="2165"/>
              <a:ext cx="712" cy="36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应用中的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数据类型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 Box 559"/>
            <p:cNvSpPr txBox="1">
              <a:spLocks noChangeArrowheads="1"/>
            </p:cNvSpPr>
            <p:nvPr/>
          </p:nvSpPr>
          <p:spPr bwMode="auto">
            <a:xfrm>
              <a:off x="2702" y="2165"/>
              <a:ext cx="1132" cy="36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编程语言支持的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数据类型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560"/>
            <p:cNvSpPr txBox="1">
              <a:spLocks noChangeArrowheads="1"/>
            </p:cNvSpPr>
            <p:nvPr/>
          </p:nvSpPr>
          <p:spPr bwMode="auto">
            <a:xfrm>
              <a:off x="4651" y="2165"/>
              <a:ext cx="844" cy="36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FF3399"/>
                  </a:solidFill>
                </a:rPr>
                <a:t>硬件支持的</a:t>
              </a:r>
              <a:endParaRPr lang="en-US" altLang="zh-CN" sz="1800" dirty="0" smtClean="0">
                <a:solidFill>
                  <a:srgbClr val="FF3399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数据类型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4" name="Line 561"/>
            <p:cNvSpPr>
              <a:spLocks noChangeShapeType="1"/>
            </p:cNvSpPr>
            <p:nvPr/>
          </p:nvSpPr>
          <p:spPr bwMode="auto">
            <a:xfrm>
              <a:off x="2051" y="2392"/>
              <a:ext cx="64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5" name="Text Box 562"/>
            <p:cNvSpPr txBox="1">
              <a:spLocks noChangeArrowheads="1"/>
            </p:cNvSpPr>
            <p:nvPr/>
          </p:nvSpPr>
          <p:spPr bwMode="auto">
            <a:xfrm>
              <a:off x="3925" y="2165"/>
              <a:ext cx="680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编译程序</a:t>
              </a:r>
              <a:endParaRPr lang="zh-CN" altLang="en-US" sz="1800" dirty="0">
                <a:solidFill>
                  <a:srgbClr val="990099"/>
                </a:solidFill>
              </a:endParaRPr>
            </a:p>
          </p:txBody>
        </p:sp>
        <p:sp>
          <p:nvSpPr>
            <p:cNvPr id="36" name="Line 563"/>
            <p:cNvSpPr>
              <a:spLocks noChangeShapeType="1"/>
            </p:cNvSpPr>
            <p:nvPr/>
          </p:nvSpPr>
          <p:spPr bwMode="auto">
            <a:xfrm flipV="1">
              <a:off x="3834" y="2392"/>
              <a:ext cx="816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37" name="Text Box 555"/>
          <p:cNvSpPr txBox="1">
            <a:spLocks noChangeArrowheads="1"/>
          </p:cNvSpPr>
          <p:nvPr/>
        </p:nvSpPr>
        <p:spPr bwMode="auto">
          <a:xfrm>
            <a:off x="1259632" y="5805264"/>
            <a:ext cx="7704856" cy="6278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如：</a:t>
            </a:r>
            <a:r>
              <a:rPr lang="en-US" altLang="zh-CN" sz="1800" dirty="0" smtClean="0">
                <a:solidFill>
                  <a:schemeClr val="tx1"/>
                </a:solidFill>
              </a:rPr>
              <a:t>20</a:t>
            </a:r>
            <a:r>
              <a:rPr lang="zh-CN" altLang="en-US" sz="1800" dirty="0" smtClean="0">
                <a:solidFill>
                  <a:schemeClr val="tx1"/>
                </a:solidFill>
              </a:rPr>
              <a:t>位整数操作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个</a:t>
            </a:r>
            <a:r>
              <a:rPr lang="en-US" altLang="zh-CN" sz="1800" dirty="0" smtClean="0">
                <a:solidFill>
                  <a:schemeClr val="tx1"/>
                </a:solidFill>
              </a:rPr>
              <a:t>long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int</a:t>
            </a:r>
            <a:r>
              <a:rPr lang="zh-CN" altLang="en-US" sz="1800" dirty="0" smtClean="0">
                <a:solidFill>
                  <a:schemeClr val="tx1"/>
                </a:solidFill>
              </a:rPr>
              <a:t>操作  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个</a:t>
            </a:r>
            <a:r>
              <a:rPr lang="en-US" altLang="zh-CN" sz="1800" dirty="0" smtClean="0">
                <a:solidFill>
                  <a:schemeClr val="tx1"/>
                </a:solidFill>
              </a:rPr>
              <a:t>16</a:t>
            </a:r>
            <a:r>
              <a:rPr lang="zh-CN" altLang="en-US" sz="1800" dirty="0" smtClean="0">
                <a:solidFill>
                  <a:schemeClr val="tx1"/>
                </a:solidFill>
              </a:rPr>
              <a:t>位操作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                        (</a:t>
            </a:r>
            <a:r>
              <a:rPr lang="zh-CN" altLang="en-US" sz="1600" dirty="0" smtClean="0">
                <a:solidFill>
                  <a:schemeClr val="tx1"/>
                </a:solidFill>
              </a:rPr>
              <a:t>设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sizeof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1600" dirty="0" smtClean="0">
                <a:solidFill>
                  <a:schemeClr val="tx1"/>
                </a:solidFill>
              </a:rPr>
              <a:t>)=16b)     </a:t>
            </a:r>
            <a:r>
              <a:rPr lang="en-US" altLang="zh-CN" sz="1400" dirty="0" smtClean="0">
                <a:solidFill>
                  <a:schemeClr val="tx1"/>
                </a:solidFill>
              </a:rPr>
              <a:t>        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设</a:t>
            </a:r>
            <a:r>
              <a:rPr lang="en-US" altLang="zh-CN" sz="1600" dirty="0" smtClean="0">
                <a:solidFill>
                  <a:schemeClr val="tx1"/>
                </a:solidFill>
              </a:rPr>
              <a:t>CPU</a:t>
            </a:r>
            <a:r>
              <a:rPr lang="zh-CN" altLang="en-US" sz="1600" dirty="0" smtClean="0">
                <a:solidFill>
                  <a:schemeClr val="tx1"/>
                </a:solidFill>
              </a:rPr>
              <a:t>为</a:t>
            </a:r>
            <a:r>
              <a:rPr lang="en-US" altLang="zh-CN" sz="1600" dirty="0" smtClean="0">
                <a:solidFill>
                  <a:schemeClr val="tx1"/>
                </a:solidFill>
              </a:rPr>
              <a:t>16</a:t>
            </a:r>
            <a:r>
              <a:rPr lang="zh-CN" altLang="en-US" sz="1600" dirty="0" smtClean="0">
                <a:solidFill>
                  <a:schemeClr val="tx1"/>
                </a:solidFill>
              </a:rPr>
              <a:t>位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8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901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  </a:t>
            </a:r>
            <a:r>
              <a:rPr lang="en-US" altLang="zh-CN" sz="2200" dirty="0" smtClean="0">
                <a:solidFill>
                  <a:srgbClr val="FF3399"/>
                </a:solidFill>
              </a:rPr>
              <a:t>※</a:t>
            </a:r>
            <a:r>
              <a:rPr lang="zh-CN" altLang="en-US" sz="2200" dirty="0" smtClean="0">
                <a:solidFill>
                  <a:srgbClr val="FF3399"/>
                </a:solidFill>
              </a:rPr>
              <a:t>主要内容：</a:t>
            </a:r>
            <a:r>
              <a:rPr lang="zh-CN" altLang="en-US" sz="2200" dirty="0" smtClean="0">
                <a:solidFill>
                  <a:schemeClr val="tx1"/>
                </a:solidFill>
              </a:rPr>
              <a:t>数据的表示方法，整数、实数、非数值数据的表示，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      </a:t>
            </a:r>
            <a:r>
              <a:rPr lang="zh-CN" altLang="en-US" sz="2200" dirty="0" smtClean="0">
                <a:solidFill>
                  <a:schemeClr val="tx1"/>
                </a:solidFill>
              </a:rPr>
              <a:t>位扩展运算、逻辑运算、关系运算的实现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 bldLvl="0" animBg="1"/>
      <p:bldP spid="3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7C01-535A-4F20-8E42-18132A719B67}" type="slidenum">
              <a:rPr lang="en-US" altLang="zh-CN"/>
            </a:fld>
            <a:endParaRPr lang="en-US" altLang="zh-CN"/>
          </a:p>
        </p:txBody>
      </p:sp>
      <p:sp>
        <p:nvSpPr>
          <p:cNvPr id="198671" name="Text Box 15"/>
          <p:cNvSpPr txBox="1">
            <a:spLocks noChangeArrowheads="1"/>
          </p:cNvSpPr>
          <p:nvPr/>
        </p:nvSpPr>
        <p:spPr bwMode="auto">
          <a:xfrm>
            <a:off x="179388" y="370642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一、数据的表示方法</a:t>
            </a:r>
            <a:endParaRPr lang="zh-CN" altLang="en-US" sz="2400" dirty="0"/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792000"/>
            <a:ext cx="5150485" cy="5646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数据的数学特征：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数值数据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非数值数据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硬件的表示特征：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数据的表示方法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面向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运算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进制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符号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小数点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编码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表示要素：</a:t>
            </a:r>
            <a:endParaRPr lang="en-US" altLang="zh-CN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27835" y="1259840"/>
            <a:ext cx="7375525" cy="51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含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进制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符号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小数点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编码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长度，有</a:t>
            </a:r>
            <a:r>
              <a:rPr lang="zh-CN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多种</a:t>
            </a:r>
            <a:r>
              <a:rPr 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组合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编码非数值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长度固定，</a:t>
            </a:r>
            <a:r>
              <a:rPr lang="zh-CN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进制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符号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小数点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二进制，</a:t>
            </a:r>
            <a:r>
              <a:rPr lang="zh-CN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符号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小数点，长度</a:t>
            </a:r>
            <a:r>
              <a:rPr lang="zh-CN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固定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定长运算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用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表示，可支持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b="1" u="sng" dirty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十进制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I/O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较多的数据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编码中用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数字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表示，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无符号数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的符号位为数值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</a:t>
            </a:r>
            <a:r>
              <a:rPr lang="en-US" altLang="zh-CN" sz="1800" b="0" spc="-1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长度应与有符号数相同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便于运算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不同格式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，类型有定点格式、浮点格式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点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位置隐含表示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   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无符号整数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纯小数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可为原码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补码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移码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无符号编码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便于运算实现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进制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编码，格式含小数点、编码含符号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39856" y="5544000"/>
            <a:ext cx="324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非数值数据怎么表示？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2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21561" y="5544000"/>
            <a:ext cx="39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机器数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1011011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的值是多少？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42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59445"/>
            <a:ext cx="3816548" cy="3599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*数据的表示：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 硬件需求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表示结果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zh-CN" sz="1800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*数据的运算：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运算实现方法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溢出处理方法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*表示与运算的关系：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1" name="Text Box 5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39975" y="828040"/>
            <a:ext cx="6619240" cy="1291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786380" indent="-2786380"/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每种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数据类型只有</a:t>
            </a:r>
            <a:r>
              <a:rPr lang="zh-CN" altLang="en-US" u="sng" dirty="0" smtClean="0">
                <a:solidFill>
                  <a:srgbClr val="0070C0"/>
                </a:solidFill>
                <a:sym typeface="+mn-ea"/>
              </a:rPr>
              <a:t>一种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长度  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←硬件</a:t>
            </a:r>
            <a:r>
              <a:rPr lang="zh-CN" altLang="en-US" sz="1800" u="sng" dirty="0" smtClean="0">
                <a:solidFill>
                  <a:srgbClr val="990099"/>
                </a:solidFill>
                <a:sym typeface="+mn-ea"/>
              </a:rPr>
              <a:t>定长运算</a:t>
            </a:r>
            <a:endParaRPr lang="zh-CN" altLang="en-US" dirty="0" smtClean="0">
              <a:solidFill>
                <a:srgbClr val="990099"/>
              </a:solidFill>
              <a:sym typeface="+mn-ea"/>
            </a:endParaRPr>
          </a:p>
          <a:p>
            <a:pPr marL="2786380" indent="-2786380"/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同一类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数据可有</a:t>
            </a:r>
            <a:r>
              <a:rPr lang="zh-CN" altLang="en-US" u="sng" dirty="0" smtClean="0">
                <a:solidFill>
                  <a:srgbClr val="0070C0"/>
                </a:solidFill>
                <a:sym typeface="+mn-ea"/>
              </a:rPr>
              <a:t>多种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数据类型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←提高</a:t>
            </a:r>
            <a:r>
              <a:rPr lang="zh-CN" altLang="en-US" sz="1800" u="sng" dirty="0" smtClean="0">
                <a:solidFill>
                  <a:srgbClr val="990099"/>
                </a:solidFill>
                <a:sym typeface="+mn-ea"/>
              </a:rPr>
              <a:t>存储效率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</a:t>
            </a:r>
            <a:r>
              <a:rPr lang="en-US" altLang="zh-CN" sz="1800" b="0" dirty="0" smtClean="0">
                <a:solidFill>
                  <a:schemeClr val="tx1"/>
                </a:solidFill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表示格式中含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长度，如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int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short</a:t>
            </a:r>
            <a:endParaRPr lang="en-US" altLang="zh-CN" sz="18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4" name="Text Box 8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87675" y="2458720"/>
            <a:ext cx="597217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786380" indent="-2786380"/>
            <a:r>
              <a:rPr lang="zh-CN" altLang="en-US" dirty="0" smtClean="0">
                <a:solidFill>
                  <a:schemeClr val="tx1"/>
                </a:solidFill>
              </a:rPr>
              <a:t>基于</a:t>
            </a:r>
            <a:r>
              <a:rPr lang="zh-CN" altLang="en-US" u="sng" dirty="0" smtClean="0">
                <a:solidFill>
                  <a:srgbClr val="0070C0"/>
                </a:solidFill>
              </a:rPr>
              <a:t>数据表示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进制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格式</a:t>
            </a:r>
            <a:r>
              <a:rPr lang="en-US" altLang="zh-CN" sz="1800" dirty="0" smtClean="0">
                <a:solidFill>
                  <a:schemeClr val="tx1"/>
                </a:solidFill>
              </a:rPr>
              <a:t>[</a:t>
            </a:r>
            <a:r>
              <a:rPr lang="zh-CN" altLang="en-US" sz="1800" dirty="0" smtClean="0">
                <a:solidFill>
                  <a:schemeClr val="tx1"/>
                </a:solidFill>
              </a:rPr>
              <a:t>含长度</a:t>
            </a:r>
            <a:r>
              <a:rPr lang="en-US" altLang="zh-CN" sz="1800" dirty="0" smtClean="0">
                <a:solidFill>
                  <a:schemeClr val="tx1"/>
                </a:solidFill>
              </a:rPr>
              <a:t>]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编码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进行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dirty="0" smtClean="0">
                <a:solidFill>
                  <a:schemeClr val="tx1"/>
                </a:solidFill>
              </a:rPr>
              <a:t>硬件</a:t>
            </a:r>
            <a:r>
              <a:rPr lang="zh-CN" altLang="en-US" u="sng" dirty="0">
                <a:solidFill>
                  <a:srgbClr val="0070C0"/>
                </a:solidFill>
              </a:rPr>
              <a:t>检测</a:t>
            </a:r>
            <a:r>
              <a:rPr lang="en-US" altLang="zh-CN" u="sng" dirty="0">
                <a:solidFill>
                  <a:srgbClr val="0070C0"/>
                </a:solidFill>
              </a:rPr>
              <a:t>/</a:t>
            </a:r>
            <a:r>
              <a:rPr lang="zh-CN" altLang="en-US" u="sng" dirty="0">
                <a:solidFill>
                  <a:srgbClr val="0070C0"/>
                </a:solidFill>
              </a:rPr>
              <a:t>通知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高效支持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dirty="0" smtClean="0">
                <a:solidFill>
                  <a:schemeClr val="tx1"/>
                </a:solidFill>
              </a:rPr>
              <a:t>软件</a:t>
            </a:r>
            <a:r>
              <a:rPr lang="zh-CN" altLang="en-US" u="sng" dirty="0" smtClean="0">
                <a:solidFill>
                  <a:srgbClr val="0070C0"/>
                </a:solidFill>
              </a:rPr>
              <a:t>处理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灵活性好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800" u="sng" dirty="0" smtClean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477174" y="3924000"/>
            <a:ext cx="3349876" cy="1692725"/>
            <a:chOff x="2122162" y="2636912"/>
            <a:chExt cx="3349876" cy="1692725"/>
          </a:xfrm>
        </p:grpSpPr>
        <p:sp>
          <p:nvSpPr>
            <p:cNvPr id="54" name="Text Box 9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48038" y="2636912"/>
              <a:ext cx="2124000" cy="97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进制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二进制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格式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小数点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长度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编码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>
                  <a:solidFill>
                    <a:schemeClr val="tx1"/>
                  </a:solidFill>
                </a:rPr>
                <a:t>符号</a:t>
              </a: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数值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 Box 9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195188" y="2960912"/>
              <a:ext cx="108141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数据表示</a:t>
              </a:r>
              <a:endParaRPr lang="zh-CN" altLang="en-US" sz="2000" dirty="0">
                <a:solidFill>
                  <a:schemeClr val="accent2"/>
                </a:solidFill>
              </a:endParaRPr>
            </a:p>
          </p:txBody>
        </p:sp>
        <p:sp>
          <p:nvSpPr>
            <p:cNvPr id="56" name="AutoShape 97"/>
            <p:cNvSpPr/>
            <p:nvPr>
              <p:custDataLst>
                <p:tags r:id="rId6"/>
              </p:custDataLst>
            </p:nvPr>
          </p:nvSpPr>
          <p:spPr bwMode="auto">
            <a:xfrm>
              <a:off x="3274458" y="2780928"/>
              <a:ext cx="71437" cy="684000"/>
            </a:xfrm>
            <a:prstGeom prst="leftBrace">
              <a:avLst>
                <a:gd name="adj1" fmla="val 388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7" name="Text Box 9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195188" y="3860912"/>
              <a:ext cx="1081412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数据运算</a:t>
              </a:r>
              <a:endParaRPr lang="zh-CN" altLang="en-US" sz="2000" dirty="0">
                <a:solidFill>
                  <a:schemeClr val="accent2"/>
                </a:solidFill>
              </a:endParaRPr>
            </a:p>
          </p:txBody>
        </p:sp>
        <p:sp>
          <p:nvSpPr>
            <p:cNvPr id="58" name="AutoShape 100"/>
            <p:cNvSpPr/>
            <p:nvPr>
              <p:custDataLst>
                <p:tags r:id="rId8"/>
              </p:custDataLst>
            </p:nvPr>
          </p:nvSpPr>
          <p:spPr bwMode="auto">
            <a:xfrm>
              <a:off x="2122162" y="3032912"/>
              <a:ext cx="73026" cy="972000"/>
            </a:xfrm>
            <a:prstGeom prst="leftBrace">
              <a:avLst>
                <a:gd name="adj1" fmla="val 10925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9" name="Text Box 9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48038" y="3608912"/>
              <a:ext cx="1584000" cy="720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14000"/>
                </a:lnSpc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运算实现</a:t>
              </a:r>
              <a:endParaRPr lang="en-US" altLang="zh-CN" sz="2000" dirty="0" smtClean="0">
                <a:solidFill>
                  <a:srgbClr val="990099"/>
                </a:solidFill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000" dirty="0" smtClean="0">
                  <a:solidFill>
                    <a:srgbClr val="990099"/>
                  </a:solidFill>
                </a:rPr>
                <a:t>溢出处理</a:t>
              </a:r>
              <a:endParaRPr lang="zh-CN" altLang="en-US" sz="2000" dirty="0">
                <a:solidFill>
                  <a:srgbClr val="990099"/>
                </a:solidFill>
              </a:endParaRPr>
            </a:p>
          </p:txBody>
        </p:sp>
        <p:sp>
          <p:nvSpPr>
            <p:cNvPr id="60" name="AutoShape 99"/>
            <p:cNvSpPr/>
            <p:nvPr>
              <p:custDataLst>
                <p:tags r:id="rId10"/>
              </p:custDataLst>
            </p:nvPr>
          </p:nvSpPr>
          <p:spPr bwMode="auto">
            <a:xfrm>
              <a:off x="3274458" y="3752912"/>
              <a:ext cx="71438" cy="432000"/>
            </a:xfrm>
            <a:prstGeom prst="leftBrace">
              <a:avLst>
                <a:gd name="adj1" fmla="val 2310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sp>
        <p:nvSpPr>
          <p:cNvPr id="73" name="AutoShape 29"/>
          <p:cNvSpPr/>
          <p:nvPr>
            <p:custDataLst>
              <p:tags r:id="rId11"/>
            </p:custDataLst>
          </p:nvPr>
        </p:nvSpPr>
        <p:spPr bwMode="auto">
          <a:xfrm>
            <a:off x="396000" y="5508000"/>
            <a:ext cx="1332000" cy="252000"/>
          </a:xfrm>
          <a:prstGeom prst="borderCallout2">
            <a:avLst>
              <a:gd name="adj1" fmla="val 51113"/>
              <a:gd name="adj2" fmla="val 100155"/>
              <a:gd name="adj3" fmla="val 52373"/>
              <a:gd name="adj4" fmla="val 117556"/>
              <a:gd name="adj5" fmla="val -47125"/>
              <a:gd name="adj6" fmla="val 129830"/>
            </a:avLst>
          </a:prstGeom>
          <a:noFill/>
          <a:ln w="12700" algn="ctr">
            <a:solidFill>
              <a:srgbClr val="CC330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100000"/>
              </a:lnSpc>
            </a:pPr>
            <a:r>
              <a:rPr lang="zh-CN" altLang="en-US" sz="1600" dirty="0" smtClean="0">
                <a:solidFill>
                  <a:srgbClr val="990099"/>
                </a:solidFill>
              </a:rPr>
              <a:t>组成</a:t>
            </a:r>
            <a:r>
              <a:rPr lang="zh-CN" altLang="en-US" sz="1600" dirty="0" smtClean="0">
                <a:solidFill>
                  <a:schemeClr val="tx1"/>
                </a:solidFill>
              </a:rPr>
              <a:t>逻辑实现</a:t>
            </a:r>
            <a:endParaRPr lang="zh-CN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74" name="Text Box 1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364480" y="4184650"/>
            <a:ext cx="3456000" cy="1188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solidFill>
                  <a:srgbClr val="FF3399"/>
                </a:solidFill>
              </a:rPr>
              <a:t>本课程的要求：</a:t>
            </a:r>
            <a:endParaRPr lang="en-US" altLang="zh-CN" sz="2000" dirty="0" smtClean="0">
              <a:solidFill>
                <a:srgbClr val="FF3399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r>
              <a:rPr lang="zh-CN" altLang="en-US" sz="2000" dirty="0" smtClean="0"/>
              <a:t>  </a:t>
            </a:r>
            <a:r>
              <a:rPr lang="zh-CN" altLang="en-US" sz="2000" u="sng" dirty="0" smtClean="0"/>
              <a:t>认知</a:t>
            </a:r>
            <a:r>
              <a:rPr lang="zh-CN" altLang="en-US" sz="2000" dirty="0" smtClean="0">
                <a:solidFill>
                  <a:schemeClr val="tx1"/>
                </a:solidFill>
              </a:rPr>
              <a:t>数据表示</a:t>
            </a:r>
            <a:r>
              <a:rPr lang="en-US" altLang="zh-CN" sz="1600" dirty="0" smtClean="0">
                <a:solidFill>
                  <a:schemeClr val="tx1"/>
                </a:solidFill>
              </a:rPr>
              <a:t>(ISA</a:t>
            </a:r>
            <a:r>
              <a:rPr lang="zh-CN" altLang="en-US" sz="1600" dirty="0" smtClean="0">
                <a:solidFill>
                  <a:schemeClr val="tx1"/>
                </a:solidFill>
              </a:rPr>
              <a:t>的数据约定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r>
              <a:rPr lang="zh-CN" altLang="en-US" sz="2000" dirty="0" smtClean="0"/>
              <a:t>  </a:t>
            </a:r>
            <a:r>
              <a:rPr lang="zh-CN" altLang="en-US" sz="2000" u="sng" dirty="0" smtClean="0"/>
              <a:t>实现</a:t>
            </a:r>
            <a:r>
              <a:rPr lang="zh-CN" altLang="en-US" sz="2000" dirty="0" smtClean="0">
                <a:solidFill>
                  <a:schemeClr val="tx1"/>
                </a:solidFill>
              </a:rPr>
              <a:t>数据运算</a:t>
            </a:r>
            <a:r>
              <a:rPr lang="en-US" altLang="zh-CN" sz="1600" dirty="0" smtClean="0">
                <a:solidFill>
                  <a:schemeClr val="tx1"/>
                </a:solidFill>
              </a:rPr>
              <a:t>(ISA</a:t>
            </a:r>
            <a:r>
              <a:rPr lang="zh-CN" altLang="en-US" sz="1600" dirty="0" smtClean="0">
                <a:solidFill>
                  <a:schemeClr val="tx1"/>
                </a:solidFill>
              </a:rPr>
              <a:t>的操作功能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39" name="AutoShape 29"/>
          <p:cNvSpPr/>
          <p:nvPr>
            <p:custDataLst>
              <p:tags r:id="rId13"/>
            </p:custDataLst>
          </p:nvPr>
        </p:nvSpPr>
        <p:spPr bwMode="auto">
          <a:xfrm>
            <a:off x="396000" y="3924000"/>
            <a:ext cx="1332000" cy="252000"/>
          </a:xfrm>
          <a:prstGeom prst="borderCallout2">
            <a:avLst>
              <a:gd name="adj1" fmla="val 49951"/>
              <a:gd name="adj2" fmla="val 100005"/>
              <a:gd name="adj3" fmla="val 49858"/>
              <a:gd name="adj4" fmla="val 113169"/>
              <a:gd name="adj5" fmla="val 123591"/>
              <a:gd name="adj6" fmla="val 128305"/>
            </a:avLst>
          </a:prstGeom>
          <a:noFill/>
          <a:ln w="12700" algn="ctr">
            <a:solidFill>
              <a:srgbClr val="CC330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100000"/>
              </a:lnSpc>
            </a:pPr>
            <a:r>
              <a:rPr lang="zh-CN" altLang="en-US" sz="1600" dirty="0" smtClean="0">
                <a:solidFill>
                  <a:srgbClr val="990099"/>
                </a:solidFill>
              </a:rPr>
              <a:t>结构</a:t>
            </a:r>
            <a:r>
              <a:rPr lang="zh-CN" altLang="en-US" sz="1600" dirty="0" smtClean="0">
                <a:solidFill>
                  <a:schemeClr val="tx1"/>
                </a:solidFill>
              </a:rPr>
              <a:t>负责设计</a:t>
            </a:r>
            <a:endParaRPr lang="zh-CN" altLang="en-US" sz="1600" dirty="0" smtClean="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925570" y="4067810"/>
            <a:ext cx="1189355" cy="1403985"/>
            <a:chOff x="6860" y="6406"/>
            <a:chExt cx="1873" cy="2211"/>
          </a:xfrm>
        </p:grpSpPr>
        <p:sp>
          <p:nvSpPr>
            <p:cNvPr id="4" name="右大括号 3"/>
            <p:cNvSpPr/>
            <p:nvPr/>
          </p:nvSpPr>
          <p:spPr>
            <a:xfrm>
              <a:off x="8164" y="6406"/>
              <a:ext cx="113" cy="1077"/>
            </a:xfrm>
            <a:prstGeom prst="rightBrace">
              <a:avLst>
                <a:gd name="adj1" fmla="val 11504"/>
                <a:gd name="adj2" fmla="val 50000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右大括号 4"/>
            <p:cNvSpPr/>
            <p:nvPr>
              <p:custDataLst>
                <p:tags r:id="rId14"/>
              </p:custDataLst>
            </p:nvPr>
          </p:nvSpPr>
          <p:spPr>
            <a:xfrm>
              <a:off x="6860" y="7937"/>
              <a:ext cx="113" cy="680"/>
            </a:xfrm>
            <a:prstGeom prst="rightBrace">
              <a:avLst>
                <a:gd name="adj1" fmla="val 11504"/>
                <a:gd name="adj2" fmla="val 50000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5"/>
              </p:custDataLst>
            </p:nvPr>
          </p:nvCxnSpPr>
          <p:spPr>
            <a:xfrm>
              <a:off x="8393" y="691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16"/>
              </p:custDataLst>
            </p:nvPr>
          </p:nvCxnSpPr>
          <p:spPr>
            <a:xfrm flipH="1">
              <a:off x="7030" y="8277"/>
              <a:ext cx="170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17"/>
              </p:custDataLst>
            </p:nvPr>
          </p:nvCxnSpPr>
          <p:spPr>
            <a:xfrm flipH="1">
              <a:off x="8731" y="6917"/>
              <a:ext cx="0" cy="136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74" grpId="0" bldLvl="0" animBg="1"/>
      <p:bldP spid="3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A544-4847-4BF4-B7CA-76A6520E954B}" type="slidenum">
              <a:rPr lang="en-US" altLang="zh-CN"/>
            </a:fld>
            <a:endParaRPr lang="en-US" altLang="zh-CN"/>
          </a:p>
        </p:txBody>
      </p:sp>
      <p:sp>
        <p:nvSpPr>
          <p:cNvPr id="237580" name="Text Box 12"/>
          <p:cNvSpPr txBox="1">
            <a:spLocks noChangeArrowheads="1"/>
          </p:cNvSpPr>
          <p:nvPr/>
        </p:nvSpPr>
        <p:spPr bwMode="auto">
          <a:xfrm>
            <a:off x="179388" y="332989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二、整数的表示</a:t>
            </a:r>
            <a:endParaRPr lang="zh-CN" altLang="en-US" sz="2400" dirty="0"/>
          </a:p>
        </p:txBody>
      </p:sp>
      <p:sp>
        <p:nvSpPr>
          <p:cNvPr id="237581" name="Text Box 13"/>
          <p:cNvSpPr txBox="1">
            <a:spLocks noChangeArrowheads="1"/>
          </p:cNvSpPr>
          <p:nvPr/>
        </p:nvSpPr>
        <p:spPr bwMode="auto">
          <a:xfrm>
            <a:off x="179388" y="781048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、定点</a:t>
            </a:r>
            <a:r>
              <a:rPr lang="zh-CN" altLang="en-US" dirty="0" smtClean="0">
                <a:solidFill>
                  <a:srgbClr val="FF3399"/>
                </a:solidFill>
              </a:rPr>
              <a:t>表示方法</a:t>
            </a:r>
            <a:endParaRPr lang="zh-CN" altLang="en-US" dirty="0">
              <a:solidFill>
                <a:srgbClr val="FF3399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rgbClr val="C00000"/>
                </a:solidFill>
              </a:rPr>
              <a:t> *表示方法：</a:t>
            </a:r>
            <a:r>
              <a:rPr lang="zh-CN" altLang="en-US" dirty="0" smtClean="0">
                <a:solidFill>
                  <a:schemeClr val="tx1"/>
                </a:solidFill>
              </a:rPr>
              <a:t>数据中的</a:t>
            </a:r>
            <a:r>
              <a:rPr lang="zh-CN" altLang="en-US" dirty="0">
                <a:solidFill>
                  <a:schemeClr val="tx1"/>
                </a:solidFill>
              </a:rPr>
              <a:t>小数点位置</a:t>
            </a:r>
            <a:r>
              <a:rPr lang="zh-CN" altLang="en-US" u="sng" dirty="0">
                <a:solidFill>
                  <a:schemeClr val="accent2"/>
                </a:solidFill>
              </a:rPr>
              <a:t>固定</a:t>
            </a:r>
            <a:r>
              <a:rPr lang="zh-CN" altLang="en-US" u="sng" dirty="0" smtClean="0">
                <a:solidFill>
                  <a:schemeClr val="accent2"/>
                </a:solidFill>
              </a:rPr>
              <a:t>不变</a:t>
            </a:r>
            <a:endParaRPr lang="en-US" altLang="zh-CN" u="sng" dirty="0" smtClean="0">
              <a:solidFill>
                <a:schemeClr val="accent2"/>
              </a:solidFill>
            </a:endParaRPr>
          </a:p>
          <a:p>
            <a:pPr marL="1075055" indent="-107505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表示格式</a:t>
            </a:r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7582" name="Text Box 14"/>
          <p:cNvSpPr txBox="1">
            <a:spLocks noChangeArrowheads="1"/>
          </p:cNvSpPr>
          <p:nvPr/>
        </p:nvSpPr>
        <p:spPr bwMode="auto">
          <a:xfrm>
            <a:off x="179388" y="347049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表数范围</a:t>
            </a:r>
            <a:r>
              <a:rPr lang="zh-CN" altLang="en-US" dirty="0">
                <a:solidFill>
                  <a:srgbClr val="C00000"/>
                </a:solidFill>
              </a:rPr>
              <a:t>：  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设数码长度为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位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237729" name="Group 161"/>
          <p:cNvGraphicFramePr>
            <a:graphicFrameLocks noGrp="1"/>
          </p:cNvGraphicFramePr>
          <p:nvPr/>
        </p:nvGraphicFramePr>
        <p:xfrm>
          <a:off x="285720" y="4019771"/>
          <a:ext cx="8677305" cy="1641477"/>
        </p:xfrm>
        <a:graphic>
          <a:graphicData uri="http://schemas.openxmlformats.org/drawingml/2006/table">
            <a:tbl>
              <a:tblPr/>
              <a:tblGrid>
                <a:gridCol w="1465293"/>
                <a:gridCol w="1884362"/>
                <a:gridCol w="2447925"/>
                <a:gridCol w="2879725"/>
              </a:tblGrid>
              <a:tr h="5603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自然数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无符号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整数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有符号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纯小数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有符号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-(2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+(2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-(1-2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+(1-2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-1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+(1-2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无符号编码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37740" name="Group 172"/>
          <p:cNvGrpSpPr/>
          <p:nvPr/>
        </p:nvGrpSpPr>
        <p:grpSpPr bwMode="auto">
          <a:xfrm>
            <a:off x="1548854" y="2219571"/>
            <a:ext cx="5759450" cy="1192216"/>
            <a:chOff x="749" y="847"/>
            <a:chExt cx="3628" cy="751"/>
          </a:xfrm>
        </p:grpSpPr>
        <p:sp>
          <p:nvSpPr>
            <p:cNvPr id="237741" name="Text Box 173"/>
            <p:cNvSpPr txBox="1">
              <a:spLocks noChangeArrowheads="1"/>
            </p:cNvSpPr>
            <p:nvPr/>
          </p:nvSpPr>
          <p:spPr bwMode="auto">
            <a:xfrm>
              <a:off x="749" y="847"/>
              <a:ext cx="353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rIns="18000"/>
            <a:lstStyle/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无符号整数      有符号整数        纯小数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37742" name="Text Box 174"/>
            <p:cNvSpPr txBox="1">
              <a:spLocks noChangeArrowheads="1"/>
            </p:cNvSpPr>
            <p:nvPr/>
          </p:nvSpPr>
          <p:spPr bwMode="auto">
            <a:xfrm>
              <a:off x="793" y="1117"/>
              <a:ext cx="99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000" baseline="-25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baseline="-25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20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37743" name="Text Box 175"/>
            <p:cNvSpPr txBox="1">
              <a:spLocks noChangeArrowheads="1"/>
            </p:cNvSpPr>
            <p:nvPr/>
          </p:nvSpPr>
          <p:spPr bwMode="auto">
            <a:xfrm>
              <a:off x="2064" y="1117"/>
              <a:ext cx="99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 err="1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err="1" smtClean="0">
                  <a:solidFill>
                    <a:schemeClr val="tx1"/>
                  </a:solidFill>
                </a:rPr>
                <a:t>S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baseline="-25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20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37744" name="Line 176"/>
            <p:cNvSpPr>
              <a:spLocks noChangeShapeType="1"/>
            </p:cNvSpPr>
            <p:nvPr/>
          </p:nvSpPr>
          <p:spPr bwMode="auto">
            <a:xfrm>
              <a:off x="2246" y="1117"/>
              <a:ext cx="0" cy="227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5" name="Text Box 177"/>
            <p:cNvSpPr txBox="1">
              <a:spLocks noChangeArrowheads="1"/>
            </p:cNvSpPr>
            <p:nvPr/>
          </p:nvSpPr>
          <p:spPr bwMode="auto">
            <a:xfrm>
              <a:off x="3378" y="1117"/>
              <a:ext cx="99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 err="1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err="1" smtClean="0">
                  <a:solidFill>
                    <a:schemeClr val="tx1"/>
                  </a:solidFill>
                </a:rPr>
                <a:t>S</a:t>
              </a:r>
              <a:r>
                <a:rPr lang="en-US" altLang="zh-CN" sz="2000" baseline="-25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-1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-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(n-1)</a:t>
              </a:r>
              <a:endParaRPr lang="en-US" altLang="zh-CN" sz="20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37747" name="Line 179"/>
            <p:cNvSpPr>
              <a:spLocks noChangeShapeType="1"/>
            </p:cNvSpPr>
            <p:nvPr/>
          </p:nvSpPr>
          <p:spPr bwMode="auto">
            <a:xfrm>
              <a:off x="3560" y="1117"/>
              <a:ext cx="0" cy="227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8" name="Oval 180"/>
            <p:cNvSpPr>
              <a:spLocks noChangeArrowheads="1"/>
            </p:cNvSpPr>
            <p:nvPr/>
          </p:nvSpPr>
          <p:spPr bwMode="auto">
            <a:xfrm>
              <a:off x="3108" y="1325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49" name="Oval 181"/>
            <p:cNvSpPr>
              <a:spLocks noChangeArrowheads="1"/>
            </p:cNvSpPr>
            <p:nvPr/>
          </p:nvSpPr>
          <p:spPr bwMode="auto">
            <a:xfrm>
              <a:off x="1837" y="1325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0" name="AutoShape 182"/>
            <p:cNvSpPr/>
            <p:nvPr/>
          </p:nvSpPr>
          <p:spPr bwMode="auto">
            <a:xfrm rot="16200000">
              <a:off x="1269" y="895"/>
              <a:ext cx="45" cy="998"/>
            </a:xfrm>
            <a:prstGeom prst="leftBrace">
              <a:avLst>
                <a:gd name="adj1" fmla="val 18481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1" name="AutoShape 183"/>
            <p:cNvSpPr/>
            <p:nvPr/>
          </p:nvSpPr>
          <p:spPr bwMode="auto">
            <a:xfrm rot="16200000">
              <a:off x="2631" y="986"/>
              <a:ext cx="45" cy="816"/>
            </a:xfrm>
            <a:prstGeom prst="leftBrace">
              <a:avLst>
                <a:gd name="adj1" fmla="val 151111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2" name="Line 184"/>
            <p:cNvSpPr>
              <a:spLocks noChangeShapeType="1"/>
            </p:cNvSpPr>
            <p:nvPr/>
          </p:nvSpPr>
          <p:spPr bwMode="auto">
            <a:xfrm flipV="1">
              <a:off x="2155" y="1344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53" name="Text Box 185"/>
            <p:cNvSpPr txBox="1">
              <a:spLocks noChangeArrowheads="1"/>
            </p:cNvSpPr>
            <p:nvPr/>
          </p:nvSpPr>
          <p:spPr bwMode="auto">
            <a:xfrm>
              <a:off x="1156" y="1435"/>
              <a:ext cx="3130" cy="1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数值        数符   数值       数符   数值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37754" name="AutoShape 186"/>
            <p:cNvSpPr/>
            <p:nvPr/>
          </p:nvSpPr>
          <p:spPr bwMode="auto">
            <a:xfrm rot="16200000">
              <a:off x="3973" y="1012"/>
              <a:ext cx="45" cy="763"/>
            </a:xfrm>
            <a:prstGeom prst="leftBrace">
              <a:avLst>
                <a:gd name="adj1" fmla="val 14129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5" name="Line 187"/>
            <p:cNvSpPr>
              <a:spLocks noChangeShapeType="1"/>
            </p:cNvSpPr>
            <p:nvPr/>
          </p:nvSpPr>
          <p:spPr bwMode="auto">
            <a:xfrm flipH="1" flipV="1">
              <a:off x="3469" y="1344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6" name="Oval 178"/>
            <p:cNvSpPr>
              <a:spLocks noChangeArrowheads="1"/>
            </p:cNvSpPr>
            <p:nvPr/>
          </p:nvSpPr>
          <p:spPr bwMode="auto">
            <a:xfrm>
              <a:off x="3551" y="1325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1" grpId="0" autoUpdateAnimBg="0"/>
      <p:bldP spid="23758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55"/>
          <p:cNvSpPr txBox="1">
            <a:spLocks noChangeArrowheads="1"/>
          </p:cNvSpPr>
          <p:nvPr/>
        </p:nvSpPr>
        <p:spPr bwMode="auto">
          <a:xfrm>
            <a:off x="179264" y="325105"/>
            <a:ext cx="8748836" cy="2464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、整数</a:t>
            </a:r>
            <a:r>
              <a:rPr lang="zh-CN" altLang="en-US" dirty="0">
                <a:solidFill>
                  <a:srgbClr val="FF3399"/>
                </a:solidFill>
              </a:rPr>
              <a:t>的</a:t>
            </a:r>
            <a:r>
              <a:rPr lang="zh-CN" altLang="en-US" dirty="0" smtClean="0">
                <a:solidFill>
                  <a:srgbClr val="FF3399"/>
                </a:solidFill>
              </a:rPr>
              <a:t>表示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 marL="1075055" indent="-1075055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指二进制整数的表示    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990099"/>
                </a:solidFill>
              </a:rPr>
              <a:t>BCD</a:t>
            </a:r>
            <a:r>
              <a:rPr lang="zh-CN" altLang="en-US" sz="1800" dirty="0" smtClean="0">
                <a:solidFill>
                  <a:srgbClr val="990099"/>
                </a:solidFill>
              </a:rPr>
              <a:t>数</a:t>
            </a:r>
            <a:r>
              <a:rPr lang="zh-CN" altLang="en-US" sz="1800" dirty="0" smtClean="0">
                <a:solidFill>
                  <a:srgbClr val="990099"/>
                </a:solidFill>
                <a:sym typeface="Symbol" panose="05050102010706020507"/>
              </a:rPr>
              <a:t>整数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运算方法不同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)</a:t>
            </a:r>
            <a:endParaRPr lang="en-US" altLang="zh-CN" dirty="0" smtClean="0">
              <a:solidFill>
                <a:schemeClr val="tx1"/>
              </a:solidFill>
              <a:sym typeface="Symbol" panose="05050102010706020507"/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*表示方法：</a:t>
            </a:r>
            <a:r>
              <a:rPr lang="zh-CN" altLang="en-US" dirty="0" smtClean="0">
                <a:solidFill>
                  <a:schemeClr val="accent2"/>
                </a:solidFill>
              </a:rPr>
              <a:t>无</a:t>
            </a:r>
            <a:r>
              <a:rPr lang="zh-CN" altLang="en-US" dirty="0">
                <a:solidFill>
                  <a:schemeClr val="accent2"/>
                </a:solidFill>
              </a:rPr>
              <a:t>符号整数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rgbClr val="C00000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chemeClr val="accent2"/>
                </a:solidFill>
              </a:rPr>
              <a:t>            有</a:t>
            </a:r>
            <a:r>
              <a:rPr lang="zh-CN" altLang="en-US" dirty="0">
                <a:solidFill>
                  <a:schemeClr val="accent2"/>
                </a:solidFill>
              </a:rPr>
              <a:t>符号整数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>
              <a:spcBef>
                <a:spcPts val="20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*硬件支持的整数类型：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178AC-C187-426A-9734-486A5DB98F87}" type="slidenum">
              <a:rPr lang="en-US" altLang="zh-CN"/>
            </a:fld>
            <a:endParaRPr lang="en-US" altLang="zh-CN" dirty="0"/>
          </a:p>
        </p:txBody>
      </p:sp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3923928" y="1268760"/>
            <a:ext cx="460418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dirty="0" smtClean="0">
                <a:solidFill>
                  <a:schemeClr val="tx1"/>
                </a:solidFill>
              </a:rPr>
              <a:t>二进制、定点格式、</a:t>
            </a:r>
            <a:r>
              <a:rPr lang="zh-CN" altLang="en-US" u="sng" dirty="0" smtClean="0">
                <a:solidFill>
                  <a:schemeClr val="tx1"/>
                </a:solidFill>
              </a:rPr>
              <a:t>无符号编码</a:t>
            </a:r>
            <a:endParaRPr lang="en-US" altLang="zh-CN" u="sng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chemeClr val="tx1"/>
                </a:solidFill>
              </a:rPr>
              <a:t>二进制、</a:t>
            </a:r>
            <a:r>
              <a:rPr lang="zh-CN" altLang="en-US" dirty="0">
                <a:solidFill>
                  <a:schemeClr val="tx1"/>
                </a:solidFill>
              </a:rPr>
              <a:t>定点格式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zh-CN" altLang="en-US" u="sng" dirty="0" smtClean="0">
                <a:solidFill>
                  <a:srgbClr val="990099"/>
                </a:solidFill>
              </a:rPr>
              <a:t>补码</a:t>
            </a:r>
            <a:endParaRPr lang="en-US" altLang="zh-CN" u="sng" dirty="0" smtClean="0">
              <a:solidFill>
                <a:srgbClr val="990099"/>
              </a:solidFill>
            </a:endParaRPr>
          </a:p>
        </p:txBody>
      </p:sp>
      <p:sp>
        <p:nvSpPr>
          <p:cNvPr id="436237" name="Text Box 13"/>
          <p:cNvSpPr txBox="1">
            <a:spLocks noChangeArrowheads="1"/>
          </p:cNvSpPr>
          <p:nvPr/>
        </p:nvSpPr>
        <p:spPr bwMode="auto">
          <a:xfrm>
            <a:off x="179263" y="2697450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990099"/>
                </a:solidFill>
              </a:rPr>
              <a:t>   </a:t>
            </a:r>
            <a:r>
              <a:rPr lang="en-US" altLang="zh-CN" sz="2200" dirty="0" smtClean="0">
                <a:solidFill>
                  <a:srgbClr val="990099"/>
                </a:solidFill>
              </a:rPr>
              <a:t>  </a:t>
            </a: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1—</a:t>
            </a:r>
            <a:r>
              <a:rPr lang="en-US" altLang="zh-CN" sz="2200" dirty="0" smtClean="0">
                <a:solidFill>
                  <a:schemeClr val="tx1"/>
                </a:solidFill>
              </a:rPr>
              <a:t>IA32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Intel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</a:rPr>
              <a:t>Architecture 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32bit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支持</a:t>
            </a:r>
            <a:r>
              <a:rPr lang="en-US" altLang="zh-CN" sz="2200" dirty="0" smtClean="0">
                <a:solidFill>
                  <a:schemeClr val="tx1"/>
                </a:solidFill>
              </a:rPr>
              <a:t>6</a:t>
            </a:r>
            <a:r>
              <a:rPr lang="zh-CN" altLang="en-US" sz="2200" dirty="0" smtClean="0">
                <a:solidFill>
                  <a:schemeClr val="tx1"/>
                </a:solidFill>
              </a:rPr>
              <a:t>种整数类型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8" name="AutoShape 29"/>
          <p:cNvSpPr/>
          <p:nvPr/>
        </p:nvSpPr>
        <p:spPr bwMode="auto">
          <a:xfrm>
            <a:off x="7848058" y="1916832"/>
            <a:ext cx="968087" cy="252000"/>
          </a:xfrm>
          <a:prstGeom prst="borderCallout2">
            <a:avLst>
              <a:gd name="adj1" fmla="val 48385"/>
              <a:gd name="adj2" fmla="val 332"/>
              <a:gd name="adj3" fmla="val 47536"/>
              <a:gd name="adj4" fmla="val -13803"/>
              <a:gd name="adj5" fmla="val 38821"/>
              <a:gd name="adj6" fmla="val -35711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</a:rPr>
              <a:t>为什么？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3563888" y="2204864"/>
            <a:ext cx="53642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dirty="0">
                <a:solidFill>
                  <a:schemeClr val="tx1"/>
                </a:solidFill>
              </a:rPr>
              <a:t>取决</a:t>
            </a:r>
            <a:r>
              <a:rPr lang="zh-CN" altLang="en-US" dirty="0" smtClean="0">
                <a:solidFill>
                  <a:schemeClr val="tx1"/>
                </a:solidFill>
              </a:rPr>
              <a:t>于</a:t>
            </a:r>
            <a:r>
              <a:rPr lang="en-US" altLang="zh-CN" u="sng" dirty="0" smtClean="0">
                <a:solidFill>
                  <a:srgbClr val="990099"/>
                </a:solidFill>
              </a:rPr>
              <a:t>ISA</a:t>
            </a:r>
            <a:r>
              <a:rPr lang="zh-CN" altLang="en-US" u="sng" dirty="0" smtClean="0">
                <a:solidFill>
                  <a:srgbClr val="990099"/>
                </a:solidFill>
              </a:rPr>
              <a:t>的约定</a:t>
            </a:r>
            <a:r>
              <a:rPr lang="zh-CN" altLang="en-US" dirty="0" smtClean="0">
                <a:solidFill>
                  <a:schemeClr val="tx1"/>
                </a:solidFill>
              </a:rPr>
              <a:t>，常有</a:t>
            </a:r>
            <a:r>
              <a:rPr lang="zh-CN" altLang="en-US" u="sng" dirty="0" smtClean="0">
                <a:solidFill>
                  <a:schemeClr val="tx1"/>
                </a:solidFill>
              </a:rPr>
              <a:t>多种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长度不同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2000" u="sng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99592" y="3501040"/>
            <a:ext cx="2520280" cy="1728192"/>
            <a:chOff x="899592" y="620688"/>
            <a:chExt cx="2520280" cy="1728192"/>
          </a:xfrm>
        </p:grpSpPr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1691680" y="620688"/>
              <a:ext cx="172819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8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位无符号整数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1691680" y="908720"/>
              <a:ext cx="172819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16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位无符号整数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 Box 10"/>
            <p:cNvSpPr txBox="1">
              <a:spLocks noChangeArrowheads="1"/>
            </p:cNvSpPr>
            <p:nvPr/>
          </p:nvSpPr>
          <p:spPr bwMode="auto">
            <a:xfrm>
              <a:off x="1691680" y="1196752"/>
              <a:ext cx="172819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32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位无符号整数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1691680" y="1484784"/>
              <a:ext cx="172819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8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位有符号整数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1691680" y="1772816"/>
              <a:ext cx="172819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16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位有符号整数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1691680" y="2060848"/>
              <a:ext cx="172819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32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位有符号整数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899592" y="1196752"/>
              <a:ext cx="648072" cy="581414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IA32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支持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4" name="左大括号 33"/>
            <p:cNvSpPr/>
            <p:nvPr/>
          </p:nvSpPr>
          <p:spPr bwMode="auto">
            <a:xfrm>
              <a:off x="1539198" y="620688"/>
              <a:ext cx="144016" cy="1728192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436096" y="3213008"/>
            <a:ext cx="3384376" cy="2016224"/>
            <a:chOff x="5436096" y="332656"/>
            <a:chExt cx="3384376" cy="2016224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5436096" y="620688"/>
              <a:ext cx="244827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unsigned short [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int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]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auto">
            <a:xfrm>
              <a:off x="5436096" y="908720"/>
              <a:ext cx="244827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unsigned 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int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5436096" y="1196752"/>
              <a:ext cx="2448272" cy="28803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unsigned long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int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]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5436096" y="1484784"/>
              <a:ext cx="244827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short [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int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]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5436096" y="1772816"/>
              <a:ext cx="244827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int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5436096" y="2060848"/>
              <a:ext cx="2448272" cy="28803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long [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int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]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2" name="Text Box 10"/>
            <p:cNvSpPr txBox="1">
              <a:spLocks noChangeArrowheads="1"/>
            </p:cNvSpPr>
            <p:nvPr/>
          </p:nvSpPr>
          <p:spPr bwMode="auto">
            <a:xfrm>
              <a:off x="5436096" y="332656"/>
              <a:ext cx="2448272" cy="288032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char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3" name="右大括号 42"/>
            <p:cNvSpPr/>
            <p:nvPr/>
          </p:nvSpPr>
          <p:spPr bwMode="auto">
            <a:xfrm>
              <a:off x="7902296" y="342975"/>
              <a:ext cx="144016" cy="2005905"/>
            </a:xfrm>
            <a:prstGeom prst="rightBrace">
              <a:avLst>
                <a:gd name="adj1" fmla="val 45682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Text Box 10"/>
            <p:cNvSpPr txBox="1">
              <a:spLocks noChangeArrowheads="1"/>
            </p:cNvSpPr>
            <p:nvPr/>
          </p:nvSpPr>
          <p:spPr bwMode="auto">
            <a:xfrm>
              <a:off x="8080270" y="1052736"/>
              <a:ext cx="740202" cy="576064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语言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支持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Text Box 13"/>
          <p:cNvSpPr txBox="1">
            <a:spLocks noChangeArrowheads="1"/>
          </p:cNvSpPr>
          <p:nvPr/>
        </p:nvSpPr>
        <p:spPr bwMode="auto">
          <a:xfrm>
            <a:off x="179512" y="5611338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990099"/>
                </a:solidFill>
              </a:rPr>
              <a:t>   </a:t>
            </a:r>
            <a:r>
              <a:rPr lang="en-US" altLang="zh-CN" sz="2200" dirty="0" smtClean="0">
                <a:solidFill>
                  <a:srgbClr val="990099"/>
                </a:solidFill>
              </a:rPr>
              <a:t>  </a:t>
            </a: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2—</a:t>
            </a:r>
            <a:r>
              <a:rPr lang="en-US" altLang="zh-CN" sz="2200" dirty="0">
                <a:solidFill>
                  <a:schemeClr val="tx1"/>
                </a:solidFill>
              </a:rPr>
              <a:t>IA32</a:t>
            </a:r>
            <a:r>
              <a:rPr lang="zh-CN" altLang="en-US" sz="2200" dirty="0" smtClean="0">
                <a:solidFill>
                  <a:schemeClr val="tx1"/>
                </a:solidFill>
              </a:rPr>
              <a:t>中，若</a:t>
            </a:r>
            <a:r>
              <a:rPr lang="en-US" altLang="zh-CN" sz="2200" b="0" dirty="0" err="1" smtClean="0">
                <a:solidFill>
                  <a:schemeClr val="tx1"/>
                </a:solidFill>
                <a:latin typeface="+mn-lt"/>
              </a:rPr>
              <a:t>int</a:t>
            </a:r>
            <a:r>
              <a:rPr lang="en-US" altLang="zh-CN" sz="2200" dirty="0" smtClean="0">
                <a:solidFill>
                  <a:schemeClr val="tx1"/>
                </a:solidFill>
              </a:rPr>
              <a:t> y=-1; </a:t>
            </a:r>
            <a:r>
              <a:rPr lang="en-US" altLang="zh-CN" sz="2200" b="0" dirty="0" smtClean="0">
                <a:solidFill>
                  <a:schemeClr val="tx1"/>
                </a:solidFill>
                <a:latin typeface="+mn-lt"/>
              </a:rPr>
              <a:t>unsigned short</a:t>
            </a:r>
            <a:r>
              <a:rPr lang="en-US" altLang="zh-CN" sz="2200" dirty="0" smtClean="0">
                <a:solidFill>
                  <a:schemeClr val="tx1"/>
                </a:solidFill>
              </a:rPr>
              <a:t> n=5; </a:t>
            </a:r>
            <a:r>
              <a:rPr lang="zh-CN" altLang="en-US" sz="2200" dirty="0" smtClean="0">
                <a:solidFill>
                  <a:schemeClr val="tx1"/>
                </a:solidFill>
              </a:rPr>
              <a:t>求</a:t>
            </a:r>
            <a:r>
              <a:rPr lang="en-US" altLang="zh-CN" sz="2200" dirty="0" smtClean="0">
                <a:solidFill>
                  <a:schemeClr val="tx1"/>
                </a:solidFill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n</a:t>
            </a:r>
            <a:r>
              <a:rPr lang="zh-CN" altLang="en-US" sz="2200" dirty="0" smtClean="0">
                <a:solidFill>
                  <a:schemeClr val="tx1"/>
                </a:solidFill>
              </a:rPr>
              <a:t>的机器数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61" name="Text Box 10"/>
          <p:cNvSpPr txBox="1">
            <a:spLocks noChangeArrowheads="1"/>
          </p:cNvSpPr>
          <p:nvPr/>
        </p:nvSpPr>
        <p:spPr bwMode="auto">
          <a:xfrm>
            <a:off x="5292080" y="6021320"/>
            <a:ext cx="2605842" cy="290707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y=FFFFFFFFH</a:t>
            </a:r>
            <a:r>
              <a:rPr lang="zh-CN" altLang="en-US" sz="1800" dirty="0" smtClean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n=0005H</a:t>
            </a:r>
            <a:endParaRPr lang="en-US" altLang="zh-CN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91880" y="3198355"/>
            <a:ext cx="1872208" cy="1992024"/>
            <a:chOff x="3491880" y="3630371"/>
            <a:chExt cx="1872208" cy="1992024"/>
          </a:xfrm>
        </p:grpSpPr>
        <p:cxnSp>
          <p:nvCxnSpPr>
            <p:cNvPr id="46" name="直接箭头连接符 45"/>
            <p:cNvCxnSpPr/>
            <p:nvPr/>
          </p:nvCxnSpPr>
          <p:spPr bwMode="auto">
            <a:xfrm flipH="1">
              <a:off x="3491880" y="4077072"/>
              <a:ext cx="1872208" cy="288032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 flipH="1">
              <a:off x="3491880" y="4365104"/>
              <a:ext cx="1872208" cy="240407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 flipH="1">
              <a:off x="3491880" y="4941168"/>
              <a:ext cx="1872208" cy="288032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H="1">
              <a:off x="3491880" y="5229200"/>
              <a:ext cx="1872208" cy="216024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 flipH="1">
              <a:off x="3491880" y="3789040"/>
              <a:ext cx="1872208" cy="288032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 rot="21131783">
              <a:off x="3707904" y="3630371"/>
              <a:ext cx="1296144" cy="288032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编译器转换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 bwMode="auto">
            <a:xfrm flipH="1">
              <a:off x="4499992" y="4717322"/>
              <a:ext cx="864096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H="1">
              <a:off x="3491880" y="4682814"/>
              <a:ext cx="99896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 flipH="1" flipV="1">
              <a:off x="3491880" y="5589240"/>
              <a:ext cx="998960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8" name="直接箭头连接符 57"/>
            <p:cNvCxnSpPr/>
            <p:nvPr/>
          </p:nvCxnSpPr>
          <p:spPr bwMode="auto">
            <a:xfrm flipH="1">
              <a:off x="4499992" y="5549803"/>
              <a:ext cx="864096" cy="1337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9" name="直接箭头连接符 58"/>
            <p:cNvCxnSpPr/>
            <p:nvPr/>
          </p:nvCxnSpPr>
          <p:spPr bwMode="auto">
            <a:xfrm flipH="1" flipV="1">
              <a:off x="3491880" y="4754822"/>
              <a:ext cx="998960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0" name="直接箭头连接符 59"/>
            <p:cNvCxnSpPr/>
            <p:nvPr/>
          </p:nvCxnSpPr>
          <p:spPr bwMode="auto">
            <a:xfrm flipH="1" flipV="1">
              <a:off x="3491880" y="5517231"/>
              <a:ext cx="998960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" name="直接连接符 2"/>
            <p:cNvCxnSpPr/>
            <p:nvPr/>
          </p:nvCxnSpPr>
          <p:spPr bwMode="auto">
            <a:xfrm>
              <a:off x="4499992" y="4653136"/>
              <a:ext cx="0" cy="146691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4499992" y="5475704"/>
              <a:ext cx="0" cy="146691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5" name="AutoShape 29"/>
          <p:cNvSpPr/>
          <p:nvPr/>
        </p:nvSpPr>
        <p:spPr bwMode="auto">
          <a:xfrm>
            <a:off x="4860032" y="5373248"/>
            <a:ext cx="3600000" cy="252000"/>
          </a:xfrm>
          <a:prstGeom prst="borderCallout2">
            <a:avLst>
              <a:gd name="adj1" fmla="val 48598"/>
              <a:gd name="adj2" fmla="val 179"/>
              <a:gd name="adj3" fmla="val 49906"/>
              <a:gd name="adj4" fmla="val -5285"/>
              <a:gd name="adj5" fmla="val -62525"/>
              <a:gd name="adj6" fmla="val -9932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默认</a:t>
            </a:r>
            <a:r>
              <a:rPr lang="en-US" altLang="zh-CN" sz="1600" dirty="0" smtClean="0">
                <a:solidFill>
                  <a:schemeClr val="tx1"/>
                </a:solidFill>
              </a:rPr>
              <a:t>long</a:t>
            </a:r>
            <a:r>
              <a:rPr lang="zh-CN" altLang="en-US" sz="1600" dirty="0" smtClean="0">
                <a:solidFill>
                  <a:schemeClr val="tx1"/>
                </a:solidFill>
              </a:rPr>
              <a:t>＝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，可不同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改编译选项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2" name="AutoShape 6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12"/>
    </mc:Choice>
    <mc:Fallback>
      <p:transition spd="slow" advTm="110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/>
      <p:bldP spid="436237" grpId="0"/>
      <p:bldP spid="18" grpId="0" animBg="1"/>
      <p:bldP spid="18" grpId="1" animBg="1"/>
      <p:bldP spid="19" grpId="0"/>
      <p:bldP spid="62" grpId="0"/>
      <p:bldP spid="61" grpId="0"/>
      <p:bldP spid="45" grpId="1" animBg="1"/>
      <p:bldP spid="45" grpId="2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155"/>
          <p:cNvSpPr txBox="1">
            <a:spLocks noChangeArrowheads="1"/>
          </p:cNvSpPr>
          <p:nvPr/>
        </p:nvSpPr>
        <p:spPr bwMode="auto">
          <a:xfrm>
            <a:off x="179263" y="332656"/>
            <a:ext cx="878522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、整数的类型转换 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chemeClr val="accent2"/>
                </a:solidFill>
              </a:rPr>
              <a:t>   应用需求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操作数</a:t>
            </a:r>
            <a:r>
              <a:rPr lang="zh-CN" altLang="en-US" u="sng" dirty="0" smtClean="0">
                <a:solidFill>
                  <a:schemeClr val="tx1"/>
                </a:solidFill>
              </a:rPr>
              <a:t>长度</a:t>
            </a:r>
            <a:r>
              <a:rPr lang="zh-CN" altLang="en-US" u="sng" dirty="0" smtClean="0">
                <a:solidFill>
                  <a:srgbClr val="990099"/>
                </a:solidFill>
              </a:rPr>
              <a:t>可不</a:t>
            </a:r>
            <a:r>
              <a:rPr lang="zh-CN" altLang="en-US" u="sng" dirty="0" smtClean="0">
                <a:solidFill>
                  <a:schemeClr val="tx1"/>
                </a:solidFill>
              </a:rPr>
              <a:t>相同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sz="1800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 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如：</a:t>
            </a:r>
            <a:r>
              <a:rPr lang="en-US" altLang="zh-CN" sz="1800" dirty="0" smtClean="0">
                <a:solidFill>
                  <a:srgbClr val="0070C0"/>
                </a:solidFill>
              </a:rPr>
              <a:t>C</a:t>
            </a:r>
            <a:r>
              <a:rPr lang="zh-CN" altLang="en-US" sz="1800" dirty="0" smtClean="0">
                <a:solidFill>
                  <a:srgbClr val="0070C0"/>
                </a:solidFill>
              </a:rPr>
              <a:t>语言</a:t>
            </a:r>
            <a:r>
              <a:rPr lang="zh-CN" altLang="en-US" sz="1800" dirty="0" smtClean="0">
                <a:solidFill>
                  <a:schemeClr val="tx1"/>
                </a:solidFill>
              </a:rPr>
              <a:t>中，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short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si</a:t>
            </a:r>
            <a:r>
              <a:rPr lang="en-US" altLang="zh-CN" sz="2000" dirty="0" smtClean="0">
                <a:solidFill>
                  <a:schemeClr val="tx1"/>
                </a:solidFill>
              </a:rPr>
              <a:t>; 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</a:rPr>
              <a:t>int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y,z</a:t>
            </a:r>
            <a:r>
              <a:rPr lang="en-US" altLang="zh-CN" sz="2000" dirty="0" smtClean="0">
                <a:solidFill>
                  <a:schemeClr val="tx1"/>
                </a:solidFill>
              </a:rPr>
              <a:t>=</a:t>
            </a:r>
            <a:r>
              <a:rPr lang="en-US" altLang="zh-CN" sz="2000" dirty="0" err="1" smtClean="0">
                <a:solidFill>
                  <a:srgbClr val="990099"/>
                </a:solidFill>
              </a:rPr>
              <a:t>y+si</a:t>
            </a:r>
            <a:r>
              <a:rPr lang="en-US" altLang="zh-CN" sz="2000" dirty="0" smtClean="0">
                <a:solidFill>
                  <a:schemeClr val="tx1"/>
                </a:solidFill>
              </a:rPr>
              <a:t>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sz="1800" dirty="0" smtClean="0">
                <a:solidFill>
                  <a:schemeClr val="tx1"/>
                </a:solidFill>
              </a:rPr>
              <a:t>           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又如：</a:t>
            </a:r>
            <a:r>
              <a:rPr lang="zh-CN" altLang="en-US" sz="1800" dirty="0" smtClean="0">
                <a:solidFill>
                  <a:srgbClr val="0070C0"/>
                </a:solidFill>
              </a:rPr>
              <a:t>指令</a:t>
            </a:r>
            <a:r>
              <a:rPr lang="en-US" altLang="zh-CN" sz="1800" dirty="0" smtClean="0">
                <a:solidFill>
                  <a:schemeClr val="tx1"/>
                </a:solidFill>
              </a:rPr>
              <a:t>R2←R2+imm</a:t>
            </a:r>
            <a:r>
              <a:rPr lang="zh-CN" altLang="en-US" sz="1800" dirty="0" smtClean="0">
                <a:solidFill>
                  <a:schemeClr val="tx1"/>
                </a:solidFill>
              </a:rPr>
              <a:t>中，</a:t>
            </a:r>
            <a:r>
              <a:rPr lang="en-US" altLang="zh-CN" sz="1800" dirty="0" smtClean="0">
                <a:solidFill>
                  <a:schemeClr val="tx1"/>
                </a:solidFill>
              </a:rPr>
              <a:t>REG</a:t>
            </a:r>
            <a:r>
              <a:rPr lang="zh-CN" altLang="en-US" sz="1800" dirty="0" smtClean="0">
                <a:solidFill>
                  <a:schemeClr val="tx1"/>
                </a:solidFill>
              </a:rPr>
              <a:t>为</a:t>
            </a:r>
            <a:r>
              <a:rPr lang="en-US" altLang="zh-CN" sz="1800" dirty="0" smtClean="0">
                <a:solidFill>
                  <a:srgbClr val="0070C0"/>
                </a:solidFill>
              </a:rPr>
              <a:t>32</a:t>
            </a:r>
            <a:r>
              <a:rPr lang="zh-CN" altLang="en-US" sz="1800" dirty="0" smtClean="0">
                <a:solidFill>
                  <a:srgbClr val="0070C0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，格式中</a:t>
            </a:r>
            <a:r>
              <a:rPr lang="en-US" altLang="zh-CN" sz="1800" dirty="0" smtClean="0">
                <a:solidFill>
                  <a:schemeClr val="tx1"/>
                </a:solidFill>
              </a:rPr>
              <a:t>imm</a:t>
            </a:r>
            <a:r>
              <a:rPr lang="zh-CN" altLang="en-US" sz="1800" dirty="0" smtClean="0">
                <a:solidFill>
                  <a:schemeClr val="tx1"/>
                </a:solidFill>
              </a:rPr>
              <a:t>为</a:t>
            </a:r>
            <a:r>
              <a:rPr lang="en-US" altLang="zh-CN" sz="1800" dirty="0" smtClean="0">
                <a:solidFill>
                  <a:srgbClr val="0070C0"/>
                </a:solidFill>
              </a:rPr>
              <a:t>8</a:t>
            </a:r>
            <a:r>
              <a:rPr lang="zh-CN" altLang="en-US" sz="1800" dirty="0" smtClean="0">
                <a:solidFill>
                  <a:srgbClr val="0070C0"/>
                </a:solidFill>
              </a:rPr>
              <a:t>位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dirty="0" smtClean="0">
                <a:solidFill>
                  <a:schemeClr val="tx1"/>
                </a:solidFill>
              </a:rPr>
              <a:t>             </a:t>
            </a:r>
            <a:r>
              <a:rPr lang="zh-CN" altLang="en-US" dirty="0" smtClean="0">
                <a:solidFill>
                  <a:schemeClr val="tx1"/>
                </a:solidFill>
              </a:rPr>
              <a:t>源操作数</a:t>
            </a:r>
            <a:r>
              <a:rPr lang="zh-CN" altLang="en-US" u="sng" dirty="0" smtClean="0">
                <a:solidFill>
                  <a:schemeClr val="tx1"/>
                </a:solidFill>
              </a:rPr>
              <a:t>长度</a:t>
            </a:r>
            <a:r>
              <a:rPr lang="zh-CN" altLang="en-US" u="sng" dirty="0" smtClean="0">
                <a:solidFill>
                  <a:srgbClr val="990099"/>
                </a:solidFill>
              </a:rPr>
              <a:t>须</a:t>
            </a:r>
            <a:r>
              <a:rPr lang="zh-CN" altLang="en-US" u="sng" dirty="0" smtClean="0">
                <a:solidFill>
                  <a:schemeClr val="tx1"/>
                </a:solidFill>
              </a:rPr>
              <a:t>相同</a:t>
            </a:r>
            <a:r>
              <a:rPr lang="zh-CN" altLang="en-US" dirty="0" smtClean="0">
                <a:solidFill>
                  <a:schemeClr val="tx1"/>
                </a:solidFill>
              </a:rPr>
              <a:t>，否则先</a:t>
            </a:r>
            <a:r>
              <a:rPr lang="zh-CN" altLang="en-US" u="sng" dirty="0" smtClean="0">
                <a:solidFill>
                  <a:srgbClr val="990099"/>
                </a:solidFill>
              </a:rPr>
              <a:t>转换</a:t>
            </a:r>
            <a:r>
              <a:rPr lang="zh-CN" altLang="en-US" dirty="0">
                <a:solidFill>
                  <a:schemeClr val="tx1"/>
                </a:solidFill>
              </a:rPr>
              <a:t>类型</a:t>
            </a:r>
            <a:endParaRPr lang="zh-CN" altLang="en-US" sz="1800" dirty="0" smtClean="0">
              <a:solidFill>
                <a:schemeClr val="tx1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9512" y="1981470"/>
            <a:ext cx="2808312" cy="3615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  </a:t>
            </a:r>
            <a:r>
              <a:rPr lang="zh-CN" altLang="en-US" dirty="0" smtClean="0">
                <a:solidFill>
                  <a:schemeClr val="accent2"/>
                </a:solidFill>
                <a:sym typeface="+mn-ea"/>
              </a:rPr>
              <a:t>硬件限制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sym typeface="+mn-ea"/>
            </a:endParaRPr>
          </a:p>
          <a:p>
            <a:pPr marL="1075055" indent="-1075055"/>
            <a:endParaRPr lang="en-US" altLang="zh-CN" sz="2000" dirty="0">
              <a:solidFill>
                <a:srgbClr val="C00000"/>
              </a:solidFill>
            </a:endParaRPr>
          </a:p>
          <a:p>
            <a:pPr marL="1075055" indent="-107505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类型转换方法：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长度相同时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1075055" indent="-1075055">
              <a:lnSpc>
                <a:spcPct val="110000"/>
              </a:lnSpc>
            </a:pPr>
            <a:endParaRPr lang="en-US" altLang="zh-CN" sz="2000" dirty="0" smtClean="0">
              <a:solidFill>
                <a:schemeClr val="accent2"/>
              </a:solidFill>
            </a:endParaRPr>
          </a:p>
          <a:p>
            <a:pPr marL="1075055" indent="-1075055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长度减少时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1075055" indent="-1075055">
              <a:lnSpc>
                <a:spcPct val="110000"/>
              </a:lnSpc>
            </a:pPr>
            <a:endParaRPr lang="en-US" altLang="zh-CN" sz="2000" dirty="0" smtClean="0">
              <a:solidFill>
                <a:schemeClr val="accent2"/>
              </a:solidFill>
            </a:endParaRPr>
          </a:p>
          <a:p>
            <a:pPr marL="1075055" indent="-1075055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长度增加时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9" name="Text Box 82"/>
          <p:cNvSpPr txBox="1">
            <a:spLocks noChangeArrowheads="1"/>
          </p:cNvSpPr>
          <p:nvPr/>
        </p:nvSpPr>
        <p:spPr bwMode="auto">
          <a:xfrm>
            <a:off x="2664000" y="3274219"/>
            <a:ext cx="6120680" cy="2984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dirty="0" smtClean="0">
                <a:solidFill>
                  <a:srgbClr val="990099"/>
                </a:solidFill>
              </a:rPr>
              <a:t>无需运算</a:t>
            </a:r>
            <a:r>
              <a:rPr lang="zh-CN" altLang="en-US" dirty="0" smtClean="0">
                <a:solidFill>
                  <a:schemeClr val="tx1"/>
                </a:solidFill>
              </a:rPr>
              <a:t>，解释</a:t>
            </a:r>
            <a:r>
              <a:rPr lang="zh-CN" altLang="en-US" u="sng" dirty="0" smtClean="0">
                <a:solidFill>
                  <a:schemeClr val="tx1"/>
                </a:solidFill>
              </a:rPr>
              <a:t>为新类型</a:t>
            </a:r>
            <a:endParaRPr lang="en-US" altLang="zh-CN" u="sng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1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如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</a:rPr>
              <a:t>unsigned 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short </a:t>
            </a:r>
            <a:r>
              <a:rPr lang="en-US" altLang="zh-CN" sz="2000" dirty="0" err="1" smtClean="0">
                <a:solidFill>
                  <a:schemeClr val="tx1"/>
                </a:solidFill>
                <a:latin typeface="+mn-ea"/>
                <a:ea typeface="+mn-ea"/>
              </a:rPr>
              <a:t>u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si</a:t>
            </a:r>
            <a:r>
              <a:rPr lang="en-US" altLang="zh-CN" sz="2000" dirty="0" smtClean="0">
                <a:solidFill>
                  <a:schemeClr val="tx1"/>
                </a:solidFill>
              </a:rPr>
              <a:t>=0xFFFE; 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</a:rPr>
              <a:t>short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rgbClr val="990099"/>
                </a:solidFill>
                <a:latin typeface="+mn-ea"/>
                <a:ea typeface="+mn-ea"/>
              </a:rPr>
              <a:t>si</a:t>
            </a:r>
            <a:r>
              <a:rPr lang="en-US" altLang="zh-CN" sz="2000" dirty="0" smtClean="0">
                <a:solidFill>
                  <a:srgbClr val="990099"/>
                </a:solidFill>
              </a:rPr>
              <a:t>=</a:t>
            </a:r>
            <a:r>
              <a:rPr lang="en-US" altLang="zh-CN" sz="2000" dirty="0" err="1" smtClean="0">
                <a:solidFill>
                  <a:schemeClr val="tx1"/>
                </a:solidFill>
                <a:latin typeface="+mn-ea"/>
                <a:ea typeface="+mn-ea"/>
              </a:rPr>
              <a:t>usi</a:t>
            </a:r>
            <a:r>
              <a:rPr lang="en-US" altLang="zh-CN" sz="2000" dirty="0" smtClean="0">
                <a:solidFill>
                  <a:schemeClr val="tx1"/>
                </a:solidFill>
              </a:rPr>
              <a:t>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990099"/>
                </a:solidFill>
                <a:sym typeface="+mn-ea"/>
              </a:rPr>
              <a:t>截断运算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仅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保留低位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     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←适合有模运算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10000"/>
              </a:lnSpc>
            </a:pPr>
            <a:r>
              <a:rPr lang="zh-CN" altLang="en-US" sz="2000" dirty="0" smtClean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sym typeface="+mn-ea"/>
              </a:rPr>
              <a:t>unsigned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sym typeface="+mn-ea"/>
              </a:rPr>
              <a:t>int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u</a:t>
            </a:r>
            <a:r>
              <a:rPr lang="en-US" altLang="zh-CN" sz="2000" dirty="0" err="1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y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=0x12345678; short </a:t>
            </a:r>
            <a:r>
              <a:rPr lang="en-US" altLang="zh-CN" sz="2000" dirty="0" err="1" smtClean="0">
                <a:solidFill>
                  <a:srgbClr val="990099"/>
                </a:solidFill>
                <a:sym typeface="+mn-ea"/>
              </a:rPr>
              <a:t>si</a:t>
            </a:r>
            <a:r>
              <a:rPr lang="en-US" altLang="zh-CN" sz="2000" dirty="0" smtClean="0">
                <a:solidFill>
                  <a:srgbClr val="990099"/>
                </a:solidFill>
                <a:sym typeface="+mn-ea"/>
              </a:rPr>
              <a:t>=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uy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990099"/>
                </a:solidFill>
                <a:sym typeface="+mn-ea"/>
              </a:rPr>
              <a:t>位扩展运算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，保持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真值不变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←保持数学含义</a:t>
            </a:r>
            <a:endParaRPr lang="en-US" altLang="zh-CN" sz="1800" u="sng" dirty="0" smtClean="0">
              <a:solidFill>
                <a:schemeClr val="tx1"/>
              </a:solidFill>
            </a:endParaRPr>
          </a:p>
          <a:p>
            <a:pPr marL="2786380" indent="-2786380">
              <a:lnSpc>
                <a:spcPct val="110000"/>
              </a:lnSpc>
            </a:pPr>
            <a:r>
              <a:rPr lang="zh-CN" altLang="en-US" sz="2000" dirty="0" smtClean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sym typeface="+mn-ea"/>
              </a:rPr>
              <a:t>unsigned short 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usi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=2;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sym typeface="+mn-ea"/>
              </a:rPr>
              <a:t>short 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si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=+2,sj=-2; 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786380" indent="-2786380">
              <a:lnSpc>
                <a:spcPct val="110000"/>
              </a:lnSpc>
            </a:pPr>
            <a:r>
              <a:rPr lang="en-US" altLang="zh-CN" sz="2000" b="0" dirty="0" smtClean="0">
                <a:solidFill>
                  <a:schemeClr val="tx1"/>
                </a:solidFill>
                <a:latin typeface="+mn-lt"/>
                <a:sym typeface="+mn-ea"/>
              </a:rPr>
              <a:t>    unsigned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sym typeface="+mn-ea"/>
              </a:rPr>
              <a:t>int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000" dirty="0" err="1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u</a:t>
            </a:r>
            <a:r>
              <a:rPr lang="en-US" altLang="zh-CN" sz="2000" dirty="0" err="1" smtClean="0">
                <a:solidFill>
                  <a:srgbClr val="990099"/>
                </a:solidFill>
                <a:sym typeface="+mn-ea"/>
              </a:rPr>
              <a:t>a</a:t>
            </a:r>
            <a:r>
              <a:rPr lang="en-US" altLang="zh-CN" sz="2000" dirty="0" smtClean="0">
                <a:solidFill>
                  <a:srgbClr val="990099"/>
                </a:solidFill>
                <a:sym typeface="+mn-ea"/>
              </a:rPr>
              <a:t>=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usi,</a:t>
            </a:r>
            <a:r>
              <a:rPr lang="en-US" altLang="zh-CN" sz="2000" dirty="0" err="1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uy</a:t>
            </a:r>
            <a:r>
              <a:rPr lang="en-US" altLang="zh-CN" sz="2000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=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si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; 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  <a:sym typeface="+mn-ea"/>
              </a:rPr>
              <a:t>int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000" dirty="0" smtClean="0">
                <a:solidFill>
                  <a:srgbClr val="990099"/>
                </a:solidFill>
                <a:sym typeface="+mn-ea"/>
              </a:rPr>
              <a:t>z=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sj</a:t>
            </a:r>
            <a:r>
              <a:rPr lang="en-US" altLang="zh-CN" sz="2000" dirty="0" smtClean="0">
                <a:solidFill>
                  <a:schemeClr val="tx1"/>
                </a:solidFill>
                <a:sym typeface="+mn-ea"/>
              </a:rPr>
              <a:t>; 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7956000" y="3814530"/>
            <a:ext cx="576000" cy="25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54000" bIns="10800" anchor="ctr"/>
          <a:lstStyle/>
          <a:p>
            <a:pPr algn="l">
              <a:lnSpc>
                <a:spcPct val="100000"/>
              </a:lnSpc>
            </a:pPr>
            <a:r>
              <a:rPr lang="en-US" altLang="zh-CN" sz="1800" dirty="0" err="1" smtClean="0">
                <a:solidFill>
                  <a:schemeClr val="tx1"/>
                </a:solidFill>
              </a:rPr>
              <a:t>si</a:t>
            </a:r>
            <a:r>
              <a:rPr lang="en-US" altLang="zh-CN" sz="1800" dirty="0" smtClean="0">
                <a:solidFill>
                  <a:schemeClr val="tx1"/>
                </a:solidFill>
              </a:rPr>
              <a:t>=?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7956000" y="4714530"/>
            <a:ext cx="612000" cy="25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54000" bIns="10800" anchor="ctr"/>
          <a:lstStyle/>
          <a:p>
            <a:pPr algn="l">
              <a:lnSpc>
                <a:spcPct val="100000"/>
              </a:lnSpc>
            </a:pPr>
            <a:r>
              <a:rPr lang="en-US" altLang="zh-CN" sz="1800" dirty="0" err="1" smtClean="0">
                <a:solidFill>
                  <a:schemeClr val="tx1"/>
                </a:solidFill>
              </a:rPr>
              <a:t>si</a:t>
            </a:r>
            <a:r>
              <a:rPr lang="en-US" altLang="zh-CN" sz="1800" dirty="0" smtClean="0">
                <a:solidFill>
                  <a:schemeClr val="tx1"/>
                </a:solidFill>
              </a:rPr>
              <a:t>=?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059832" y="6226530"/>
            <a:ext cx="1800000" cy="25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54000" bIns="10800" anchor="ctr"/>
          <a:lstStyle/>
          <a:p>
            <a:pPr algn="l">
              <a:lnSpc>
                <a:spcPct val="100000"/>
              </a:lnSpc>
            </a:pPr>
            <a:r>
              <a:rPr lang="en-US" altLang="zh-CN" sz="1800" dirty="0" err="1" smtClean="0">
                <a:solidFill>
                  <a:schemeClr val="tx1"/>
                </a:solidFill>
              </a:rPr>
              <a:t>ua</a:t>
            </a:r>
            <a:r>
              <a:rPr lang="en-US" altLang="zh-CN" sz="1800" dirty="0" smtClean="0">
                <a:solidFill>
                  <a:schemeClr val="tx1"/>
                </a:solidFill>
              </a:rPr>
              <a:t>=?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uy</a:t>
            </a:r>
            <a:r>
              <a:rPr lang="en-US" altLang="zh-CN" sz="1800" dirty="0" smtClean="0">
                <a:solidFill>
                  <a:schemeClr val="tx1"/>
                </a:solidFill>
              </a:rPr>
              <a:t>=?  z=?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7920000" y="3526530"/>
            <a:ext cx="756000" cy="2880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FFFEH</a:t>
            </a:r>
            <a:endParaRPr lang="en-US" altLang="zh-CN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5436096" y="6226530"/>
            <a:ext cx="2952328" cy="2880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800" dirty="0" err="1">
                <a:solidFill>
                  <a:schemeClr val="bg1">
                    <a:lumMod val="75000"/>
                  </a:schemeClr>
                </a:solidFill>
              </a:rPr>
              <a:t>ua</a:t>
            </a:r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=2</a:t>
            </a:r>
            <a:r>
              <a:rPr lang="zh-CN" altLang="en-US" sz="1800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800" dirty="0" err="1">
                <a:solidFill>
                  <a:schemeClr val="bg1">
                    <a:lumMod val="75000"/>
                  </a:schemeClr>
                </a:solidFill>
              </a:rPr>
              <a:t>uy</a:t>
            </a:r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=2</a:t>
            </a:r>
            <a:r>
              <a:rPr lang="zh-CN" altLang="en-US" sz="1800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z=0xFFFFFFFE</a:t>
            </a:r>
            <a:endParaRPr lang="en-US" altLang="zh-CN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60151" y="2554530"/>
            <a:ext cx="234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谁负责转换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？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36000" y="2554530"/>
            <a:ext cx="504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</a:rPr>
              <a:t>编译器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负责软件需求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转换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1800" b="1" dirty="0" smtClean="0">
                <a:solidFill>
                  <a:srgbClr val="0070C0"/>
                </a:solidFill>
                <a:latin typeface="+mn-ea"/>
                <a:ea typeface="+mn-ea"/>
              </a:rPr>
              <a:t>CPU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负责硬件需求转换</a:t>
            </a:r>
            <a:endParaRPr lang="zh-CN" altLang="en-US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000" y="5580000"/>
            <a:ext cx="2160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57810" indent="-25781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编译器如何实现转换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？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  <p:bldP spid="18" grpId="0" bldLvl="0" animBg="1"/>
      <p:bldP spid="12" grpId="0" bldLvl="0" animBg="1"/>
      <p:bldP spid="14" grpId="0" bldLvl="0" animBg="1"/>
      <p:bldP spid="22" grpId="0" bldLvl="0" animBg="1"/>
      <p:bldP spid="3" grpId="0" bldLvl="0" animBg="1"/>
      <p:bldP spid="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41" name="Text Box 82"/>
          <p:cNvSpPr txBox="1">
            <a:spLocks noChangeArrowheads="1"/>
          </p:cNvSpPr>
          <p:nvPr/>
        </p:nvSpPr>
        <p:spPr bwMode="auto">
          <a:xfrm>
            <a:off x="179512" y="404664"/>
            <a:ext cx="8353213" cy="4625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dirty="0" smtClean="0">
                <a:solidFill>
                  <a:srgbClr val="C00000"/>
                </a:solidFill>
              </a:rPr>
              <a:t> *位扩展运算：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硬件转换，功能为机器</a:t>
            </a:r>
            <a:r>
              <a:rPr lang="zh-CN" altLang="en-US" sz="1800" dirty="0">
                <a:solidFill>
                  <a:schemeClr val="tx1"/>
                </a:solidFill>
              </a:rPr>
              <a:t>数的</a:t>
            </a:r>
            <a:r>
              <a:rPr lang="zh-CN" altLang="en-US" sz="1800" u="sng" dirty="0">
                <a:solidFill>
                  <a:schemeClr val="tx1"/>
                </a:solidFill>
              </a:rPr>
              <a:t>位数增加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真值不变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运算方法</a:t>
            </a:r>
            <a:r>
              <a:rPr lang="en-US" altLang="zh-CN" dirty="0" smtClean="0">
                <a:solidFill>
                  <a:schemeClr val="accent2"/>
                </a:solidFill>
              </a:rPr>
              <a:t>— 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786380" indent="-2786380"/>
            <a:endParaRPr lang="en-US" altLang="zh-CN" dirty="0" smtClean="0">
              <a:solidFill>
                <a:schemeClr val="accent2"/>
              </a:solidFill>
            </a:endParaRPr>
          </a:p>
          <a:p>
            <a:pPr marL="2786380" indent="-2786380"/>
            <a:endParaRPr lang="en-US" altLang="zh-CN" dirty="0" smtClean="0">
              <a:solidFill>
                <a:srgbClr val="C00000"/>
              </a:solidFill>
            </a:endParaRPr>
          </a:p>
          <a:p>
            <a:pPr marL="2786380" indent="-2786380"/>
            <a:endParaRPr lang="en-US" altLang="zh-CN" dirty="0" smtClean="0">
              <a:solidFill>
                <a:srgbClr val="C00000"/>
              </a:solidFill>
            </a:endParaRPr>
          </a:p>
          <a:p>
            <a:pPr marL="2786380" indent="-2786380"/>
            <a:endParaRPr lang="en-US" altLang="zh-CN" dirty="0">
              <a:solidFill>
                <a:srgbClr val="C00000"/>
              </a:solidFill>
            </a:endParaRPr>
          </a:p>
          <a:p>
            <a:pPr marL="2786380" indent="-2786380"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运算实现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sz="2200" spc="-100" dirty="0" smtClean="0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spc="-100" dirty="0">
              <a:solidFill>
                <a:schemeClr val="tx1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dirty="0" smtClean="0">
                <a:solidFill>
                  <a:srgbClr val="990099"/>
                </a:solidFill>
              </a:rPr>
              <a:t>       输出函数：</a:t>
            </a:r>
            <a:endParaRPr lang="en-US" altLang="zh-CN" dirty="0">
              <a:solidFill>
                <a:srgbClr val="990099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内部电路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2339752" y="901169"/>
            <a:ext cx="6552728" cy="952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zh-CN" altLang="en-US" u="sng" dirty="0" smtClean="0">
                <a:solidFill>
                  <a:srgbClr val="990099"/>
                </a:solidFill>
              </a:rPr>
              <a:t>零扩展</a:t>
            </a:r>
            <a:r>
              <a:rPr lang="zh-CN" altLang="en-US" dirty="0" smtClean="0">
                <a:solidFill>
                  <a:schemeClr val="tx1"/>
                </a:solidFill>
              </a:rPr>
              <a:t>为机器数高位补</a:t>
            </a:r>
            <a:r>
              <a:rPr lang="en-US" altLang="zh-CN" u="sng" dirty="0" smtClean="0">
                <a:solidFill>
                  <a:srgbClr val="0070C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无符号数扩展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zh-CN" altLang="en-US" u="sng" dirty="0" smtClean="0">
                <a:solidFill>
                  <a:srgbClr val="990099"/>
                </a:solidFill>
              </a:rPr>
              <a:t>符号扩展</a:t>
            </a:r>
            <a:r>
              <a:rPr lang="zh-CN" altLang="en-US" dirty="0" smtClean="0">
                <a:solidFill>
                  <a:schemeClr val="tx1"/>
                </a:solidFill>
              </a:rPr>
              <a:t>为机器数高位补</a:t>
            </a:r>
            <a:r>
              <a:rPr lang="zh-CN" altLang="en-US" u="sng" dirty="0" smtClean="0">
                <a:solidFill>
                  <a:srgbClr val="0070C0"/>
                </a:solidFill>
              </a:rPr>
              <a:t>符号位</a:t>
            </a:r>
            <a:r>
              <a:rPr lang="zh-CN" altLang="en-US" dirty="0" smtClean="0">
                <a:solidFill>
                  <a:srgbClr val="990099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有</a:t>
            </a:r>
            <a:r>
              <a:rPr lang="zh-CN" altLang="en-US" sz="1800" dirty="0" smtClean="0">
                <a:solidFill>
                  <a:schemeClr val="tx1"/>
                </a:solidFill>
              </a:rPr>
              <a:t>符号</a:t>
            </a:r>
            <a:r>
              <a:rPr lang="zh-CN" altLang="en-US" sz="1800" dirty="0">
                <a:solidFill>
                  <a:schemeClr val="tx1"/>
                </a:solidFill>
              </a:rPr>
              <a:t>数扩展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347864" y="2636912"/>
            <a:ext cx="2520280" cy="327270"/>
            <a:chOff x="3347864" y="1628800"/>
            <a:chExt cx="2520280" cy="327270"/>
          </a:xfrm>
        </p:grpSpPr>
        <p:sp>
          <p:nvSpPr>
            <p:cNvPr id="44" name="矩形 43"/>
            <p:cNvSpPr/>
            <p:nvPr/>
          </p:nvSpPr>
          <p:spPr bwMode="auto">
            <a:xfrm>
              <a:off x="5436144" y="1628800"/>
              <a:ext cx="432000" cy="324000"/>
            </a:xfrm>
            <a:prstGeom prst="rect">
              <a:avLst/>
            </a:prstGeom>
            <a:solidFill>
              <a:srgbClr val="CCC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3347864" y="1632070"/>
              <a:ext cx="432000" cy="324000"/>
            </a:xfrm>
            <a:prstGeom prst="rect">
              <a:avLst/>
            </a:prstGeom>
            <a:solidFill>
              <a:srgbClr val="CCC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347864" y="2274842"/>
            <a:ext cx="2520280" cy="327270"/>
            <a:chOff x="3347864" y="1266730"/>
            <a:chExt cx="2520280" cy="327270"/>
          </a:xfrm>
        </p:grpSpPr>
        <p:sp>
          <p:nvSpPr>
            <p:cNvPr id="48" name="矩形 47"/>
            <p:cNvSpPr/>
            <p:nvPr/>
          </p:nvSpPr>
          <p:spPr bwMode="auto">
            <a:xfrm>
              <a:off x="5436144" y="1266730"/>
              <a:ext cx="432000" cy="324000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3347864" y="1270000"/>
              <a:ext cx="432000" cy="324000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0" name="AutoShape 29"/>
          <p:cNvSpPr/>
          <p:nvPr/>
        </p:nvSpPr>
        <p:spPr bwMode="auto">
          <a:xfrm>
            <a:off x="7560472" y="2492896"/>
            <a:ext cx="1260000" cy="252000"/>
          </a:xfrm>
          <a:prstGeom prst="borderCallout2">
            <a:avLst>
              <a:gd name="adj1" fmla="val 47598"/>
              <a:gd name="adj2" fmla="val -297"/>
              <a:gd name="adj3" fmla="val 48060"/>
              <a:gd name="adj4" fmla="val -9017"/>
              <a:gd name="adj5" fmla="val 147088"/>
              <a:gd name="adj6" fmla="val -25403"/>
            </a:avLst>
          </a:prstGeom>
          <a:noFill/>
          <a:ln w="12700">
            <a:solidFill>
              <a:srgbClr val="C0000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用</a:t>
            </a:r>
            <a:r>
              <a:rPr lang="zh-CN" altLang="en-US" sz="1600" b="1" dirty="0" smtClean="0">
                <a:solidFill>
                  <a:schemeClr val="accent2"/>
                </a:solidFill>
              </a:rPr>
              <a:t>补码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表示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1835696" y="1916832"/>
          <a:ext cx="5400600" cy="108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2088232"/>
                <a:gridCol w="2088232"/>
              </a:tblGrid>
              <a:tr h="360040">
                <a:tc>
                  <a:txBody>
                    <a:bodyPr/>
                    <a:lstStyle/>
                    <a:p>
                      <a:pPr algn="l"/>
                      <a:endParaRPr lang="zh-CN" altLang="en-US" sz="20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D=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D=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零扩展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Q=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1101( 13)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Q=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1101( 13)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9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Q=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1101(+13)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Q=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1101(-13)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" name="Text Box 429"/>
          <p:cNvSpPr txBox="1">
            <a:spLocks noChangeArrowheads="1"/>
          </p:cNvSpPr>
          <p:nvPr/>
        </p:nvSpPr>
        <p:spPr bwMode="auto">
          <a:xfrm>
            <a:off x="2787303" y="3933562"/>
            <a:ext cx="509706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smtClean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baseline="-14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baseline="-14000" dirty="0" smtClean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baseline="-14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baseline="-14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n+k</a:t>
            </a:r>
            <a:r>
              <a:rPr lang="en-US" altLang="zh-CN" baseline="-14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 smtClean="0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op</a:t>
            </a:r>
            <a:r>
              <a:rPr lang="en-US" altLang="zh-CN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·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baseline="-14000" dirty="0" smtClean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340000" y="3132000"/>
            <a:ext cx="657669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spc="-100" dirty="0" smtClean="0">
                <a:solidFill>
                  <a:schemeClr val="tx1"/>
                </a:solidFill>
              </a:rPr>
              <a:t>设入</a:t>
            </a:r>
            <a:r>
              <a:rPr lang="zh-CN" altLang="en-US" spc="-100" dirty="0">
                <a:solidFill>
                  <a:schemeClr val="tx1"/>
                </a:solidFill>
              </a:rPr>
              <a:t>端</a:t>
            </a:r>
            <a:r>
              <a:rPr lang="zh-CN" altLang="en-US" spc="-100" dirty="0" smtClean="0">
                <a:solidFill>
                  <a:schemeClr val="tx1"/>
                </a:solidFill>
              </a:rPr>
              <a:t>为</a:t>
            </a:r>
            <a:r>
              <a:rPr lang="en-US" altLang="zh-CN" spc="-100" dirty="0">
                <a:solidFill>
                  <a:schemeClr val="tx1"/>
                </a:solidFill>
              </a:rPr>
              <a:t>D</a:t>
            </a:r>
            <a:r>
              <a:rPr lang="en-US" altLang="zh-CN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pc="-100" dirty="0">
                <a:solidFill>
                  <a:schemeClr val="tx1"/>
                </a:solidFill>
              </a:rPr>
              <a:t>…D</a:t>
            </a:r>
            <a:r>
              <a:rPr lang="en-US" altLang="zh-CN" spc="-100" baseline="-18000" dirty="0">
                <a:solidFill>
                  <a:schemeClr val="tx1"/>
                </a:solidFill>
              </a:rPr>
              <a:t>0</a:t>
            </a:r>
            <a:r>
              <a:rPr lang="zh-CN" altLang="en-US" spc="-100" dirty="0" smtClean="0">
                <a:solidFill>
                  <a:schemeClr val="tx1"/>
                </a:solidFill>
              </a:rPr>
              <a:t>、出端为</a:t>
            </a:r>
            <a:r>
              <a:rPr lang="en-US" altLang="zh-CN" spc="-100" dirty="0" err="1" smtClean="0">
                <a:solidFill>
                  <a:schemeClr val="tx1"/>
                </a:solidFill>
              </a:rPr>
              <a:t>Q</a:t>
            </a:r>
            <a:r>
              <a:rPr lang="en-US" altLang="zh-CN" spc="-100" baseline="-18000" dirty="0" err="1" smtClean="0">
                <a:solidFill>
                  <a:schemeClr val="tx1"/>
                </a:solidFill>
              </a:rPr>
              <a:t>n+k</a:t>
            </a:r>
            <a:r>
              <a:rPr lang="en-US" altLang="zh-CN" spc="-100" dirty="0" smtClean="0">
                <a:solidFill>
                  <a:schemeClr val="tx1"/>
                </a:solidFill>
              </a:rPr>
              <a:t>…Q</a:t>
            </a:r>
            <a:r>
              <a:rPr lang="en-US" altLang="zh-CN" spc="-1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r>
              <a:rPr lang="zh-CN" altLang="en-US" dirty="0" smtClean="0">
                <a:solidFill>
                  <a:schemeClr val="tx1"/>
                </a:solidFill>
              </a:rPr>
              <a:t>控制端为</a:t>
            </a:r>
            <a:r>
              <a:rPr lang="en-US" altLang="zh-CN" dirty="0">
                <a:solidFill>
                  <a:schemeClr val="tx1"/>
                </a:solidFill>
              </a:rPr>
              <a:t>op</a:t>
            </a:r>
            <a:endParaRPr lang="en-US" altLang="zh-CN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       (0/1-</a:t>
            </a:r>
            <a:r>
              <a:rPr lang="zh-CN" altLang="en-US" sz="1800" dirty="0" smtClean="0">
                <a:solidFill>
                  <a:schemeClr val="tx1"/>
                </a:solidFill>
              </a:rPr>
              <a:t>零扩展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符号扩展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934737" y="4593104"/>
            <a:ext cx="3581479" cy="928168"/>
            <a:chOff x="2790721" y="4895864"/>
            <a:chExt cx="3581479" cy="928168"/>
          </a:xfrm>
        </p:grpSpPr>
        <p:sp>
          <p:nvSpPr>
            <p:cNvPr id="56" name="矩形 55"/>
            <p:cNvSpPr/>
            <p:nvPr/>
          </p:nvSpPr>
          <p:spPr bwMode="auto">
            <a:xfrm>
              <a:off x="3920509" y="4895864"/>
              <a:ext cx="1299562" cy="831692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Text Box 399"/>
            <p:cNvSpPr txBox="1">
              <a:spLocks noChangeArrowheads="1"/>
            </p:cNvSpPr>
            <p:nvPr/>
          </p:nvSpPr>
          <p:spPr bwMode="auto">
            <a:xfrm>
              <a:off x="2790721" y="4895864"/>
              <a:ext cx="917183" cy="9281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08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rgbClr val="FF3399"/>
                  </a:solidFill>
                </a:rPr>
                <a:t>op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  </a:t>
              </a:r>
              <a:r>
                <a:rPr lang="en-US" altLang="zh-CN" sz="12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n-1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1800" b="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3637484" y="5373216"/>
              <a:ext cx="28644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3637484" y="5630768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5221659" y="5373216"/>
              <a:ext cx="28644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5221659" y="5630768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3635896" y="5062324"/>
              <a:ext cx="284612" cy="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4" name="Text Box 399"/>
            <p:cNvSpPr txBox="1">
              <a:spLocks noChangeArrowheads="1"/>
            </p:cNvSpPr>
            <p:nvPr/>
          </p:nvSpPr>
          <p:spPr bwMode="auto">
            <a:xfrm>
              <a:off x="5508675" y="4959936"/>
              <a:ext cx="863525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err="1" smtClean="0">
                  <a:solidFill>
                    <a:schemeClr val="tx1"/>
                  </a:solidFill>
                </a:rPr>
                <a:t>n+k</a:t>
              </a:r>
              <a:r>
                <a:rPr lang="en-US" altLang="zh-CN" sz="1800" b="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err="1" smtClean="0">
                  <a:solidFill>
                    <a:schemeClr val="tx1"/>
                  </a:solidFill>
                </a:rPr>
                <a:t>n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n-1</a:t>
              </a:r>
              <a:endParaRPr lang="en-US" altLang="zh-CN" sz="1800" baseline="-14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1800" b="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5220072" y="5108044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6" name="组合 65"/>
          <p:cNvGrpSpPr/>
          <p:nvPr/>
        </p:nvGrpSpPr>
        <p:grpSpPr>
          <a:xfrm>
            <a:off x="4064524" y="4684128"/>
            <a:ext cx="1301151" cy="648072"/>
            <a:chOff x="3920508" y="4986888"/>
            <a:chExt cx="1301151" cy="648072"/>
          </a:xfrm>
        </p:grpSpPr>
        <p:cxnSp>
          <p:nvCxnSpPr>
            <p:cNvPr id="67" name="直接连接符 66"/>
            <p:cNvCxnSpPr/>
            <p:nvPr/>
          </p:nvCxnSpPr>
          <p:spPr bwMode="auto">
            <a:xfrm>
              <a:off x="3920508" y="5634960"/>
              <a:ext cx="1301151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3920509" y="5373216"/>
              <a:ext cx="130115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399"/>
            <p:cNvSpPr txBox="1">
              <a:spLocks noChangeArrowheads="1"/>
            </p:cNvSpPr>
            <p:nvPr/>
          </p:nvSpPr>
          <p:spPr bwMode="auto">
            <a:xfrm>
              <a:off x="4644008" y="4986888"/>
              <a:ext cx="216021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 bwMode="auto">
            <a:xfrm>
              <a:off x="4860032" y="5108044"/>
              <a:ext cx="361627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37"/>
            <p:cNvCxnSpPr/>
            <p:nvPr/>
          </p:nvCxnSpPr>
          <p:spPr bwMode="auto">
            <a:xfrm>
              <a:off x="3920508" y="5062324"/>
              <a:ext cx="7235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83"/>
            <p:cNvCxnSpPr/>
            <p:nvPr/>
          </p:nvCxnSpPr>
          <p:spPr bwMode="auto">
            <a:xfrm flipV="1">
              <a:off x="4271915" y="5196790"/>
              <a:ext cx="372093" cy="176426"/>
            </a:xfrm>
            <a:prstGeom prst="bentConnector3">
              <a:avLst>
                <a:gd name="adj1" fmla="val 851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</p:grpSp>
      <p:sp>
        <p:nvSpPr>
          <p:cNvPr id="76" name="Text Box 200"/>
          <p:cNvSpPr txBox="1">
            <a:spLocks noChangeArrowheads="1"/>
          </p:cNvSpPr>
          <p:nvPr/>
        </p:nvSpPr>
        <p:spPr bwMode="auto">
          <a:xfrm>
            <a:off x="2411730" y="5628005"/>
            <a:ext cx="6033770" cy="36004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若只有符号扩展功能，电路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引脚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&amp;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内部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如何组织？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3" grpId="0" bldLvl="0" animBg="1"/>
      <p:bldP spid="54" grpId="0"/>
      <p:bldP spid="7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72"/>
          <p:cNvSpPr txBox="1">
            <a:spLocks noChangeArrowheads="1"/>
          </p:cNvSpPr>
          <p:nvPr/>
        </p:nvSpPr>
        <p:spPr bwMode="auto">
          <a:xfrm>
            <a:off x="179388" y="332989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三、实数的表示</a:t>
            </a:r>
            <a:endParaRPr lang="zh-CN" altLang="en-US" sz="2400" dirty="0"/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179388" y="829161"/>
            <a:ext cx="8785225" cy="24776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浮点表示方法</a:t>
            </a:r>
            <a:endParaRPr lang="zh-CN" altLang="en-US" dirty="0">
              <a:solidFill>
                <a:srgbClr val="FF3399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*表示方法：</a:t>
            </a:r>
            <a:r>
              <a:rPr lang="zh-CN" altLang="en-US" dirty="0">
                <a:solidFill>
                  <a:schemeClr val="tx1"/>
                </a:solidFill>
              </a:rPr>
              <a:t>数据中的小数点位置</a:t>
            </a:r>
            <a:r>
              <a:rPr lang="zh-CN" altLang="en-US" u="sng" dirty="0">
                <a:solidFill>
                  <a:schemeClr val="accent2"/>
                </a:solidFill>
              </a:rPr>
              <a:t>用</a:t>
            </a:r>
            <a:r>
              <a:rPr lang="zh-CN" altLang="en-US" u="sng" dirty="0" smtClean="0">
                <a:solidFill>
                  <a:schemeClr val="accent2"/>
                </a:solidFill>
              </a:rPr>
              <a:t>阶表示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dirty="0" smtClean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即实数写成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M</a:t>
            </a:r>
            <a:r>
              <a:rPr lang="en-US" altLang="zh-CN" b="0" dirty="0" smtClean="0">
                <a:solidFill>
                  <a:schemeClr val="tx1"/>
                </a:solidFill>
                <a:latin typeface="+mn-lt"/>
              </a:rPr>
              <a:t>×</a:t>
            </a:r>
            <a:r>
              <a:rPr lang="en-US" altLang="zh-CN" i="1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i="1" baseline="-18000" dirty="0" smtClean="0">
                <a:solidFill>
                  <a:schemeClr val="tx1"/>
                </a:solidFill>
                <a:latin typeface="+mn-lt"/>
                <a:ea typeface="+mn-ea"/>
              </a:rPr>
              <a:t>M </a:t>
            </a:r>
            <a:r>
              <a:rPr lang="en-US" altLang="zh-CN" i="1" baseline="30000" dirty="0" smtClean="0">
                <a:solidFill>
                  <a:schemeClr val="tx1"/>
                </a:solidFill>
                <a:latin typeface="+mn-lt"/>
              </a:rPr>
              <a:t>E</a:t>
            </a:r>
            <a:r>
              <a:rPr lang="en-US" altLang="zh-CN" b="0" i="1" baseline="30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，尾数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±</a:t>
            </a:r>
            <a:r>
              <a:rPr lang="en-US" altLang="zh-CN" b="0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…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en-US" altLang="zh-CN" i="1" baseline="-18000" dirty="0" smtClean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、基为</a:t>
            </a:r>
            <a:r>
              <a:rPr lang="en-US" altLang="zh-CN" i="1" dirty="0" smtClean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i="1" baseline="-18000" dirty="0" smtClean="0">
                <a:solidFill>
                  <a:schemeClr val="tx1"/>
                </a:solidFill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         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阶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±</a:t>
            </a:r>
            <a:r>
              <a:rPr lang="en-US" altLang="zh-CN" b="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i="1" baseline="-18000" dirty="0" smtClean="0">
                <a:solidFill>
                  <a:schemeClr val="tx1"/>
                </a:solidFill>
                <a:latin typeface="+mn-lt"/>
              </a:rPr>
              <a:t>l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…</a:t>
            </a:r>
            <a:r>
              <a:rPr lang="en-US" altLang="zh-CN" b="0" i="1" dirty="0" smtClean="0">
                <a:solidFill>
                  <a:schemeClr val="tx1"/>
                </a:solidFill>
                <a:latin typeface="+mn-lt"/>
              </a:rPr>
              <a:t>e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、基为</a:t>
            </a:r>
            <a:r>
              <a:rPr lang="en-US" altLang="zh-CN" i="1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i="1" baseline="-18000" dirty="0" smtClean="0">
                <a:solidFill>
                  <a:schemeClr val="tx1"/>
                </a:solidFill>
                <a:latin typeface="+mn-lt"/>
                <a:ea typeface="+mn-ea"/>
              </a:rPr>
              <a:t>E</a:t>
            </a:r>
            <a:endParaRPr lang="en-US" altLang="zh-CN" i="1" baseline="-18000" dirty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表示格式：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5" name="Group 80"/>
          <p:cNvGrpSpPr/>
          <p:nvPr/>
        </p:nvGrpSpPr>
        <p:grpSpPr bwMode="auto">
          <a:xfrm>
            <a:off x="1330342" y="3262918"/>
            <a:ext cx="6049970" cy="1152526"/>
            <a:chOff x="1610" y="2630"/>
            <a:chExt cx="3811" cy="726"/>
          </a:xfrm>
        </p:grpSpPr>
        <p:sp>
          <p:nvSpPr>
            <p:cNvPr id="6" name="Line 81"/>
            <p:cNvSpPr>
              <a:spLocks noChangeShapeType="1"/>
            </p:cNvSpPr>
            <p:nvPr/>
          </p:nvSpPr>
          <p:spPr bwMode="auto">
            <a:xfrm>
              <a:off x="1610" y="263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Box 82"/>
            <p:cNvSpPr txBox="1">
              <a:spLocks noChangeArrowheads="1"/>
            </p:cNvSpPr>
            <p:nvPr/>
          </p:nvSpPr>
          <p:spPr bwMode="auto">
            <a:xfrm>
              <a:off x="1701" y="2630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990099"/>
                  </a:solidFill>
                </a:rPr>
                <a:t>1</a:t>
              </a:r>
              <a:endParaRPr lang="en-US" altLang="zh-CN" sz="1800" dirty="0">
                <a:solidFill>
                  <a:srgbClr val="990099"/>
                </a:solidFill>
              </a:endParaRPr>
            </a:p>
          </p:txBody>
        </p:sp>
        <p:sp>
          <p:nvSpPr>
            <p:cNvPr id="8" name="Line 83"/>
            <p:cNvSpPr>
              <a:spLocks noChangeShapeType="1"/>
            </p:cNvSpPr>
            <p:nvPr/>
          </p:nvSpPr>
          <p:spPr bwMode="auto">
            <a:xfrm flipH="1">
              <a:off x="1610" y="2704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1610" y="2796"/>
              <a:ext cx="907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S</a:t>
              </a:r>
              <a:r>
                <a:rPr lang="en-US" altLang="zh-CN" sz="200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000" dirty="0">
                  <a:solidFill>
                    <a:schemeClr val="tx1"/>
                  </a:solidFill>
                </a:rPr>
                <a:t>   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2517" y="2796"/>
              <a:ext cx="108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S</a:t>
              </a:r>
              <a:r>
                <a:rPr lang="en-US" altLang="zh-CN" sz="200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dirty="0">
                  <a:solidFill>
                    <a:schemeClr val="tx1"/>
                  </a:solidFill>
                </a:rPr>
                <a:t>    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Line 86"/>
            <p:cNvSpPr>
              <a:spLocks noChangeShapeType="1"/>
            </p:cNvSpPr>
            <p:nvPr/>
          </p:nvSpPr>
          <p:spPr bwMode="auto">
            <a:xfrm>
              <a:off x="1927" y="2795"/>
              <a:ext cx="0" cy="22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7"/>
            <p:cNvSpPr>
              <a:spLocks noChangeShapeType="1"/>
            </p:cNvSpPr>
            <p:nvPr/>
          </p:nvSpPr>
          <p:spPr bwMode="auto">
            <a:xfrm>
              <a:off x="2834" y="2796"/>
              <a:ext cx="0" cy="22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1610" y="3174"/>
              <a:ext cx="2132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rIns="18000" anchor="ctr" anchorCtr="0"/>
            <a:lstStyle/>
            <a:p>
              <a:pPr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阶符  阶值  数符    尾数值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 flipV="1">
              <a:off x="1746" y="3038"/>
              <a:ext cx="0" cy="1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90"/>
            <p:cNvSpPr>
              <a:spLocks noChangeShapeType="1"/>
            </p:cNvSpPr>
            <p:nvPr/>
          </p:nvSpPr>
          <p:spPr bwMode="auto">
            <a:xfrm flipV="1">
              <a:off x="2652" y="3038"/>
              <a:ext cx="0" cy="1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91"/>
            <p:cNvSpPr/>
            <p:nvPr/>
          </p:nvSpPr>
          <p:spPr bwMode="auto">
            <a:xfrm rot="16200000">
              <a:off x="2192" y="2781"/>
              <a:ext cx="59" cy="590"/>
            </a:xfrm>
            <a:prstGeom prst="leftBrace">
              <a:avLst>
                <a:gd name="adj1" fmla="val 35784"/>
                <a:gd name="adj2" fmla="val 49783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92"/>
            <p:cNvSpPr/>
            <p:nvPr/>
          </p:nvSpPr>
          <p:spPr bwMode="auto">
            <a:xfrm rot="16200000">
              <a:off x="3196" y="2685"/>
              <a:ext cx="47" cy="773"/>
            </a:xfrm>
            <a:prstGeom prst="leftBrace">
              <a:avLst>
                <a:gd name="adj1" fmla="val 63139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93"/>
            <p:cNvSpPr>
              <a:spLocks noChangeShapeType="1"/>
            </p:cNvSpPr>
            <p:nvPr/>
          </p:nvSpPr>
          <p:spPr bwMode="auto">
            <a:xfrm>
              <a:off x="1927" y="263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2518" y="263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2835" y="263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96"/>
            <p:cNvSpPr>
              <a:spLocks noChangeShapeType="1"/>
            </p:cNvSpPr>
            <p:nvPr/>
          </p:nvSpPr>
          <p:spPr bwMode="auto">
            <a:xfrm>
              <a:off x="3606" y="263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97"/>
            <p:cNvSpPr>
              <a:spLocks noChangeShapeType="1"/>
            </p:cNvSpPr>
            <p:nvPr/>
          </p:nvSpPr>
          <p:spPr bwMode="auto">
            <a:xfrm>
              <a:off x="1837" y="2704"/>
              <a:ext cx="9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98"/>
            <p:cNvSpPr txBox="1">
              <a:spLocks noChangeArrowheads="1"/>
            </p:cNvSpPr>
            <p:nvPr/>
          </p:nvSpPr>
          <p:spPr bwMode="auto">
            <a:xfrm>
              <a:off x="2609" y="2630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1</a:t>
              </a:r>
              <a:endParaRPr lang="en-US" altLang="zh-CN" sz="1800">
                <a:solidFill>
                  <a:srgbClr val="990099"/>
                </a:solidFill>
              </a:endParaRPr>
            </a:p>
          </p:txBody>
        </p:sp>
        <p:sp>
          <p:nvSpPr>
            <p:cNvPr id="24" name="Line 99"/>
            <p:cNvSpPr>
              <a:spLocks noChangeShapeType="1"/>
            </p:cNvSpPr>
            <p:nvPr/>
          </p:nvSpPr>
          <p:spPr bwMode="auto">
            <a:xfrm flipH="1">
              <a:off x="2518" y="2704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00"/>
            <p:cNvSpPr>
              <a:spLocks noChangeShapeType="1"/>
            </p:cNvSpPr>
            <p:nvPr/>
          </p:nvSpPr>
          <p:spPr bwMode="auto">
            <a:xfrm>
              <a:off x="2745" y="2704"/>
              <a:ext cx="9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101"/>
            <p:cNvSpPr txBox="1">
              <a:spLocks noChangeArrowheads="1"/>
            </p:cNvSpPr>
            <p:nvPr/>
          </p:nvSpPr>
          <p:spPr bwMode="auto">
            <a:xfrm>
              <a:off x="2154" y="2638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rgbClr val="990099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1800" i="1" dirty="0">
                <a:solidFill>
                  <a:srgbClr val="99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 flipH="1">
              <a:off x="1927" y="2704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03"/>
            <p:cNvSpPr>
              <a:spLocks noChangeShapeType="1"/>
            </p:cNvSpPr>
            <p:nvPr/>
          </p:nvSpPr>
          <p:spPr bwMode="auto">
            <a:xfrm>
              <a:off x="2290" y="2704"/>
              <a:ext cx="2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104"/>
            <p:cNvSpPr txBox="1">
              <a:spLocks noChangeArrowheads="1"/>
            </p:cNvSpPr>
            <p:nvPr/>
          </p:nvSpPr>
          <p:spPr bwMode="auto">
            <a:xfrm>
              <a:off x="3152" y="2630"/>
              <a:ext cx="135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rgbClr val="990099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1800" i="1" dirty="0">
                <a:solidFill>
                  <a:srgbClr val="99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Line 105"/>
            <p:cNvSpPr>
              <a:spLocks noChangeShapeType="1"/>
            </p:cNvSpPr>
            <p:nvPr/>
          </p:nvSpPr>
          <p:spPr bwMode="auto">
            <a:xfrm flipH="1">
              <a:off x="2835" y="2704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06"/>
            <p:cNvSpPr>
              <a:spLocks noChangeShapeType="1"/>
            </p:cNvSpPr>
            <p:nvPr/>
          </p:nvSpPr>
          <p:spPr bwMode="auto">
            <a:xfrm>
              <a:off x="3288" y="2704"/>
              <a:ext cx="3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107"/>
            <p:cNvSpPr txBox="1">
              <a:spLocks noChangeArrowheads="1"/>
            </p:cNvSpPr>
            <p:nvPr/>
          </p:nvSpPr>
          <p:spPr bwMode="auto">
            <a:xfrm>
              <a:off x="3697" y="2840"/>
              <a:ext cx="181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或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108"/>
            <p:cNvSpPr txBox="1">
              <a:spLocks noChangeArrowheads="1"/>
            </p:cNvSpPr>
            <p:nvPr/>
          </p:nvSpPr>
          <p:spPr bwMode="auto">
            <a:xfrm>
              <a:off x="4197" y="2796"/>
              <a:ext cx="635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000" dirty="0">
                  <a:solidFill>
                    <a:schemeClr val="tx1"/>
                  </a:solidFill>
                </a:rPr>
                <a:t>  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109"/>
            <p:cNvSpPr txBox="1">
              <a:spLocks noChangeArrowheads="1"/>
            </p:cNvSpPr>
            <p:nvPr/>
          </p:nvSpPr>
          <p:spPr bwMode="auto">
            <a:xfrm>
              <a:off x="4832" y="2796"/>
              <a:ext cx="58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Line 110"/>
            <p:cNvSpPr>
              <a:spLocks noChangeShapeType="1"/>
            </p:cNvSpPr>
            <p:nvPr/>
          </p:nvSpPr>
          <p:spPr bwMode="auto">
            <a:xfrm>
              <a:off x="4424" y="2795"/>
              <a:ext cx="0" cy="22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111"/>
            <p:cNvSpPr txBox="1">
              <a:spLocks noChangeArrowheads="1"/>
            </p:cNvSpPr>
            <p:nvPr/>
          </p:nvSpPr>
          <p:spPr bwMode="auto">
            <a:xfrm>
              <a:off x="3970" y="2796"/>
              <a:ext cx="227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i="1" baseline="-18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dirty="0">
                  <a:solidFill>
                    <a:schemeClr val="tx1"/>
                  </a:solidFill>
                </a:rPr>
                <a:t> 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 Box 79"/>
          <p:cNvSpPr txBox="1">
            <a:spLocks noChangeArrowheads="1"/>
          </p:cNvSpPr>
          <p:nvPr/>
        </p:nvSpPr>
        <p:spPr bwMode="auto">
          <a:xfrm>
            <a:off x="2051721" y="2708920"/>
            <a:ext cx="6840759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>
              <a:spcBef>
                <a:spcPts val="0"/>
              </a:spcBef>
            </a:pPr>
            <a:r>
              <a:rPr lang="en-US" altLang="zh-CN" i="1" spc="-70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i="1" spc="-70" baseline="-18000" dirty="0" smtClean="0">
                <a:solidFill>
                  <a:schemeClr val="tx1"/>
                </a:solidFill>
                <a:latin typeface="+mn-lt"/>
              </a:rPr>
              <a:t>E</a:t>
            </a:r>
            <a:r>
              <a:rPr lang="zh-CN" altLang="en-US" spc="-70" dirty="0" smtClean="0">
                <a:solidFill>
                  <a:schemeClr val="tx1"/>
                </a:solidFill>
              </a:rPr>
              <a:t>及</a:t>
            </a:r>
            <a:r>
              <a:rPr lang="en-US" altLang="zh-CN" i="1" spc="-70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i="1" spc="-70" baseline="-18000" dirty="0" smtClean="0">
                <a:solidFill>
                  <a:schemeClr val="tx1"/>
                </a:solidFill>
                <a:latin typeface="+mn-lt"/>
              </a:rPr>
              <a:t>M</a:t>
            </a:r>
            <a:r>
              <a:rPr lang="zh-CN" altLang="en-US" spc="-70" dirty="0" smtClean="0">
                <a:solidFill>
                  <a:schemeClr val="tx1"/>
                </a:solidFill>
              </a:rPr>
              <a:t>隐式表示</a:t>
            </a:r>
            <a:r>
              <a:rPr lang="en-US" altLang="zh-CN" sz="1800" spc="-70" dirty="0" smtClean="0">
                <a:solidFill>
                  <a:schemeClr val="tx1"/>
                </a:solidFill>
              </a:rPr>
              <a:t>(</a:t>
            </a:r>
            <a:r>
              <a:rPr lang="en-US" altLang="zh-CN" sz="1800" i="1" spc="-70" dirty="0">
                <a:solidFill>
                  <a:schemeClr val="tx1"/>
                </a:solidFill>
              </a:rPr>
              <a:t>R</a:t>
            </a:r>
            <a:r>
              <a:rPr lang="en-US" altLang="zh-CN" sz="1800" i="1" spc="-70" baseline="-18000" dirty="0">
                <a:solidFill>
                  <a:schemeClr val="tx1"/>
                </a:solidFill>
              </a:rPr>
              <a:t>E</a:t>
            </a:r>
            <a:r>
              <a:rPr lang="zh-CN" altLang="en-US" sz="1800" spc="-70" dirty="0">
                <a:solidFill>
                  <a:schemeClr val="tx1"/>
                </a:solidFill>
              </a:rPr>
              <a:t>＝</a:t>
            </a:r>
            <a:r>
              <a:rPr lang="en-US" altLang="zh-CN" sz="1800" spc="-70" dirty="0" smtClean="0">
                <a:solidFill>
                  <a:schemeClr val="tx1"/>
                </a:solidFill>
              </a:rPr>
              <a:t>2</a:t>
            </a:r>
            <a:r>
              <a:rPr lang="zh-CN" altLang="en-US" sz="1800" spc="-70" dirty="0" smtClean="0">
                <a:solidFill>
                  <a:schemeClr val="tx1"/>
                </a:solidFill>
              </a:rPr>
              <a:t>、通常</a:t>
            </a:r>
            <a:r>
              <a:rPr lang="en-US" altLang="zh-CN" sz="1800" i="1" spc="-70" dirty="0">
                <a:solidFill>
                  <a:schemeClr val="tx1"/>
                </a:solidFill>
              </a:rPr>
              <a:t>R</a:t>
            </a:r>
            <a:r>
              <a:rPr lang="en-US" altLang="zh-CN" sz="1800" i="1" spc="-70" baseline="-18000" dirty="0">
                <a:solidFill>
                  <a:schemeClr val="tx1"/>
                </a:solidFill>
              </a:rPr>
              <a:t>M</a:t>
            </a:r>
            <a:r>
              <a:rPr lang="zh-CN" altLang="en-US" sz="1800" spc="-70" dirty="0">
                <a:solidFill>
                  <a:schemeClr val="tx1"/>
                </a:solidFill>
              </a:rPr>
              <a:t>＝</a:t>
            </a:r>
            <a:r>
              <a:rPr lang="en-US" altLang="zh-CN" sz="1800" spc="-70" dirty="0">
                <a:solidFill>
                  <a:schemeClr val="tx1"/>
                </a:solidFill>
              </a:rPr>
              <a:t>2</a:t>
            </a:r>
            <a:r>
              <a:rPr lang="en-US" altLang="zh-CN" sz="1800" spc="-70" dirty="0" smtClean="0">
                <a:solidFill>
                  <a:schemeClr val="tx1"/>
                </a:solidFill>
              </a:rPr>
              <a:t>)</a:t>
            </a:r>
            <a:r>
              <a:rPr lang="zh-CN" altLang="en-US" spc="-70" dirty="0" smtClean="0">
                <a:solidFill>
                  <a:schemeClr val="tx1"/>
                </a:solidFill>
              </a:rPr>
              <a:t>，其余显式表示</a:t>
            </a:r>
            <a:endParaRPr lang="en-US" altLang="zh-CN" spc="-70" dirty="0">
              <a:solidFill>
                <a:schemeClr val="accent2"/>
              </a:solidFill>
            </a:endParaRPr>
          </a:p>
        </p:txBody>
      </p:sp>
      <p:sp>
        <p:nvSpPr>
          <p:cNvPr id="39" name="Text Box 190"/>
          <p:cNvSpPr txBox="1">
            <a:spLocks noChangeArrowheads="1"/>
          </p:cNvSpPr>
          <p:nvPr/>
        </p:nvSpPr>
        <p:spPr bwMode="auto">
          <a:xfrm>
            <a:off x="179388" y="4365104"/>
            <a:ext cx="878522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 smtClean="0">
                <a:solidFill>
                  <a:schemeClr val="tx1"/>
                </a:solidFill>
              </a:rPr>
              <a:t>浮点数表示格式中，阶在机器数高位，若尾数为</a:t>
            </a:r>
            <a:r>
              <a:rPr lang="en-US" altLang="zh-CN" dirty="0" smtClean="0">
                <a:solidFill>
                  <a:schemeClr val="tx1"/>
                </a:solidFill>
              </a:rPr>
              <a:t>9</a:t>
            </a:r>
            <a:r>
              <a:rPr lang="zh-CN" altLang="en-US" dirty="0" smtClean="0">
                <a:solidFill>
                  <a:schemeClr val="tx1"/>
                </a:solidFill>
              </a:rPr>
              <a:t>位、阶码为</a:t>
            </a:r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位，</a:t>
            </a:r>
            <a:r>
              <a:rPr lang="zh-CN" altLang="en-US" dirty="0">
                <a:solidFill>
                  <a:schemeClr val="tx1"/>
                </a:solidFill>
              </a:rPr>
              <a:t>尾数及</a:t>
            </a:r>
            <a:r>
              <a:rPr lang="zh-CN" altLang="en-US" dirty="0" smtClean="0">
                <a:solidFill>
                  <a:schemeClr val="tx1"/>
                </a:solidFill>
              </a:rPr>
              <a:t>阶均用补码表示，写出</a:t>
            </a:r>
            <a:r>
              <a:rPr lang="en-US" altLang="zh-CN" dirty="0" smtClean="0">
                <a:solidFill>
                  <a:schemeClr val="tx1"/>
                </a:solidFill>
              </a:rPr>
              <a:t>-54</a:t>
            </a:r>
            <a:r>
              <a:rPr lang="zh-CN" altLang="en-US" dirty="0" smtClean="0">
                <a:solidFill>
                  <a:schemeClr val="tx1"/>
                </a:solidFill>
              </a:rPr>
              <a:t>的浮点机器数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Text Box 191"/>
          <p:cNvSpPr txBox="1">
            <a:spLocks noChangeArrowheads="1"/>
          </p:cNvSpPr>
          <p:nvPr/>
        </p:nvSpPr>
        <p:spPr bwMode="auto">
          <a:xfrm>
            <a:off x="1330474" y="5293657"/>
            <a:ext cx="6265862" cy="9750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-54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(-110110)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-0.11011</a:t>
            </a:r>
            <a:r>
              <a:rPr lang="en-US" altLang="zh-CN" dirty="0" smtClean="0">
                <a:solidFill>
                  <a:srgbClr val="990099"/>
                </a:solidFill>
              </a:rPr>
              <a:t>000</a:t>
            </a:r>
            <a:r>
              <a:rPr lang="en-US" altLang="zh-CN" dirty="0" smtClean="0">
                <a:solidFill>
                  <a:schemeClr val="tx1"/>
                </a:solidFill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+</a:t>
            </a:r>
            <a:r>
              <a:rPr lang="en-US" altLang="zh-CN" baseline="30000" dirty="0" smtClean="0">
                <a:solidFill>
                  <a:srgbClr val="990099"/>
                </a:solidFill>
              </a:rPr>
              <a:t>0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110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dirty="0" smtClean="0">
                <a:solidFill>
                  <a:schemeClr val="tx1"/>
                </a:solidFill>
              </a:rPr>
              <a:t>浮点机器数为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586118" y="5841304"/>
            <a:ext cx="2498050" cy="324000"/>
            <a:chOff x="3419872" y="1755652"/>
            <a:chExt cx="2498050" cy="324000"/>
          </a:xfrm>
        </p:grpSpPr>
        <p:sp>
          <p:nvSpPr>
            <p:cNvPr id="42" name="矩形 41"/>
            <p:cNvSpPr/>
            <p:nvPr/>
          </p:nvSpPr>
          <p:spPr bwMode="auto">
            <a:xfrm>
              <a:off x="4348566" y="1755652"/>
              <a:ext cx="1569356" cy="324000"/>
            </a:xfrm>
            <a:prstGeom prst="rect">
              <a:avLst/>
            </a:prstGeom>
            <a:solidFill>
              <a:srgbClr val="CCFFFF"/>
            </a:solidFill>
            <a:ln w="15875" cap="flat" cmpd="sng" algn="ctr">
              <a:solidFill>
                <a:schemeClr val="accent2">
                  <a:lumMod val="7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00101</a:t>
              </a: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rgbClr val="9900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000</a:t>
              </a:r>
              <a:endPara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99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3419872" y="1755652"/>
              <a:ext cx="928694" cy="32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 cap="flat" cmpd="sng" algn="ctr">
              <a:solidFill>
                <a:schemeClr val="accent2">
                  <a:lumMod val="7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rgbClr val="9900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1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110</a:t>
              </a:r>
              <a:endPara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8" grpId="0"/>
      <p:bldP spid="39" grpId="0" bldLvl="0" animBg="1"/>
      <p:bldP spid="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C5FC-8604-4AEA-81D5-13B30C767DA8}" type="slidenum">
              <a:rPr lang="en-US" altLang="zh-CN"/>
            </a:fld>
            <a:endParaRPr lang="en-US" altLang="zh-CN"/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2—</a:t>
            </a:r>
            <a:r>
              <a:rPr lang="zh-CN" altLang="en-US" dirty="0" smtClean="0">
                <a:solidFill>
                  <a:schemeClr val="tx1"/>
                </a:solidFill>
              </a:rPr>
              <a:t>若浮点数用</a:t>
            </a:r>
            <a:r>
              <a:rPr lang="en-US" altLang="zh-CN" dirty="0">
                <a:solidFill>
                  <a:schemeClr val="tx1"/>
                </a:solidFill>
              </a:rPr>
              <a:t>8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尾数、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阶表示，填充下表空白处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2" name="Group 327"/>
          <p:cNvGraphicFramePr>
            <a:graphicFrameLocks noGrp="1"/>
          </p:cNvGraphicFramePr>
          <p:nvPr/>
        </p:nvGraphicFramePr>
        <p:xfrm>
          <a:off x="1043608" y="908720"/>
          <a:ext cx="7776542" cy="1584176"/>
        </p:xfrm>
        <a:graphic>
          <a:graphicData uri="http://schemas.openxmlformats.org/drawingml/2006/table">
            <a:tbl>
              <a:tblPr/>
              <a:tblGrid>
                <a:gridCol w="648072"/>
                <a:gridCol w="720080"/>
                <a:gridCol w="1655415"/>
                <a:gridCol w="2233613"/>
                <a:gridCol w="1079500"/>
                <a:gridCol w="1439862"/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浮点数的真值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3368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-0.0010111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-0.10111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-10</a:t>
                      </a:r>
                      <a:endParaRPr kumimoji="1" lang="en-US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14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1 0110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0 1011010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8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-10101.11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-0.1010111×2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+101</a:t>
                      </a:r>
                      <a:endParaRPr kumimoji="1" lang="en-US" altLang="zh-CN" sz="20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37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0 0101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1 1101000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" name="Text Box 223"/>
          <p:cNvSpPr txBox="1">
            <a:spLocks noChangeArrowheads="1"/>
          </p:cNvSpPr>
          <p:nvPr/>
        </p:nvSpPr>
        <p:spPr bwMode="auto">
          <a:xfrm>
            <a:off x="6445250" y="1196752"/>
            <a:ext cx="2303463" cy="97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64800" rIns="18000" bIns="10800" anchor="t" anchorCtr="0"/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1 0010 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1 </a:t>
            </a:r>
            <a:r>
              <a:rPr lang="en-US" altLang="zh-CN" sz="2000" dirty="0" smtClean="0"/>
              <a:t>1011100</a:t>
            </a:r>
            <a:endParaRPr lang="en-US" altLang="zh-CN" sz="2000" dirty="0" smtClean="0"/>
          </a:p>
          <a:p>
            <a:pPr>
              <a:lnSpc>
                <a:spcPct val="90000"/>
              </a:lnSpc>
            </a:pPr>
            <a:endParaRPr lang="en-US" altLang="zh-CN" sz="2000" dirty="0" smtClean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 smtClean="0"/>
              <a:t>1 </a:t>
            </a:r>
            <a:r>
              <a:rPr lang="en-US" altLang="zh-CN" sz="2000" dirty="0"/>
              <a:t>0101 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1 0101001</a:t>
            </a:r>
            <a:endParaRPr lang="en-US" altLang="zh-CN" sz="2000" dirty="0"/>
          </a:p>
          <a:p>
            <a:pPr>
              <a:lnSpc>
                <a:spcPct val="90000"/>
              </a:lnSpc>
            </a:pPr>
            <a:endParaRPr lang="en-US" altLang="zh-CN" sz="2000" dirty="0"/>
          </a:p>
        </p:txBody>
      </p:sp>
      <p:sp>
        <p:nvSpPr>
          <p:cNvPr id="2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79512" y="2557353"/>
            <a:ext cx="8785225" cy="952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若浮点数的尾数用</a:t>
            </a:r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</a:rPr>
              <a:t>位补码表示，阶用</a:t>
            </a:r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位移码</a:t>
            </a:r>
            <a:r>
              <a:rPr lang="zh-CN" altLang="en-US" dirty="0">
                <a:solidFill>
                  <a:schemeClr val="tx1"/>
                </a:solidFill>
              </a:rPr>
              <a:t>表示，写出</a:t>
            </a:r>
            <a:r>
              <a:rPr lang="en-US" altLang="zh-CN" dirty="0">
                <a:solidFill>
                  <a:schemeClr val="tx1"/>
                </a:solidFill>
              </a:rPr>
              <a:t>-54</a:t>
            </a:r>
            <a:r>
              <a:rPr lang="zh-CN" altLang="en-US" dirty="0">
                <a:solidFill>
                  <a:schemeClr val="tx1"/>
                </a:solidFill>
              </a:rPr>
              <a:t>的浮点机器</a:t>
            </a:r>
            <a:r>
              <a:rPr lang="zh-CN" altLang="en-US" dirty="0" smtClean="0">
                <a:solidFill>
                  <a:schemeClr val="tx1"/>
                </a:solidFill>
              </a:rPr>
              <a:t>数，及浮点</a:t>
            </a:r>
            <a:r>
              <a:rPr lang="zh-CN" altLang="en-US" dirty="0">
                <a:solidFill>
                  <a:schemeClr val="tx1"/>
                </a:solidFill>
              </a:rPr>
              <a:t>机器</a:t>
            </a:r>
            <a:r>
              <a:rPr lang="zh-CN" altLang="en-US" dirty="0" smtClean="0">
                <a:solidFill>
                  <a:schemeClr val="tx1"/>
                </a:solidFill>
              </a:rPr>
              <a:t>数</a:t>
            </a:r>
            <a:r>
              <a:rPr lang="en-US" altLang="zh-CN" dirty="0" smtClean="0">
                <a:solidFill>
                  <a:schemeClr val="tx1"/>
                </a:solidFill>
              </a:rPr>
              <a:t>645H</a:t>
            </a:r>
            <a:r>
              <a:rPr lang="zh-CN" altLang="en-US" dirty="0" smtClean="0">
                <a:solidFill>
                  <a:schemeClr val="tx1"/>
                </a:solidFill>
              </a:rPr>
              <a:t>的真值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179389" y="3492000"/>
            <a:ext cx="7705726" cy="2916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spc="-100" dirty="0" smtClean="0">
                <a:solidFill>
                  <a:srgbClr val="C00000"/>
                </a:solidFill>
              </a:rPr>
              <a:t>表数范围</a:t>
            </a:r>
            <a:r>
              <a:rPr lang="zh-CN" altLang="en-US" spc="-100" dirty="0">
                <a:solidFill>
                  <a:srgbClr val="C00000"/>
                </a:solidFill>
              </a:rPr>
              <a:t>与精度</a:t>
            </a:r>
            <a:r>
              <a:rPr lang="zh-CN" altLang="en-US" spc="-100" dirty="0" smtClean="0">
                <a:solidFill>
                  <a:srgbClr val="C00000"/>
                </a:solidFill>
              </a:rPr>
              <a:t>：</a:t>
            </a:r>
            <a:r>
              <a:rPr lang="zh-CN" altLang="en-US" spc="-1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i="1" spc="-1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spc="-100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en-US" altLang="zh-CN" spc="-100" dirty="0">
                <a:solidFill>
                  <a:schemeClr val="tx1"/>
                </a:solidFill>
              </a:rPr>
              <a:t>=2</a:t>
            </a:r>
            <a:r>
              <a:rPr lang="zh-CN" altLang="en-US" spc="-100" dirty="0">
                <a:solidFill>
                  <a:schemeClr val="tx1"/>
                </a:solidFill>
              </a:rPr>
              <a:t>、</a:t>
            </a:r>
            <a:r>
              <a:rPr lang="zh-CN" altLang="en-US" spc="-100" dirty="0" smtClean="0">
                <a:solidFill>
                  <a:schemeClr val="tx1"/>
                </a:solidFill>
              </a:rPr>
              <a:t>尾数及阶的值为</a:t>
            </a:r>
            <a:r>
              <a:rPr lang="en-US" altLang="zh-CN" i="1" spc="-100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pc="-100" dirty="0" smtClean="0">
                <a:solidFill>
                  <a:schemeClr val="tx1"/>
                </a:solidFill>
              </a:rPr>
              <a:t>位和</a:t>
            </a:r>
            <a:r>
              <a:rPr lang="en-US" altLang="zh-CN" i="1" spc="-1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pc="-100" dirty="0" smtClean="0">
                <a:solidFill>
                  <a:schemeClr val="tx1"/>
                </a:solidFill>
              </a:rPr>
              <a:t>位</a:t>
            </a:r>
            <a:endParaRPr lang="en-US" altLang="zh-CN" spc="-100" dirty="0" smtClean="0">
              <a:solidFill>
                <a:schemeClr val="tx1"/>
              </a:solidFill>
            </a:endParaRPr>
          </a:p>
          <a:p>
            <a:pPr marL="1075055" indent="-1075055"/>
            <a:endParaRPr lang="en-US" altLang="zh-CN" sz="2000" spc="-100" dirty="0">
              <a:solidFill>
                <a:schemeClr val="tx1"/>
              </a:solidFill>
            </a:endParaRPr>
          </a:p>
          <a:p>
            <a:pPr marL="1075055" indent="-1075055"/>
            <a:endParaRPr lang="en-US" altLang="zh-CN" sz="2000" spc="-100" dirty="0" smtClean="0">
              <a:solidFill>
                <a:schemeClr val="tx1"/>
              </a:solidFill>
            </a:endParaRPr>
          </a:p>
          <a:p>
            <a:pPr marL="1075055" indent="-1075055">
              <a:lnSpc>
                <a:spcPct val="114000"/>
              </a:lnSpc>
            </a:pPr>
            <a:endParaRPr lang="en-US" altLang="zh-CN" sz="2000" spc="-100" dirty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 表</a:t>
            </a:r>
            <a:r>
              <a:rPr lang="zh-CN" altLang="en-US" dirty="0">
                <a:solidFill>
                  <a:schemeClr val="accent2"/>
                </a:solidFill>
              </a:rPr>
              <a:t>数范围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>
              <a:lnSpc>
                <a:spcPct val="100000"/>
              </a:lnSpc>
            </a:pPr>
            <a:endParaRPr lang="en-US" altLang="zh-CN" spc="-100" dirty="0">
              <a:solidFill>
                <a:schemeClr val="tx1"/>
              </a:solidFill>
            </a:endParaRPr>
          </a:p>
          <a:p>
            <a:pPr marL="1075055" indent="-1075055">
              <a:lnSpc>
                <a:spcPct val="10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表数精度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zh-CN" altLang="en-US" spc="-100" dirty="0">
              <a:solidFill>
                <a:srgbClr val="C00000"/>
              </a:solidFill>
            </a:endParaRPr>
          </a:p>
        </p:txBody>
      </p:sp>
      <p:grpSp>
        <p:nvGrpSpPr>
          <p:cNvPr id="14" name="Group 188"/>
          <p:cNvGrpSpPr/>
          <p:nvPr/>
        </p:nvGrpSpPr>
        <p:grpSpPr bwMode="auto">
          <a:xfrm>
            <a:off x="1547813" y="4005064"/>
            <a:ext cx="6913564" cy="576264"/>
            <a:chOff x="975" y="1434"/>
            <a:chExt cx="4355" cy="363"/>
          </a:xfrm>
        </p:grpSpPr>
        <p:sp>
          <p:nvSpPr>
            <p:cNvPr id="15" name="Text Box 128"/>
            <p:cNvSpPr txBox="1">
              <a:spLocks noChangeArrowheads="1"/>
            </p:cNvSpPr>
            <p:nvPr/>
          </p:nvSpPr>
          <p:spPr bwMode="auto">
            <a:xfrm>
              <a:off x="2744" y="1434"/>
              <a:ext cx="816" cy="181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下溢区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30"/>
            <p:cNvSpPr txBox="1">
              <a:spLocks noChangeArrowheads="1"/>
            </p:cNvSpPr>
            <p:nvPr/>
          </p:nvSpPr>
          <p:spPr bwMode="auto">
            <a:xfrm>
              <a:off x="4604" y="1434"/>
              <a:ext cx="726" cy="363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正上溢区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(+∞)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 Box 164"/>
            <p:cNvSpPr txBox="1">
              <a:spLocks noChangeArrowheads="1"/>
            </p:cNvSpPr>
            <p:nvPr/>
          </p:nvSpPr>
          <p:spPr bwMode="auto">
            <a:xfrm>
              <a:off x="975" y="1434"/>
              <a:ext cx="726" cy="363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负上溢区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(-∞)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9"/>
          <p:cNvGrpSpPr/>
          <p:nvPr/>
        </p:nvGrpSpPr>
        <p:grpSpPr bwMode="auto">
          <a:xfrm>
            <a:off x="1403350" y="4006075"/>
            <a:ext cx="7129463" cy="1079500"/>
            <a:chOff x="884" y="1480"/>
            <a:chExt cx="4491" cy="680"/>
          </a:xfrm>
        </p:grpSpPr>
        <p:sp>
          <p:nvSpPr>
            <p:cNvPr id="20" name="Text Box 126"/>
            <p:cNvSpPr txBox="1">
              <a:spLocks noChangeArrowheads="1"/>
            </p:cNvSpPr>
            <p:nvPr/>
          </p:nvSpPr>
          <p:spPr bwMode="auto">
            <a:xfrm>
              <a:off x="1701" y="1661"/>
              <a:ext cx="1043" cy="1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负数区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131"/>
            <p:cNvSpPr txBox="1">
              <a:spLocks noChangeArrowheads="1"/>
            </p:cNvSpPr>
            <p:nvPr/>
          </p:nvSpPr>
          <p:spPr bwMode="auto">
            <a:xfrm>
              <a:off x="2744" y="1661"/>
              <a:ext cx="816" cy="18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机器零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132"/>
            <p:cNvSpPr>
              <a:spLocks noChangeShapeType="1"/>
            </p:cNvSpPr>
            <p:nvPr/>
          </p:nvSpPr>
          <p:spPr bwMode="auto">
            <a:xfrm>
              <a:off x="3152" y="1843"/>
              <a:ext cx="0" cy="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33"/>
            <p:cNvSpPr txBox="1">
              <a:spLocks noChangeArrowheads="1"/>
            </p:cNvSpPr>
            <p:nvPr/>
          </p:nvSpPr>
          <p:spPr bwMode="auto">
            <a:xfrm>
              <a:off x="2925" y="1893"/>
              <a:ext cx="45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绝对零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156"/>
            <p:cNvSpPr txBox="1">
              <a:spLocks noChangeArrowheads="1"/>
            </p:cNvSpPr>
            <p:nvPr/>
          </p:nvSpPr>
          <p:spPr bwMode="auto">
            <a:xfrm>
              <a:off x="3470" y="1979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正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min</a:t>
              </a:r>
              <a:endParaRPr lang="en-US" altLang="zh-CN" sz="1800" dirty="0"/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auto">
            <a:xfrm>
              <a:off x="3561" y="1662"/>
              <a:ext cx="1043" cy="1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正数区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Line 167"/>
            <p:cNvSpPr>
              <a:spLocks noChangeShapeType="1"/>
            </p:cNvSpPr>
            <p:nvPr/>
          </p:nvSpPr>
          <p:spPr bwMode="auto">
            <a:xfrm>
              <a:off x="2744" y="1480"/>
              <a:ext cx="0" cy="36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68"/>
            <p:cNvSpPr>
              <a:spLocks noChangeShapeType="1"/>
            </p:cNvSpPr>
            <p:nvPr/>
          </p:nvSpPr>
          <p:spPr bwMode="auto">
            <a:xfrm>
              <a:off x="3560" y="1480"/>
              <a:ext cx="0" cy="36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69"/>
            <p:cNvSpPr>
              <a:spLocks noChangeShapeType="1"/>
            </p:cNvSpPr>
            <p:nvPr/>
          </p:nvSpPr>
          <p:spPr bwMode="auto">
            <a:xfrm>
              <a:off x="4604" y="1480"/>
              <a:ext cx="0" cy="36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70"/>
            <p:cNvSpPr>
              <a:spLocks noChangeShapeType="1"/>
            </p:cNvSpPr>
            <p:nvPr/>
          </p:nvSpPr>
          <p:spPr bwMode="auto">
            <a:xfrm>
              <a:off x="1701" y="1480"/>
              <a:ext cx="0" cy="36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72"/>
            <p:cNvSpPr>
              <a:spLocks noChangeShapeType="1"/>
            </p:cNvSpPr>
            <p:nvPr/>
          </p:nvSpPr>
          <p:spPr bwMode="auto">
            <a:xfrm>
              <a:off x="3560" y="184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174"/>
            <p:cNvSpPr txBox="1">
              <a:spLocks noChangeArrowheads="1"/>
            </p:cNvSpPr>
            <p:nvPr/>
          </p:nvSpPr>
          <p:spPr bwMode="auto">
            <a:xfrm>
              <a:off x="2653" y="1979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负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max</a:t>
              </a:r>
              <a:endParaRPr lang="en-US" altLang="zh-CN" sz="1800" dirty="0"/>
            </a:p>
          </p:txBody>
        </p:sp>
        <p:sp>
          <p:nvSpPr>
            <p:cNvPr id="33" name="Line 175"/>
            <p:cNvSpPr>
              <a:spLocks noChangeShapeType="1"/>
            </p:cNvSpPr>
            <p:nvPr/>
          </p:nvSpPr>
          <p:spPr bwMode="auto">
            <a:xfrm>
              <a:off x="2744" y="184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176"/>
            <p:cNvSpPr txBox="1">
              <a:spLocks noChangeArrowheads="1"/>
            </p:cNvSpPr>
            <p:nvPr/>
          </p:nvSpPr>
          <p:spPr bwMode="auto">
            <a:xfrm>
              <a:off x="4513" y="1979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正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max</a:t>
              </a:r>
              <a:endParaRPr lang="en-US" altLang="zh-CN" sz="1800" dirty="0"/>
            </a:p>
          </p:txBody>
        </p:sp>
        <p:sp>
          <p:nvSpPr>
            <p:cNvPr id="36" name="Line 177"/>
            <p:cNvSpPr>
              <a:spLocks noChangeShapeType="1"/>
            </p:cNvSpPr>
            <p:nvPr/>
          </p:nvSpPr>
          <p:spPr bwMode="auto">
            <a:xfrm>
              <a:off x="4603" y="1842"/>
              <a:ext cx="1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178"/>
            <p:cNvSpPr txBox="1">
              <a:spLocks noChangeArrowheads="1"/>
            </p:cNvSpPr>
            <p:nvPr/>
          </p:nvSpPr>
          <p:spPr bwMode="auto">
            <a:xfrm>
              <a:off x="1610" y="1979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负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min</a:t>
              </a:r>
              <a:endParaRPr lang="en-US" altLang="zh-CN" sz="1800" dirty="0"/>
            </a:p>
          </p:txBody>
        </p:sp>
        <p:sp>
          <p:nvSpPr>
            <p:cNvPr id="38" name="Line 179"/>
            <p:cNvSpPr>
              <a:spLocks noChangeShapeType="1"/>
            </p:cNvSpPr>
            <p:nvPr/>
          </p:nvSpPr>
          <p:spPr bwMode="auto">
            <a:xfrm>
              <a:off x="1700" y="1842"/>
              <a:ext cx="1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21"/>
            <p:cNvSpPr>
              <a:spLocks noChangeShapeType="1"/>
            </p:cNvSpPr>
            <p:nvPr/>
          </p:nvSpPr>
          <p:spPr bwMode="auto">
            <a:xfrm flipV="1">
              <a:off x="884" y="1842"/>
              <a:ext cx="449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2411759" y="5013567"/>
            <a:ext cx="6552853" cy="1384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i="1" dirty="0" smtClean="0">
                <a:solidFill>
                  <a:schemeClr val="tx1"/>
                </a:solidFill>
              </a:rPr>
              <a:t>N</a:t>
            </a:r>
            <a:r>
              <a:rPr lang="zh-CN" altLang="en-US" baseline="-16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正</a:t>
            </a:r>
            <a:r>
              <a:rPr lang="en-US" altLang="zh-CN" baseline="-16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max</a:t>
            </a:r>
            <a:r>
              <a:rPr lang="en-US" altLang="zh-CN" i="1" baseline="-16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i="1" dirty="0" smtClean="0">
                <a:solidFill>
                  <a:schemeClr val="tx1"/>
                </a:solidFill>
              </a:rPr>
              <a:t>N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负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min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rgbClr val="990099"/>
                </a:solidFill>
              </a:rPr>
              <a:t>1-2</a:t>
            </a:r>
            <a:r>
              <a:rPr lang="en-US" altLang="zh-CN" baseline="30000" dirty="0" smtClean="0">
                <a:solidFill>
                  <a:srgbClr val="990099"/>
                </a:solidFill>
              </a:rPr>
              <a:t>-</a:t>
            </a:r>
            <a:r>
              <a:rPr lang="en-US" altLang="zh-CN" i="1" baseline="30000" dirty="0" smtClean="0">
                <a:solidFill>
                  <a:srgbClr val="990099"/>
                </a:solidFill>
                <a:latin typeface="+mn-lt"/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</a:rPr>
              <a:t>)×2</a:t>
            </a:r>
            <a:r>
              <a:rPr lang="en-US" altLang="zh-CN" baseline="30000" dirty="0" smtClean="0">
                <a:solidFill>
                  <a:srgbClr val="FF3399"/>
                </a:solidFill>
              </a:rPr>
              <a:t>+1…1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>
              <a:lnSpc>
                <a:spcPct val="100000"/>
              </a:lnSpc>
            </a:pPr>
            <a:r>
              <a:rPr lang="en-US" altLang="zh-CN" i="1" dirty="0" smtClean="0">
                <a:solidFill>
                  <a:schemeClr val="tx1"/>
                </a:solidFill>
              </a:rPr>
              <a:t>N</a:t>
            </a:r>
            <a:r>
              <a:rPr lang="zh-CN" altLang="en-US" baseline="-16000" dirty="0">
                <a:solidFill>
                  <a:schemeClr val="tx1"/>
                </a:solidFill>
                <a:latin typeface="Times New Roman" panose="02020603050405020304" pitchFamily="18" charset="0"/>
              </a:rPr>
              <a:t>正</a:t>
            </a:r>
            <a:r>
              <a:rPr lang="en-US" altLang="zh-CN" baseline="-16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min</a:t>
            </a:r>
            <a:r>
              <a:rPr lang="en-US" altLang="zh-CN" i="1" baseline="-16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i="1" dirty="0">
                <a:solidFill>
                  <a:schemeClr val="tx1"/>
                </a:solidFill>
              </a:rPr>
              <a:t>N</a:t>
            </a:r>
            <a:r>
              <a:rPr lang="zh-CN" altLang="en-US" baseline="-16000" dirty="0">
                <a:solidFill>
                  <a:schemeClr val="tx1"/>
                </a:solidFill>
              </a:rPr>
              <a:t>负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max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990099"/>
                </a:solidFill>
              </a:rPr>
              <a:t>2</a:t>
            </a:r>
            <a:r>
              <a:rPr lang="en-US" altLang="zh-CN" baseline="30000" dirty="0" smtClean="0">
                <a:solidFill>
                  <a:srgbClr val="990099"/>
                </a:solidFill>
              </a:rPr>
              <a:t>-</a:t>
            </a:r>
            <a:r>
              <a:rPr lang="en-US" altLang="zh-CN" i="1" baseline="30000" dirty="0" smtClean="0">
                <a:solidFill>
                  <a:srgbClr val="990099"/>
                </a:solidFill>
                <a:latin typeface="+mn-lt"/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</a:rPr>
              <a:t>×2</a:t>
            </a:r>
            <a:r>
              <a:rPr lang="en-US" altLang="zh-CN" baseline="30000" dirty="0" smtClean="0">
                <a:solidFill>
                  <a:srgbClr val="FF3399"/>
                </a:solidFill>
              </a:rPr>
              <a:t>-1…1</a:t>
            </a:r>
            <a:r>
              <a:rPr lang="zh-CN" altLang="en-US" dirty="0" smtClean="0">
                <a:solidFill>
                  <a:schemeClr val="tx1"/>
                </a:solidFill>
              </a:rPr>
              <a:t>   受限于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e</a:t>
            </a:r>
            <a:r>
              <a:rPr lang="zh-CN" altLang="en-US" dirty="0" smtClean="0">
                <a:solidFill>
                  <a:schemeClr val="tx1"/>
                </a:solidFill>
              </a:rPr>
              <a:t>的位数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dirty="0">
                <a:solidFill>
                  <a:srgbClr val="990099"/>
                </a:solidFill>
                <a:latin typeface="+mn-ea"/>
              </a:rPr>
              <a:t>≤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首位</a:t>
            </a:r>
            <a:r>
              <a:rPr lang="en-US" altLang="zh-CN" sz="1800" dirty="0">
                <a:solidFill>
                  <a:schemeClr val="tx1"/>
                </a:solidFill>
              </a:rPr>
              <a:t>=0</a:t>
            </a:r>
            <a:r>
              <a:rPr lang="zh-CN" altLang="en-US" sz="1800" dirty="0" smtClean="0">
                <a:solidFill>
                  <a:schemeClr val="tx1"/>
                </a:solidFill>
              </a:rPr>
              <a:t>时小于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         受</a:t>
            </a:r>
            <a:r>
              <a:rPr lang="zh-CN" altLang="en-US" dirty="0">
                <a:solidFill>
                  <a:schemeClr val="tx1"/>
                </a:solidFill>
              </a:rPr>
              <a:t>限于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位数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0" name="Text Box 226"/>
          <p:cNvSpPr txBox="1">
            <a:spLocks noChangeArrowheads="1"/>
          </p:cNvSpPr>
          <p:nvPr/>
        </p:nvSpPr>
        <p:spPr bwMode="auto">
          <a:xfrm>
            <a:off x="4067944" y="1569573"/>
            <a:ext cx="2160588" cy="923323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</a:rPr>
              <a:t>0.1011010×2</a:t>
            </a:r>
            <a:r>
              <a:rPr lang="en-US" altLang="zh-CN" sz="2000" baseline="30000" dirty="0" smtClean="0">
                <a:solidFill>
                  <a:schemeClr val="accent2"/>
                </a:solidFill>
              </a:rPr>
              <a:t>-110</a:t>
            </a:r>
            <a:endParaRPr lang="en-US" altLang="zh-CN" sz="2000" baseline="30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endParaRPr lang="en-US" altLang="zh-CN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 smtClean="0">
                <a:solidFill>
                  <a:schemeClr val="accent2"/>
                </a:solidFill>
              </a:rPr>
              <a:t>-0.0011000×2</a:t>
            </a:r>
            <a:r>
              <a:rPr lang="en-US" altLang="zh-CN" sz="2000" baseline="30000" dirty="0" smtClean="0">
                <a:solidFill>
                  <a:schemeClr val="accent2"/>
                </a:solidFill>
              </a:rPr>
              <a:t>-1011</a:t>
            </a:r>
            <a:endParaRPr lang="en-US" altLang="zh-CN" sz="2000" baseline="30000" dirty="0">
              <a:solidFill>
                <a:schemeClr val="accent2"/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4571999" y="2420888"/>
            <a:ext cx="71439" cy="3600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7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75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1277-EBBE-4B45-B689-7345D14DEDB5}" type="slidenum">
              <a:rPr lang="en-US" altLang="zh-CN"/>
            </a:fld>
            <a:endParaRPr lang="en-US" altLang="zh-CN"/>
          </a:p>
        </p:txBody>
      </p:sp>
      <p:sp>
        <p:nvSpPr>
          <p:cNvPr id="386061" name="Text Box 13"/>
          <p:cNvSpPr txBox="1">
            <a:spLocks noChangeArrowheads="1"/>
          </p:cNvSpPr>
          <p:nvPr/>
        </p:nvSpPr>
        <p:spPr bwMode="auto">
          <a:xfrm>
            <a:off x="179388" y="332656"/>
            <a:ext cx="8785225" cy="386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浮点数的</a:t>
            </a:r>
            <a:r>
              <a:rPr lang="zh-CN" altLang="en-US" dirty="0" smtClean="0">
                <a:solidFill>
                  <a:srgbClr val="FF3399"/>
                </a:solidFill>
              </a:rPr>
              <a:t>规格化   </a:t>
            </a:r>
            <a:r>
              <a:rPr lang="en-US" altLang="zh-CN" sz="2000" dirty="0" smtClean="0">
                <a:solidFill>
                  <a:schemeClr val="tx1"/>
                </a:solidFill>
              </a:rPr>
              <a:t>—</a:t>
            </a:r>
            <a:r>
              <a:rPr lang="zh-CN" altLang="en-US" sz="2000" dirty="0" smtClean="0">
                <a:solidFill>
                  <a:schemeClr val="tx1"/>
                </a:solidFill>
              </a:rPr>
              <a:t>使</a:t>
            </a:r>
            <a:r>
              <a:rPr lang="zh-CN" altLang="en-US" sz="2000" u="sng" dirty="0">
                <a:solidFill>
                  <a:schemeClr val="tx1"/>
                </a:solidFill>
              </a:rPr>
              <a:t>表数精度</a:t>
            </a:r>
            <a:r>
              <a:rPr lang="zh-CN" altLang="en-US" sz="2000" dirty="0">
                <a:solidFill>
                  <a:schemeClr val="tx1"/>
                </a:solidFill>
              </a:rPr>
              <a:t>最大化</a:t>
            </a:r>
            <a:endParaRPr lang="zh-CN" altLang="en-US" dirty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chemeClr val="accent2"/>
                </a:solidFill>
              </a:rPr>
              <a:t>   </a:t>
            </a:r>
            <a:endParaRPr lang="en-US" altLang="zh-CN" dirty="0">
              <a:solidFill>
                <a:schemeClr val="tx1"/>
              </a:solidFill>
            </a:endParaRPr>
          </a:p>
          <a:p>
            <a:pPr marL="1075055" indent="-1075055">
              <a:lnSpc>
                <a:spcPct val="120000"/>
              </a:lnSpc>
            </a:pP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>
              <a:lnSpc>
                <a:spcPct val="120000"/>
              </a:lnSpc>
            </a:pP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spc="600" dirty="0">
                <a:solidFill>
                  <a:srgbClr val="C00000"/>
                </a:solidFill>
              </a:rPr>
              <a:t>规格化数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*规格化操作： 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浮点数→规格化数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>
                <a:solidFill>
                  <a:schemeClr val="accent2"/>
                </a:solidFill>
              </a:rPr>
              <a:t>左</a:t>
            </a:r>
            <a:r>
              <a:rPr lang="zh-CN" altLang="en-US" dirty="0" smtClean="0">
                <a:solidFill>
                  <a:schemeClr val="accent2"/>
                </a:solidFill>
              </a:rPr>
              <a:t>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右规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386079" name="Text Box 31"/>
          <p:cNvSpPr txBox="1">
            <a:spLocks noChangeArrowheads="1"/>
          </p:cNvSpPr>
          <p:nvPr/>
        </p:nvSpPr>
        <p:spPr bwMode="auto">
          <a:xfrm>
            <a:off x="2410887" y="2121084"/>
            <a:ext cx="6481593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dirty="0" smtClean="0">
                <a:solidFill>
                  <a:schemeClr val="tx1"/>
                </a:solidFill>
              </a:rPr>
              <a:t>尾数的</a:t>
            </a:r>
            <a:r>
              <a:rPr lang="zh-CN" altLang="en-US" u="sng" dirty="0" smtClean="0">
                <a:solidFill>
                  <a:schemeClr val="tx1"/>
                </a:solidFill>
              </a:rPr>
              <a:t>最高数值位为</a:t>
            </a:r>
            <a:r>
              <a:rPr lang="en-US" altLang="zh-CN" u="sng" dirty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，即 </a:t>
            </a:r>
            <a:r>
              <a:rPr lang="en-US" altLang="zh-CN" dirty="0" smtClean="0">
                <a:solidFill>
                  <a:schemeClr val="tx1"/>
                </a:solidFill>
              </a:rPr>
              <a:t>0.5</a:t>
            </a:r>
            <a:r>
              <a:rPr lang="zh-CN" altLang="en-US" dirty="0" smtClean="0">
                <a:solidFill>
                  <a:schemeClr val="tx1"/>
                </a:solidFill>
              </a:rPr>
              <a:t>≤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6082" name="Text Box 34"/>
          <p:cNvSpPr txBox="1">
            <a:spLocks noChangeArrowheads="1"/>
          </p:cNvSpPr>
          <p:nvPr/>
        </p:nvSpPr>
        <p:spPr bwMode="auto">
          <a:xfrm>
            <a:off x="1763688" y="3121645"/>
            <a:ext cx="400895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1005" indent="-2961005"/>
            <a:r>
              <a:rPr lang="zh-CN" altLang="en-US" dirty="0" smtClean="0">
                <a:solidFill>
                  <a:srgbClr val="990099"/>
                </a:solidFill>
              </a:rPr>
              <a:t>尾数</a:t>
            </a:r>
            <a:r>
              <a:rPr lang="zh-CN" altLang="en-US" dirty="0">
                <a:solidFill>
                  <a:schemeClr val="tx1"/>
                </a:solidFill>
              </a:rPr>
              <a:t>左移一位，阶码减</a:t>
            </a:r>
            <a:r>
              <a:rPr lang="zh-CN" altLang="en-US" dirty="0" smtClean="0">
                <a:solidFill>
                  <a:schemeClr val="tx1"/>
                </a:solidFill>
              </a:rPr>
              <a:t>一</a:t>
            </a:r>
            <a:endParaRPr lang="zh-CN" altLang="en-US" dirty="0">
              <a:solidFill>
                <a:schemeClr val="tx1"/>
              </a:solidFill>
            </a:endParaRPr>
          </a:p>
          <a:p>
            <a:pPr marL="2961005" indent="-2961005"/>
            <a:r>
              <a:rPr lang="zh-CN" altLang="en-US" dirty="0" smtClean="0">
                <a:solidFill>
                  <a:srgbClr val="990099"/>
                </a:solidFill>
              </a:rPr>
              <a:t>尾数</a:t>
            </a:r>
            <a:r>
              <a:rPr lang="zh-CN" altLang="en-US" dirty="0">
                <a:solidFill>
                  <a:schemeClr val="tx1"/>
                </a:solidFill>
              </a:rPr>
              <a:t>右移一位，阶码加</a:t>
            </a:r>
            <a:r>
              <a:rPr lang="zh-CN" altLang="en-US" dirty="0" smtClean="0">
                <a:solidFill>
                  <a:schemeClr val="tx1"/>
                </a:solidFill>
              </a:rPr>
              <a:t>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79388" y="4092089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3—</a:t>
            </a:r>
            <a:r>
              <a:rPr lang="zh-CN" altLang="en-US" dirty="0" smtClean="0">
                <a:solidFill>
                  <a:schemeClr val="tx1"/>
                </a:solidFill>
              </a:rPr>
              <a:t>填充下表空白处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1" name="Group 132"/>
          <p:cNvGraphicFramePr>
            <a:graphicFrameLocks noGrp="1"/>
          </p:cNvGraphicFramePr>
          <p:nvPr/>
        </p:nvGraphicFramePr>
        <p:xfrm>
          <a:off x="1116013" y="4663092"/>
          <a:ext cx="7632700" cy="1130400"/>
        </p:xfrm>
        <a:graphic>
          <a:graphicData uri="http://schemas.openxmlformats.org/drawingml/2006/table">
            <a:tbl>
              <a:tblPr/>
              <a:tblGrid>
                <a:gridCol w="1943100"/>
                <a:gridCol w="1944687"/>
                <a:gridCol w="1873250"/>
                <a:gridCol w="1871663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非规格化浮点数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+1.0111×2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+010</a:t>
                      </a:r>
                      <a:endParaRPr kumimoji="1" lang="en-US" altLang="zh-CN" sz="20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-0.00010×2</a:t>
                      </a:r>
                      <a:r>
                        <a:rPr kumimoji="1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+010</a:t>
                      </a:r>
                      <a:endParaRPr kumimoji="1" lang="en-US" altLang="zh-CN" sz="20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+1011.1×2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+010</a:t>
                      </a:r>
                      <a:endParaRPr kumimoji="1" lang="en-US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规格化操作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右规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规格化浮点数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+0.10111×2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+011</a:t>
                      </a:r>
                      <a:endParaRPr kumimoji="1" lang="en-US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 Box 296"/>
          <p:cNvSpPr txBox="1">
            <a:spLocks noChangeArrowheads="1"/>
          </p:cNvSpPr>
          <p:nvPr/>
        </p:nvSpPr>
        <p:spPr bwMode="auto">
          <a:xfrm>
            <a:off x="5003800" y="5095140"/>
            <a:ext cx="1873250" cy="6477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左规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次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-0.10000×2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-001</a:t>
            </a:r>
            <a:endParaRPr lang="en-US" altLang="zh-CN" sz="2000" baseline="30000" dirty="0">
              <a:solidFill>
                <a:schemeClr val="tx1"/>
              </a:solidFill>
            </a:endParaRPr>
          </a:p>
        </p:txBody>
      </p:sp>
      <p:sp>
        <p:nvSpPr>
          <p:cNvPr id="13" name="Text Box 297"/>
          <p:cNvSpPr txBox="1">
            <a:spLocks noChangeArrowheads="1"/>
          </p:cNvSpPr>
          <p:nvPr/>
        </p:nvSpPr>
        <p:spPr bwMode="auto">
          <a:xfrm>
            <a:off x="6875463" y="5095140"/>
            <a:ext cx="1873250" cy="6477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右规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次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+0.10111×2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+110</a:t>
            </a:r>
            <a:endParaRPr lang="en-US" altLang="zh-CN" sz="2000" baseline="30000" dirty="0">
              <a:solidFill>
                <a:schemeClr val="tx1"/>
              </a:solidFill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79388" y="861117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200" dirty="0" smtClean="0">
                <a:solidFill>
                  <a:srgbClr val="990099"/>
                </a:solidFill>
              </a:rPr>
              <a:t>    表数精度例：</a:t>
            </a:r>
            <a:r>
              <a:rPr lang="en-US" altLang="zh-CN" sz="2200" dirty="0" smtClean="0">
                <a:solidFill>
                  <a:schemeClr val="tx1"/>
                </a:solidFill>
              </a:rPr>
              <a:t>+111.0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rgbClr val="990099"/>
                </a:solidFill>
              </a:rPr>
              <a:t>+0.111</a:t>
            </a:r>
            <a:r>
              <a:rPr lang="en-US" altLang="zh-CN" sz="22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3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rgbClr val="990099"/>
                </a:solidFill>
              </a:rPr>
              <a:t>+0.011</a:t>
            </a:r>
            <a:r>
              <a:rPr lang="en-US" altLang="zh-CN" sz="2200" dirty="0" smtClean="0">
                <a:solidFill>
                  <a:schemeClr val="tx1"/>
                </a:solidFill>
              </a:rPr>
              <a:t>1×2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rgbClr val="990099"/>
                </a:solidFill>
              </a:rPr>
              <a:t>0.001</a:t>
            </a:r>
            <a:r>
              <a:rPr lang="en-US" altLang="zh-CN" sz="2200" dirty="0" smtClean="0">
                <a:solidFill>
                  <a:schemeClr val="tx1"/>
                </a:solidFill>
              </a:rPr>
              <a:t>11×2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5</a:t>
            </a:r>
            <a:endParaRPr lang="en-US" altLang="zh-CN" sz="2200" baseline="30000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484000" y="1401004"/>
            <a:ext cx="6170634" cy="720080"/>
            <a:chOff x="1571604" y="2569217"/>
            <a:chExt cx="6170634" cy="720080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700338" y="2571744"/>
              <a:ext cx="720725" cy="360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0 011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421063" y="2571744"/>
              <a:ext cx="720725" cy="3603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0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111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916238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3636963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500563" y="2571744"/>
              <a:ext cx="720725" cy="360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0 100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5221288" y="2571744"/>
              <a:ext cx="720725" cy="3603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0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011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716463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5437188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6300788" y="2571744"/>
              <a:ext cx="720725" cy="360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0 101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7021513" y="2571744"/>
              <a:ext cx="720725" cy="3603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0 001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6516688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7237413" y="2571744"/>
              <a:ext cx="0" cy="3603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26"/>
            <p:cNvSpPr txBox="1">
              <a:spLocks noChangeArrowheads="1"/>
            </p:cNvSpPr>
            <p:nvPr/>
          </p:nvSpPr>
          <p:spPr bwMode="auto">
            <a:xfrm>
              <a:off x="1571604" y="2569217"/>
              <a:ext cx="6048000" cy="720080"/>
            </a:xfrm>
            <a:prstGeom prst="rect">
              <a:avLst/>
            </a:prstGeom>
            <a:noFill/>
            <a:ln w="19050" algn="ctr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机器数：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40000"/>
                </a:lnSpc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真  值：  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+111.0        +110.0        +100.0</a:t>
              </a:r>
              <a:endParaRPr lang="en-US" altLang="zh-CN" sz="2000" baseline="30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6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6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6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6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79" grpId="0"/>
      <p:bldP spid="386082" grpId="0"/>
      <p:bldP spid="10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403648" y="5013176"/>
            <a:ext cx="6984664" cy="252413"/>
            <a:chOff x="1403648" y="6021288"/>
            <a:chExt cx="6984664" cy="252413"/>
          </a:xfrm>
        </p:grpSpPr>
        <p:sp>
          <p:nvSpPr>
            <p:cNvPr id="80" name="Text Box 280"/>
            <p:cNvSpPr txBox="1">
              <a:spLocks noChangeArrowheads="1"/>
            </p:cNvSpPr>
            <p:nvPr/>
          </p:nvSpPr>
          <p:spPr bwMode="auto">
            <a:xfrm>
              <a:off x="1403648" y="6021288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81" name="Text Box 286"/>
            <p:cNvSpPr txBox="1">
              <a:spLocks noChangeArrowheads="1"/>
            </p:cNvSpPr>
            <p:nvPr/>
          </p:nvSpPr>
          <p:spPr bwMode="auto">
            <a:xfrm>
              <a:off x="2483768" y="6021288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82" name="Text Box 287"/>
            <p:cNvSpPr txBox="1">
              <a:spLocks noChangeArrowheads="1"/>
            </p:cNvSpPr>
            <p:nvPr/>
          </p:nvSpPr>
          <p:spPr bwMode="auto">
            <a:xfrm>
              <a:off x="3851920" y="6021288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83" name="Text Box 288"/>
            <p:cNvSpPr txBox="1">
              <a:spLocks noChangeArrowheads="1"/>
            </p:cNvSpPr>
            <p:nvPr/>
          </p:nvSpPr>
          <p:spPr bwMode="auto">
            <a:xfrm>
              <a:off x="4932040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noFill/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84" name="Text Box 289"/>
            <p:cNvSpPr txBox="1">
              <a:spLocks noChangeArrowheads="1"/>
            </p:cNvSpPr>
            <p:nvPr/>
          </p:nvSpPr>
          <p:spPr bwMode="auto">
            <a:xfrm>
              <a:off x="6012160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85" name="Text Box 290"/>
            <p:cNvSpPr txBox="1">
              <a:spLocks noChangeArrowheads="1"/>
            </p:cNvSpPr>
            <p:nvPr/>
          </p:nvSpPr>
          <p:spPr bwMode="auto">
            <a:xfrm>
              <a:off x="7380312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</p:grpSp>
      <p:sp>
        <p:nvSpPr>
          <p:cNvPr id="1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AEEC9-765C-4283-A909-9CC685074ED7}" type="slidenum">
              <a:rPr lang="en-US" altLang="zh-CN"/>
            </a:fld>
            <a:endParaRPr lang="en-US" altLang="zh-CN"/>
          </a:p>
        </p:txBody>
      </p:sp>
      <p:sp>
        <p:nvSpPr>
          <p:cNvPr id="388291" name="Text Box 195"/>
          <p:cNvSpPr txBox="1">
            <a:spLocks noChangeArrowheads="1"/>
          </p:cNvSpPr>
          <p:nvPr/>
        </p:nvSpPr>
        <p:spPr bwMode="auto">
          <a:xfrm>
            <a:off x="179388" y="3326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961005" indent="-296100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规格化数</a:t>
            </a:r>
            <a:r>
              <a:rPr lang="zh-CN" altLang="en-US" dirty="0" smtClean="0">
                <a:solidFill>
                  <a:srgbClr val="C00000"/>
                </a:solidFill>
              </a:rPr>
              <a:t>的数码</a:t>
            </a:r>
            <a:r>
              <a:rPr lang="zh-CN" altLang="en-US" dirty="0">
                <a:solidFill>
                  <a:srgbClr val="C00000"/>
                </a:solidFill>
              </a:rPr>
              <a:t>特征</a:t>
            </a:r>
            <a:r>
              <a:rPr lang="zh-CN" altLang="en-US" dirty="0" smtClean="0">
                <a:solidFill>
                  <a:srgbClr val="C00000"/>
                </a:solidFill>
              </a:rPr>
              <a:t>：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规格化操作的结束条件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88363" name="Text Box 267"/>
          <p:cNvSpPr txBox="1">
            <a:spLocks noChangeArrowheads="1"/>
          </p:cNvSpPr>
          <p:nvPr/>
        </p:nvSpPr>
        <p:spPr bwMode="auto">
          <a:xfrm>
            <a:off x="2374453" y="3717032"/>
            <a:ext cx="237807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1005" indent="-2961005"/>
            <a:r>
              <a:rPr lang="zh-CN" altLang="en-US" dirty="0" smtClean="0">
                <a:solidFill>
                  <a:schemeClr val="tx1"/>
                </a:solidFill>
              </a:rPr>
              <a:t>最高</a:t>
            </a:r>
            <a:r>
              <a:rPr lang="zh-CN" altLang="en-US" dirty="0">
                <a:solidFill>
                  <a:schemeClr val="tx1"/>
                </a:solidFill>
              </a:rPr>
              <a:t>数值位</a:t>
            </a:r>
            <a:r>
              <a:rPr lang="zh-CN" altLang="en-US" u="sng" dirty="0">
                <a:solidFill>
                  <a:srgbClr val="990099"/>
                </a:solidFill>
              </a:rPr>
              <a:t>为</a:t>
            </a:r>
            <a:r>
              <a:rPr lang="en-US" altLang="zh-CN" u="sng" dirty="0" smtClean="0">
                <a:solidFill>
                  <a:srgbClr val="990099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8364" name="Text Box 268"/>
          <p:cNvSpPr txBox="1">
            <a:spLocks noChangeArrowheads="1"/>
          </p:cNvSpPr>
          <p:nvPr/>
        </p:nvSpPr>
        <p:spPr bwMode="auto">
          <a:xfrm>
            <a:off x="2376139" y="4188607"/>
            <a:ext cx="6660357" cy="8125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1005" indent="-2961005"/>
            <a:r>
              <a:rPr lang="zh-CN" altLang="en-US" dirty="0" smtClean="0">
                <a:solidFill>
                  <a:schemeClr val="tx1"/>
                </a:solidFill>
              </a:rPr>
              <a:t>最高</a:t>
            </a:r>
            <a:r>
              <a:rPr lang="zh-CN" altLang="en-US" dirty="0">
                <a:solidFill>
                  <a:schemeClr val="tx1"/>
                </a:solidFill>
              </a:rPr>
              <a:t>数值位</a:t>
            </a:r>
            <a:r>
              <a:rPr lang="zh-CN" altLang="en-US" u="sng" dirty="0">
                <a:solidFill>
                  <a:srgbClr val="990099"/>
                </a:solidFill>
              </a:rPr>
              <a:t>与符号相反</a:t>
            </a:r>
            <a:r>
              <a:rPr lang="zh-CN" altLang="en-US" dirty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←便于实现、不影响表示精度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961005" indent="-2961005">
              <a:lnSpc>
                <a:spcPct val="105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                                              (-0.5</a:t>
            </a:r>
            <a:r>
              <a:rPr lang="zh-CN" altLang="en-US" sz="1600" dirty="0" smtClean="0">
                <a:solidFill>
                  <a:schemeClr val="tx1"/>
                </a:solidFill>
              </a:rPr>
              <a:t>可再左规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112270" y="909985"/>
            <a:ext cx="7636194" cy="934839"/>
            <a:chOff x="1187624" y="1124744"/>
            <a:chExt cx="7636194" cy="934839"/>
          </a:xfrm>
        </p:grpSpPr>
        <p:sp>
          <p:nvSpPr>
            <p:cNvPr id="41" name="Line 121"/>
            <p:cNvSpPr>
              <a:spLocks noChangeShapeType="1"/>
            </p:cNvSpPr>
            <p:nvPr/>
          </p:nvSpPr>
          <p:spPr bwMode="auto">
            <a:xfrm>
              <a:off x="1331640" y="1555526"/>
              <a:ext cx="7492178" cy="12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32"/>
            <p:cNvSpPr>
              <a:spLocks noChangeShapeType="1"/>
            </p:cNvSpPr>
            <p:nvPr/>
          </p:nvSpPr>
          <p:spPr bwMode="auto">
            <a:xfrm>
              <a:off x="5003800" y="1484784"/>
              <a:ext cx="0" cy="107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133"/>
            <p:cNvSpPr txBox="1">
              <a:spLocks noChangeArrowheads="1"/>
            </p:cNvSpPr>
            <p:nvPr/>
          </p:nvSpPr>
          <p:spPr bwMode="auto">
            <a:xfrm>
              <a:off x="4643438" y="1557486"/>
              <a:ext cx="7921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绝对零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56"/>
            <p:cNvSpPr txBox="1">
              <a:spLocks noChangeArrowheads="1"/>
            </p:cNvSpPr>
            <p:nvPr/>
          </p:nvSpPr>
          <p:spPr bwMode="auto">
            <a:xfrm>
              <a:off x="5868516" y="1700808"/>
              <a:ext cx="795062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规正</a:t>
              </a:r>
              <a:r>
                <a:rPr lang="en-US" altLang="zh-CN" sz="1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min</a:t>
              </a:r>
              <a:endParaRPr lang="en-US" altLang="zh-CN" sz="1800" dirty="0"/>
            </a:p>
          </p:txBody>
        </p:sp>
        <p:sp>
          <p:nvSpPr>
            <p:cNvPr id="46" name="Line 172"/>
            <p:cNvSpPr>
              <a:spLocks noChangeShapeType="1"/>
            </p:cNvSpPr>
            <p:nvPr/>
          </p:nvSpPr>
          <p:spPr bwMode="auto">
            <a:xfrm>
              <a:off x="6011391" y="1412776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174"/>
            <p:cNvSpPr txBox="1">
              <a:spLocks noChangeArrowheads="1"/>
            </p:cNvSpPr>
            <p:nvPr/>
          </p:nvSpPr>
          <p:spPr bwMode="auto">
            <a:xfrm>
              <a:off x="3923928" y="1700808"/>
              <a:ext cx="794864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规负</a:t>
              </a:r>
              <a:r>
                <a:rPr lang="en-US" altLang="zh-CN" sz="1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max</a:t>
              </a:r>
              <a:endParaRPr lang="en-US" altLang="zh-CN" sz="1800" dirty="0"/>
            </a:p>
          </p:txBody>
        </p:sp>
        <p:sp>
          <p:nvSpPr>
            <p:cNvPr id="48" name="Line 175"/>
            <p:cNvSpPr>
              <a:spLocks noChangeShapeType="1"/>
            </p:cNvSpPr>
            <p:nvPr/>
          </p:nvSpPr>
          <p:spPr bwMode="auto">
            <a:xfrm>
              <a:off x="4066803" y="1412776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176"/>
            <p:cNvSpPr txBox="1">
              <a:spLocks noChangeArrowheads="1"/>
            </p:cNvSpPr>
            <p:nvPr/>
          </p:nvSpPr>
          <p:spPr bwMode="auto">
            <a:xfrm>
              <a:off x="7812732" y="1700808"/>
              <a:ext cx="795062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规正</a:t>
              </a:r>
              <a:r>
                <a:rPr lang="en-US" altLang="zh-CN" sz="1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max</a:t>
              </a:r>
              <a:endParaRPr lang="en-US" altLang="zh-CN" sz="1800" dirty="0"/>
            </a:p>
          </p:txBody>
        </p:sp>
        <p:sp>
          <p:nvSpPr>
            <p:cNvPr id="50" name="Line 177"/>
            <p:cNvSpPr>
              <a:spLocks noChangeShapeType="1"/>
            </p:cNvSpPr>
            <p:nvPr/>
          </p:nvSpPr>
          <p:spPr bwMode="auto">
            <a:xfrm>
              <a:off x="7955607" y="1412776"/>
              <a:ext cx="1588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Box 178"/>
            <p:cNvSpPr txBox="1">
              <a:spLocks noChangeArrowheads="1"/>
            </p:cNvSpPr>
            <p:nvPr/>
          </p:nvSpPr>
          <p:spPr bwMode="auto">
            <a:xfrm>
              <a:off x="2051720" y="1700808"/>
              <a:ext cx="795434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i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规负</a:t>
              </a:r>
              <a:r>
                <a:rPr lang="en-US" altLang="zh-CN" sz="1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min</a:t>
              </a:r>
              <a:endParaRPr lang="en-US" altLang="zh-CN" sz="1800" dirty="0"/>
            </a:p>
          </p:txBody>
        </p:sp>
        <p:sp>
          <p:nvSpPr>
            <p:cNvPr id="52" name="Line 179"/>
            <p:cNvSpPr>
              <a:spLocks noChangeShapeType="1"/>
            </p:cNvSpPr>
            <p:nvPr/>
          </p:nvSpPr>
          <p:spPr bwMode="auto">
            <a:xfrm>
              <a:off x="2194595" y="1412776"/>
              <a:ext cx="1588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178"/>
            <p:cNvSpPr txBox="1">
              <a:spLocks noChangeArrowheads="1"/>
            </p:cNvSpPr>
            <p:nvPr/>
          </p:nvSpPr>
          <p:spPr bwMode="auto">
            <a:xfrm>
              <a:off x="5076056" y="1124744"/>
              <a:ext cx="1800200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+0.</a:t>
              </a:r>
              <a:r>
                <a:rPr lang="en-US" altLang="zh-CN" sz="1800" dirty="0" smtClean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0…0×2</a:t>
              </a:r>
              <a:r>
                <a:rPr lang="en-US" altLang="zh-CN" sz="1800" baseline="30000" dirty="0" smtClean="0">
                  <a:solidFill>
                    <a:srgbClr val="FF3399"/>
                  </a:solidFill>
                  <a:latin typeface="+mn-ea"/>
                  <a:ea typeface="+mn-ea"/>
                </a:rPr>
                <a:t>-1…1</a:t>
              </a:r>
              <a:endParaRPr lang="en-US" altLang="zh-CN" sz="1800" baseline="300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Text Box 178"/>
            <p:cNvSpPr txBox="1">
              <a:spLocks noChangeArrowheads="1"/>
            </p:cNvSpPr>
            <p:nvPr/>
          </p:nvSpPr>
          <p:spPr bwMode="auto">
            <a:xfrm>
              <a:off x="6959894" y="1126009"/>
              <a:ext cx="1863924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+0.</a:t>
              </a:r>
              <a:r>
                <a:rPr lang="en-US" altLang="zh-CN" sz="1800" dirty="0" smtClean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1…1×2</a:t>
              </a:r>
              <a:r>
                <a:rPr lang="en-US" altLang="zh-CN" sz="1800" baseline="30000" dirty="0" smtClean="0">
                  <a:solidFill>
                    <a:srgbClr val="FF3399"/>
                  </a:solidFill>
                  <a:latin typeface="+mn-ea"/>
                  <a:ea typeface="+mn-ea"/>
                </a:rPr>
                <a:t>+1…1</a:t>
              </a:r>
              <a:endParaRPr lang="en-US" altLang="zh-CN" sz="1800" baseline="300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55" name="Text Box 178"/>
            <p:cNvSpPr txBox="1">
              <a:spLocks noChangeArrowheads="1"/>
            </p:cNvSpPr>
            <p:nvPr/>
          </p:nvSpPr>
          <p:spPr bwMode="auto">
            <a:xfrm>
              <a:off x="3131840" y="1124744"/>
              <a:ext cx="1800200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-0.</a:t>
              </a:r>
              <a:r>
                <a:rPr lang="en-US" altLang="zh-CN" sz="1800" dirty="0" smtClean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0…0×2</a:t>
              </a:r>
              <a:r>
                <a:rPr lang="en-US" altLang="zh-CN" sz="1800" baseline="30000" dirty="0" smtClean="0">
                  <a:solidFill>
                    <a:srgbClr val="000000"/>
                  </a:solidFill>
                  <a:latin typeface="+mn-ea"/>
                  <a:ea typeface="+mn-ea"/>
                </a:rPr>
                <a:t>-1…1</a:t>
              </a:r>
              <a:endParaRPr lang="en-US" altLang="zh-CN" sz="1800" baseline="30000" dirty="0">
                <a:latin typeface="+mn-ea"/>
                <a:ea typeface="+mn-ea"/>
              </a:endParaRPr>
            </a:p>
          </p:txBody>
        </p:sp>
        <p:sp>
          <p:nvSpPr>
            <p:cNvPr id="56" name="Text Box 178"/>
            <p:cNvSpPr txBox="1">
              <a:spLocks noChangeArrowheads="1"/>
            </p:cNvSpPr>
            <p:nvPr/>
          </p:nvSpPr>
          <p:spPr bwMode="auto">
            <a:xfrm>
              <a:off x="1187624" y="1126009"/>
              <a:ext cx="1863924" cy="3587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-0.</a:t>
              </a:r>
              <a:r>
                <a:rPr lang="en-US" altLang="zh-CN" sz="1800" dirty="0" smtClean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</a:rPr>
                <a:t>1…1×2</a:t>
              </a:r>
              <a:r>
                <a:rPr lang="en-US" altLang="zh-CN" sz="1800" baseline="30000" dirty="0" smtClean="0">
                  <a:solidFill>
                    <a:srgbClr val="000000"/>
                  </a:solidFill>
                  <a:latin typeface="+mn-ea"/>
                  <a:ea typeface="+mn-ea"/>
                </a:rPr>
                <a:t>+1…1</a:t>
              </a:r>
              <a:endParaRPr lang="en-US" altLang="zh-CN" sz="1800" baseline="30000" dirty="0">
                <a:latin typeface="+mn-ea"/>
                <a:ea typeface="+mn-ea"/>
              </a:endParaRPr>
            </a:p>
          </p:txBody>
        </p:sp>
      </p:grpSp>
      <p:sp>
        <p:nvSpPr>
          <p:cNvPr id="58" name="Text Box 267"/>
          <p:cNvSpPr txBox="1">
            <a:spLocks noChangeArrowheads="1"/>
          </p:cNvSpPr>
          <p:nvPr/>
        </p:nvSpPr>
        <p:spPr bwMode="auto">
          <a:xfrm>
            <a:off x="179389" y="3717032"/>
            <a:ext cx="273642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1005" indent="-2961005"/>
            <a:r>
              <a:rPr lang="en-US" altLang="zh-CN" dirty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原</a:t>
            </a:r>
            <a:r>
              <a:rPr lang="zh-CN" altLang="en-US" dirty="0">
                <a:solidFill>
                  <a:schemeClr val="accent2"/>
                </a:solidFill>
              </a:rPr>
              <a:t>码尾数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2961005" indent="-2961005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补码</a:t>
            </a:r>
            <a:r>
              <a:rPr lang="zh-CN" altLang="en-US" dirty="0">
                <a:solidFill>
                  <a:schemeClr val="accent2"/>
                </a:solidFill>
              </a:rPr>
              <a:t>尾数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68" name="Group 266"/>
          <p:cNvGraphicFramePr>
            <a:graphicFrameLocks noGrp="1"/>
          </p:cNvGraphicFramePr>
          <p:nvPr/>
        </p:nvGraphicFramePr>
        <p:xfrm>
          <a:off x="1115764" y="1941024"/>
          <a:ext cx="7632700" cy="1704000"/>
        </p:xfrm>
        <a:graphic>
          <a:graphicData uri="http://schemas.openxmlformats.org/drawingml/2006/table">
            <a:tbl>
              <a:tblPr/>
              <a:tblGrid>
                <a:gridCol w="647700"/>
                <a:gridCol w="649287"/>
                <a:gridCol w="646113"/>
                <a:gridCol w="936625"/>
                <a:gridCol w="647700"/>
                <a:gridCol w="936625"/>
                <a:gridCol w="647700"/>
                <a:gridCol w="936625"/>
                <a:gridCol w="647700"/>
                <a:gridCol w="936625"/>
              </a:tblGrid>
              <a:tr h="2174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编码格式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规格化数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 vMerge="1" gridSpan="2">
                  <a:tcPr/>
                </a:tc>
                <a:tc vMerge="1"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最小负数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最大负数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最小正数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最大正数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移码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" name="Text Box 298"/>
          <p:cNvSpPr txBox="1">
            <a:spLocks noChangeArrowheads="1"/>
          </p:cNvSpPr>
          <p:nvPr/>
        </p:nvSpPr>
        <p:spPr bwMode="auto">
          <a:xfrm>
            <a:off x="2411164" y="3356992"/>
            <a:ext cx="5468840" cy="302287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1111        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0000     </a:t>
            </a:r>
            <a:r>
              <a:rPr lang="en-US" altLang="zh-CN" sz="2000" spc="1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</a:rPr>
              <a:t>0000     </a:t>
            </a:r>
            <a:r>
              <a:rPr lang="en-US" altLang="zh-CN" sz="2000" spc="1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</a:rPr>
              <a:t>1111</a:t>
            </a:r>
            <a:endParaRPr lang="en-US" altLang="zh-CN" sz="2000" baseline="30000" dirty="0">
              <a:solidFill>
                <a:schemeClr val="tx1"/>
              </a:solidFill>
            </a:endParaRPr>
          </a:p>
        </p:txBody>
      </p:sp>
      <p:sp>
        <p:nvSpPr>
          <p:cNvPr id="70" name="Text Box 303"/>
          <p:cNvSpPr txBox="1">
            <a:spLocks noChangeArrowheads="1"/>
          </p:cNvSpPr>
          <p:nvPr/>
        </p:nvSpPr>
        <p:spPr bwMode="auto">
          <a:xfrm>
            <a:off x="3131591" y="3356992"/>
            <a:ext cx="2449513" cy="288925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0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0000     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0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1111</a:t>
            </a:r>
            <a:endParaRPr lang="en-US" altLang="zh-CN" sz="2000" baseline="30000" dirty="0">
              <a:solidFill>
                <a:schemeClr val="tx1"/>
              </a:solidFill>
            </a:endParaRPr>
          </a:p>
        </p:txBody>
      </p:sp>
      <p:sp>
        <p:nvSpPr>
          <p:cNvPr id="71" name="Text Box 303"/>
          <p:cNvSpPr txBox="1">
            <a:spLocks noChangeArrowheads="1"/>
          </p:cNvSpPr>
          <p:nvPr/>
        </p:nvSpPr>
        <p:spPr bwMode="auto">
          <a:xfrm>
            <a:off x="3131591" y="2996059"/>
            <a:ext cx="5616873" cy="288925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0" tIns="10800" rIns="18000" bIns="10800"/>
          <a:lstStyle/>
          <a:p>
            <a:pPr lvl="0">
              <a:lnSpc>
                <a:spcPct val="9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1111      </a:t>
            </a:r>
            <a:r>
              <a:rPr lang="en-US" altLang="zh-CN" sz="2000" dirty="0" smtClean="0"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0000    </a:t>
            </a:r>
            <a:r>
              <a:rPr lang="en-US" altLang="zh-CN" sz="16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2000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0000     </a:t>
            </a:r>
            <a:r>
              <a:rPr lang="en-US" altLang="zh-CN" sz="2000" spc="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1111</a:t>
            </a:r>
            <a:endParaRPr lang="zh-CN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2" name="Text Box 303"/>
          <p:cNvSpPr txBox="1">
            <a:spLocks noChangeArrowheads="1"/>
          </p:cNvSpPr>
          <p:nvPr/>
        </p:nvSpPr>
        <p:spPr bwMode="auto">
          <a:xfrm>
            <a:off x="6227935" y="3356099"/>
            <a:ext cx="2517183" cy="288925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10800" rIns="18000" bIns="10800"/>
          <a:lstStyle/>
          <a:p>
            <a:pPr lvl="0">
              <a:lnSpc>
                <a:spcPct val="90000"/>
              </a:lnSpc>
            </a:pP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0000     </a:t>
            </a:r>
            <a:r>
              <a:rPr lang="en-US" altLang="zh-CN" sz="2000" spc="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1111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07904" y="3701614"/>
            <a:ext cx="4466614" cy="378571"/>
            <a:chOff x="723525" y="5947861"/>
            <a:chExt cx="4466614" cy="378571"/>
          </a:xfrm>
        </p:grpSpPr>
        <p:sp>
          <p:nvSpPr>
            <p:cNvPr id="63" name="Text Box 267"/>
            <p:cNvSpPr txBox="1">
              <a:spLocks noChangeArrowheads="1"/>
            </p:cNvSpPr>
            <p:nvPr/>
          </p:nvSpPr>
          <p:spPr bwMode="auto">
            <a:xfrm>
              <a:off x="2395782" y="6035287"/>
              <a:ext cx="2794357" cy="291145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marL="2961005" indent="-2961005"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补码、移码多表示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个负数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直接箭头连接符 63"/>
            <p:cNvCxnSpPr>
              <a:stCxn id="63" idx="1"/>
            </p:cNvCxnSpPr>
            <p:nvPr/>
          </p:nvCxnSpPr>
          <p:spPr bwMode="auto">
            <a:xfrm flipH="1" flipV="1">
              <a:off x="1443458" y="5947861"/>
              <a:ext cx="952324" cy="232999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5" name="直接箭头连接符 64"/>
            <p:cNvCxnSpPr>
              <a:stCxn id="63" idx="1"/>
            </p:cNvCxnSpPr>
            <p:nvPr/>
          </p:nvCxnSpPr>
          <p:spPr bwMode="auto">
            <a:xfrm flipH="1" flipV="1">
              <a:off x="723525" y="5949280"/>
              <a:ext cx="1672257" cy="23158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827088" y="5013176"/>
            <a:ext cx="7597850" cy="974081"/>
            <a:chOff x="827088" y="5047207"/>
            <a:chExt cx="7597850" cy="974081"/>
          </a:xfrm>
        </p:grpSpPr>
        <p:sp>
          <p:nvSpPr>
            <p:cNvPr id="388366" name="Line 270"/>
            <p:cNvSpPr>
              <a:spLocks noChangeShapeType="1"/>
            </p:cNvSpPr>
            <p:nvPr/>
          </p:nvSpPr>
          <p:spPr bwMode="auto">
            <a:xfrm flipV="1">
              <a:off x="1404938" y="5373465"/>
              <a:ext cx="702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67" name="Line 271"/>
            <p:cNvSpPr>
              <a:spLocks noChangeShapeType="1"/>
            </p:cNvSpPr>
            <p:nvPr/>
          </p:nvSpPr>
          <p:spPr bwMode="auto">
            <a:xfrm>
              <a:off x="7883872" y="5300440"/>
              <a:ext cx="1588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68" name="Line 272"/>
            <p:cNvSpPr>
              <a:spLocks noChangeShapeType="1"/>
            </p:cNvSpPr>
            <p:nvPr/>
          </p:nvSpPr>
          <p:spPr bwMode="auto">
            <a:xfrm>
              <a:off x="6588423" y="530044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69" name="Line 273"/>
            <p:cNvSpPr>
              <a:spLocks noChangeShapeType="1"/>
            </p:cNvSpPr>
            <p:nvPr/>
          </p:nvSpPr>
          <p:spPr bwMode="auto">
            <a:xfrm>
              <a:off x="5508303" y="530044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70" name="Line 274"/>
            <p:cNvSpPr>
              <a:spLocks noChangeShapeType="1"/>
            </p:cNvSpPr>
            <p:nvPr/>
          </p:nvSpPr>
          <p:spPr bwMode="auto">
            <a:xfrm>
              <a:off x="4428505" y="530044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71" name="Line 275"/>
            <p:cNvSpPr>
              <a:spLocks noChangeShapeType="1"/>
            </p:cNvSpPr>
            <p:nvPr/>
          </p:nvSpPr>
          <p:spPr bwMode="auto">
            <a:xfrm>
              <a:off x="3058443" y="530044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72" name="Text Box 276"/>
            <p:cNvSpPr txBox="1">
              <a:spLocks noChangeArrowheads="1"/>
            </p:cNvSpPr>
            <p:nvPr/>
          </p:nvSpPr>
          <p:spPr bwMode="auto">
            <a:xfrm>
              <a:off x="1404938" y="5481415"/>
              <a:ext cx="1008000" cy="252413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1.00…0</a:t>
              </a:r>
              <a:endParaRPr lang="en-US" altLang="zh-CN" sz="1800" dirty="0"/>
            </a:p>
          </p:txBody>
        </p:sp>
        <p:sp>
          <p:nvSpPr>
            <p:cNvPr id="388373" name="Line 277"/>
            <p:cNvSpPr>
              <a:spLocks noChangeShapeType="1"/>
            </p:cNvSpPr>
            <p:nvPr/>
          </p:nvSpPr>
          <p:spPr bwMode="auto">
            <a:xfrm>
              <a:off x="1981201" y="530044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374" name="Text Box 278"/>
            <p:cNvSpPr txBox="1">
              <a:spLocks noChangeArrowheads="1"/>
            </p:cNvSpPr>
            <p:nvPr/>
          </p:nvSpPr>
          <p:spPr bwMode="auto">
            <a:xfrm>
              <a:off x="827088" y="5481415"/>
              <a:ext cx="504825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rgbClr val="000000"/>
                  </a:solidFill>
                </a:rPr>
                <a:t>真值</a:t>
              </a:r>
              <a:endParaRPr lang="zh-CN" altLang="en-US" sz="1800" dirty="0"/>
            </a:p>
          </p:txBody>
        </p:sp>
        <p:sp>
          <p:nvSpPr>
            <p:cNvPr id="388375" name="Text Box 279"/>
            <p:cNvSpPr txBox="1">
              <a:spLocks noChangeArrowheads="1"/>
            </p:cNvSpPr>
            <p:nvPr/>
          </p:nvSpPr>
          <p:spPr bwMode="auto">
            <a:xfrm>
              <a:off x="827088" y="5047207"/>
              <a:ext cx="504825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rgbClr val="000000"/>
                  </a:solidFill>
                </a:rPr>
                <a:t>补码</a:t>
              </a:r>
              <a:endParaRPr lang="zh-CN" altLang="en-US" sz="1800" dirty="0"/>
            </a:p>
          </p:txBody>
        </p:sp>
        <p:sp>
          <p:nvSpPr>
            <p:cNvPr id="388376" name="Text Box 280"/>
            <p:cNvSpPr txBox="1">
              <a:spLocks noChangeArrowheads="1"/>
            </p:cNvSpPr>
            <p:nvPr/>
          </p:nvSpPr>
          <p:spPr bwMode="auto">
            <a:xfrm>
              <a:off x="1404938" y="5047207"/>
              <a:ext cx="1008000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</a:t>
              </a:r>
              <a:r>
                <a:rPr lang="en-US" altLang="zh-CN" sz="1800" dirty="0" smtClean="0">
                  <a:solidFill>
                    <a:srgbClr val="0070C0"/>
                  </a:solidFill>
                </a:rPr>
                <a:t>0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0…0</a:t>
              </a:r>
              <a:endParaRPr lang="en-US" altLang="zh-CN" sz="1800" dirty="0"/>
            </a:p>
          </p:txBody>
        </p:sp>
        <p:sp>
          <p:nvSpPr>
            <p:cNvPr id="388377" name="Text Box 281"/>
            <p:cNvSpPr txBox="1">
              <a:spLocks noChangeArrowheads="1"/>
            </p:cNvSpPr>
            <p:nvPr/>
          </p:nvSpPr>
          <p:spPr bwMode="auto">
            <a:xfrm>
              <a:off x="2483768" y="5481415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0.11…1</a:t>
              </a:r>
              <a:endParaRPr lang="en-US" altLang="zh-CN" sz="1800" dirty="0"/>
            </a:p>
          </p:txBody>
        </p:sp>
        <p:sp>
          <p:nvSpPr>
            <p:cNvPr id="388378" name="Text Box 282"/>
            <p:cNvSpPr txBox="1">
              <a:spLocks noChangeArrowheads="1"/>
            </p:cNvSpPr>
            <p:nvPr/>
          </p:nvSpPr>
          <p:spPr bwMode="auto">
            <a:xfrm>
              <a:off x="3852243" y="5481415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0.10…1</a:t>
              </a:r>
              <a:endParaRPr lang="en-US" altLang="zh-CN" sz="1800" dirty="0"/>
            </a:p>
          </p:txBody>
        </p:sp>
        <p:sp>
          <p:nvSpPr>
            <p:cNvPr id="388379" name="Text Box 283"/>
            <p:cNvSpPr txBox="1">
              <a:spLocks noChangeArrowheads="1"/>
            </p:cNvSpPr>
            <p:nvPr/>
          </p:nvSpPr>
          <p:spPr bwMode="auto">
            <a:xfrm>
              <a:off x="4932040" y="5481415"/>
              <a:ext cx="1008000" cy="25241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0.10…0</a:t>
              </a:r>
              <a:endParaRPr lang="en-US" altLang="zh-CN" sz="1800" dirty="0"/>
            </a:p>
          </p:txBody>
        </p:sp>
        <p:sp>
          <p:nvSpPr>
            <p:cNvPr id="388380" name="Text Box 284"/>
            <p:cNvSpPr txBox="1">
              <a:spLocks noChangeArrowheads="1"/>
            </p:cNvSpPr>
            <p:nvPr/>
          </p:nvSpPr>
          <p:spPr bwMode="auto">
            <a:xfrm>
              <a:off x="6012160" y="5481415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0.01…1</a:t>
              </a:r>
              <a:endParaRPr lang="en-US" altLang="zh-CN" sz="1800" dirty="0"/>
            </a:p>
          </p:txBody>
        </p:sp>
        <p:sp>
          <p:nvSpPr>
            <p:cNvPr id="388381" name="Text Box 285"/>
            <p:cNvSpPr txBox="1">
              <a:spLocks noChangeArrowheads="1"/>
            </p:cNvSpPr>
            <p:nvPr/>
          </p:nvSpPr>
          <p:spPr bwMode="auto">
            <a:xfrm>
              <a:off x="7380635" y="5481415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0.00…1</a:t>
              </a:r>
              <a:endParaRPr lang="en-US" altLang="zh-CN" sz="1800" dirty="0"/>
            </a:p>
          </p:txBody>
        </p:sp>
        <p:sp>
          <p:nvSpPr>
            <p:cNvPr id="388382" name="Text Box 286"/>
            <p:cNvSpPr txBox="1">
              <a:spLocks noChangeArrowheads="1"/>
            </p:cNvSpPr>
            <p:nvPr/>
          </p:nvSpPr>
          <p:spPr bwMode="auto">
            <a:xfrm>
              <a:off x="2483768" y="5047207"/>
              <a:ext cx="1008000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</a:t>
              </a:r>
              <a:r>
                <a:rPr lang="en-US" altLang="zh-CN" sz="1800" dirty="0" smtClean="0">
                  <a:solidFill>
                    <a:srgbClr val="0070C0"/>
                  </a:solidFill>
                </a:rPr>
                <a:t>0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0…1</a:t>
              </a:r>
              <a:endParaRPr lang="en-US" altLang="zh-CN" sz="1800" dirty="0"/>
            </a:p>
          </p:txBody>
        </p:sp>
        <p:sp>
          <p:nvSpPr>
            <p:cNvPr id="388383" name="Text Box 287"/>
            <p:cNvSpPr txBox="1">
              <a:spLocks noChangeArrowheads="1"/>
            </p:cNvSpPr>
            <p:nvPr/>
          </p:nvSpPr>
          <p:spPr bwMode="auto">
            <a:xfrm>
              <a:off x="3852243" y="5047207"/>
              <a:ext cx="1008000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</a:t>
              </a:r>
              <a:r>
                <a:rPr lang="en-US" altLang="zh-CN" sz="1800" dirty="0" smtClean="0">
                  <a:solidFill>
                    <a:srgbClr val="0070C0"/>
                  </a:solidFill>
                </a:rPr>
                <a:t>0</a:t>
              </a:r>
              <a:r>
                <a:rPr lang="en-US" altLang="zh-CN" sz="1800" dirty="0" smtClean="0">
                  <a:solidFill>
                    <a:srgbClr val="000000"/>
                  </a:solidFill>
                </a:rPr>
                <a:t>1…1</a:t>
              </a:r>
              <a:endParaRPr lang="en-US" altLang="zh-CN" sz="1800" dirty="0"/>
            </a:p>
          </p:txBody>
        </p:sp>
        <p:sp>
          <p:nvSpPr>
            <p:cNvPr id="388384" name="Text Box 288"/>
            <p:cNvSpPr txBox="1">
              <a:spLocks noChangeArrowheads="1"/>
            </p:cNvSpPr>
            <p:nvPr/>
          </p:nvSpPr>
          <p:spPr bwMode="auto">
            <a:xfrm>
              <a:off x="4932040" y="5047207"/>
              <a:ext cx="1008000" cy="252413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110…0</a:t>
              </a:r>
              <a:endParaRPr lang="en-US" altLang="zh-CN" sz="1800" dirty="0"/>
            </a:p>
          </p:txBody>
        </p:sp>
        <p:sp>
          <p:nvSpPr>
            <p:cNvPr id="388385" name="Text Box 289"/>
            <p:cNvSpPr txBox="1">
              <a:spLocks noChangeArrowheads="1"/>
            </p:cNvSpPr>
            <p:nvPr/>
          </p:nvSpPr>
          <p:spPr bwMode="auto">
            <a:xfrm>
              <a:off x="6013748" y="5047207"/>
              <a:ext cx="1008000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110…1</a:t>
              </a:r>
              <a:endParaRPr lang="en-US" altLang="zh-CN" sz="1800" dirty="0"/>
            </a:p>
          </p:txBody>
        </p:sp>
        <p:sp>
          <p:nvSpPr>
            <p:cNvPr id="388386" name="Text Box 290"/>
            <p:cNvSpPr txBox="1">
              <a:spLocks noChangeArrowheads="1"/>
            </p:cNvSpPr>
            <p:nvPr/>
          </p:nvSpPr>
          <p:spPr bwMode="auto">
            <a:xfrm>
              <a:off x="7382222" y="5047207"/>
              <a:ext cx="1008000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000000"/>
                  </a:solidFill>
                </a:rPr>
                <a:t>111…1</a:t>
              </a:r>
              <a:endParaRPr lang="en-US" altLang="zh-CN" sz="1800" dirty="0"/>
            </a:p>
          </p:txBody>
        </p:sp>
        <p:sp>
          <p:nvSpPr>
            <p:cNvPr id="388387" name="Text Box 291"/>
            <p:cNvSpPr txBox="1">
              <a:spLocks noChangeArrowheads="1"/>
            </p:cNvSpPr>
            <p:nvPr/>
          </p:nvSpPr>
          <p:spPr bwMode="auto">
            <a:xfrm>
              <a:off x="3491880" y="5048795"/>
              <a:ext cx="360363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388388" name="Text Box 292"/>
            <p:cNvSpPr txBox="1">
              <a:spLocks noChangeArrowheads="1"/>
            </p:cNvSpPr>
            <p:nvPr/>
          </p:nvSpPr>
          <p:spPr bwMode="auto">
            <a:xfrm>
              <a:off x="3491880" y="5481415"/>
              <a:ext cx="360363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388389" name="Text Box 293"/>
            <p:cNvSpPr txBox="1">
              <a:spLocks noChangeArrowheads="1"/>
            </p:cNvSpPr>
            <p:nvPr/>
          </p:nvSpPr>
          <p:spPr bwMode="auto">
            <a:xfrm>
              <a:off x="7020272" y="5048795"/>
              <a:ext cx="360363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388390" name="Text Box 294"/>
            <p:cNvSpPr txBox="1">
              <a:spLocks noChangeArrowheads="1"/>
            </p:cNvSpPr>
            <p:nvPr/>
          </p:nvSpPr>
          <p:spPr bwMode="auto">
            <a:xfrm>
              <a:off x="7020272" y="5481415"/>
              <a:ext cx="360363" cy="2524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61" name="Line 274"/>
            <p:cNvSpPr>
              <a:spLocks noChangeShapeType="1"/>
            </p:cNvSpPr>
            <p:nvPr/>
          </p:nvSpPr>
          <p:spPr bwMode="auto">
            <a:xfrm>
              <a:off x="8388424" y="5805288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74"/>
            <p:cNvSpPr>
              <a:spLocks noChangeShapeType="1"/>
            </p:cNvSpPr>
            <p:nvPr/>
          </p:nvSpPr>
          <p:spPr bwMode="auto">
            <a:xfrm>
              <a:off x="7020272" y="5910560"/>
              <a:ext cx="1368000" cy="2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292"/>
            <p:cNvSpPr txBox="1">
              <a:spLocks noChangeArrowheads="1"/>
            </p:cNvSpPr>
            <p:nvPr/>
          </p:nvSpPr>
          <p:spPr bwMode="auto">
            <a:xfrm>
              <a:off x="6372200" y="5805288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000000"/>
                  </a:solidFill>
                </a:rPr>
                <a:t>2</a:t>
              </a:r>
              <a:r>
                <a:rPr lang="en-US" altLang="zh-CN" sz="1600" baseline="30000" dirty="0" smtClean="0">
                  <a:solidFill>
                    <a:srgbClr val="000000"/>
                  </a:solidFill>
                </a:rPr>
                <a:t>n-2</a:t>
              </a:r>
              <a:r>
                <a:rPr lang="zh-CN" altLang="en-US" sz="1600" dirty="0" smtClean="0">
                  <a:solidFill>
                    <a:srgbClr val="000000"/>
                  </a:solidFill>
                </a:rPr>
                <a:t>个</a:t>
              </a:r>
              <a:endParaRPr lang="en-US" altLang="zh-CN" sz="1600" dirty="0"/>
            </a:p>
          </p:txBody>
        </p:sp>
        <p:sp>
          <p:nvSpPr>
            <p:cNvPr id="73" name="Line 274"/>
            <p:cNvSpPr>
              <a:spLocks noChangeShapeType="1"/>
            </p:cNvSpPr>
            <p:nvPr/>
          </p:nvSpPr>
          <p:spPr bwMode="auto">
            <a:xfrm>
              <a:off x="4932040" y="5805288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74"/>
            <p:cNvSpPr>
              <a:spLocks noChangeShapeType="1"/>
            </p:cNvSpPr>
            <p:nvPr/>
          </p:nvSpPr>
          <p:spPr bwMode="auto">
            <a:xfrm flipH="1" flipV="1">
              <a:off x="4932040" y="5910560"/>
              <a:ext cx="14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74"/>
            <p:cNvSpPr>
              <a:spLocks noChangeShapeType="1"/>
            </p:cNvSpPr>
            <p:nvPr/>
          </p:nvSpPr>
          <p:spPr bwMode="auto">
            <a:xfrm>
              <a:off x="4860032" y="5805264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74"/>
            <p:cNvSpPr>
              <a:spLocks noChangeShapeType="1"/>
            </p:cNvSpPr>
            <p:nvPr/>
          </p:nvSpPr>
          <p:spPr bwMode="auto">
            <a:xfrm>
              <a:off x="3491880" y="5910536"/>
              <a:ext cx="1368000" cy="2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292"/>
            <p:cNvSpPr txBox="1">
              <a:spLocks noChangeArrowheads="1"/>
            </p:cNvSpPr>
            <p:nvPr/>
          </p:nvSpPr>
          <p:spPr bwMode="auto">
            <a:xfrm>
              <a:off x="2843808" y="5805264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000000"/>
                  </a:solidFill>
                </a:rPr>
                <a:t>2</a:t>
              </a:r>
              <a:r>
                <a:rPr lang="en-US" altLang="zh-CN" sz="1600" baseline="30000" dirty="0" smtClean="0">
                  <a:solidFill>
                    <a:srgbClr val="000000"/>
                  </a:solidFill>
                </a:rPr>
                <a:t>n-2</a:t>
              </a:r>
              <a:r>
                <a:rPr lang="zh-CN" altLang="en-US" sz="1600" dirty="0" smtClean="0">
                  <a:solidFill>
                    <a:srgbClr val="000000"/>
                  </a:solidFill>
                </a:rPr>
                <a:t>个</a:t>
              </a:r>
              <a:endParaRPr lang="en-US" altLang="zh-CN" sz="1600" dirty="0"/>
            </a:p>
          </p:txBody>
        </p:sp>
        <p:sp>
          <p:nvSpPr>
            <p:cNvPr id="78" name="Line 274"/>
            <p:cNvSpPr>
              <a:spLocks noChangeShapeType="1"/>
            </p:cNvSpPr>
            <p:nvPr/>
          </p:nvSpPr>
          <p:spPr bwMode="auto">
            <a:xfrm>
              <a:off x="1402382" y="5805264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74"/>
            <p:cNvSpPr>
              <a:spLocks noChangeShapeType="1"/>
            </p:cNvSpPr>
            <p:nvPr/>
          </p:nvSpPr>
          <p:spPr bwMode="auto">
            <a:xfrm flipH="1" flipV="1">
              <a:off x="1402582" y="5910536"/>
              <a:ext cx="14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363" grpId="0"/>
      <p:bldP spid="388364" grpId="0"/>
      <p:bldP spid="69" grpId="0"/>
      <p:bldP spid="70" grpId="0"/>
      <p:bldP spid="71" grpId="0"/>
      <p:bldP spid="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663A-DB8F-4C8C-9518-FCC529369F88}" type="slidenum">
              <a:rPr lang="en-US" altLang="zh-CN"/>
            </a:fld>
            <a:endParaRPr lang="en-US" altLang="zh-CN"/>
          </a:p>
        </p:txBody>
      </p:sp>
      <p:sp>
        <p:nvSpPr>
          <p:cNvPr id="153027" name="Text Box 451"/>
          <p:cNvSpPr txBox="1">
            <a:spLocks noChangeArrowheads="1"/>
          </p:cNvSpPr>
          <p:nvPr/>
        </p:nvSpPr>
        <p:spPr bwMode="auto">
          <a:xfrm>
            <a:off x="179388" y="2276872"/>
            <a:ext cx="2629693" cy="34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4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en-US" altLang="zh-CN" dirty="0">
                <a:solidFill>
                  <a:srgbClr val="FF3399"/>
                </a:solidFill>
              </a:rPr>
              <a:t>IEEE 754</a:t>
            </a:r>
            <a:r>
              <a:rPr lang="zh-CN" altLang="en-US" dirty="0" smtClean="0">
                <a:solidFill>
                  <a:srgbClr val="FF3399"/>
                </a:solidFill>
              </a:rPr>
              <a:t>标准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/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表示格式：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/>
            <a:endParaRPr lang="en-US" altLang="zh-CN" dirty="0">
              <a:solidFill>
                <a:schemeClr val="tx1"/>
              </a:solidFill>
            </a:endParaRPr>
          </a:p>
          <a:p>
            <a:pPr marL="1075055" indent="-1075055"/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>
              <a:spcBef>
                <a:spcPts val="12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*编码方式：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数制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码制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53151" name="Text Box 575"/>
          <p:cNvSpPr txBox="1">
            <a:spLocks noChangeArrowheads="1"/>
          </p:cNvSpPr>
          <p:nvPr/>
        </p:nvSpPr>
        <p:spPr bwMode="auto">
          <a:xfrm>
            <a:off x="1763395" y="4688205"/>
            <a:ext cx="7380000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</a:rPr>
              <a:t>均为二进制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即</a:t>
            </a:r>
            <a:r>
              <a:rPr lang="en-US" altLang="zh-CN" sz="18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i="1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i="1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E 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2)</a:t>
            </a:r>
            <a:endParaRPr lang="en-US" altLang="zh-CN" dirty="0">
              <a:solidFill>
                <a:schemeClr val="tx1"/>
              </a:solidFill>
            </a:endParaRPr>
          </a:p>
          <a:p>
            <a:pPr marL="2336800" indent="-2336800"/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zh-CN" altLang="en-US" u="sng" dirty="0">
                <a:solidFill>
                  <a:srgbClr val="990099"/>
                </a:solidFill>
              </a:rPr>
              <a:t>原</a:t>
            </a:r>
            <a:r>
              <a:rPr lang="zh-CN" altLang="en-US" u="sng" dirty="0" smtClean="0">
                <a:solidFill>
                  <a:srgbClr val="990099"/>
                </a:solidFill>
              </a:rPr>
              <a:t>码</a:t>
            </a:r>
            <a:r>
              <a:rPr lang="zh-CN" altLang="en-US" dirty="0" smtClean="0">
                <a:solidFill>
                  <a:schemeClr val="tx1"/>
                </a:solidFill>
              </a:rPr>
              <a:t>定点</a:t>
            </a:r>
            <a:r>
              <a:rPr lang="zh-CN" altLang="en-US" u="sng" dirty="0" smtClean="0">
                <a:solidFill>
                  <a:schemeClr val="tx1"/>
                </a:solidFill>
              </a:rPr>
              <a:t>小数</a:t>
            </a:r>
            <a:r>
              <a:rPr lang="zh-CN" altLang="en-US" dirty="0" smtClean="0">
                <a:solidFill>
                  <a:schemeClr val="tx1"/>
                </a:solidFill>
              </a:rPr>
              <a:t>，改变</a:t>
            </a:r>
            <a:r>
              <a:rPr lang="zh-CN" altLang="en-US" dirty="0">
                <a:solidFill>
                  <a:schemeClr val="tx1"/>
                </a:solidFill>
              </a:rPr>
              <a:t>了</a:t>
            </a:r>
            <a:r>
              <a:rPr lang="zh-CN" altLang="en-US" dirty="0">
                <a:solidFill>
                  <a:srgbClr val="0070C0"/>
                </a:solidFill>
              </a:rPr>
              <a:t>点</a:t>
            </a:r>
            <a:r>
              <a:rPr lang="zh-CN" altLang="en-US" dirty="0" smtClean="0">
                <a:solidFill>
                  <a:srgbClr val="0070C0"/>
                </a:solidFill>
              </a:rPr>
              <a:t>位置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表示规格化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非规格化数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  <a:p>
            <a:pPr marL="2336800" indent="-2336800"/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zh-CN" altLang="en-US" u="sng" dirty="0" smtClean="0">
                <a:solidFill>
                  <a:srgbClr val="990099"/>
                </a:solidFill>
              </a:rPr>
              <a:t>移码</a:t>
            </a:r>
            <a:r>
              <a:rPr lang="zh-CN" altLang="en-US" dirty="0" smtClean="0">
                <a:solidFill>
                  <a:schemeClr val="tx1"/>
                </a:solidFill>
              </a:rPr>
              <a:t>定点</a:t>
            </a:r>
            <a:r>
              <a:rPr lang="zh-CN" altLang="en-US" u="sng" dirty="0" smtClean="0">
                <a:solidFill>
                  <a:schemeClr val="tx1"/>
                </a:solidFill>
              </a:rPr>
              <a:t>整数</a:t>
            </a:r>
            <a:r>
              <a:rPr lang="zh-CN" altLang="en-US" dirty="0" smtClean="0">
                <a:solidFill>
                  <a:schemeClr val="tx1"/>
                </a:solidFill>
              </a:rPr>
              <a:t>，改变了</a:t>
            </a:r>
            <a:r>
              <a:rPr lang="zh-CN" altLang="en-US" dirty="0" smtClean="0">
                <a:solidFill>
                  <a:srgbClr val="0070C0"/>
                </a:solidFill>
              </a:rPr>
              <a:t>偏移值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区分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规格化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非规格化数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53152" name="AutoShape 57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2989263" y="4077072"/>
            <a:ext cx="2016919" cy="1188000"/>
          </a:xfrm>
          <a:prstGeom prst="straightConnector1">
            <a:avLst/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51" name="Text Box 141"/>
          <p:cNvSpPr txBox="1">
            <a:spLocks noChangeArrowheads="1"/>
          </p:cNvSpPr>
          <p:nvPr/>
        </p:nvSpPr>
        <p:spPr bwMode="auto">
          <a:xfrm>
            <a:off x="179388" y="332656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、实数的表示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 marL="1075055" indent="-107505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表示</a:t>
            </a: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>
                <a:solidFill>
                  <a:schemeClr val="tx1"/>
                </a:solidFill>
              </a:rPr>
              <a:t>二进制、浮点格式、尾数及</a:t>
            </a:r>
            <a:r>
              <a:rPr lang="zh-CN" altLang="en-US" dirty="0" smtClean="0">
                <a:solidFill>
                  <a:schemeClr val="tx1"/>
                </a:solidFill>
              </a:rPr>
              <a:t>阶</a:t>
            </a:r>
            <a:r>
              <a:rPr lang="zh-CN" altLang="en-US" u="sng" dirty="0" smtClean="0">
                <a:solidFill>
                  <a:schemeClr val="tx1"/>
                </a:solidFill>
              </a:rPr>
              <a:t>单独</a:t>
            </a:r>
            <a:r>
              <a:rPr lang="zh-CN" altLang="en-US" dirty="0" smtClean="0">
                <a:solidFill>
                  <a:schemeClr val="tx1"/>
                </a:solidFill>
              </a:rPr>
              <a:t>编码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硬件支持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浮点数</a:t>
            </a:r>
            <a:r>
              <a:rPr lang="zh-CN" altLang="en-US" dirty="0" smtClean="0">
                <a:solidFill>
                  <a:srgbClr val="C00000"/>
                </a:solidFill>
              </a:rPr>
              <a:t>类型：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5055" indent="-1075055"/>
            <a:r>
              <a:rPr lang="zh-CN" altLang="en-US" dirty="0" smtClean="0">
                <a:solidFill>
                  <a:schemeClr val="tx1"/>
                </a:solidFill>
              </a:rPr>
              <a:t>    取决于</a:t>
            </a:r>
            <a:r>
              <a:rPr lang="en-US" altLang="zh-CN" u="sng" dirty="0">
                <a:solidFill>
                  <a:srgbClr val="990099"/>
                </a:solidFill>
              </a:rPr>
              <a:t>ISA</a:t>
            </a:r>
            <a:r>
              <a:rPr lang="zh-CN" altLang="en-US" u="sng" dirty="0">
                <a:solidFill>
                  <a:srgbClr val="990099"/>
                </a:solidFill>
              </a:rPr>
              <a:t>的约定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dirty="0">
                <a:solidFill>
                  <a:srgbClr val="FF3399"/>
                </a:solidFill>
              </a:rPr>
              <a:t>均为</a:t>
            </a:r>
            <a:r>
              <a:rPr lang="en-US" altLang="zh-CN" u="sng" dirty="0">
                <a:solidFill>
                  <a:schemeClr val="tx1"/>
                </a:solidFill>
              </a:rPr>
              <a:t>IEEE 754</a:t>
            </a:r>
            <a:r>
              <a:rPr lang="zh-CN" altLang="en-US" u="sng" dirty="0">
                <a:solidFill>
                  <a:schemeClr val="tx1"/>
                </a:solidFill>
              </a:rPr>
              <a:t>标准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有</a:t>
            </a:r>
            <a:r>
              <a:rPr lang="zh-CN" altLang="en-US" sz="1800" dirty="0" smtClean="0">
                <a:solidFill>
                  <a:schemeClr val="tx1"/>
                </a:solidFill>
              </a:rPr>
              <a:t>单精度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双精度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种类型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52" name="Text Box 451"/>
          <p:cNvSpPr txBox="1">
            <a:spLocks noChangeArrowheads="1"/>
          </p:cNvSpPr>
          <p:nvPr/>
        </p:nvSpPr>
        <p:spPr bwMode="auto">
          <a:xfrm>
            <a:off x="2051596" y="2780928"/>
            <a:ext cx="626482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dirty="0" smtClean="0">
                <a:solidFill>
                  <a:schemeClr val="tx1"/>
                </a:solidFill>
              </a:rPr>
              <a:t>有</a:t>
            </a:r>
            <a:r>
              <a:rPr lang="zh-CN" altLang="en-US" dirty="0">
                <a:solidFill>
                  <a:schemeClr val="tx1"/>
                </a:solidFill>
              </a:rPr>
              <a:t>单精度、双精度</a:t>
            </a:r>
            <a:r>
              <a:rPr lang="zh-CN" altLang="en-US" dirty="0" smtClean="0">
                <a:solidFill>
                  <a:schemeClr val="tx1"/>
                </a:solidFill>
              </a:rPr>
              <a:t>两种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←数符与尾数分离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187450" y="3284984"/>
            <a:ext cx="7272338" cy="1008657"/>
            <a:chOff x="1187450" y="3284415"/>
            <a:chExt cx="7272338" cy="1008657"/>
          </a:xfrm>
        </p:grpSpPr>
        <p:sp>
          <p:nvSpPr>
            <p:cNvPr id="54" name="Line 529"/>
            <p:cNvSpPr>
              <a:spLocks noChangeShapeType="1"/>
            </p:cNvSpPr>
            <p:nvPr/>
          </p:nvSpPr>
          <p:spPr bwMode="auto">
            <a:xfrm>
              <a:off x="1187450" y="3286003"/>
              <a:ext cx="1588" cy="4318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30"/>
            <p:cNvSpPr>
              <a:spLocks noChangeShapeType="1"/>
            </p:cNvSpPr>
            <p:nvPr/>
          </p:nvSpPr>
          <p:spPr bwMode="auto">
            <a:xfrm>
              <a:off x="4284663" y="3286003"/>
              <a:ext cx="0" cy="43021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531"/>
            <p:cNvSpPr txBox="1">
              <a:spLocks noChangeArrowheads="1"/>
            </p:cNvSpPr>
            <p:nvPr/>
          </p:nvSpPr>
          <p:spPr bwMode="auto">
            <a:xfrm>
              <a:off x="3492574" y="3498728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23</a:t>
              </a:r>
              <a:endParaRPr lang="en-US" altLang="zh-CN" sz="1600" dirty="0"/>
            </a:p>
          </p:txBody>
        </p:sp>
        <p:sp>
          <p:nvSpPr>
            <p:cNvPr id="57" name="Line 532"/>
            <p:cNvSpPr>
              <a:spLocks noChangeShapeType="1"/>
            </p:cNvSpPr>
            <p:nvPr/>
          </p:nvSpPr>
          <p:spPr bwMode="auto">
            <a:xfrm>
              <a:off x="3815968" y="3611440"/>
              <a:ext cx="46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33"/>
            <p:cNvSpPr>
              <a:spLocks noChangeShapeType="1"/>
            </p:cNvSpPr>
            <p:nvPr/>
          </p:nvSpPr>
          <p:spPr bwMode="auto">
            <a:xfrm>
              <a:off x="2987675" y="3501903"/>
              <a:ext cx="1588" cy="2159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34"/>
            <p:cNvSpPr>
              <a:spLocks noChangeShapeType="1"/>
            </p:cNvSpPr>
            <p:nvPr/>
          </p:nvSpPr>
          <p:spPr bwMode="auto">
            <a:xfrm>
              <a:off x="1979613" y="3501903"/>
              <a:ext cx="1588" cy="2159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35"/>
            <p:cNvSpPr>
              <a:spLocks noChangeShapeType="1"/>
            </p:cNvSpPr>
            <p:nvPr/>
          </p:nvSpPr>
          <p:spPr bwMode="auto">
            <a:xfrm flipH="1">
              <a:off x="2989263" y="3611440"/>
              <a:ext cx="46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536"/>
            <p:cNvSpPr txBox="1">
              <a:spLocks noChangeArrowheads="1"/>
            </p:cNvSpPr>
            <p:nvPr/>
          </p:nvSpPr>
          <p:spPr bwMode="auto">
            <a:xfrm>
              <a:off x="2413000" y="3500315"/>
              <a:ext cx="14446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8</a:t>
              </a:r>
              <a:endParaRPr lang="en-US" altLang="zh-CN" sz="1600" dirty="0"/>
            </a:p>
          </p:txBody>
        </p:sp>
        <p:sp>
          <p:nvSpPr>
            <p:cNvPr id="62" name="Line 537"/>
            <p:cNvSpPr>
              <a:spLocks noChangeShapeType="1"/>
            </p:cNvSpPr>
            <p:nvPr/>
          </p:nvSpPr>
          <p:spPr bwMode="auto">
            <a:xfrm flipV="1">
              <a:off x="2628900" y="3611440"/>
              <a:ext cx="36036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538"/>
            <p:cNvSpPr txBox="1">
              <a:spLocks noChangeArrowheads="1"/>
            </p:cNvSpPr>
            <p:nvPr/>
          </p:nvSpPr>
          <p:spPr bwMode="auto">
            <a:xfrm>
              <a:off x="1477963" y="3501903"/>
              <a:ext cx="14287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64" name="Line 539"/>
            <p:cNvSpPr>
              <a:spLocks noChangeShapeType="1"/>
            </p:cNvSpPr>
            <p:nvPr/>
          </p:nvSpPr>
          <p:spPr bwMode="auto">
            <a:xfrm flipV="1">
              <a:off x="1692275" y="3611440"/>
              <a:ext cx="28892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40"/>
            <p:cNvSpPr>
              <a:spLocks noChangeShapeType="1"/>
            </p:cNvSpPr>
            <p:nvPr/>
          </p:nvSpPr>
          <p:spPr bwMode="auto">
            <a:xfrm flipH="1" flipV="1">
              <a:off x="1189038" y="3611440"/>
              <a:ext cx="28733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541"/>
            <p:cNvSpPr>
              <a:spLocks noChangeShapeType="1"/>
            </p:cNvSpPr>
            <p:nvPr/>
          </p:nvSpPr>
          <p:spPr bwMode="auto">
            <a:xfrm flipH="1" flipV="1">
              <a:off x="1981200" y="3611440"/>
              <a:ext cx="36036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542"/>
            <p:cNvSpPr txBox="1">
              <a:spLocks noChangeArrowheads="1"/>
            </p:cNvSpPr>
            <p:nvPr/>
          </p:nvSpPr>
          <p:spPr bwMode="auto">
            <a:xfrm>
              <a:off x="1620838" y="4077072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单精度浮点表示格式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8" name="Text Box 543"/>
            <p:cNvSpPr txBox="1">
              <a:spLocks noChangeArrowheads="1"/>
            </p:cNvSpPr>
            <p:nvPr/>
          </p:nvSpPr>
          <p:spPr bwMode="auto">
            <a:xfrm>
              <a:off x="1189038" y="3717803"/>
              <a:ext cx="792163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数符</a:t>
              </a:r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Text Box 544"/>
            <p:cNvSpPr txBox="1">
              <a:spLocks noChangeArrowheads="1"/>
            </p:cNvSpPr>
            <p:nvPr/>
          </p:nvSpPr>
          <p:spPr bwMode="auto">
            <a:xfrm>
              <a:off x="1981200" y="3717803"/>
              <a:ext cx="1008063" cy="287338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</a:rPr>
                <a:t>阶</a:t>
              </a: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Text Box 545"/>
            <p:cNvSpPr txBox="1">
              <a:spLocks noChangeArrowheads="1"/>
            </p:cNvSpPr>
            <p:nvPr/>
          </p:nvSpPr>
          <p:spPr bwMode="auto">
            <a:xfrm>
              <a:off x="2989263" y="3717803"/>
              <a:ext cx="1295400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尾数</a:t>
              </a:r>
              <a:r>
                <a:rPr lang="en-US" altLang="zh-CN" sz="18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546"/>
            <p:cNvSpPr txBox="1">
              <a:spLocks noChangeArrowheads="1"/>
            </p:cNvSpPr>
            <p:nvPr/>
          </p:nvSpPr>
          <p:spPr bwMode="auto">
            <a:xfrm>
              <a:off x="2556470" y="3284984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32</a:t>
              </a:r>
              <a:endParaRPr lang="en-US" altLang="zh-CN" sz="1600" dirty="0"/>
            </a:p>
          </p:txBody>
        </p:sp>
        <p:sp>
          <p:nvSpPr>
            <p:cNvPr id="72" name="Line 547"/>
            <p:cNvSpPr>
              <a:spLocks noChangeShapeType="1"/>
            </p:cNvSpPr>
            <p:nvPr/>
          </p:nvSpPr>
          <p:spPr bwMode="auto">
            <a:xfrm>
              <a:off x="2916238" y="3387438"/>
              <a:ext cx="136842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48"/>
            <p:cNvSpPr>
              <a:spLocks noChangeShapeType="1"/>
            </p:cNvSpPr>
            <p:nvPr/>
          </p:nvSpPr>
          <p:spPr bwMode="auto">
            <a:xfrm flipH="1">
              <a:off x="1189038" y="3387438"/>
              <a:ext cx="129698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549"/>
            <p:cNvSpPr>
              <a:spLocks noChangeShapeType="1"/>
            </p:cNvSpPr>
            <p:nvPr/>
          </p:nvSpPr>
          <p:spPr bwMode="auto">
            <a:xfrm>
              <a:off x="4572000" y="3286003"/>
              <a:ext cx="0" cy="4318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550"/>
            <p:cNvSpPr>
              <a:spLocks noChangeShapeType="1"/>
            </p:cNvSpPr>
            <p:nvPr/>
          </p:nvSpPr>
          <p:spPr bwMode="auto">
            <a:xfrm>
              <a:off x="8459788" y="3286003"/>
              <a:ext cx="0" cy="43021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551"/>
            <p:cNvSpPr txBox="1">
              <a:spLocks noChangeArrowheads="1"/>
            </p:cNvSpPr>
            <p:nvPr/>
          </p:nvSpPr>
          <p:spPr bwMode="auto">
            <a:xfrm>
              <a:off x="7452121" y="3500315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/>
                <a:t>52</a:t>
              </a:r>
              <a:endParaRPr lang="en-US" altLang="zh-CN" sz="1600"/>
            </a:p>
          </p:txBody>
        </p:sp>
        <p:sp>
          <p:nvSpPr>
            <p:cNvPr id="77" name="Line 552"/>
            <p:cNvSpPr>
              <a:spLocks noChangeShapeType="1"/>
            </p:cNvSpPr>
            <p:nvPr/>
          </p:nvSpPr>
          <p:spPr bwMode="auto">
            <a:xfrm flipV="1">
              <a:off x="7739459" y="3611440"/>
              <a:ext cx="72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553"/>
            <p:cNvSpPr>
              <a:spLocks noChangeShapeType="1"/>
            </p:cNvSpPr>
            <p:nvPr/>
          </p:nvSpPr>
          <p:spPr bwMode="auto">
            <a:xfrm>
              <a:off x="6659563" y="3501903"/>
              <a:ext cx="0" cy="2159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554"/>
            <p:cNvSpPr>
              <a:spLocks noChangeShapeType="1"/>
            </p:cNvSpPr>
            <p:nvPr/>
          </p:nvSpPr>
          <p:spPr bwMode="auto">
            <a:xfrm>
              <a:off x="5364163" y="3501903"/>
              <a:ext cx="0" cy="21590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555"/>
            <p:cNvSpPr>
              <a:spLocks noChangeShapeType="1"/>
            </p:cNvSpPr>
            <p:nvPr/>
          </p:nvSpPr>
          <p:spPr bwMode="auto">
            <a:xfrm flipH="1" flipV="1">
              <a:off x="6661150" y="3611440"/>
              <a:ext cx="72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556"/>
            <p:cNvSpPr txBox="1">
              <a:spLocks noChangeArrowheads="1"/>
            </p:cNvSpPr>
            <p:nvPr/>
          </p:nvSpPr>
          <p:spPr bwMode="auto">
            <a:xfrm>
              <a:off x="5868988" y="3501903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/>
                <a:t>11</a:t>
              </a:r>
              <a:endParaRPr lang="en-US" altLang="zh-CN" sz="1600"/>
            </a:p>
          </p:txBody>
        </p:sp>
        <p:sp>
          <p:nvSpPr>
            <p:cNvPr id="82" name="Line 557"/>
            <p:cNvSpPr>
              <a:spLocks noChangeShapeType="1"/>
            </p:cNvSpPr>
            <p:nvPr/>
          </p:nvSpPr>
          <p:spPr bwMode="auto">
            <a:xfrm flipV="1">
              <a:off x="6191339" y="3611440"/>
              <a:ext cx="46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558"/>
            <p:cNvSpPr txBox="1">
              <a:spLocks noChangeArrowheads="1"/>
            </p:cNvSpPr>
            <p:nvPr/>
          </p:nvSpPr>
          <p:spPr bwMode="auto">
            <a:xfrm>
              <a:off x="4862513" y="3500315"/>
              <a:ext cx="14287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84" name="Line 559"/>
            <p:cNvSpPr>
              <a:spLocks noChangeShapeType="1"/>
            </p:cNvSpPr>
            <p:nvPr/>
          </p:nvSpPr>
          <p:spPr bwMode="auto">
            <a:xfrm flipV="1">
              <a:off x="5076825" y="3611440"/>
              <a:ext cx="28892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560"/>
            <p:cNvSpPr>
              <a:spLocks noChangeShapeType="1"/>
            </p:cNvSpPr>
            <p:nvPr/>
          </p:nvSpPr>
          <p:spPr bwMode="auto">
            <a:xfrm flipH="1" flipV="1">
              <a:off x="4573588" y="3611440"/>
              <a:ext cx="28733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561"/>
            <p:cNvSpPr>
              <a:spLocks noChangeShapeType="1"/>
            </p:cNvSpPr>
            <p:nvPr/>
          </p:nvSpPr>
          <p:spPr bwMode="auto">
            <a:xfrm flipH="1" flipV="1">
              <a:off x="5364163" y="3611440"/>
              <a:ext cx="46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562"/>
            <p:cNvSpPr txBox="1">
              <a:spLocks noChangeArrowheads="1"/>
            </p:cNvSpPr>
            <p:nvPr/>
          </p:nvSpPr>
          <p:spPr bwMode="auto">
            <a:xfrm>
              <a:off x="5219700" y="4077072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双精度浮点表示格式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88" name="Text Box 563"/>
            <p:cNvSpPr txBox="1">
              <a:spLocks noChangeArrowheads="1"/>
            </p:cNvSpPr>
            <p:nvPr/>
          </p:nvSpPr>
          <p:spPr bwMode="auto">
            <a:xfrm>
              <a:off x="4573588" y="3717803"/>
              <a:ext cx="792163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</a:rPr>
                <a:t>数符</a:t>
              </a: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" name="Text Box 564"/>
            <p:cNvSpPr txBox="1">
              <a:spLocks noChangeArrowheads="1"/>
            </p:cNvSpPr>
            <p:nvPr/>
          </p:nvSpPr>
          <p:spPr bwMode="auto">
            <a:xfrm>
              <a:off x="5365750" y="3717803"/>
              <a:ext cx="1295400" cy="287338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</a:rPr>
                <a:t>阶</a:t>
              </a: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" name="Text Box 565"/>
            <p:cNvSpPr txBox="1">
              <a:spLocks noChangeArrowheads="1"/>
            </p:cNvSpPr>
            <p:nvPr/>
          </p:nvSpPr>
          <p:spPr bwMode="auto">
            <a:xfrm>
              <a:off x="6661150" y="3717803"/>
              <a:ext cx="1798638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</a:rPr>
                <a:t>尾数</a:t>
              </a: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" name="Text Box 566"/>
            <p:cNvSpPr txBox="1">
              <a:spLocks noChangeArrowheads="1"/>
            </p:cNvSpPr>
            <p:nvPr/>
          </p:nvSpPr>
          <p:spPr bwMode="auto">
            <a:xfrm>
              <a:off x="6373813" y="3284415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/>
                <a:t>64</a:t>
              </a:r>
              <a:endParaRPr lang="en-US" altLang="zh-CN" sz="1600" dirty="0"/>
            </a:p>
          </p:txBody>
        </p:sp>
        <p:sp>
          <p:nvSpPr>
            <p:cNvPr id="92" name="Line 567"/>
            <p:cNvSpPr>
              <a:spLocks noChangeShapeType="1"/>
            </p:cNvSpPr>
            <p:nvPr/>
          </p:nvSpPr>
          <p:spPr bwMode="auto">
            <a:xfrm>
              <a:off x="6731539" y="3387438"/>
              <a:ext cx="172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568"/>
            <p:cNvSpPr>
              <a:spLocks noChangeShapeType="1"/>
            </p:cNvSpPr>
            <p:nvPr/>
          </p:nvSpPr>
          <p:spPr bwMode="auto">
            <a:xfrm flipH="1">
              <a:off x="4573587" y="3387438"/>
              <a:ext cx="172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3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3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3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27" grpId="0"/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A4C55-6551-4630-8F0D-0BDFEDD4221A}" type="slidenum">
              <a:rPr lang="en-US" altLang="zh-CN"/>
            </a:fld>
            <a:endParaRPr lang="en-US" altLang="zh-CN" dirty="0"/>
          </a:p>
        </p:txBody>
      </p:sp>
      <p:sp>
        <p:nvSpPr>
          <p:cNvPr id="246836" name="Text Box 52"/>
          <p:cNvSpPr txBox="1">
            <a:spLocks noChangeArrowheads="1"/>
          </p:cNvSpPr>
          <p:nvPr/>
        </p:nvSpPr>
        <p:spPr bwMode="auto">
          <a:xfrm>
            <a:off x="179512" y="404664"/>
            <a:ext cx="8785225" cy="25129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336800" indent="-233680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阶的码制：</a:t>
            </a:r>
            <a:r>
              <a:rPr lang="zh-CN" altLang="en-US" dirty="0" smtClean="0">
                <a:solidFill>
                  <a:schemeClr val="tx1"/>
                </a:solidFill>
              </a:rPr>
              <a:t>采用</a:t>
            </a:r>
            <a:r>
              <a:rPr lang="zh-CN" altLang="en-US" u="sng" dirty="0" smtClean="0">
                <a:solidFill>
                  <a:schemeClr val="tx1"/>
                </a:solidFill>
              </a:rPr>
              <a:t>余</a:t>
            </a:r>
            <a:r>
              <a:rPr lang="en-US" altLang="zh-CN" u="sng" dirty="0">
                <a:solidFill>
                  <a:schemeClr val="tx1"/>
                </a:solidFill>
              </a:rPr>
              <a:t>127</a:t>
            </a:r>
            <a:r>
              <a:rPr lang="zh-CN" altLang="en-US" u="sng" dirty="0">
                <a:solidFill>
                  <a:schemeClr val="tx1"/>
                </a:solidFill>
              </a:rPr>
              <a:t>码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u="sng" dirty="0">
                <a:solidFill>
                  <a:schemeClr val="tx1"/>
                </a:solidFill>
              </a:rPr>
              <a:t>余</a:t>
            </a:r>
            <a:r>
              <a:rPr lang="en-US" altLang="zh-CN" u="sng" dirty="0">
                <a:solidFill>
                  <a:schemeClr val="tx1"/>
                </a:solidFill>
              </a:rPr>
              <a:t>1023</a:t>
            </a:r>
            <a:r>
              <a:rPr lang="zh-CN" altLang="en-US" u="sng" dirty="0" smtClean="0">
                <a:solidFill>
                  <a:schemeClr val="tx1"/>
                </a:solidFill>
              </a:rPr>
              <a:t>码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2336800" indent="-2336800">
              <a:spcBef>
                <a:spcPts val="30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余</a:t>
            </a:r>
            <a:r>
              <a:rPr lang="en-US" altLang="zh-CN" dirty="0">
                <a:solidFill>
                  <a:schemeClr val="accent2"/>
                </a:solidFill>
              </a:rPr>
              <a:t>X</a:t>
            </a:r>
            <a:r>
              <a:rPr lang="zh-CN" altLang="en-US" dirty="0">
                <a:solidFill>
                  <a:schemeClr val="accent2"/>
                </a:solidFill>
              </a:rPr>
              <a:t>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指偏移</a:t>
            </a:r>
            <a:r>
              <a:rPr lang="zh-CN" altLang="en-US" dirty="0">
                <a:solidFill>
                  <a:schemeClr val="tx1"/>
                </a:solidFill>
              </a:rPr>
              <a:t>值为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移码  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←移码＝真值＋偏移值</a:t>
            </a:r>
            <a:endParaRPr lang="zh-CN" altLang="en-US" dirty="0">
              <a:solidFill>
                <a:srgbClr val="990099"/>
              </a:solidFill>
            </a:endParaRPr>
          </a:p>
          <a:p>
            <a:pPr marL="2336800" indent="-2336800"/>
            <a:r>
              <a:rPr lang="zh-CN" altLang="en-US" dirty="0">
                <a:solidFill>
                  <a:srgbClr val="990099"/>
                </a:solidFill>
              </a:rPr>
              <a:t>     </a:t>
            </a:r>
            <a:r>
              <a:rPr lang="zh-CN" altLang="en-US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>
                <a:solidFill>
                  <a:srgbClr val="990099"/>
                </a:solidFill>
              </a:rPr>
              <a:t>标准移码</a:t>
            </a:r>
            <a:r>
              <a:rPr lang="zh-CN" altLang="en-US" dirty="0" smtClean="0">
                <a:solidFill>
                  <a:srgbClr val="990099"/>
                </a:solidFill>
              </a:rPr>
              <a:t>：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</a:rPr>
              <a:t>＝阶＋</a:t>
            </a:r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en-US" altLang="zh-CN" baseline="30000" dirty="0" smtClean="0">
                <a:solidFill>
                  <a:srgbClr val="FF3399"/>
                </a:solidFill>
              </a:rPr>
              <a:t>8-1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zh-CN" altLang="en-US" dirty="0">
                <a:solidFill>
                  <a:schemeClr val="tx1"/>
                </a:solidFill>
              </a:rPr>
              <a:t>阶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128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  ←可称余</a:t>
            </a:r>
            <a:r>
              <a:rPr lang="en-US" altLang="zh-CN" sz="1800" dirty="0">
                <a:solidFill>
                  <a:schemeClr val="tx1"/>
                </a:solidFill>
              </a:rPr>
              <a:t>128</a:t>
            </a:r>
            <a:r>
              <a:rPr lang="zh-CN" altLang="en-US" sz="1800" dirty="0">
                <a:solidFill>
                  <a:schemeClr val="tx1"/>
                </a:solidFill>
              </a:rPr>
              <a:t>码</a:t>
            </a:r>
            <a:endParaRPr lang="zh-CN" altLang="en-US" dirty="0">
              <a:solidFill>
                <a:schemeClr val="tx1"/>
              </a:solidFill>
            </a:endParaRPr>
          </a:p>
          <a:p>
            <a:pPr marL="2336800" indent="-2336800"/>
            <a:r>
              <a:rPr lang="zh-CN" altLang="en-US" dirty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     </a:t>
            </a:r>
            <a:r>
              <a:rPr lang="zh-CN" altLang="en-US" dirty="0">
                <a:solidFill>
                  <a:srgbClr val="990099"/>
                </a:solidFill>
              </a:rPr>
              <a:t>余</a:t>
            </a:r>
            <a:r>
              <a:rPr lang="en-US" altLang="zh-CN" dirty="0">
                <a:solidFill>
                  <a:srgbClr val="990099"/>
                </a:solidFill>
              </a:rPr>
              <a:t>127</a:t>
            </a:r>
            <a:r>
              <a:rPr lang="zh-CN" altLang="en-US" dirty="0">
                <a:solidFill>
                  <a:srgbClr val="990099"/>
                </a:solidFill>
                <a:latin typeface="Times New Roman" panose="02020603050405020304" pitchFamily="18" charset="0"/>
              </a:rPr>
              <a:t>码</a:t>
            </a:r>
            <a:r>
              <a:rPr lang="zh-CN" altLang="en-US" dirty="0">
                <a:solidFill>
                  <a:srgbClr val="990099"/>
                </a:solidFill>
              </a:rPr>
              <a:t>： 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</a:rPr>
              <a:t>＝阶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8-1</a:t>
            </a:r>
            <a:r>
              <a:rPr lang="en-US" altLang="zh-CN" dirty="0">
                <a:solidFill>
                  <a:srgbClr val="FF3399"/>
                </a:solidFill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zh-CN" altLang="en-US" dirty="0">
                <a:solidFill>
                  <a:schemeClr val="tx1"/>
                </a:solidFill>
              </a:rPr>
              <a:t>阶＋</a:t>
            </a:r>
            <a:r>
              <a:rPr lang="en-US" altLang="zh-CN" dirty="0" smtClean="0">
                <a:solidFill>
                  <a:schemeClr val="tx1"/>
                </a:solidFill>
              </a:rPr>
              <a:t>127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336800" indent="-2336800">
              <a:lnSpc>
                <a:spcPct val="145000"/>
              </a:lnSpc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表示约定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46837" name="Text Box 53"/>
          <p:cNvSpPr txBox="1">
            <a:spLocks noChangeArrowheads="1"/>
          </p:cNvSpPr>
          <p:nvPr/>
        </p:nvSpPr>
        <p:spPr bwMode="auto">
          <a:xfrm>
            <a:off x="179388" y="3284984"/>
            <a:ext cx="8785225" cy="2051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尾数的码制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r>
              <a:rPr lang="zh-CN" altLang="en-US" dirty="0" smtClean="0">
                <a:solidFill>
                  <a:schemeClr val="tx1"/>
                </a:solidFill>
              </a:rPr>
              <a:t>采用原码编码，规格化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非规格化数</a:t>
            </a:r>
            <a:r>
              <a:rPr lang="zh-CN" altLang="en-US" u="sng" dirty="0" smtClean="0">
                <a:solidFill>
                  <a:schemeClr val="tx1"/>
                </a:solidFill>
              </a:rPr>
              <a:t>有所不同</a:t>
            </a:r>
            <a:endParaRPr lang="en-US" altLang="zh-CN" u="sng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非规格化尾数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规 格 化尾数</a:t>
            </a:r>
            <a:r>
              <a:rPr lang="en-US" altLang="zh-CN" dirty="0" smtClean="0">
                <a:solidFill>
                  <a:schemeClr val="accent2"/>
                </a:solidFill>
              </a:rPr>
              <a:t>—  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sp>
        <p:nvSpPr>
          <p:cNvPr id="246842" name="Text Box 58"/>
          <p:cNvSpPr txBox="1">
            <a:spLocks noChangeArrowheads="1"/>
          </p:cNvSpPr>
          <p:nvPr/>
        </p:nvSpPr>
        <p:spPr bwMode="auto">
          <a:xfrm>
            <a:off x="2411760" y="2276872"/>
            <a:ext cx="6552854" cy="1053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82800">
            <a:spAutoFit/>
          </a:bodyPr>
          <a:lstStyle/>
          <a:p>
            <a:pPr marL="2336800" indent="-2336800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≤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tx1"/>
                </a:solidFill>
              </a:rPr>
              <a:t>≤</a:t>
            </a:r>
            <a:r>
              <a:rPr lang="en-US" altLang="zh-CN" dirty="0" smtClean="0">
                <a:solidFill>
                  <a:schemeClr val="tx1"/>
                </a:solidFill>
              </a:rPr>
              <a:t>254</a:t>
            </a:r>
            <a:r>
              <a:rPr lang="zh-CN" altLang="en-US" dirty="0" smtClean="0">
                <a:solidFill>
                  <a:schemeClr val="tx1"/>
                </a:solidFill>
              </a:rPr>
              <a:t>表示</a:t>
            </a:r>
            <a:r>
              <a:rPr lang="zh-CN" altLang="en-US" u="sng" dirty="0" smtClean="0">
                <a:solidFill>
                  <a:srgbClr val="990099"/>
                </a:solidFill>
              </a:rPr>
              <a:t>规格化数</a:t>
            </a:r>
            <a:r>
              <a:rPr lang="zh-CN" altLang="en-US" dirty="0" smtClean="0">
                <a:solidFill>
                  <a:schemeClr val="tx1"/>
                </a:solidFill>
              </a:rPr>
              <a:t>的阶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即</a:t>
            </a:r>
            <a:r>
              <a:rPr lang="en-US" altLang="zh-CN" sz="2000" dirty="0" smtClean="0">
                <a:solidFill>
                  <a:schemeClr val="tx1"/>
                </a:solidFill>
              </a:rPr>
              <a:t>-126≤</a:t>
            </a:r>
            <a:r>
              <a:rPr lang="zh-CN" altLang="en-US" sz="2000" dirty="0" smtClean="0">
                <a:solidFill>
                  <a:schemeClr val="tx1"/>
                </a:solidFill>
              </a:rPr>
              <a:t>阶≤</a:t>
            </a:r>
            <a:r>
              <a:rPr lang="en-US" altLang="zh-CN" sz="2000" dirty="0" smtClean="0">
                <a:solidFill>
                  <a:schemeClr val="tx1"/>
                </a:solidFill>
              </a:rPr>
              <a:t>+127)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336800" indent="-2336800"/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及</a:t>
            </a:r>
            <a:r>
              <a:rPr lang="en-US" altLang="zh-CN" dirty="0" smtClean="0">
                <a:solidFill>
                  <a:schemeClr val="tx1"/>
                </a:solidFill>
              </a:rPr>
              <a:t>255</a:t>
            </a:r>
            <a:r>
              <a:rPr lang="zh-CN" altLang="en-US" dirty="0" smtClean="0">
                <a:solidFill>
                  <a:schemeClr val="tx1"/>
                </a:solidFill>
              </a:rPr>
              <a:t>表示</a:t>
            </a:r>
            <a:r>
              <a:rPr lang="zh-CN" altLang="en-US" u="sng" dirty="0" smtClean="0">
                <a:solidFill>
                  <a:srgbClr val="990099"/>
                </a:solidFill>
              </a:rPr>
              <a:t>其它特征数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如非规格化数等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246845" name="Text Box 61"/>
          <p:cNvSpPr txBox="1">
            <a:spLocks noChangeArrowheads="1"/>
          </p:cNvSpPr>
          <p:nvPr/>
        </p:nvSpPr>
        <p:spPr bwMode="auto">
          <a:xfrm>
            <a:off x="2987823" y="3794264"/>
            <a:ext cx="6120681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真值＝</a:t>
            </a:r>
            <a:r>
              <a:rPr lang="en-US" altLang="zh-CN" dirty="0" smtClean="0">
                <a:solidFill>
                  <a:schemeClr val="tx1"/>
                </a:solidFill>
              </a:rPr>
              <a:t>±</a:t>
            </a:r>
            <a:r>
              <a:rPr lang="en-US" altLang="zh-CN" dirty="0">
                <a:solidFill>
                  <a:schemeClr val="tx1"/>
                </a:solidFill>
              </a:rPr>
              <a:t>0.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-1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-23</a:t>
            </a:r>
            <a:r>
              <a:rPr lang="zh-CN" altLang="en-US" dirty="0" smtClean="0">
                <a:solidFill>
                  <a:schemeClr val="tx1"/>
                </a:solidFill>
              </a:rPr>
              <a:t>，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>
                <a:solidFill>
                  <a:schemeClr val="tx1"/>
                </a:solidFill>
              </a:rPr>
              <a:t>-1</a:t>
            </a:r>
            <a:r>
              <a:rPr lang="zh-CN" altLang="en-US" sz="1800" dirty="0" smtClean="0">
                <a:solidFill>
                  <a:schemeClr val="tx1"/>
                </a:solidFill>
              </a:rPr>
              <a:t>可以＝</a:t>
            </a:r>
            <a:r>
              <a:rPr lang="en-US" altLang="zh-CN" sz="1800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编码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-23</a:t>
            </a:r>
            <a:r>
              <a:rPr lang="zh-CN" altLang="en-US" dirty="0" smtClean="0">
                <a:solidFill>
                  <a:schemeClr val="tx1"/>
                </a:solidFill>
              </a:rPr>
              <a:t>，表示精度</a:t>
            </a:r>
            <a:r>
              <a:rPr lang="zh-CN" altLang="en-US" dirty="0" smtClean="0">
                <a:solidFill>
                  <a:srgbClr val="990099"/>
                </a:solidFill>
              </a:rPr>
              <a:t>≤</a:t>
            </a:r>
            <a:r>
              <a:rPr lang="en-US" altLang="zh-CN" dirty="0" smtClean="0">
                <a:solidFill>
                  <a:srgbClr val="990099"/>
                </a:solidFill>
              </a:rPr>
              <a:t>23</a:t>
            </a:r>
            <a:r>
              <a:rPr lang="zh-CN" altLang="en-US" dirty="0" smtClean="0">
                <a:solidFill>
                  <a:srgbClr val="990099"/>
                </a:solidFill>
              </a:rPr>
              <a:t>位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i="1" dirty="0">
                <a:solidFill>
                  <a:schemeClr val="tx1"/>
                </a:solidFill>
                <a:latin typeface="+mn-lt"/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的真值＝</a:t>
            </a:r>
            <a:r>
              <a:rPr lang="en-US" altLang="zh-CN" dirty="0">
                <a:solidFill>
                  <a:schemeClr val="tx1"/>
                </a:solidFill>
              </a:rPr>
              <a:t>±1.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-2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-24</a:t>
            </a:r>
            <a:r>
              <a:rPr lang="zh-CN" altLang="en-US" dirty="0">
                <a:solidFill>
                  <a:schemeClr val="tx1"/>
                </a:solidFill>
              </a:rPr>
              <a:t>，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0.1</a:t>
            </a:r>
            <a:r>
              <a:rPr lang="en-US" altLang="zh-CN" sz="1800" i="1" dirty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>
                <a:solidFill>
                  <a:schemeClr val="tx1"/>
                </a:solidFill>
              </a:rPr>
              <a:t>-2</a:t>
            </a:r>
            <a:r>
              <a:rPr lang="en-US" altLang="zh-CN" sz="1800" dirty="0">
                <a:solidFill>
                  <a:schemeClr val="tx1"/>
                </a:solidFill>
              </a:rPr>
              <a:t>…</a:t>
            </a:r>
            <a:r>
              <a:rPr lang="en-US" altLang="zh-CN" sz="1800" i="1" dirty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>
                <a:solidFill>
                  <a:schemeClr val="tx1"/>
                </a:solidFill>
              </a:rPr>
              <a:t>-23</a:t>
            </a:r>
            <a:r>
              <a:rPr lang="zh-CN" altLang="en-US" sz="1800" dirty="0">
                <a:solidFill>
                  <a:schemeClr val="tx1"/>
                </a:solidFill>
              </a:rPr>
              <a:t>的扩展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的编码＝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-2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-24</a:t>
            </a:r>
            <a:r>
              <a:rPr lang="zh-CN" altLang="en-US" dirty="0">
                <a:solidFill>
                  <a:schemeClr val="tx1"/>
                </a:solidFill>
              </a:rPr>
              <a:t>，表示精度</a:t>
            </a:r>
            <a:r>
              <a:rPr lang="zh-CN" altLang="en-US" dirty="0">
                <a:solidFill>
                  <a:srgbClr val="990099"/>
                </a:solidFill>
              </a:rPr>
              <a:t>＝</a:t>
            </a:r>
            <a:r>
              <a:rPr lang="en-US" altLang="zh-CN" dirty="0">
                <a:solidFill>
                  <a:srgbClr val="990099"/>
                </a:solidFill>
              </a:rPr>
              <a:t>24</a:t>
            </a:r>
            <a:r>
              <a:rPr lang="zh-CN" altLang="en-US" dirty="0" smtClean="0">
                <a:solidFill>
                  <a:srgbClr val="990099"/>
                </a:solidFill>
              </a:rPr>
              <a:t>位</a:t>
            </a:r>
            <a:endParaRPr lang="zh-CN" altLang="en-US" sz="1600" dirty="0">
              <a:solidFill>
                <a:srgbClr val="990099"/>
              </a:solidFill>
            </a:endParaRPr>
          </a:p>
        </p:txBody>
      </p:sp>
      <p:sp>
        <p:nvSpPr>
          <p:cNvPr id="246847" name="AutoShape 6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848" name="AutoShape 6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3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57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36"/>
    </mc:Choice>
    <mc:Fallback>
      <p:transition spd="slow" advTm="7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6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6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6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37" grpId="0"/>
      <p:bldP spid="24684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AC88-579C-4DBF-AD5A-B88C970C0D0F}" type="slidenum">
              <a:rPr lang="en-US" altLang="zh-CN"/>
            </a:fld>
            <a:endParaRPr lang="en-US" altLang="zh-CN"/>
          </a:p>
        </p:txBody>
      </p:sp>
      <p:sp>
        <p:nvSpPr>
          <p:cNvPr id="153639" name="Text Box 39"/>
          <p:cNvSpPr txBox="1">
            <a:spLocks noChangeArrowheads="1"/>
          </p:cNvSpPr>
          <p:nvPr/>
        </p:nvSpPr>
        <p:spPr bwMode="auto">
          <a:xfrm>
            <a:off x="179389" y="404664"/>
            <a:ext cx="6048796" cy="54014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表示</a:t>
            </a:r>
            <a:r>
              <a:rPr lang="zh-CN" altLang="en-US" dirty="0">
                <a:solidFill>
                  <a:srgbClr val="C00000"/>
                </a:solidFill>
              </a:rPr>
              <a:t>特征</a:t>
            </a:r>
            <a:r>
              <a:rPr lang="zh-CN" altLang="en-US" dirty="0" smtClean="0">
                <a:solidFill>
                  <a:srgbClr val="C00000"/>
                </a:solidFill>
              </a:rPr>
              <a:t>： 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以单精度格式为例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表示约定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21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表示特征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153816" name="Group 216"/>
          <p:cNvGraphicFramePr>
            <a:graphicFrameLocks noGrp="1"/>
          </p:cNvGraphicFramePr>
          <p:nvPr/>
        </p:nvGraphicFramePr>
        <p:xfrm>
          <a:off x="1187624" y="1428872"/>
          <a:ext cx="7344816" cy="2216152"/>
        </p:xfrm>
        <a:graphic>
          <a:graphicData uri="http://schemas.openxmlformats.org/drawingml/2006/table">
            <a:tbl>
              <a:tblPr/>
              <a:tblGrid>
                <a:gridCol w="2169357"/>
                <a:gridCol w="2921494"/>
                <a:gridCol w="2253965"/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格式参数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表示的真值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，且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±0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机器零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下溢区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，且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(-1)</a:t>
                      </a:r>
                      <a:r>
                        <a:rPr kumimoji="1" lang="en-US" altLang="zh-CN" sz="20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×2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-126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×0.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非规格化数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1≤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≤254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(-1)</a:t>
                      </a:r>
                      <a:r>
                        <a:rPr kumimoji="1" lang="en-US" altLang="zh-CN" sz="20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×2</a:t>
                      </a:r>
                      <a:r>
                        <a:rPr kumimoji="1" lang="en-US" altLang="zh-CN" sz="20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-127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×1.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规格化数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255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，且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(-1)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×∞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±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无穷大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上溢区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255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，且</a:t>
                      </a: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≠0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NaN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非数值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53784" name="Group 184"/>
          <p:cNvGrpSpPr/>
          <p:nvPr/>
        </p:nvGrpSpPr>
        <p:grpSpPr bwMode="auto">
          <a:xfrm>
            <a:off x="1188343" y="3717038"/>
            <a:ext cx="7488238" cy="1512890"/>
            <a:chOff x="522" y="2614"/>
            <a:chExt cx="4717" cy="953"/>
          </a:xfrm>
        </p:grpSpPr>
        <p:sp>
          <p:nvSpPr>
            <p:cNvPr id="153810" name="Text Box 210"/>
            <p:cNvSpPr txBox="1">
              <a:spLocks noChangeArrowheads="1"/>
            </p:cNvSpPr>
            <p:nvPr/>
          </p:nvSpPr>
          <p:spPr bwMode="auto">
            <a:xfrm>
              <a:off x="975" y="2614"/>
              <a:ext cx="635" cy="181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下溢区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53811" name="Text Box 211"/>
            <p:cNvSpPr txBox="1">
              <a:spLocks noChangeArrowheads="1"/>
            </p:cNvSpPr>
            <p:nvPr/>
          </p:nvSpPr>
          <p:spPr bwMode="auto">
            <a:xfrm>
              <a:off x="4831" y="2614"/>
              <a:ext cx="363" cy="363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正上溢区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53786" name="Text Box 186"/>
            <p:cNvSpPr txBox="1">
              <a:spLocks noChangeArrowheads="1"/>
            </p:cNvSpPr>
            <p:nvPr/>
          </p:nvSpPr>
          <p:spPr bwMode="auto">
            <a:xfrm>
              <a:off x="1655" y="2788"/>
              <a:ext cx="1443" cy="18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正非规格化数区域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87" name="Text Box 187"/>
            <p:cNvSpPr txBox="1">
              <a:spLocks noChangeArrowheads="1"/>
            </p:cNvSpPr>
            <p:nvPr/>
          </p:nvSpPr>
          <p:spPr bwMode="auto">
            <a:xfrm>
              <a:off x="975" y="2784"/>
              <a:ext cx="635" cy="18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机器零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88" name="Line 188"/>
            <p:cNvSpPr>
              <a:spLocks noChangeShapeType="1"/>
            </p:cNvSpPr>
            <p:nvPr/>
          </p:nvSpPr>
          <p:spPr bwMode="auto">
            <a:xfrm>
              <a:off x="1293" y="2977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9" name="Text Box 189"/>
            <p:cNvSpPr txBox="1">
              <a:spLocks noChangeArrowheads="1"/>
            </p:cNvSpPr>
            <p:nvPr/>
          </p:nvSpPr>
          <p:spPr bwMode="auto">
            <a:xfrm>
              <a:off x="1157" y="3059"/>
              <a:ext cx="272" cy="1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0.0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53790" name="Text Box 190"/>
            <p:cNvSpPr txBox="1">
              <a:spLocks noChangeArrowheads="1"/>
            </p:cNvSpPr>
            <p:nvPr/>
          </p:nvSpPr>
          <p:spPr bwMode="auto">
            <a:xfrm>
              <a:off x="1701" y="3386"/>
              <a:ext cx="1134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990099"/>
                  </a:solidFill>
                </a:rPr>
                <a:t>+0.0…01×2</a:t>
              </a:r>
              <a:r>
                <a:rPr lang="en-US" altLang="zh-CN" sz="2000" baseline="30000" dirty="0">
                  <a:solidFill>
                    <a:srgbClr val="990099"/>
                  </a:solidFill>
                </a:rPr>
                <a:t>-126</a:t>
              </a:r>
              <a:endParaRPr lang="en-US" altLang="zh-CN" sz="2000" baseline="30000" dirty="0">
                <a:solidFill>
                  <a:srgbClr val="990099"/>
                </a:solidFill>
              </a:endParaRPr>
            </a:p>
          </p:txBody>
        </p:sp>
        <p:sp>
          <p:nvSpPr>
            <p:cNvPr id="153791" name="Text Box 191"/>
            <p:cNvSpPr txBox="1">
              <a:spLocks noChangeArrowheads="1"/>
            </p:cNvSpPr>
            <p:nvPr/>
          </p:nvSpPr>
          <p:spPr bwMode="auto">
            <a:xfrm>
              <a:off x="2109" y="3158"/>
              <a:ext cx="1130" cy="17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990099"/>
                  </a:solidFill>
                </a:rPr>
                <a:t>+0.1…1×2</a:t>
              </a:r>
              <a:r>
                <a:rPr lang="en-US" altLang="zh-CN" sz="2000" baseline="30000" dirty="0">
                  <a:solidFill>
                    <a:srgbClr val="990099"/>
                  </a:solidFill>
                </a:rPr>
                <a:t>-126</a:t>
              </a:r>
              <a:endParaRPr lang="en-US" altLang="zh-CN" sz="2000" baseline="30000" dirty="0">
                <a:solidFill>
                  <a:srgbClr val="990099"/>
                </a:solidFill>
              </a:endParaRPr>
            </a:p>
          </p:txBody>
        </p:sp>
        <p:sp>
          <p:nvSpPr>
            <p:cNvPr id="153792" name="Text Box 192"/>
            <p:cNvSpPr txBox="1">
              <a:spLocks noChangeArrowheads="1"/>
            </p:cNvSpPr>
            <p:nvPr/>
          </p:nvSpPr>
          <p:spPr bwMode="auto">
            <a:xfrm>
              <a:off x="3198" y="3386"/>
              <a:ext cx="1121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+1.0…0×2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-126</a:t>
              </a:r>
              <a:endParaRPr lang="en-US" altLang="zh-CN" sz="2000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153793" name="Line 193"/>
            <p:cNvSpPr>
              <a:spLocks noChangeShapeType="1"/>
            </p:cNvSpPr>
            <p:nvPr/>
          </p:nvSpPr>
          <p:spPr bwMode="auto">
            <a:xfrm flipH="1">
              <a:off x="4831" y="2976"/>
              <a:ext cx="1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4" name="Text Box 194"/>
            <p:cNvSpPr txBox="1">
              <a:spLocks noChangeArrowheads="1"/>
            </p:cNvSpPr>
            <p:nvPr/>
          </p:nvSpPr>
          <p:spPr bwMode="auto">
            <a:xfrm>
              <a:off x="3152" y="2788"/>
              <a:ext cx="1679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正规格化数区域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95" name="Line 195"/>
            <p:cNvSpPr>
              <a:spLocks noChangeShapeType="1"/>
            </p:cNvSpPr>
            <p:nvPr/>
          </p:nvSpPr>
          <p:spPr bwMode="auto">
            <a:xfrm>
              <a:off x="4831" y="2614"/>
              <a:ext cx="0" cy="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6" name="Line 196"/>
            <p:cNvSpPr>
              <a:spLocks noChangeShapeType="1"/>
            </p:cNvSpPr>
            <p:nvPr/>
          </p:nvSpPr>
          <p:spPr bwMode="auto">
            <a:xfrm>
              <a:off x="3152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7" name="Text Box 197"/>
            <p:cNvSpPr txBox="1">
              <a:spLocks noChangeArrowheads="1"/>
            </p:cNvSpPr>
            <p:nvPr/>
          </p:nvSpPr>
          <p:spPr bwMode="auto">
            <a:xfrm>
              <a:off x="567" y="2796"/>
              <a:ext cx="363" cy="18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略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53798" name="Text Box 198"/>
            <p:cNvSpPr txBox="1">
              <a:spLocks noChangeArrowheads="1"/>
            </p:cNvSpPr>
            <p:nvPr/>
          </p:nvSpPr>
          <p:spPr bwMode="auto">
            <a:xfrm>
              <a:off x="3787" y="3158"/>
              <a:ext cx="1065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+1.1…1×2</a:t>
              </a:r>
              <a:r>
                <a:rPr lang="en-US" altLang="zh-CN" sz="2000" baseline="30000">
                  <a:solidFill>
                    <a:schemeClr val="tx1"/>
                  </a:solidFill>
                </a:rPr>
                <a:t>+127</a:t>
              </a:r>
              <a:endParaRPr lang="en-US" altLang="zh-CN" sz="2000" baseline="30000">
                <a:solidFill>
                  <a:schemeClr val="tx1"/>
                </a:solidFill>
              </a:endParaRPr>
            </a:p>
          </p:txBody>
        </p:sp>
        <p:sp>
          <p:nvSpPr>
            <p:cNvPr id="153799" name="Line 199"/>
            <p:cNvSpPr>
              <a:spLocks noChangeShapeType="1"/>
            </p:cNvSpPr>
            <p:nvPr/>
          </p:nvSpPr>
          <p:spPr bwMode="auto">
            <a:xfrm flipH="1">
              <a:off x="4422" y="3067"/>
              <a:ext cx="410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0" name="Line 200"/>
            <p:cNvSpPr>
              <a:spLocks noChangeShapeType="1"/>
            </p:cNvSpPr>
            <p:nvPr/>
          </p:nvSpPr>
          <p:spPr bwMode="auto">
            <a:xfrm flipH="1">
              <a:off x="3152" y="2976"/>
              <a:ext cx="1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1" name="Line 201"/>
            <p:cNvSpPr>
              <a:spLocks noChangeShapeType="1"/>
            </p:cNvSpPr>
            <p:nvPr/>
          </p:nvSpPr>
          <p:spPr bwMode="auto">
            <a:xfrm>
              <a:off x="3152" y="3067"/>
              <a:ext cx="316" cy="31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2" name="Line 202"/>
            <p:cNvSpPr>
              <a:spLocks noChangeShapeType="1"/>
            </p:cNvSpPr>
            <p:nvPr/>
          </p:nvSpPr>
          <p:spPr bwMode="auto">
            <a:xfrm>
              <a:off x="3107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3" name="Line 203"/>
            <p:cNvSpPr>
              <a:spLocks noChangeShapeType="1"/>
            </p:cNvSpPr>
            <p:nvPr/>
          </p:nvSpPr>
          <p:spPr bwMode="auto">
            <a:xfrm flipH="1">
              <a:off x="3108" y="2976"/>
              <a:ext cx="1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4" name="Line 204"/>
            <p:cNvSpPr>
              <a:spLocks noChangeShapeType="1"/>
            </p:cNvSpPr>
            <p:nvPr/>
          </p:nvSpPr>
          <p:spPr bwMode="auto">
            <a:xfrm flipH="1">
              <a:off x="2744" y="3067"/>
              <a:ext cx="365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5" name="Line 205"/>
            <p:cNvSpPr>
              <a:spLocks noChangeShapeType="1"/>
            </p:cNvSpPr>
            <p:nvPr/>
          </p:nvSpPr>
          <p:spPr bwMode="auto">
            <a:xfrm>
              <a:off x="1655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6" name="Line 206"/>
            <p:cNvSpPr>
              <a:spLocks noChangeShapeType="1"/>
            </p:cNvSpPr>
            <p:nvPr/>
          </p:nvSpPr>
          <p:spPr bwMode="auto">
            <a:xfrm flipH="1">
              <a:off x="1655" y="2976"/>
              <a:ext cx="0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7" name="Line 207"/>
            <p:cNvSpPr>
              <a:spLocks noChangeShapeType="1"/>
            </p:cNvSpPr>
            <p:nvPr/>
          </p:nvSpPr>
          <p:spPr bwMode="auto">
            <a:xfrm>
              <a:off x="1655" y="3067"/>
              <a:ext cx="318" cy="31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8" name="Line 208"/>
            <p:cNvSpPr>
              <a:spLocks noChangeShapeType="1"/>
            </p:cNvSpPr>
            <p:nvPr/>
          </p:nvSpPr>
          <p:spPr bwMode="auto">
            <a:xfrm>
              <a:off x="1610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9" name="Line 209"/>
            <p:cNvSpPr>
              <a:spLocks noChangeShapeType="1"/>
            </p:cNvSpPr>
            <p:nvPr/>
          </p:nvSpPr>
          <p:spPr bwMode="auto">
            <a:xfrm>
              <a:off x="975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2" name="Line 212"/>
            <p:cNvSpPr>
              <a:spLocks noChangeShapeType="1"/>
            </p:cNvSpPr>
            <p:nvPr/>
          </p:nvSpPr>
          <p:spPr bwMode="auto">
            <a:xfrm>
              <a:off x="929" y="2614"/>
              <a:ext cx="0" cy="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5" name="Line 185"/>
            <p:cNvSpPr>
              <a:spLocks noChangeShapeType="1"/>
            </p:cNvSpPr>
            <p:nvPr/>
          </p:nvSpPr>
          <p:spPr bwMode="auto">
            <a:xfrm>
              <a:off x="522" y="2976"/>
              <a:ext cx="47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813" name="AutoShape 2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2411760" y="5258583"/>
            <a:ext cx="5832351" cy="9787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zh-CN" altLang="en-US" dirty="0" smtClean="0">
                <a:solidFill>
                  <a:schemeClr val="tx1"/>
                </a:solidFill>
              </a:rPr>
              <a:t>可表示溢出区域，可减少下溢区大小，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0">
              <a:lnSpc>
                <a:spcPct val="115000"/>
              </a:lnSpc>
            </a:pPr>
            <a:r>
              <a:rPr lang="zh-CN" altLang="en-US" dirty="0">
                <a:solidFill>
                  <a:schemeClr val="tx1"/>
                </a:solidFill>
              </a:rPr>
              <a:t>可</a:t>
            </a:r>
            <a:r>
              <a:rPr lang="zh-CN" altLang="en-US" dirty="0" smtClean="0">
                <a:solidFill>
                  <a:schemeClr val="tx1"/>
                </a:solidFill>
              </a:rPr>
              <a:t>表示异常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如负数</a:t>
            </a:r>
            <a:r>
              <a:rPr lang="zh-CN" altLang="en-US" sz="2000" dirty="0">
                <a:solidFill>
                  <a:schemeClr val="tx1"/>
                </a:solidFill>
              </a:rPr>
              <a:t>开根等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96" name="Rectangle 20"/>
          <p:cNvSpPr>
            <a:spLocks noChangeArrowheads="1"/>
          </p:cNvSpPr>
          <p:nvPr/>
        </p:nvSpPr>
        <p:spPr bwMode="auto">
          <a:xfrm>
            <a:off x="179388" y="345551"/>
            <a:ext cx="8785225" cy="952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4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求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IEEE 754</a:t>
            </a:r>
            <a:r>
              <a:rPr lang="zh-CN" altLang="en-US" dirty="0" smtClean="0">
                <a:solidFill>
                  <a:schemeClr val="tx1"/>
                </a:solidFill>
              </a:rPr>
              <a:t>单精度浮点数的机器码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7E8D-0DDD-405A-A32D-EF011042ACD1}" type="slidenum">
              <a:rPr lang="en-US" altLang="zh-CN"/>
            </a:fld>
            <a:endParaRPr lang="en-US" altLang="zh-CN" dirty="0"/>
          </a:p>
        </p:txBody>
      </p:sp>
      <p:sp>
        <p:nvSpPr>
          <p:cNvPr id="126995" name="Rectangle 19"/>
          <p:cNvSpPr>
            <a:spLocks noChangeArrowheads="1"/>
          </p:cNvSpPr>
          <p:nvPr/>
        </p:nvSpPr>
        <p:spPr bwMode="auto">
          <a:xfrm>
            <a:off x="179388" y="2131527"/>
            <a:ext cx="8785225" cy="952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dirty="0">
                <a:solidFill>
                  <a:schemeClr val="tx1"/>
                </a:solidFill>
              </a:rPr>
              <a:t>单精度</a:t>
            </a:r>
            <a:r>
              <a:rPr lang="zh-CN" altLang="en-US" dirty="0" smtClean="0">
                <a:solidFill>
                  <a:schemeClr val="tx1"/>
                </a:solidFill>
              </a:rPr>
              <a:t>浮点数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CC968000H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zh-CN" altLang="en-US" dirty="0">
                <a:solidFill>
                  <a:schemeClr val="tx1"/>
                </a:solidFill>
              </a:rPr>
              <a:t>真值</a:t>
            </a:r>
            <a:r>
              <a:rPr lang="en-US" altLang="zh-CN" dirty="0" smtClean="0">
                <a:solidFill>
                  <a:schemeClr val="tx1"/>
                </a:solidFill>
              </a:rPr>
              <a:t>N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6997" name="Rectangle 21"/>
          <p:cNvSpPr>
            <a:spLocks noChangeArrowheads="1"/>
          </p:cNvSpPr>
          <p:nvPr/>
        </p:nvSpPr>
        <p:spPr bwMode="auto">
          <a:xfrm>
            <a:off x="1331515" y="790373"/>
            <a:ext cx="7633097" cy="14144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1011)</a:t>
            </a:r>
            <a:r>
              <a:rPr lang="en-US" altLang="zh-CN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-7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0.1011)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-3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zh-CN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(-</a:t>
            </a:r>
            <a:r>
              <a:rPr lang="en-US" altLang="zh-CN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.011)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-4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(-1.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011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123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-127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zh-CN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机器数为：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127092" name="Group 116"/>
          <p:cNvGrpSpPr/>
          <p:nvPr/>
        </p:nvGrpSpPr>
        <p:grpSpPr bwMode="auto">
          <a:xfrm>
            <a:off x="2988072" y="1800477"/>
            <a:ext cx="5040312" cy="323850"/>
            <a:chOff x="2019" y="1223"/>
            <a:chExt cx="3175" cy="204"/>
          </a:xfrm>
        </p:grpSpPr>
        <p:sp>
          <p:nvSpPr>
            <p:cNvPr id="127074" name="Text Box 98"/>
            <p:cNvSpPr txBox="1">
              <a:spLocks noChangeArrowheads="1"/>
            </p:cNvSpPr>
            <p:nvPr/>
          </p:nvSpPr>
          <p:spPr bwMode="auto">
            <a:xfrm>
              <a:off x="2019" y="1223"/>
              <a:ext cx="227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1 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/>
          </p:nvSpPr>
          <p:spPr bwMode="auto">
            <a:xfrm>
              <a:off x="2246" y="1223"/>
              <a:ext cx="771" cy="20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accent2"/>
                  </a:solidFill>
                </a:rPr>
                <a:t>0111</a:t>
              </a:r>
              <a:r>
                <a:rPr lang="en-US" altLang="zh-CN" sz="2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accent2"/>
                  </a:solidFill>
                </a:rPr>
                <a:t>1011</a:t>
              </a:r>
              <a:endParaRPr lang="en-US" altLang="zh-CN" sz="2000" i="1" dirty="0">
                <a:solidFill>
                  <a:schemeClr val="accent2"/>
                </a:solidFill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/>
          </p:nvSpPr>
          <p:spPr bwMode="auto">
            <a:xfrm>
              <a:off x="3016" y="1223"/>
              <a:ext cx="2178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990099"/>
                  </a:solidFill>
                </a:rPr>
                <a:t>011</a:t>
              </a:r>
              <a:r>
                <a:rPr lang="en-US" altLang="zh-CN" sz="2000" dirty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27079" name="Rectangle 103"/>
          <p:cNvSpPr>
            <a:spLocks noChangeArrowheads="1"/>
          </p:cNvSpPr>
          <p:nvPr/>
        </p:nvSpPr>
        <p:spPr bwMode="auto">
          <a:xfrm>
            <a:off x="1331640" y="2607958"/>
            <a:ext cx="7776864" cy="19011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sz="2200" dirty="0">
                <a:solidFill>
                  <a:schemeClr val="tx1"/>
                </a:solidFill>
              </a:rPr>
              <a:t>CC968000H</a:t>
            </a:r>
            <a:r>
              <a:rPr lang="zh-CN" altLang="en-US" sz="2200" spc="-20" dirty="0">
                <a:solidFill>
                  <a:schemeClr val="tx1"/>
                </a:solidFill>
              </a:rPr>
              <a:t>＝</a:t>
            </a:r>
            <a:r>
              <a:rPr lang="en-US" altLang="zh-CN" sz="2200" u="sng" spc="-20" dirty="0">
                <a:solidFill>
                  <a:srgbClr val="FF3399"/>
                </a:solidFill>
              </a:rPr>
              <a:t>1</a:t>
            </a:r>
            <a:r>
              <a:rPr lang="en-US" altLang="zh-CN" sz="2200" spc="-2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u="sng" spc="-20" dirty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sz="22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u="sng" spc="-20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00101101000000000000000</a:t>
            </a:r>
            <a:r>
              <a:rPr lang="zh-CN" alt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，规格化数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</a:rPr>
              <a:t>阶＝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rgbClr val="0070C0"/>
                </a:solidFill>
              </a:rPr>
              <a:t>10000000-1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00011010B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endParaRPr lang="en-US" altLang="zh-CN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</a:rPr>
              <a:t>尾数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00101101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1.17578125</a:t>
            </a:r>
            <a:endParaRPr lang="en-US" altLang="zh-CN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 smtClean="0">
                <a:solidFill>
                  <a:schemeClr val="tx1"/>
                </a:solidFill>
              </a:rPr>
              <a:t>∴N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(―1)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×1.17578125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</a:rPr>
              <a:t>1.17578125×2</a:t>
            </a:r>
            <a:r>
              <a:rPr lang="en-US" altLang="zh-CN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26</a:t>
            </a:r>
            <a:endParaRPr lang="en-US" altLang="zh-CN" baseline="30000" dirty="0">
              <a:solidFill>
                <a:schemeClr val="tx1"/>
              </a:solidFill>
            </a:endParaRPr>
          </a:p>
        </p:txBody>
      </p:sp>
      <p:sp>
        <p:nvSpPr>
          <p:cNvPr id="2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38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161"/>
          <p:cNvSpPr txBox="1">
            <a:spLocks noChangeArrowheads="1"/>
          </p:cNvSpPr>
          <p:nvPr/>
        </p:nvSpPr>
        <p:spPr bwMode="auto">
          <a:xfrm>
            <a:off x="683444" y="5949280"/>
            <a:ext cx="5472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 smtClean="0"/>
              <a:t>作业</a:t>
            </a:r>
            <a:r>
              <a:rPr lang="en-US" altLang="zh-CN" sz="2000" dirty="0" smtClean="0"/>
              <a:t>2-2</a:t>
            </a:r>
            <a:r>
              <a:rPr lang="zh-CN" altLang="en-US" sz="2000" dirty="0" smtClean="0"/>
              <a:t>：</a:t>
            </a:r>
            <a:r>
              <a:rPr lang="en-US" altLang="zh-CN" sz="2000" dirty="0" smtClean="0">
                <a:solidFill>
                  <a:schemeClr val="tx1"/>
                </a:solidFill>
              </a:rPr>
              <a:t>P86</a:t>
            </a:r>
            <a:r>
              <a:rPr lang="zh-CN" altLang="en-US" sz="2000" dirty="0" smtClean="0">
                <a:solidFill>
                  <a:schemeClr val="tx1"/>
                </a:solidFill>
              </a:rPr>
              <a:t>起</a:t>
            </a:r>
            <a:r>
              <a:rPr lang="en-US" altLang="zh-CN" sz="2000" dirty="0" smtClean="0">
                <a:solidFill>
                  <a:schemeClr val="tx1"/>
                </a:solidFill>
              </a:rPr>
              <a:t>10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14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15(2)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17(2)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18(1)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18" name="Text Box 106"/>
          <p:cNvSpPr txBox="1">
            <a:spLocks noChangeArrowheads="1"/>
          </p:cNvSpPr>
          <p:nvPr/>
        </p:nvSpPr>
        <p:spPr bwMode="auto">
          <a:xfrm>
            <a:off x="179388" y="4933617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 ※</a:t>
            </a:r>
            <a:r>
              <a:rPr lang="zh-CN" altLang="en-US" dirty="0" smtClean="0">
                <a:solidFill>
                  <a:srgbClr val="FF3399"/>
                </a:solidFill>
              </a:rPr>
              <a:t>数值数据的表示小结：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二</a:t>
            </a:r>
            <a:r>
              <a:rPr lang="zh-CN" altLang="en-US" u="sng" dirty="0" smtClean="0">
                <a:solidFill>
                  <a:schemeClr val="tx1"/>
                </a:solidFill>
              </a:rPr>
              <a:t>进制</a:t>
            </a:r>
            <a:r>
              <a:rPr lang="zh-CN" altLang="en-US" dirty="0" smtClean="0">
                <a:solidFill>
                  <a:schemeClr val="tx1"/>
                </a:solidFill>
              </a:rPr>
              <a:t>，定点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浮点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格式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，某种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两种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，几种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长度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79512" y="4425000"/>
            <a:ext cx="8136903" cy="554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写出</a:t>
            </a:r>
            <a:r>
              <a:rPr lang="en-US" altLang="zh-CN" dirty="0" smtClean="0">
                <a:solidFill>
                  <a:schemeClr val="tx1"/>
                </a:solidFill>
              </a:rPr>
              <a:t>-180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dirty="0">
                <a:solidFill>
                  <a:schemeClr val="tx1"/>
                </a:solidFill>
              </a:rPr>
              <a:t>单精度</a:t>
            </a:r>
            <a:r>
              <a:rPr lang="zh-CN" altLang="en-US" dirty="0" smtClean="0">
                <a:solidFill>
                  <a:schemeClr val="tx1"/>
                </a:solidFill>
              </a:rPr>
              <a:t>浮点数的机器码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AutoShape 29"/>
          <p:cNvSpPr/>
          <p:nvPr/>
        </p:nvSpPr>
        <p:spPr bwMode="auto">
          <a:xfrm>
            <a:off x="7740352" y="1016760"/>
            <a:ext cx="1152000" cy="252000"/>
          </a:xfrm>
          <a:prstGeom prst="borderCallout2">
            <a:avLst>
              <a:gd name="adj1" fmla="val 42290"/>
              <a:gd name="adj2" fmla="val -451"/>
              <a:gd name="adj3" fmla="val 42464"/>
              <a:gd name="adj4" fmla="val -14169"/>
              <a:gd name="adj5" fmla="val 131243"/>
              <a:gd name="adj6" fmla="val -45950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</a:rPr>
              <a:t>=[-4]</a:t>
            </a:r>
            <a:r>
              <a:rPr lang="zh-CN" altLang="en-US" sz="1800" b="1" baseline="-18000" dirty="0" smtClean="0">
                <a:solidFill>
                  <a:schemeClr val="tx1"/>
                </a:solidFill>
              </a:rPr>
              <a:t>移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-1</a:t>
            </a:r>
            <a:endParaRPr lang="en-US" altLang="zh-CN" sz="1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7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7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7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95" grpId="0"/>
      <p:bldP spid="126997" grpId="0"/>
      <p:bldP spid="17" grpId="0" bldLvl="0" animBg="1"/>
      <p:bldP spid="18" grpId="0"/>
      <p:bldP spid="19" grpId="0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79389" y="844838"/>
            <a:ext cx="8065168" cy="2362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逻辑</a:t>
            </a:r>
            <a:r>
              <a:rPr lang="zh-CN" altLang="en-US" dirty="0" smtClean="0">
                <a:solidFill>
                  <a:srgbClr val="FF3399"/>
                </a:solidFill>
              </a:rPr>
              <a:t>数的</a:t>
            </a:r>
            <a:r>
              <a:rPr lang="zh-CN" altLang="en-US" dirty="0">
                <a:solidFill>
                  <a:srgbClr val="FF3399"/>
                </a:solidFill>
              </a:rPr>
              <a:t>表示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数学特征：</a:t>
            </a:r>
            <a:r>
              <a:rPr lang="zh-CN" altLang="en-US" dirty="0" smtClean="0">
                <a:solidFill>
                  <a:schemeClr val="accent2"/>
                </a:solidFill>
              </a:rPr>
              <a:t>值域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en-US" altLang="zh-CN" dirty="0" smtClean="0">
                <a:solidFill>
                  <a:schemeClr val="tx1"/>
                </a:solidFill>
              </a:rPr>
              <a:t>{</a:t>
            </a:r>
            <a:r>
              <a:rPr lang="zh-CN" altLang="en-US" dirty="0" smtClean="0">
                <a:solidFill>
                  <a:schemeClr val="tx1"/>
                </a:solidFill>
              </a:rPr>
              <a:t>真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假</a:t>
            </a:r>
            <a:r>
              <a:rPr lang="en-US" altLang="zh-CN" dirty="0" smtClean="0">
                <a:solidFill>
                  <a:schemeClr val="tx1"/>
                </a:solidFill>
              </a:rPr>
              <a:t>}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dirty="0" smtClean="0">
                <a:solidFill>
                  <a:schemeClr val="accent2"/>
                </a:solidFill>
              </a:rPr>
              <a:t>运算</a:t>
            </a:r>
            <a:r>
              <a:rPr lang="zh-CN" altLang="en-US" dirty="0" smtClean="0">
                <a:solidFill>
                  <a:schemeClr val="tx1"/>
                </a:solidFill>
              </a:rPr>
              <a:t>为与</a:t>
            </a:r>
            <a:r>
              <a:rPr lang="en-US" altLang="zh-CN" dirty="0">
                <a:solidFill>
                  <a:schemeClr val="tx1"/>
                </a:solidFill>
              </a:rPr>
              <a:t>(AND)</a:t>
            </a:r>
            <a:r>
              <a:rPr lang="zh-CN" altLang="en-US" dirty="0">
                <a:solidFill>
                  <a:schemeClr val="tx1"/>
                </a:solidFill>
              </a:rPr>
              <a:t>、或</a:t>
            </a:r>
            <a:r>
              <a:rPr lang="en-US" altLang="zh-CN" dirty="0">
                <a:solidFill>
                  <a:schemeClr val="tx1"/>
                </a:solidFill>
              </a:rPr>
              <a:t>(OR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表示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endParaRPr lang="en-US" altLang="zh-CN" sz="1800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硬件支持</a:t>
            </a:r>
            <a:r>
              <a:rPr lang="zh-CN" altLang="en-US" dirty="0" smtClean="0">
                <a:solidFill>
                  <a:srgbClr val="C00000"/>
                </a:solidFill>
              </a:rPr>
              <a:t>的类型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179388" y="3140968"/>
            <a:ext cx="4284600" cy="27810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逻辑数的运算：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973580" indent="-1973580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与、或、非等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885950" indent="-1885950">
              <a:lnSpc>
                <a:spcPct val="114000"/>
              </a:lnSpc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 marL="1885950" indent="-1885950">
              <a:lnSpc>
                <a:spcPct val="114000"/>
              </a:lnSpc>
            </a:pPr>
            <a:endParaRPr lang="en-US" altLang="zh-CN" dirty="0">
              <a:solidFill>
                <a:srgbClr val="C00000"/>
              </a:solidFill>
            </a:endParaRPr>
          </a:p>
          <a:p>
            <a:pPr marL="1885950" indent="-1885950">
              <a:spcBef>
                <a:spcPts val="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运算实现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7504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5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四、非数值数据的表示</a:t>
            </a:r>
            <a:endParaRPr lang="zh-CN" altLang="en-US" sz="2400" dirty="0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987824" y="2636912"/>
            <a:ext cx="4248472" cy="5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lnSpc>
                <a:spcPct val="123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常有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多种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长度不同、各自＝整数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" name="Text Box 117"/>
          <p:cNvSpPr txBox="1">
            <a:spLocks noChangeArrowheads="1"/>
          </p:cNvSpPr>
          <p:nvPr/>
        </p:nvSpPr>
        <p:spPr bwMode="auto">
          <a:xfrm>
            <a:off x="1475740" y="4050030"/>
            <a:ext cx="756412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按</a:t>
            </a:r>
            <a:r>
              <a:rPr lang="zh-CN" altLang="en-US" dirty="0">
                <a:solidFill>
                  <a:srgbClr val="990099"/>
                </a:solidFill>
              </a:rPr>
              <a:t>位</a:t>
            </a:r>
            <a:r>
              <a:rPr lang="zh-CN" altLang="en-US" dirty="0">
                <a:solidFill>
                  <a:schemeClr val="tx1"/>
                </a:solidFill>
              </a:rPr>
              <a:t>运算    </a:t>
            </a:r>
            <a:r>
              <a:rPr lang="zh-CN" altLang="en-US" sz="2000" dirty="0">
                <a:solidFill>
                  <a:schemeClr val="tx1"/>
                </a:solidFill>
              </a:rPr>
              <a:t>如</a:t>
            </a:r>
            <a:r>
              <a:rPr lang="en-US" altLang="zh-CN" sz="2000" spc="-30" dirty="0">
                <a:solidFill>
                  <a:schemeClr val="tx1"/>
                </a:solidFill>
              </a:rPr>
              <a:t>C</a:t>
            </a:r>
            <a:r>
              <a:rPr lang="zh-CN" altLang="en-US" sz="2000" spc="-30" dirty="0">
                <a:solidFill>
                  <a:schemeClr val="tx1"/>
                </a:solidFill>
              </a:rPr>
              <a:t>语言中</a:t>
            </a:r>
            <a:r>
              <a:rPr lang="en-US" altLang="zh-CN" sz="2000" spc="-3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2000" spc="-30" dirty="0">
                <a:solidFill>
                  <a:schemeClr val="tx1"/>
                </a:solidFill>
              </a:rPr>
              <a:t>、</a:t>
            </a:r>
            <a:r>
              <a:rPr lang="en-US" altLang="zh-CN" sz="2000" spc="-30" dirty="0">
                <a:solidFill>
                  <a:schemeClr val="tx1"/>
                </a:solidFill>
              </a:rPr>
              <a:t>|</a:t>
            </a:r>
            <a:r>
              <a:rPr lang="zh-CN" altLang="en-US" sz="2000" spc="-30" dirty="0">
                <a:solidFill>
                  <a:schemeClr val="tx1"/>
                </a:solidFill>
              </a:rPr>
              <a:t>、</a:t>
            </a:r>
            <a:r>
              <a:rPr lang="en-US" altLang="zh-CN" sz="2000" spc="-30" dirty="0">
                <a:solidFill>
                  <a:schemeClr val="tx1"/>
                </a:solidFill>
              </a:rPr>
              <a:t>~</a:t>
            </a:r>
            <a:r>
              <a:rPr lang="zh-CN" altLang="en-US" sz="2000" spc="-30" dirty="0">
                <a:solidFill>
                  <a:schemeClr val="tx1"/>
                </a:solidFill>
              </a:rPr>
              <a:t>等，</a:t>
            </a:r>
            <a:r>
              <a:rPr lang="en-US" altLang="zh-CN" sz="2000" spc="-30" dirty="0">
                <a:solidFill>
                  <a:schemeClr val="tx1"/>
                </a:solidFill>
                <a:latin typeface="+mn-ea"/>
              </a:rPr>
              <a:t>05H|03H=07H</a:t>
            </a:r>
            <a:endParaRPr lang="en-US" altLang="zh-CN" sz="2000" spc="-3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zh-CN" altLang="en-US" sz="2000" dirty="0" smtClean="0">
                <a:solidFill>
                  <a:srgbClr val="990099"/>
                </a:solidFill>
              </a:rPr>
              <a:t>说明：</a:t>
            </a:r>
            <a:r>
              <a:rPr lang="en-US" altLang="zh-CN" sz="2000" dirty="0" smtClean="0">
                <a:solidFill>
                  <a:schemeClr val="tx1"/>
                </a:solidFill>
              </a:rPr>
              <a:t>C</a:t>
            </a:r>
            <a:r>
              <a:rPr lang="zh-CN" altLang="en-US" sz="2000" dirty="0">
                <a:solidFill>
                  <a:schemeClr val="tx1"/>
                </a:solidFill>
              </a:rPr>
              <a:t>语言</a:t>
            </a:r>
            <a:r>
              <a:rPr lang="zh-CN" altLang="en-US" sz="2000" dirty="0" smtClean="0">
                <a:solidFill>
                  <a:schemeClr val="tx1"/>
                </a:solidFill>
              </a:rPr>
              <a:t>中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&amp;&amp;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  <a:latin typeface="方正兰亭超细黑简体" pitchFamily="2" charset="-122"/>
                <a:ea typeface="方正兰亭超细黑简体" pitchFamily="2" charset="-122"/>
              </a:rPr>
              <a:t>‖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是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</a:rPr>
              <a:t>用</a:t>
            </a:r>
            <a:r>
              <a:rPr lang="zh-CN" altLang="en-US" sz="2000" u="sng" dirty="0" smtClean="0">
                <a:solidFill>
                  <a:schemeClr val="tx1"/>
                </a:solidFill>
                <a:latin typeface="+mn-ea"/>
              </a:rPr>
              <a:t>指令串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</a:rPr>
              <a:t>实现的，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如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=(</a:t>
            </a:r>
            <a:r>
              <a:rPr lang="en-US" altLang="zh-CN" sz="200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&gt;5 &amp;&amp;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j&lt;6)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编译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en-US" altLang="zh-CN" sz="2000" dirty="0" smtClean="0">
                <a:solidFill>
                  <a:srgbClr val="0070C0"/>
                </a:solidFill>
                <a:latin typeface="+mn-ea"/>
                <a:ea typeface="+mn-ea"/>
              </a:rPr>
              <a:t>if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i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&lt;=5)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a=0;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else if (j</a:t>
            </a:r>
            <a:r>
              <a:rPr lang="en-US" altLang="zh-CN" sz="2000" dirty="0" smtClean="0">
                <a:solidFill>
                  <a:srgbClr val="0070C0"/>
                </a:solidFill>
                <a:latin typeface="+mn-ea"/>
                <a:ea typeface="+mn-ea"/>
              </a:rPr>
              <a:t>&gt;=6)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a=0; </a:t>
            </a:r>
            <a:r>
              <a:rPr lang="en-US" altLang="zh-CN" sz="2000" dirty="0" smtClean="0">
                <a:solidFill>
                  <a:srgbClr val="0070C0"/>
                </a:solidFill>
                <a:latin typeface="+mn-ea"/>
                <a:ea typeface="+mn-ea"/>
              </a:rPr>
              <a:t>else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a=1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;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54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spc="-100" dirty="0" smtClean="0">
                <a:solidFill>
                  <a:schemeClr val="bg2"/>
                </a:solidFill>
                <a:latin typeface="+mn-ea"/>
                <a:ea typeface="+mn-ea"/>
              </a:rPr>
              <a:t>85</a:t>
            </a:r>
            <a:endParaRPr lang="zh-CN" altLang="en-US" sz="1600" u="none" spc="-1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2339752" y="5323306"/>
            <a:ext cx="662486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0">
            <a:spAutoFit/>
          </a:bodyPr>
          <a:lstStyle/>
          <a:p>
            <a:r>
              <a:rPr lang="zh-CN" altLang="en-US" u="sng" spc="-30" dirty="0" smtClean="0">
                <a:solidFill>
                  <a:srgbClr val="990099"/>
                </a:solidFill>
              </a:rPr>
              <a:t>复用</a:t>
            </a:r>
            <a:r>
              <a:rPr lang="zh-CN" altLang="en-US" spc="-30" dirty="0" smtClean="0">
                <a:solidFill>
                  <a:schemeClr val="tx1"/>
                </a:solidFill>
              </a:rPr>
              <a:t>整数运算部件</a:t>
            </a:r>
            <a:r>
              <a:rPr lang="en-US" altLang="zh-CN" sz="1800" spc="-3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30" dirty="0" smtClean="0">
                <a:solidFill>
                  <a:schemeClr val="tx1"/>
                </a:solidFill>
              </a:rPr>
              <a:t>输出端增设选择器</a:t>
            </a:r>
            <a:r>
              <a:rPr lang="en-US" altLang="zh-CN" sz="1800" spc="-30" dirty="0" smtClean="0">
                <a:solidFill>
                  <a:schemeClr val="tx1"/>
                </a:solidFill>
              </a:rPr>
              <a:t>)</a:t>
            </a:r>
            <a:endParaRPr lang="en-US" altLang="zh-CN" sz="1800" spc="-30" dirty="0" smtClean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2843808" y="2277096"/>
            <a:ext cx="864000" cy="187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43" name="组合 42"/>
          <p:cNvGrpSpPr/>
          <p:nvPr/>
        </p:nvGrpSpPr>
        <p:grpSpPr>
          <a:xfrm>
            <a:off x="2771849" y="5774586"/>
            <a:ext cx="3816000" cy="390718"/>
            <a:chOff x="2771848" y="5846562"/>
            <a:chExt cx="3816000" cy="390718"/>
          </a:xfrm>
        </p:grpSpPr>
        <p:sp>
          <p:nvSpPr>
            <p:cNvPr id="19" name="Text Box 267"/>
            <p:cNvSpPr txBox="1">
              <a:spLocks noChangeArrowheads="1"/>
            </p:cNvSpPr>
            <p:nvPr/>
          </p:nvSpPr>
          <p:spPr bwMode="auto">
            <a:xfrm>
              <a:off x="3203848" y="5949280"/>
              <a:ext cx="3384000" cy="28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FF3399"/>
              </a:solidFill>
              <a:prstDash val="solid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marL="2961005" indent="-2961005"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逻辑数常</a:t>
              </a:r>
              <a:r>
                <a:rPr lang="zh-CN" altLang="en-US" sz="1800" dirty="0" smtClean="0">
                  <a:solidFill>
                    <a:srgbClr val="990099"/>
                  </a:solidFill>
                </a:rPr>
                <a:t>隐含表示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含在</a:t>
              </a:r>
              <a:r>
                <a:rPr lang="zh-CN" altLang="en-US" sz="1800" u="sng" dirty="0" smtClean="0">
                  <a:solidFill>
                    <a:schemeClr val="tx1"/>
                  </a:solidFill>
                </a:rPr>
                <a:t>整数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中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2771848" y="5846562"/>
              <a:ext cx="432000" cy="252000"/>
            </a:xfrm>
            <a:prstGeom prst="bentConnector3">
              <a:avLst>
                <a:gd name="adj1" fmla="val -4478"/>
              </a:avLst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051597" y="1808674"/>
            <a:ext cx="6913016" cy="8432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二进制、</a:t>
            </a:r>
            <a:r>
              <a:rPr lang="zh-CN" altLang="en-US" u="sng" dirty="0" smtClean="0">
                <a:solidFill>
                  <a:srgbClr val="990099"/>
                </a:solidFill>
              </a:rPr>
              <a:t>向量</a:t>
            </a:r>
            <a:r>
              <a:rPr lang="zh-CN" altLang="en-US" u="sng" dirty="0" smtClean="0">
                <a:solidFill>
                  <a:schemeClr val="tx1"/>
                </a:solidFill>
              </a:rPr>
              <a:t>格式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zh-CN" altLang="en-US" dirty="0">
                <a:solidFill>
                  <a:schemeClr val="tx1"/>
                </a:solidFill>
              </a:rPr>
              <a:t>各个数</a:t>
            </a:r>
            <a:r>
              <a:rPr lang="zh-CN" altLang="en-US" u="sng" dirty="0">
                <a:solidFill>
                  <a:srgbClr val="990099"/>
                </a:solidFill>
              </a:rPr>
              <a:t>独立编码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逻辑编码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←提高</a:t>
            </a:r>
            <a:r>
              <a:rPr lang="zh-CN" altLang="en-US" sz="1800" dirty="0">
                <a:solidFill>
                  <a:schemeClr val="tx1"/>
                </a:solidFill>
              </a:rPr>
              <a:t>存储</a:t>
            </a:r>
            <a:r>
              <a:rPr lang="zh-CN" altLang="en-US" sz="1800" dirty="0" smtClean="0">
                <a:solidFill>
                  <a:schemeClr val="tx1"/>
                </a:solidFill>
              </a:rPr>
              <a:t>效率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236464" y="2348880"/>
            <a:ext cx="1512000" cy="506505"/>
            <a:chOff x="5472765" y="2204864"/>
            <a:chExt cx="1512000" cy="506505"/>
          </a:xfrm>
        </p:grpSpPr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>
              <a:off x="5509122" y="2204864"/>
              <a:ext cx="1475643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rIns="180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i="1" baseline="-18000" dirty="0" smtClean="0">
                  <a:solidFill>
                    <a:schemeClr val="tx1"/>
                  </a:solidFill>
                  <a:latin typeface="+mn-lt"/>
                </a:rPr>
                <a:t>m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-1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b</a:t>
              </a: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 Box 15"/>
            <p:cNvSpPr txBox="1">
              <a:spLocks noChangeArrowheads="1"/>
            </p:cNvSpPr>
            <p:nvPr/>
          </p:nvSpPr>
          <p:spPr bwMode="auto">
            <a:xfrm>
              <a:off x="5472765" y="2421781"/>
              <a:ext cx="1512000" cy="288000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L</a:t>
              </a:r>
              <a:r>
                <a:rPr lang="en-US" altLang="zh-CN" sz="1800" i="1" baseline="-18000" dirty="0" smtClean="0">
                  <a:solidFill>
                    <a:schemeClr val="tx1"/>
                  </a:solidFill>
                  <a:latin typeface="+mn-lt"/>
                </a:rPr>
                <a:t>m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-1 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</a:rPr>
                <a:t>…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L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i="1" dirty="0">
                  <a:solidFill>
                    <a:schemeClr val="tx1"/>
                  </a:solidFill>
                </a:rPr>
                <a:t>L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5935293" y="2423369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6336861" y="2423369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>
              <a:off x="6655373" y="2423369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6" name="直接箭头连接符 35"/>
          <p:cNvCxnSpPr/>
          <p:nvPr/>
        </p:nvCxnSpPr>
        <p:spPr bwMode="auto">
          <a:xfrm flipV="1">
            <a:off x="2771800" y="2996952"/>
            <a:ext cx="3384376" cy="2448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  <p:bldP spid="26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3068-5D80-43A5-B2B8-6C419445BC5B}" type="slidenum">
              <a:rPr lang="en-US" altLang="zh-CN"/>
            </a:fld>
            <a:endParaRPr lang="en-US" altLang="zh-CN"/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179388" y="325105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、字符的</a:t>
            </a:r>
            <a:r>
              <a:rPr lang="zh-CN" altLang="en-US" dirty="0">
                <a:solidFill>
                  <a:srgbClr val="FF3399"/>
                </a:solidFill>
              </a:rPr>
              <a:t>表示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指字符的</a:t>
            </a:r>
            <a:r>
              <a:rPr lang="zh-CN" altLang="en-US" u="sng" dirty="0" smtClean="0">
                <a:solidFill>
                  <a:schemeClr val="tx1"/>
                </a:solidFill>
              </a:rPr>
              <a:t>交换</a:t>
            </a:r>
            <a:r>
              <a:rPr lang="zh-CN" altLang="en-US" u="sng" dirty="0">
                <a:solidFill>
                  <a:schemeClr val="tx1"/>
                </a:solidFill>
              </a:rPr>
              <a:t>码</a:t>
            </a:r>
            <a:r>
              <a:rPr lang="zh-CN" altLang="en-US" dirty="0" smtClean="0">
                <a:solidFill>
                  <a:schemeClr val="tx1"/>
                </a:solidFill>
              </a:rPr>
              <a:t>在</a:t>
            </a:r>
            <a:r>
              <a:rPr lang="zh-CN" altLang="en-US" u="sng" dirty="0" smtClean="0">
                <a:solidFill>
                  <a:schemeClr val="accent2"/>
                </a:solidFill>
              </a:rPr>
              <a:t>存储</a:t>
            </a:r>
            <a:r>
              <a:rPr lang="en-US" altLang="zh-CN" u="sng" dirty="0" smtClean="0">
                <a:solidFill>
                  <a:schemeClr val="accent2"/>
                </a:solidFill>
              </a:rPr>
              <a:t>/</a:t>
            </a:r>
            <a:r>
              <a:rPr lang="zh-CN" altLang="en-US" u="sng" dirty="0" smtClean="0">
                <a:solidFill>
                  <a:schemeClr val="accent2"/>
                </a:solidFill>
              </a:rPr>
              <a:t>运算时</a:t>
            </a:r>
            <a:r>
              <a:rPr lang="zh-CN" altLang="en-US" dirty="0" smtClean="0">
                <a:solidFill>
                  <a:schemeClr val="tx1"/>
                </a:solidFill>
              </a:rPr>
              <a:t>的编码表示</a:t>
            </a:r>
            <a:r>
              <a:rPr lang="zh-CN" altLang="en-US" dirty="0">
                <a:solidFill>
                  <a:schemeClr val="tx1"/>
                </a:solidFill>
              </a:rPr>
              <a:t>，即</a:t>
            </a:r>
            <a:r>
              <a:rPr lang="zh-CN" altLang="en-US" dirty="0" smtClean="0">
                <a:solidFill>
                  <a:schemeClr val="tx1"/>
                </a:solidFill>
              </a:rPr>
              <a:t>字符的</a:t>
            </a:r>
            <a:r>
              <a:rPr lang="zh-CN" altLang="en-US" u="sng" dirty="0" smtClean="0">
                <a:solidFill>
                  <a:srgbClr val="990099"/>
                </a:solidFill>
              </a:rPr>
              <a:t>内码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1987" name="Text Box 83"/>
          <p:cNvSpPr txBox="1">
            <a:spLocks noChangeArrowheads="1"/>
          </p:cNvSpPr>
          <p:nvPr/>
        </p:nvSpPr>
        <p:spPr bwMode="auto">
          <a:xfrm>
            <a:off x="179389" y="1268760"/>
            <a:ext cx="3816548" cy="10926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表示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硬件支持</a:t>
            </a:r>
            <a:r>
              <a:rPr lang="zh-CN" altLang="en-US" dirty="0" smtClean="0">
                <a:solidFill>
                  <a:srgbClr val="C00000"/>
                </a:solidFill>
              </a:rPr>
              <a:t>的类型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2987824" y="1808674"/>
            <a:ext cx="6156176" cy="1191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常有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几种字符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，每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种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字符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长度固定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仅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种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b="0" dirty="0" smtClean="0">
                <a:solidFill>
                  <a:schemeClr val="tx1"/>
                </a:solidFill>
                <a:latin typeface="+mn-ea"/>
              </a:rPr>
              <a:t>│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                    </a:t>
            </a:r>
            <a:r>
              <a:rPr lang="zh-CN" altLang="en-US" sz="1800" b="0" dirty="0" smtClean="0">
                <a:solidFill>
                  <a:schemeClr val="tx1"/>
                </a:solidFill>
                <a:latin typeface="+mn-ea"/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1800" i="1" dirty="0" smtClean="0">
                <a:solidFill>
                  <a:schemeClr val="tx1"/>
                </a:solidFill>
                <a:latin typeface="+mn-lt"/>
              </a:rPr>
              <a:t>m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i="1" dirty="0" err="1" smtClean="0">
                <a:solidFill>
                  <a:schemeClr val="tx1"/>
                </a:solidFill>
                <a:latin typeface="+mn-lt"/>
              </a:rPr>
              <a:t>k</a:t>
            </a:r>
            <a:r>
              <a:rPr lang="en-US" altLang="zh-CN" sz="1800" dirty="0" err="1" smtClean="0">
                <a:solidFill>
                  <a:schemeClr val="tx1"/>
                </a:solidFill>
                <a:sym typeface="Symbol" panose="05050102010706020507"/>
              </a:rPr>
              <a:t>×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MEM</a:t>
            </a:r>
            <a:r>
              <a:rPr lang="zh-CN" altLang="en-US" sz="1800" dirty="0">
                <a:solidFill>
                  <a:schemeClr val="tx1"/>
                </a:solidFill>
              </a:rPr>
              <a:t>单元</a:t>
            </a:r>
            <a:r>
              <a:rPr lang="zh-CN" altLang="en-US" sz="1800" dirty="0" smtClean="0">
                <a:solidFill>
                  <a:schemeClr val="tx1"/>
                </a:solidFill>
              </a:rPr>
              <a:t>长度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zh-CN" sz="1800" dirty="0" smtClean="0">
              <a:solidFill>
                <a:schemeClr val="tx1"/>
              </a:solidFill>
              <a:latin typeface="+mn-ea"/>
            </a:endParaRPr>
          </a:p>
          <a:p>
            <a:pPr marL="1973580" indent="-1973580"/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1800" b="0" dirty="0" smtClean="0">
                <a:solidFill>
                  <a:schemeClr val="tx1"/>
                </a:solidFill>
                <a:latin typeface="+mn-ea"/>
                <a:ea typeface="+mn-ea"/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←可用</a:t>
            </a:r>
            <a:r>
              <a:rPr lang="zh-CN" altLang="en-US" sz="1800" u="sng" dirty="0" smtClean="0">
                <a:solidFill>
                  <a:schemeClr val="tx1"/>
                </a:solidFill>
                <a:latin typeface="+mn-ea"/>
                <a:ea typeface="+mn-ea"/>
              </a:rPr>
              <a:t>扩展位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zh-CN" altLang="en-US" sz="1800" u="sng" dirty="0" smtClean="0">
                <a:solidFill>
                  <a:schemeClr val="tx1"/>
                </a:solidFill>
                <a:latin typeface="+mn-ea"/>
                <a:ea typeface="+mn-ea"/>
              </a:rPr>
              <a:t>环境变量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标识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99592" y="2340000"/>
            <a:ext cx="2737098" cy="984113"/>
            <a:chOff x="4211167" y="1738429"/>
            <a:chExt cx="2737098" cy="984113"/>
          </a:xfrm>
        </p:grpSpPr>
        <p:sp>
          <p:nvSpPr>
            <p:cNvPr id="32" name="Text Box 100"/>
            <p:cNvSpPr txBox="1">
              <a:spLocks noChangeArrowheads="1"/>
            </p:cNvSpPr>
            <p:nvPr/>
          </p:nvSpPr>
          <p:spPr bwMode="auto">
            <a:xfrm>
              <a:off x="6012160" y="188244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>
              <a:defPPr>
                <a:defRPr lang="zh-CN"/>
              </a:defPPr>
              <a:lvl1pPr>
                <a:lnSpc>
                  <a:spcPct val="80000"/>
                </a:lnSpc>
                <a:defRPr sz="2000" i="1">
                  <a:solidFill>
                    <a:schemeClr val="tx1"/>
                  </a:solidFill>
                  <a:latin typeface="+mn-lt"/>
                </a:defRPr>
              </a:lvl1pPr>
            </a:lstStyle>
            <a:p>
              <a:pPr>
                <a:lnSpc>
                  <a:spcPct val="90000"/>
                </a:lnSpc>
              </a:pPr>
              <a:r>
                <a:rPr lang="en-US" altLang="zh-CN" b="0" dirty="0"/>
                <a:t>n</a:t>
              </a:r>
              <a:endParaRPr lang="en-US" altLang="zh-CN" b="0" dirty="0"/>
            </a:p>
          </p:txBody>
        </p:sp>
        <p:sp>
          <p:nvSpPr>
            <p:cNvPr id="33" name="Text Box 101"/>
            <p:cNvSpPr txBox="1">
              <a:spLocks noChangeArrowheads="1"/>
            </p:cNvSpPr>
            <p:nvPr/>
          </p:nvSpPr>
          <p:spPr bwMode="auto">
            <a:xfrm>
              <a:off x="5148238" y="2098271"/>
              <a:ext cx="180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i="1" baseline="-18000" dirty="0" smtClean="0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-1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i="1" baseline="-18000" dirty="0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-2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… 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4" name="Line 102"/>
            <p:cNvSpPr>
              <a:spLocks noChangeShapeType="1"/>
            </p:cNvSpPr>
            <p:nvPr/>
          </p:nvSpPr>
          <p:spPr bwMode="auto">
            <a:xfrm>
              <a:off x="5147444" y="1933548"/>
              <a:ext cx="793" cy="1439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Line 103"/>
            <p:cNvSpPr>
              <a:spLocks noChangeShapeType="1"/>
            </p:cNvSpPr>
            <p:nvPr/>
          </p:nvSpPr>
          <p:spPr bwMode="auto">
            <a:xfrm flipH="1">
              <a:off x="6948264" y="1738429"/>
              <a:ext cx="1" cy="3598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Line 104"/>
            <p:cNvSpPr>
              <a:spLocks noChangeShapeType="1"/>
            </p:cNvSpPr>
            <p:nvPr/>
          </p:nvSpPr>
          <p:spPr bwMode="auto">
            <a:xfrm flipH="1" flipV="1">
              <a:off x="5148237" y="1999150"/>
              <a:ext cx="79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Line 105"/>
            <p:cNvSpPr>
              <a:spLocks noChangeShapeType="1"/>
            </p:cNvSpPr>
            <p:nvPr/>
          </p:nvSpPr>
          <p:spPr bwMode="auto">
            <a:xfrm>
              <a:off x="6228264" y="1998629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 Box 106"/>
            <p:cNvSpPr txBox="1">
              <a:spLocks noChangeArrowheads="1"/>
            </p:cNvSpPr>
            <p:nvPr/>
          </p:nvSpPr>
          <p:spPr bwMode="auto">
            <a:xfrm>
              <a:off x="4212064" y="2098271"/>
              <a:ext cx="936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K</a:t>
              </a:r>
              <a:r>
                <a:rPr lang="en-US" altLang="zh-CN" sz="1800" i="1" baseline="-18000" dirty="0" smtClean="0">
                  <a:solidFill>
                    <a:schemeClr val="tx1"/>
                  </a:solidFill>
                  <a:latin typeface="+mn-lt"/>
                </a:rPr>
                <a:t>p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-1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i="1" dirty="0">
                  <a:solidFill>
                    <a:schemeClr val="tx1"/>
                  </a:solidFill>
                </a:rPr>
                <a:t>K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107"/>
            <p:cNvSpPr>
              <a:spLocks noChangeShapeType="1"/>
            </p:cNvSpPr>
            <p:nvPr/>
          </p:nvSpPr>
          <p:spPr bwMode="auto">
            <a:xfrm>
              <a:off x="4211167" y="1738429"/>
              <a:ext cx="793" cy="3598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AutoShape 111"/>
            <p:cNvSpPr/>
            <p:nvPr/>
          </p:nvSpPr>
          <p:spPr bwMode="auto">
            <a:xfrm rot="16200000">
              <a:off x="6012124" y="1536114"/>
              <a:ext cx="72230" cy="1800000"/>
            </a:xfrm>
            <a:prstGeom prst="leftBrace">
              <a:avLst>
                <a:gd name="adj1" fmla="val 28574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AutoShape 112"/>
            <p:cNvSpPr/>
            <p:nvPr/>
          </p:nvSpPr>
          <p:spPr bwMode="auto">
            <a:xfrm rot="16200000">
              <a:off x="4644344" y="1968512"/>
              <a:ext cx="71438" cy="936000"/>
            </a:xfrm>
            <a:prstGeom prst="leftBrace">
              <a:avLst>
                <a:gd name="adj1" fmla="val 12592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113"/>
            <p:cNvSpPr txBox="1">
              <a:spLocks noChangeArrowheads="1"/>
            </p:cNvSpPr>
            <p:nvPr/>
          </p:nvSpPr>
          <p:spPr bwMode="auto">
            <a:xfrm>
              <a:off x="4355976" y="2506642"/>
              <a:ext cx="2592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扩展位      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交换</a:t>
              </a:r>
              <a:r>
                <a:rPr lang="zh-CN" altLang="en-US" sz="1800" dirty="0">
                  <a:solidFill>
                    <a:schemeClr val="tx1"/>
                  </a:solidFill>
                </a:rPr>
                <a:t>码</a:t>
              </a:r>
              <a:endParaRPr lang="zh-CN" altLang="en-US" sz="18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46" name="Text Box 114"/>
            <p:cNvSpPr txBox="1">
              <a:spLocks noChangeArrowheads="1"/>
            </p:cNvSpPr>
            <p:nvPr/>
          </p:nvSpPr>
          <p:spPr bwMode="auto">
            <a:xfrm>
              <a:off x="5508228" y="1738429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0" i="1" dirty="0" smtClean="0">
                  <a:solidFill>
                    <a:schemeClr val="tx1"/>
                  </a:solidFill>
                  <a:latin typeface="+mn-lt"/>
                </a:rPr>
                <a:t>m</a:t>
              </a:r>
              <a:endParaRPr lang="en-US" altLang="zh-CN" sz="2000" b="0" i="1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Line 115"/>
            <p:cNvSpPr>
              <a:spLocks noChangeShapeType="1"/>
            </p:cNvSpPr>
            <p:nvPr/>
          </p:nvSpPr>
          <p:spPr bwMode="auto">
            <a:xfrm>
              <a:off x="5760264" y="1851875"/>
              <a:ext cx="11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Line 116"/>
            <p:cNvSpPr>
              <a:spLocks noChangeShapeType="1"/>
            </p:cNvSpPr>
            <p:nvPr/>
          </p:nvSpPr>
          <p:spPr bwMode="auto">
            <a:xfrm flipH="1">
              <a:off x="4211960" y="1846379"/>
              <a:ext cx="12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051720" y="1282297"/>
            <a:ext cx="684088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二进制、定点格式、无符号编码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8" name="Text Box 117"/>
          <p:cNvSpPr txBox="1">
            <a:spLocks noChangeArrowheads="1"/>
          </p:cNvSpPr>
          <p:nvPr/>
        </p:nvSpPr>
        <p:spPr bwMode="auto">
          <a:xfrm>
            <a:off x="179388" y="3307303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示例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 smtClean="0">
                <a:solidFill>
                  <a:schemeClr val="tx1"/>
                </a:solidFill>
              </a:rPr>
              <a:t>常见的字符表示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假设</a:t>
            </a:r>
            <a:r>
              <a:rPr lang="en-US" altLang="zh-CN" sz="2000" dirty="0" smtClean="0">
                <a:solidFill>
                  <a:schemeClr val="tx1"/>
                </a:solidFill>
              </a:rPr>
              <a:t>MEM</a:t>
            </a:r>
            <a:r>
              <a:rPr lang="zh-CN" altLang="en-US" sz="2000" dirty="0" smtClean="0">
                <a:solidFill>
                  <a:schemeClr val="tx1"/>
                </a:solidFill>
              </a:rPr>
              <a:t>按字节编址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9" name="Group 235"/>
          <p:cNvGraphicFramePr>
            <a:graphicFrameLocks noGrp="1"/>
          </p:cNvGraphicFramePr>
          <p:nvPr/>
        </p:nvGraphicFramePr>
        <p:xfrm>
          <a:off x="1259632" y="3861301"/>
          <a:ext cx="7416824" cy="1379590"/>
        </p:xfrm>
        <a:graphic>
          <a:graphicData uri="http://schemas.openxmlformats.org/drawingml/2006/table">
            <a:tbl>
              <a:tblPr/>
              <a:tblGrid>
                <a:gridCol w="1584176"/>
                <a:gridCol w="1440160"/>
                <a:gridCol w="3168352"/>
                <a:gridCol w="1224136"/>
              </a:tblGrid>
              <a:tr h="357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字符集种类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交换码长度</a:t>
                      </a:r>
                      <a:endParaRPr kumimoji="1" lang="zh-CN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内码长度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占单元数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 7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GB2312-80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=14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+2 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Unicode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2B(UTF16)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1B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6B(UTF-8)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Text Box 117"/>
          <p:cNvSpPr txBox="1">
            <a:spLocks noChangeArrowheads="1"/>
          </p:cNvSpPr>
          <p:nvPr/>
        </p:nvSpPr>
        <p:spPr bwMode="auto">
          <a:xfrm>
            <a:off x="179512" y="5301461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示例</a:t>
            </a:r>
            <a:r>
              <a:rPr lang="en-US" altLang="zh-CN" dirty="0" smtClean="0">
                <a:solidFill>
                  <a:srgbClr val="990099"/>
                </a:solidFill>
              </a:rPr>
              <a:t>2—</a:t>
            </a:r>
            <a:r>
              <a:rPr lang="zh-CN" altLang="en-US" dirty="0" smtClean="0">
                <a:solidFill>
                  <a:srgbClr val="0070C0"/>
                </a:solidFill>
              </a:rPr>
              <a:t>同时支持</a:t>
            </a:r>
            <a:r>
              <a:rPr lang="en-US" altLang="zh-CN" dirty="0" smtClean="0">
                <a:solidFill>
                  <a:schemeClr val="tx1"/>
                </a:solidFill>
              </a:rPr>
              <a:t>ASCII</a:t>
            </a:r>
            <a:r>
              <a:rPr lang="zh-CN" altLang="en-US" dirty="0" smtClean="0">
                <a:solidFill>
                  <a:schemeClr val="tx1"/>
                </a:solidFill>
              </a:rPr>
              <a:t>及汉字的字符表示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←无二义性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75880" y="5805517"/>
            <a:ext cx="6912544" cy="360032"/>
            <a:chOff x="1331864" y="5805264"/>
            <a:chExt cx="6912544" cy="360032"/>
          </a:xfrm>
        </p:grpSpPr>
        <p:sp>
          <p:nvSpPr>
            <p:cNvPr id="42" name="Text Box 101"/>
            <p:cNvSpPr txBox="1">
              <a:spLocks noChangeArrowheads="1"/>
            </p:cNvSpPr>
            <p:nvPr/>
          </p:nvSpPr>
          <p:spPr bwMode="auto">
            <a:xfrm>
              <a:off x="6300418" y="5805296"/>
              <a:ext cx="864000" cy="36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13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7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0" name="Text Box 106"/>
            <p:cNvSpPr txBox="1">
              <a:spLocks noChangeArrowheads="1"/>
            </p:cNvSpPr>
            <p:nvPr/>
          </p:nvSpPr>
          <p:spPr bwMode="auto">
            <a:xfrm>
              <a:off x="6084524" y="5805296"/>
              <a:ext cx="216000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 Box 101"/>
            <p:cNvSpPr txBox="1">
              <a:spLocks noChangeArrowheads="1"/>
            </p:cNvSpPr>
            <p:nvPr/>
          </p:nvSpPr>
          <p:spPr bwMode="auto">
            <a:xfrm>
              <a:off x="7380408" y="5805264"/>
              <a:ext cx="864000" cy="36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3" name="Text Box 106"/>
            <p:cNvSpPr txBox="1">
              <a:spLocks noChangeArrowheads="1"/>
            </p:cNvSpPr>
            <p:nvPr/>
          </p:nvSpPr>
          <p:spPr bwMode="auto">
            <a:xfrm>
              <a:off x="7164514" y="5805264"/>
              <a:ext cx="216000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4" name="Text Box 101"/>
            <p:cNvSpPr txBox="1">
              <a:spLocks noChangeArrowheads="1"/>
            </p:cNvSpPr>
            <p:nvPr/>
          </p:nvSpPr>
          <p:spPr bwMode="auto">
            <a:xfrm>
              <a:off x="3563758" y="5805264"/>
              <a:ext cx="864000" cy="36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1800" i="1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 Box 106"/>
            <p:cNvSpPr txBox="1">
              <a:spLocks noChangeArrowheads="1"/>
            </p:cNvSpPr>
            <p:nvPr/>
          </p:nvSpPr>
          <p:spPr bwMode="auto">
            <a:xfrm>
              <a:off x="3347864" y="5805264"/>
              <a:ext cx="216000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6" name="Text Box 114"/>
            <p:cNvSpPr txBox="1">
              <a:spLocks noChangeArrowheads="1"/>
            </p:cNvSpPr>
            <p:nvPr/>
          </p:nvSpPr>
          <p:spPr bwMode="auto">
            <a:xfrm>
              <a:off x="1331864" y="5805264"/>
              <a:ext cx="2016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</a:rPr>
                <a:t>ASCII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+mn-ea"/>
                  <a:ea typeface="+mn-ea"/>
                </a:rPr>
                <a:t>字符的表示：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7" name="Text Box 114"/>
            <p:cNvSpPr txBox="1">
              <a:spLocks noChangeArrowheads="1"/>
            </p:cNvSpPr>
            <p:nvPr/>
          </p:nvSpPr>
          <p:spPr bwMode="auto">
            <a:xfrm>
              <a:off x="4644008" y="5805264"/>
              <a:ext cx="1440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  <a:latin typeface="+mn-ea"/>
                  <a:ea typeface="+mn-ea"/>
                </a:rPr>
                <a:t>汉字的表示：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" name="左大括号 3"/>
          <p:cNvSpPr/>
          <p:nvPr/>
        </p:nvSpPr>
        <p:spPr bwMode="auto">
          <a:xfrm>
            <a:off x="1187623" y="4293349"/>
            <a:ext cx="72000" cy="504056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bldLvl="0" animBg="1"/>
      <p:bldP spid="30" grpId="0" bldLvl="0" animBg="1"/>
      <p:bldP spid="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14" name="AutoShape 86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179388" y="367496"/>
            <a:ext cx="8785225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字符的运算：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关系运算</a:t>
            </a:r>
            <a:r>
              <a:rPr lang="en-US" altLang="zh-CN" sz="2000" dirty="0" smtClean="0">
                <a:solidFill>
                  <a:schemeClr val="tx1"/>
                </a:solidFill>
              </a:rPr>
              <a:t>(A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A≥B</a:t>
            </a:r>
            <a:r>
              <a:rPr lang="zh-CN" altLang="en-US" sz="2000" dirty="0" smtClean="0">
                <a:solidFill>
                  <a:schemeClr val="tx1"/>
                </a:solidFill>
              </a:rPr>
              <a:t>等</a:t>
            </a:r>
            <a:r>
              <a:rPr lang="en-US" altLang="zh-CN" sz="2000" dirty="0" smtClean="0">
                <a:solidFill>
                  <a:schemeClr val="tx1"/>
                </a:solidFill>
              </a:rPr>
              <a:t>)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←结果为</a:t>
            </a:r>
            <a:r>
              <a:rPr lang="zh-CN" altLang="en-US" sz="1800" dirty="0">
                <a:solidFill>
                  <a:schemeClr val="tx1"/>
                </a:solidFill>
              </a:rPr>
              <a:t>布尔</a:t>
            </a:r>
            <a:r>
              <a:rPr lang="zh-CN" altLang="en-US" sz="1800" dirty="0" smtClean="0">
                <a:solidFill>
                  <a:schemeClr val="tx1"/>
                </a:solidFill>
              </a:rPr>
              <a:t>值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真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假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运算实现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sz="2200" dirty="0">
                <a:solidFill>
                  <a:srgbClr val="990099"/>
                </a:solidFill>
              </a:rPr>
              <a:t> </a:t>
            </a:r>
            <a:r>
              <a:rPr lang="en-US" altLang="zh-CN" sz="2200" dirty="0" smtClean="0">
                <a:solidFill>
                  <a:srgbClr val="990099"/>
                </a:solidFill>
              </a:rPr>
              <a:t>                   </a:t>
            </a:r>
            <a:r>
              <a:rPr lang="zh-CN" altLang="en-US" sz="2200" dirty="0" smtClean="0">
                <a:solidFill>
                  <a:srgbClr val="990099"/>
                </a:solidFill>
              </a:rPr>
              <a:t>所需标志：</a:t>
            </a:r>
            <a:endParaRPr lang="en-US" altLang="zh-CN" sz="2200" dirty="0" smtClean="0">
              <a:solidFill>
                <a:srgbClr val="990099"/>
              </a:solidFill>
            </a:endParaRP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2411759" y="1268760"/>
            <a:ext cx="6552978" cy="2286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先</a:t>
            </a:r>
            <a:r>
              <a:rPr lang="zh-CN" altLang="en-US" u="sng" dirty="0" smtClean="0">
                <a:solidFill>
                  <a:srgbClr val="990099"/>
                </a:solidFill>
              </a:rPr>
              <a:t>比较</a:t>
            </a:r>
            <a:r>
              <a:rPr lang="zh-CN" altLang="en-US" dirty="0" smtClean="0">
                <a:solidFill>
                  <a:schemeClr val="tx1"/>
                </a:solidFill>
              </a:rPr>
              <a:t>大小、再</a:t>
            </a:r>
            <a:r>
              <a:rPr lang="zh-CN" altLang="en-US" u="sng" dirty="0" smtClean="0">
                <a:solidFill>
                  <a:srgbClr val="990099"/>
                </a:solidFill>
              </a:rPr>
              <a:t>形成</a:t>
            </a:r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①通过</a:t>
            </a:r>
            <a:r>
              <a:rPr lang="zh-CN" altLang="en-US" u="sng" dirty="0">
                <a:solidFill>
                  <a:srgbClr val="0070C0"/>
                </a:solidFill>
              </a:rPr>
              <a:t>减法</a:t>
            </a:r>
            <a:r>
              <a:rPr lang="zh-CN" altLang="en-US" u="sng" dirty="0" smtClean="0">
                <a:solidFill>
                  <a:srgbClr val="0070C0"/>
                </a:solidFill>
              </a:rPr>
              <a:t>运算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无符号减法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u="sng" dirty="0">
                <a:solidFill>
                  <a:srgbClr val="990099"/>
                </a:solidFill>
              </a:rPr>
              <a:t>产生</a:t>
            </a:r>
            <a:r>
              <a:rPr lang="zh-CN" altLang="en-US" dirty="0">
                <a:solidFill>
                  <a:schemeClr val="tx1"/>
                </a:solidFill>
              </a:rPr>
              <a:t>结果标志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Flag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rgbClr val="990099"/>
                </a:solidFill>
              </a:rPr>
              <a:t>              </a:t>
            </a:r>
            <a:r>
              <a:rPr lang="en-US" altLang="zh-CN" sz="2200" dirty="0" smtClean="0">
                <a:solidFill>
                  <a:srgbClr val="C00000"/>
                </a:solidFill>
              </a:rPr>
              <a:t>ZF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结果</a:t>
            </a:r>
            <a:r>
              <a:rPr lang="zh-CN" altLang="en-US" sz="2200" u="sng" dirty="0">
                <a:solidFill>
                  <a:schemeClr val="tx1"/>
                </a:solidFill>
              </a:rPr>
              <a:t>为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零</a:t>
            </a:r>
            <a:r>
              <a:rPr lang="zh-CN" altLang="en-US" sz="2200" dirty="0" smtClean="0">
                <a:solidFill>
                  <a:schemeClr val="tx1"/>
                </a:solidFill>
              </a:rPr>
              <a:t>时＝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chemeClr val="tx1"/>
                </a:solidFill>
              </a:rPr>
              <a:t>否则＝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200" dirty="0">
                <a:solidFill>
                  <a:srgbClr val="990099"/>
                </a:solidFill>
              </a:rPr>
              <a:t>              </a:t>
            </a:r>
            <a:r>
              <a:rPr lang="en-US" altLang="zh-CN" sz="2200" dirty="0" smtClean="0">
                <a:solidFill>
                  <a:srgbClr val="C00000"/>
                </a:solidFill>
              </a:rPr>
              <a:t>CF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结果</a:t>
            </a:r>
            <a:r>
              <a:rPr lang="zh-CN" altLang="en-US" sz="2200" u="sng" dirty="0">
                <a:solidFill>
                  <a:schemeClr val="tx1"/>
                </a:solidFill>
              </a:rPr>
              <a:t>有借位</a:t>
            </a:r>
            <a:r>
              <a:rPr lang="zh-CN" altLang="en-US" sz="2200" dirty="0" smtClean="0">
                <a:solidFill>
                  <a:schemeClr val="tx1"/>
                </a:solidFill>
              </a:rPr>
              <a:t>时＝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chemeClr val="tx1"/>
                </a:solidFill>
              </a:rPr>
              <a:t>否则＝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endParaRPr lang="zh-CN" altLang="en-US" sz="2200" dirty="0"/>
          </a:p>
          <a:p>
            <a:r>
              <a:rPr lang="zh-CN" altLang="en-US" dirty="0" smtClean="0">
                <a:solidFill>
                  <a:schemeClr val="tx1"/>
                </a:solidFill>
              </a:rPr>
              <a:t>②通过</a:t>
            </a:r>
            <a:r>
              <a:rPr lang="zh-CN" altLang="en-US" u="sng" dirty="0" smtClean="0">
                <a:solidFill>
                  <a:srgbClr val="0070C0"/>
                </a:solidFill>
              </a:rPr>
              <a:t>逻辑操作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针对</a:t>
            </a:r>
            <a:r>
              <a:rPr lang="zh-CN" altLang="en-US" sz="1800" dirty="0">
                <a:solidFill>
                  <a:schemeClr val="tx1"/>
                </a:solidFill>
              </a:rPr>
              <a:t>结果</a:t>
            </a:r>
            <a:r>
              <a:rPr lang="zh-CN" altLang="en-US" sz="1800" dirty="0" smtClean="0">
                <a:solidFill>
                  <a:schemeClr val="tx1"/>
                </a:solidFill>
              </a:rPr>
              <a:t>标志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u="sng" dirty="0" smtClean="0">
                <a:solidFill>
                  <a:srgbClr val="990099"/>
                </a:solidFill>
              </a:rPr>
              <a:t>形成</a:t>
            </a:r>
            <a:r>
              <a:rPr lang="zh-CN" altLang="en-US" dirty="0" smtClean="0">
                <a:solidFill>
                  <a:schemeClr val="tx1"/>
                </a:solidFill>
              </a:rPr>
              <a:t>运算结果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20" name="Group 136"/>
          <p:cNvGraphicFramePr>
            <a:graphicFrameLocks noGrp="1"/>
          </p:cNvGraphicFramePr>
          <p:nvPr/>
        </p:nvGraphicFramePr>
        <p:xfrm>
          <a:off x="2195735" y="3573016"/>
          <a:ext cx="5544617" cy="930960"/>
        </p:xfrm>
        <a:graphic>
          <a:graphicData uri="http://schemas.openxmlformats.org/drawingml/2006/table">
            <a:tbl>
              <a:tblPr/>
              <a:tblGrid>
                <a:gridCol w="288032"/>
                <a:gridCol w="1296144"/>
                <a:gridCol w="792088"/>
                <a:gridCol w="792088"/>
                <a:gridCol w="792089"/>
                <a:gridCol w="792088"/>
                <a:gridCol w="792088"/>
              </a:tblGrid>
              <a:tr h="2468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5257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02296">
                <a:tc vMerge="1"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Text Box 101"/>
          <p:cNvSpPr txBox="1">
            <a:spLocks noChangeArrowheads="1"/>
          </p:cNvSpPr>
          <p:nvPr/>
        </p:nvSpPr>
        <p:spPr bwMode="auto">
          <a:xfrm>
            <a:off x="467544" y="2420888"/>
            <a:ext cx="1656000" cy="504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ZF—</a:t>
            </a:r>
            <a:r>
              <a:rPr lang="en-US" altLang="zh-CN" sz="1600" dirty="0" smtClean="0">
                <a:solidFill>
                  <a:schemeClr val="tx1"/>
                </a:solidFill>
              </a:rPr>
              <a:t>Zero Flag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CF—</a:t>
            </a:r>
            <a:r>
              <a:rPr lang="en-US" altLang="zh-CN" sz="1600" dirty="0" smtClean="0">
                <a:solidFill>
                  <a:schemeClr val="tx1"/>
                </a:solidFill>
              </a:rPr>
              <a:t>Carry Flag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179512" y="4577496"/>
            <a:ext cx="8964488" cy="151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 *字符串的表示：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硬件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仅</a:t>
            </a:r>
            <a:r>
              <a:rPr lang="zh-CN" altLang="en-US" u="sng" dirty="0">
                <a:solidFill>
                  <a:srgbClr val="990099"/>
                </a:solidFill>
              </a:rPr>
              <a:t>支持</a:t>
            </a:r>
            <a:r>
              <a:rPr lang="zh-CN" altLang="en-US" u="sng" dirty="0">
                <a:solidFill>
                  <a:schemeClr val="tx1"/>
                </a:solidFill>
              </a:rPr>
              <a:t>字符表示</a:t>
            </a:r>
            <a:r>
              <a:rPr lang="zh-CN" altLang="en-US" dirty="0">
                <a:solidFill>
                  <a:schemeClr val="tx1"/>
                </a:solidFill>
              </a:rPr>
              <a:t>及</a:t>
            </a:r>
            <a:r>
              <a:rPr lang="zh-CN" altLang="en-US" u="sng" dirty="0">
                <a:solidFill>
                  <a:schemeClr val="tx1"/>
                </a:solidFill>
              </a:rPr>
              <a:t>关系运算</a:t>
            </a:r>
            <a:r>
              <a:rPr lang="en-US" altLang="zh-CN" dirty="0" smtClean="0">
                <a:solidFill>
                  <a:srgbClr val="C00000"/>
                </a:solidFill>
              </a:rPr>
              <a:t>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←支持串表示</a:t>
            </a:r>
            <a:r>
              <a:rPr lang="zh-CN" altLang="en-US" sz="1800" dirty="0" smtClean="0">
                <a:solidFill>
                  <a:srgbClr val="0070C0"/>
                </a:solidFill>
              </a:rPr>
              <a:t>性</a:t>
            </a:r>
            <a:r>
              <a:rPr lang="en-US" altLang="zh-CN" sz="1800" dirty="0" smtClean="0">
                <a:solidFill>
                  <a:srgbClr val="0070C0"/>
                </a:solidFill>
              </a:rPr>
              <a:t>/</a:t>
            </a:r>
            <a:r>
              <a:rPr lang="zh-CN" altLang="en-US" sz="1800" dirty="0" smtClean="0">
                <a:solidFill>
                  <a:srgbClr val="0070C0"/>
                </a:solidFill>
              </a:rPr>
              <a:t>价太低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软件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spc="-70" dirty="0" smtClean="0">
                <a:solidFill>
                  <a:schemeClr val="tx1"/>
                </a:solidFill>
              </a:rPr>
              <a:t>用</a:t>
            </a:r>
            <a:r>
              <a:rPr lang="zh-CN" altLang="en-US" u="sng" spc="-70" dirty="0">
                <a:solidFill>
                  <a:srgbClr val="990099"/>
                </a:solidFill>
              </a:rPr>
              <a:t>特定字符</a:t>
            </a:r>
            <a:r>
              <a:rPr lang="zh-CN" altLang="en-US" spc="-70" dirty="0" smtClean="0">
                <a:solidFill>
                  <a:schemeClr val="tx1"/>
                </a:solidFill>
              </a:rPr>
              <a:t>表示串结束，串操作</a:t>
            </a:r>
            <a:r>
              <a:rPr lang="zh-CN" altLang="en-US" u="sng" spc="-70" dirty="0" smtClean="0">
                <a:solidFill>
                  <a:srgbClr val="990099"/>
                </a:solidFill>
              </a:rPr>
              <a:t>转换</a:t>
            </a:r>
            <a:r>
              <a:rPr lang="zh-CN" altLang="en-US" spc="-70" dirty="0" smtClean="0">
                <a:solidFill>
                  <a:schemeClr val="tx1"/>
                </a:solidFill>
              </a:rPr>
              <a:t>为字符操作的循环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067944" y="4221120"/>
            <a:ext cx="2088000" cy="288000"/>
            <a:chOff x="3211907" y="4509088"/>
            <a:chExt cx="2088000" cy="288000"/>
          </a:xfrm>
        </p:grpSpPr>
        <p:sp>
          <p:nvSpPr>
            <p:cNvPr id="32" name="Text Box 101"/>
            <p:cNvSpPr txBox="1">
              <a:spLocks noChangeArrowheads="1"/>
            </p:cNvSpPr>
            <p:nvPr/>
          </p:nvSpPr>
          <p:spPr bwMode="auto">
            <a:xfrm>
              <a:off x="3211907" y="4509088"/>
              <a:ext cx="20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CF   CF+ZF  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CF+ZF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3239690" y="4517968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4626328" y="4517968"/>
              <a:ext cx="57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6" name="Text Box 101"/>
          <p:cNvSpPr txBox="1">
            <a:spLocks noChangeArrowheads="1"/>
          </p:cNvSpPr>
          <p:nvPr/>
        </p:nvSpPr>
        <p:spPr bwMode="auto">
          <a:xfrm>
            <a:off x="6444208" y="4221088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CF 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37" name="Text Box 101"/>
          <p:cNvSpPr txBox="1">
            <a:spLocks noChangeArrowheads="1"/>
          </p:cNvSpPr>
          <p:nvPr/>
        </p:nvSpPr>
        <p:spPr bwMode="auto">
          <a:xfrm>
            <a:off x="6228184" y="3861048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64800" rIns="18000" bIns="10800" anchor="t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</a:t>
            </a:r>
            <a:r>
              <a:rPr lang="en-US" altLang="zh-CN" sz="1800" dirty="0" smtClean="0">
                <a:solidFill>
                  <a:schemeClr val="tx1"/>
                </a:solidFill>
              </a:rPr>
              <a:t>ZF</a:t>
            </a:r>
            <a:r>
              <a:rPr lang="zh-CN" altLang="en-US" sz="1800" dirty="0" smtClean="0">
                <a:solidFill>
                  <a:schemeClr val="tx1"/>
                </a:solidFill>
              </a:rPr>
              <a:t>及</a:t>
            </a:r>
            <a:r>
              <a:rPr lang="en-US" altLang="zh-CN" sz="1800" dirty="0" smtClean="0">
                <a:solidFill>
                  <a:schemeClr val="tx1"/>
                </a:solidFill>
              </a:rPr>
              <a:t>CF)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36" grpId="0"/>
      <p:bldP spid="3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25105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、其他类型数据的</a:t>
            </a:r>
            <a:r>
              <a:rPr lang="zh-CN" altLang="en-US" dirty="0">
                <a:solidFill>
                  <a:srgbClr val="FF3399"/>
                </a:solidFill>
              </a:rPr>
              <a:t>表示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声音、图像、图形等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*表示策略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179513" y="3717032"/>
            <a:ext cx="5688632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※</a:t>
            </a:r>
            <a:r>
              <a:rPr lang="zh-CN" altLang="en-US" dirty="0" smtClean="0">
                <a:solidFill>
                  <a:srgbClr val="FF3399"/>
                </a:solidFill>
              </a:rPr>
              <a:t>非数值数据的运算小结：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逻辑运算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按位的与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或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非等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关系运算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减法运算＋逻辑</a:t>
            </a:r>
            <a:r>
              <a:rPr lang="zh-CN" altLang="en-US" dirty="0">
                <a:solidFill>
                  <a:schemeClr val="tx1"/>
                </a:solidFill>
              </a:rPr>
              <a:t>操作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特殊运算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饱和运算等，如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44008" y="5013176"/>
            <a:ext cx="2736304" cy="653296"/>
            <a:chOff x="4788024" y="5872048"/>
            <a:chExt cx="2736304" cy="653296"/>
          </a:xfrm>
        </p:grpSpPr>
        <p:sp>
          <p:nvSpPr>
            <p:cNvPr id="8" name="Text Box 240"/>
            <p:cNvSpPr txBox="1">
              <a:spLocks noChangeArrowheads="1"/>
            </p:cNvSpPr>
            <p:nvPr/>
          </p:nvSpPr>
          <p:spPr bwMode="auto">
            <a:xfrm>
              <a:off x="4788024" y="6034731"/>
              <a:ext cx="756270" cy="3465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dirty="0" smtClean="0">
                  <a:solidFill>
                    <a:schemeClr val="tx1"/>
                  </a:solidFill>
                </a:rPr>
                <a:t>x+5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＝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Text Box 240"/>
            <p:cNvSpPr txBox="1">
              <a:spLocks noChangeArrowheads="1"/>
            </p:cNvSpPr>
            <p:nvPr/>
          </p:nvSpPr>
          <p:spPr bwMode="auto">
            <a:xfrm>
              <a:off x="5588496" y="5872048"/>
              <a:ext cx="1935832" cy="6532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dirty="0" smtClean="0">
                  <a:solidFill>
                    <a:schemeClr val="tx1"/>
                  </a:solidFill>
                </a:rPr>
                <a:t>x+5 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结果＜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255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000" dirty="0" smtClean="0">
                  <a:solidFill>
                    <a:schemeClr val="tx1"/>
                  </a:solidFill>
                </a:rPr>
                <a:t>255 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结果≥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255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" name="左大括号 3"/>
            <p:cNvSpPr/>
            <p:nvPr/>
          </p:nvSpPr>
          <p:spPr bwMode="auto">
            <a:xfrm>
              <a:off x="5508104" y="6021288"/>
              <a:ext cx="45719" cy="418605"/>
            </a:xfrm>
            <a:prstGeom prst="leftBrac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179512" y="2182649"/>
            <a:ext cx="8785101" cy="1583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dirty="0" smtClean="0">
                <a:solidFill>
                  <a:srgbClr val="FF3399"/>
                </a:solidFill>
                <a:latin typeface="+mn-ea"/>
                <a:ea typeface="+mn-ea"/>
              </a:rPr>
              <a:t>非数值数据的表示小结：</a:t>
            </a:r>
            <a:endParaRPr lang="en-US" altLang="zh-CN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  <a:latin typeface="+mn-ea"/>
                <a:ea typeface="+mn-ea"/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二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进制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，定点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向量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格式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，某种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，几种</a:t>
            </a:r>
            <a:r>
              <a:rPr lang="zh-CN" altLang="en-US" u="sng" dirty="0">
                <a:solidFill>
                  <a:schemeClr val="tx1"/>
                </a:solidFill>
                <a:latin typeface="+mn-ea"/>
                <a:ea typeface="+mn-ea"/>
              </a:rPr>
              <a:t>长度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│</a:t>
            </a: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accent2"/>
                </a:solidFill>
              </a:rPr>
              <a:t>←</a:t>
            </a:r>
            <a:r>
              <a:rPr lang="zh-CN" altLang="en-US" sz="1800" dirty="0" smtClean="0">
                <a:solidFill>
                  <a:schemeClr val="tx1"/>
                </a:solidFill>
              </a:rPr>
              <a:t>各元素</a:t>
            </a:r>
            <a:r>
              <a:rPr lang="zh-CN" altLang="en-US" sz="1800" dirty="0">
                <a:solidFill>
                  <a:schemeClr val="tx1"/>
                </a:solidFill>
              </a:rPr>
              <a:t>占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多位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布尔数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像素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</a:rPr>
              <a:t>适于复杂</a:t>
            </a:r>
            <a:r>
              <a:rPr lang="zh-CN" altLang="en-US" sz="1800" dirty="0" smtClean="0">
                <a:solidFill>
                  <a:schemeClr val="tx1"/>
                </a:solidFill>
              </a:rPr>
              <a:t>数据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accent2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无符号编码，适于</a:t>
            </a:r>
            <a:r>
              <a:rPr lang="zh-CN" altLang="en-US" sz="1800" dirty="0">
                <a:solidFill>
                  <a:schemeClr val="tx1"/>
                </a:solidFill>
              </a:rPr>
              <a:t>简单</a:t>
            </a:r>
            <a:r>
              <a:rPr lang="zh-CN" altLang="en-US" sz="1800" dirty="0" smtClean="0">
                <a:solidFill>
                  <a:schemeClr val="tx1"/>
                </a:solidFill>
              </a:rPr>
              <a:t>数据</a:t>
            </a:r>
            <a:endParaRPr lang="en-US" altLang="zh-CN" sz="1800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033500" y="1261209"/>
            <a:ext cx="678697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硬件</a:t>
            </a:r>
            <a:r>
              <a:rPr lang="zh-CN" altLang="en-US" dirty="0" smtClean="0">
                <a:solidFill>
                  <a:schemeClr val="tx1"/>
                </a:solidFill>
              </a:rPr>
              <a:t>支持</a:t>
            </a:r>
            <a:r>
              <a:rPr lang="zh-CN" altLang="en-US" u="sng" dirty="0" smtClean="0">
                <a:solidFill>
                  <a:srgbClr val="990099"/>
                </a:solidFill>
              </a:rPr>
              <a:t>简单数据类型</a:t>
            </a:r>
            <a:r>
              <a:rPr lang="zh-CN" altLang="en-US" dirty="0" smtClean="0">
                <a:solidFill>
                  <a:schemeClr val="tx1"/>
                </a:solidFill>
              </a:rPr>
              <a:t>的表示，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←关注性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价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accent2"/>
                </a:solidFill>
              </a:rPr>
              <a:t>软件</a:t>
            </a:r>
            <a:r>
              <a:rPr lang="zh-CN" altLang="en-US" dirty="0">
                <a:solidFill>
                  <a:schemeClr val="tx1"/>
                </a:solidFill>
              </a:rPr>
              <a:t>负责</a:t>
            </a:r>
            <a:r>
              <a:rPr lang="zh-CN" altLang="en-US" dirty="0" smtClean="0">
                <a:solidFill>
                  <a:schemeClr val="tx1"/>
                </a:solidFill>
              </a:rPr>
              <a:t>数据及运算的</a:t>
            </a:r>
            <a:r>
              <a:rPr lang="zh-CN" altLang="en-US" u="sng" dirty="0">
                <a:solidFill>
                  <a:srgbClr val="990099"/>
                </a:solidFill>
              </a:rPr>
              <a:t>类型</a:t>
            </a:r>
            <a:r>
              <a:rPr lang="zh-CN" altLang="en-US" u="sng" dirty="0" smtClean="0">
                <a:solidFill>
                  <a:srgbClr val="990099"/>
                </a:solidFill>
              </a:rPr>
              <a:t>转换</a:t>
            </a:r>
            <a:endParaRPr lang="en-US" altLang="zh-CN" dirty="0">
              <a:solidFill>
                <a:srgbClr val="99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A99-B281-4A0F-8D24-C134169593F3}" type="slidenum">
              <a:rPr lang="en-US" altLang="zh-CN"/>
            </a:fld>
            <a:endParaRPr lang="en-US" altLang="zh-CN" dirty="0"/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179388" y="37504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5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五、数据表示举例</a:t>
            </a:r>
            <a:endParaRPr lang="zh-CN" altLang="en-US" sz="2400" dirty="0"/>
          </a:p>
        </p:txBody>
      </p:sp>
      <p:sp>
        <p:nvSpPr>
          <p:cNvPr id="253166" name="Text Box 238"/>
          <p:cNvSpPr txBox="1">
            <a:spLocks noChangeArrowheads="1"/>
          </p:cNvSpPr>
          <p:nvPr/>
        </p:nvSpPr>
        <p:spPr bwMode="auto">
          <a:xfrm>
            <a:off x="179388" y="858778"/>
            <a:ext cx="3744540" cy="5324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*数据</a:t>
            </a:r>
            <a:r>
              <a:rPr lang="zh-CN" altLang="en-US" dirty="0" smtClean="0">
                <a:solidFill>
                  <a:srgbClr val="C00000"/>
                </a:solidFill>
              </a:rPr>
              <a:t>表示</a:t>
            </a:r>
            <a:r>
              <a:rPr lang="zh-CN" altLang="en-US" dirty="0">
                <a:solidFill>
                  <a:srgbClr val="C00000"/>
                </a:solidFill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常见结果：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ARMv8</a:t>
            </a:r>
            <a:r>
              <a:rPr lang="zh-CN" altLang="en-US" dirty="0" smtClean="0">
                <a:solidFill>
                  <a:schemeClr val="accent2"/>
                </a:solidFill>
              </a:rPr>
              <a:t>的数据表示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IA32</a:t>
            </a:r>
            <a:r>
              <a:rPr lang="zh-CN" altLang="en-US" dirty="0" smtClean="0">
                <a:solidFill>
                  <a:schemeClr val="accent2"/>
                </a:solidFill>
              </a:rPr>
              <a:t>的数据表示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8" name="Group 975"/>
          <p:cNvGraphicFramePr>
            <a:graphicFrameLocks noGrp="1"/>
          </p:cNvGraphicFramePr>
          <p:nvPr/>
        </p:nvGraphicFramePr>
        <p:xfrm>
          <a:off x="827584" y="1412776"/>
          <a:ext cx="7992888" cy="3134503"/>
        </p:xfrm>
        <a:graphic>
          <a:graphicData uri="http://schemas.openxmlformats.org/drawingml/2006/table">
            <a:tbl>
              <a:tblPr/>
              <a:tblGrid>
                <a:gridCol w="648072"/>
                <a:gridCol w="936104"/>
                <a:gridCol w="648072"/>
                <a:gridCol w="1656184"/>
                <a:gridCol w="2016224"/>
                <a:gridCol w="792088"/>
                <a:gridCol w="1296144"/>
              </a:tblGrid>
              <a:tr h="423192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表示格式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编码方式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长度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</a:t>
                      </a:r>
                      <a:endParaRPr kumimoji="1" lang="zh-CN" altLang="en-US" sz="1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补码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vMerge="1"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98032">
                <a:tc vMerge="1">
                  <a:tcPr/>
                </a:tc>
                <a:tc vMerge="1"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十</a:t>
                      </a:r>
                      <a:r>
                        <a:rPr kumimoji="1" lang="zh-CN" altLang="en-US" sz="18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①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算术＋校正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8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浮点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(IEEE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754)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尾数原码、阶移码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2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位向量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逻辑编码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关系</a:t>
                      </a:r>
                      <a:r>
                        <a:rPr kumimoji="1" lang="zh-CN" altLang="en-US" sz="18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endParaRPr kumimoji="1" lang="en-US" altLang="zh-CN" sz="1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像素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定点或向量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注：①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BCD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数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Symbol" panose="05050102010706020507"/>
                        </a:rPr>
                        <a:t>整数表示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②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关系运算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减法运算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及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逻辑操作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3491881" y="4653136"/>
            <a:ext cx="550810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34055" indent="-3234055"/>
            <a:r>
              <a:rPr lang="en-US" altLang="zh-CN" b="1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8/16/32/</a:t>
            </a:r>
            <a:r>
              <a:rPr lang="en-US" altLang="zh-CN" b="1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64</a:t>
            </a:r>
            <a:r>
              <a:rPr lang="en-US" altLang="zh-CN" b="1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b="1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整数</a:t>
            </a:r>
            <a:r>
              <a:rPr lang="zh-CN" altLang="en-US" spc="-50" dirty="0" smtClean="0">
                <a:solidFill>
                  <a:schemeClr val="tx1"/>
                </a:solidFill>
              </a:rPr>
              <a:t>，</a:t>
            </a:r>
            <a:r>
              <a:rPr lang="en-US" altLang="zh-CN" spc="-50" dirty="0" smtClean="0">
                <a:solidFill>
                  <a:srgbClr val="0070C0"/>
                </a:solidFill>
              </a:rPr>
              <a:t>16</a:t>
            </a:r>
            <a:r>
              <a:rPr lang="en-US" altLang="zh-CN" spc="-50" dirty="0" smtClean="0">
                <a:solidFill>
                  <a:schemeClr val="tx1"/>
                </a:solidFill>
              </a:rPr>
              <a:t>/</a:t>
            </a:r>
            <a:r>
              <a:rPr lang="en-US" altLang="zh-CN" dirty="0" smtClean="0">
                <a:solidFill>
                  <a:schemeClr val="tx1"/>
                </a:solidFill>
              </a:rPr>
              <a:t>32/64b</a:t>
            </a:r>
            <a:r>
              <a:rPr lang="zh-CN" altLang="en-US" dirty="0" smtClean="0">
                <a:solidFill>
                  <a:schemeClr val="tx1"/>
                </a:solidFill>
              </a:rPr>
              <a:t>浮点数</a:t>
            </a:r>
            <a:r>
              <a:rPr lang="zh-CN" altLang="en-US" b="1" spc="-50" dirty="0" smtClean="0">
                <a:solidFill>
                  <a:schemeClr val="tx1"/>
                </a:solidFill>
              </a:rPr>
              <a:t>，</a:t>
            </a:r>
            <a:endParaRPr lang="en-US" altLang="zh-CN" b="1" spc="-50" dirty="0" smtClean="0">
              <a:solidFill>
                <a:schemeClr val="tx1"/>
              </a:solidFill>
            </a:endParaRPr>
          </a:p>
          <a:p>
            <a:pPr marL="3234055" indent="-3234055"/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64/128b</a:t>
            </a:r>
            <a:r>
              <a:rPr lang="zh-CN" altLang="en-US" dirty="0" smtClean="0">
                <a:solidFill>
                  <a:schemeClr val="tx1"/>
                </a:solidFill>
              </a:rPr>
              <a:t>向量</a:t>
            </a:r>
            <a:r>
              <a:rPr lang="en-US" altLang="zh-CN" sz="1800" dirty="0" smtClean="0">
                <a:solidFill>
                  <a:schemeClr val="tx1"/>
                </a:solidFill>
              </a:rPr>
              <a:t>(SIMD</a:t>
            </a:r>
            <a:r>
              <a:rPr lang="zh-CN" altLang="en-US" sz="1800" dirty="0" smtClean="0">
                <a:solidFill>
                  <a:schemeClr val="tx1"/>
                </a:solidFill>
              </a:rPr>
              <a:t>数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)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AutoShape 29"/>
          <p:cNvSpPr/>
          <p:nvPr/>
        </p:nvSpPr>
        <p:spPr bwMode="auto">
          <a:xfrm>
            <a:off x="6588224" y="5229200"/>
            <a:ext cx="1872000" cy="288000"/>
          </a:xfrm>
          <a:prstGeom prst="borderCallout2">
            <a:avLst>
              <a:gd name="adj1" fmla="val 51269"/>
              <a:gd name="adj2" fmla="val -872"/>
              <a:gd name="adj3" fmla="val 50807"/>
              <a:gd name="adj4" fmla="val -11210"/>
              <a:gd name="adj5" fmla="val -46318"/>
              <a:gd name="adj6" fmla="val -40103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包含逻辑数、字符</a:t>
            </a:r>
            <a:endParaRPr lang="zh-CN" altLang="en-US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3312120" y="5589240"/>
            <a:ext cx="5652368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34055" indent="-3234055"/>
            <a:r>
              <a:rPr lang="zh-CN" altLang="en-US" b="1" spc="-100" dirty="0" smtClean="0">
                <a:solidFill>
                  <a:schemeClr val="tx1"/>
                </a:solidFill>
              </a:rPr>
              <a:t>整数</a:t>
            </a:r>
            <a:r>
              <a:rPr lang="zh-CN" altLang="en-US" spc="-100" dirty="0" smtClean="0">
                <a:solidFill>
                  <a:schemeClr val="tx1"/>
                </a:solidFill>
              </a:rPr>
              <a:t>，浮点数</a:t>
            </a:r>
            <a:r>
              <a:rPr lang="zh-CN" altLang="en-US" b="1" spc="-100" dirty="0" smtClean="0">
                <a:solidFill>
                  <a:schemeClr val="tx1"/>
                </a:solidFill>
              </a:rPr>
              <a:t>，指针，</a:t>
            </a:r>
            <a:r>
              <a:rPr lang="en-US" altLang="zh-CN" b="1" spc="-100" dirty="0" smtClean="0">
                <a:solidFill>
                  <a:schemeClr val="tx1"/>
                </a:solidFill>
              </a:rPr>
              <a:t>BCD</a:t>
            </a:r>
            <a:r>
              <a:rPr lang="zh-CN" altLang="en-US" b="1" spc="-100" dirty="0" smtClean="0">
                <a:solidFill>
                  <a:schemeClr val="tx1"/>
                </a:solidFill>
              </a:rPr>
              <a:t>数，</a:t>
            </a:r>
            <a:r>
              <a:rPr lang="zh-CN" altLang="en-US" spc="-100" dirty="0" smtClean="0">
                <a:solidFill>
                  <a:schemeClr val="tx1"/>
                </a:solidFill>
              </a:rPr>
              <a:t>向量，</a:t>
            </a:r>
            <a:r>
              <a:rPr lang="zh-CN" altLang="en-US" spc="-100" dirty="0">
                <a:solidFill>
                  <a:schemeClr val="tx1"/>
                </a:solidFill>
              </a:rPr>
              <a:t>位域</a:t>
            </a:r>
            <a:endParaRPr lang="zh-CN" altLang="en-US" sz="2200" b="1" spc="-100" dirty="0">
              <a:solidFill>
                <a:schemeClr val="tx1"/>
              </a:solidFill>
            </a:endParaRPr>
          </a:p>
        </p:txBody>
      </p:sp>
      <p:sp>
        <p:nvSpPr>
          <p:cNvPr id="11" name="AutoShape 29"/>
          <p:cNvSpPr/>
          <p:nvPr/>
        </p:nvSpPr>
        <p:spPr bwMode="auto">
          <a:xfrm>
            <a:off x="7416472" y="1016760"/>
            <a:ext cx="1404000" cy="252000"/>
          </a:xfrm>
          <a:prstGeom prst="borderCallout2">
            <a:avLst>
              <a:gd name="adj1" fmla="val 51269"/>
              <a:gd name="adj2" fmla="val -872"/>
              <a:gd name="adj3" fmla="val 50807"/>
              <a:gd name="adj4" fmla="val -11210"/>
              <a:gd name="adj5" fmla="val 186948"/>
              <a:gd name="adj6" fmla="val -23821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ea typeface="+mn-ea"/>
              </a:rPr>
              <a:t>基于使用频率</a:t>
            </a:r>
            <a:endParaRPr lang="zh-CN" altLang="en-US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3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3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 animBg="1"/>
      <p:bldP spid="9" grpId="0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96B6-3D31-4034-9E59-8F446BE78FBE}" type="slidenum">
              <a:rPr lang="en-US" altLang="zh-CN"/>
            </a:fld>
            <a:endParaRPr lang="en-US" altLang="zh-CN"/>
          </a:p>
        </p:txBody>
      </p:sp>
      <p:sp>
        <p:nvSpPr>
          <p:cNvPr id="392349" name="Text Box 157"/>
          <p:cNvSpPr txBox="1">
            <a:spLocks noChangeArrowheads="1"/>
          </p:cNvSpPr>
          <p:nvPr/>
        </p:nvSpPr>
        <p:spPr bwMode="auto">
          <a:xfrm>
            <a:off x="179389" y="332656"/>
            <a:ext cx="8785224" cy="4607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*数据表示与硬件参数的关系：  </a:t>
            </a:r>
            <a:r>
              <a:rPr lang="en-US" altLang="zh-CN" sz="2000" dirty="0" smtClean="0">
                <a:solidFill>
                  <a:schemeClr val="tx1"/>
                </a:solidFill>
              </a:rPr>
              <a:t>(ISA</a:t>
            </a:r>
            <a:r>
              <a:rPr lang="zh-CN" altLang="en-US" sz="2000" dirty="0" smtClean="0">
                <a:solidFill>
                  <a:schemeClr val="tx1"/>
                </a:solidFill>
              </a:rPr>
              <a:t>研究内容，了解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数据类型的长度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i="1" baseline="30000" dirty="0" smtClean="0">
                <a:solidFill>
                  <a:schemeClr val="tx1"/>
                </a:solidFill>
                <a:latin typeface="+mn-lt"/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</a:rPr>
              <a:t>位，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长度</a:t>
            </a:r>
            <a:r>
              <a:rPr lang="zh-CN" altLang="en-US" dirty="0" smtClean="0">
                <a:solidFill>
                  <a:schemeClr val="tx1"/>
                </a:solidFill>
              </a:rPr>
              <a:t>有多种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←便于数据组合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存储单元长度</a:t>
            </a:r>
            <a:r>
              <a:rPr lang="en-US" altLang="zh-CN" i="1" dirty="0" smtClean="0">
                <a:solidFill>
                  <a:schemeClr val="accent2"/>
                </a:solidFill>
                <a:latin typeface="+mn-lt"/>
              </a:rPr>
              <a:t>w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即存储器的编址单位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</a:t>
            </a:r>
            <a:r>
              <a:rPr lang="zh-CN" altLang="en-US" dirty="0" smtClean="0">
                <a:solidFill>
                  <a:srgbClr val="990099"/>
                </a:solidFill>
              </a:rPr>
              <a:t>性能指标：</a:t>
            </a:r>
            <a:r>
              <a:rPr lang="zh-CN" altLang="en-US" u="sng" dirty="0">
                <a:solidFill>
                  <a:schemeClr val="tx1"/>
                </a:solidFill>
              </a:rPr>
              <a:t>存储</a:t>
            </a:r>
            <a:r>
              <a:rPr lang="zh-CN" altLang="en-US" dirty="0">
                <a:solidFill>
                  <a:schemeClr val="tx1"/>
                </a:solidFill>
              </a:rPr>
              <a:t>效率、</a:t>
            </a:r>
            <a:r>
              <a:rPr lang="zh-CN" altLang="en-US" u="sng" dirty="0">
                <a:solidFill>
                  <a:schemeClr val="tx1"/>
                </a:solidFill>
              </a:rPr>
              <a:t>访问</a:t>
            </a:r>
            <a:r>
              <a:rPr lang="zh-CN" altLang="en-US" dirty="0">
                <a:solidFill>
                  <a:schemeClr val="tx1"/>
                </a:solidFill>
              </a:rPr>
              <a:t>效率 </a:t>
            </a:r>
            <a:r>
              <a:rPr lang="zh-CN" altLang="en-US" sz="2000" dirty="0">
                <a:solidFill>
                  <a:schemeClr val="tx1"/>
                </a:solidFill>
              </a:rPr>
              <a:t>        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2000" dirty="0" smtClean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组织结果：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数据存放：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机器字长</a:t>
            </a:r>
            <a:r>
              <a:rPr lang="en-US" altLang="zh-CN" i="1" dirty="0" smtClean="0">
                <a:solidFill>
                  <a:schemeClr val="accent2"/>
                </a:solidFill>
                <a:latin typeface="+mn-lt"/>
              </a:rPr>
              <a:t>n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即</a:t>
            </a:r>
            <a:r>
              <a:rPr lang="en-US" altLang="zh-CN" dirty="0" smtClean="0">
                <a:solidFill>
                  <a:schemeClr val="tx1"/>
                </a:solidFill>
              </a:rPr>
              <a:t>ALU</a:t>
            </a:r>
            <a:r>
              <a:rPr lang="zh-CN" altLang="en-US" dirty="0" smtClean="0">
                <a:solidFill>
                  <a:schemeClr val="tx1"/>
                </a:solidFill>
              </a:rPr>
              <a:t>的宽度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</a:t>
            </a:r>
            <a:r>
              <a:rPr lang="zh-CN" altLang="en-US" dirty="0" smtClean="0">
                <a:solidFill>
                  <a:srgbClr val="990099"/>
                </a:solidFill>
              </a:rPr>
              <a:t>组织结果：</a:t>
            </a:r>
            <a:endParaRPr lang="zh-CN" altLang="en-US" dirty="0">
              <a:solidFill>
                <a:srgbClr val="990099"/>
              </a:solidFill>
            </a:endParaRPr>
          </a:p>
        </p:txBody>
      </p:sp>
      <p:sp>
        <p:nvSpPr>
          <p:cNvPr id="392350" name="Text Box 158"/>
          <p:cNvSpPr txBox="1">
            <a:spLocks noChangeArrowheads="1"/>
          </p:cNvSpPr>
          <p:nvPr/>
        </p:nvSpPr>
        <p:spPr bwMode="auto">
          <a:xfrm>
            <a:off x="2699792" y="4296877"/>
            <a:ext cx="3456383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b="0" dirty="0">
                <a:solidFill>
                  <a:srgbClr val="C00000"/>
                </a:solidFill>
                <a:latin typeface="+mn-lt"/>
              </a:rPr>
              <a:t>max</a:t>
            </a:r>
            <a:r>
              <a:rPr lang="en-US" altLang="zh-CN" dirty="0" smtClean="0">
                <a:solidFill>
                  <a:srgbClr val="C00000"/>
                </a:solidFill>
              </a:rPr>
              <a:t>{</a:t>
            </a:r>
            <a:r>
              <a:rPr lang="zh-CN" altLang="en-US" sz="2200" dirty="0" smtClean="0">
                <a:solidFill>
                  <a:schemeClr val="tx1"/>
                </a:solidFill>
              </a:rPr>
              <a:t>所有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整数</a:t>
            </a:r>
            <a:r>
              <a:rPr lang="zh-CN" altLang="en-US" sz="2200" dirty="0" smtClean="0">
                <a:solidFill>
                  <a:schemeClr val="tx1"/>
                </a:solidFill>
              </a:rPr>
              <a:t>的长度</a:t>
            </a:r>
            <a:r>
              <a:rPr lang="en-US" altLang="zh-CN" dirty="0">
                <a:solidFill>
                  <a:srgbClr val="C00000"/>
                </a:solidFill>
              </a:rPr>
              <a:t>}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9" name="Text Box 157"/>
          <p:cNvSpPr txBox="1">
            <a:spLocks noChangeArrowheads="1"/>
          </p:cNvSpPr>
          <p:nvPr/>
        </p:nvSpPr>
        <p:spPr bwMode="auto">
          <a:xfrm>
            <a:off x="2627784" y="2132856"/>
            <a:ext cx="6336829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1800" dirty="0" smtClean="0">
                <a:solidFill>
                  <a:schemeClr val="tx1"/>
                </a:solidFill>
              </a:rPr>
              <a:t>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└←</a:t>
            </a:r>
            <a:r>
              <a:rPr lang="zh-CN" altLang="en-US" sz="1800" dirty="0" smtClean="0">
                <a:solidFill>
                  <a:schemeClr val="tx1"/>
                </a:solidFill>
              </a:rPr>
              <a:t>侧重点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─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┴←</a:t>
            </a:r>
            <a:r>
              <a:rPr lang="zh-CN" altLang="en-US" sz="1800" dirty="0" smtClean="0">
                <a:solidFill>
                  <a:schemeClr val="tx1"/>
                </a:solidFill>
              </a:rPr>
              <a:t>可以优化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rgbClr val="FF3399"/>
                </a:solidFill>
              </a:rPr>
              <a:t>＞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个</a:t>
            </a:r>
            <a:r>
              <a:rPr lang="zh-CN" altLang="en-US" sz="1800" dirty="0" smtClean="0">
                <a:solidFill>
                  <a:schemeClr val="tx1"/>
                </a:solidFill>
              </a:rPr>
              <a:t>单元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w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rgbClr val="C00000"/>
                </a:solidFill>
              </a:rPr>
              <a:t>min{</a:t>
            </a:r>
            <a:r>
              <a:rPr lang="zh-CN" altLang="en-US" sz="2200" dirty="0">
                <a:solidFill>
                  <a:schemeClr val="tx1"/>
                </a:solidFill>
              </a:rPr>
              <a:t>所有</a:t>
            </a:r>
            <a:r>
              <a:rPr lang="zh-CN" altLang="en-US" sz="2200" u="sng" dirty="0">
                <a:solidFill>
                  <a:schemeClr val="tx1"/>
                </a:solidFill>
              </a:rPr>
              <a:t>数据类型</a:t>
            </a:r>
            <a:r>
              <a:rPr lang="zh-CN" altLang="en-US" sz="2200" dirty="0">
                <a:solidFill>
                  <a:schemeClr val="tx1"/>
                </a:solidFill>
              </a:rPr>
              <a:t>的长度</a:t>
            </a:r>
            <a:r>
              <a:rPr lang="en-US" altLang="zh-CN" dirty="0">
                <a:solidFill>
                  <a:srgbClr val="C00000"/>
                </a:solidFill>
              </a:rPr>
              <a:t>}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chemeClr val="tx1"/>
                </a:solidFill>
              </a:rPr>
              <a:t>通常＝字节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u="sng" dirty="0" smtClean="0">
                <a:solidFill>
                  <a:srgbClr val="0070C0"/>
                </a:solidFill>
              </a:rPr>
              <a:t>连续的</a:t>
            </a:r>
            <a:r>
              <a:rPr lang="en-US" altLang="zh-CN" i="1" u="sng" dirty="0">
                <a:solidFill>
                  <a:srgbClr val="0070C0"/>
                </a:solidFill>
                <a:latin typeface="+mn-lt"/>
              </a:rPr>
              <a:t>x</a:t>
            </a:r>
            <a:r>
              <a:rPr lang="zh-CN" altLang="en-US" u="sng" dirty="0">
                <a:solidFill>
                  <a:srgbClr val="0070C0"/>
                </a:solidFill>
              </a:rPr>
              <a:t>个</a:t>
            </a:r>
            <a:r>
              <a:rPr lang="zh-CN" altLang="en-US" dirty="0">
                <a:solidFill>
                  <a:schemeClr val="tx1"/>
                </a:solidFill>
              </a:rPr>
              <a:t>存储单元中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≥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，</a:t>
            </a:r>
            <a:endParaRPr lang="en-US" altLang="zh-CN" dirty="0" smtClean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地址用</a:t>
            </a:r>
            <a:r>
              <a:rPr lang="zh-CN" altLang="en-US" u="sng" dirty="0" smtClean="0">
                <a:solidFill>
                  <a:srgbClr val="0070C0"/>
                </a:solidFill>
                <a:latin typeface="+mn-ea"/>
              </a:rPr>
              <a:t>最小的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单元地址表示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" name="Text Box 526"/>
          <p:cNvSpPr txBox="1">
            <a:spLocks noChangeArrowheads="1"/>
          </p:cNvSpPr>
          <p:nvPr/>
        </p:nvSpPr>
        <p:spPr bwMode="auto">
          <a:xfrm>
            <a:off x="179512" y="4869160"/>
            <a:ext cx="8785225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※</a:t>
            </a:r>
            <a:r>
              <a:rPr lang="zh-CN" altLang="en-US" dirty="0" smtClean="0">
                <a:solidFill>
                  <a:srgbClr val="FF3399"/>
                </a:solidFill>
              </a:rPr>
              <a:t>数据表示的学习目标：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u="sng" dirty="0" smtClean="0">
                <a:solidFill>
                  <a:schemeClr val="tx1"/>
                </a:solidFill>
              </a:rPr>
              <a:t>认知</a:t>
            </a:r>
            <a:r>
              <a:rPr lang="zh-CN" altLang="en-US" dirty="0" smtClean="0">
                <a:solidFill>
                  <a:schemeClr val="tx1"/>
                </a:solidFill>
              </a:rPr>
              <a:t>数据的表示方法，为数据运算的实现</a:t>
            </a:r>
            <a:r>
              <a:rPr lang="zh-CN" altLang="en-US" u="sng" dirty="0" smtClean="0">
                <a:solidFill>
                  <a:schemeClr val="tx1"/>
                </a:solidFill>
              </a:rPr>
              <a:t>打好基础</a:t>
            </a:r>
            <a:endParaRPr lang="en-US" altLang="zh-CN" u="sng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真值</a:t>
            </a:r>
            <a:r>
              <a:rPr lang="en-US" altLang="zh-CN" sz="1800" dirty="0" smtClean="0">
                <a:solidFill>
                  <a:schemeClr val="tx1"/>
                </a:solidFill>
              </a:rPr>
              <a:t>-</a:t>
            </a:r>
            <a:r>
              <a:rPr lang="zh-CN" altLang="en-US" sz="1800" dirty="0" smtClean="0">
                <a:solidFill>
                  <a:schemeClr val="tx1"/>
                </a:solidFill>
              </a:rPr>
              <a:t>机器数的转换</a:t>
            </a:r>
            <a:r>
              <a:rPr lang="en-US" altLang="zh-CN" sz="1800" dirty="0" smtClean="0">
                <a:solidFill>
                  <a:schemeClr val="tx1"/>
                </a:solidFill>
              </a:rPr>
              <a:t>)    (</a:t>
            </a:r>
            <a:r>
              <a:rPr lang="zh-CN" altLang="en-US" sz="1800" dirty="0" smtClean="0">
                <a:solidFill>
                  <a:schemeClr val="tx1"/>
                </a:solidFill>
              </a:rPr>
              <a:t>基于表示→设计部件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948264" y="3501008"/>
            <a:ext cx="1800200" cy="1267315"/>
            <a:chOff x="6876256" y="4033893"/>
            <a:chExt cx="1800200" cy="1267315"/>
          </a:xfrm>
        </p:grpSpPr>
        <p:sp>
          <p:nvSpPr>
            <p:cNvPr id="13" name="Text Box 172"/>
            <p:cNvSpPr txBox="1">
              <a:spLocks noChangeArrowheads="1"/>
            </p:cNvSpPr>
            <p:nvPr/>
          </p:nvSpPr>
          <p:spPr bwMode="auto">
            <a:xfrm>
              <a:off x="6876256" y="4223418"/>
              <a:ext cx="433388" cy="107778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200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201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202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203</a:t>
              </a:r>
              <a:endParaRPr lang="en-US" altLang="zh-CN" sz="18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Line 173"/>
            <p:cNvSpPr>
              <a:spLocks noChangeShapeType="1"/>
            </p:cNvSpPr>
            <p:nvPr/>
          </p:nvSpPr>
          <p:spPr bwMode="auto">
            <a:xfrm flipH="1">
              <a:off x="7309644" y="4223419"/>
              <a:ext cx="0" cy="10777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74"/>
            <p:cNvSpPr txBox="1">
              <a:spLocks noChangeArrowheads="1"/>
            </p:cNvSpPr>
            <p:nvPr/>
          </p:nvSpPr>
          <p:spPr bwMode="auto">
            <a:xfrm>
              <a:off x="7309154" y="4261282"/>
              <a:ext cx="792163" cy="9683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85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12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Line 175"/>
            <p:cNvSpPr>
              <a:spLocks noChangeShapeType="1"/>
            </p:cNvSpPr>
            <p:nvPr/>
          </p:nvSpPr>
          <p:spPr bwMode="auto">
            <a:xfrm flipH="1">
              <a:off x="8099729" y="4223419"/>
              <a:ext cx="1588" cy="10777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6"/>
            <p:cNvSpPr>
              <a:spLocks noChangeShapeType="1"/>
            </p:cNvSpPr>
            <p:nvPr/>
          </p:nvSpPr>
          <p:spPr bwMode="auto">
            <a:xfrm>
              <a:off x="7309569" y="4508932"/>
              <a:ext cx="792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7"/>
            <p:cNvSpPr>
              <a:spLocks noChangeShapeType="1"/>
            </p:cNvSpPr>
            <p:nvPr/>
          </p:nvSpPr>
          <p:spPr bwMode="auto">
            <a:xfrm>
              <a:off x="7309644" y="4767842"/>
              <a:ext cx="21602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8"/>
            <p:cNvSpPr>
              <a:spLocks noChangeShapeType="1"/>
            </p:cNvSpPr>
            <p:nvPr/>
          </p:nvSpPr>
          <p:spPr bwMode="auto">
            <a:xfrm>
              <a:off x="7309569" y="4994707"/>
              <a:ext cx="792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7"/>
            <p:cNvSpPr>
              <a:spLocks noChangeShapeType="1"/>
            </p:cNvSpPr>
            <p:nvPr/>
          </p:nvSpPr>
          <p:spPr bwMode="auto">
            <a:xfrm>
              <a:off x="7885708" y="4767842"/>
              <a:ext cx="21602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172"/>
            <p:cNvSpPr txBox="1">
              <a:spLocks noChangeArrowheads="1"/>
            </p:cNvSpPr>
            <p:nvPr/>
          </p:nvSpPr>
          <p:spPr bwMode="auto">
            <a:xfrm>
              <a:off x="7438927" y="4033893"/>
              <a:ext cx="433388" cy="22738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>
              <a:off x="8172400" y="4393933"/>
              <a:ext cx="21602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" name="直接箭头连接符 20"/>
            <p:cNvCxnSpPr/>
            <p:nvPr/>
          </p:nvCxnSpPr>
          <p:spPr bwMode="auto">
            <a:xfrm flipH="1">
              <a:off x="8172400" y="4681965"/>
              <a:ext cx="21602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H="1">
              <a:off x="8172400" y="5114013"/>
              <a:ext cx="21602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5" name="Text Box 172"/>
            <p:cNvSpPr txBox="1">
              <a:spLocks noChangeArrowheads="1"/>
            </p:cNvSpPr>
            <p:nvPr/>
          </p:nvSpPr>
          <p:spPr bwMode="auto">
            <a:xfrm>
              <a:off x="8388424" y="4221088"/>
              <a:ext cx="288032" cy="107778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28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&amp;A</a:t>
              </a:r>
              <a:endPara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400"/>
                </a:spcBef>
              </a:pPr>
              <a:r>
                <a:rPr lang="en-US" altLang="zh-CN" sz="1800" dirty="0" smtClean="0">
                  <a:solidFill>
                    <a:srgbClr val="990099"/>
                  </a:solidFill>
                </a:rPr>
                <a:t>&amp;B</a:t>
              </a:r>
              <a:endParaRPr lang="en-US" altLang="zh-CN" sz="1800" dirty="0" smtClean="0">
                <a:solidFill>
                  <a:srgbClr val="990099"/>
                </a:solidFill>
              </a:endParaRPr>
            </a:p>
            <a:p>
              <a:pPr algn="ctr">
                <a:lnSpc>
                  <a:spcPct val="90000"/>
                </a:lnSpc>
                <a:spcBef>
                  <a:spcPts val="1500"/>
                </a:spcBef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&amp;C</a:t>
              </a:r>
              <a:endPara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59"/>
    </mc:Choice>
    <mc:Fallback>
      <p:transition spd="slow" advTm="200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350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1619672" y="4293096"/>
            <a:ext cx="504056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0" rIns="18000" bIns="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41H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2123728" y="4293096"/>
            <a:ext cx="2016224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DCH</a:t>
            </a:r>
            <a:r>
              <a:rPr lang="en-US" altLang="zh-CN" sz="1800" b="1" spc="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r>
              <a:rPr lang="en-US" altLang="zh-CN" sz="1800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r>
              <a:rPr lang="en-US" altLang="zh-CN" sz="1800" b="1" spc="3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115616" y="4005064"/>
            <a:ext cx="7704856" cy="648072"/>
            <a:chOff x="611560" y="4869160"/>
            <a:chExt cx="7704856" cy="648072"/>
          </a:xfrm>
        </p:grpSpPr>
        <p:cxnSp>
          <p:nvCxnSpPr>
            <p:cNvPr id="58" name="直接连接符 57"/>
            <p:cNvCxnSpPr/>
            <p:nvPr/>
          </p:nvCxnSpPr>
          <p:spPr bwMode="auto">
            <a:xfrm>
              <a:off x="111561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971600" y="5157192"/>
              <a:ext cx="73448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 flipV="1">
              <a:off x="971600" y="5517231"/>
              <a:ext cx="7344816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161967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363589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>
              <a:off x="464400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565212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766834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>
              <a:off x="817240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>
              <a:off x="212372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262778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313184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>
              <a:off x="615617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666023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 bwMode="auto">
            <a:xfrm>
              <a:off x="716428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>
              <a:off x="514806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>
              <a:off x="413995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7"/>
            <p:cNvSpPr txBox="1">
              <a:spLocks noChangeArrowheads="1"/>
            </p:cNvSpPr>
            <p:nvPr/>
          </p:nvSpPr>
          <p:spPr bwMode="auto">
            <a:xfrm>
              <a:off x="1187624" y="4869160"/>
              <a:ext cx="7056784" cy="279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2  </a:t>
              </a:r>
              <a:r>
                <a:rPr lang="en-US" altLang="zh-CN" sz="1600" spc="-1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3    4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5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6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7    8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9 </a:t>
              </a:r>
              <a:r>
                <a:rPr lang="en-US" altLang="zh-CN" sz="1600" spc="1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10</a:t>
              </a:r>
              <a:r>
                <a:rPr lang="en-US" altLang="zh-CN" sz="1600" spc="3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11   12   13</a:t>
              </a:r>
              <a:r>
                <a:rPr lang="en-US" altLang="zh-CN" sz="1600" spc="2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14   15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 Box 7"/>
            <p:cNvSpPr txBox="1">
              <a:spLocks noChangeArrowheads="1"/>
            </p:cNvSpPr>
            <p:nvPr/>
          </p:nvSpPr>
          <p:spPr bwMode="auto">
            <a:xfrm>
              <a:off x="611560" y="5157192"/>
              <a:ext cx="504056" cy="35115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77" name="Text Box 7"/>
          <p:cNvSpPr txBox="1">
            <a:spLocks noChangeArrowheads="1"/>
          </p:cNvSpPr>
          <p:nvPr/>
        </p:nvSpPr>
        <p:spPr bwMode="auto">
          <a:xfrm>
            <a:off x="4139952" y="4293096"/>
            <a:ext cx="1008112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DCH</a:t>
            </a:r>
            <a:r>
              <a:rPr lang="en-US" altLang="zh-CN" sz="1800" b="1" spc="4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FFH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8" name="Text Box 7"/>
          <p:cNvSpPr txBox="1">
            <a:spLocks noChangeArrowheads="1"/>
          </p:cNvSpPr>
          <p:nvPr/>
        </p:nvSpPr>
        <p:spPr bwMode="auto">
          <a:xfrm>
            <a:off x="5148064" y="4293096"/>
            <a:ext cx="1008112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40H</a:t>
            </a:r>
            <a:r>
              <a:rPr lang="en-US" altLang="zh-CN" sz="1800" b="1" spc="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00H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6156176" y="4293096"/>
            <a:ext cx="2016224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C00000"/>
                </a:solidFill>
              </a:rPr>
              <a:t>00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4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00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2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20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3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42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1671867" y="4321671"/>
            <a:ext cx="421381" cy="306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200"/>
          <p:cNvSpPr txBox="1">
            <a:spLocks noChangeArrowheads="1"/>
          </p:cNvSpPr>
          <p:nvPr/>
        </p:nvSpPr>
        <p:spPr bwMode="auto">
          <a:xfrm>
            <a:off x="179512" y="332656"/>
            <a:ext cx="8856984" cy="3774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800080"/>
                </a:solidFill>
                <a:latin typeface="+mn-ea"/>
                <a:ea typeface="+mn-ea"/>
              </a:rPr>
              <a:t>   测试</a:t>
            </a:r>
            <a:r>
              <a:rPr lang="en-US" altLang="zh-CN" b="1" dirty="0" smtClean="0">
                <a:solidFill>
                  <a:srgbClr val="800080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IA32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中，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按字节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编址，数据在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中采用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小端方式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存放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。下列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语句中，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数据从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存储单元起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连续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存放，写出存放结果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     char a=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//ASCII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码为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41H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+mn-ea"/>
                <a:ea typeface="+mn-ea"/>
              </a:rPr>
              <a:t>int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b=-36; 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      short c=b, d=</a:t>
            </a:r>
            <a:r>
              <a:rPr lang="en-US" altLang="zh-CN" sz="2200" dirty="0" err="1" smtClean="0">
                <a:solidFill>
                  <a:schemeClr val="tx1"/>
                </a:solidFill>
                <a:latin typeface="+mn-ea"/>
              </a:rPr>
              <a:t>a&amp;c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;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     float e=40;</a:t>
            </a:r>
            <a:endParaRPr lang="en-US" altLang="zh-CN" sz="2200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  <a:latin typeface="+mn-ea"/>
                <a:ea typeface="+mn-ea"/>
              </a:rPr>
              <a:t>数据表示：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①机器数长度分别为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个字节；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             ②编码</a:t>
            </a:r>
            <a:r>
              <a:rPr lang="zh-CN" altLang="en-US" sz="2200" spc="100" dirty="0" smtClean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41H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FFFFFFDCH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FFDCH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0040H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42200000H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  <a:latin typeface="+mn-ea"/>
                <a:ea typeface="+mn-ea"/>
              </a:rPr>
              <a:t>数据存放结果：</a:t>
            </a:r>
            <a:endParaRPr lang="en-US" altLang="zh-CN" sz="2200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68303" y="4321671"/>
            <a:ext cx="1938122" cy="306000"/>
            <a:chOff x="2024287" y="4581128"/>
            <a:chExt cx="1938122" cy="306000"/>
          </a:xfrm>
        </p:grpSpPr>
        <p:sp>
          <p:nvSpPr>
            <p:cNvPr id="118" name="矩形 117"/>
            <p:cNvSpPr/>
            <p:nvPr/>
          </p:nvSpPr>
          <p:spPr bwMode="auto">
            <a:xfrm>
              <a:off x="2024287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9" name="矩形 118"/>
            <p:cNvSpPr/>
            <p:nvPr/>
          </p:nvSpPr>
          <p:spPr bwMode="auto">
            <a:xfrm>
              <a:off x="2535963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0" name="矩形 119"/>
            <p:cNvSpPr/>
            <p:nvPr/>
          </p:nvSpPr>
          <p:spPr bwMode="auto">
            <a:xfrm>
              <a:off x="3032399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3541028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181480" y="4321671"/>
            <a:ext cx="933057" cy="306000"/>
            <a:chOff x="4037464" y="4581128"/>
            <a:chExt cx="933057" cy="306000"/>
          </a:xfrm>
        </p:grpSpPr>
        <p:sp>
          <p:nvSpPr>
            <p:cNvPr id="122" name="矩形 121"/>
            <p:cNvSpPr/>
            <p:nvPr/>
          </p:nvSpPr>
          <p:spPr bwMode="auto">
            <a:xfrm>
              <a:off x="4037464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4549140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197212" y="4321671"/>
            <a:ext cx="925437" cy="306000"/>
            <a:chOff x="5053196" y="4581128"/>
            <a:chExt cx="925437" cy="306000"/>
          </a:xfrm>
        </p:grpSpPr>
        <p:sp>
          <p:nvSpPr>
            <p:cNvPr id="124" name="矩形 123"/>
            <p:cNvSpPr/>
            <p:nvPr/>
          </p:nvSpPr>
          <p:spPr bwMode="auto">
            <a:xfrm>
              <a:off x="5053196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5557252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97704" y="4321671"/>
            <a:ext cx="2449798" cy="306000"/>
            <a:chOff x="6053688" y="4581128"/>
            <a:chExt cx="2449798" cy="306000"/>
          </a:xfrm>
        </p:grpSpPr>
        <p:sp>
          <p:nvSpPr>
            <p:cNvPr id="126" name="矩形 125"/>
            <p:cNvSpPr/>
            <p:nvPr/>
          </p:nvSpPr>
          <p:spPr bwMode="auto">
            <a:xfrm>
              <a:off x="6053688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6565364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7061800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7570429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8082105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08" name="矩形 107"/>
          <p:cNvSpPr/>
          <p:nvPr/>
        </p:nvSpPr>
        <p:spPr bwMode="auto">
          <a:xfrm>
            <a:off x="4716016" y="2808000"/>
            <a:ext cx="1944216" cy="31397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矩形 109"/>
          <p:cNvSpPr/>
          <p:nvPr/>
        </p:nvSpPr>
        <p:spPr bwMode="auto">
          <a:xfrm>
            <a:off x="3240000" y="3284984"/>
            <a:ext cx="432000" cy="288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3960000" y="3276000"/>
            <a:ext cx="1260000" cy="288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5472000" y="3284984"/>
            <a:ext cx="720000" cy="288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6480000" y="3284984"/>
            <a:ext cx="720000" cy="288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7488000" y="3284984"/>
            <a:ext cx="1260000" cy="288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555776" y="3559182"/>
            <a:ext cx="2412000" cy="585453"/>
            <a:chOff x="2411760" y="3468446"/>
            <a:chExt cx="2412000" cy="585453"/>
          </a:xfrm>
        </p:grpSpPr>
        <p:cxnSp>
          <p:nvCxnSpPr>
            <p:cNvPr id="24" name="直接箭头连接符 23"/>
            <p:cNvCxnSpPr/>
            <p:nvPr/>
          </p:nvCxnSpPr>
          <p:spPr bwMode="auto">
            <a:xfrm flipH="1">
              <a:off x="2411760" y="3468446"/>
              <a:ext cx="2412000" cy="58545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H="1">
              <a:off x="2897784" y="3487174"/>
              <a:ext cx="1584000" cy="56672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49" name="Text Box 131"/>
          <p:cNvSpPr txBox="1">
            <a:spLocks noChangeArrowheads="1"/>
          </p:cNvSpPr>
          <p:nvPr/>
        </p:nvSpPr>
        <p:spPr bwMode="auto">
          <a:xfrm>
            <a:off x="5111658" y="1392566"/>
            <a:ext cx="3852830" cy="1172338"/>
          </a:xfrm>
          <a:prstGeom prst="rect">
            <a:avLst/>
          </a:prstGeom>
          <a:noFill/>
          <a:ln w="15875">
            <a:solidFill>
              <a:srgbClr val="990099"/>
            </a:solidFill>
            <a:prstDash val="dashDot"/>
            <a:miter lim="800000"/>
          </a:ln>
          <a:effectLst/>
        </p:spPr>
        <p:txBody>
          <a:bodyPr wrap="square" bIns="1800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小端方式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zh-CN" altLang="en-US" sz="1800" dirty="0" smtClean="0">
                <a:solidFill>
                  <a:schemeClr val="tx1"/>
                </a:solidFill>
              </a:rPr>
              <a:t>数据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按字节顺序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存放时，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地址最小</a:t>
            </a:r>
            <a:r>
              <a:rPr lang="zh-CN" altLang="en-US" sz="1800" dirty="0" smtClean="0">
                <a:solidFill>
                  <a:schemeClr val="tx1"/>
                </a:solidFill>
              </a:rPr>
              <a:t>的单元存放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最低有效字节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例：数据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放在</a:t>
            </a:r>
            <a:r>
              <a:rPr lang="en-US" altLang="zh-CN" sz="1800" dirty="0" smtClean="0">
                <a:solidFill>
                  <a:schemeClr val="tx1"/>
                </a:solidFill>
              </a:rPr>
              <a:t>40#</a:t>
            </a:r>
            <a:r>
              <a:rPr lang="zh-CN" altLang="en-US" sz="1800" dirty="0" smtClean="0">
                <a:solidFill>
                  <a:schemeClr val="tx1"/>
                </a:solidFill>
              </a:rPr>
              <a:t>～</a:t>
            </a:r>
            <a:r>
              <a:rPr lang="en-US" altLang="zh-CN" sz="1800" dirty="0" smtClean="0">
                <a:solidFill>
                  <a:schemeClr val="tx1"/>
                </a:solidFill>
              </a:rPr>
              <a:t>43#</a:t>
            </a:r>
            <a:r>
              <a:rPr lang="zh-CN" altLang="en-US" sz="1800" dirty="0" smtClean="0">
                <a:solidFill>
                  <a:schemeClr val="tx1"/>
                </a:solidFill>
              </a:rPr>
              <a:t>单元中时，</a:t>
            </a:r>
            <a:r>
              <a:rPr lang="en-US" altLang="zh-CN" sz="1800" dirty="0">
                <a:solidFill>
                  <a:schemeClr val="tx1"/>
                </a:solidFill>
              </a:rPr>
              <a:t>40</a:t>
            </a:r>
            <a:r>
              <a:rPr lang="en-US" altLang="zh-CN" sz="1800" dirty="0" smtClean="0">
                <a:solidFill>
                  <a:schemeClr val="tx1"/>
                </a:solidFill>
              </a:rPr>
              <a:t>#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, </a:t>
            </a:r>
            <a:r>
              <a:rPr lang="en-US" altLang="zh-CN" sz="1800" dirty="0" smtClean="0">
                <a:solidFill>
                  <a:schemeClr val="tx1"/>
                </a:solidFill>
              </a:rPr>
              <a:t>41#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,…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12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8" grpId="0" bldLvl="0" animBg="1"/>
      <p:bldP spid="110" grpId="0" bldLvl="0" animBg="1"/>
      <p:bldP spid="114" grpId="0" bldLvl="0" animBg="1"/>
      <p:bldP spid="115" grpId="0" bldLvl="0" animBg="1"/>
      <p:bldP spid="116" grpId="0" bldLvl="0" animBg="1"/>
      <p:bldP spid="117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4C23-CC31-439B-B534-2E21AC938859}" type="slidenum">
              <a:rPr lang="en-US" altLang="zh-CN"/>
            </a:fld>
            <a:endParaRPr lang="en-US" altLang="zh-CN"/>
          </a:p>
        </p:txBody>
      </p:sp>
      <p:sp>
        <p:nvSpPr>
          <p:cNvPr id="247899" name="Text Box 91"/>
          <p:cNvSpPr txBox="1">
            <a:spLocks noChangeArrowheads="1"/>
          </p:cNvSpPr>
          <p:nvPr/>
        </p:nvSpPr>
        <p:spPr bwMode="auto">
          <a:xfrm>
            <a:off x="838200" y="26737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§2.3 </a:t>
            </a:r>
            <a:r>
              <a:rPr lang="zh-CN" altLang="en-US" sz="2800" dirty="0" smtClean="0">
                <a:solidFill>
                  <a:schemeClr val="tx1"/>
                </a:solidFill>
              </a:rPr>
              <a:t>定点数的运算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右箭头 11">
            <a:hlinkClick r:id="rId1" action="ppaction://hlinksldjump"/>
          </p:cNvPr>
          <p:cNvSpPr/>
          <p:nvPr/>
        </p:nvSpPr>
        <p:spPr bwMode="auto">
          <a:xfrm>
            <a:off x="7164288" y="237885"/>
            <a:ext cx="1728000" cy="549526"/>
          </a:xfrm>
          <a:prstGeom prst="rightArrow">
            <a:avLst>
              <a:gd name="adj1" fmla="val 51587"/>
              <a:gd name="adj2" fmla="val 41927"/>
            </a:avLst>
          </a:prstGeom>
          <a:solidFill>
            <a:srgbClr val="FFCC99">
              <a:alpha val="80000"/>
            </a:srgb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10800" rIns="18000" bIns="10800" numCol="1" rtlCol="0" anchor="ctr" anchorCtr="0" compatLnSpc="1">
            <a:spAutoFit/>
          </a:bodyPr>
          <a:lstStyle/>
          <a:p>
            <a:pPr>
              <a:lnSpc>
                <a:spcPct val="95000"/>
              </a:lnSpc>
            </a:pPr>
            <a:r>
              <a:rPr lang="zh-CN" altLang="en-US" sz="1800" dirty="0" smtClean="0">
                <a:solidFill>
                  <a:schemeClr val="accent2"/>
                </a:solidFill>
              </a:rPr>
              <a:t>回顾逻辑部件</a:t>
            </a:r>
            <a:endParaRPr lang="zh-CN" altLang="en-US" sz="1800" dirty="0">
              <a:solidFill>
                <a:schemeClr val="accent2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388" y="1340768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一、定点加减运算</a:t>
            </a:r>
            <a:endParaRPr lang="zh-CN" altLang="en-US" sz="2400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9388" y="1837273"/>
            <a:ext cx="8785225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补码加减、无符号加减，需</a:t>
            </a:r>
            <a:r>
              <a:rPr lang="zh-CN" altLang="en-US" u="sng" dirty="0" smtClean="0">
                <a:solidFill>
                  <a:schemeClr val="tx1"/>
                </a:solidFill>
              </a:rPr>
              <a:t>判断溢出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</a:t>
            </a:r>
            <a:r>
              <a:rPr lang="zh-CN" altLang="en-US" sz="1800" b="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原码加减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移码加减</a:t>
            </a:r>
            <a:r>
              <a:rPr lang="zh-CN" altLang="en-US" sz="1800" u="sng" dirty="0" smtClean="0">
                <a:solidFill>
                  <a:srgbClr val="0070C0"/>
                </a:solidFill>
              </a:rPr>
              <a:t>不考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AutoShape 29"/>
          <p:cNvSpPr/>
          <p:nvPr/>
        </p:nvSpPr>
        <p:spPr bwMode="auto">
          <a:xfrm>
            <a:off x="2915816" y="3068960"/>
            <a:ext cx="2916000" cy="252000"/>
          </a:xfrm>
          <a:prstGeom prst="borderCallout2">
            <a:avLst>
              <a:gd name="adj1" fmla="val 48385"/>
              <a:gd name="adj2" fmla="val 332"/>
              <a:gd name="adj3" fmla="val 47536"/>
              <a:gd name="adj4" fmla="val -8585"/>
              <a:gd name="adj5" fmla="val 278183"/>
              <a:gd name="adj6" fmla="val -15607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数据用补码表示→结果为补码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79388" y="4451627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1—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11101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10111</a:t>
            </a:r>
            <a:r>
              <a:rPr lang="zh-CN" altLang="en-US" dirty="0" smtClean="0">
                <a:solidFill>
                  <a:schemeClr val="tx1"/>
                </a:solidFill>
              </a:rPr>
              <a:t>，求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endParaRPr lang="en-US" altLang="zh-CN" baseline="-180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 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79712" y="4957427"/>
            <a:ext cx="6912768" cy="1344342"/>
            <a:chOff x="1619672" y="4893204"/>
            <a:chExt cx="6912768" cy="1344342"/>
          </a:xfrm>
        </p:grpSpPr>
        <p:sp>
          <p:nvSpPr>
            <p:cNvPr id="21" name="Text Box 12"/>
            <p:cNvSpPr txBox="1">
              <a:spLocks noChangeArrowheads="1"/>
            </p:cNvSpPr>
            <p:nvPr/>
          </p:nvSpPr>
          <p:spPr bwMode="auto">
            <a:xfrm>
              <a:off x="1619672" y="4893204"/>
              <a:ext cx="4104456" cy="134434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1973580" indent="-1973580">
                <a:lnSpc>
                  <a:spcPct val="100000"/>
                </a:lnSpc>
              </a:pPr>
              <a:r>
                <a:rPr lang="en-US" altLang="zh-CN" dirty="0" smtClean="0">
                  <a:solidFill>
                    <a:schemeClr val="tx1"/>
                  </a:solidFill>
                </a:rPr>
                <a:t>[-</a:t>
              </a:r>
              <a:r>
                <a:rPr lang="en-US" altLang="zh-CN" dirty="0">
                  <a:solidFill>
                    <a:schemeClr val="tx1"/>
                  </a:solidFill>
                </a:rPr>
                <a:t>B]</a:t>
              </a:r>
              <a:r>
                <a:rPr lang="zh-CN" altLang="en-US" baseline="-20000" dirty="0">
                  <a:solidFill>
                    <a:schemeClr val="tx1"/>
                  </a:solidFill>
                </a:rPr>
                <a:t>补</a:t>
              </a:r>
              <a:r>
                <a:rPr lang="en-US" altLang="zh-CN" dirty="0">
                  <a:solidFill>
                    <a:schemeClr val="tx1"/>
                  </a:solidFill>
                </a:rPr>
                <a:t>=</a:t>
              </a:r>
              <a:r>
                <a:rPr lang="en-US" altLang="zh-CN" dirty="0" smtClean="0">
                  <a:solidFill>
                    <a:schemeClr val="tx1"/>
                  </a:solidFill>
                </a:rPr>
                <a:t>01001</a:t>
              </a:r>
              <a:r>
                <a:rPr lang="zh-CN" altLang="en-US" dirty="0" smtClean="0">
                  <a:solidFill>
                    <a:schemeClr val="tx1"/>
                  </a:solidFill>
                </a:rPr>
                <a:t>，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1973580" indent="-1973580"/>
              <a:r>
                <a:rPr lang="en-US" altLang="zh-CN" dirty="0" smtClean="0">
                  <a:solidFill>
                    <a:schemeClr val="tx1"/>
                  </a:solidFill>
                </a:rPr>
                <a:t>[A-B]</a:t>
              </a:r>
              <a:r>
                <a:rPr lang="zh-CN" altLang="en-US" baseline="-20000" dirty="0" smtClean="0">
                  <a:solidFill>
                    <a:schemeClr val="tx1"/>
                  </a:solidFill>
                </a:rPr>
                <a:t>补</a:t>
              </a:r>
              <a:r>
                <a:rPr lang="en-US" altLang="zh-CN" dirty="0" smtClean="0">
                  <a:solidFill>
                    <a:schemeClr val="tx1"/>
                  </a:solidFill>
                </a:rPr>
                <a:t>=[A]</a:t>
              </a:r>
              <a:r>
                <a:rPr lang="zh-CN" altLang="en-US" baseline="-20000" dirty="0" smtClean="0">
                  <a:solidFill>
                    <a:schemeClr val="tx1"/>
                  </a:solidFill>
                </a:rPr>
                <a:t>补</a:t>
              </a:r>
              <a:r>
                <a:rPr lang="en-US" altLang="zh-CN" dirty="0" smtClean="0">
                  <a:solidFill>
                    <a:schemeClr val="tx1"/>
                  </a:solidFill>
                </a:rPr>
                <a:t>+[-B]</a:t>
              </a:r>
              <a:r>
                <a:rPr lang="zh-CN" altLang="en-US" baseline="-20000" dirty="0" smtClean="0">
                  <a:solidFill>
                    <a:schemeClr val="tx1"/>
                  </a:solidFill>
                </a:rPr>
                <a:t>补</a:t>
              </a:r>
              <a:endParaRPr lang="zh-CN" altLang="en-US" baseline="-20000" dirty="0" smtClean="0">
                <a:solidFill>
                  <a:schemeClr val="tx1"/>
                </a:solidFill>
              </a:endParaRPr>
            </a:p>
            <a:p>
              <a:pPr marL="1973580" indent="-1973580">
                <a:lnSpc>
                  <a:spcPct val="114000"/>
                </a:lnSpc>
              </a:pPr>
              <a:r>
                <a:rPr lang="zh-CN" altLang="en-US" dirty="0" smtClean="0">
                  <a:solidFill>
                    <a:schemeClr val="tx1"/>
                  </a:solidFill>
                </a:rPr>
                <a:t>    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dirty="0" smtClean="0">
                  <a:solidFill>
                    <a:schemeClr val="tx1"/>
                  </a:solidFill>
                </a:rPr>
                <a:t>=11101+01001=</a:t>
              </a:r>
              <a:r>
                <a:rPr lang="en-US" altLang="zh-CN" dirty="0" smtClean="0">
                  <a:solidFill>
                    <a:srgbClr val="990099"/>
                  </a:solidFill>
                </a:rPr>
                <a:t>00110</a:t>
              </a:r>
              <a:endParaRPr lang="en-US" altLang="zh-CN" dirty="0">
                <a:solidFill>
                  <a:srgbClr val="990099"/>
                </a:solidFill>
              </a:endParaRP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5868144" y="5565220"/>
              <a:ext cx="11837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5868144" y="5591073"/>
              <a:ext cx="214313" cy="28892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5867200" y="4938588"/>
              <a:ext cx="2665240" cy="12269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2200" dirty="0">
                  <a:solidFill>
                    <a:schemeClr val="tx1"/>
                  </a:solidFill>
                </a:rPr>
                <a:t>  </a:t>
              </a:r>
              <a:r>
                <a:rPr lang="en-US" altLang="zh-CN" sz="2200" dirty="0" smtClean="0">
                  <a:solidFill>
                    <a:schemeClr val="tx1"/>
                  </a:solidFill>
                </a:rPr>
                <a:t>11101 [-3]</a:t>
              </a:r>
              <a:r>
                <a:rPr lang="zh-CN" altLang="en-US" sz="22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22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2200" dirty="0" smtClean="0">
                  <a:solidFill>
                    <a:schemeClr val="tx1"/>
                  </a:solidFill>
                </a:rPr>
                <a:t>+ 01001 [+9]</a:t>
              </a:r>
              <a:r>
                <a:rPr lang="zh-CN" altLang="en-US" sz="22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22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22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2200" dirty="0" smtClean="0">
                  <a:solidFill>
                    <a:srgbClr val="990099"/>
                  </a:solidFill>
                </a:rPr>
                <a:t>00110 [+6]</a:t>
              </a:r>
              <a:r>
                <a:rPr lang="zh-CN" altLang="en-US" sz="2200" baseline="-18000" dirty="0" smtClean="0">
                  <a:solidFill>
                    <a:srgbClr val="990099"/>
                  </a:solidFill>
                </a:rPr>
                <a:t>补</a:t>
              </a:r>
              <a:endParaRPr lang="en-US" altLang="zh-CN" sz="2200" baseline="-18000" dirty="0" smtClean="0">
                <a:solidFill>
                  <a:srgbClr val="990099"/>
                </a:solidFill>
              </a:endParaRPr>
            </a:p>
            <a:p>
              <a:pPr marL="457200" indent="-457200">
                <a:lnSpc>
                  <a:spcPct val="100000"/>
                </a:lnSpc>
              </a:pPr>
              <a:r>
                <a:rPr lang="zh-CN" altLang="en-US" sz="1800" b="0" dirty="0" smtClean="0">
                  <a:solidFill>
                    <a:schemeClr val="accent2"/>
                  </a:solidFill>
                </a:rPr>
                <a:t>└</a:t>
              </a:r>
              <a:r>
                <a:rPr lang="zh-CN" altLang="en-US" sz="1800" dirty="0" smtClean="0">
                  <a:solidFill>
                    <a:schemeClr val="accent2"/>
                  </a:solidFill>
                </a:rPr>
                <a:t>→进位丢弃</a:t>
              </a:r>
              <a:r>
                <a:rPr lang="en-US" altLang="zh-CN" sz="1800" dirty="0" smtClean="0">
                  <a:solidFill>
                    <a:schemeClr val="accent2"/>
                  </a:solidFill>
                </a:rPr>
                <a:t>(</a:t>
              </a:r>
              <a:r>
                <a:rPr lang="zh-CN" altLang="en-US" sz="1800" dirty="0" smtClean="0">
                  <a:solidFill>
                    <a:schemeClr val="accent2"/>
                  </a:solidFill>
                </a:rPr>
                <a:t>有模运算</a:t>
              </a:r>
              <a:r>
                <a:rPr lang="en-US" altLang="zh-CN" sz="1800" dirty="0" smtClean="0">
                  <a:solidFill>
                    <a:schemeClr val="accent2"/>
                  </a:solidFill>
                </a:rPr>
                <a:t>)</a:t>
              </a:r>
              <a:endParaRPr lang="zh-CN" altLang="en-US" sz="1800" dirty="0">
                <a:solidFill>
                  <a:schemeClr val="accent2"/>
                </a:solidFill>
              </a:endParaRPr>
            </a:p>
            <a:p>
              <a:pPr marL="457200" indent="-457200">
                <a:lnSpc>
                  <a:spcPct val="100000"/>
                </a:lnSpc>
              </a:pPr>
              <a:endParaRPr lang="zh-CN" altLang="en-US" sz="18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2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6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 </a:t>
            </a:r>
            <a:r>
              <a:rPr lang="en-US" altLang="zh-CN" sz="2200" dirty="0" smtClean="0">
                <a:solidFill>
                  <a:srgbClr val="FF3399"/>
                </a:solidFill>
              </a:rPr>
              <a:t>※</a:t>
            </a:r>
            <a:r>
              <a:rPr lang="zh-CN" altLang="en-US" sz="2200" dirty="0" smtClean="0">
                <a:solidFill>
                  <a:srgbClr val="FF3399"/>
                </a:solidFill>
              </a:rPr>
              <a:t>主要内容：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无符号的加减、移位</a:t>
            </a:r>
            <a:r>
              <a:rPr lang="zh-CN" altLang="en-US" sz="2200" dirty="0" smtClean="0">
                <a:solidFill>
                  <a:schemeClr val="tx1"/>
                </a:solidFill>
              </a:rPr>
              <a:t>、乘法的运算规则、部件组织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79512" y="5437673"/>
            <a:ext cx="201622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(2)</a:t>
            </a:r>
            <a:r>
              <a:rPr lang="zh-CN" altLang="en-US" dirty="0" smtClean="0">
                <a:solidFill>
                  <a:srgbClr val="FF3399"/>
                </a:solidFill>
              </a:rPr>
              <a:t>逻辑实现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 smtClean="0">
                <a:solidFill>
                  <a:srgbClr val="FF3399"/>
                </a:solidFill>
              </a:rPr>
              <a:t>(3)</a:t>
            </a:r>
            <a:r>
              <a:rPr lang="zh-CN" altLang="en-US" dirty="0" smtClean="0">
                <a:solidFill>
                  <a:srgbClr val="FF3399"/>
                </a:solidFill>
              </a:rPr>
              <a:t>溢出判断    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179389" y="2606208"/>
            <a:ext cx="2808436" cy="19761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、补码加减</a:t>
            </a:r>
            <a:r>
              <a:rPr lang="zh-CN" altLang="en-US" dirty="0" smtClean="0">
                <a:solidFill>
                  <a:srgbClr val="FF3399"/>
                </a:solidFill>
              </a:rPr>
              <a:t>运算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3399"/>
                </a:solidFill>
              </a:rPr>
              <a:t>(1)</a:t>
            </a:r>
            <a:r>
              <a:rPr lang="zh-CN" altLang="en-US" dirty="0" smtClean="0">
                <a:solidFill>
                  <a:srgbClr val="FF3399"/>
                </a:solidFill>
              </a:rPr>
              <a:t>运算方法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*加法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*减法：</a:t>
            </a:r>
            <a:r>
              <a:rPr lang="zh-CN" altLang="en-US" dirty="0" smtClean="0">
                <a:solidFill>
                  <a:srgbClr val="FF3399"/>
                </a:solidFill>
              </a:rPr>
              <a:t>    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1403648" y="3565465"/>
            <a:ext cx="763284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[A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20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rgbClr val="FF3399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A+M</a:t>
            </a:r>
            <a:r>
              <a:rPr lang="en-US" altLang="zh-CN" sz="1800" dirty="0" smtClean="0">
                <a:solidFill>
                  <a:srgbClr val="FF3399"/>
                </a:solidFill>
              </a:rPr>
              <a:t>+</a:t>
            </a:r>
            <a:r>
              <a:rPr lang="en-US" altLang="zh-CN" sz="1800" dirty="0" smtClean="0">
                <a:solidFill>
                  <a:schemeClr val="tx1"/>
                </a:solidFill>
              </a:rPr>
              <a:t>B+M </a:t>
            </a:r>
            <a:r>
              <a:rPr lang="en-US" altLang="zh-CN" sz="1800" dirty="0">
                <a:solidFill>
                  <a:schemeClr val="tx1"/>
                </a:solidFill>
              </a:rPr>
              <a:t>(mod </a:t>
            </a:r>
            <a:r>
              <a:rPr lang="en-US" altLang="zh-CN" sz="1800" dirty="0" smtClean="0">
                <a:solidFill>
                  <a:schemeClr val="tx1"/>
                </a:solidFill>
              </a:rPr>
              <a:t>M)</a:t>
            </a:r>
            <a:r>
              <a:rPr lang="zh-CN" altLang="en-US" sz="1800" dirty="0" smtClean="0">
                <a:solidFill>
                  <a:srgbClr val="FF3399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en-US" altLang="zh-CN" sz="1800" dirty="0" smtClean="0">
                <a:solidFill>
                  <a:srgbClr val="FF3399"/>
                </a:solidFill>
              </a:rPr>
              <a:t>+</a:t>
            </a:r>
            <a:r>
              <a:rPr lang="en-US" altLang="zh-CN" sz="1800" dirty="0" smtClean="0">
                <a:solidFill>
                  <a:schemeClr val="tx1"/>
                </a:solidFill>
              </a:rPr>
              <a:t>B+M (mod M)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[A</a:t>
            </a:r>
            <a:r>
              <a:rPr lang="zh-CN" altLang="en-US" dirty="0">
                <a:solidFill>
                  <a:schemeClr val="tx1"/>
                </a:solidFill>
              </a:rPr>
              <a:t>－</a:t>
            </a:r>
            <a:r>
              <a:rPr lang="en-US" altLang="zh-CN" dirty="0">
                <a:solidFill>
                  <a:schemeClr val="tx1"/>
                </a:solidFill>
              </a:rPr>
              <a:t>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(-B)]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[-B]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AutoShape 29"/>
          <p:cNvSpPr/>
          <p:nvPr/>
        </p:nvSpPr>
        <p:spPr bwMode="auto">
          <a:xfrm>
            <a:off x="4176280" y="3393024"/>
            <a:ext cx="1224000" cy="252000"/>
          </a:xfrm>
          <a:prstGeom prst="borderCallout2">
            <a:avLst>
              <a:gd name="adj1" fmla="val 48385"/>
              <a:gd name="adj2" fmla="val 332"/>
              <a:gd name="adj3" fmla="val 47536"/>
              <a:gd name="adj4" fmla="val -14366"/>
              <a:gd name="adj5" fmla="val 133472"/>
              <a:gd name="adj6" fmla="val -28467"/>
            </a:avLst>
          </a:prstGeom>
          <a:solidFill>
            <a:srgbClr val="CCFFFF"/>
          </a:solidFill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二进制加法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rot="10800000">
            <a:off x="5508000" y="3501009"/>
            <a:ext cx="2016000" cy="288000"/>
          </a:xfrm>
          <a:prstGeom prst="bentConnector3">
            <a:avLst>
              <a:gd name="adj1" fmla="val -396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6899"/>
    </mc:Choice>
    <mc:Fallback>
      <p:transition spd="slow" advTm="68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9" grpId="1" animBg="1"/>
      <p:bldP spid="20" grpId="0"/>
      <p:bldP spid="27" grpId="0"/>
      <p:bldP spid="27" grpId="1"/>
      <p:bldP spid="28" grpId="0" bldLvl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BFB0-A0E8-4555-BE80-C0615EF03C20}" type="slidenum">
              <a:rPr lang="en-US" altLang="zh-CN"/>
            </a:fld>
            <a:endParaRPr lang="en-US" altLang="zh-CN"/>
          </a:p>
        </p:txBody>
      </p:sp>
      <p:sp>
        <p:nvSpPr>
          <p:cNvPr id="261284" name="Text Box 164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2—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A=-01010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B=+01101</a:t>
            </a:r>
            <a:r>
              <a:rPr lang="zh-CN" altLang="en-US" dirty="0" smtClean="0">
                <a:solidFill>
                  <a:schemeClr val="tx1"/>
                </a:solidFill>
              </a:rPr>
              <a:t>，求</a:t>
            </a:r>
            <a:r>
              <a:rPr lang="en-US" altLang="zh-CN" dirty="0">
                <a:solidFill>
                  <a:schemeClr val="tx1"/>
                </a:solidFill>
              </a:rPr>
              <a:t>[A+B]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[A-B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261288" name="Text Box 168"/>
          <p:cNvSpPr txBox="1">
            <a:spLocks noChangeArrowheads="1"/>
          </p:cNvSpPr>
          <p:nvPr/>
        </p:nvSpPr>
        <p:spPr bwMode="auto">
          <a:xfrm>
            <a:off x="1331516" y="764704"/>
            <a:ext cx="7560964" cy="1396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=110110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001101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=110011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+[B]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dirty="0">
                <a:solidFill>
                  <a:schemeClr val="tx1"/>
                </a:solidFill>
              </a:rPr>
              <a:t>110110+001101=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990099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00011</a:t>
            </a:r>
            <a:r>
              <a:rPr lang="zh-CN" altLang="en-US" dirty="0" smtClean="0">
                <a:solidFill>
                  <a:schemeClr val="tx1"/>
                </a:solidFill>
              </a:rPr>
              <a:t>， 符号</a:t>
            </a:r>
            <a:r>
              <a:rPr lang="zh-CN" altLang="en-US" dirty="0" smtClean="0">
                <a:solidFill>
                  <a:srgbClr val="990099"/>
                </a:solidFill>
              </a:rPr>
              <a:t>对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[A-B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+[-B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110110+110011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01001</a:t>
            </a:r>
            <a:r>
              <a:rPr lang="zh-CN" altLang="en-US" dirty="0" smtClean="0">
                <a:solidFill>
                  <a:schemeClr val="tx1"/>
                </a:solidFill>
              </a:rPr>
              <a:t>，符号</a:t>
            </a:r>
            <a:r>
              <a:rPr lang="zh-CN" altLang="en-US" dirty="0" smtClean="0">
                <a:solidFill>
                  <a:srgbClr val="990099"/>
                </a:solidFill>
              </a:rPr>
              <a:t>对</a:t>
            </a:r>
            <a:endParaRPr lang="zh-CN" altLang="en-US" dirty="0">
              <a:solidFill>
                <a:srgbClr val="990099"/>
              </a:solidFill>
            </a:endParaRPr>
          </a:p>
        </p:txBody>
      </p:sp>
      <p:sp>
        <p:nvSpPr>
          <p:cNvPr id="261296" name="Text Box 176"/>
          <p:cNvSpPr txBox="1">
            <a:spLocks noChangeArrowheads="1"/>
          </p:cNvSpPr>
          <p:nvPr/>
        </p:nvSpPr>
        <p:spPr bwMode="auto">
          <a:xfrm>
            <a:off x="179388" y="5705242"/>
            <a:ext cx="89646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19250" indent="-1619250"/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spc="-100" dirty="0" smtClean="0">
                <a:solidFill>
                  <a:schemeClr val="tx1"/>
                </a:solidFill>
              </a:rPr>
              <a:t>整数用</a:t>
            </a:r>
            <a:r>
              <a:rPr lang="en-US" altLang="zh-CN" spc="-100" dirty="0" smtClean="0">
                <a:solidFill>
                  <a:schemeClr val="tx1"/>
                </a:solidFill>
              </a:rPr>
              <a:t>8</a:t>
            </a:r>
            <a:r>
              <a:rPr lang="zh-CN" altLang="en-US" spc="-100" dirty="0" smtClean="0">
                <a:solidFill>
                  <a:schemeClr val="tx1"/>
                </a:solidFill>
              </a:rPr>
              <a:t>位补码表示，</a:t>
            </a:r>
            <a:r>
              <a:rPr lang="en-US" altLang="zh-CN" spc="-100" dirty="0" smtClean="0">
                <a:solidFill>
                  <a:schemeClr val="tx1"/>
                </a:solidFill>
              </a:rPr>
              <a:t>A</a:t>
            </a:r>
            <a:r>
              <a:rPr lang="en-US" altLang="zh-CN" spc="-100" dirty="0">
                <a:solidFill>
                  <a:schemeClr val="tx1"/>
                </a:solidFill>
              </a:rPr>
              <a:t>=+15</a:t>
            </a:r>
            <a:r>
              <a:rPr lang="zh-CN" altLang="en-US" spc="-100" dirty="0">
                <a:solidFill>
                  <a:schemeClr val="tx1"/>
                </a:solidFill>
              </a:rPr>
              <a:t>，</a:t>
            </a:r>
            <a:r>
              <a:rPr lang="en-US" altLang="zh-CN" spc="-100" dirty="0">
                <a:solidFill>
                  <a:schemeClr val="tx1"/>
                </a:solidFill>
              </a:rPr>
              <a:t>B=+24</a:t>
            </a:r>
            <a:r>
              <a:rPr lang="zh-CN" altLang="en-US" spc="-100" dirty="0" smtClean="0">
                <a:solidFill>
                  <a:schemeClr val="tx1"/>
                </a:solidFill>
              </a:rPr>
              <a:t>，求</a:t>
            </a:r>
            <a:r>
              <a:rPr lang="en-US" altLang="zh-CN" spc="-100" dirty="0">
                <a:solidFill>
                  <a:schemeClr val="tx1"/>
                </a:solidFill>
              </a:rPr>
              <a:t>[A+B]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pc="-100" dirty="0">
                <a:solidFill>
                  <a:schemeClr val="tx1"/>
                </a:solidFill>
              </a:rPr>
              <a:t>、</a:t>
            </a:r>
            <a:r>
              <a:rPr lang="en-US" altLang="zh-CN" spc="-100" dirty="0">
                <a:solidFill>
                  <a:schemeClr val="tx1"/>
                </a:solidFill>
              </a:rPr>
              <a:t>[A-B]</a:t>
            </a:r>
            <a:r>
              <a:rPr lang="zh-CN" altLang="en-US" spc="-100" baseline="-18000" dirty="0" smtClean="0">
                <a:solidFill>
                  <a:schemeClr val="tx1"/>
                </a:solidFill>
              </a:rPr>
              <a:t>补</a:t>
            </a:r>
            <a:endParaRPr lang="en-US" altLang="zh-CN" spc="-100" baseline="-18000" dirty="0" smtClean="0">
              <a:solidFill>
                <a:schemeClr val="tx1"/>
              </a:solidFill>
            </a:endParaRPr>
          </a:p>
        </p:txBody>
      </p:sp>
      <p:sp>
        <p:nvSpPr>
          <p:cNvPr id="261297" name="Text Box 177"/>
          <p:cNvSpPr txBox="1">
            <a:spLocks noChangeArrowheads="1"/>
          </p:cNvSpPr>
          <p:nvPr/>
        </p:nvSpPr>
        <p:spPr bwMode="auto">
          <a:xfrm>
            <a:off x="179388" y="5201186"/>
            <a:ext cx="885710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运算特征：</a:t>
            </a:r>
            <a:r>
              <a:rPr lang="zh-CN" altLang="en-US" dirty="0" smtClean="0">
                <a:solidFill>
                  <a:schemeClr val="tx1"/>
                </a:solidFill>
              </a:rPr>
              <a:t>减法</a:t>
            </a:r>
            <a:r>
              <a:rPr lang="zh-CN" altLang="en-US" dirty="0" smtClean="0">
                <a:solidFill>
                  <a:srgbClr val="990099"/>
                </a:solidFill>
              </a:rPr>
              <a:t>可以</a:t>
            </a:r>
            <a:r>
              <a:rPr lang="zh-CN" altLang="en-US" dirty="0" smtClean="0">
                <a:solidFill>
                  <a:schemeClr val="tx1"/>
                </a:solidFill>
              </a:rPr>
              <a:t>不比较大小，符号与数值</a:t>
            </a:r>
            <a:r>
              <a:rPr lang="zh-CN" altLang="en-US" dirty="0">
                <a:solidFill>
                  <a:srgbClr val="990099"/>
                </a:solidFill>
              </a:rPr>
              <a:t>可以</a:t>
            </a:r>
            <a:r>
              <a:rPr lang="zh-CN" altLang="en-US" dirty="0" smtClean="0">
                <a:solidFill>
                  <a:schemeClr val="tx1"/>
                </a:solidFill>
              </a:rPr>
              <a:t>一起运算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179388" y="2924944"/>
            <a:ext cx="8857108" cy="22775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符号与数值一起运算的</a:t>
            </a:r>
            <a:r>
              <a:rPr lang="zh-CN" altLang="en-US" u="sng" dirty="0" smtClean="0">
                <a:solidFill>
                  <a:schemeClr val="accent2"/>
                </a:solidFill>
              </a:rPr>
              <a:t>正确性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结果不溢出时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accent2"/>
                </a:solidFill>
              </a:rPr>
              <a:t>证明</a:t>
            </a:r>
            <a:r>
              <a:rPr lang="en-US" altLang="zh-CN" dirty="0" smtClean="0">
                <a:solidFill>
                  <a:schemeClr val="accent2"/>
                </a:solidFill>
              </a:rPr>
              <a:t>—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rgbClr val="990099"/>
                </a:solidFill>
              </a:rPr>
              <a:t>枚举法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 3+2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3-(-2)    3+(-2)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3-2   -3+2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-3-(-2)  -3+(-2)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-3-2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011([+3]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011([+3]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101([-3]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101([-3]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0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010</a:t>
            </a:r>
            <a:r>
              <a:rPr lang="en-US" altLang="zh-CN" sz="2000" dirty="0" smtClean="0">
                <a:solidFill>
                  <a:schemeClr val="tx1"/>
                </a:solidFill>
              </a:rPr>
              <a:t>([+2]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1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110</a:t>
            </a:r>
            <a:r>
              <a:rPr lang="en-US" altLang="zh-CN" sz="2000" dirty="0" smtClean="0">
                <a:solidFill>
                  <a:schemeClr val="tx1"/>
                </a:solidFill>
              </a:rPr>
              <a:t>([-2]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0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010</a:t>
            </a:r>
            <a:r>
              <a:rPr lang="en-US" altLang="zh-CN" sz="2000" dirty="0" smtClean="0">
                <a:solidFill>
                  <a:schemeClr val="tx1"/>
                </a:solidFill>
              </a:rPr>
              <a:t>([+2]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1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110</a:t>
            </a:r>
            <a:r>
              <a:rPr lang="en-US" altLang="zh-CN" sz="2000" dirty="0" smtClean="0">
                <a:solidFill>
                  <a:schemeClr val="tx1"/>
                </a:solidFill>
              </a:rPr>
              <a:t>([-2]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101([</a:t>
            </a:r>
            <a:r>
              <a:rPr lang="en-US" altLang="zh-CN" sz="2000" dirty="0" smtClean="0">
                <a:solidFill>
                  <a:srgbClr val="FF3399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</a:rPr>
              <a:t>5]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001([</a:t>
            </a:r>
            <a:r>
              <a:rPr lang="en-US" altLang="zh-CN" sz="2000" dirty="0" smtClean="0">
                <a:solidFill>
                  <a:srgbClr val="FF3399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</a:rPr>
              <a:t>1]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111([</a:t>
            </a:r>
            <a:r>
              <a:rPr lang="en-US" altLang="zh-CN" sz="2000" dirty="0" smtClean="0">
                <a:solidFill>
                  <a:srgbClr val="FF3399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</a:rPr>
              <a:t>1]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011([</a:t>
            </a:r>
            <a:r>
              <a:rPr lang="en-US" altLang="zh-CN" sz="2000" dirty="0" smtClean="0">
                <a:solidFill>
                  <a:srgbClr val="FF3399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</a:rPr>
              <a:t>5]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</a:t>
            </a:r>
            <a:r>
              <a:rPr lang="en-US" altLang="zh-CN" sz="2200" dirty="0" smtClean="0">
                <a:solidFill>
                  <a:srgbClr val="990099"/>
                </a:solidFill>
              </a:rPr>
              <a:t>       </a:t>
            </a:r>
            <a:r>
              <a:rPr lang="zh-CN" altLang="en-US" sz="2200" dirty="0" smtClean="0">
                <a:solidFill>
                  <a:srgbClr val="990099"/>
                </a:solidFill>
              </a:rPr>
              <a:t>结论：</a:t>
            </a:r>
            <a:r>
              <a:rPr lang="zh-CN" altLang="en-US" sz="2200" dirty="0" smtClean="0">
                <a:solidFill>
                  <a:schemeClr val="tx1"/>
                </a:solidFill>
              </a:rPr>
              <a:t>实际结果＝理论结果！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69141" y="2132856"/>
            <a:ext cx="4405963" cy="799639"/>
            <a:chOff x="2469141" y="5517232"/>
            <a:chExt cx="4405963" cy="799639"/>
          </a:xfrm>
        </p:grpSpPr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2469141" y="5524871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 smtClean="0">
                  <a:solidFill>
                    <a:schemeClr val="tx1"/>
                  </a:solidFill>
                </a:rPr>
                <a:t>+ 001101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0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00011 [+03]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5003104" y="5517232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 smtClean="0">
                  <a:solidFill>
                    <a:schemeClr val="tx1"/>
                  </a:solidFill>
                </a:rPr>
                <a:t>+ 110011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01001 [-23]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43"/>
    </mc:Choice>
    <mc:Fallback>
      <p:transition spd="slow" advTm="18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1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6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96" grpId="0"/>
      <p:bldP spid="26129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096000" y="2736000"/>
            <a:ext cx="3312336" cy="324000"/>
            <a:chOff x="5364088" y="3141008"/>
            <a:chExt cx="3312336" cy="324000"/>
          </a:xfrm>
        </p:grpSpPr>
        <p:sp>
          <p:nvSpPr>
            <p:cNvPr id="82" name="Text Box 101"/>
            <p:cNvSpPr txBox="1">
              <a:spLocks noChangeArrowheads="1"/>
            </p:cNvSpPr>
            <p:nvPr/>
          </p:nvSpPr>
          <p:spPr bwMode="auto">
            <a:xfrm>
              <a:off x="7272424" y="3141008"/>
              <a:ext cx="1404000" cy="32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80" name="Text Box 101"/>
            <p:cNvSpPr txBox="1">
              <a:spLocks noChangeArrowheads="1"/>
            </p:cNvSpPr>
            <p:nvPr/>
          </p:nvSpPr>
          <p:spPr bwMode="auto">
            <a:xfrm>
              <a:off x="5364088" y="3141008"/>
              <a:ext cx="1656000" cy="324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691244" y="764704"/>
            <a:ext cx="1193377" cy="839779"/>
            <a:chOff x="5222256" y="1244377"/>
            <a:chExt cx="1193377" cy="839779"/>
          </a:xfrm>
        </p:grpSpPr>
        <p:sp>
          <p:nvSpPr>
            <p:cNvPr id="81" name="Text Box 101"/>
            <p:cNvSpPr txBox="1">
              <a:spLocks noChangeArrowheads="1"/>
            </p:cNvSpPr>
            <p:nvPr/>
          </p:nvSpPr>
          <p:spPr bwMode="auto">
            <a:xfrm>
              <a:off x="5222256" y="1251664"/>
              <a:ext cx="683988" cy="832492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 Box 101"/>
            <p:cNvSpPr txBox="1">
              <a:spLocks noChangeArrowheads="1"/>
            </p:cNvSpPr>
            <p:nvPr/>
          </p:nvSpPr>
          <p:spPr bwMode="auto">
            <a:xfrm>
              <a:off x="6199609" y="1244377"/>
              <a:ext cx="216024" cy="81120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CC99FF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Text Box 83"/>
          <p:cNvSpPr txBox="1">
            <a:spLocks noChangeArrowheads="1"/>
          </p:cNvSpPr>
          <p:nvPr/>
        </p:nvSpPr>
        <p:spPr bwMode="auto">
          <a:xfrm>
            <a:off x="179389" y="260648"/>
            <a:ext cx="7993011" cy="3324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(2)</a:t>
            </a:r>
            <a:r>
              <a:rPr lang="zh-CN" altLang="en-US" dirty="0">
                <a:solidFill>
                  <a:srgbClr val="FF3399"/>
                </a:solidFill>
              </a:rPr>
              <a:t>逻辑实现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运算方法特点：</a:t>
            </a:r>
            <a:r>
              <a:rPr lang="zh-CN" altLang="en-US" dirty="0" smtClean="0">
                <a:solidFill>
                  <a:schemeClr val="accent2"/>
                </a:solidFill>
              </a:rPr>
              <a:t>加法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 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sz="1600" baseline="-25000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</a:pPr>
            <a:r>
              <a:rPr lang="zh-CN" altLang="en-US" dirty="0" smtClean="0">
                <a:solidFill>
                  <a:schemeClr val="accent2"/>
                </a:solidFill>
              </a:rPr>
              <a:t>                减法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[-B]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sz="1600" baseline="-25000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实现思路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加减法器组成：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8" name="Text Box 90"/>
          <p:cNvSpPr txBox="1">
            <a:spLocks noChangeArrowheads="1"/>
          </p:cNvSpPr>
          <p:nvPr/>
        </p:nvSpPr>
        <p:spPr bwMode="auto">
          <a:xfrm>
            <a:off x="1980000" y="1628800"/>
            <a:ext cx="7092280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u="sng" dirty="0">
                <a:solidFill>
                  <a:schemeClr val="tx1"/>
                </a:solidFill>
              </a:rPr>
              <a:t>可统一</a:t>
            </a:r>
            <a:r>
              <a:rPr lang="zh-CN" altLang="en-US" dirty="0" smtClean="0">
                <a:solidFill>
                  <a:schemeClr val="tx1"/>
                </a:solidFill>
              </a:rPr>
              <a:t>处理，</a:t>
            </a: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zh-CN" altLang="en-US" dirty="0">
                <a:solidFill>
                  <a:srgbClr val="990099"/>
                </a:solidFill>
              </a:rPr>
              <a:t>加法器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运算</a:t>
            </a:r>
            <a:r>
              <a:rPr lang="zh-CN" altLang="en-US" dirty="0" smtClean="0">
                <a:solidFill>
                  <a:schemeClr val="tx1"/>
                </a:solidFill>
              </a:rPr>
              <a:t>、使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-1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0/1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减法时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即</a:t>
            </a:r>
            <a:r>
              <a:rPr lang="en-US" altLang="zh-CN" dirty="0" smtClean="0">
                <a:solidFill>
                  <a:schemeClr val="tx1"/>
                </a:solidFill>
              </a:rPr>
              <a:t>[A±B]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n-1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+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6000" dirty="0">
                <a:solidFill>
                  <a:schemeClr val="tx1"/>
                </a:solidFill>
              </a:rPr>
              <a:t>n-1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6000" dirty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+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baseline="-16000" dirty="0">
                <a:solidFill>
                  <a:schemeClr val="tx1"/>
                </a:solidFill>
              </a:rPr>
              <a:t>-1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其中 </a:t>
            </a:r>
            <a:r>
              <a:rPr lang="en-US" altLang="zh-CN" i="1" dirty="0" err="1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err="1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6000" dirty="0" err="1" smtClean="0">
                <a:solidFill>
                  <a:schemeClr val="tx1"/>
                </a:solidFill>
                <a:sym typeface="Symbol" panose="05050102010706020507"/>
              </a:rPr>
              <a:t>i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i="1" dirty="0" err="1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baseline="-16000" dirty="0" err="1" smtClean="0">
                <a:solidFill>
                  <a:schemeClr val="tx1"/>
                </a:solidFill>
              </a:rPr>
              <a:t>i</a:t>
            </a:r>
            <a:r>
              <a:rPr lang="en-US" altLang="zh-CN" b="0" dirty="0" err="1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err="1" smtClean="0">
                <a:solidFill>
                  <a:schemeClr val="tx1"/>
                </a:solidFill>
                <a:sym typeface="Symbol" panose="05050102010706020507"/>
              </a:rPr>
              <a:t>op</a:t>
            </a:r>
            <a:r>
              <a:rPr lang="en-US" altLang="zh-CN" baseline="-18000" dirty="0" err="1" smtClean="0">
                <a:solidFill>
                  <a:schemeClr val="tx1"/>
                </a:solidFill>
                <a:sym typeface="Symbol" panose="05050102010706020507"/>
              </a:rPr>
              <a:t>SUB</a:t>
            </a:r>
            <a:r>
              <a:rPr lang="zh-CN" altLang="en-US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-1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 smtClean="0">
                <a:solidFill>
                  <a:schemeClr val="tx1"/>
                </a:solidFill>
              </a:rPr>
              <a:t>op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SUB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err="1" smtClean="0">
                <a:solidFill>
                  <a:schemeClr val="tx1"/>
                </a:solidFill>
                <a:latin typeface="+mn-ea"/>
              </a:rPr>
              <a:t>op</a:t>
            </a:r>
            <a:r>
              <a:rPr lang="en-US" altLang="zh-CN" sz="1800" baseline="-18000" dirty="0" err="1" smtClean="0">
                <a:solidFill>
                  <a:schemeClr val="tx1"/>
                </a:solidFill>
                <a:latin typeface="+mn-ea"/>
              </a:rPr>
              <a:t>SUB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时表示减法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712C-6DBF-42B8-A01B-110DB13793C0}" type="slidenum">
              <a:rPr lang="en-US" altLang="zh-CN"/>
            </a:fld>
            <a:endParaRPr lang="en-US" altLang="zh-CN"/>
          </a:p>
        </p:txBody>
      </p:sp>
      <p:sp>
        <p:nvSpPr>
          <p:cNvPr id="262235" name="Text Box 91"/>
          <p:cNvSpPr txBox="1">
            <a:spLocks noChangeArrowheads="1"/>
          </p:cNvSpPr>
          <p:nvPr/>
        </p:nvSpPr>
        <p:spPr bwMode="auto">
          <a:xfrm>
            <a:off x="2627784" y="3024000"/>
            <a:ext cx="6336829" cy="8432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运算处理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加法器及异或门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＋溢出判断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产生</a:t>
            </a:r>
            <a:r>
              <a:rPr lang="en-US" altLang="zh-CN" sz="1800" dirty="0" smtClean="0">
                <a:solidFill>
                  <a:schemeClr val="tx1"/>
                </a:solidFill>
              </a:rPr>
              <a:t>OF</a:t>
            </a:r>
            <a:r>
              <a:rPr lang="zh-CN" altLang="en-US" sz="1800" dirty="0" smtClean="0">
                <a:solidFill>
                  <a:schemeClr val="tx1"/>
                </a:solidFill>
              </a:rPr>
              <a:t>及</a:t>
            </a:r>
            <a:r>
              <a:rPr lang="en-US" altLang="zh-CN" sz="1800" dirty="0" smtClean="0">
                <a:solidFill>
                  <a:schemeClr val="tx1"/>
                </a:solidFill>
              </a:rPr>
              <a:t>CF)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    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←结果是否正确  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262313" name="AutoShape 16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Text Box 16"/>
          <p:cNvSpPr txBox="1">
            <a:spLocks noChangeArrowheads="1"/>
          </p:cNvSpPr>
          <p:nvPr/>
        </p:nvSpPr>
        <p:spPr bwMode="auto">
          <a:xfrm>
            <a:off x="5508104" y="5582738"/>
            <a:ext cx="3168352" cy="36806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>
            <a:spAutoFit/>
          </a:bodyPr>
          <a:lstStyle/>
          <a:p>
            <a:pPr marL="719455" indent="-719455"/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dirty="0" smtClean="0">
                <a:solidFill>
                  <a:schemeClr val="tx1"/>
                </a:solidFill>
              </a:rPr>
              <a:t>op=1</a:t>
            </a:r>
            <a:r>
              <a:rPr lang="zh-CN" altLang="en-US" sz="1800" dirty="0">
                <a:solidFill>
                  <a:schemeClr val="tx1"/>
                </a:solidFill>
              </a:rPr>
              <a:t>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ADD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如何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实现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90" name="AutoShape 16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1851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6733237" y="1260000"/>
            <a:ext cx="576000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AutoShape 62">
            <a:hlinkClick r:id="rId3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5130329" y="6543774"/>
            <a:ext cx="287337" cy="25186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5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5400000">
            <a:off x="6084515" y="651906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9" name="AutoShape 16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19409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grpSp>
        <p:nvGrpSpPr>
          <p:cNvPr id="61" name="组合 60"/>
          <p:cNvGrpSpPr/>
          <p:nvPr/>
        </p:nvGrpSpPr>
        <p:grpSpPr>
          <a:xfrm>
            <a:off x="2267744" y="3717923"/>
            <a:ext cx="6048464" cy="2016851"/>
            <a:chOff x="1688471" y="4076942"/>
            <a:chExt cx="6048464" cy="2016851"/>
          </a:xfrm>
        </p:grpSpPr>
        <p:sp>
          <p:nvSpPr>
            <p:cNvPr id="62" name="Rectangle 183"/>
            <p:cNvSpPr>
              <a:spLocks noChangeArrowheads="1"/>
            </p:cNvSpPr>
            <p:nvPr/>
          </p:nvSpPr>
          <p:spPr bwMode="auto">
            <a:xfrm>
              <a:off x="1691928" y="4365105"/>
              <a:ext cx="3888000" cy="1440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 加减法器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endParaRPr lang="en-US" altLang="zh-CN" sz="20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 Box 184"/>
            <p:cNvSpPr txBox="1">
              <a:spLocks noChangeArrowheads="1"/>
            </p:cNvSpPr>
            <p:nvPr/>
          </p:nvSpPr>
          <p:spPr bwMode="auto">
            <a:xfrm>
              <a:off x="3049688" y="5157192"/>
              <a:ext cx="1728000" cy="4318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n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位加法器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6" name="Line 186"/>
            <p:cNvSpPr>
              <a:spLocks noChangeShapeType="1"/>
            </p:cNvSpPr>
            <p:nvPr/>
          </p:nvSpPr>
          <p:spPr bwMode="auto">
            <a:xfrm>
              <a:off x="4352767" y="4869681"/>
              <a:ext cx="0" cy="28751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188"/>
            <p:cNvSpPr txBox="1">
              <a:spLocks noChangeArrowheads="1"/>
            </p:cNvSpPr>
            <p:nvPr/>
          </p:nvSpPr>
          <p:spPr bwMode="auto">
            <a:xfrm>
              <a:off x="3631519" y="4581128"/>
              <a:ext cx="1440000" cy="288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异或门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(n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个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9" name="Line 189"/>
            <p:cNvSpPr>
              <a:spLocks noChangeShapeType="1"/>
            </p:cNvSpPr>
            <p:nvPr/>
          </p:nvSpPr>
          <p:spPr bwMode="auto">
            <a:xfrm flipH="1">
              <a:off x="4417839" y="5589240"/>
              <a:ext cx="1466" cy="504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91"/>
            <p:cNvSpPr>
              <a:spLocks noChangeShapeType="1"/>
            </p:cNvSpPr>
            <p:nvPr/>
          </p:nvSpPr>
          <p:spPr bwMode="auto">
            <a:xfrm flipH="1">
              <a:off x="4784815" y="5373217"/>
              <a:ext cx="43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92"/>
            <p:cNvSpPr>
              <a:spLocks noChangeShapeType="1"/>
            </p:cNvSpPr>
            <p:nvPr/>
          </p:nvSpPr>
          <p:spPr bwMode="auto">
            <a:xfrm flipH="1">
              <a:off x="4568791" y="4437144"/>
              <a:ext cx="10080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198"/>
            <p:cNvSpPr txBox="1">
              <a:spLocks noChangeArrowheads="1"/>
            </p:cNvSpPr>
            <p:nvPr/>
          </p:nvSpPr>
          <p:spPr bwMode="auto">
            <a:xfrm>
              <a:off x="4856823" y="5358358"/>
              <a:ext cx="35877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-1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73" name="Line 199"/>
            <p:cNvSpPr>
              <a:spLocks noChangeShapeType="1"/>
            </p:cNvSpPr>
            <p:nvPr/>
          </p:nvSpPr>
          <p:spPr bwMode="auto">
            <a:xfrm>
              <a:off x="4136743" y="4077160"/>
              <a:ext cx="0" cy="504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00"/>
            <p:cNvSpPr>
              <a:spLocks noChangeShapeType="1"/>
            </p:cNvSpPr>
            <p:nvPr/>
          </p:nvSpPr>
          <p:spPr bwMode="auto">
            <a:xfrm>
              <a:off x="3421513" y="4077192"/>
              <a:ext cx="0" cy="10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01"/>
            <p:cNvSpPr>
              <a:spLocks noChangeShapeType="1"/>
            </p:cNvSpPr>
            <p:nvPr/>
          </p:nvSpPr>
          <p:spPr bwMode="auto">
            <a:xfrm flipH="1">
              <a:off x="5576903" y="4437609"/>
              <a:ext cx="2880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>
              <a:off x="5216863" y="4437505"/>
              <a:ext cx="0" cy="93571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213"/>
            <p:cNvSpPr txBox="1">
              <a:spLocks noChangeArrowheads="1"/>
            </p:cNvSpPr>
            <p:nvPr/>
          </p:nvSpPr>
          <p:spPr bwMode="auto">
            <a:xfrm>
              <a:off x="5864935" y="4221585"/>
              <a:ext cx="1872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dirty="0" smtClean="0">
                  <a:solidFill>
                    <a:srgbClr val="FF3399"/>
                  </a:solidFill>
                </a:rPr>
                <a:t>op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(0-ADD,1-SUB)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94" name="Line 190"/>
            <p:cNvSpPr>
              <a:spLocks noChangeShapeType="1"/>
            </p:cNvSpPr>
            <p:nvPr/>
          </p:nvSpPr>
          <p:spPr bwMode="auto">
            <a:xfrm flipH="1">
              <a:off x="2627576" y="5661745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193"/>
            <p:cNvSpPr txBox="1">
              <a:spLocks noChangeArrowheads="1"/>
            </p:cNvSpPr>
            <p:nvPr/>
          </p:nvSpPr>
          <p:spPr bwMode="auto">
            <a:xfrm>
              <a:off x="1763592" y="5085745"/>
              <a:ext cx="1008000" cy="576000"/>
            </a:xfrm>
            <a:prstGeom prst="rect">
              <a:avLst/>
            </a:prstGeom>
            <a:solidFill>
              <a:srgbClr val="FFCC99">
                <a:alpha val="85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溢出判断逻辑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6" name="Text Box 194"/>
            <p:cNvSpPr txBox="1">
              <a:spLocks noChangeArrowheads="1"/>
            </p:cNvSpPr>
            <p:nvPr/>
          </p:nvSpPr>
          <p:spPr bwMode="auto">
            <a:xfrm>
              <a:off x="1688471" y="5805264"/>
              <a:ext cx="867097" cy="288529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OF   CF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7" name="Line 196"/>
            <p:cNvSpPr>
              <a:spLocks noChangeShapeType="1"/>
            </p:cNvSpPr>
            <p:nvPr/>
          </p:nvSpPr>
          <p:spPr bwMode="auto">
            <a:xfrm flipH="1">
              <a:off x="2051512" y="5661745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213"/>
            <p:cNvSpPr txBox="1">
              <a:spLocks noChangeArrowheads="1"/>
            </p:cNvSpPr>
            <p:nvPr/>
          </p:nvSpPr>
          <p:spPr bwMode="auto">
            <a:xfrm>
              <a:off x="3056623" y="4941192"/>
              <a:ext cx="36489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0" name="Text Box 213"/>
            <p:cNvSpPr txBox="1">
              <a:spLocks noChangeArrowheads="1"/>
            </p:cNvSpPr>
            <p:nvPr/>
          </p:nvSpPr>
          <p:spPr bwMode="auto">
            <a:xfrm>
              <a:off x="3992727" y="4941192"/>
              <a:ext cx="341536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1" name="Text Box 213"/>
            <p:cNvSpPr txBox="1">
              <a:spLocks noChangeArrowheads="1"/>
            </p:cNvSpPr>
            <p:nvPr/>
          </p:nvSpPr>
          <p:spPr bwMode="auto">
            <a:xfrm>
              <a:off x="4096980" y="5570191"/>
              <a:ext cx="32086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Z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2" name="Line 191"/>
            <p:cNvSpPr>
              <a:spLocks noChangeShapeType="1"/>
            </p:cNvSpPr>
            <p:nvPr/>
          </p:nvSpPr>
          <p:spPr bwMode="auto">
            <a:xfrm flipH="1">
              <a:off x="2761656" y="5301209"/>
              <a:ext cx="28803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91"/>
            <p:cNvSpPr>
              <a:spLocks noChangeShapeType="1"/>
            </p:cNvSpPr>
            <p:nvPr/>
          </p:nvSpPr>
          <p:spPr bwMode="auto">
            <a:xfrm flipH="1">
              <a:off x="2761656" y="5453609"/>
              <a:ext cx="2880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213"/>
            <p:cNvSpPr txBox="1">
              <a:spLocks noChangeArrowheads="1"/>
            </p:cNvSpPr>
            <p:nvPr/>
          </p:nvSpPr>
          <p:spPr bwMode="auto">
            <a:xfrm>
              <a:off x="4131966" y="5805264"/>
              <a:ext cx="285873" cy="25920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F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5" name="Text Box 213"/>
            <p:cNvSpPr txBox="1">
              <a:spLocks noChangeArrowheads="1"/>
            </p:cNvSpPr>
            <p:nvPr/>
          </p:nvSpPr>
          <p:spPr bwMode="auto">
            <a:xfrm>
              <a:off x="3095803" y="4077073"/>
              <a:ext cx="320860" cy="28803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6" name="Text Box 213"/>
            <p:cNvSpPr txBox="1">
              <a:spLocks noChangeArrowheads="1"/>
            </p:cNvSpPr>
            <p:nvPr/>
          </p:nvSpPr>
          <p:spPr bwMode="auto">
            <a:xfrm>
              <a:off x="3776703" y="4076942"/>
              <a:ext cx="320860" cy="2881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07" name="直接连接符 106"/>
            <p:cNvCxnSpPr/>
            <p:nvPr/>
          </p:nvCxnSpPr>
          <p:spPr bwMode="auto">
            <a:xfrm>
              <a:off x="2905672" y="4365280"/>
              <a:ext cx="0" cy="144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Line 199"/>
            <p:cNvSpPr>
              <a:spLocks noChangeShapeType="1"/>
            </p:cNvSpPr>
            <p:nvPr/>
          </p:nvSpPr>
          <p:spPr bwMode="auto">
            <a:xfrm>
              <a:off x="4640799" y="4437144"/>
              <a:ext cx="0" cy="13830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" name="Text Box 101"/>
          <p:cNvSpPr txBox="1">
            <a:spLocks noChangeArrowheads="1"/>
          </p:cNvSpPr>
          <p:nvPr/>
        </p:nvSpPr>
        <p:spPr bwMode="auto">
          <a:xfrm>
            <a:off x="179728" y="5230774"/>
            <a:ext cx="1944000" cy="504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OF—</a:t>
            </a:r>
            <a:r>
              <a:rPr lang="en-US" altLang="zh-CN" sz="1600" dirty="0" smtClean="0">
                <a:solidFill>
                  <a:schemeClr val="tx1"/>
                </a:solidFill>
              </a:rPr>
              <a:t>Overflow Flag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CF—</a:t>
            </a:r>
            <a:r>
              <a:rPr lang="en-US" altLang="zh-CN" sz="1600" dirty="0" smtClean="0">
                <a:solidFill>
                  <a:schemeClr val="tx1"/>
                </a:solidFill>
              </a:rPr>
              <a:t>Carry Flag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08104" y="4366734"/>
            <a:ext cx="2376264" cy="1008000"/>
            <a:chOff x="7164152" y="4797264"/>
            <a:chExt cx="2376264" cy="1008000"/>
          </a:xfrm>
        </p:grpSpPr>
        <p:sp>
          <p:nvSpPr>
            <p:cNvPr id="121" name="Text Box 101"/>
            <p:cNvSpPr txBox="1">
              <a:spLocks noChangeArrowheads="1"/>
            </p:cNvSpPr>
            <p:nvPr/>
          </p:nvSpPr>
          <p:spPr bwMode="auto">
            <a:xfrm>
              <a:off x="8316416" y="4797264"/>
              <a:ext cx="1224000" cy="1008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或者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8" name="Line 186"/>
            <p:cNvSpPr>
              <a:spLocks noChangeShapeType="1"/>
            </p:cNvSpPr>
            <p:nvPr/>
          </p:nvSpPr>
          <p:spPr bwMode="auto">
            <a:xfrm>
              <a:off x="9036496" y="559019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流程图: 手动操作 110"/>
            <p:cNvSpPr/>
            <p:nvPr/>
          </p:nvSpPr>
          <p:spPr bwMode="auto">
            <a:xfrm>
              <a:off x="8748464" y="5446151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Line 199"/>
            <p:cNvSpPr>
              <a:spLocks noChangeShapeType="1"/>
            </p:cNvSpPr>
            <p:nvPr/>
          </p:nvSpPr>
          <p:spPr bwMode="auto">
            <a:xfrm>
              <a:off x="8892481" y="4870071"/>
              <a:ext cx="0" cy="57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434"/>
            <p:cNvSpPr txBox="1">
              <a:spLocks noChangeArrowheads="1"/>
            </p:cNvSpPr>
            <p:nvPr/>
          </p:nvSpPr>
          <p:spPr bwMode="auto">
            <a:xfrm>
              <a:off x="9108521" y="5086095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椭圆 113"/>
            <p:cNvSpPr/>
            <p:nvPr/>
          </p:nvSpPr>
          <p:spPr bwMode="auto">
            <a:xfrm>
              <a:off x="9144438" y="5240324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Line 199"/>
            <p:cNvSpPr>
              <a:spLocks noChangeShapeType="1"/>
            </p:cNvSpPr>
            <p:nvPr/>
          </p:nvSpPr>
          <p:spPr bwMode="auto">
            <a:xfrm>
              <a:off x="9180529" y="5302119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420"/>
            <p:cNvSpPr>
              <a:spLocks noChangeShapeType="1"/>
            </p:cNvSpPr>
            <p:nvPr/>
          </p:nvSpPr>
          <p:spPr bwMode="auto">
            <a:xfrm flipV="1">
              <a:off x="8892480" y="5013421"/>
              <a:ext cx="2879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430"/>
            <p:cNvSpPr>
              <a:spLocks noChangeShapeType="1"/>
            </p:cNvSpPr>
            <p:nvPr/>
          </p:nvSpPr>
          <p:spPr bwMode="auto">
            <a:xfrm flipH="1" flipV="1">
              <a:off x="9252520" y="5518143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18" name="Line 199"/>
            <p:cNvSpPr>
              <a:spLocks noChangeShapeType="1"/>
            </p:cNvSpPr>
            <p:nvPr/>
          </p:nvSpPr>
          <p:spPr bwMode="auto">
            <a:xfrm flipH="1">
              <a:off x="9180513" y="5013422"/>
              <a:ext cx="232" cy="6467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2" name="直接箭头连接符 121"/>
            <p:cNvCxnSpPr/>
            <p:nvPr/>
          </p:nvCxnSpPr>
          <p:spPr bwMode="auto">
            <a:xfrm flipH="1" flipV="1">
              <a:off x="7164152" y="4868646"/>
              <a:ext cx="115200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235" grpId="0" bldLvl="0" animBg="1"/>
      <p:bldP spid="91" grpId="0" bldLvl="0" animBg="1"/>
      <p:bldP spid="109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060065" y="1268730"/>
            <a:ext cx="5795645" cy="1511935"/>
            <a:chOff x="4819" y="1998"/>
            <a:chExt cx="9127" cy="2381"/>
          </a:xfrm>
        </p:grpSpPr>
        <p:sp>
          <p:nvSpPr>
            <p:cNvPr id="5" name="Text Box 16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019" y="1998"/>
              <a:ext cx="2356" cy="469"/>
            </a:xfrm>
            <a:prstGeom prst="rect">
              <a:avLst/>
            </a:prstGeom>
            <a:solidFill>
              <a:srgbClr val="FF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1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221" y="3586"/>
              <a:ext cx="227" cy="469"/>
            </a:xfrm>
            <a:prstGeom prst="rect">
              <a:avLst/>
            </a:prstGeom>
            <a:solidFill>
              <a:srgbClr val="FF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1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532" y="3601"/>
              <a:ext cx="227" cy="469"/>
            </a:xfrm>
            <a:prstGeom prst="rect">
              <a:avLst/>
            </a:prstGeom>
            <a:solidFill>
              <a:srgbClr val="FF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1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715" y="1998"/>
              <a:ext cx="3231" cy="469"/>
            </a:xfrm>
            <a:prstGeom prst="rect">
              <a:avLst/>
            </a:prstGeom>
            <a:solidFill>
              <a:srgbClr val="FFCCFF"/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 Box 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2587" y="3601"/>
              <a:ext cx="1077" cy="46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355" y="3601"/>
              <a:ext cx="1020" cy="46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18000" tIns="10800" rIns="18000" bIns="10800"/>
            <a:p>
              <a:pPr marL="266700" indent="-266700" algn="ctr">
                <a:lnSpc>
                  <a:spcPct val="90000"/>
                </a:lnSpc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箭头连接符 13"/>
            <p:cNvCxnSpPr/>
            <p:nvPr>
              <p:custDataLst>
                <p:tags r:id="rId7"/>
              </p:custDataLst>
            </p:nvPr>
          </p:nvCxnSpPr>
          <p:spPr bwMode="auto">
            <a:xfrm>
              <a:off x="11623" y="411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11226" y="4118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1226" y="4358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0"/>
              </p:custDataLst>
            </p:nvPr>
          </p:nvCxnSpPr>
          <p:spPr bwMode="auto">
            <a:xfrm>
              <a:off x="8561" y="4139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8391" y="4139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8391" y="4379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"/>
              </p:custDataLst>
            </p:nvPr>
          </p:nvCxnSpPr>
          <p:spPr bwMode="auto">
            <a:xfrm>
              <a:off x="5443" y="4139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272" y="4139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5272" y="4377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16"/>
              </p:custDataLst>
            </p:nvPr>
          </p:nvCxnSpPr>
          <p:spPr bwMode="auto">
            <a:xfrm>
              <a:off x="5159" y="4116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819" y="4116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4819" y="4360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" name="组合 1"/>
          <p:cNvGrpSpPr/>
          <p:nvPr/>
        </p:nvGrpSpPr>
        <p:grpSpPr>
          <a:xfrm>
            <a:off x="6730469" y="3628919"/>
            <a:ext cx="2160240" cy="1383498"/>
            <a:chOff x="6228184" y="3413654"/>
            <a:chExt cx="2160240" cy="1383498"/>
          </a:xfrm>
        </p:grpSpPr>
        <p:sp>
          <p:nvSpPr>
            <p:cNvPr id="52" name="Rectangle 183"/>
            <p:cNvSpPr>
              <a:spLocks noChangeArrowheads="1"/>
            </p:cNvSpPr>
            <p:nvPr/>
          </p:nvSpPr>
          <p:spPr bwMode="auto">
            <a:xfrm>
              <a:off x="6228184" y="3629678"/>
              <a:ext cx="1764000" cy="936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Text Box 184"/>
            <p:cNvSpPr txBox="1">
              <a:spLocks noChangeArrowheads="1"/>
            </p:cNvSpPr>
            <p:nvPr/>
          </p:nvSpPr>
          <p:spPr bwMode="auto">
            <a:xfrm>
              <a:off x="6480384" y="4205742"/>
              <a:ext cx="1260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186"/>
            <p:cNvSpPr>
              <a:spLocks noChangeShapeType="1"/>
            </p:cNvSpPr>
            <p:nvPr/>
          </p:nvSpPr>
          <p:spPr bwMode="auto">
            <a:xfrm>
              <a:off x="7372771" y="4061750"/>
              <a:ext cx="0" cy="144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88"/>
            <p:cNvSpPr txBox="1">
              <a:spLocks noChangeArrowheads="1"/>
            </p:cNvSpPr>
            <p:nvPr/>
          </p:nvSpPr>
          <p:spPr bwMode="auto">
            <a:xfrm>
              <a:off x="7012771" y="3845678"/>
              <a:ext cx="720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异或门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Line 191"/>
            <p:cNvSpPr>
              <a:spLocks noChangeShapeType="1"/>
            </p:cNvSpPr>
            <p:nvPr/>
          </p:nvSpPr>
          <p:spPr bwMode="auto">
            <a:xfrm flipH="1">
              <a:off x="7740384" y="4354993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92"/>
            <p:cNvSpPr>
              <a:spLocks noChangeShapeType="1"/>
            </p:cNvSpPr>
            <p:nvPr/>
          </p:nvSpPr>
          <p:spPr bwMode="auto">
            <a:xfrm flipH="1">
              <a:off x="7524360" y="3701686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99"/>
            <p:cNvSpPr>
              <a:spLocks noChangeShapeType="1"/>
            </p:cNvSpPr>
            <p:nvPr/>
          </p:nvSpPr>
          <p:spPr bwMode="auto">
            <a:xfrm>
              <a:off x="6790235" y="3413654"/>
              <a:ext cx="0" cy="792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08"/>
            <p:cNvSpPr>
              <a:spLocks noChangeShapeType="1"/>
            </p:cNvSpPr>
            <p:nvPr/>
          </p:nvSpPr>
          <p:spPr bwMode="auto">
            <a:xfrm>
              <a:off x="7884400" y="3701685"/>
              <a:ext cx="8384" cy="65330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213"/>
            <p:cNvSpPr txBox="1">
              <a:spLocks noChangeArrowheads="1"/>
            </p:cNvSpPr>
            <p:nvPr/>
          </p:nvSpPr>
          <p:spPr bwMode="auto">
            <a:xfrm>
              <a:off x="6876312" y="458115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 Box 213"/>
            <p:cNvSpPr txBox="1">
              <a:spLocks noChangeArrowheads="1"/>
            </p:cNvSpPr>
            <p:nvPr/>
          </p:nvSpPr>
          <p:spPr bwMode="auto">
            <a:xfrm>
              <a:off x="6588328" y="3413654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   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62" name="Line 199"/>
            <p:cNvSpPr>
              <a:spLocks noChangeShapeType="1"/>
            </p:cNvSpPr>
            <p:nvPr/>
          </p:nvSpPr>
          <p:spPr bwMode="auto">
            <a:xfrm>
              <a:off x="7596368" y="3701686"/>
              <a:ext cx="0" cy="144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86"/>
            <p:cNvSpPr>
              <a:spLocks noChangeShapeType="1"/>
            </p:cNvSpPr>
            <p:nvPr/>
          </p:nvSpPr>
          <p:spPr bwMode="auto">
            <a:xfrm>
              <a:off x="7236328" y="3413654"/>
              <a:ext cx="0" cy="432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86"/>
            <p:cNvSpPr>
              <a:spLocks noChangeShapeType="1"/>
            </p:cNvSpPr>
            <p:nvPr/>
          </p:nvSpPr>
          <p:spPr bwMode="auto">
            <a:xfrm>
              <a:off x="7092312" y="4493798"/>
              <a:ext cx="0" cy="288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213"/>
            <p:cNvSpPr txBox="1">
              <a:spLocks noChangeArrowheads="1"/>
            </p:cNvSpPr>
            <p:nvPr/>
          </p:nvSpPr>
          <p:spPr bwMode="auto">
            <a:xfrm>
              <a:off x="8100424" y="355767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op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0" name="Line 191"/>
            <p:cNvSpPr>
              <a:spLocks noChangeShapeType="1"/>
            </p:cNvSpPr>
            <p:nvPr/>
          </p:nvSpPr>
          <p:spPr bwMode="auto">
            <a:xfrm flipH="1">
              <a:off x="6340466" y="4365104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6" name="直接箭头连接符 65"/>
          <p:cNvCxnSpPr/>
          <p:nvPr/>
        </p:nvCxnSpPr>
        <p:spPr bwMode="auto">
          <a:xfrm>
            <a:off x="5094020" y="2214404"/>
            <a:ext cx="2124000" cy="2088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arrow" w="sm" len="sm"/>
            <a:tailEnd type="arrow" w="sm" len="sm"/>
          </a:ln>
          <a:effectLst/>
        </p:spPr>
      </p:cxn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2AFFB-7778-4097-A4CC-17D213E9B00D}" type="slidenum">
              <a:rPr lang="en-US" altLang="zh-CN"/>
            </a:fld>
            <a:endParaRPr lang="en-US" altLang="zh-CN"/>
          </a:p>
        </p:txBody>
      </p:sp>
      <p:sp>
        <p:nvSpPr>
          <p:cNvPr id="274453" name="Text Box 21"/>
          <p:cNvSpPr txBox="1">
            <a:spLocks noChangeArrowheads="1"/>
          </p:cNvSpPr>
          <p:nvPr/>
        </p:nvSpPr>
        <p:spPr bwMode="auto">
          <a:xfrm>
            <a:off x="179389" y="282714"/>
            <a:ext cx="6057250" cy="2984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(3)</a:t>
            </a:r>
            <a:r>
              <a:rPr lang="zh-CN" altLang="en-US" dirty="0" smtClean="0">
                <a:solidFill>
                  <a:srgbClr val="FF3399"/>
                </a:solidFill>
              </a:rPr>
              <a:t>溢出判断     </a:t>
            </a:r>
            <a:r>
              <a:rPr lang="en-US" altLang="zh-CN" sz="2000" dirty="0" smtClean="0">
                <a:solidFill>
                  <a:schemeClr val="tx1"/>
                </a:solidFill>
              </a:rPr>
              <a:t>--</a:t>
            </a:r>
            <a:r>
              <a:rPr lang="zh-CN" altLang="en-US" sz="2000" dirty="0" smtClean="0">
                <a:solidFill>
                  <a:schemeClr val="tx1"/>
                </a:solidFill>
              </a:rPr>
              <a:t>判断结果正确性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*</a:t>
            </a:r>
            <a:r>
              <a:rPr lang="zh-CN" altLang="en-US" sz="2200" dirty="0" smtClean="0">
                <a:solidFill>
                  <a:srgbClr val="C00000"/>
                </a:solidFill>
              </a:rPr>
              <a:t>溢出特征：</a:t>
            </a:r>
            <a:endParaRPr lang="zh-CN" altLang="en-US" sz="2200" dirty="0" smtClean="0">
              <a:solidFill>
                <a:srgbClr val="C00000"/>
              </a:solidFill>
            </a:endParaRPr>
          </a:p>
        </p:txBody>
      </p:sp>
      <p:sp>
        <p:nvSpPr>
          <p:cNvPr id="274457" name="Text Box 25"/>
          <p:cNvSpPr txBox="1">
            <a:spLocks noChangeArrowheads="1"/>
          </p:cNvSpPr>
          <p:nvPr/>
        </p:nvSpPr>
        <p:spPr bwMode="auto">
          <a:xfrm>
            <a:off x="683568" y="775444"/>
            <a:ext cx="8352928" cy="19005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3—</a:t>
            </a:r>
            <a:r>
              <a:rPr lang="zh-CN" altLang="en-US" sz="2200" dirty="0" smtClean="0">
                <a:solidFill>
                  <a:schemeClr val="tx1"/>
                </a:solidFill>
              </a:rPr>
              <a:t>分析</a:t>
            </a:r>
            <a:r>
              <a:rPr lang="en-US" altLang="zh-CN" sz="2200" dirty="0" smtClean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r>
              <a:rPr lang="zh-CN" altLang="en-US" sz="2200" dirty="0" smtClean="0">
                <a:solidFill>
                  <a:schemeClr val="tx1"/>
                </a:solidFill>
              </a:rPr>
              <a:t>补码加减运算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结果溢出时</a:t>
            </a:r>
            <a:r>
              <a:rPr lang="zh-CN" altLang="en-US" sz="2200" dirty="0" smtClean="0">
                <a:solidFill>
                  <a:schemeClr val="tx1"/>
                </a:solidFill>
              </a:rPr>
              <a:t>的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符号特征</a:t>
            </a:r>
            <a:endParaRPr lang="en-US" altLang="zh-CN" sz="2200" u="sng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5+2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en-US" altLang="zh-CN" sz="2000" dirty="0" smtClean="0">
                <a:solidFill>
                  <a:schemeClr val="tx1"/>
                </a:solidFill>
              </a:rPr>
              <a:t>5-(-2)  -1+(-4)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en-US" altLang="zh-CN" sz="2000" dirty="0" smtClean="0">
                <a:solidFill>
                  <a:schemeClr val="tx1"/>
                </a:solidFill>
              </a:rPr>
              <a:t>-1-(+4)  5+4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en-US" altLang="zh-CN" sz="2000" dirty="0" smtClean="0">
                <a:solidFill>
                  <a:schemeClr val="tx1"/>
                </a:solidFill>
              </a:rPr>
              <a:t>5-(-4)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-5+(-4)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en-US" altLang="zh-CN" sz="2000" dirty="0" smtClean="0">
                <a:solidFill>
                  <a:schemeClr val="tx1"/>
                </a:solidFill>
              </a:rPr>
              <a:t>-5-(+4)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101([+5]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111([-1]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101([+5]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011([-5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rgbClr val="FF3399"/>
                </a:solidFill>
              </a:rPr>
              <a:t>+</a:t>
            </a:r>
            <a:r>
              <a:rPr lang="en-US" altLang="zh-CN" sz="2000" u="sng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0010</a:t>
            </a:r>
            <a:r>
              <a:rPr lang="en-US" altLang="zh-CN" sz="2000" dirty="0" smtClean="0">
                <a:solidFill>
                  <a:schemeClr val="tx1"/>
                </a:solidFill>
              </a:rPr>
              <a:t>([+2]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</a:t>
            </a:r>
            <a:r>
              <a:rPr lang="en-US" altLang="zh-CN" sz="2000" u="sng" dirty="0" smtClean="0">
                <a:solidFill>
                  <a:srgbClr val="FF3399"/>
                </a:solidFill>
              </a:rPr>
              <a:t>+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 1100</a:t>
            </a:r>
            <a:r>
              <a:rPr lang="en-US" altLang="zh-CN" sz="2000" dirty="0" smtClean="0">
                <a:solidFill>
                  <a:schemeClr val="tx1"/>
                </a:solidFill>
              </a:rPr>
              <a:t>([-4]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>
                <a:solidFill>
                  <a:srgbClr val="FF3399"/>
                </a:solidFill>
              </a:rPr>
              <a:t>+</a:t>
            </a:r>
            <a:r>
              <a:rPr lang="en-US" altLang="zh-CN" sz="2000" u="sng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0100</a:t>
            </a:r>
            <a:r>
              <a:rPr lang="en-US" altLang="zh-CN" sz="2000" dirty="0" smtClean="0">
                <a:solidFill>
                  <a:schemeClr val="tx1"/>
                </a:solidFill>
              </a:rPr>
              <a:t>([+4]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u="sng" dirty="0">
                <a:solidFill>
                  <a:srgbClr val="FF3399"/>
                </a:solidFill>
              </a:rPr>
              <a:t>+</a:t>
            </a:r>
            <a:r>
              <a:rPr lang="en-US" altLang="zh-CN" sz="2000" u="sng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1100</a:t>
            </a:r>
            <a:r>
              <a:rPr lang="en-US" altLang="zh-CN" sz="2000" dirty="0" smtClean="0">
                <a:solidFill>
                  <a:schemeClr val="tx1"/>
                </a:solidFill>
              </a:rPr>
              <a:t>([-4]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u="sng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111([+7]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011([-5]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001([-7]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111([+7]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</a:t>
            </a:r>
            <a:endParaRPr lang="en-US" altLang="zh-CN" sz="2000" dirty="0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4458" name="Text Box 26"/>
          <p:cNvSpPr txBox="1">
            <a:spLocks noChangeArrowheads="1"/>
          </p:cNvSpPr>
          <p:nvPr/>
        </p:nvSpPr>
        <p:spPr bwMode="auto">
          <a:xfrm>
            <a:off x="1908175" y="2736215"/>
            <a:ext cx="683831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①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同</a:t>
            </a:r>
            <a:r>
              <a:rPr lang="zh-CN" altLang="en-US" sz="2200" u="sng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号相加或异号相减</a:t>
            </a:r>
            <a:r>
              <a:rPr lang="zh-CN" altLang="en-US" sz="2200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200" u="sng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结果</a:t>
            </a:r>
            <a:r>
              <a:rPr lang="zh-CN" altLang="en-US" sz="2200" u="sng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与被加</a:t>
            </a:r>
            <a:r>
              <a:rPr lang="en-US" altLang="zh-CN" sz="2200" u="sng" dirty="0" smtClean="0">
                <a:solidFill>
                  <a:srgbClr val="990099"/>
                </a:solidFill>
                <a:latin typeface="+mn-ea"/>
                <a:ea typeface="+mn-ea"/>
              </a:rPr>
              <a:t>(</a:t>
            </a:r>
            <a:r>
              <a:rPr lang="zh-CN" altLang="en-US" sz="2200" u="sng" dirty="0" smtClean="0">
                <a:solidFill>
                  <a:srgbClr val="990099"/>
                </a:solidFill>
                <a:latin typeface="+mn-ea"/>
                <a:ea typeface="+mn-ea"/>
              </a:rPr>
              <a:t>减</a:t>
            </a:r>
            <a:r>
              <a:rPr lang="en-US" altLang="zh-CN" sz="2200" u="sng" dirty="0" smtClean="0">
                <a:solidFill>
                  <a:srgbClr val="990099"/>
                </a:solidFill>
                <a:latin typeface="+mn-ea"/>
                <a:ea typeface="+mn-ea"/>
              </a:rPr>
              <a:t>)</a:t>
            </a:r>
            <a:r>
              <a:rPr lang="zh-CN" altLang="en-US" sz="2200" u="sng" dirty="0" smtClean="0">
                <a:solidFill>
                  <a:srgbClr val="990099"/>
                </a:solidFill>
                <a:latin typeface="Times New Roman" panose="02020603050405020304" pitchFamily="18" charset="0"/>
              </a:rPr>
              <a:t>数</a:t>
            </a:r>
            <a:r>
              <a:rPr lang="zh-CN" altLang="en-US" sz="2200" u="sng" dirty="0" smtClean="0">
                <a:solidFill>
                  <a:srgbClr val="FF3399"/>
                </a:solidFill>
                <a:latin typeface="Times New Roman" panose="02020603050405020304" pitchFamily="18" charset="0"/>
              </a:rPr>
              <a:t>异号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；</a:t>
            </a:r>
            <a:endParaRPr lang="zh-CN" altLang="en-US" sz="2200" dirty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  <a:cs typeface="宋体" panose="02010600030101010101" pitchFamily="2" charset="-122"/>
              </a:rPr>
              <a:t>②最高位、次高位的</a:t>
            </a:r>
            <a:r>
              <a:rPr lang="zh-CN" altLang="en-US" sz="22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进位</a:t>
            </a:r>
            <a:r>
              <a:rPr lang="zh-CN" altLang="en-US" sz="2200" dirty="0" smtClean="0">
                <a:solidFill>
                  <a:srgbClr val="990099"/>
                </a:solidFill>
                <a:cs typeface="宋体" panose="02010600030101010101" pitchFamily="2" charset="-122"/>
              </a:rPr>
              <a:t>中</a:t>
            </a:r>
            <a:r>
              <a:rPr lang="zh-CN" altLang="en-US" sz="2200" dirty="0" smtClean="0">
                <a:solidFill>
                  <a:schemeClr val="tx1"/>
                </a:solidFill>
                <a:cs typeface="宋体" panose="02010600030101010101" pitchFamily="2" charset="-122"/>
              </a:rPr>
              <a:t>，</a:t>
            </a:r>
            <a:r>
              <a:rPr lang="zh-CN" altLang="en-US" sz="2200" u="sng" dirty="0" smtClean="0">
                <a:solidFill>
                  <a:srgbClr val="990099"/>
                </a:solidFill>
                <a:cs typeface="宋体" panose="02010600030101010101" pitchFamily="2" charset="-122"/>
              </a:rPr>
              <a:t>只有</a:t>
            </a:r>
            <a:r>
              <a:rPr lang="en-US" altLang="zh-CN" sz="2200" u="sng" dirty="0" smtClean="0">
                <a:solidFill>
                  <a:srgbClr val="990099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200" u="sng" dirty="0" smtClean="0">
                <a:solidFill>
                  <a:srgbClr val="990099"/>
                </a:solidFill>
                <a:cs typeface="宋体" panose="02010600030101010101" pitchFamily="2" charset="-122"/>
              </a:rPr>
              <a:t>个</a:t>
            </a:r>
            <a:r>
              <a:rPr lang="zh-CN" altLang="en-US" sz="2200" dirty="0" smtClean="0">
                <a:solidFill>
                  <a:schemeClr val="tx1"/>
                </a:solidFill>
                <a:cs typeface="宋体" panose="02010600030101010101" pitchFamily="2" charset="-122"/>
              </a:rPr>
              <a:t>有进位</a:t>
            </a:r>
            <a:endParaRPr lang="zh-CN" altLang="en-US" sz="2200" dirty="0" smtClean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sp>
        <p:nvSpPr>
          <p:cNvPr id="274460" name="Text Box 28"/>
          <p:cNvSpPr txBox="1">
            <a:spLocks noChangeArrowheads="1"/>
          </p:cNvSpPr>
          <p:nvPr/>
        </p:nvSpPr>
        <p:spPr bwMode="auto">
          <a:xfrm>
            <a:off x="179070" y="3564000"/>
            <a:ext cx="6609715" cy="216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*基于</a:t>
            </a:r>
            <a:r>
              <a:rPr lang="zh-CN" altLang="en-US" sz="2200" u="sng" dirty="0">
                <a:solidFill>
                  <a:srgbClr val="C00000"/>
                </a:solidFill>
              </a:rPr>
              <a:t>加减法</a:t>
            </a:r>
            <a:r>
              <a:rPr lang="zh-CN" altLang="en-US" sz="2200" u="sng" dirty="0" smtClean="0">
                <a:solidFill>
                  <a:srgbClr val="C00000"/>
                </a:solidFill>
              </a:rPr>
              <a:t>器</a:t>
            </a:r>
            <a:r>
              <a:rPr lang="zh-CN" altLang="en-US" sz="2200" dirty="0" smtClean="0">
                <a:solidFill>
                  <a:srgbClr val="C00000"/>
                </a:solidFill>
              </a:rPr>
              <a:t>的溢出判断：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 smtClean="0">
                <a:solidFill>
                  <a:srgbClr val="C00000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设</a:t>
            </a:r>
            <a:r>
              <a:rPr lang="en-US" altLang="zh-CN" sz="2000" dirty="0" smtClean="0">
                <a:solidFill>
                  <a:schemeClr val="tx1"/>
                </a:solidFill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dirty="0" smtClean="0">
                <a:solidFill>
                  <a:schemeClr val="tx1"/>
                </a:solidFill>
              </a:rPr>
              <a:t>…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smtClean="0">
                <a:solidFill>
                  <a:schemeClr val="tx1"/>
                </a:solidFill>
              </a:rPr>
              <a:t>B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dirty="0" smtClean="0">
                <a:solidFill>
                  <a:schemeClr val="tx1"/>
                </a:solidFill>
              </a:rPr>
              <a:t>…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smtClean="0">
                <a:solidFill>
                  <a:schemeClr val="tx1"/>
                </a:solidFill>
              </a:rPr>
              <a:t>F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000" baseline="-180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dirty="0" smtClean="0">
                <a:solidFill>
                  <a:schemeClr val="tx1"/>
                </a:solidFill>
              </a:rPr>
              <a:t>…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op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0/1(</a:t>
            </a:r>
            <a:r>
              <a:rPr lang="zh-CN" altLang="en-US" sz="2000" dirty="0" smtClean="0">
                <a:solidFill>
                  <a:schemeClr val="tx1"/>
                </a:solidFill>
              </a:rPr>
              <a:t>加</a:t>
            </a:r>
            <a:r>
              <a:rPr lang="en-US" altLang="zh-CN" sz="2000" dirty="0" smtClean="0">
                <a:solidFill>
                  <a:schemeClr val="tx1"/>
                </a:solidFill>
              </a:rPr>
              <a:t>/</a:t>
            </a:r>
            <a:r>
              <a:rPr lang="zh-CN" altLang="en-US" sz="2000" dirty="0" smtClean="0">
                <a:solidFill>
                  <a:schemeClr val="tx1"/>
                </a:solidFill>
              </a:rPr>
              <a:t>减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则溢出标志</a:t>
            </a:r>
            <a:r>
              <a:rPr lang="en-US" altLang="zh-CN" sz="2200" dirty="0" smtClean="0">
                <a:solidFill>
                  <a:schemeClr val="tx1"/>
                </a:solidFill>
              </a:rPr>
              <a:t>OD</a:t>
            </a:r>
            <a:r>
              <a:rPr lang="zh-CN" altLang="en-US" sz="2200" dirty="0" smtClean="0">
                <a:solidFill>
                  <a:schemeClr val="tx1"/>
                </a:solidFill>
              </a:rPr>
              <a:t>的逻辑为</a:t>
            </a:r>
            <a:endParaRPr lang="zh-CN" altLang="en-US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OF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74473" name="AutoShape 4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836390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179512" y="5976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 特点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逻辑复杂，可优化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基于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内部</a:t>
            </a:r>
            <a:r>
              <a:rPr lang="zh-CN" altLang="en-US" sz="1800" u="sng" dirty="0" smtClean="0">
                <a:solidFill>
                  <a:schemeClr val="tx1"/>
                </a:solidFill>
                <a:latin typeface="+mn-ea"/>
                <a:ea typeface="+mn-ea"/>
              </a:rPr>
              <a:t>加法器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判断时与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无关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44410" y="5184000"/>
            <a:ext cx="6948696" cy="869315"/>
            <a:chOff x="1619672" y="4965561"/>
            <a:chExt cx="6948696" cy="869315"/>
          </a:xfrm>
        </p:grpSpPr>
        <p:sp>
          <p:nvSpPr>
            <p:cNvPr id="274459" name="Text Box 27"/>
            <p:cNvSpPr txBox="1">
              <a:spLocks noChangeArrowheads="1"/>
            </p:cNvSpPr>
            <p:nvPr/>
          </p:nvSpPr>
          <p:spPr bwMode="auto">
            <a:xfrm>
              <a:off x="1619672" y="4965561"/>
              <a:ext cx="6948696" cy="8693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solidFill>
                    <a:schemeClr val="tx1"/>
                  </a:solidFill>
                </a:rPr>
                <a:t>  op(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f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+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f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2200" spc="-40" dirty="0" smtClean="0">
                  <a:solidFill>
                    <a:schemeClr val="tx1"/>
                  </a:solidFill>
                </a:rPr>
                <a:t>＋</a:t>
              </a:r>
              <a:r>
                <a:rPr lang="en-US" altLang="zh-CN" sz="2200" dirty="0" smtClean="0">
                  <a:solidFill>
                    <a:schemeClr val="tx1"/>
                  </a:solidFill>
                </a:rPr>
                <a:t>op(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n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-1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f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+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f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)</a:t>
              </a:r>
              <a:endParaRPr lang="en-US" altLang="zh-CN" sz="2200" spc="-4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22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2200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/>
                </a:rPr>
                <a:t>⊙</a:t>
              </a:r>
              <a:r>
                <a:rPr lang="en-US" altLang="zh-CN" sz="2200" spc="-40" dirty="0" smtClean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(op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 </a:t>
              </a:r>
              <a:r>
                <a:rPr lang="en-US" altLang="zh-CN" sz="2200" spc="-40" dirty="0" smtClean="0">
                  <a:solidFill>
                    <a:schemeClr val="tx1"/>
                  </a:solidFill>
                  <a:latin typeface="+mn-ea"/>
                  <a:sym typeface="Symbol" panose="05050102010706020507"/>
                </a:rPr>
                <a:t>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sym typeface="Symbol" panose="05050102010706020507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)</a:t>
              </a:r>
              <a:r>
                <a:rPr lang="en-US" altLang="zh-CN" sz="2200" spc="-40" dirty="0">
                  <a:solidFill>
                    <a:schemeClr val="tx1"/>
                  </a:solidFill>
                </a:rPr>
                <a:t>)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2200" i="1" spc="-4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  <a:latin typeface="+mn-ea"/>
                  <a:sym typeface="Symbol" panose="05050102010706020507"/>
                </a:rPr>
                <a:t>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sym typeface="Symbol" panose="05050102010706020507"/>
                </a:rPr>
                <a:t> </a:t>
              </a:r>
              <a:r>
                <a:rPr lang="en-US" altLang="zh-CN" sz="2200" i="1" spc="-40" dirty="0" smtClean="0">
                  <a:solidFill>
                    <a:schemeClr val="tx1"/>
                  </a:solidFill>
                  <a:latin typeface="+mn-lt"/>
                </a:rPr>
                <a:t>f</a:t>
              </a:r>
              <a:r>
                <a:rPr lang="en-US" altLang="zh-CN" sz="2200" spc="-40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 smtClean="0">
                  <a:solidFill>
                    <a:schemeClr val="tx1"/>
                  </a:solidFill>
                </a:rPr>
                <a:t>)</a:t>
              </a:r>
              <a:endParaRPr lang="en-US" altLang="zh-CN" sz="2200" spc="-40" dirty="0" smtClean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 bwMode="auto">
            <a:xfrm>
              <a:off x="2447672" y="5143585"/>
              <a:ext cx="342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 bwMode="auto">
            <a:xfrm>
              <a:off x="2843672" y="5087511"/>
              <a:ext cx="3672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 bwMode="auto">
            <a:xfrm>
              <a:off x="4571672" y="5087511"/>
              <a:ext cx="3492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/>
          </p:nvCxnSpPr>
          <p:spPr bwMode="auto">
            <a:xfrm>
              <a:off x="2018099" y="5144279"/>
              <a:ext cx="27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5795672" y="5144279"/>
              <a:ext cx="342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 bwMode="auto">
            <a:xfrm>
              <a:off x="7919672" y="5087511"/>
              <a:ext cx="3492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/>
          </p:nvCxnSpPr>
          <p:spPr bwMode="auto">
            <a:xfrm>
              <a:off x="7487672" y="5087511"/>
              <a:ext cx="3672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4" name="组合 23"/>
          <p:cNvGrpSpPr/>
          <p:nvPr/>
        </p:nvGrpSpPr>
        <p:grpSpPr>
          <a:xfrm>
            <a:off x="1979295" y="4780915"/>
            <a:ext cx="3239770" cy="519430"/>
            <a:chOff x="3117" y="7529"/>
            <a:chExt cx="5102" cy="818"/>
          </a:xfrm>
        </p:grpSpPr>
        <p:cxnSp>
          <p:nvCxnSpPr>
            <p:cNvPr id="7" name="直接箭头连接符 6"/>
            <p:cNvCxnSpPr/>
            <p:nvPr/>
          </p:nvCxnSpPr>
          <p:spPr bwMode="auto">
            <a:xfrm flipH="1">
              <a:off x="3117" y="7553"/>
              <a:ext cx="355" cy="795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19"/>
              </p:custDataLst>
            </p:nvPr>
          </p:nvCxnSpPr>
          <p:spPr bwMode="auto">
            <a:xfrm>
              <a:off x="4027" y="7529"/>
              <a:ext cx="4193" cy="819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4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60" grpId="0" bldLvl="0" animBg="1"/>
      <p:bldP spid="32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420000" y="1772816"/>
            <a:ext cx="5472248" cy="684000"/>
            <a:chOff x="3492240" y="1772816"/>
            <a:chExt cx="5472248" cy="684000"/>
          </a:xfrm>
        </p:grpSpPr>
        <p:sp>
          <p:nvSpPr>
            <p:cNvPr id="31" name="Rectangle 183"/>
            <p:cNvSpPr>
              <a:spLocks noChangeArrowheads="1"/>
            </p:cNvSpPr>
            <p:nvPr/>
          </p:nvSpPr>
          <p:spPr bwMode="auto">
            <a:xfrm>
              <a:off x="3492240" y="1772816"/>
              <a:ext cx="3204000" cy="684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183"/>
            <p:cNvSpPr>
              <a:spLocks noChangeArrowheads="1"/>
            </p:cNvSpPr>
            <p:nvPr/>
          </p:nvSpPr>
          <p:spPr bwMode="auto">
            <a:xfrm>
              <a:off x="6912488" y="1772816"/>
              <a:ext cx="2052000" cy="684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 Box 28"/>
          <p:cNvSpPr txBox="1">
            <a:spLocks noChangeArrowheads="1"/>
          </p:cNvSpPr>
          <p:nvPr/>
        </p:nvSpPr>
        <p:spPr bwMode="auto">
          <a:xfrm>
            <a:off x="179388" y="332656"/>
            <a:ext cx="6999594" cy="2146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*基于</a:t>
            </a:r>
            <a:r>
              <a:rPr lang="zh-CN" altLang="en-US" u="sng" dirty="0" smtClean="0">
                <a:solidFill>
                  <a:srgbClr val="C00000"/>
                </a:solidFill>
              </a:rPr>
              <a:t>内部加法器</a:t>
            </a:r>
            <a:r>
              <a:rPr lang="zh-CN" altLang="en-US" dirty="0" smtClean="0">
                <a:solidFill>
                  <a:srgbClr val="C00000"/>
                </a:solidFill>
              </a:rPr>
              <a:t>的溢出判断：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Z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溢出</a:t>
            </a:r>
            <a:r>
              <a:rPr lang="zh-CN" altLang="en-US" dirty="0">
                <a:solidFill>
                  <a:schemeClr val="accent2"/>
                </a:solidFill>
              </a:rPr>
              <a:t>特征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参考</a:t>
            </a:r>
            <a:r>
              <a:rPr lang="zh-CN" altLang="en-US" sz="1800" dirty="0" smtClean="0">
                <a:solidFill>
                  <a:srgbClr val="990099"/>
                </a:solidFill>
              </a:rPr>
              <a:t>上</a:t>
            </a:r>
            <a:r>
              <a:rPr lang="zh-CN" altLang="en-US" sz="1800" dirty="0">
                <a:solidFill>
                  <a:srgbClr val="990099"/>
                </a:solidFill>
              </a:rPr>
              <a:t>页例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22" name="AutoShape 6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836390" y="652084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utoShape 4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19409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2411759" y="1624967"/>
            <a:ext cx="6624737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正</a:t>
            </a:r>
            <a:r>
              <a:rPr lang="zh-CN" altLang="en-US" sz="2200" dirty="0">
                <a:solidFill>
                  <a:schemeClr val="tx1"/>
                </a:solidFill>
              </a:rPr>
              <a:t>溢出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负</a:t>
            </a:r>
            <a:r>
              <a:rPr lang="zh-CN" altLang="en-US" sz="2200" dirty="0">
                <a:solidFill>
                  <a:schemeClr val="tx1"/>
                </a:solidFill>
              </a:rPr>
              <a:t>溢出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372200" y="620688"/>
            <a:ext cx="2304256" cy="995587"/>
            <a:chOff x="6156177" y="3933056"/>
            <a:chExt cx="2304256" cy="995587"/>
          </a:xfrm>
        </p:grpSpPr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7842841" y="4498234"/>
              <a:ext cx="204677" cy="2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" name="Text Box 213"/>
            <p:cNvSpPr txBox="1">
              <a:spLocks noChangeArrowheads="1"/>
            </p:cNvSpPr>
            <p:nvPr/>
          </p:nvSpPr>
          <p:spPr bwMode="auto">
            <a:xfrm>
              <a:off x="8028433" y="4293095"/>
              <a:ext cx="432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-1</a:t>
              </a:r>
              <a:endPara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pitchFamily="34" charset="-122"/>
              </a:endParaRPr>
            </a:p>
          </p:txBody>
        </p:sp>
        <p:sp>
          <p:nvSpPr>
            <p:cNvPr id="53" name="流程图: 手动操作 52"/>
            <p:cNvSpPr/>
            <p:nvPr/>
          </p:nvSpPr>
          <p:spPr bwMode="auto">
            <a:xfrm>
              <a:off x="6596504" y="4217341"/>
              <a:ext cx="1431881" cy="435796"/>
            </a:xfrm>
            <a:prstGeom prst="flowChartManualOperation">
              <a:avLst/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加法器</a:t>
              </a:r>
              <a:endPara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4" name="Line 189"/>
            <p:cNvSpPr>
              <a:spLocks noChangeShapeType="1"/>
            </p:cNvSpPr>
            <p:nvPr/>
          </p:nvSpPr>
          <p:spPr bwMode="auto">
            <a:xfrm flipH="1">
              <a:off x="6948264" y="3933056"/>
              <a:ext cx="0" cy="291516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5" name="Line 189"/>
            <p:cNvSpPr>
              <a:spLocks noChangeShapeType="1"/>
            </p:cNvSpPr>
            <p:nvPr/>
          </p:nvSpPr>
          <p:spPr bwMode="auto">
            <a:xfrm flipH="1">
              <a:off x="7740352" y="3933056"/>
              <a:ext cx="0" cy="291516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6" name="Line 189"/>
            <p:cNvSpPr>
              <a:spLocks noChangeShapeType="1"/>
            </p:cNvSpPr>
            <p:nvPr/>
          </p:nvSpPr>
          <p:spPr bwMode="auto">
            <a:xfrm>
              <a:off x="7344307" y="4653136"/>
              <a:ext cx="0" cy="27550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7" name="Text Box 213"/>
            <p:cNvSpPr txBox="1">
              <a:spLocks noChangeArrowheads="1"/>
            </p:cNvSpPr>
            <p:nvPr/>
          </p:nvSpPr>
          <p:spPr bwMode="auto">
            <a:xfrm>
              <a:off x="6660233" y="3933056"/>
              <a:ext cx="1080121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A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cs typeface="Arial Unicode MS" panose="020B0604020202020204" pitchFamily="34" charset="-122"/>
                  <a:sym typeface="Symbol" panose="05050102010706020507"/>
                </a:rPr>
                <a:t>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     B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8" name="Text Box 213"/>
            <p:cNvSpPr txBox="1">
              <a:spLocks noChangeArrowheads="1"/>
            </p:cNvSpPr>
            <p:nvPr/>
          </p:nvSpPr>
          <p:spPr bwMode="auto">
            <a:xfrm>
              <a:off x="7092280" y="4674908"/>
              <a:ext cx="180019" cy="2034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H="1">
              <a:off x="6556489" y="4511888"/>
              <a:ext cx="2368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0" name="Text Box 213"/>
            <p:cNvSpPr txBox="1">
              <a:spLocks noChangeArrowheads="1"/>
            </p:cNvSpPr>
            <p:nvPr/>
          </p:nvSpPr>
          <p:spPr bwMode="auto">
            <a:xfrm>
              <a:off x="6156177" y="4293096"/>
              <a:ext cx="432047" cy="43204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n-1</a:t>
              </a:r>
              <a:endPara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 Box 27"/>
          <p:cNvSpPr txBox="1">
            <a:spLocks noChangeArrowheads="1"/>
          </p:cNvSpPr>
          <p:nvPr/>
        </p:nvSpPr>
        <p:spPr bwMode="auto">
          <a:xfrm>
            <a:off x="179388" y="2492896"/>
            <a:ext cx="8713091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判断方法①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u="sng" dirty="0" smtClean="0">
                <a:solidFill>
                  <a:schemeClr val="tx1"/>
                </a:solidFill>
              </a:rPr>
              <a:t>1</a:t>
            </a:r>
            <a:r>
              <a:rPr lang="zh-CN" altLang="en-US" u="sng" dirty="0" smtClean="0">
                <a:solidFill>
                  <a:schemeClr val="tx1"/>
                </a:solidFill>
              </a:rPr>
              <a:t>位符号位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               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OF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(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b="0" spc="-10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)(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b="0" spc="-1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</a:t>
            </a:r>
            <a:endParaRPr lang="en-US" altLang="zh-CN" sz="2200" spc="-1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94328" y="3101618"/>
            <a:ext cx="2465672" cy="57719"/>
            <a:chOff x="3448336" y="3101618"/>
            <a:chExt cx="2465672" cy="57719"/>
          </a:xfrm>
        </p:grpSpPr>
        <p:cxnSp>
          <p:nvCxnSpPr>
            <p:cNvPr id="63" name="直接连接符 62"/>
            <p:cNvCxnSpPr/>
            <p:nvPr/>
          </p:nvCxnSpPr>
          <p:spPr bwMode="auto">
            <a:xfrm>
              <a:off x="3448336" y="3159337"/>
              <a:ext cx="32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3825944" y="3101618"/>
              <a:ext cx="378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5590008" y="3149815"/>
              <a:ext cx="32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6" name="Text Box 28"/>
          <p:cNvSpPr txBox="1">
            <a:spLocks noChangeArrowheads="1"/>
          </p:cNvSpPr>
          <p:nvPr/>
        </p:nvSpPr>
        <p:spPr bwMode="auto">
          <a:xfrm>
            <a:off x="179388" y="3429000"/>
            <a:ext cx="8785225" cy="9750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判断方法②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zh-CN" altLang="en-US" u="sng" dirty="0" smtClean="0">
                <a:solidFill>
                  <a:schemeClr val="tx1"/>
                </a:solidFill>
              </a:rPr>
              <a:t>进位</a:t>
            </a:r>
            <a:r>
              <a:rPr lang="zh-CN" altLang="en-US" u="sng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dirty="0" smtClean="0">
                <a:solidFill>
                  <a:srgbClr val="990099"/>
                </a:solidFill>
              </a:rPr>
              <a:t>                </a:t>
            </a:r>
            <a:r>
              <a:rPr lang="en-US" altLang="zh-CN" sz="2200" dirty="0" smtClean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67" name="Text Box 18"/>
          <p:cNvSpPr txBox="1">
            <a:spLocks noChangeArrowheads="1"/>
          </p:cNvSpPr>
          <p:nvPr/>
        </p:nvSpPr>
        <p:spPr bwMode="auto">
          <a:xfrm>
            <a:off x="179388" y="429309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4—</a:t>
            </a:r>
            <a:r>
              <a:rPr lang="zh-CN" altLang="en-US" spc="-100" dirty="0" smtClean="0">
                <a:solidFill>
                  <a:schemeClr val="tx1"/>
                </a:solidFill>
              </a:rPr>
              <a:t>设</a:t>
            </a:r>
            <a:r>
              <a:rPr lang="en-US" altLang="zh-CN" spc="-100" dirty="0">
                <a:solidFill>
                  <a:schemeClr val="tx1"/>
                </a:solidFill>
              </a:rPr>
              <a:t>[A]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en-US" altLang="zh-CN" spc="-100" dirty="0">
                <a:solidFill>
                  <a:schemeClr val="tx1"/>
                </a:solidFill>
              </a:rPr>
              <a:t>=1010</a:t>
            </a:r>
            <a:r>
              <a:rPr lang="zh-CN" altLang="en-US" spc="-100" dirty="0">
                <a:solidFill>
                  <a:schemeClr val="tx1"/>
                </a:solidFill>
              </a:rPr>
              <a:t>，</a:t>
            </a:r>
            <a:r>
              <a:rPr lang="en-US" altLang="zh-CN" spc="-100" dirty="0">
                <a:solidFill>
                  <a:schemeClr val="tx1"/>
                </a:solidFill>
              </a:rPr>
              <a:t>[B]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en-US" altLang="zh-CN" spc="-100" dirty="0">
                <a:solidFill>
                  <a:schemeClr val="tx1"/>
                </a:solidFill>
              </a:rPr>
              <a:t>=</a:t>
            </a:r>
            <a:r>
              <a:rPr lang="en-US" altLang="zh-CN" spc="-100" dirty="0" smtClean="0">
                <a:solidFill>
                  <a:schemeClr val="tx1"/>
                </a:solidFill>
              </a:rPr>
              <a:t>0011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r>
              <a:rPr lang="en-US" altLang="zh-CN" spc="-100" dirty="0" smtClean="0">
                <a:solidFill>
                  <a:schemeClr val="tx1"/>
                </a:solidFill>
              </a:rPr>
              <a:t>[</a:t>
            </a:r>
            <a:r>
              <a:rPr lang="en-US" altLang="zh-CN" spc="-100" dirty="0">
                <a:solidFill>
                  <a:schemeClr val="tx1"/>
                </a:solidFill>
              </a:rPr>
              <a:t>A+B]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pc="-100" dirty="0">
                <a:solidFill>
                  <a:schemeClr val="tx1"/>
                </a:solidFill>
              </a:rPr>
              <a:t>、</a:t>
            </a:r>
            <a:r>
              <a:rPr lang="en-US" altLang="zh-CN" spc="-100" dirty="0">
                <a:solidFill>
                  <a:schemeClr val="tx1"/>
                </a:solidFill>
              </a:rPr>
              <a:t>[A-B]</a:t>
            </a:r>
            <a:r>
              <a:rPr lang="zh-CN" altLang="en-US" spc="-1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pc="-100" dirty="0" smtClean="0">
                <a:solidFill>
                  <a:schemeClr val="tx1"/>
                </a:solidFill>
              </a:rPr>
              <a:t>溢出否</a:t>
            </a:r>
            <a:r>
              <a:rPr lang="en-US" altLang="zh-CN" spc="-100" dirty="0" smtClean="0">
                <a:solidFill>
                  <a:schemeClr val="tx1"/>
                </a:solidFill>
              </a:rPr>
              <a:t>?</a:t>
            </a:r>
            <a:endParaRPr lang="en-US" altLang="zh-CN" spc="-1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解：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=1010+0011=</a:t>
            </a:r>
            <a:r>
              <a:rPr lang="en-US" altLang="zh-CN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12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101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A-B]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=1010+1101=</a:t>
            </a:r>
            <a:r>
              <a:rPr lang="en-US" altLang="zh-CN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12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111 </a:t>
            </a:r>
            <a:endParaRPr lang="en-US" altLang="zh-CN" dirty="0">
              <a:solidFill>
                <a:srgbClr val="990099"/>
              </a:solidFill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1475656" y="5301208"/>
          <a:ext cx="6984776" cy="104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2664296"/>
                <a:gridCol w="2664296"/>
              </a:tblGrid>
              <a:tr h="360040">
                <a:tc>
                  <a:txBody>
                    <a:bodyPr/>
                    <a:lstStyle/>
                    <a:p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spc="-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[A+B]</a:t>
                      </a:r>
                      <a:r>
                        <a:rPr lang="zh-CN" altLang="en-US" sz="2000" b="1" spc="-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2000" b="1" spc="-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溢出判断</a:t>
                      </a:r>
                      <a:endParaRPr lang="zh-CN" altLang="en-US" sz="2000" b="1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spc="-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[A-B]</a:t>
                      </a:r>
                      <a:r>
                        <a:rPr lang="zh-CN" altLang="en-US" sz="2000" b="1" spc="-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2000" b="1" spc="-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溢出判断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使用方法①</a:t>
                      </a:r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5264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使用方法②</a:t>
                      </a:r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Text Box 213"/>
          <p:cNvSpPr txBox="1">
            <a:spLocks noChangeArrowheads="1"/>
          </p:cNvSpPr>
          <p:nvPr/>
        </p:nvSpPr>
        <p:spPr bwMode="auto">
          <a:xfrm>
            <a:off x="3635896" y="5661248"/>
            <a:ext cx="4608512" cy="6263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90000" tIns="93600" rIns="18000" bIns="10800" anchor="ctr"/>
          <a:lstStyle/>
          <a:p>
            <a:pPr>
              <a:lnSpc>
                <a:spcPct val="105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1)(0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1)=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spc="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    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0)(1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0)=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0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0=0        </a:t>
            </a:r>
            <a:r>
              <a:rPr lang="en-US" altLang="zh-CN" sz="2000" spc="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    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0=1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8" name="AutoShape 62">
            <a:hlinkClick r:id="rId2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4050209" y="6543774"/>
            <a:ext cx="287337" cy="25186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2" grpId="0"/>
      <p:bldP spid="66" grpId="0"/>
      <p:bldP spid="6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2FEE-AC88-4D90-9461-B227C7FB5A61}" type="slidenum">
              <a:rPr lang="en-US" altLang="zh-CN"/>
            </a:fld>
            <a:endParaRPr lang="en-US" altLang="zh-CN"/>
          </a:p>
        </p:txBody>
      </p:sp>
      <p:sp>
        <p:nvSpPr>
          <p:cNvPr id="263255" name="Text Box 87"/>
          <p:cNvSpPr txBox="1">
            <a:spLocks noChangeArrowheads="1"/>
          </p:cNvSpPr>
          <p:nvPr/>
        </p:nvSpPr>
        <p:spPr bwMode="auto">
          <a:xfrm>
            <a:off x="179388" y="332656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</a:t>
            </a:r>
            <a:r>
              <a:rPr lang="zh-CN" altLang="en-US" dirty="0">
                <a:solidFill>
                  <a:schemeClr val="accent2"/>
                </a:solidFill>
              </a:rPr>
              <a:t>方法</a:t>
            </a:r>
            <a:r>
              <a:rPr lang="zh-CN" altLang="en-US" dirty="0" smtClean="0">
                <a:solidFill>
                  <a:schemeClr val="accent2"/>
                </a:solidFill>
              </a:rPr>
              <a:t>③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u="sng" dirty="0" smtClean="0">
                <a:solidFill>
                  <a:schemeClr val="tx1"/>
                </a:solidFill>
              </a:rPr>
              <a:t>2</a:t>
            </a:r>
            <a:r>
              <a:rPr lang="zh-CN" altLang="en-US" u="sng" dirty="0" smtClean="0">
                <a:solidFill>
                  <a:schemeClr val="tx1"/>
                </a:solidFill>
              </a:rPr>
              <a:t>位符号位</a:t>
            </a:r>
            <a:r>
              <a:rPr lang="zh-CN" altLang="en-US" dirty="0">
                <a:solidFill>
                  <a:schemeClr val="tx1"/>
                </a:solidFill>
              </a:rPr>
              <a:t>判断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 变形补码：</a:t>
            </a:r>
            <a:r>
              <a:rPr lang="zh-CN" altLang="en-US" dirty="0" smtClean="0">
                <a:solidFill>
                  <a:schemeClr val="tx1"/>
                </a:solidFill>
              </a:rPr>
              <a:t>采用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个符号位的补码</a:t>
            </a:r>
            <a:r>
              <a:rPr lang="en-US" altLang="zh-CN" dirty="0" smtClean="0">
                <a:solidFill>
                  <a:schemeClr val="tx1"/>
                </a:solidFill>
              </a:rPr>
              <a:t>[Z]</a:t>
            </a:r>
            <a:r>
              <a:rPr lang="zh-CN" altLang="en-US" baseline="-18000" dirty="0">
                <a:solidFill>
                  <a:schemeClr val="tx1"/>
                </a:solidFill>
              </a:rPr>
              <a:t>变补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i="1" dirty="0" smtClean="0">
                <a:solidFill>
                  <a:srgbClr val="FF3399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rgbClr val="FF3399"/>
                </a:solidFill>
              </a:rPr>
              <a:t>n</a:t>
            </a:r>
            <a:r>
              <a:rPr lang="en-US" altLang="zh-CN" i="1" dirty="0" smtClean="0">
                <a:solidFill>
                  <a:srgbClr val="FF3399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rgbClr val="FF3399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        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>
                <a:solidFill>
                  <a:schemeClr val="tx1"/>
                </a:solidFill>
              </a:rPr>
              <a:t>表示符号</a:t>
            </a:r>
            <a:r>
              <a:rPr lang="en-US" altLang="zh-CN" dirty="0">
                <a:solidFill>
                  <a:schemeClr val="tx1"/>
                </a:solidFill>
              </a:rPr>
              <a:t>(00</a:t>
            </a:r>
            <a:r>
              <a:rPr lang="zh-CN" altLang="en-US" dirty="0">
                <a:solidFill>
                  <a:schemeClr val="tx1"/>
                </a:solidFill>
              </a:rPr>
              <a:t>为正数、</a:t>
            </a:r>
            <a:r>
              <a:rPr lang="en-US" altLang="zh-CN" dirty="0">
                <a:solidFill>
                  <a:schemeClr val="tx1"/>
                </a:solidFill>
              </a:rPr>
              <a:t>11</a:t>
            </a:r>
            <a:r>
              <a:rPr lang="zh-CN" altLang="en-US" dirty="0">
                <a:solidFill>
                  <a:schemeClr val="tx1"/>
                </a:solidFill>
              </a:rPr>
              <a:t>为负数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3256" name="Text Box 88"/>
          <p:cNvSpPr txBox="1">
            <a:spLocks noChangeArrowheads="1"/>
          </p:cNvSpPr>
          <p:nvPr/>
        </p:nvSpPr>
        <p:spPr bwMode="auto">
          <a:xfrm>
            <a:off x="179388" y="2924944"/>
            <a:ext cx="885710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A=-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B=+011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25000" dirty="0">
                <a:solidFill>
                  <a:schemeClr val="tx1"/>
                </a:solidFill>
              </a:rPr>
              <a:t>变</a:t>
            </a:r>
            <a:r>
              <a:rPr lang="zh-CN" altLang="en-US" baseline="-25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[A-B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25000" dirty="0">
                <a:solidFill>
                  <a:schemeClr val="tx1"/>
                </a:solidFill>
              </a:rPr>
              <a:t>变补</a:t>
            </a:r>
            <a:r>
              <a:rPr lang="zh-CN" altLang="en-US" dirty="0">
                <a:solidFill>
                  <a:schemeClr val="tx1"/>
                </a:solidFill>
              </a:rPr>
              <a:t>是否</a:t>
            </a:r>
            <a:r>
              <a:rPr lang="zh-CN" altLang="en-US" dirty="0" smtClean="0">
                <a:solidFill>
                  <a:schemeClr val="tx1"/>
                </a:solidFill>
              </a:rPr>
              <a:t>溢出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    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baseline="-20000" dirty="0">
              <a:solidFill>
                <a:schemeClr val="tx1"/>
              </a:solidFill>
            </a:endParaRPr>
          </a:p>
        </p:txBody>
      </p:sp>
      <p:sp>
        <p:nvSpPr>
          <p:cNvPr id="263259" name="Text Box 91"/>
          <p:cNvSpPr txBox="1">
            <a:spLocks noChangeArrowheads="1"/>
          </p:cNvSpPr>
          <p:nvPr/>
        </p:nvSpPr>
        <p:spPr bwMode="auto">
          <a:xfrm>
            <a:off x="179388" y="1693257"/>
            <a:ext cx="8785225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 smtClean="0">
                <a:solidFill>
                  <a:srgbClr val="990099"/>
                </a:solidFill>
              </a:rPr>
              <a:t>依据：</a:t>
            </a:r>
            <a:r>
              <a:rPr lang="zh-CN" altLang="en-US" dirty="0" smtClean="0">
                <a:solidFill>
                  <a:schemeClr val="tx1"/>
                </a:solidFill>
              </a:rPr>
              <a:t>正溢出时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01</a:t>
            </a:r>
            <a:r>
              <a:rPr lang="zh-CN" altLang="en-US" dirty="0" smtClean="0">
                <a:solidFill>
                  <a:schemeClr val="tx1"/>
                </a:solidFill>
              </a:rPr>
              <a:t>，负溢出</a:t>
            </a:r>
            <a:r>
              <a:rPr lang="zh-CN" altLang="en-US" dirty="0">
                <a:solidFill>
                  <a:schemeClr val="tx1"/>
                </a:solidFill>
              </a:rPr>
              <a:t>时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10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(</a:t>
            </a:r>
            <a:r>
              <a:rPr lang="en-US" altLang="zh-CN" sz="1800" i="1" spc="-5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18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18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 (</a:t>
            </a:r>
            <a:r>
              <a:rPr lang="en-US" altLang="zh-CN" sz="1800" i="1" spc="-5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18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溢出逻辑：</a:t>
            </a:r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3262" name="Text Box 94"/>
          <p:cNvSpPr txBox="1">
            <a:spLocks noChangeArrowheads="1"/>
          </p:cNvSpPr>
          <p:nvPr/>
        </p:nvSpPr>
        <p:spPr bwMode="auto">
          <a:xfrm>
            <a:off x="179388" y="3408441"/>
            <a:ext cx="8785225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 smtClean="0">
                <a:solidFill>
                  <a:srgbClr val="990099"/>
                </a:solidFill>
              </a:rPr>
              <a:t>       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101 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[A+B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变补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= 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      </a:t>
            </a:r>
            <a:r>
              <a:rPr lang="en-US" altLang="zh-CN" dirty="0">
                <a:solidFill>
                  <a:schemeClr val="tx1"/>
                </a:solidFill>
              </a:rPr>
              <a:t>[A-B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变补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= 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baseline="-25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u="sng" dirty="0">
                <a:solidFill>
                  <a:schemeClr val="tx1"/>
                </a:solidFill>
              </a:rPr>
              <a:t>+ </a:t>
            </a:r>
            <a:r>
              <a:rPr lang="en-US" altLang="zh-CN" u="sng" dirty="0" smtClean="0">
                <a:solidFill>
                  <a:schemeClr val="tx1"/>
                </a:solidFill>
              </a:rPr>
              <a:t>00</a:t>
            </a:r>
            <a:r>
              <a:rPr lang="en-US" altLang="zh-CN" u="sng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</a:rPr>
              <a:t>011</a:t>
            </a:r>
            <a:r>
              <a:rPr lang="en-US" altLang="zh-CN" dirty="0" smtClean="0">
                <a:solidFill>
                  <a:schemeClr val="tx1"/>
                </a:solidFill>
              </a:rPr>
              <a:t> 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en-US" altLang="zh-CN" u="sng" dirty="0">
                <a:solidFill>
                  <a:schemeClr val="tx1"/>
                </a:solidFill>
              </a:rPr>
              <a:t>+ </a:t>
            </a:r>
            <a:r>
              <a:rPr lang="en-US" altLang="zh-CN" u="sng" dirty="0" smtClean="0">
                <a:solidFill>
                  <a:schemeClr val="tx1"/>
                </a:solidFill>
              </a:rPr>
              <a:t>11</a:t>
            </a:r>
            <a:r>
              <a:rPr lang="en-US" altLang="zh-CN" u="sng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</a:rPr>
              <a:t>101</a:t>
            </a:r>
            <a:endParaRPr lang="en-US" altLang="zh-CN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  </a:t>
            </a: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   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101      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</a:t>
            </a:r>
            <a:r>
              <a:rPr lang="en-US" altLang="zh-CN" dirty="0" smtClean="0">
                <a:solidFill>
                  <a:srgbClr val="FF3399"/>
                </a:solidFill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111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OF=1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=0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，不溢出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OF=1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=1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，溢出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3270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71" name="Text Box 103"/>
          <p:cNvSpPr txBox="1">
            <a:spLocks noChangeArrowheads="1"/>
          </p:cNvSpPr>
          <p:nvPr/>
        </p:nvSpPr>
        <p:spPr bwMode="auto">
          <a:xfrm>
            <a:off x="179388" y="5437673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练习</a:t>
            </a:r>
            <a:r>
              <a:rPr lang="en-US" altLang="zh-CN" dirty="0">
                <a:solidFill>
                  <a:srgbClr val="990099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A=+15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B=+24</a:t>
            </a:r>
            <a:r>
              <a:rPr lang="zh-CN" altLang="en-US" dirty="0" smtClean="0">
                <a:solidFill>
                  <a:schemeClr val="tx1"/>
                </a:solidFill>
              </a:rPr>
              <a:t>，补码含</a:t>
            </a:r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个数值位，判断</a:t>
            </a:r>
            <a:r>
              <a:rPr lang="en-US" altLang="zh-CN" dirty="0">
                <a:solidFill>
                  <a:schemeClr val="tx1"/>
                </a:solidFill>
              </a:rPr>
              <a:t>A+B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A-B</a:t>
            </a:r>
            <a:r>
              <a:rPr lang="zh-CN" altLang="en-US" dirty="0" smtClean="0">
                <a:solidFill>
                  <a:schemeClr val="tx1"/>
                </a:solidFill>
              </a:rPr>
              <a:t>结果是否溢出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方法不限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56" grpId="0"/>
      <p:bldP spid="263259" grpId="0"/>
      <p:bldP spid="263262" grpId="0" bldLvl="0" animBg="1"/>
      <p:bldP spid="26327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37397-B4CF-4851-B3BA-71ADD8679B98}" type="slidenum">
              <a:rPr lang="en-US" altLang="zh-CN"/>
            </a:fld>
            <a:endParaRPr lang="en-US" altLang="zh-CN" dirty="0"/>
          </a:p>
        </p:txBody>
      </p:sp>
      <p:sp>
        <p:nvSpPr>
          <p:cNvPr id="2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9" name="AutoShape 4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4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9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513" y="1548000"/>
            <a:ext cx="3672408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逻辑实现：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实现思路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zh-CN" altLang="en-US" dirty="0" smtClean="0">
                <a:solidFill>
                  <a:schemeClr val="accent2"/>
                </a:solidFill>
              </a:rPr>
              <a:t>    加减法器</a:t>
            </a:r>
            <a:r>
              <a:rPr lang="zh-CN" altLang="en-US" dirty="0">
                <a:solidFill>
                  <a:schemeClr val="accent2"/>
                </a:solidFill>
              </a:rPr>
              <a:t>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3" name="Text Box 9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40000" y="2016000"/>
            <a:ext cx="3888681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>
                <a:solidFill>
                  <a:schemeClr val="tx1"/>
                </a:solidFill>
              </a:rPr>
              <a:t>与补码加减法</a:t>
            </a:r>
            <a:r>
              <a:rPr lang="zh-CN" altLang="en-US" u="sng" dirty="0" smtClean="0">
                <a:solidFill>
                  <a:srgbClr val="990099"/>
                </a:solidFill>
              </a:rPr>
              <a:t>相同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   与补码加减法器</a:t>
            </a:r>
            <a:r>
              <a:rPr lang="zh-CN" altLang="en-US" u="sng" dirty="0" smtClean="0">
                <a:solidFill>
                  <a:srgbClr val="990099"/>
                </a:solidFill>
              </a:rPr>
              <a:t>相同</a:t>
            </a:r>
            <a:endParaRPr lang="en-US" altLang="zh-CN" u="sng" dirty="0" smtClean="0">
              <a:solidFill>
                <a:srgbClr val="990099"/>
              </a:solidFill>
            </a:endParaRPr>
          </a:p>
        </p:txBody>
      </p:sp>
      <p:cxnSp>
        <p:nvCxnSpPr>
          <p:cNvPr id="6" name="直接箭头连接符 82"/>
          <p:cNvCxnSpPr/>
          <p:nvPr>
            <p:custDataLst>
              <p:tags r:id="rId7"/>
            </p:custDataLst>
          </p:nvPr>
        </p:nvCxnSpPr>
        <p:spPr bwMode="auto">
          <a:xfrm flipV="1">
            <a:off x="5472245" y="2340000"/>
            <a:ext cx="468052" cy="274840"/>
          </a:xfrm>
          <a:prstGeom prst="bentConnector3">
            <a:avLst>
              <a:gd name="adj1" fmla="val -1167"/>
            </a:avLst>
          </a:prstGeom>
          <a:noFill/>
          <a:ln w="15875" cap="flat" cmpd="sng" algn="ctr">
            <a:solidFill>
              <a:srgbClr val="FF3399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 Box 17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940785" y="1963271"/>
            <a:ext cx="2412000" cy="648000"/>
          </a:xfrm>
          <a:prstGeom prst="rect">
            <a:avLst/>
          </a:prstGeom>
          <a:solidFill>
            <a:srgbClr val="CCFFFF"/>
          </a:solidFill>
          <a:ln w="15875">
            <a:solidFill>
              <a:srgbClr val="FF3399"/>
            </a:solidFill>
            <a:prstDash val="solid"/>
            <a:miter lim="800000"/>
          </a:ln>
          <a:effectLst/>
        </p:spPr>
        <p:txBody>
          <a:bodyPr lIns="54000" tIns="0" rIns="54000" bIns="10800" anchor="ctr"/>
          <a:p>
            <a:pPr algn="ctr"/>
            <a:r>
              <a:rPr lang="zh-CN" altLang="en-US" sz="1800" u="sng" dirty="0" smtClean="0">
                <a:solidFill>
                  <a:schemeClr val="tx1"/>
                </a:solidFill>
              </a:rPr>
              <a:t>同一个加减法器</a:t>
            </a:r>
            <a:r>
              <a:rPr lang="zh-CN" altLang="en-US" sz="1800" dirty="0" smtClean="0">
                <a:solidFill>
                  <a:schemeClr val="tx1"/>
                </a:solidFill>
              </a:rPr>
              <a:t>可实现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800" u="sng" dirty="0" smtClean="0">
                <a:solidFill>
                  <a:srgbClr val="C00000"/>
                </a:solidFill>
              </a:rPr>
              <a:t>有</a:t>
            </a:r>
            <a:r>
              <a:rPr lang="en-US" altLang="zh-CN" sz="1800" u="sng" dirty="0" smtClean="0">
                <a:solidFill>
                  <a:srgbClr val="C00000"/>
                </a:solidFill>
              </a:rPr>
              <a:t>/</a:t>
            </a:r>
            <a:r>
              <a:rPr lang="zh-CN" altLang="en-US" sz="1800" u="sng" dirty="0">
                <a:solidFill>
                  <a:srgbClr val="C00000"/>
                </a:solidFill>
              </a:rPr>
              <a:t>无符号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zh-CN" altLang="en-US" sz="1800" dirty="0" smtClean="0">
                <a:solidFill>
                  <a:schemeClr val="tx1"/>
                </a:solidFill>
              </a:rPr>
              <a:t>加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减运算</a:t>
            </a:r>
            <a:endParaRPr lang="zh-CN" altLang="en-US" sz="1800" baseline="-18000" dirty="0" smtClean="0">
              <a:solidFill>
                <a:schemeClr val="tx1"/>
              </a:solidFill>
            </a:endParaRPr>
          </a:p>
        </p:txBody>
      </p:sp>
      <p:sp>
        <p:nvSpPr>
          <p:cNvPr id="8" name="Text Box 323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9388" y="332656"/>
            <a:ext cx="8857108" cy="14389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、无</a:t>
            </a:r>
            <a:r>
              <a:rPr lang="zh-CN" altLang="en-US" dirty="0" smtClean="0">
                <a:solidFill>
                  <a:srgbClr val="FF3399"/>
                </a:solidFill>
              </a:rPr>
              <a:t>符号加</a:t>
            </a:r>
            <a:r>
              <a:rPr lang="zh-CN" altLang="en-US" dirty="0">
                <a:solidFill>
                  <a:srgbClr val="FF3399"/>
                </a:solidFill>
              </a:rPr>
              <a:t>减运算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*运算方法：</a:t>
            </a:r>
            <a:r>
              <a:rPr lang="zh-CN" altLang="en-US" dirty="0" smtClean="0">
                <a:solidFill>
                  <a:schemeClr val="accent2"/>
                </a:solidFill>
              </a:rPr>
              <a:t>加法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18000" dirty="0">
                <a:solidFill>
                  <a:schemeClr val="tx1"/>
                </a:solidFill>
              </a:rPr>
              <a:t>无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        </a:t>
            </a:r>
            <a:r>
              <a:rPr lang="zh-CN" altLang="en-US" dirty="0">
                <a:solidFill>
                  <a:schemeClr val="accent2"/>
                </a:solidFill>
              </a:rPr>
              <a:t>减法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数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18000" dirty="0">
                <a:solidFill>
                  <a:schemeClr val="tx1"/>
                </a:solidFill>
              </a:rPr>
              <a:t>无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8000" dirty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9" name="Line 36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7596000" y="1332000"/>
            <a:ext cx="54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p>
            <a:endParaRPr lang="zh-CN" altLang="en-US"/>
          </a:p>
        </p:txBody>
      </p:sp>
      <p:sp>
        <p:nvSpPr>
          <p:cNvPr id="10" name="Text Box 1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24128" y="2997237"/>
            <a:ext cx="3096000" cy="288000"/>
          </a:xfrm>
          <a:prstGeom prst="rect">
            <a:avLst/>
          </a:prstGeom>
          <a:noFill/>
          <a:ln w="15875">
            <a:solidFill>
              <a:srgbClr val="FF3399"/>
            </a:solidFill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p>
            <a:pPr marL="266700" indent="-266700" algn="ctr">
              <a:lnSpc>
                <a:spcPct val="9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无需</a:t>
            </a:r>
            <a:r>
              <a:rPr lang="zh-CN" altLang="en-US" sz="1800" dirty="0" smtClean="0">
                <a:solidFill>
                  <a:schemeClr val="tx1"/>
                </a:solidFill>
              </a:rPr>
              <a:t>区分符号 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运算结果</a:t>
            </a:r>
            <a:r>
              <a:rPr lang="zh-CN" altLang="en-US" sz="1600" dirty="0" smtClean="0">
                <a:solidFill>
                  <a:srgbClr val="C00000"/>
                </a:solidFill>
              </a:rPr>
              <a:t>相同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1" name="Text Box 20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476384" y="2997237"/>
            <a:ext cx="40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u="sng" dirty="0">
                <a:solidFill>
                  <a:schemeClr val="tx1"/>
                </a:solidFill>
              </a:rPr>
              <a:t>加减法器</a:t>
            </a:r>
            <a:r>
              <a:rPr lang="zh-CN" altLang="en-US" sz="1800" dirty="0">
                <a:solidFill>
                  <a:schemeClr val="tx1"/>
                </a:solidFill>
              </a:rPr>
              <a:t>怎知</a:t>
            </a:r>
            <a:r>
              <a:rPr lang="zh-CN" altLang="en-US" sz="1800" dirty="0" smtClean="0">
                <a:solidFill>
                  <a:schemeClr val="tx1"/>
                </a:solidFill>
              </a:rPr>
              <a:t>运算有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875942" y="5220000"/>
            <a:ext cx="1800000" cy="576000"/>
          </a:xfrm>
          <a:prstGeom prst="rect">
            <a:avLst/>
          </a:prstGeom>
          <a:solidFill>
            <a:srgbClr val="CCFFFF"/>
          </a:solidFill>
          <a:ln w="15875">
            <a:solidFill>
              <a:srgbClr val="FF3399"/>
            </a:solidFill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p>
            <a:pPr marL="266700" indent="-266700" algn="ctr">
              <a:lnSpc>
                <a:spcPct val="95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同时产生</a:t>
            </a:r>
            <a:r>
              <a:rPr lang="en-US" altLang="zh-CN" sz="1800" dirty="0" smtClean="0">
                <a:solidFill>
                  <a:schemeClr val="tx1"/>
                </a:solidFill>
              </a:rPr>
              <a:t>OF</a:t>
            </a:r>
            <a:r>
              <a:rPr lang="zh-CN" altLang="en-US" sz="1800" dirty="0" smtClean="0">
                <a:solidFill>
                  <a:schemeClr val="tx1"/>
                </a:solidFill>
              </a:rPr>
              <a:t>及</a:t>
            </a:r>
            <a:r>
              <a:rPr lang="en-US" altLang="zh-CN" sz="1800" dirty="0" smtClean="0">
                <a:solidFill>
                  <a:schemeClr val="tx1"/>
                </a:solidFill>
              </a:rPr>
              <a:t>CF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66700" indent="-266700" algn="ctr">
              <a:lnSpc>
                <a:spcPct val="95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基于运算</a:t>
            </a:r>
            <a:r>
              <a:rPr lang="zh-CN" altLang="en-US" sz="1600" dirty="0" smtClean="0">
                <a:solidFill>
                  <a:srgbClr val="C00000"/>
                </a:solidFill>
              </a:rPr>
              <a:t>选用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3" name="Text Box 376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79389" y="3276000"/>
            <a:ext cx="4968674" cy="19202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溢出</a:t>
            </a:r>
            <a:r>
              <a:rPr lang="zh-CN" altLang="en-US" dirty="0" smtClean="0">
                <a:solidFill>
                  <a:srgbClr val="C00000"/>
                </a:solidFill>
              </a:rPr>
              <a:t>判断：    </a:t>
            </a:r>
            <a:r>
              <a:rPr lang="en-US" altLang="zh-CN" sz="1800" dirty="0" smtClean="0">
                <a:solidFill>
                  <a:schemeClr val="tx1"/>
                </a:solidFill>
              </a:rPr>
              <a:t>--</a:t>
            </a:r>
            <a:r>
              <a:rPr lang="zh-CN" altLang="en-US" sz="1800" dirty="0">
                <a:solidFill>
                  <a:schemeClr val="tx1"/>
                </a:solidFill>
              </a:rPr>
              <a:t>判断结果</a:t>
            </a:r>
            <a:r>
              <a:rPr lang="zh-CN" altLang="en-US" sz="1800" dirty="0" smtClean="0">
                <a:solidFill>
                  <a:schemeClr val="tx1"/>
                </a:solidFill>
              </a:rPr>
              <a:t>正确性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溢出特征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判断方法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4" name="Text Box 37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340000" y="3744000"/>
            <a:ext cx="5184545" cy="1402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chemeClr val="tx1"/>
                </a:solidFill>
              </a:rPr>
              <a:t>加法时有</a:t>
            </a:r>
            <a:r>
              <a:rPr lang="zh-CN" altLang="en-US" u="sng" dirty="0" smtClean="0">
                <a:solidFill>
                  <a:schemeClr val="tx1"/>
                </a:solidFill>
              </a:rPr>
              <a:t>进位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baseline="-14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tx1"/>
                </a:solidFill>
              </a:rPr>
              <a:t>减法时有</a:t>
            </a:r>
            <a:r>
              <a:rPr lang="zh-CN" altLang="en-US" u="sng" dirty="0" smtClean="0">
                <a:solidFill>
                  <a:schemeClr val="tx1"/>
                </a:solidFill>
              </a:rPr>
              <a:t>借位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baseline="-14000" dirty="0">
                <a:solidFill>
                  <a:schemeClr val="tx1"/>
                </a:solidFill>
              </a:rPr>
              <a:t>n-1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rgbClr val="FF33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/>
                </a:solidFill>
              </a:rPr>
              <a:t>CF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baseline="-14000" dirty="0">
                <a:solidFill>
                  <a:schemeClr val="tx1"/>
                </a:solidFill>
              </a:rPr>
              <a:t>n-1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op</a:t>
            </a:r>
            <a:r>
              <a:rPr lang="en-US" altLang="zh-CN" baseline="-18000" dirty="0" smtClean="0">
                <a:solidFill>
                  <a:schemeClr val="tx1"/>
                </a:solidFill>
                <a:sym typeface="Symbol" panose="05050102010706020507"/>
              </a:rPr>
              <a:t>SUB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op</a:t>
            </a:r>
            <a:r>
              <a:rPr lang="en-US" altLang="zh-CN" sz="1800" baseline="-18000" dirty="0" err="1" smtClean="0">
                <a:solidFill>
                  <a:schemeClr val="tx1"/>
                </a:solidFill>
              </a:rPr>
              <a:t>SUB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时表示减法</a:t>
            </a:r>
            <a:endParaRPr lang="en-US" altLang="zh-CN" baseline="-30000" dirty="0">
              <a:solidFill>
                <a:schemeClr val="tx1"/>
              </a:solidFill>
              <a:sym typeface="Symbol" panose="05050102010706020507"/>
            </a:endParaRPr>
          </a:p>
        </p:txBody>
      </p:sp>
      <p:sp>
        <p:nvSpPr>
          <p:cNvPr id="15" name="Text Box 25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192000" y="3672000"/>
            <a:ext cx="2520000" cy="100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10+9</a:t>
            </a:r>
            <a:r>
              <a:rPr lang="zh-CN" altLang="en-US" sz="180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dirty="0" smtClean="0">
                <a:solidFill>
                  <a:schemeClr val="tx1"/>
                </a:solidFill>
              </a:rPr>
              <a:t>10-7</a:t>
            </a:r>
            <a:r>
              <a:rPr lang="zh-CN" altLang="en-US" sz="1800" dirty="0" smtClean="0">
                <a:solidFill>
                  <a:schemeClr val="tx1"/>
                </a:solidFill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</a:rPr>
              <a:t>7+6</a:t>
            </a:r>
            <a:r>
              <a:rPr lang="zh-CN" altLang="en-US" sz="180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dirty="0" smtClean="0">
                <a:solidFill>
                  <a:schemeClr val="tx1"/>
                </a:solidFill>
              </a:rPr>
              <a:t>7-10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1010      0111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</a:t>
            </a:r>
            <a:r>
              <a:rPr lang="en-US" altLang="zh-CN" sz="1800" u="sng" dirty="0" smtClean="0">
                <a:solidFill>
                  <a:schemeClr val="tx1"/>
                </a:solidFill>
              </a:rPr>
              <a:t>+ 1001</a:t>
            </a:r>
            <a:r>
              <a:rPr lang="en-US" altLang="zh-CN" sz="1800" dirty="0" smtClean="0">
                <a:solidFill>
                  <a:schemeClr val="tx1"/>
                </a:solidFill>
              </a:rPr>
              <a:t>    </a:t>
            </a:r>
            <a:r>
              <a:rPr lang="en-US" altLang="zh-CN" sz="1800" u="sng" dirty="0" smtClean="0">
                <a:solidFill>
                  <a:schemeClr val="tx1"/>
                </a:solidFill>
              </a:rPr>
              <a:t>+ 0110</a:t>
            </a:r>
            <a:endParaRPr lang="en-US" altLang="zh-CN" sz="1800" u="sng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</a:t>
            </a:r>
            <a:r>
              <a:rPr lang="en-US" altLang="zh-CN" sz="1800" u="sng" dirty="0" smtClean="0">
                <a:solidFill>
                  <a:srgbClr val="990099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0011    </a:t>
            </a:r>
            <a:r>
              <a:rPr lang="en-US" altLang="zh-CN" sz="1800" u="sng" dirty="0" smtClean="0">
                <a:solidFill>
                  <a:srgbClr val="FF33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 1101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68240" y="5796000"/>
            <a:ext cx="4032250" cy="504190"/>
            <a:chOff x="7824" y="9298"/>
            <a:chExt cx="6350" cy="794"/>
          </a:xfrm>
        </p:grpSpPr>
        <p:sp>
          <p:nvSpPr>
            <p:cNvPr id="17" name="Text Box 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824" y="9638"/>
              <a:ext cx="6350" cy="454"/>
            </a:xfrm>
            <a:prstGeom prst="rect">
              <a:avLst/>
            </a:prstGeom>
            <a:noFill/>
            <a:ln w="15875">
              <a:solidFill>
                <a:srgbClr val="FF3399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 anchorCtr="0">
              <a:noAutofit/>
            </a:bodyPr>
            <a:p>
              <a:pPr marL="266700" indent="-266700" algn="ctr">
                <a:lnSpc>
                  <a:spcPct val="95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  <a:sym typeface="+mn-ea"/>
                </a:rPr>
                <a:t>OF</a:t>
              </a:r>
              <a:r>
                <a:rPr lang="zh-CN" altLang="en-US" sz="1600" dirty="0" smtClean="0">
                  <a:solidFill>
                    <a:schemeClr val="tx1"/>
                  </a:solidFill>
                  <a:sym typeface="+mn-ea"/>
                </a:rPr>
                <a:t>仅表示</a:t>
              </a:r>
              <a:r>
                <a:rPr lang="zh-CN" altLang="en-US" sz="1600" dirty="0">
                  <a:solidFill>
                    <a:srgbClr val="990099"/>
                  </a:solidFill>
                </a:rPr>
                <a:t>有</a:t>
              </a:r>
              <a:r>
                <a:rPr lang="zh-CN" altLang="en-US" sz="1600" dirty="0" smtClean="0">
                  <a:solidFill>
                    <a:srgbClr val="990099"/>
                  </a:solidFill>
                </a:rPr>
                <a:t>符号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溢出，</a:t>
              </a:r>
              <a:r>
                <a:rPr lang="en-US" altLang="zh-CN" sz="1600" dirty="0" smtClean="0">
                  <a:solidFill>
                    <a:srgbClr val="FF3399"/>
                  </a:solidFill>
                  <a:sym typeface="+mn-ea"/>
                </a:rPr>
                <a:t>CF</a:t>
              </a:r>
              <a:r>
                <a:rPr lang="zh-CN" altLang="en-US" sz="1600" dirty="0" smtClean="0">
                  <a:solidFill>
                    <a:schemeClr val="tx1"/>
                  </a:solidFill>
                  <a:sym typeface="+mn-ea"/>
                </a:rPr>
                <a:t>仅</a:t>
              </a:r>
              <a:r>
                <a:rPr lang="zh-CN" altLang="en-US" sz="1600" dirty="0" smtClean="0">
                  <a:solidFill>
                    <a:schemeClr val="tx1"/>
                  </a:solidFill>
                  <a:sym typeface="+mn-ea"/>
                </a:rPr>
                <a:t>表示</a:t>
              </a:r>
              <a:r>
                <a:rPr lang="zh-CN" altLang="en-US" sz="1600" dirty="0" smtClean="0">
                  <a:solidFill>
                    <a:srgbClr val="990099"/>
                  </a:solidFill>
                </a:rPr>
                <a:t>无符号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溢出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8"/>
              </p:custDataLst>
            </p:nvPr>
          </p:nvCxnSpPr>
          <p:spPr bwMode="auto">
            <a:xfrm>
              <a:off x="12303" y="9298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1" name="Text Box 20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76735" y="5184000"/>
            <a:ext cx="6043295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p>
            <a:pPr marL="892175" indent="-892175">
              <a:lnSpc>
                <a:spcPct val="114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加减法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溢出判断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区分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不区分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使用者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同时仅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运算，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加减法器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如何提供支持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7265" y="5868000"/>
            <a:ext cx="4176000" cy="6477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54000" tIns="10800" rIns="18000" bIns="10800" anchor="t" anchorCtr="0">
            <a:noAutofit/>
          </a:bodyPr>
          <a:p>
            <a:pPr marL="705485" indent="-705485">
              <a:lnSpc>
                <a:spcPct val="114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方案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：增加引脚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无符号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，标志仅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OF(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逻辑用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，比同时产生好吗？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55265" y="5940000"/>
            <a:ext cx="432000" cy="215900"/>
            <a:chOff x="1018" y="9293"/>
            <a:chExt cx="454" cy="340"/>
          </a:xfrm>
        </p:grpSpPr>
        <p:cxnSp>
          <p:nvCxnSpPr>
            <p:cNvPr id="37" name="直接箭头连接符 36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1018" y="9293"/>
              <a:ext cx="454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18" y="9293"/>
              <a:ext cx="454" cy="34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 bldLvl="0" animBg="1"/>
      <p:bldP spid="10" grpId="0" bldLvl="0" animBg="1"/>
      <p:bldP spid="11" grpId="0" bldLvl="0" animBg="1"/>
      <p:bldP spid="12" grpId="0" bldLvl="0" animBg="1"/>
      <p:bldP spid="15" grpId="0" bldLvl="0" animBg="1"/>
      <p:bldP spid="21" grpId="0" bldLvl="0" animBg="1"/>
      <p:bldP spid="22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23"/>
          <p:cNvSpPr txBox="1">
            <a:spLocks noChangeArrowheads="1"/>
          </p:cNvSpPr>
          <p:nvPr/>
        </p:nvSpPr>
        <p:spPr bwMode="auto">
          <a:xfrm>
            <a:off x="179512" y="332656"/>
            <a:ext cx="4582014" cy="4323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、加减</a:t>
            </a:r>
            <a:r>
              <a:rPr lang="zh-CN" altLang="en-US" dirty="0">
                <a:solidFill>
                  <a:srgbClr val="FF3399"/>
                </a:solidFill>
              </a:rPr>
              <a:t>法器</a:t>
            </a:r>
            <a:r>
              <a:rPr lang="zh-CN" altLang="en-US" dirty="0" smtClean="0">
                <a:solidFill>
                  <a:srgbClr val="FF3399"/>
                </a:solidFill>
              </a:rPr>
              <a:t>的结果标志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*关系运算的实现：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spc="-100" dirty="0">
                <a:solidFill>
                  <a:schemeClr val="accent2"/>
                </a:solidFill>
              </a:rPr>
              <a:t> </a:t>
            </a:r>
            <a:r>
              <a:rPr lang="zh-CN" altLang="en-US" spc="-100" dirty="0" smtClean="0">
                <a:solidFill>
                  <a:schemeClr val="accent2"/>
                </a:solidFill>
              </a:rPr>
              <a:t>   无</a:t>
            </a:r>
            <a:r>
              <a:rPr lang="zh-CN" altLang="en-US" spc="-100" dirty="0">
                <a:solidFill>
                  <a:schemeClr val="accent2"/>
                </a:solidFill>
              </a:rPr>
              <a:t>符号关系运算</a:t>
            </a:r>
            <a:r>
              <a:rPr lang="en-US" altLang="zh-CN" spc="-100" dirty="0">
                <a:solidFill>
                  <a:schemeClr val="accent2"/>
                </a:solidFill>
              </a:rPr>
              <a:t>—</a:t>
            </a:r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pc="-100" dirty="0">
                <a:solidFill>
                  <a:schemeClr val="accent2"/>
                </a:solidFill>
              </a:rPr>
              <a:t>   </a:t>
            </a:r>
            <a:r>
              <a:rPr lang="zh-CN" altLang="en-US" spc="-100" dirty="0" smtClean="0">
                <a:solidFill>
                  <a:schemeClr val="accent2"/>
                </a:solidFill>
              </a:rPr>
              <a:t> 有</a:t>
            </a:r>
            <a:r>
              <a:rPr lang="zh-CN" altLang="en-US" spc="-100" dirty="0">
                <a:solidFill>
                  <a:schemeClr val="accent2"/>
                </a:solidFill>
              </a:rPr>
              <a:t>符号关系运算</a:t>
            </a:r>
            <a:r>
              <a:rPr lang="en-US" altLang="zh-CN" spc="-100" dirty="0">
                <a:solidFill>
                  <a:schemeClr val="accent2"/>
                </a:solidFill>
              </a:rPr>
              <a:t>—</a:t>
            </a:r>
            <a:endParaRPr lang="en-US" altLang="zh-CN" spc="-100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4" name="Text Box 323"/>
          <p:cNvSpPr txBox="1">
            <a:spLocks noChangeArrowheads="1"/>
          </p:cNvSpPr>
          <p:nvPr/>
        </p:nvSpPr>
        <p:spPr bwMode="auto">
          <a:xfrm>
            <a:off x="3168000" y="1224000"/>
            <a:ext cx="576064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pc="-50" dirty="0" smtClean="0">
                <a:solidFill>
                  <a:schemeClr val="tx1"/>
                </a:solidFill>
              </a:rPr>
              <a:t>①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>
                <a:solidFill>
                  <a:srgbClr val="0070C0"/>
                </a:solidFill>
              </a:rPr>
              <a:t>减法运算</a:t>
            </a:r>
            <a:r>
              <a:rPr lang="en-US" altLang="zh-CN" sz="1800" spc="-50" dirty="0">
                <a:solidFill>
                  <a:schemeClr val="tx1"/>
                </a:solidFill>
              </a:rPr>
              <a:t>(</a:t>
            </a:r>
            <a:r>
              <a:rPr lang="zh-CN" altLang="en-US" sz="1800" spc="-50" dirty="0">
                <a:solidFill>
                  <a:schemeClr val="tx1"/>
                </a:solidFill>
              </a:rPr>
              <a:t>无符号减法</a:t>
            </a:r>
            <a:r>
              <a:rPr lang="en-US" altLang="zh-CN" sz="1800" spc="-50" dirty="0">
                <a:solidFill>
                  <a:schemeClr val="tx1"/>
                </a:solidFill>
              </a:rPr>
              <a:t>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产生</a:t>
            </a:r>
            <a:r>
              <a:rPr lang="zh-CN" altLang="en-US" spc="-50" dirty="0">
                <a:solidFill>
                  <a:schemeClr val="tx1"/>
                </a:solidFill>
              </a:rPr>
              <a:t>结果</a:t>
            </a:r>
            <a:r>
              <a:rPr lang="zh-CN" altLang="en-US" spc="-50" dirty="0" smtClean="0">
                <a:solidFill>
                  <a:schemeClr val="tx1"/>
                </a:solidFill>
              </a:rPr>
              <a:t>标志</a:t>
            </a:r>
            <a:r>
              <a:rPr lang="en-US" altLang="zh-CN" spc="-50" dirty="0" smtClean="0">
                <a:solidFill>
                  <a:schemeClr val="tx1"/>
                </a:solidFill>
              </a:rPr>
              <a:t> </a:t>
            </a:r>
            <a:endParaRPr lang="en-US" altLang="zh-CN" spc="-50" dirty="0">
              <a:solidFill>
                <a:schemeClr val="tx1"/>
              </a:solidFill>
            </a:endParaRPr>
          </a:p>
          <a:p>
            <a:r>
              <a:rPr lang="zh-CN" altLang="en-US" spc="-50" dirty="0" smtClean="0">
                <a:solidFill>
                  <a:schemeClr val="tx1"/>
                </a:solidFill>
              </a:rPr>
              <a:t>②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 smtClean="0">
                <a:solidFill>
                  <a:srgbClr val="0070C0"/>
                </a:solidFill>
              </a:rPr>
              <a:t>逻辑操作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针对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CF/ZF)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形成</a:t>
            </a:r>
            <a:r>
              <a:rPr lang="zh-CN" altLang="en-US" spc="-50" dirty="0">
                <a:solidFill>
                  <a:schemeClr val="tx1"/>
                </a:solidFill>
              </a:rPr>
              <a:t>运算结果</a:t>
            </a:r>
            <a:endParaRPr lang="en-US" altLang="zh-CN" spc="-50" dirty="0">
              <a:solidFill>
                <a:schemeClr val="tx1"/>
              </a:solidFill>
            </a:endParaRPr>
          </a:p>
        </p:txBody>
      </p:sp>
      <p:sp>
        <p:nvSpPr>
          <p:cNvPr id="5" name="Text Box 323"/>
          <p:cNvSpPr txBox="1">
            <a:spLocks noChangeArrowheads="1"/>
          </p:cNvSpPr>
          <p:nvPr/>
        </p:nvSpPr>
        <p:spPr bwMode="auto">
          <a:xfrm>
            <a:off x="3168352" y="3168000"/>
            <a:ext cx="597564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pc="-50" dirty="0" smtClean="0">
                <a:solidFill>
                  <a:schemeClr val="tx1"/>
                </a:solidFill>
              </a:rPr>
              <a:t>①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>
                <a:solidFill>
                  <a:srgbClr val="0070C0"/>
                </a:solidFill>
              </a:rPr>
              <a:t>减法运算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有符号</a:t>
            </a:r>
            <a:r>
              <a:rPr lang="zh-CN" altLang="en-US" sz="1800" spc="-50" dirty="0">
                <a:solidFill>
                  <a:schemeClr val="tx1"/>
                </a:solidFill>
              </a:rPr>
              <a:t>减法</a:t>
            </a:r>
            <a:r>
              <a:rPr lang="en-US" altLang="zh-CN" sz="1800" spc="-50" dirty="0">
                <a:solidFill>
                  <a:schemeClr val="tx1"/>
                </a:solidFill>
              </a:rPr>
              <a:t>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产生</a:t>
            </a:r>
            <a:r>
              <a:rPr lang="zh-CN" altLang="en-US" spc="-50" dirty="0">
                <a:solidFill>
                  <a:schemeClr val="tx1"/>
                </a:solidFill>
              </a:rPr>
              <a:t>结果</a:t>
            </a:r>
            <a:r>
              <a:rPr lang="zh-CN" altLang="en-US" spc="-50" dirty="0" smtClean="0">
                <a:solidFill>
                  <a:schemeClr val="tx1"/>
                </a:solidFill>
              </a:rPr>
              <a:t>标志</a:t>
            </a:r>
            <a:r>
              <a:rPr lang="en-US" altLang="zh-CN" spc="-50" dirty="0" smtClean="0">
                <a:solidFill>
                  <a:schemeClr val="tx1"/>
                </a:solidFill>
              </a:rPr>
              <a:t> </a:t>
            </a:r>
            <a:endParaRPr lang="en-US" altLang="zh-CN" spc="-50" dirty="0">
              <a:solidFill>
                <a:schemeClr val="tx1"/>
              </a:solidFill>
            </a:endParaRPr>
          </a:p>
          <a:p>
            <a:r>
              <a:rPr lang="zh-CN" altLang="en-US" spc="-50" dirty="0" smtClean="0">
                <a:solidFill>
                  <a:schemeClr val="tx1"/>
                </a:solidFill>
              </a:rPr>
              <a:t>②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 smtClean="0">
                <a:solidFill>
                  <a:srgbClr val="0070C0"/>
                </a:solidFill>
              </a:rPr>
              <a:t>逻辑操作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针对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OF</a:t>
            </a:r>
            <a:r>
              <a:rPr lang="en-US" altLang="zh-CN" sz="1800" spc="-50" dirty="0">
                <a:solidFill>
                  <a:schemeClr val="tx1"/>
                </a:solidFill>
              </a:rPr>
              <a:t>/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SF/ZF)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形成</a:t>
            </a:r>
            <a:r>
              <a:rPr lang="zh-CN" altLang="en-US" spc="-50" dirty="0">
                <a:solidFill>
                  <a:schemeClr val="tx1"/>
                </a:solidFill>
              </a:rPr>
              <a:t>运算结果</a:t>
            </a:r>
            <a:endParaRPr lang="en-US" altLang="zh-CN" spc="-50" dirty="0">
              <a:solidFill>
                <a:schemeClr val="tx1"/>
              </a:solidFill>
            </a:endParaRPr>
          </a:p>
        </p:txBody>
      </p:sp>
      <p:graphicFrame>
        <p:nvGraphicFramePr>
          <p:cNvPr id="6" name="Group 136"/>
          <p:cNvGraphicFramePr>
            <a:graphicFrameLocks noGrp="1"/>
          </p:cNvGraphicFramePr>
          <p:nvPr/>
        </p:nvGraphicFramePr>
        <p:xfrm>
          <a:off x="2123728" y="2232000"/>
          <a:ext cx="5544617" cy="930960"/>
        </p:xfrm>
        <a:graphic>
          <a:graphicData uri="http://schemas.openxmlformats.org/drawingml/2006/table">
            <a:tbl>
              <a:tblPr/>
              <a:tblGrid>
                <a:gridCol w="288032"/>
                <a:gridCol w="1296144"/>
                <a:gridCol w="792088"/>
                <a:gridCol w="792088"/>
                <a:gridCol w="792089"/>
                <a:gridCol w="792088"/>
                <a:gridCol w="792088"/>
              </a:tblGrid>
              <a:tr h="2468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5257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(ZF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02296">
                <a:tc vMerge="1"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995937" y="2880000"/>
            <a:ext cx="2088000" cy="288000"/>
            <a:chOff x="3211907" y="4509088"/>
            <a:chExt cx="2088000" cy="288000"/>
          </a:xfrm>
        </p:grpSpPr>
        <p:sp>
          <p:nvSpPr>
            <p:cNvPr id="8" name="Text Box 101"/>
            <p:cNvSpPr txBox="1">
              <a:spLocks noChangeArrowheads="1"/>
            </p:cNvSpPr>
            <p:nvPr/>
          </p:nvSpPr>
          <p:spPr bwMode="auto">
            <a:xfrm>
              <a:off x="3211907" y="4509088"/>
              <a:ext cx="20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CF   CF+ZF  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CF+ZF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3239690" y="4519888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4626328" y="4519888"/>
              <a:ext cx="57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" name="Text Box 101"/>
          <p:cNvSpPr txBox="1">
            <a:spLocks noChangeArrowheads="1"/>
          </p:cNvSpPr>
          <p:nvPr/>
        </p:nvSpPr>
        <p:spPr bwMode="auto">
          <a:xfrm>
            <a:off x="6372201" y="2880000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CF 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graphicFrame>
        <p:nvGraphicFramePr>
          <p:cNvPr id="12" name="Group 136"/>
          <p:cNvGraphicFramePr>
            <a:graphicFrameLocks noGrp="1"/>
          </p:cNvGraphicFramePr>
          <p:nvPr/>
        </p:nvGraphicFramePr>
        <p:xfrm>
          <a:off x="2123729" y="4221341"/>
          <a:ext cx="6480720" cy="930960"/>
        </p:xfrm>
        <a:graphic>
          <a:graphicData uri="http://schemas.openxmlformats.org/drawingml/2006/table">
            <a:tbl>
              <a:tblPr/>
              <a:tblGrid>
                <a:gridCol w="288032"/>
                <a:gridCol w="1296144"/>
                <a:gridCol w="792088"/>
                <a:gridCol w="1152128"/>
                <a:gridCol w="1152128"/>
                <a:gridCol w="936104"/>
                <a:gridCol w="864096"/>
              </a:tblGrid>
              <a:tr h="2468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5257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(ZF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02296">
                <a:tc vMerge="1"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779913" y="4869445"/>
            <a:ext cx="2988000" cy="288000"/>
            <a:chOff x="3358693" y="5694159"/>
            <a:chExt cx="2988000" cy="361749"/>
          </a:xfrm>
        </p:grpSpPr>
        <p:sp>
          <p:nvSpPr>
            <p:cNvPr id="14" name="Text Box 101"/>
            <p:cNvSpPr txBox="1">
              <a:spLocks noChangeArrowheads="1"/>
            </p:cNvSpPr>
            <p:nvPr/>
          </p:nvSpPr>
          <p:spPr bwMode="auto">
            <a:xfrm>
              <a:off x="3358693" y="5694159"/>
              <a:ext cx="2988000" cy="3617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46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>
                  <a:solidFill>
                    <a:schemeClr val="tx1"/>
                  </a:solidFill>
                  <a:sym typeface="Symbol" panose="05050102010706020507"/>
                </a:rPr>
                <a:t>SF</a:t>
              </a:r>
              <a:r>
                <a:rPr lang="en-US" altLang="zh-CN" sz="1400" spc="-1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SF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+ZF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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SF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lt"/>
                </a:rPr>
                <a:t>·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 bwMode="auto">
            <a:xfrm>
              <a:off x="3389285" y="5727514"/>
              <a:ext cx="64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5349597" y="5727514"/>
              <a:ext cx="63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6075947" y="5727514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Text Box 101"/>
          <p:cNvSpPr txBox="1">
            <a:spLocks noChangeArrowheads="1"/>
          </p:cNvSpPr>
          <p:nvPr/>
        </p:nvSpPr>
        <p:spPr bwMode="auto">
          <a:xfrm>
            <a:off x="6948433" y="4869413"/>
            <a:ext cx="1512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OF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SF</a:t>
            </a:r>
            <a:r>
              <a:rPr lang="en-US" altLang="zh-CN" sz="1800" dirty="0" smtClean="0">
                <a:solidFill>
                  <a:schemeClr val="tx1"/>
                </a:solidFill>
              </a:rPr>
              <a:t>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19" name="Text Box 176"/>
          <p:cNvSpPr txBox="1">
            <a:spLocks noChangeArrowheads="1"/>
          </p:cNvSpPr>
          <p:nvPr/>
        </p:nvSpPr>
        <p:spPr bwMode="auto">
          <a:xfrm>
            <a:off x="1331595" y="5157470"/>
            <a:ext cx="7597140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分析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en-US" altLang="zh-CN" sz="1800" dirty="0" smtClean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补码</a:t>
            </a:r>
            <a:r>
              <a:rPr lang="zh-CN" altLang="en-US" sz="1800" dirty="0">
                <a:solidFill>
                  <a:schemeClr val="tx1"/>
                </a:solidFill>
              </a:rPr>
              <a:t>减法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(-1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＜</a:t>
            </a:r>
            <a:r>
              <a:rPr lang="en-US" altLang="zh-CN" sz="1800" dirty="0" smtClean="0">
                <a:solidFill>
                  <a:schemeClr val="tx1"/>
                </a:solidFill>
              </a:rPr>
              <a:t>4    (-</a:t>
            </a:r>
            <a:r>
              <a:rPr lang="en-US" altLang="zh-CN" sz="1800" dirty="0">
                <a:solidFill>
                  <a:schemeClr val="tx1"/>
                </a:solidFill>
              </a:rPr>
              <a:t>5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＜</a:t>
            </a:r>
            <a:r>
              <a:rPr lang="en-US" altLang="zh-CN" sz="18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      4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≮</a:t>
            </a:r>
            <a:r>
              <a:rPr lang="en-US" altLang="zh-CN" sz="18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5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≮</a:t>
            </a:r>
            <a:r>
              <a:rPr lang="en-US" altLang="zh-CN" sz="1800" dirty="0" smtClean="0">
                <a:solidFill>
                  <a:schemeClr val="tx1"/>
                </a:solidFill>
              </a:rPr>
              <a:t>(-4)</a:t>
            </a:r>
            <a:endParaRPr lang="en-US" altLang="zh-CN" sz="1800" dirty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                  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011(-5)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111(</a:t>
            </a:r>
            <a:r>
              <a:rPr lang="en-US" altLang="zh-CN" sz="1800" dirty="0" smtClean="0">
                <a:solidFill>
                  <a:srgbClr val="FF3399"/>
                </a:solidFill>
                <a:sym typeface="Symbol" panose="05050102010706020507"/>
              </a:rPr>
              <a:t>+7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001(+1)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001(</a:t>
            </a:r>
            <a:r>
              <a:rPr lang="en-US" altLang="zh-CN" sz="1800" dirty="0" smtClean="0">
                <a:solidFill>
                  <a:srgbClr val="FF3399"/>
                </a:solidFill>
                <a:sym typeface="Symbol" panose="05050102010706020507"/>
              </a:rPr>
              <a:t>-7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)</a:t>
            </a:r>
            <a:endParaRPr lang="en-US" altLang="zh-CN" sz="1800" dirty="0" smtClean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rgbClr val="0070C0"/>
                </a:solidFill>
              </a:rPr>
              <a:t>                    OF=0,SF=1  OF=1,SF=0  OF=0,SF=0  OF=1,SF=1</a:t>
            </a:r>
            <a:endParaRPr lang="en-US" altLang="zh-CN" sz="1800" dirty="0" smtClean="0">
              <a:solidFill>
                <a:srgbClr val="0070C0"/>
              </a:solidFill>
              <a:sym typeface="Symbol" panose="05050102010706020507"/>
            </a:endParaRPr>
          </a:p>
        </p:txBody>
      </p:sp>
      <p:sp>
        <p:nvSpPr>
          <p:cNvPr id="20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2" name="Text Box 101"/>
          <p:cNvSpPr txBox="1">
            <a:spLocks noChangeArrowheads="1"/>
          </p:cNvSpPr>
          <p:nvPr/>
        </p:nvSpPr>
        <p:spPr bwMode="auto">
          <a:xfrm>
            <a:off x="251520" y="3672000"/>
            <a:ext cx="1908000" cy="468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OF—</a:t>
            </a:r>
            <a:r>
              <a:rPr lang="en-US" altLang="zh-CN" sz="1600" dirty="0" smtClean="0">
                <a:solidFill>
                  <a:schemeClr val="tx1"/>
                </a:solidFill>
              </a:rPr>
              <a:t>Overflow Flag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SF—</a:t>
            </a:r>
            <a:r>
              <a:rPr lang="en-US" altLang="zh-CN" sz="1600" dirty="0" smtClean="0">
                <a:solidFill>
                  <a:schemeClr val="tx1"/>
                </a:solidFill>
              </a:rPr>
              <a:t>Signal Flag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4" name="Text Box 10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4000" y="4212000"/>
            <a:ext cx="1728000" cy="467995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SF</a:t>
            </a:r>
            <a:r>
              <a:rPr lang="zh-CN" altLang="en-US" sz="1600" dirty="0" smtClean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＝</a:t>
            </a:r>
            <a:r>
              <a:rPr lang="en-US" altLang="zh-CN" sz="1600" dirty="0" smtClean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1(</a:t>
            </a:r>
            <a:r>
              <a:rPr lang="zh-CN" altLang="en-US" sz="1600" dirty="0" smtClean="0">
                <a:solidFill>
                  <a:schemeClr val="tx1"/>
                </a:solidFill>
              </a:rPr>
              <a:t>结果＜</a:t>
            </a:r>
            <a:r>
              <a:rPr lang="en-US" altLang="zh-CN" sz="1600" dirty="0" smtClean="0">
                <a:solidFill>
                  <a:schemeClr val="tx1"/>
                </a:solidFill>
              </a:rPr>
              <a:t>0</a:t>
            </a:r>
            <a:r>
              <a:rPr lang="zh-CN" altLang="en-US" sz="1600" dirty="0" smtClean="0">
                <a:solidFill>
                  <a:schemeClr val="tx1"/>
                </a:solidFill>
              </a:rPr>
              <a:t>时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</a:t>
            </a:r>
            <a:r>
              <a:rPr lang="zh-CN" altLang="en-US" sz="1600" dirty="0" smtClean="0">
                <a:solidFill>
                  <a:schemeClr val="tx1"/>
                </a:solidFill>
              </a:rPr>
              <a:t>或</a:t>
            </a:r>
            <a:r>
              <a:rPr lang="en-US" altLang="zh-CN" sz="1600" dirty="0" smtClean="0">
                <a:solidFill>
                  <a:schemeClr val="tx1"/>
                </a:solidFill>
              </a:rPr>
              <a:t>0</a:t>
            </a:r>
            <a:r>
              <a:rPr lang="en-US" altLang="zh-CN" sz="1600" dirty="0" smtClean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结果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≥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时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1" grpId="0" bldLvl="0" animBg="1"/>
      <p:bldP spid="18" grpId="0" bldLvl="0" animBg="1"/>
      <p:bldP spid="19" grpId="0" bldLvl="0" animBg="1"/>
      <p:bldP spid="22" grpId="0" bldLvl="0" animBg="1"/>
      <p:bldP spid="24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27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1" name="AutoShape 4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32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512" y="332656"/>
            <a:ext cx="4582014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rgbClr val="C00000"/>
                </a:solidFill>
              </a:rPr>
              <a:t> *功能集成的加减法器：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5" name="Text Box 32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55576" y="764704"/>
            <a:ext cx="828092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200" spc="-100" dirty="0" smtClean="0">
                <a:solidFill>
                  <a:schemeClr val="tx1"/>
                </a:solidFill>
              </a:rPr>
              <a:t> ①</a:t>
            </a:r>
            <a:r>
              <a:rPr lang="zh-CN" altLang="en-US" sz="2200" spc="-100" dirty="0" smtClean="0">
                <a:solidFill>
                  <a:srgbClr val="990099"/>
                </a:solidFill>
              </a:rPr>
              <a:t>常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设置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in</a:t>
            </a:r>
            <a:r>
              <a:rPr lang="zh-CN" altLang="en-US" sz="2200" dirty="0" smtClean="0">
                <a:solidFill>
                  <a:schemeClr val="tx1"/>
                </a:solidFill>
              </a:rPr>
              <a:t>引脚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←便于级联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需带进位</a:t>
            </a:r>
            <a:r>
              <a:rPr lang="zh-CN" altLang="en-US" sz="1800" spc="-100" dirty="0" smtClean="0">
                <a:solidFill>
                  <a:schemeClr val="tx1"/>
                </a:solidFill>
                <a:sym typeface="+mn-ea"/>
              </a:rPr>
              <a:t>加法</a:t>
            </a:r>
            <a:r>
              <a:rPr lang="en-US" altLang="zh-CN" sz="1800" spc="-100" dirty="0" smtClean="0">
                <a:solidFill>
                  <a:schemeClr val="tx1"/>
                </a:solidFill>
              </a:rPr>
              <a:t>/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借位减法运算</a:t>
            </a:r>
            <a:r>
              <a:rPr lang="en-US" altLang="zh-CN" sz="1800" spc="-100" dirty="0" smtClean="0">
                <a:solidFill>
                  <a:schemeClr val="tx1"/>
                </a:solidFill>
              </a:rPr>
              <a:t>)</a:t>
            </a:r>
            <a:endParaRPr lang="en-US" altLang="zh-CN" sz="1800" spc="-100" dirty="0" smtClean="0">
              <a:solidFill>
                <a:schemeClr val="tx1"/>
              </a:solidFill>
            </a:endParaRPr>
          </a:p>
        </p:txBody>
      </p:sp>
      <p:sp>
        <p:nvSpPr>
          <p:cNvPr id="6" name="Text Box 32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99795" y="3395345"/>
            <a:ext cx="7848600" cy="1906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chemeClr val="tx1"/>
                </a:solidFill>
              </a:rPr>
              <a:t>②</a:t>
            </a:r>
            <a:r>
              <a:rPr lang="zh-CN" altLang="en-US" dirty="0" smtClean="0">
                <a:solidFill>
                  <a:srgbClr val="990099"/>
                </a:solidFill>
              </a:rPr>
              <a:t>需</a:t>
            </a:r>
            <a:r>
              <a:rPr lang="zh-CN" altLang="en-US" dirty="0" smtClean="0">
                <a:solidFill>
                  <a:schemeClr val="tx1"/>
                </a:solidFill>
              </a:rPr>
              <a:t>产生结果标志位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←检测溢出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结果正确性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、支持关系运算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accent2"/>
                </a:solidFill>
              </a:rPr>
              <a:t>    ZF—</a:t>
            </a:r>
            <a:r>
              <a:rPr lang="zh-CN" altLang="en-US" sz="2000" dirty="0" smtClean="0">
                <a:solidFill>
                  <a:schemeClr val="tx1"/>
                </a:solidFill>
              </a:rPr>
              <a:t>结果</a:t>
            </a:r>
            <a:r>
              <a:rPr lang="zh-CN" altLang="en-US" sz="2000" dirty="0">
                <a:solidFill>
                  <a:schemeClr val="tx1"/>
                </a:solidFill>
              </a:rPr>
              <a:t>为零时＝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、否则＝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       即</a:t>
            </a:r>
            <a:r>
              <a:rPr lang="en-US" altLang="zh-CN" sz="2000" dirty="0" smtClean="0">
                <a:solidFill>
                  <a:schemeClr val="tx1"/>
                </a:solidFill>
              </a:rPr>
              <a:t>ZF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accent2"/>
                </a:solidFill>
              </a:rPr>
              <a:t>    CF—</a:t>
            </a:r>
            <a:r>
              <a:rPr lang="zh-CN" altLang="en-US" sz="2000" dirty="0" smtClean="0">
                <a:solidFill>
                  <a:schemeClr val="tx1"/>
                </a:solidFill>
              </a:rPr>
              <a:t>结果</a:t>
            </a:r>
            <a:r>
              <a:rPr lang="zh-CN" altLang="en-US" sz="2000" dirty="0">
                <a:solidFill>
                  <a:schemeClr val="tx1"/>
                </a:solidFill>
              </a:rPr>
              <a:t>有进位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借位时＝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、否则＝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，即</a:t>
            </a:r>
            <a:r>
              <a:rPr lang="en-US" altLang="zh-CN" sz="2000" dirty="0" smtClean="0">
                <a:solidFill>
                  <a:schemeClr val="tx1"/>
                </a:solidFill>
              </a:rPr>
              <a:t>CF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accent2"/>
                </a:solidFill>
              </a:rPr>
              <a:t>    OF—</a:t>
            </a:r>
            <a:r>
              <a:rPr lang="zh-CN" altLang="en-US" sz="2000" dirty="0" smtClean="0">
                <a:solidFill>
                  <a:schemeClr val="tx1"/>
                </a:solidFill>
              </a:rPr>
              <a:t>结果溢出时＝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、否则＝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       即</a:t>
            </a:r>
            <a:r>
              <a:rPr lang="en-US" altLang="zh-CN" sz="2000" dirty="0" smtClean="0">
                <a:solidFill>
                  <a:schemeClr val="tx1"/>
                </a:solidFill>
              </a:rPr>
              <a:t>OF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endParaRPr lang="en-US" altLang="zh-CN" sz="2000" baseline="-180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accent2"/>
                </a:solidFill>
              </a:rPr>
              <a:t>    SF—</a:t>
            </a:r>
            <a:r>
              <a:rPr lang="zh-CN" altLang="en-US" sz="2000" dirty="0" smtClean="0">
                <a:solidFill>
                  <a:schemeClr val="tx1"/>
                </a:solidFill>
              </a:rPr>
              <a:t>结果为负时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、否则＝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zh-CN" altLang="en-US" sz="2000" dirty="0" smtClean="0">
                <a:solidFill>
                  <a:schemeClr val="tx1"/>
                </a:solidFill>
              </a:rPr>
              <a:t>，       即</a:t>
            </a:r>
            <a:r>
              <a:rPr lang="en-US" altLang="zh-CN" sz="2000" dirty="0" smtClean="0">
                <a:solidFill>
                  <a:schemeClr val="tx1"/>
                </a:solidFill>
              </a:rPr>
              <a:t>SF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endParaRPr lang="en-US" altLang="zh-CN" sz="2000" baseline="-18000" dirty="0">
              <a:solidFill>
                <a:schemeClr val="tx1"/>
              </a:solidFill>
            </a:endParaRPr>
          </a:p>
        </p:txBody>
      </p:sp>
      <p:sp>
        <p:nvSpPr>
          <p:cNvPr id="7" name="Text Box 20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0000" y="3060000"/>
            <a:ext cx="3384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上图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的加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减运算功能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00000" y="1224000"/>
            <a:ext cx="3814871" cy="1800200"/>
            <a:chOff x="828849" y="1340768"/>
            <a:chExt cx="3814871" cy="1800200"/>
          </a:xfrm>
        </p:grpSpPr>
        <p:sp>
          <p:nvSpPr>
            <p:cNvPr id="11" name="Rectangle 18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331872" y="1628800"/>
              <a:ext cx="1944000" cy="1152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 Box 18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834575" y="2420415"/>
              <a:ext cx="129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n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位加法器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86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771800" y="227691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" name="Line 18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2482503" y="2708944"/>
              <a:ext cx="1466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" name="Line 19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3130575" y="2564904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" name="Text Box 19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418575" y="2420888"/>
              <a:ext cx="35877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7" name="Line 200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123728" y="1556888"/>
              <a:ext cx="0" cy="86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" name="Line 201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3275856" y="2204864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" name="Text Box 21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19720" y="2060880"/>
              <a:ext cx="122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rgbClr val="FF3399"/>
                  </a:solidFill>
                </a:rPr>
                <a:t>op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1600" dirty="0" smtClean="0">
                  <a:solidFill>
                    <a:srgbClr val="990099"/>
                  </a:solidFill>
                </a:rPr>
                <a:t>常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1-SUB)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 Box 19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03704" y="1700808"/>
              <a:ext cx="504000" cy="64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标志形成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 Box 19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71680" y="1700880"/>
              <a:ext cx="216000" cy="648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75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ZF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CF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OF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SF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19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1187712" y="1772816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" name="Text Box 21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10495" y="2924968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F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 Box 21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51736" y="1340768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 Box 21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555776" y="1340792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6" name="Line 191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1187704" y="2564904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" name="Line 196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187680" y="1932072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9" name="Line 196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1187712" y="2091328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1" name="Line 19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187680" y="2276872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2" name="Text Box 19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28849" y="2420888"/>
              <a:ext cx="35877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3" name="流程图: 手动操作 32"/>
            <p:cNvSpPr/>
            <p:nvPr>
              <p:custDataLst>
                <p:tags r:id="rId27"/>
              </p:custDataLst>
            </p:nvPr>
          </p:nvSpPr>
          <p:spPr bwMode="auto">
            <a:xfrm>
              <a:off x="2483768" y="2132872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Line 199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627785" y="1556792"/>
              <a:ext cx="0" cy="57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5" name="Text Box 43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43825" y="1772816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0"/>
              </p:custDataLst>
            </p:nvPr>
          </p:nvSpPr>
          <p:spPr bwMode="auto">
            <a:xfrm>
              <a:off x="2879742" y="1927045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Line 19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915833" y="198884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8" name="Line 42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V="1">
              <a:off x="2627784" y="1700142"/>
              <a:ext cx="2879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9" name="Line 430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H="1" flipV="1">
              <a:off x="2987824" y="2204864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40" name="Line 199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2915817" y="1700143"/>
              <a:ext cx="232" cy="6467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41" name="Text Box 323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732270" y="3811270"/>
            <a:ext cx="2016125" cy="1491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000" dirty="0" smtClean="0">
                <a:solidFill>
                  <a:schemeClr val="tx1"/>
                </a:solidFill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n-1 </a:t>
            </a:r>
            <a:r>
              <a:rPr lang="en-US" altLang="zh-CN" sz="2000" dirty="0" smtClean="0">
                <a:solidFill>
                  <a:schemeClr val="tx1"/>
                </a:solidFill>
              </a:rPr>
              <a:t>+…+F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0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2000" baseline="-18000" dirty="0" err="1" smtClean="0">
                <a:solidFill>
                  <a:schemeClr val="tx1"/>
                </a:solidFill>
              </a:rPr>
              <a:t>out</a:t>
            </a:r>
            <a:r>
              <a:rPr lang="en-US" altLang="zh-CN" sz="2000" dirty="0" err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⊕op</a:t>
            </a:r>
            <a:r>
              <a:rPr lang="en-US" altLang="zh-CN" sz="2000" baseline="-26000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SUB</a:t>
            </a:r>
            <a:endParaRPr lang="en-US" altLang="zh-CN" sz="2000" baseline="-260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C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out</a:t>
            </a:r>
            <a:r>
              <a:rPr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⊕C</a:t>
            </a:r>
            <a:r>
              <a:rPr lang="en-US" altLang="zh-CN" sz="2000" baseline="-18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n-2 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000" baseline="-25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n-1</a:t>
            </a:r>
            <a:endParaRPr lang="en-US" altLang="zh-CN" sz="2000" baseline="-18000" dirty="0">
              <a:solidFill>
                <a:schemeClr val="tx1"/>
              </a:solidFill>
            </a:endParaRPr>
          </a:p>
        </p:txBody>
      </p:sp>
      <p:cxnSp>
        <p:nvCxnSpPr>
          <p:cNvPr id="42" name="直接连接符 41"/>
          <p:cNvCxnSpPr/>
          <p:nvPr>
            <p:custDataLst>
              <p:tags r:id="rId36"/>
            </p:custDataLst>
          </p:nvPr>
        </p:nvCxnSpPr>
        <p:spPr bwMode="auto">
          <a:xfrm>
            <a:off x="6804000" y="3944205"/>
            <a:ext cx="1224000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3" name="组合 42"/>
          <p:cNvGrpSpPr/>
          <p:nvPr/>
        </p:nvGrpSpPr>
        <p:grpSpPr>
          <a:xfrm>
            <a:off x="5868144" y="1260000"/>
            <a:ext cx="2664000" cy="720000"/>
            <a:chOff x="5724216" y="2193068"/>
            <a:chExt cx="2664000" cy="720000"/>
          </a:xfrm>
        </p:grpSpPr>
        <p:sp>
          <p:nvSpPr>
            <p:cNvPr id="44" name="Text Box 17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724216" y="2193068"/>
              <a:ext cx="2664000" cy="720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p>
              <a:pPr>
                <a:lnSpc>
                  <a:spcPct val="95000"/>
                </a:lnSpc>
              </a:pPr>
              <a:r>
                <a:rPr lang="zh-CN" altLang="en-US" sz="1600" dirty="0" smtClean="0">
                  <a:solidFill>
                    <a:srgbClr val="990099"/>
                  </a:solidFill>
                  <a:sym typeface="Symbol" panose="05050102010706020507"/>
                </a:rPr>
                <a:t>需求</a:t>
              </a:r>
              <a:r>
                <a:rPr lang="en-US" altLang="zh-CN" sz="1600" dirty="0" smtClean="0">
                  <a:solidFill>
                    <a:schemeClr val="tx1"/>
                  </a:solidFill>
                  <a:sym typeface="Symbol" panose="05050102010706020507"/>
                </a:rPr>
                <a:t> 1122H    11H    22H</a:t>
              </a:r>
              <a:endParaRPr lang="en-US" altLang="zh-CN" sz="1600" dirty="0" smtClean="0">
                <a:solidFill>
                  <a:schemeClr val="tx1"/>
                </a:solidFill>
                <a:sym typeface="Symbol" panose="05050102010706020507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sym typeface="Symbol" panose="05050102010706020507"/>
                </a:rPr>
                <a:t>    +3344H   +33H   +44H</a:t>
              </a:r>
              <a:endParaRPr lang="en-US" altLang="zh-CN" sz="1600" dirty="0" smtClean="0">
                <a:solidFill>
                  <a:schemeClr val="tx1"/>
                </a:solidFill>
                <a:sym typeface="Symbol" panose="05050102010706020507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sym typeface="Symbol" panose="05050102010706020507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  <a:sym typeface="Symbol" panose="05050102010706020507"/>
                </a:rPr>
                <a:t>            + CF</a:t>
              </a:r>
              <a:endParaRPr lang="en-US" altLang="zh-CN" sz="1600" dirty="0" smtClean="0">
                <a:solidFill>
                  <a:schemeClr val="tx1"/>
                </a:solidFill>
                <a:sym typeface="Symbol" panose="05050102010706020507"/>
              </a:endParaRPr>
            </a:p>
          </p:txBody>
        </p:sp>
        <p:sp>
          <p:nvSpPr>
            <p:cNvPr id="45" name="Text Box 17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840456" y="2418752"/>
              <a:ext cx="1044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zh-CN" altLang="en-US" sz="1600" dirty="0" smtClean="0">
                  <a:solidFill>
                    <a:srgbClr val="FF3399"/>
                  </a:solidFill>
                  <a:sym typeface="Symbol" panose="05050102010706020507"/>
                </a:rPr>
                <a:t>＝   </a:t>
              </a:r>
              <a:r>
                <a:rPr lang="zh-CN" altLang="en-US" sz="1600" baseline="-18000" dirty="0" smtClean="0">
                  <a:solidFill>
                    <a:srgbClr val="FF3399"/>
                  </a:solidFill>
                  <a:sym typeface="Symbol" panose="05050102010706020507"/>
                </a:rPr>
                <a:t> </a:t>
              </a:r>
              <a:r>
                <a:rPr lang="zh-CN" altLang="en-US" sz="1400" baseline="-18000" dirty="0" smtClean="0">
                  <a:solidFill>
                    <a:srgbClr val="FF3399"/>
                  </a:solidFill>
                  <a:sym typeface="Symbol" panose="05050102010706020507"/>
                </a:rPr>
                <a:t> </a:t>
              </a:r>
              <a:r>
                <a:rPr lang="zh-CN" altLang="en-US" sz="1400" dirty="0">
                  <a:solidFill>
                    <a:srgbClr val="FF3399"/>
                  </a:solidFill>
                  <a:sym typeface="Symbol" panose="05050102010706020507"/>
                </a:rPr>
                <a:t> </a:t>
              </a:r>
              <a:r>
                <a:rPr lang="zh-CN" altLang="en-US" sz="1600" dirty="0" smtClean="0">
                  <a:solidFill>
                    <a:srgbClr val="FF3399"/>
                  </a:solidFill>
                  <a:sym typeface="Symbol" panose="05050102010706020507"/>
                </a:rPr>
                <a:t>及</a:t>
              </a:r>
              <a:endParaRPr lang="en-US" altLang="zh-CN" sz="1600" dirty="0" smtClean="0">
                <a:solidFill>
                  <a:srgbClr val="FF3399"/>
                </a:solidFill>
                <a:sym typeface="Symbol" panose="05050102010706020507"/>
              </a:endParaRPr>
            </a:p>
          </p:txBody>
        </p:sp>
      </p:grpSp>
      <p:sp>
        <p:nvSpPr>
          <p:cNvPr id="46" name="Text Box 200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716000" y="2088000"/>
            <a:ext cx="42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p>
            <a:pPr marL="990600" indent="-990600">
              <a:lnSpc>
                <a:spcPct val="114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左图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实现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A+B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A-B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时的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 err="1" smtClean="0">
                <a:solidFill>
                  <a:schemeClr val="tx1"/>
                </a:solidFill>
              </a:rPr>
              <a:t>in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取值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932040" y="2448000"/>
            <a:ext cx="3708000" cy="1080000"/>
            <a:chOff x="5076056" y="2492856"/>
            <a:chExt cx="3708000" cy="1080000"/>
          </a:xfrm>
        </p:grpSpPr>
        <p:sp>
          <p:nvSpPr>
            <p:cNvPr id="48" name="Text Box 101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076056" y="2492856"/>
              <a:ext cx="3708000" cy="10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70C0"/>
                  </a:solidFill>
                </a:rPr>
                <a:t>加法：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F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A+B+C</a:t>
              </a:r>
              <a:r>
                <a:rPr lang="en-US" altLang="zh-CN" sz="1800" baseline="-18000" dirty="0" err="1" smtClean="0">
                  <a:solidFill>
                    <a:schemeClr val="tx1"/>
                  </a:solidFill>
                </a:rPr>
                <a:t>in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 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0070C0"/>
                  </a:solidFill>
                </a:rPr>
                <a:t>减法：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err="1" smtClean="0">
                  <a:solidFill>
                    <a:schemeClr val="tx1"/>
                  </a:solidFill>
                </a:rPr>
                <a:t>in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=1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时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F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A+B+1-0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A-B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-0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，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 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err="1" smtClean="0">
                  <a:solidFill>
                    <a:schemeClr val="tx1"/>
                  </a:solidFill>
                </a:rPr>
                <a:t>in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=0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时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F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A+B+1-1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A-B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-1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，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 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即</a:t>
              </a:r>
              <a:r>
                <a:rPr lang="en-US" altLang="zh-CN" sz="1800" dirty="0">
                  <a:solidFill>
                    <a:schemeClr val="tx1"/>
                  </a:solidFill>
                </a:rPr>
                <a:t>F</a:t>
              </a:r>
              <a:r>
                <a:rPr lang="zh-CN" altLang="en-US" sz="1800" dirty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A-B-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41"/>
              </p:custDataLst>
            </p:nvPr>
          </p:nvCxnSpPr>
          <p:spPr bwMode="auto">
            <a:xfrm>
              <a:off x="6822015" y="3320856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42"/>
              </p:custDataLst>
            </p:nvPr>
          </p:nvCxnSpPr>
          <p:spPr bwMode="auto">
            <a:xfrm>
              <a:off x="7092016" y="2780856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43"/>
              </p:custDataLst>
            </p:nvPr>
          </p:nvCxnSpPr>
          <p:spPr bwMode="auto">
            <a:xfrm>
              <a:off x="7092016" y="3050121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5" name="Text Box 200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1260000" y="5292000"/>
            <a:ext cx="51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思考③：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CF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和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OF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都表示结果溢出，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为什么</a:t>
            </a:r>
            <a:r>
              <a:rPr 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不合并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66" name="Text Box 200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444000" y="5292000"/>
            <a:ext cx="2664000" cy="43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399415" indent="-399415">
              <a:lnSpc>
                <a:spcPct val="90000"/>
              </a:lnSpc>
            </a:pPr>
            <a:r>
              <a:rPr lang="zh-CN" sz="1600" dirty="0" smtClean="0">
                <a:solidFill>
                  <a:schemeClr val="tx1"/>
                </a:solidFill>
              </a:rPr>
              <a:t>否则</a:t>
            </a:r>
            <a:r>
              <a:rPr lang="zh-CN" altLang="en-US" sz="1600" dirty="0" smtClean="0">
                <a:solidFill>
                  <a:schemeClr val="tx1"/>
                </a:solidFill>
              </a:rPr>
              <a:t>不能同时判断有</a:t>
            </a:r>
            <a:r>
              <a:rPr lang="en-US" altLang="zh-CN" sz="1600" dirty="0" smtClean="0">
                <a:solidFill>
                  <a:schemeClr val="tx1"/>
                </a:solidFill>
              </a:rPr>
              <a:t>/</a:t>
            </a:r>
            <a:r>
              <a:rPr lang="zh-CN" altLang="en-US" sz="1600" dirty="0" smtClean="0">
                <a:solidFill>
                  <a:schemeClr val="tx1"/>
                </a:solidFill>
              </a:rPr>
              <a:t>无符号</a:t>
            </a:r>
            <a:endParaRPr lang="zh-CN" altLang="en-US" sz="1600" dirty="0" smtClean="0">
              <a:solidFill>
                <a:schemeClr val="tx1"/>
              </a:solidFill>
            </a:endParaRPr>
          </a:p>
          <a:p>
            <a:pPr marL="399415" indent="-399415">
              <a:lnSpc>
                <a:spcPct val="90000"/>
              </a:lnSpc>
            </a:pPr>
            <a:r>
              <a:rPr lang="en-US" altLang="zh-CN" sz="1400" dirty="0" smtClean="0">
                <a:solidFill>
                  <a:schemeClr val="tx1"/>
                </a:solidFill>
                <a:sym typeface="+mn-ea"/>
              </a:rPr>
              <a:t>    (op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增加</a:t>
            </a:r>
            <a:r>
              <a:rPr lang="en-US" altLang="zh-CN" sz="1400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位</a:t>
            </a:r>
            <a:r>
              <a:rPr lang="en-US" altLang="zh-CN" sz="14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8" name="Text Box 28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972185" y="5652000"/>
            <a:ext cx="7668260" cy="783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练习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机器数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74H</a:t>
            </a:r>
            <a:r>
              <a:rPr lang="zh-CN" altLang="en-US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A3H</a:t>
            </a:r>
            <a:r>
              <a:rPr lang="zh-CN" altLang="en-US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A+B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A-B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后的标志各是？</a:t>
            </a:r>
            <a:endParaRPr 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A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分别为有、无符号数时，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0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运算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结果是？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46" grpId="0" bldLvl="0" animBg="1"/>
      <p:bldP spid="65" grpId="0" bldLvl="0" animBg="1"/>
      <p:bldP spid="66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90"/>
          <p:cNvSpPr txBox="1">
            <a:spLocks noChangeArrowheads="1"/>
          </p:cNvSpPr>
          <p:nvPr/>
        </p:nvSpPr>
        <p:spPr bwMode="auto">
          <a:xfrm>
            <a:off x="179512" y="1188000"/>
            <a:ext cx="8785102" cy="3361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*</a:t>
            </a:r>
            <a:r>
              <a:rPr lang="zh-CN" altLang="en-US" sz="2200" dirty="0" smtClean="0">
                <a:solidFill>
                  <a:srgbClr val="C00000"/>
                </a:solidFill>
              </a:rPr>
              <a:t>运算方法：</a:t>
            </a:r>
            <a:r>
              <a:rPr lang="zh-CN" altLang="en-US" sz="2200" dirty="0">
                <a:solidFill>
                  <a:schemeClr val="tx1"/>
                </a:solidFill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6000" dirty="0" smtClean="0">
                <a:solidFill>
                  <a:schemeClr val="tx1"/>
                </a:solidFill>
                <a:latin typeface="+mn-lt"/>
              </a:rPr>
              <a:t>n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6000" dirty="0" smtClean="0">
                <a:solidFill>
                  <a:schemeClr val="tx1"/>
                </a:solidFill>
                <a:latin typeface="+mn-lt"/>
              </a:rPr>
              <a:t>n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op=0/1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减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sz="2000" dirty="0">
              <a:solidFill>
                <a:srgbClr val="C00000"/>
              </a:solidFill>
            </a:endParaRPr>
          </a:p>
          <a:p>
            <a:endParaRPr lang="en-US" altLang="zh-CN" sz="1800" dirty="0" smtClean="0">
              <a:solidFill>
                <a:srgbClr val="C00000"/>
              </a:solidFill>
            </a:endParaRPr>
          </a:p>
          <a:p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*逻辑实现：</a:t>
            </a:r>
            <a:endParaRPr lang="en-US" altLang="zh-CN" sz="2200" dirty="0" smtClean="0">
              <a:solidFill>
                <a:srgbClr val="C00000"/>
              </a:solidFill>
            </a:endParaRPr>
          </a:p>
          <a:p>
            <a:r>
              <a:rPr lang="en-US" altLang="zh-CN" sz="2200" dirty="0" smtClean="0">
                <a:solidFill>
                  <a:srgbClr val="C00000"/>
                </a:solidFill>
              </a:rPr>
              <a:t> </a:t>
            </a:r>
            <a:r>
              <a:rPr lang="zh-CN" altLang="en-US" sz="2200" dirty="0" smtClean="0">
                <a:solidFill>
                  <a:srgbClr val="C00000"/>
                </a:solidFill>
              </a:rPr>
              <a:t>*溢出判断：</a:t>
            </a:r>
            <a:endParaRPr lang="en-US" altLang="zh-CN" sz="2200" dirty="0" smtClean="0">
              <a:solidFill>
                <a:srgbClr val="C00000"/>
              </a:solidFill>
            </a:endParaRPr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3576-934E-45AD-B9A9-6F8C1018EFE9}" type="slidenum">
              <a:rPr lang="en-US" altLang="zh-CN"/>
            </a:fld>
            <a:endParaRPr lang="en-US" altLang="zh-CN"/>
          </a:p>
        </p:txBody>
      </p:sp>
      <p:sp>
        <p:nvSpPr>
          <p:cNvPr id="367708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785225" cy="975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4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原码加减</a:t>
            </a:r>
            <a:r>
              <a:rPr lang="zh-CN" altLang="en-US" dirty="0" smtClean="0">
                <a:solidFill>
                  <a:srgbClr val="FF3399"/>
                </a:solidFill>
              </a:rPr>
              <a:t>运算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不考，了解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accent2"/>
                </a:solidFill>
              </a:rPr>
              <a:t>    运算特征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符号</a:t>
            </a:r>
            <a:r>
              <a:rPr lang="zh-CN" altLang="en-US" sz="2200" dirty="0">
                <a:solidFill>
                  <a:schemeClr val="tx1"/>
                </a:solidFill>
              </a:rPr>
              <a:t>与数值</a:t>
            </a:r>
            <a:r>
              <a:rPr lang="zh-CN" altLang="en-US" sz="2200" u="sng" dirty="0">
                <a:solidFill>
                  <a:schemeClr val="tx1"/>
                </a:solidFill>
              </a:rPr>
              <a:t>分开</a:t>
            </a:r>
            <a:r>
              <a:rPr lang="zh-CN" altLang="en-US" sz="2200" dirty="0">
                <a:solidFill>
                  <a:schemeClr val="tx1"/>
                </a:solidFill>
              </a:rPr>
              <a:t>运算，减法需先</a:t>
            </a:r>
            <a:r>
              <a:rPr lang="zh-CN" altLang="en-US" sz="2200" u="sng" dirty="0">
                <a:solidFill>
                  <a:schemeClr val="tx1"/>
                </a:solidFill>
              </a:rPr>
              <a:t>比较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大小</a:t>
            </a:r>
            <a:r>
              <a:rPr lang="zh-CN" altLang="en-US" sz="2200" dirty="0" smtClean="0">
                <a:solidFill>
                  <a:srgbClr val="FF3399"/>
                </a:solidFill>
              </a:rPr>
              <a:t>    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367827" name="Text Box 211"/>
          <p:cNvSpPr txBox="1">
            <a:spLocks noChangeArrowheads="1"/>
          </p:cNvSpPr>
          <p:nvPr/>
        </p:nvSpPr>
        <p:spPr bwMode="auto">
          <a:xfrm>
            <a:off x="1836454" y="3600000"/>
            <a:ext cx="5280439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加减法器＋辅助电路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判断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暂存结果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rgbClr val="FF3399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OF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sym typeface="Symbol" panose="05050102010706020507"/>
              </a:rPr>
              <a:t>)</a:t>
            </a:r>
            <a:r>
              <a:rPr lang="zh-CN" altLang="en-US" sz="2200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op</a:t>
            </a:r>
            <a:r>
              <a:rPr lang="en-US" altLang="zh-CN" sz="2200" dirty="0" smtClean="0">
                <a:solidFill>
                  <a:schemeClr val="tx1"/>
                </a:solidFill>
                <a:latin typeface="+mn-lt"/>
              </a:rPr>
              <a:t>·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4000" dirty="0" smtClean="0">
                <a:solidFill>
                  <a:schemeClr val="tx1"/>
                </a:solidFill>
              </a:rPr>
              <a:t>n-2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367828" name="Line 212"/>
          <p:cNvSpPr>
            <a:spLocks noChangeShapeType="1"/>
          </p:cNvSpPr>
          <p:nvPr/>
        </p:nvSpPr>
        <p:spPr bwMode="auto">
          <a:xfrm>
            <a:off x="2520000" y="4140000"/>
            <a:ext cx="180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67814" name="Text Box 198"/>
          <p:cNvSpPr txBox="1">
            <a:spLocks noChangeArrowheads="1"/>
          </p:cNvSpPr>
          <p:nvPr/>
        </p:nvSpPr>
        <p:spPr bwMode="auto">
          <a:xfrm>
            <a:off x="827584" y="1584000"/>
            <a:ext cx="8137153" cy="2037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15000"/>
              </a:lnSpc>
            </a:pPr>
            <a:r>
              <a:rPr lang="zh-CN" altLang="en-US" sz="2200" dirty="0" smtClean="0">
                <a:solidFill>
                  <a:schemeClr val="accent2"/>
                </a:solidFill>
              </a:rPr>
              <a:t>⑴判求和</a:t>
            </a:r>
            <a:r>
              <a:rPr lang="en-US" altLang="zh-CN" sz="2200" dirty="0">
                <a:solidFill>
                  <a:schemeClr val="accent2"/>
                </a:solidFill>
              </a:rPr>
              <a:t>/</a:t>
            </a:r>
            <a:r>
              <a:rPr lang="zh-CN" altLang="en-US" sz="2200" dirty="0" smtClean="0">
                <a:solidFill>
                  <a:schemeClr val="accent2"/>
                </a:solidFill>
              </a:rPr>
              <a:t>差，</a:t>
            </a:r>
            <a:r>
              <a:rPr lang="en-US" altLang="zh-CN" sz="2200" dirty="0" smtClean="0">
                <a:solidFill>
                  <a:schemeClr val="tx1"/>
                </a:solidFill>
              </a:rPr>
              <a:t>op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dirty="0" smtClean="0">
                <a:solidFill>
                  <a:schemeClr val="tx1"/>
                </a:solidFill>
              </a:rPr>
              <a:t>=(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sym typeface="Symbol" panose="05050102010706020507"/>
              </a:rPr>
              <a:t>)</a:t>
            </a:r>
            <a:r>
              <a:rPr lang="zh-CN" altLang="en-US" sz="2200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smtClean="0">
                <a:solidFill>
                  <a:schemeClr val="tx1"/>
                </a:solidFill>
              </a:rPr>
              <a:t>op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115000"/>
              </a:lnSpc>
            </a:pPr>
            <a:r>
              <a:rPr lang="zh-CN" altLang="en-US" sz="2200" dirty="0" smtClean="0">
                <a:solidFill>
                  <a:schemeClr val="accent2"/>
                </a:solidFill>
              </a:rPr>
              <a:t>⑵求和时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rgbClr val="FF3399"/>
                </a:solidFill>
              </a:rPr>
              <a:t>＋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OF=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115000"/>
              </a:lnSpc>
            </a:pPr>
            <a:r>
              <a:rPr lang="zh-CN" altLang="en-US" sz="2200" dirty="0" smtClean="0">
                <a:solidFill>
                  <a:schemeClr val="accent2"/>
                </a:solidFill>
              </a:rPr>
              <a:t>⑶求差时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rgbClr val="FF3399"/>
                </a:solidFill>
              </a:rPr>
              <a:t>＋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rgbClr val="990099"/>
                </a:solidFill>
              </a:rPr>
              <a:t>＋</a:t>
            </a:r>
            <a:r>
              <a:rPr lang="en-US" altLang="zh-CN" sz="2200" dirty="0" smtClean="0">
                <a:solidFill>
                  <a:srgbClr val="990099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，     </a:t>
            </a:r>
            <a:r>
              <a:rPr lang="en-US" altLang="zh-CN" sz="2200" dirty="0" smtClean="0">
                <a:solidFill>
                  <a:schemeClr val="tx1"/>
                </a:solidFill>
              </a:rPr>
              <a:t>OF=0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0" indent="0" eaLnBrk="1" latinLnBrk="0" hangingPunct="1">
              <a:lnSpc>
                <a:spcPct val="115000"/>
              </a:lnSpc>
            </a:pPr>
            <a:r>
              <a:rPr lang="zh-CN" altLang="en-US" sz="2200" dirty="0" smtClean="0">
                <a:solidFill>
                  <a:srgbClr val="990099"/>
                </a:solidFill>
              </a:rPr>
              <a:t>      够</a:t>
            </a:r>
            <a:r>
              <a:rPr lang="zh-CN" altLang="en-US" sz="2200" dirty="0">
                <a:solidFill>
                  <a:srgbClr val="990099"/>
                </a:solidFill>
              </a:rPr>
              <a:t>减时</a:t>
            </a:r>
            <a:r>
              <a:rPr lang="en-US" altLang="zh-CN" sz="2200" dirty="0" smtClean="0">
                <a:solidFill>
                  <a:srgbClr val="990099"/>
                </a:solidFill>
              </a:rPr>
              <a:t>(</a:t>
            </a:r>
            <a:r>
              <a:rPr lang="en-US" altLang="zh-CN" sz="2200" i="1" dirty="0" smtClean="0">
                <a:solidFill>
                  <a:srgbClr val="990099"/>
                </a:solidFill>
                <a:latin typeface="+mn-lt"/>
              </a:rPr>
              <a:t>C</a:t>
            </a:r>
            <a:r>
              <a:rPr lang="en-US" altLang="zh-CN" sz="2200" baseline="-18000" dirty="0" smtClean="0">
                <a:solidFill>
                  <a:srgbClr val="990099"/>
                </a:solidFill>
              </a:rPr>
              <a:t>n-2</a:t>
            </a:r>
            <a:r>
              <a:rPr lang="en-US" altLang="zh-CN" sz="2200" dirty="0" smtClean="0">
                <a:solidFill>
                  <a:srgbClr val="990099"/>
                </a:solidFill>
              </a:rPr>
              <a:t>=1)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rgbClr val="990099"/>
                </a:solidFill>
              </a:rPr>
              <a:t> </a:t>
            </a:r>
            <a:endParaRPr lang="en-US" altLang="zh-CN" sz="2200" dirty="0" smtClean="0">
              <a:solidFill>
                <a:srgbClr val="990099"/>
              </a:solidFill>
            </a:endParaRPr>
          </a:p>
          <a:p>
            <a:pPr marL="0" indent="0" eaLnBrk="1" latinLnBrk="0" hangingPunct="1">
              <a:lnSpc>
                <a:spcPct val="115000"/>
              </a:lnSpc>
            </a:pPr>
            <a:r>
              <a:rPr lang="zh-CN" altLang="en-US" sz="2200" dirty="0" smtClean="0">
                <a:solidFill>
                  <a:srgbClr val="990099"/>
                </a:solidFill>
              </a:rPr>
              <a:t>    不够</a:t>
            </a:r>
            <a:r>
              <a:rPr lang="zh-CN" altLang="en-US" sz="2200" dirty="0">
                <a:solidFill>
                  <a:srgbClr val="990099"/>
                </a:solidFill>
              </a:rPr>
              <a:t>减时</a:t>
            </a:r>
            <a:r>
              <a:rPr lang="en-US" altLang="zh-CN" sz="2200" dirty="0" smtClean="0">
                <a:solidFill>
                  <a:srgbClr val="990099"/>
                </a:solidFill>
              </a:rPr>
              <a:t>(</a:t>
            </a:r>
            <a:r>
              <a:rPr lang="en-US" altLang="zh-CN" sz="2200" i="1" dirty="0" smtClean="0">
                <a:solidFill>
                  <a:srgbClr val="990099"/>
                </a:solidFill>
                <a:latin typeface="+mn-lt"/>
              </a:rPr>
              <a:t>C</a:t>
            </a:r>
            <a:r>
              <a:rPr lang="en-US" altLang="zh-CN" sz="2200" baseline="-18000" dirty="0" smtClean="0">
                <a:solidFill>
                  <a:srgbClr val="990099"/>
                </a:solidFill>
              </a:rPr>
              <a:t>n-2</a:t>
            </a:r>
            <a:r>
              <a:rPr lang="en-US" altLang="zh-CN" sz="2200" dirty="0" smtClean="0">
                <a:solidFill>
                  <a:srgbClr val="990099"/>
                </a:solidFill>
              </a:rPr>
              <a:t>=0)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=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rgbClr val="990099"/>
                </a:solidFill>
              </a:rPr>
              <a:t>＋</a:t>
            </a:r>
            <a:r>
              <a:rPr lang="en-US" altLang="zh-CN" sz="2200" dirty="0" smtClean="0">
                <a:solidFill>
                  <a:srgbClr val="990099"/>
                </a:solidFill>
              </a:rPr>
              <a:t>1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Text Box 92"/>
          <p:cNvSpPr txBox="1">
            <a:spLocks noChangeArrowheads="1"/>
          </p:cNvSpPr>
          <p:nvPr/>
        </p:nvSpPr>
        <p:spPr bwMode="auto">
          <a:xfrm>
            <a:off x="179512" y="4464000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5</a:t>
            </a:r>
            <a:r>
              <a:rPr lang="zh-CN" altLang="en-US" dirty="0" smtClean="0">
                <a:solidFill>
                  <a:srgbClr val="FF3399"/>
                </a:solidFill>
              </a:rPr>
              <a:t>、移码</a:t>
            </a:r>
            <a:r>
              <a:rPr lang="zh-CN" altLang="en-US" dirty="0">
                <a:solidFill>
                  <a:srgbClr val="FF3399"/>
                </a:solidFill>
              </a:rPr>
              <a:t>加减</a:t>
            </a:r>
            <a:r>
              <a:rPr lang="zh-CN" altLang="en-US" dirty="0" smtClean="0">
                <a:solidFill>
                  <a:srgbClr val="FF3399"/>
                </a:solidFill>
              </a:rPr>
              <a:t>运算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不考，了解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accent2"/>
                </a:solidFill>
              </a:rPr>
              <a:t>    运算特征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类似于补码运算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教材</a:t>
            </a:r>
            <a:r>
              <a:rPr lang="en-US" altLang="zh-CN" sz="1800" dirty="0" smtClean="0">
                <a:solidFill>
                  <a:schemeClr val="tx1"/>
                </a:solidFill>
              </a:rPr>
              <a:t>P78)</a:t>
            </a:r>
            <a:r>
              <a:rPr lang="zh-CN" altLang="en-US" sz="2200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64000" y="2484000"/>
            <a:ext cx="2628001" cy="828000"/>
            <a:chOff x="4607976" y="2759148"/>
            <a:chExt cx="2628001" cy="828000"/>
          </a:xfrm>
        </p:grpSpPr>
        <p:sp>
          <p:nvSpPr>
            <p:cNvPr id="367819" name="Line 203"/>
            <p:cNvSpPr>
              <a:spLocks noChangeShapeType="1"/>
            </p:cNvSpPr>
            <p:nvPr/>
          </p:nvSpPr>
          <p:spPr bwMode="auto">
            <a:xfrm>
              <a:off x="6299976" y="3551148"/>
              <a:ext cx="4320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7820" name="Line 204"/>
            <p:cNvSpPr>
              <a:spLocks noChangeShapeType="1"/>
            </p:cNvSpPr>
            <p:nvPr/>
          </p:nvSpPr>
          <p:spPr bwMode="auto">
            <a:xfrm>
              <a:off x="7019977" y="3551148"/>
              <a:ext cx="2160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01"/>
            <p:cNvSpPr>
              <a:spLocks noChangeShapeType="1"/>
            </p:cNvSpPr>
            <p:nvPr/>
          </p:nvSpPr>
          <p:spPr bwMode="auto">
            <a:xfrm>
              <a:off x="4607976" y="3587148"/>
              <a:ext cx="4318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202"/>
            <p:cNvSpPr>
              <a:spLocks noChangeShapeType="1"/>
            </p:cNvSpPr>
            <p:nvPr/>
          </p:nvSpPr>
          <p:spPr bwMode="auto">
            <a:xfrm>
              <a:off x="4823976" y="2759148"/>
              <a:ext cx="4320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2"/>
            <p:cNvSpPr>
              <a:spLocks noChangeShapeType="1"/>
            </p:cNvSpPr>
            <p:nvPr/>
          </p:nvSpPr>
          <p:spPr bwMode="auto">
            <a:xfrm>
              <a:off x="5507976" y="2759148"/>
              <a:ext cx="216000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7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7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78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78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78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6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6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828" grpId="0" bldLvl="0" animBg="1"/>
      <p:bldP spid="1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251520" y="404664"/>
            <a:ext cx="8712968" cy="5038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※</a:t>
            </a:r>
            <a:r>
              <a:rPr lang="zh-CN" altLang="en-US" dirty="0" smtClean="0">
                <a:solidFill>
                  <a:srgbClr val="C00000"/>
                </a:solidFill>
              </a:rPr>
              <a:t>习题课</a:t>
            </a:r>
            <a:r>
              <a:rPr lang="en-US" altLang="zh-CN" dirty="0" smtClean="0">
                <a:solidFill>
                  <a:srgbClr val="C00000"/>
                </a:solidFill>
              </a:rPr>
              <a:t>-1</a:t>
            </a:r>
            <a:r>
              <a:rPr lang="zh-CN" altLang="zh-CN" dirty="0" smtClean="0">
                <a:solidFill>
                  <a:srgbClr val="C00000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[2011</a:t>
            </a:r>
            <a:r>
              <a:rPr lang="zh-CN" altLang="zh-CN" sz="2000" dirty="0">
                <a:solidFill>
                  <a:schemeClr val="tx1"/>
                </a:solidFill>
              </a:rPr>
              <a:t>年研究生入学统考题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r>
              <a:rPr lang="zh-CN" altLang="zh-CN" sz="2200" dirty="0" smtClean="0">
                <a:solidFill>
                  <a:schemeClr val="tx1"/>
                </a:solidFill>
              </a:rPr>
              <a:t>假定</a:t>
            </a:r>
            <a:r>
              <a:rPr lang="zh-CN" altLang="zh-CN" sz="2200" dirty="0">
                <a:solidFill>
                  <a:schemeClr val="tx1"/>
                </a:solidFill>
              </a:rPr>
              <a:t>在一个</a:t>
            </a:r>
            <a:r>
              <a:rPr lang="en-US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位字长的计算机中运行</a:t>
            </a:r>
            <a:r>
              <a:rPr lang="zh-CN" altLang="zh-CN" sz="2200" dirty="0" smtClean="0">
                <a:solidFill>
                  <a:schemeClr val="tx1"/>
                </a:solidFill>
              </a:rPr>
              <a:t>如下</a:t>
            </a:r>
            <a:r>
              <a:rPr lang="en-US" altLang="zh-CN" sz="2200" dirty="0" smtClean="0">
                <a:solidFill>
                  <a:schemeClr val="tx1"/>
                </a:solidFill>
              </a:rPr>
              <a:t>C</a:t>
            </a:r>
            <a:r>
              <a:rPr lang="zh-CN" altLang="zh-CN" sz="2200" dirty="0">
                <a:solidFill>
                  <a:schemeClr val="tx1"/>
                </a:solidFill>
              </a:rPr>
              <a:t>程序段：</a:t>
            </a:r>
            <a:endParaRPr lang="zh-CN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unsigned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 x </a:t>
            </a:r>
            <a:r>
              <a:rPr lang="en-US" altLang="zh-CN" sz="2200" dirty="0" smtClean="0">
                <a:solidFill>
                  <a:schemeClr val="tx1"/>
                </a:solidFill>
              </a:rPr>
              <a:t>= 134, y </a:t>
            </a:r>
            <a:r>
              <a:rPr lang="en-US" altLang="zh-CN" sz="2200" dirty="0">
                <a:solidFill>
                  <a:schemeClr val="tx1"/>
                </a:solidFill>
              </a:rPr>
              <a:t>= </a:t>
            </a:r>
            <a:r>
              <a:rPr lang="en-US" altLang="zh-CN" sz="2200" dirty="0" smtClean="0">
                <a:solidFill>
                  <a:schemeClr val="tx1"/>
                </a:solidFill>
              </a:rPr>
              <a:t>246, </a:t>
            </a:r>
            <a:r>
              <a:rPr lang="en-US" altLang="zh-CN" sz="2200" dirty="0">
                <a:solidFill>
                  <a:schemeClr val="tx1"/>
                </a:solidFill>
              </a:rPr>
              <a:t>z1 = </a:t>
            </a:r>
            <a:r>
              <a:rPr lang="en-US" altLang="zh-CN" sz="2200" dirty="0" smtClean="0">
                <a:solidFill>
                  <a:schemeClr val="tx1"/>
                </a:solidFill>
              </a:rPr>
              <a:t>x-y</a:t>
            </a:r>
            <a:r>
              <a:rPr lang="en-US" altLang="zh-CN" sz="2200" dirty="0">
                <a:solidFill>
                  <a:schemeClr val="tx1"/>
                </a:solidFill>
              </a:rPr>
              <a:t>, z2 = 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x+y</a:t>
            </a:r>
            <a:r>
              <a:rPr lang="en-US" altLang="zh-CN" sz="2200" dirty="0" smtClean="0">
                <a:solidFill>
                  <a:schemeClr val="tx1"/>
                </a:solidFill>
              </a:rPr>
              <a:t>;</a:t>
            </a:r>
            <a:endParaRPr lang="zh-CN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m = </a:t>
            </a:r>
            <a:r>
              <a:rPr lang="en-US" altLang="zh-CN" sz="2200" dirty="0" smtClean="0">
                <a:solidFill>
                  <a:schemeClr val="tx1"/>
                </a:solidFill>
              </a:rPr>
              <a:t>x, n </a:t>
            </a:r>
            <a:r>
              <a:rPr lang="en-US" altLang="zh-CN" sz="2200" dirty="0">
                <a:solidFill>
                  <a:schemeClr val="tx1"/>
                </a:solidFill>
              </a:rPr>
              <a:t>= </a:t>
            </a:r>
            <a:r>
              <a:rPr lang="en-US" altLang="zh-CN" sz="2200" dirty="0" smtClean="0">
                <a:solidFill>
                  <a:schemeClr val="tx1"/>
                </a:solidFill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de-DE" altLang="zh-CN" sz="2200" dirty="0" smtClean="0">
                <a:solidFill>
                  <a:schemeClr val="tx1"/>
                </a:solidFill>
              </a:rPr>
              <a:t>k1 </a:t>
            </a:r>
            <a:r>
              <a:rPr lang="de-DE" altLang="zh-CN" sz="2200" dirty="0">
                <a:solidFill>
                  <a:schemeClr val="tx1"/>
                </a:solidFill>
              </a:rPr>
              <a:t>= </a:t>
            </a:r>
            <a:r>
              <a:rPr lang="de-DE" altLang="zh-CN" sz="2200" dirty="0" smtClean="0">
                <a:solidFill>
                  <a:schemeClr val="tx1"/>
                </a:solidFill>
              </a:rPr>
              <a:t>m-n</a:t>
            </a:r>
            <a:r>
              <a:rPr lang="en-US" altLang="zh-CN" sz="2200" dirty="0" smtClean="0">
                <a:solidFill>
                  <a:schemeClr val="tx1"/>
                </a:solidFill>
              </a:rPr>
              <a:t>, </a:t>
            </a:r>
            <a:r>
              <a:rPr lang="de-DE" altLang="zh-CN" sz="2200" dirty="0" smtClean="0">
                <a:solidFill>
                  <a:schemeClr val="tx1"/>
                </a:solidFill>
              </a:rPr>
              <a:t>k2 </a:t>
            </a:r>
            <a:r>
              <a:rPr lang="de-DE" altLang="zh-CN" sz="2200" dirty="0">
                <a:solidFill>
                  <a:schemeClr val="tx1"/>
                </a:solidFill>
              </a:rPr>
              <a:t>= </a:t>
            </a:r>
            <a:r>
              <a:rPr lang="de-DE" altLang="zh-CN" sz="2200" dirty="0" smtClean="0">
                <a:solidFill>
                  <a:schemeClr val="tx1"/>
                </a:solidFill>
              </a:rPr>
              <a:t>m+n</a:t>
            </a:r>
            <a:r>
              <a:rPr lang="de-DE" altLang="zh-CN" sz="2200" dirty="0">
                <a:solidFill>
                  <a:schemeClr val="tx1"/>
                </a:solidFill>
              </a:rPr>
              <a:t>;</a:t>
            </a:r>
            <a:endParaRPr lang="zh-CN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若</a:t>
            </a:r>
            <a:r>
              <a:rPr lang="zh-CN" altLang="zh-CN" sz="2200" dirty="0">
                <a:solidFill>
                  <a:schemeClr val="tx1"/>
                </a:solidFill>
              </a:rPr>
              <a:t>编译器编译</a:t>
            </a:r>
            <a:r>
              <a:rPr lang="zh-CN" altLang="zh-CN" sz="2200" dirty="0" smtClean="0">
                <a:solidFill>
                  <a:schemeClr val="tx1"/>
                </a:solidFill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zh-CN" sz="2200" dirty="0" smtClean="0">
                <a:solidFill>
                  <a:schemeClr val="tx1"/>
                </a:solidFill>
              </a:rPr>
              <a:t>将</a:t>
            </a:r>
            <a:r>
              <a:rPr lang="de-DE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个</a:t>
            </a:r>
            <a:r>
              <a:rPr lang="de-DE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位寄存器</a:t>
            </a:r>
            <a:r>
              <a:rPr lang="de-DE" altLang="zh-CN" sz="2200" dirty="0">
                <a:solidFill>
                  <a:schemeClr val="tx1"/>
                </a:solidFill>
              </a:rPr>
              <a:t>R1</a:t>
            </a:r>
            <a:r>
              <a:rPr lang="de-DE" altLang="zh-CN" sz="2200" dirty="0">
                <a:solidFill>
                  <a:schemeClr val="tx1"/>
                </a:solidFill>
                <a:latin typeface="+mn-lt"/>
              </a:rPr>
              <a:t>~</a:t>
            </a:r>
            <a:r>
              <a:rPr lang="de-DE" altLang="zh-CN" sz="2200" dirty="0">
                <a:solidFill>
                  <a:schemeClr val="tx1"/>
                </a:solidFill>
              </a:rPr>
              <a:t>R8</a:t>
            </a:r>
            <a:r>
              <a:rPr lang="zh-CN" altLang="zh-CN" sz="2200" dirty="0">
                <a:solidFill>
                  <a:schemeClr val="tx1"/>
                </a:solidFill>
              </a:rPr>
              <a:t>分别分配给变量</a:t>
            </a:r>
            <a:r>
              <a:rPr lang="de-DE" altLang="zh-CN" sz="2200" dirty="0">
                <a:solidFill>
                  <a:schemeClr val="tx1"/>
                </a:solidFill>
              </a:rPr>
              <a:t>x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y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m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n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z1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z2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k1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k2</a:t>
            </a:r>
            <a:r>
              <a:rPr lang="zh-CN" altLang="zh-CN" sz="2200" dirty="0">
                <a:solidFill>
                  <a:schemeClr val="tx1"/>
                </a:solidFill>
              </a:rPr>
              <a:t>。请回答下列问题</a:t>
            </a:r>
            <a:r>
              <a:rPr lang="zh-CN" altLang="zh-CN" sz="2200" dirty="0" smtClean="0">
                <a:solidFill>
                  <a:schemeClr val="tx1"/>
                </a:solidFill>
              </a:rPr>
              <a:t>。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1</a:t>
            </a:r>
            <a:r>
              <a:rPr lang="zh-CN" altLang="zh-CN" sz="2200" dirty="0">
                <a:solidFill>
                  <a:schemeClr val="tx1"/>
                </a:solidFill>
              </a:rPr>
              <a:t>）执行上述程序段后，寄存器</a:t>
            </a:r>
            <a:r>
              <a:rPr lang="de-DE" altLang="zh-CN" sz="2200" dirty="0">
                <a:solidFill>
                  <a:schemeClr val="tx1"/>
                </a:solidFill>
              </a:rPr>
              <a:t>R1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R5</a:t>
            </a:r>
            <a:r>
              <a:rPr lang="zh-CN" altLang="zh-CN" sz="2200" dirty="0">
                <a:solidFill>
                  <a:schemeClr val="tx1"/>
                </a:solidFill>
              </a:rPr>
              <a:t>和</a:t>
            </a:r>
            <a:r>
              <a:rPr lang="de-DE" altLang="zh-CN" sz="2200" dirty="0">
                <a:solidFill>
                  <a:schemeClr val="tx1"/>
                </a:solidFill>
              </a:rPr>
              <a:t>R6</a:t>
            </a:r>
            <a:r>
              <a:rPr lang="zh-CN" altLang="zh-CN" sz="2200" dirty="0">
                <a:solidFill>
                  <a:schemeClr val="tx1"/>
                </a:solidFill>
              </a:rPr>
              <a:t>的内容分别是什么</a:t>
            </a:r>
            <a:r>
              <a:rPr lang="zh-CN" altLang="zh-CN" sz="2200" dirty="0" smtClean="0">
                <a:solidFill>
                  <a:schemeClr val="tx1"/>
                </a:solidFill>
              </a:rPr>
              <a:t>？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zh-CN" sz="2200" dirty="0" smtClean="0">
                <a:solidFill>
                  <a:schemeClr val="tx1"/>
                </a:solidFill>
              </a:rPr>
              <a:t>）执行上述程序段后，变量</a:t>
            </a:r>
            <a:r>
              <a:rPr lang="de-DE" altLang="zh-CN" sz="2200" dirty="0" smtClean="0">
                <a:solidFill>
                  <a:schemeClr val="tx1"/>
                </a:solidFill>
              </a:rPr>
              <a:t>m</a:t>
            </a:r>
            <a:r>
              <a:rPr lang="zh-CN" altLang="zh-CN" sz="2200" dirty="0" smtClean="0">
                <a:solidFill>
                  <a:schemeClr val="tx1"/>
                </a:solidFill>
              </a:rPr>
              <a:t>和</a:t>
            </a:r>
            <a:r>
              <a:rPr lang="de-DE" altLang="zh-CN" sz="2200" dirty="0" smtClean="0">
                <a:solidFill>
                  <a:schemeClr val="tx1"/>
                </a:solidFill>
              </a:rPr>
              <a:t>k1</a:t>
            </a:r>
            <a:r>
              <a:rPr lang="zh-CN" altLang="zh-CN" sz="2200" dirty="0" smtClean="0">
                <a:solidFill>
                  <a:schemeClr val="tx1"/>
                </a:solidFill>
              </a:rPr>
              <a:t>的值分别是什么？（十进制）</a:t>
            </a:r>
            <a:endParaRPr lang="zh-CN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3</a:t>
            </a:r>
            <a:r>
              <a:rPr lang="zh-CN" altLang="zh-CN" sz="2200" dirty="0">
                <a:solidFill>
                  <a:schemeClr val="tx1"/>
                </a:solidFill>
              </a:rPr>
              <a:t>）上述程序段涉及带符号整数加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减、无符号整数加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减运算，这四种运算能否利用同一个加法器及辅助电路实现？简述理由。</a:t>
            </a:r>
            <a:endParaRPr lang="zh-CN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4</a:t>
            </a:r>
            <a:r>
              <a:rPr lang="zh-CN" altLang="zh-CN" sz="2200" dirty="0" smtClean="0">
                <a:solidFill>
                  <a:schemeClr val="tx1"/>
                </a:solidFill>
              </a:rPr>
              <a:t>）如何</a:t>
            </a:r>
            <a:r>
              <a:rPr lang="zh-CN" altLang="zh-CN" sz="2200" dirty="0">
                <a:solidFill>
                  <a:schemeClr val="tx1"/>
                </a:solidFill>
              </a:rPr>
              <a:t>判断带符号整数加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减运算的结果是否发生溢出？上述程序段中，哪些带符号整数运算语句的执行结果会发生溢出？</a:t>
            </a:r>
            <a:endParaRPr lang="zh-CN" altLang="zh-CN" sz="2200" dirty="0">
              <a:solidFill>
                <a:schemeClr val="tx1"/>
              </a:solidFill>
            </a:endParaRPr>
          </a:p>
        </p:txBody>
      </p:sp>
      <p:sp>
        <p:nvSpPr>
          <p:cNvPr id="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5369382"/>
            <a:ext cx="889248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x=10000110B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y=11110110B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z1=x-y=(0)10010000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z2=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x+y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=(1)01111100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(R1)=86H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(R5)=90H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(R6)=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7CH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m=86H=-122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n=F6H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k1=m-n=x-y=86H-F6H=90H=-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112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）判断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同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号相加或异号相减，结果与被加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减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数异号。仅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可能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溢出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有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符号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加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k2=(1)01111100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溢出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二、移位运算</a:t>
            </a:r>
            <a:endParaRPr lang="zh-CN" altLang="en-US" sz="2400" dirty="0"/>
          </a:p>
        </p:txBody>
      </p:sp>
      <p:sp>
        <p:nvSpPr>
          <p:cNvPr id="6" name="Text Box 95"/>
          <p:cNvSpPr txBox="1">
            <a:spLocks noChangeArrowheads="1"/>
          </p:cNvSpPr>
          <p:nvPr/>
        </p:nvSpPr>
        <p:spPr bwMode="auto">
          <a:xfrm>
            <a:off x="179388" y="828000"/>
            <a:ext cx="8821768" cy="17681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逻辑左移、逻辑右移、算术左移、算术右移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针对无符号数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针对有符号数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功能：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spc="-30" dirty="0" smtClean="0">
                <a:solidFill>
                  <a:schemeClr val="tx1"/>
                </a:solidFill>
              </a:rPr>
              <a:t>×2</a:t>
            </a:r>
            <a:r>
              <a:rPr lang="en-US" altLang="zh-CN" spc="-30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或</a:t>
            </a:r>
            <a:r>
              <a:rPr lang="en-US" altLang="zh-CN" spc="-30" dirty="0" smtClean="0">
                <a:solidFill>
                  <a:schemeClr val="tx1"/>
                </a:solidFill>
              </a:rPr>
              <a:t>A÷2</a:t>
            </a:r>
            <a:r>
              <a:rPr lang="en-US" altLang="zh-CN" spc="-30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，</a:t>
            </a:r>
            <a:r>
              <a:rPr lang="en-US" altLang="zh-CN" spc="-30" dirty="0" smtClean="0">
                <a:solidFill>
                  <a:schemeClr val="tx1"/>
                </a:solidFill>
              </a:rPr>
              <a:t>A</a:t>
            </a:r>
            <a:r>
              <a:rPr lang="zh-CN" altLang="en-US" spc="-30" dirty="0" smtClean="0">
                <a:solidFill>
                  <a:schemeClr val="tx1"/>
                </a:solidFill>
              </a:rPr>
              <a:t>为数据、</a:t>
            </a:r>
            <a:r>
              <a:rPr lang="en-US" altLang="zh-CN" spc="-3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为移位</a:t>
            </a:r>
            <a:r>
              <a:rPr lang="zh-CN" altLang="en-US" spc="-30" dirty="0" smtClean="0">
                <a:solidFill>
                  <a:schemeClr val="tx1"/>
                </a:solidFill>
              </a:rPr>
              <a:t>位数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990099"/>
                </a:solidFill>
              </a:rPr>
              <a:t>       </a:t>
            </a:r>
            <a:r>
              <a:rPr lang="zh-CN" altLang="en-US" dirty="0" smtClean="0">
                <a:solidFill>
                  <a:srgbClr val="990099"/>
                </a:solidFill>
              </a:rPr>
              <a:t>表示：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FF3399"/>
                </a:solidFill>
              </a:rPr>
              <a:t>L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ogical shift</a:t>
            </a:r>
            <a:r>
              <a:rPr lang="zh-CN" altLang="en-US" sz="1800" dirty="0" smtClean="0">
                <a:solidFill>
                  <a:schemeClr val="tx1"/>
                </a:solidFill>
                <a:latin typeface="+mn-lt"/>
              </a:rPr>
              <a:t>及</a:t>
            </a:r>
            <a:r>
              <a:rPr lang="en-US" altLang="zh-CN" sz="1800" b="0" dirty="0" smtClean="0">
                <a:solidFill>
                  <a:srgbClr val="FF3399"/>
                </a:solidFill>
                <a:latin typeface="+mn-lt"/>
              </a:rPr>
              <a:t>A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rithmetic shift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268"/>
          <p:cNvSpPr txBox="1">
            <a:spLocks noChangeArrowheads="1"/>
          </p:cNvSpPr>
          <p:nvPr/>
        </p:nvSpPr>
        <p:spPr bwMode="auto">
          <a:xfrm>
            <a:off x="179388" y="2535287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zh-CN" altLang="en-US" dirty="0" smtClean="0">
                <a:solidFill>
                  <a:srgbClr val="FF3399"/>
                </a:solidFill>
              </a:rPr>
              <a:t>、逻辑移位</a:t>
            </a:r>
            <a:r>
              <a:rPr lang="en-US" altLang="zh-CN" sz="1600" dirty="0" smtClean="0">
                <a:solidFill>
                  <a:srgbClr val="FF3399"/>
                </a:solidFill>
              </a:rPr>
              <a:t>(</a:t>
            </a:r>
            <a:r>
              <a:rPr lang="en-US" altLang="zh-CN" sz="1600" b="0" dirty="0" smtClean="0">
                <a:solidFill>
                  <a:srgbClr val="FF3399"/>
                </a:solidFill>
                <a:latin typeface="+mn-lt"/>
              </a:rPr>
              <a:t>Logical Shift</a:t>
            </a:r>
            <a:r>
              <a:rPr lang="en-US" altLang="zh-CN" sz="1600" dirty="0" smtClean="0">
                <a:solidFill>
                  <a:srgbClr val="FF3399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运算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运算方法：</a:t>
            </a:r>
            <a:endParaRPr lang="zh-CN" altLang="en-US" u="sng" dirty="0">
              <a:solidFill>
                <a:srgbClr val="990099"/>
              </a:solidFill>
            </a:endParaRPr>
          </a:p>
        </p:txBody>
      </p:sp>
      <p:sp>
        <p:nvSpPr>
          <p:cNvPr id="30" name="Text Box 269"/>
          <p:cNvSpPr txBox="1">
            <a:spLocks noChangeArrowheads="1"/>
          </p:cNvSpPr>
          <p:nvPr/>
        </p:nvSpPr>
        <p:spPr bwMode="auto">
          <a:xfrm>
            <a:off x="179388" y="4831992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 smtClean="0">
                <a:solidFill>
                  <a:schemeClr val="tx1"/>
                </a:solidFill>
              </a:rPr>
              <a:t>无符号整数的机器码为</a:t>
            </a:r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r>
              <a:rPr lang="zh-CN" altLang="en-US" dirty="0" smtClean="0">
                <a:solidFill>
                  <a:schemeClr val="tx1"/>
                </a:solidFill>
              </a:rPr>
              <a:t>位，求</a:t>
            </a:r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解：</a:t>
            </a:r>
            <a:r>
              <a:rPr lang="en-US" altLang="zh-CN" dirty="0" smtClean="0">
                <a:solidFill>
                  <a:schemeClr val="tx1"/>
                </a:solidFill>
              </a:rPr>
              <a:t>57=</a:t>
            </a:r>
            <a:r>
              <a:rPr lang="en-US" altLang="zh-CN" dirty="0" smtClean="0">
                <a:solidFill>
                  <a:schemeClr val="accent2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111001B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         57=001110</a:t>
            </a:r>
            <a:r>
              <a:rPr lang="en-US" altLang="zh-CN" dirty="0" smtClean="0">
                <a:solidFill>
                  <a:schemeClr val="accent2"/>
                </a:solidFill>
              </a:rPr>
              <a:t>01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Text Box 269"/>
          <p:cNvSpPr txBox="1">
            <a:spLocks noChangeArrowheads="1"/>
          </p:cNvSpPr>
          <p:nvPr/>
        </p:nvSpPr>
        <p:spPr bwMode="auto">
          <a:xfrm>
            <a:off x="3707904" y="5293657"/>
            <a:ext cx="403244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228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111001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 </a:t>
            </a:r>
            <a:r>
              <a:rPr lang="en-US" altLang="zh-CN" dirty="0" smtClean="0">
                <a:solidFill>
                  <a:schemeClr val="tx1"/>
                </a:solidFill>
              </a:rPr>
              <a:t>14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001110B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Text Box 95"/>
          <p:cNvSpPr txBox="1">
            <a:spLocks noChangeArrowheads="1"/>
          </p:cNvSpPr>
          <p:nvPr/>
        </p:nvSpPr>
        <p:spPr bwMode="auto">
          <a:xfrm>
            <a:off x="2123727" y="2996952"/>
            <a:ext cx="684088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机器</a:t>
            </a:r>
            <a:r>
              <a:rPr lang="zh-CN" altLang="en-US" dirty="0">
                <a:solidFill>
                  <a:schemeClr val="tx1"/>
                </a:solidFill>
              </a:rPr>
              <a:t>数</a:t>
            </a:r>
            <a:r>
              <a:rPr lang="zh-CN" altLang="en-US" u="sng" dirty="0">
                <a:solidFill>
                  <a:srgbClr val="990099"/>
                </a:solidFill>
              </a:rPr>
              <a:t>整体</a:t>
            </a:r>
            <a:r>
              <a:rPr lang="zh-CN" altLang="en-US" u="sng" dirty="0" smtClean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；          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移出的数位</a:t>
            </a:r>
            <a:r>
              <a:rPr lang="zh-CN" altLang="en-US" u="sng" dirty="0" smtClean="0">
                <a:solidFill>
                  <a:srgbClr val="990099"/>
                </a:solidFill>
              </a:rPr>
              <a:t>丢弃</a:t>
            </a:r>
            <a:r>
              <a:rPr lang="zh-CN" altLang="en-US" dirty="0" smtClean="0">
                <a:solidFill>
                  <a:schemeClr val="tx1"/>
                </a:solidFill>
              </a:rPr>
              <a:t>，出现的空位</a:t>
            </a:r>
            <a:r>
              <a:rPr lang="zh-CN" altLang="en-US" u="sng" dirty="0" smtClean="0">
                <a:solidFill>
                  <a:srgbClr val="990099"/>
                </a:solidFill>
              </a:rPr>
              <a:t>补</a:t>
            </a:r>
            <a:r>
              <a:rPr lang="en-US" altLang="zh-CN" u="sng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无符号数</a:t>
            </a:r>
            <a:r>
              <a:rPr lang="en-US" altLang="zh-CN" sz="1800" spc="-30" dirty="0">
                <a:solidFill>
                  <a:schemeClr val="tx1"/>
                </a:solidFill>
              </a:rPr>
              <a:t>×2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1800" spc="-3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spc="-30" dirty="0" smtClean="0">
                <a:solidFill>
                  <a:schemeClr val="tx1"/>
                </a:solidFill>
              </a:rPr>
              <a:t>÷</a:t>
            </a:r>
            <a:r>
              <a:rPr lang="en-US" altLang="zh-CN" sz="1800" spc="-30" dirty="0">
                <a:solidFill>
                  <a:schemeClr val="tx1"/>
                </a:solidFill>
              </a:rPr>
              <a:t>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556654" y="4005064"/>
            <a:ext cx="4608369" cy="792088"/>
            <a:chOff x="3563887" y="3645024"/>
            <a:chExt cx="4608369" cy="792088"/>
          </a:xfrm>
        </p:grpSpPr>
        <p:sp>
          <p:nvSpPr>
            <p:cNvPr id="13" name="Rectangle 436"/>
            <p:cNvSpPr>
              <a:spLocks noChangeArrowheads="1"/>
            </p:cNvSpPr>
            <p:nvPr/>
          </p:nvSpPr>
          <p:spPr bwMode="auto">
            <a:xfrm>
              <a:off x="3563887" y="36450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436"/>
            <p:cNvSpPr>
              <a:spLocks noChangeArrowheads="1"/>
            </p:cNvSpPr>
            <p:nvPr/>
          </p:nvSpPr>
          <p:spPr bwMode="auto">
            <a:xfrm>
              <a:off x="3563888" y="41497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36"/>
            <p:cNvSpPr>
              <a:spLocks noChangeArrowheads="1"/>
            </p:cNvSpPr>
            <p:nvPr/>
          </p:nvSpPr>
          <p:spPr bwMode="auto">
            <a:xfrm>
              <a:off x="4860088" y="41490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连接符 3"/>
            <p:cNvCxnSpPr/>
            <p:nvPr/>
          </p:nvCxnSpPr>
          <p:spPr bwMode="auto">
            <a:xfrm>
              <a:off x="4067944" y="36450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3"/>
            <p:cNvCxnSpPr/>
            <p:nvPr/>
          </p:nvCxnSpPr>
          <p:spPr bwMode="auto">
            <a:xfrm flipH="1">
              <a:off x="4499992" y="37890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9" name="Line 443"/>
            <p:cNvSpPr>
              <a:spLocks noChangeShapeType="1"/>
            </p:cNvSpPr>
            <p:nvPr/>
          </p:nvSpPr>
          <p:spPr bwMode="auto">
            <a:xfrm flipH="1">
              <a:off x="3563888" y="4041040"/>
              <a:ext cx="2143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44"/>
            <p:cNvSpPr>
              <a:spLocks noChangeShapeType="1"/>
            </p:cNvSpPr>
            <p:nvPr/>
          </p:nvSpPr>
          <p:spPr bwMode="auto">
            <a:xfrm flipH="1">
              <a:off x="3779912" y="37890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436"/>
            <p:cNvSpPr>
              <a:spLocks noChangeArrowheads="1"/>
            </p:cNvSpPr>
            <p:nvPr/>
          </p:nvSpPr>
          <p:spPr bwMode="auto">
            <a:xfrm>
              <a:off x="6372199" y="36450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436"/>
            <p:cNvSpPr>
              <a:spLocks noChangeArrowheads="1"/>
            </p:cNvSpPr>
            <p:nvPr/>
          </p:nvSpPr>
          <p:spPr bwMode="auto">
            <a:xfrm>
              <a:off x="6876256" y="41497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436"/>
            <p:cNvSpPr>
              <a:spLocks noChangeArrowheads="1"/>
            </p:cNvSpPr>
            <p:nvPr/>
          </p:nvSpPr>
          <p:spPr bwMode="auto">
            <a:xfrm>
              <a:off x="6372200" y="41490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接连接符 3"/>
            <p:cNvCxnSpPr/>
            <p:nvPr/>
          </p:nvCxnSpPr>
          <p:spPr bwMode="auto">
            <a:xfrm>
              <a:off x="7668344" y="36450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3"/>
            <p:cNvCxnSpPr/>
            <p:nvPr/>
          </p:nvCxnSpPr>
          <p:spPr bwMode="auto">
            <a:xfrm>
              <a:off x="6804288" y="37890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Line 443"/>
            <p:cNvSpPr>
              <a:spLocks noChangeShapeType="1"/>
            </p:cNvSpPr>
            <p:nvPr/>
          </p:nvSpPr>
          <p:spPr bwMode="auto">
            <a:xfrm>
              <a:off x="7884367" y="4041040"/>
              <a:ext cx="2878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44"/>
            <p:cNvSpPr>
              <a:spLocks noChangeShapeType="1"/>
            </p:cNvSpPr>
            <p:nvPr/>
          </p:nvSpPr>
          <p:spPr bwMode="auto">
            <a:xfrm flipH="1">
              <a:off x="7884368" y="37890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30" grpId="0"/>
      <p:bldP spid="31" grpId="0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90"/>
          <p:cNvSpPr txBox="1">
            <a:spLocks noChangeArrowheads="1"/>
          </p:cNvSpPr>
          <p:nvPr/>
        </p:nvSpPr>
        <p:spPr bwMode="auto">
          <a:xfrm>
            <a:off x="179512" y="332656"/>
            <a:ext cx="2520280" cy="5332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逻辑实现：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2200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sz="2000" dirty="0" smtClean="0">
              <a:solidFill>
                <a:srgbClr val="C00000"/>
              </a:solidFill>
            </a:endParaRP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C00000"/>
                </a:solidFill>
              </a:rPr>
              <a:t> *溢出判断：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溢出</a:t>
            </a:r>
            <a:r>
              <a:rPr lang="zh-CN" altLang="en-US" dirty="0">
                <a:solidFill>
                  <a:schemeClr val="accent2"/>
                </a:solidFill>
              </a:rPr>
              <a:t>条件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82CE4-B8DF-4A94-A53C-2AF88F268973}" type="slidenum">
              <a:rPr lang="en-US" altLang="zh-CN"/>
            </a:fld>
            <a:endParaRPr lang="en-US" altLang="zh-CN"/>
          </a:p>
        </p:txBody>
      </p:sp>
      <p:sp>
        <p:nvSpPr>
          <p:cNvPr id="254338" name="Text Box 386"/>
          <p:cNvSpPr txBox="1">
            <a:spLocks noChangeArrowheads="1"/>
          </p:cNvSpPr>
          <p:nvPr/>
        </p:nvSpPr>
        <p:spPr bwMode="auto">
          <a:xfrm>
            <a:off x="2055379" y="332656"/>
            <a:ext cx="6909109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桶</a:t>
            </a:r>
            <a:r>
              <a:rPr lang="zh-CN" altLang="en-US" dirty="0" smtClean="0">
                <a:solidFill>
                  <a:schemeClr val="tx1"/>
                </a:solidFill>
              </a:rPr>
              <a:t>形</a:t>
            </a:r>
            <a:r>
              <a:rPr lang="zh-CN" altLang="en-US" dirty="0" smtClean="0">
                <a:solidFill>
                  <a:schemeClr val="tx1"/>
                </a:solidFill>
              </a:rPr>
              <a:t>移位器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组合逻辑电路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  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67" name="AutoShape 16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403"/>
          <p:cNvSpPr txBox="1">
            <a:spLocks noChangeArrowheads="1"/>
          </p:cNvSpPr>
          <p:nvPr/>
        </p:nvSpPr>
        <p:spPr bwMode="auto">
          <a:xfrm>
            <a:off x="2051720" y="4149080"/>
            <a:ext cx="6912768" cy="21264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zh-CN" altLang="en-US" dirty="0">
                <a:solidFill>
                  <a:schemeClr val="tx1"/>
                </a:solidFill>
              </a:rPr>
              <a:t>入端为</a:t>
            </a:r>
            <a:r>
              <a:rPr lang="en-US" altLang="zh-CN" dirty="0">
                <a:solidFill>
                  <a:schemeClr val="tx1"/>
                </a:solidFill>
              </a:rPr>
              <a:t>D</a:t>
            </a:r>
            <a:r>
              <a:rPr lang="en-US" altLang="zh-CN" baseline="-18000" dirty="0">
                <a:solidFill>
                  <a:schemeClr val="tx1"/>
                </a:solidFill>
              </a:rPr>
              <a:t>n-1</a:t>
            </a:r>
            <a:r>
              <a:rPr lang="en-US" altLang="zh-CN" dirty="0">
                <a:solidFill>
                  <a:schemeClr val="tx1"/>
                </a:solidFill>
              </a:rPr>
              <a:t>…D</a:t>
            </a:r>
            <a:r>
              <a:rPr lang="en-US" altLang="zh-CN" baseline="-18000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、控制端为</a:t>
            </a:r>
            <a:r>
              <a:rPr lang="en-US" altLang="zh-CN" dirty="0">
                <a:solidFill>
                  <a:schemeClr val="tx1"/>
                </a:solidFill>
              </a:rPr>
              <a:t>S</a:t>
            </a:r>
            <a:r>
              <a:rPr lang="en-US" altLang="zh-CN" baseline="-18000" dirty="0">
                <a:solidFill>
                  <a:schemeClr val="tx1"/>
                </a:solidFill>
              </a:rPr>
              <a:t>k-1</a:t>
            </a:r>
            <a:r>
              <a:rPr lang="en-US" altLang="zh-CN" dirty="0">
                <a:solidFill>
                  <a:schemeClr val="tx1"/>
                </a:solidFill>
              </a:rPr>
              <a:t>…S</a:t>
            </a:r>
            <a:r>
              <a:rPr lang="en-US" altLang="zh-CN" baseline="-18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k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log</a:t>
            </a:r>
            <a:r>
              <a:rPr lang="en-US" altLang="zh-CN" sz="1800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 左移</a:t>
            </a:r>
            <a:r>
              <a:rPr lang="zh-CN" altLang="en-US" dirty="0">
                <a:solidFill>
                  <a:schemeClr val="tx1"/>
                </a:solidFill>
              </a:rPr>
              <a:t>时移丢</a:t>
            </a:r>
            <a:r>
              <a:rPr lang="zh-CN" altLang="en-US" u="sng" dirty="0">
                <a:solidFill>
                  <a:srgbClr val="990099"/>
                </a:solidFill>
              </a:rPr>
              <a:t>码</a:t>
            </a:r>
            <a:r>
              <a:rPr lang="en-US" altLang="zh-CN" u="sng" dirty="0" smtClean="0">
                <a:solidFill>
                  <a:srgbClr val="990099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右移时移丢码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仅影响精度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OF</a:t>
            </a:r>
            <a:r>
              <a:rPr lang="zh-CN" altLang="en-US" sz="2200" spc="-5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S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k-1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(D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+…+</a:t>
            </a:r>
            <a:r>
              <a:rPr lang="en-US" altLang="zh-CN" sz="2200" spc="-50" dirty="0" err="1" smtClean="0">
                <a:solidFill>
                  <a:schemeClr val="tx1"/>
                </a:solidFill>
              </a:rPr>
              <a:t>D</a:t>
            </a:r>
            <a:r>
              <a:rPr lang="en-US" altLang="zh-CN" sz="2200" spc="-50" dirty="0" err="1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50" baseline="-18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/2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)+S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k-2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(D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+…+D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3n/4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)+…+S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spc="-50" dirty="0" smtClean="0">
                <a:solidFill>
                  <a:schemeClr val="tx1"/>
                </a:solidFill>
              </a:rPr>
              <a:t>D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35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   </a:t>
            </a:r>
            <a:r>
              <a:rPr lang="zh-CN" altLang="en-US" sz="1800" dirty="0" smtClean="0">
                <a:solidFill>
                  <a:srgbClr val="990099"/>
                </a:solidFill>
              </a:rPr>
              <a:t>如</a:t>
            </a:r>
            <a:r>
              <a:rPr lang="zh-CN" altLang="en-US" sz="1800" dirty="0" smtClean="0">
                <a:solidFill>
                  <a:srgbClr val="990099"/>
                </a:solidFill>
              </a:rPr>
              <a:t>：</a:t>
            </a:r>
            <a:r>
              <a:rPr lang="en-US" altLang="zh-CN" sz="1800" dirty="0" smtClean="0">
                <a:solidFill>
                  <a:schemeClr val="tx1"/>
                </a:solidFill>
              </a:rPr>
              <a:t>n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4</a:t>
            </a:r>
            <a:r>
              <a:rPr lang="zh-CN" altLang="en-US" sz="1800" dirty="0" smtClean="0">
                <a:solidFill>
                  <a:schemeClr val="tx1"/>
                </a:solidFill>
              </a:rPr>
              <a:t>时，</a:t>
            </a:r>
            <a:r>
              <a:rPr lang="en-US" altLang="zh-CN" sz="1800" dirty="0" smtClean="0">
                <a:solidFill>
                  <a:schemeClr val="tx1"/>
                </a:solidFill>
              </a:rPr>
              <a:t>OF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(D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</a:rPr>
              <a:t>+D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D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</a:t>
            </a:r>
            <a:r>
              <a:rPr lang="en-US" altLang="zh-CN" sz="1800" dirty="0" smtClean="0">
                <a:solidFill>
                  <a:schemeClr val="tx1"/>
                </a:solidFill>
              </a:rPr>
              <a:t>   </a:t>
            </a:r>
            <a:r>
              <a:rPr lang="en-US" altLang="zh-CN" sz="1800" dirty="0" smtClean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(D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en-US" altLang="zh-CN" sz="1800" dirty="0" smtClean="0">
                <a:solidFill>
                  <a:schemeClr val="tx1"/>
                </a:solidFill>
              </a:rPr>
              <a:t>…+</a:t>
            </a:r>
            <a:r>
              <a:rPr lang="en-US" altLang="zh-CN" sz="1800" dirty="0">
                <a:solidFill>
                  <a:schemeClr val="tx1"/>
                </a:solidFill>
              </a:rPr>
              <a:t>D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</a:rPr>
              <a:t>)+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(D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</a:rPr>
              <a:t>+D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</a:rPr>
              <a:t>)+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D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32" name="AutoShape 29"/>
          <p:cNvSpPr/>
          <p:nvPr/>
        </p:nvSpPr>
        <p:spPr bwMode="auto">
          <a:xfrm>
            <a:off x="7164000" y="5553264"/>
            <a:ext cx="792000" cy="252000"/>
          </a:xfrm>
          <a:prstGeom prst="borderCallout2">
            <a:avLst>
              <a:gd name="adj1" fmla="val 48385"/>
              <a:gd name="adj2" fmla="val 332"/>
              <a:gd name="adj3" fmla="val 49128"/>
              <a:gd name="adj4" fmla="val -18206"/>
              <a:gd name="adj5" fmla="val -44712"/>
              <a:gd name="adj6" fmla="val -4358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逻辑或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972440" y="910238"/>
            <a:ext cx="7704016" cy="2816657"/>
            <a:chOff x="252384" y="972383"/>
            <a:chExt cx="7704016" cy="2816657"/>
          </a:xfrm>
        </p:grpSpPr>
        <p:sp>
          <p:nvSpPr>
            <p:cNvPr id="134" name="Text Box 399"/>
            <p:cNvSpPr txBox="1">
              <a:spLocks noChangeArrowheads="1"/>
            </p:cNvSpPr>
            <p:nvPr/>
          </p:nvSpPr>
          <p:spPr bwMode="auto">
            <a:xfrm>
              <a:off x="2411760" y="972383"/>
              <a:ext cx="360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功能表：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&lt;&lt;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L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S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35" name="Text Box 399"/>
            <p:cNvSpPr txBox="1">
              <a:spLocks noChangeArrowheads="1"/>
            </p:cNvSpPr>
            <p:nvPr/>
          </p:nvSpPr>
          <p:spPr bwMode="auto">
            <a:xfrm>
              <a:off x="252384" y="1556792"/>
              <a:ext cx="7272000" cy="187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0" bIns="10800" anchor="t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 flipH="1">
              <a:off x="4139952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7" name="直接连接符 140"/>
            <p:cNvCxnSpPr/>
            <p:nvPr/>
          </p:nvCxnSpPr>
          <p:spPr bwMode="auto">
            <a:xfrm>
              <a:off x="755576" y="2132856"/>
              <a:ext cx="69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/>
          </p:nvCxnSpPr>
          <p:spPr bwMode="auto">
            <a:xfrm>
              <a:off x="4932040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连接符 138"/>
            <p:cNvCxnSpPr/>
            <p:nvPr/>
          </p:nvCxnSpPr>
          <p:spPr bwMode="auto">
            <a:xfrm>
              <a:off x="6516216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连接符 139"/>
            <p:cNvCxnSpPr/>
            <p:nvPr/>
          </p:nvCxnSpPr>
          <p:spPr bwMode="auto">
            <a:xfrm>
              <a:off x="5724128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4572000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5364088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142"/>
            <p:cNvCxnSpPr/>
            <p:nvPr/>
          </p:nvCxnSpPr>
          <p:spPr bwMode="auto">
            <a:xfrm>
              <a:off x="6156176" y="3288622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直接连接符 143"/>
            <p:cNvCxnSpPr/>
            <p:nvPr/>
          </p:nvCxnSpPr>
          <p:spPr bwMode="auto">
            <a:xfrm>
              <a:off x="6948264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5" name="直接连接符 144"/>
            <p:cNvCxnSpPr/>
            <p:nvPr/>
          </p:nvCxnSpPr>
          <p:spPr bwMode="auto">
            <a:xfrm flipH="1">
              <a:off x="6804248" y="1700808"/>
              <a:ext cx="504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/>
          </p:nvCxnSpPr>
          <p:spPr bwMode="auto">
            <a:xfrm flipH="1" flipV="1">
              <a:off x="7236318" y="1700944"/>
              <a:ext cx="2" cy="122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sp>
          <p:nvSpPr>
            <p:cNvPr id="147" name="Text Box 399"/>
            <p:cNvSpPr txBox="1">
              <a:spLocks noChangeArrowheads="1"/>
            </p:cNvSpPr>
            <p:nvPr/>
          </p:nvSpPr>
          <p:spPr bwMode="auto">
            <a:xfrm>
              <a:off x="7308328" y="1630510"/>
              <a:ext cx="180000" cy="180000"/>
            </a:xfrm>
            <a:prstGeom prst="rect">
              <a:avLst/>
            </a:prstGeom>
            <a:solidFill>
              <a:srgbClr val="CCE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 smtClean="0">
                  <a:solidFill>
                    <a:schemeClr val="accent2"/>
                  </a:solidFill>
                </a:rPr>
                <a:t>0</a:t>
              </a:r>
              <a:endParaRPr lang="en-US" altLang="zh-CN" sz="1600" baseline="-16000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148" name="流程图: 手动操作 147"/>
            <p:cNvSpPr/>
            <p:nvPr/>
          </p:nvSpPr>
          <p:spPr bwMode="auto">
            <a:xfrm>
              <a:off x="827648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 bwMode="auto">
            <a:xfrm flipH="1">
              <a:off x="971600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0" name="直接连接符 21"/>
            <p:cNvCxnSpPr/>
            <p:nvPr/>
          </p:nvCxnSpPr>
          <p:spPr bwMode="auto">
            <a:xfrm rot="5400000" flipH="1" flipV="1">
              <a:off x="701576" y="197080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51" name="直接连接符 150"/>
            <p:cNvCxnSpPr/>
            <p:nvPr/>
          </p:nvCxnSpPr>
          <p:spPr bwMode="auto">
            <a:xfrm>
              <a:off x="1259632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2" name="直接连接符 151"/>
            <p:cNvCxnSpPr/>
            <p:nvPr/>
          </p:nvCxnSpPr>
          <p:spPr bwMode="auto">
            <a:xfrm>
              <a:off x="1763688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3" name="直接连接符 152"/>
            <p:cNvCxnSpPr/>
            <p:nvPr/>
          </p:nvCxnSpPr>
          <p:spPr bwMode="auto">
            <a:xfrm>
              <a:off x="2051720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4" name="直接连接符 153"/>
            <p:cNvCxnSpPr/>
            <p:nvPr/>
          </p:nvCxnSpPr>
          <p:spPr bwMode="auto">
            <a:xfrm>
              <a:off x="2555776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/>
          </p:nvCxnSpPr>
          <p:spPr bwMode="auto">
            <a:xfrm>
              <a:off x="2843808" y="1704422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连接符 155"/>
            <p:cNvCxnSpPr/>
            <p:nvPr/>
          </p:nvCxnSpPr>
          <p:spPr bwMode="auto">
            <a:xfrm>
              <a:off x="3347864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直接连接符 21"/>
            <p:cNvCxnSpPr/>
            <p:nvPr/>
          </p:nvCxnSpPr>
          <p:spPr bwMode="auto">
            <a:xfrm rot="5400000" flipH="1" flipV="1">
              <a:off x="3077840" y="197080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 bwMode="auto">
            <a:xfrm>
              <a:off x="3635896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直接连接符 158"/>
            <p:cNvCxnSpPr/>
            <p:nvPr/>
          </p:nvCxnSpPr>
          <p:spPr bwMode="auto">
            <a:xfrm flipH="1">
              <a:off x="1259704" y="1632414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/>
          </p:nvCxnSpPr>
          <p:spPr bwMode="auto">
            <a:xfrm flipH="1">
              <a:off x="2051720" y="1628776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/>
          </p:nvCxnSpPr>
          <p:spPr bwMode="auto">
            <a:xfrm flipH="1">
              <a:off x="2843808" y="1632414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62" name="Text Box 399"/>
            <p:cNvSpPr txBox="1">
              <a:spLocks noChangeArrowheads="1"/>
            </p:cNvSpPr>
            <p:nvPr/>
          </p:nvSpPr>
          <p:spPr bwMode="auto">
            <a:xfrm>
              <a:off x="899592" y="126876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5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4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63" name="流程图: 手动操作 162"/>
            <p:cNvSpPr/>
            <p:nvPr/>
          </p:nvSpPr>
          <p:spPr bwMode="auto">
            <a:xfrm>
              <a:off x="1619736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" name="流程图: 手动操作 163"/>
            <p:cNvSpPr/>
            <p:nvPr/>
          </p:nvSpPr>
          <p:spPr bwMode="auto">
            <a:xfrm>
              <a:off x="2411744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5" name="流程图: 手动操作 164"/>
            <p:cNvSpPr/>
            <p:nvPr/>
          </p:nvSpPr>
          <p:spPr bwMode="auto">
            <a:xfrm>
              <a:off x="3203912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6" name="直接连接符 21"/>
            <p:cNvCxnSpPr/>
            <p:nvPr/>
          </p:nvCxnSpPr>
          <p:spPr bwMode="auto">
            <a:xfrm rot="5400000" flipH="1" flipV="1">
              <a:off x="2285752" y="197085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67" name="直接连接符 21"/>
            <p:cNvCxnSpPr/>
            <p:nvPr/>
          </p:nvCxnSpPr>
          <p:spPr bwMode="auto">
            <a:xfrm rot="5400000" flipH="1" flipV="1">
              <a:off x="1493744" y="197083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168" name="流程图: 手动操作 167"/>
            <p:cNvSpPr/>
            <p:nvPr/>
          </p:nvSpPr>
          <p:spPr bwMode="auto">
            <a:xfrm>
              <a:off x="3996000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9" name="直接连接符 168"/>
            <p:cNvCxnSpPr/>
            <p:nvPr/>
          </p:nvCxnSpPr>
          <p:spPr bwMode="auto">
            <a:xfrm>
              <a:off x="4427984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0" name="直接连接符 169"/>
            <p:cNvCxnSpPr/>
            <p:nvPr/>
          </p:nvCxnSpPr>
          <p:spPr bwMode="auto">
            <a:xfrm>
              <a:off x="5220072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1" name="直接连接符 170"/>
            <p:cNvCxnSpPr/>
            <p:nvPr/>
          </p:nvCxnSpPr>
          <p:spPr bwMode="auto">
            <a:xfrm>
              <a:off x="6012160" y="170444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2" name="直接连接符 21"/>
            <p:cNvCxnSpPr/>
            <p:nvPr/>
          </p:nvCxnSpPr>
          <p:spPr bwMode="auto">
            <a:xfrm rot="5400000" flipH="1" flipV="1">
              <a:off x="6246192" y="197083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73" name="直接连接符 172"/>
            <p:cNvCxnSpPr/>
            <p:nvPr/>
          </p:nvCxnSpPr>
          <p:spPr bwMode="auto">
            <a:xfrm>
              <a:off x="6804248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4" name="直接连接符 173"/>
            <p:cNvCxnSpPr/>
            <p:nvPr/>
          </p:nvCxnSpPr>
          <p:spPr bwMode="auto">
            <a:xfrm flipH="1">
              <a:off x="3635896" y="1632438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/>
          </p:nvCxnSpPr>
          <p:spPr bwMode="auto">
            <a:xfrm flipH="1">
              <a:off x="5220072" y="1628800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/>
          </p:nvCxnSpPr>
          <p:spPr bwMode="auto">
            <a:xfrm flipH="1">
              <a:off x="6012160" y="1632438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77" name="流程图: 手动操作 176"/>
            <p:cNvSpPr/>
            <p:nvPr/>
          </p:nvSpPr>
          <p:spPr bwMode="auto">
            <a:xfrm>
              <a:off x="4788088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" name="流程图: 手动操作 177"/>
            <p:cNvSpPr/>
            <p:nvPr/>
          </p:nvSpPr>
          <p:spPr bwMode="auto">
            <a:xfrm>
              <a:off x="5580096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9" name="流程图: 手动操作 178"/>
            <p:cNvSpPr/>
            <p:nvPr/>
          </p:nvSpPr>
          <p:spPr bwMode="auto">
            <a:xfrm>
              <a:off x="6372264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80" name="直接连接符 21"/>
            <p:cNvCxnSpPr/>
            <p:nvPr/>
          </p:nvCxnSpPr>
          <p:spPr bwMode="auto">
            <a:xfrm rot="5400000" flipH="1" flipV="1">
              <a:off x="5454104" y="197088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81" name="直接连接符 21"/>
            <p:cNvCxnSpPr/>
            <p:nvPr/>
          </p:nvCxnSpPr>
          <p:spPr bwMode="auto">
            <a:xfrm rot="5400000" flipH="1" flipV="1">
              <a:off x="4662096" y="197085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4427984" y="1628800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4283968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直接连接符 140"/>
            <p:cNvCxnSpPr/>
            <p:nvPr/>
          </p:nvCxnSpPr>
          <p:spPr bwMode="auto">
            <a:xfrm>
              <a:off x="899592" y="2708896"/>
              <a:ext cx="676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/>
          </p:nvCxnSpPr>
          <p:spPr bwMode="auto">
            <a:xfrm>
              <a:off x="5076056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直接连接符 185"/>
            <p:cNvCxnSpPr/>
            <p:nvPr/>
          </p:nvCxnSpPr>
          <p:spPr bwMode="auto">
            <a:xfrm>
              <a:off x="6660232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/>
          </p:nvCxnSpPr>
          <p:spPr bwMode="auto">
            <a:xfrm>
              <a:off x="5868144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8" name="流程图: 手动操作 187"/>
            <p:cNvSpPr/>
            <p:nvPr/>
          </p:nvSpPr>
          <p:spPr bwMode="auto">
            <a:xfrm>
              <a:off x="971664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89" name="直接连接符 188"/>
            <p:cNvCxnSpPr/>
            <p:nvPr/>
          </p:nvCxnSpPr>
          <p:spPr bwMode="auto">
            <a:xfrm flipH="1">
              <a:off x="1115616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0" name="直接连接符 21"/>
            <p:cNvCxnSpPr/>
            <p:nvPr/>
          </p:nvCxnSpPr>
          <p:spPr bwMode="auto">
            <a:xfrm rot="5400000" flipH="1" flipV="1">
              <a:off x="845592" y="254684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91" name="直接连接符 190"/>
            <p:cNvCxnSpPr/>
            <p:nvPr/>
          </p:nvCxnSpPr>
          <p:spPr bwMode="auto">
            <a:xfrm>
              <a:off x="1403648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2" name="直接连接符 191"/>
            <p:cNvCxnSpPr/>
            <p:nvPr/>
          </p:nvCxnSpPr>
          <p:spPr bwMode="auto">
            <a:xfrm>
              <a:off x="1907704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3" name="直接连接符 192"/>
            <p:cNvCxnSpPr/>
            <p:nvPr/>
          </p:nvCxnSpPr>
          <p:spPr bwMode="auto">
            <a:xfrm>
              <a:off x="2195736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4" name="直接连接符 193"/>
            <p:cNvCxnSpPr/>
            <p:nvPr/>
          </p:nvCxnSpPr>
          <p:spPr bwMode="auto">
            <a:xfrm>
              <a:off x="2699792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5" name="直接连接符 194"/>
            <p:cNvCxnSpPr/>
            <p:nvPr/>
          </p:nvCxnSpPr>
          <p:spPr bwMode="auto">
            <a:xfrm>
              <a:off x="2987824" y="2280462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6" name="直接连接符 195"/>
            <p:cNvCxnSpPr/>
            <p:nvPr/>
          </p:nvCxnSpPr>
          <p:spPr bwMode="auto">
            <a:xfrm>
              <a:off x="3491880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21"/>
            <p:cNvCxnSpPr/>
            <p:nvPr/>
          </p:nvCxnSpPr>
          <p:spPr bwMode="auto">
            <a:xfrm rot="5400000" flipH="1" flipV="1">
              <a:off x="3221856" y="254684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98" name="直接连接符 197"/>
            <p:cNvCxnSpPr/>
            <p:nvPr/>
          </p:nvCxnSpPr>
          <p:spPr bwMode="auto">
            <a:xfrm>
              <a:off x="3779912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403720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00" name="流程图: 手动操作 199"/>
            <p:cNvSpPr/>
            <p:nvPr/>
          </p:nvSpPr>
          <p:spPr bwMode="auto">
            <a:xfrm>
              <a:off x="1763752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1" name="流程图: 手动操作 200"/>
            <p:cNvSpPr/>
            <p:nvPr/>
          </p:nvSpPr>
          <p:spPr bwMode="auto">
            <a:xfrm>
              <a:off x="2555760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2" name="流程图: 手动操作 201"/>
            <p:cNvSpPr/>
            <p:nvPr/>
          </p:nvSpPr>
          <p:spPr bwMode="auto">
            <a:xfrm>
              <a:off x="3347928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3" name="直接连接符 21"/>
            <p:cNvCxnSpPr/>
            <p:nvPr/>
          </p:nvCxnSpPr>
          <p:spPr bwMode="auto">
            <a:xfrm rot="5400000" flipH="1" flipV="1">
              <a:off x="2429768" y="254689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04" name="直接连接符 21"/>
            <p:cNvCxnSpPr/>
            <p:nvPr/>
          </p:nvCxnSpPr>
          <p:spPr bwMode="auto">
            <a:xfrm rot="5400000" flipH="1" flipV="1">
              <a:off x="1637760" y="254687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205" name="流程图: 手动操作 204"/>
            <p:cNvSpPr/>
            <p:nvPr/>
          </p:nvSpPr>
          <p:spPr bwMode="auto">
            <a:xfrm>
              <a:off x="4140016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6" name="直接连接符 205"/>
            <p:cNvCxnSpPr/>
            <p:nvPr/>
          </p:nvCxnSpPr>
          <p:spPr bwMode="auto">
            <a:xfrm>
              <a:off x="4572000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/>
          </p:nvCxnSpPr>
          <p:spPr bwMode="auto">
            <a:xfrm>
              <a:off x="5364088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/>
          </p:nvCxnSpPr>
          <p:spPr bwMode="auto">
            <a:xfrm>
              <a:off x="6156176" y="228048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1"/>
            <p:cNvCxnSpPr/>
            <p:nvPr/>
          </p:nvCxnSpPr>
          <p:spPr bwMode="auto">
            <a:xfrm rot="5400000" flipH="1" flipV="1">
              <a:off x="6390208" y="254687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0" name="直接连接符 209"/>
            <p:cNvCxnSpPr/>
            <p:nvPr/>
          </p:nvCxnSpPr>
          <p:spPr bwMode="auto">
            <a:xfrm>
              <a:off x="6948264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211" name="流程图: 手动操作 210"/>
            <p:cNvSpPr/>
            <p:nvPr/>
          </p:nvSpPr>
          <p:spPr bwMode="auto">
            <a:xfrm>
              <a:off x="4932104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2" name="流程图: 手动操作 211"/>
            <p:cNvSpPr/>
            <p:nvPr/>
          </p:nvSpPr>
          <p:spPr bwMode="auto">
            <a:xfrm>
              <a:off x="5724112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3" name="流程图: 手动操作 212"/>
            <p:cNvSpPr/>
            <p:nvPr/>
          </p:nvSpPr>
          <p:spPr bwMode="auto">
            <a:xfrm>
              <a:off x="6516280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14" name="直接连接符 21"/>
            <p:cNvCxnSpPr/>
            <p:nvPr/>
          </p:nvCxnSpPr>
          <p:spPr bwMode="auto">
            <a:xfrm rot="5400000" flipH="1" flipV="1">
              <a:off x="5598120" y="2546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5" name="直接连接符 21"/>
            <p:cNvCxnSpPr/>
            <p:nvPr/>
          </p:nvCxnSpPr>
          <p:spPr bwMode="auto">
            <a:xfrm rot="5400000" flipH="1" flipV="1">
              <a:off x="4806112" y="254689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6" name="直接连接符 215"/>
            <p:cNvCxnSpPr/>
            <p:nvPr/>
          </p:nvCxnSpPr>
          <p:spPr bwMode="auto">
            <a:xfrm flipH="1">
              <a:off x="2195736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/>
          </p:nvCxnSpPr>
          <p:spPr bwMode="auto">
            <a:xfrm flipH="1">
              <a:off x="2988040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8" name="直接连接符 217"/>
            <p:cNvCxnSpPr/>
            <p:nvPr/>
          </p:nvCxnSpPr>
          <p:spPr bwMode="auto">
            <a:xfrm flipH="1">
              <a:off x="3780056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4572216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5364232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21" name="Text Box 399"/>
            <p:cNvSpPr txBox="1">
              <a:spLocks noChangeArrowheads="1"/>
            </p:cNvSpPr>
            <p:nvPr/>
          </p:nvSpPr>
          <p:spPr bwMode="auto">
            <a:xfrm>
              <a:off x="4068248" y="126876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4436368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3" name="直接连接符 140"/>
            <p:cNvCxnSpPr/>
            <p:nvPr/>
          </p:nvCxnSpPr>
          <p:spPr bwMode="auto">
            <a:xfrm>
              <a:off x="1051992" y="3356968"/>
              <a:ext cx="655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/>
          </p:nvCxnSpPr>
          <p:spPr bwMode="auto">
            <a:xfrm>
              <a:off x="5228456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5" name="直接连接符 224"/>
            <p:cNvCxnSpPr/>
            <p:nvPr/>
          </p:nvCxnSpPr>
          <p:spPr bwMode="auto">
            <a:xfrm>
              <a:off x="6812632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6" name="直接连接符 225"/>
            <p:cNvCxnSpPr/>
            <p:nvPr/>
          </p:nvCxnSpPr>
          <p:spPr bwMode="auto">
            <a:xfrm>
              <a:off x="6020544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7" name="流程图: 手动操作 226"/>
            <p:cNvSpPr/>
            <p:nvPr/>
          </p:nvSpPr>
          <p:spPr bwMode="auto">
            <a:xfrm>
              <a:off x="1124064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8" name="直接连接符 227"/>
            <p:cNvCxnSpPr/>
            <p:nvPr/>
          </p:nvCxnSpPr>
          <p:spPr bwMode="auto">
            <a:xfrm flipH="1">
              <a:off x="1268016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9" name="直接连接符 21"/>
            <p:cNvCxnSpPr/>
            <p:nvPr/>
          </p:nvCxnSpPr>
          <p:spPr bwMode="auto">
            <a:xfrm rot="5400000" flipH="1" flipV="1">
              <a:off x="997992" y="3194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30" name="直接连接符 229"/>
            <p:cNvCxnSpPr/>
            <p:nvPr/>
          </p:nvCxnSpPr>
          <p:spPr bwMode="auto">
            <a:xfrm>
              <a:off x="1556048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1" name="直接连接符 230"/>
            <p:cNvCxnSpPr/>
            <p:nvPr/>
          </p:nvCxnSpPr>
          <p:spPr bwMode="auto">
            <a:xfrm>
              <a:off x="2060104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2" name="直接连接符 231"/>
            <p:cNvCxnSpPr/>
            <p:nvPr/>
          </p:nvCxnSpPr>
          <p:spPr bwMode="auto">
            <a:xfrm>
              <a:off x="2348136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3" name="直接连接符 232"/>
            <p:cNvCxnSpPr/>
            <p:nvPr/>
          </p:nvCxnSpPr>
          <p:spPr bwMode="auto">
            <a:xfrm>
              <a:off x="2852192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4" name="直接连接符 233"/>
            <p:cNvCxnSpPr/>
            <p:nvPr/>
          </p:nvCxnSpPr>
          <p:spPr bwMode="auto">
            <a:xfrm>
              <a:off x="3140224" y="292853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5" name="直接连接符 234"/>
            <p:cNvCxnSpPr/>
            <p:nvPr/>
          </p:nvCxnSpPr>
          <p:spPr bwMode="auto">
            <a:xfrm>
              <a:off x="3644280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6" name="直接连接符 21"/>
            <p:cNvCxnSpPr/>
            <p:nvPr/>
          </p:nvCxnSpPr>
          <p:spPr bwMode="auto">
            <a:xfrm rot="5400000" flipH="1" flipV="1">
              <a:off x="3374256" y="3194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37" name="直接连接符 236"/>
            <p:cNvCxnSpPr/>
            <p:nvPr/>
          </p:nvCxnSpPr>
          <p:spPr bwMode="auto">
            <a:xfrm>
              <a:off x="3932312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8" name="直接连接符 237"/>
            <p:cNvCxnSpPr/>
            <p:nvPr/>
          </p:nvCxnSpPr>
          <p:spPr bwMode="auto">
            <a:xfrm flipH="1">
              <a:off x="1556120" y="278451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39" name="流程图: 手动操作 238"/>
            <p:cNvSpPr/>
            <p:nvPr/>
          </p:nvSpPr>
          <p:spPr bwMode="auto">
            <a:xfrm>
              <a:off x="1916152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0" name="流程图: 手动操作 239"/>
            <p:cNvSpPr/>
            <p:nvPr/>
          </p:nvSpPr>
          <p:spPr bwMode="auto">
            <a:xfrm>
              <a:off x="2708160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1" name="流程图: 手动操作 240"/>
            <p:cNvSpPr/>
            <p:nvPr/>
          </p:nvSpPr>
          <p:spPr bwMode="auto">
            <a:xfrm>
              <a:off x="3500328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2" name="直接连接符 21"/>
            <p:cNvCxnSpPr/>
            <p:nvPr/>
          </p:nvCxnSpPr>
          <p:spPr bwMode="auto">
            <a:xfrm rot="5400000" flipH="1" flipV="1">
              <a:off x="2582168" y="319496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43" name="直接连接符 21"/>
            <p:cNvCxnSpPr/>
            <p:nvPr/>
          </p:nvCxnSpPr>
          <p:spPr bwMode="auto">
            <a:xfrm rot="5400000" flipH="1" flipV="1">
              <a:off x="1790160" y="3194944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244" name="流程图: 手动操作 243"/>
            <p:cNvSpPr/>
            <p:nvPr/>
          </p:nvSpPr>
          <p:spPr bwMode="auto">
            <a:xfrm>
              <a:off x="4292416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5" name="直接连接符 244"/>
            <p:cNvCxnSpPr/>
            <p:nvPr/>
          </p:nvCxnSpPr>
          <p:spPr bwMode="auto">
            <a:xfrm>
              <a:off x="4724400" y="292494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6" name="直接连接符 245"/>
            <p:cNvCxnSpPr/>
            <p:nvPr/>
          </p:nvCxnSpPr>
          <p:spPr bwMode="auto">
            <a:xfrm>
              <a:off x="5516488" y="292492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47" name="直接连接符 246"/>
            <p:cNvCxnSpPr/>
            <p:nvPr/>
          </p:nvCxnSpPr>
          <p:spPr bwMode="auto">
            <a:xfrm>
              <a:off x="6308576" y="292855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48" name="直接连接符 21"/>
            <p:cNvCxnSpPr/>
            <p:nvPr/>
          </p:nvCxnSpPr>
          <p:spPr bwMode="auto">
            <a:xfrm rot="5400000" flipH="1" flipV="1">
              <a:off x="6542608" y="3194944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49" name="直接连接符 248"/>
            <p:cNvCxnSpPr/>
            <p:nvPr/>
          </p:nvCxnSpPr>
          <p:spPr bwMode="auto">
            <a:xfrm>
              <a:off x="7100664" y="292492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250" name="流程图: 手动操作 249"/>
            <p:cNvSpPr/>
            <p:nvPr/>
          </p:nvSpPr>
          <p:spPr bwMode="auto">
            <a:xfrm>
              <a:off x="5084504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1" name="流程图: 手动操作 250"/>
            <p:cNvSpPr/>
            <p:nvPr/>
          </p:nvSpPr>
          <p:spPr bwMode="auto">
            <a:xfrm>
              <a:off x="5876512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2" name="流程图: 手动操作 251"/>
            <p:cNvSpPr/>
            <p:nvPr/>
          </p:nvSpPr>
          <p:spPr bwMode="auto">
            <a:xfrm>
              <a:off x="6668680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53" name="直接连接符 21"/>
            <p:cNvCxnSpPr/>
            <p:nvPr/>
          </p:nvCxnSpPr>
          <p:spPr bwMode="auto">
            <a:xfrm rot="5400000" flipH="1" flipV="1">
              <a:off x="5750520" y="319499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54" name="直接连接符 21"/>
            <p:cNvCxnSpPr/>
            <p:nvPr/>
          </p:nvCxnSpPr>
          <p:spPr bwMode="auto">
            <a:xfrm rot="5400000" flipH="1" flipV="1">
              <a:off x="4958512" y="319496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55" name="直接连接符 254"/>
            <p:cNvCxnSpPr/>
            <p:nvPr/>
          </p:nvCxnSpPr>
          <p:spPr bwMode="auto">
            <a:xfrm flipH="1">
              <a:off x="2348136" y="278092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6" name="直接连接符 255"/>
            <p:cNvCxnSpPr/>
            <p:nvPr/>
          </p:nvCxnSpPr>
          <p:spPr bwMode="auto">
            <a:xfrm flipH="1">
              <a:off x="3140440" y="278451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7" name="直接连接符 256"/>
            <p:cNvCxnSpPr/>
            <p:nvPr/>
          </p:nvCxnSpPr>
          <p:spPr bwMode="auto">
            <a:xfrm flipH="1">
              <a:off x="3932456" y="278092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/>
          </p:nvCxnSpPr>
          <p:spPr bwMode="auto">
            <a:xfrm flipH="1">
              <a:off x="6156176" y="2276872"/>
              <a:ext cx="10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/>
          </p:nvCxnSpPr>
          <p:spPr bwMode="auto">
            <a:xfrm flipH="1">
              <a:off x="4716016" y="2924944"/>
              <a:ext cx="252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/>
          </p:nvCxnSpPr>
          <p:spPr bwMode="auto">
            <a:xfrm>
              <a:off x="1403648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1" name="直接连接符 260"/>
            <p:cNvCxnSpPr/>
            <p:nvPr/>
          </p:nvCxnSpPr>
          <p:spPr bwMode="auto">
            <a:xfrm>
              <a:off x="2195736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/>
          </p:nvCxnSpPr>
          <p:spPr bwMode="auto">
            <a:xfrm>
              <a:off x="2987824" y="3288622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/>
          </p:nvCxnSpPr>
          <p:spPr bwMode="auto">
            <a:xfrm>
              <a:off x="3779912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4" name="Text Box 399"/>
            <p:cNvSpPr txBox="1">
              <a:spLocks noChangeArrowheads="1"/>
            </p:cNvSpPr>
            <p:nvPr/>
          </p:nvSpPr>
          <p:spPr bwMode="auto">
            <a:xfrm>
              <a:off x="1331640" y="357304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5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4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65" name="Text Box 399"/>
            <p:cNvSpPr txBox="1">
              <a:spLocks noChangeArrowheads="1"/>
            </p:cNvSpPr>
            <p:nvPr/>
          </p:nvSpPr>
          <p:spPr bwMode="auto">
            <a:xfrm>
              <a:off x="4500296" y="357304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66" name="Text Box 399"/>
            <p:cNvSpPr txBox="1">
              <a:spLocks noChangeArrowheads="1"/>
            </p:cNvSpPr>
            <p:nvPr/>
          </p:nvSpPr>
          <p:spPr bwMode="auto">
            <a:xfrm>
              <a:off x="7668400" y="2566614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 smtClean="0">
                  <a:solidFill>
                    <a:srgbClr val="FF3399"/>
                  </a:solidFill>
                </a:rPr>
                <a:t>1</a:t>
              </a:r>
              <a:endParaRPr lang="en-US" altLang="zh-CN" sz="1800" baseline="-16000" dirty="0" smtClean="0">
                <a:solidFill>
                  <a:srgbClr val="FF3399"/>
                </a:solidFill>
              </a:endParaRPr>
            </a:p>
          </p:txBody>
        </p:sp>
        <p:sp>
          <p:nvSpPr>
            <p:cNvPr id="267" name="Text Box 399"/>
            <p:cNvSpPr txBox="1">
              <a:spLocks noChangeArrowheads="1"/>
            </p:cNvSpPr>
            <p:nvPr/>
          </p:nvSpPr>
          <p:spPr bwMode="auto">
            <a:xfrm>
              <a:off x="7668400" y="1988840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 smtClean="0">
                  <a:solidFill>
                    <a:srgbClr val="FF3399"/>
                  </a:solidFill>
                </a:rPr>
                <a:t>0</a:t>
              </a:r>
              <a:endParaRPr lang="en-US" altLang="zh-CN" sz="1800" baseline="-16000" dirty="0" smtClean="0">
                <a:solidFill>
                  <a:srgbClr val="FF3399"/>
                </a:solidFill>
              </a:endParaRPr>
            </a:p>
          </p:txBody>
        </p:sp>
        <p:sp>
          <p:nvSpPr>
            <p:cNvPr id="268" name="Text Box 399"/>
            <p:cNvSpPr txBox="1">
              <a:spLocks noChangeArrowheads="1"/>
            </p:cNvSpPr>
            <p:nvPr/>
          </p:nvSpPr>
          <p:spPr bwMode="auto">
            <a:xfrm>
              <a:off x="7668368" y="3212976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 smtClean="0">
                  <a:solidFill>
                    <a:srgbClr val="FF3399"/>
                  </a:solidFill>
                </a:rPr>
                <a:t>2</a:t>
              </a:r>
              <a:endParaRPr lang="en-US" altLang="zh-CN" sz="1800" baseline="-16000" dirty="0" smtClean="0">
                <a:solidFill>
                  <a:srgbClr val="FF3399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9552" y="1628062"/>
            <a:ext cx="3816088" cy="1370256"/>
            <a:chOff x="539552" y="1554536"/>
            <a:chExt cx="3816088" cy="1370256"/>
          </a:xfrm>
        </p:grpSpPr>
        <p:cxnSp>
          <p:nvCxnSpPr>
            <p:cNvPr id="128" name="直接连接符 127"/>
            <p:cNvCxnSpPr/>
            <p:nvPr/>
          </p:nvCxnSpPr>
          <p:spPr bwMode="auto">
            <a:xfrm flipH="1">
              <a:off x="1331728" y="2060848"/>
              <a:ext cx="504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 flipH="1">
              <a:off x="1331816" y="2060848"/>
              <a:ext cx="1296000" cy="144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 bwMode="auto">
            <a:xfrm flipH="1">
              <a:off x="1331712" y="1554536"/>
              <a:ext cx="360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31" name="Text Box 399"/>
            <p:cNvSpPr txBox="1">
              <a:spLocks noChangeArrowheads="1"/>
            </p:cNvSpPr>
            <p:nvPr/>
          </p:nvSpPr>
          <p:spPr bwMode="auto">
            <a:xfrm>
              <a:off x="1043640" y="1556792"/>
              <a:ext cx="288000" cy="1368000"/>
            </a:xfrm>
            <a:prstGeom prst="rect">
              <a:avLst/>
            </a:prstGeom>
            <a:solidFill>
              <a:srgbClr val="FFCC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溢出判断</a:t>
              </a:r>
              <a:endParaRPr lang="en-US" altLang="zh-CN" sz="1800" baseline="-160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269" name="直接连接符 268"/>
            <p:cNvCxnSpPr/>
            <p:nvPr/>
          </p:nvCxnSpPr>
          <p:spPr bwMode="auto">
            <a:xfrm flipH="1">
              <a:off x="1331640" y="2636928"/>
              <a:ext cx="648000" cy="36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0" name="直接连接符 269"/>
            <p:cNvCxnSpPr/>
            <p:nvPr/>
          </p:nvCxnSpPr>
          <p:spPr bwMode="auto">
            <a:xfrm flipH="1">
              <a:off x="1331640" y="2636928"/>
              <a:ext cx="1440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1" name="直接连接符 270"/>
            <p:cNvCxnSpPr/>
            <p:nvPr/>
          </p:nvCxnSpPr>
          <p:spPr bwMode="auto">
            <a:xfrm flipH="1">
              <a:off x="1331640" y="2636928"/>
              <a:ext cx="2232000" cy="108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/>
          </p:nvCxnSpPr>
          <p:spPr bwMode="auto">
            <a:xfrm flipH="1">
              <a:off x="1331640" y="2636912"/>
              <a:ext cx="3024000" cy="144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/>
          </p:nvCxnSpPr>
          <p:spPr bwMode="auto">
            <a:xfrm flipH="1">
              <a:off x="827584" y="2276872"/>
              <a:ext cx="215984" cy="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74" name="Text Box 399"/>
            <p:cNvSpPr txBox="1">
              <a:spLocks noChangeArrowheads="1"/>
            </p:cNvSpPr>
            <p:nvPr/>
          </p:nvSpPr>
          <p:spPr bwMode="auto">
            <a:xfrm>
              <a:off x="539552" y="2132856"/>
              <a:ext cx="2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OF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04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03510" y="3813795"/>
            <a:ext cx="35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为什么不用移位寄存器实现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5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75715" y="3813795"/>
            <a:ext cx="205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性能差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338" grpId="0" bldLvl="0" animBg="1"/>
      <p:bldP spid="132" grpId="0" bldLvl="0" animBg="1"/>
      <p:bldP spid="104" grpId="0" bldLvl="0" animBg="1"/>
      <p:bldP spid="105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E22D-6816-48EB-8EDC-05469F5F8085}" type="slidenum">
              <a:rPr lang="en-US" altLang="zh-CN"/>
            </a:fld>
            <a:endParaRPr lang="en-US" altLang="zh-CN"/>
          </a:p>
        </p:txBody>
      </p:sp>
      <p:sp>
        <p:nvSpPr>
          <p:cNvPr id="393238" name="Text Box 22"/>
          <p:cNvSpPr txBox="1">
            <a:spLocks noChangeArrowheads="1"/>
          </p:cNvSpPr>
          <p:nvPr/>
        </p:nvSpPr>
        <p:spPr bwMode="auto">
          <a:xfrm>
            <a:off x="179388" y="334293"/>
            <a:ext cx="8785225" cy="105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、算术移位</a:t>
            </a:r>
            <a:r>
              <a:rPr lang="en-US" altLang="zh-CN" sz="1800" dirty="0" smtClean="0">
                <a:solidFill>
                  <a:srgbClr val="FF3399"/>
                </a:solidFill>
              </a:rPr>
              <a:t>(</a:t>
            </a:r>
            <a:r>
              <a:rPr lang="en-US" altLang="zh-CN" sz="1800" b="0" dirty="0" smtClean="0">
                <a:solidFill>
                  <a:srgbClr val="FF3399"/>
                </a:solidFill>
                <a:latin typeface="+mn-lt"/>
              </a:rPr>
              <a:t>Arithmetic shift</a:t>
            </a:r>
            <a:r>
              <a:rPr lang="en-US" altLang="zh-CN" sz="1800" dirty="0" smtClean="0">
                <a:solidFill>
                  <a:srgbClr val="FF3399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运算   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运算方法：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393554" name="Group 338"/>
          <p:cNvGraphicFramePr>
            <a:graphicFrameLocks noGrp="1"/>
          </p:cNvGraphicFramePr>
          <p:nvPr/>
        </p:nvGraphicFramePr>
        <p:xfrm>
          <a:off x="1259632" y="4221088"/>
          <a:ext cx="7272808" cy="1224136"/>
        </p:xfrm>
        <a:graphic>
          <a:graphicData uri="http://schemas.openxmlformats.org/drawingml/2006/table">
            <a:tbl>
              <a:tblPr/>
              <a:tblGrid>
                <a:gridCol w="2204945"/>
                <a:gridCol w="649288"/>
                <a:gridCol w="863600"/>
                <a:gridCol w="936625"/>
                <a:gridCol w="97400"/>
                <a:gridCol w="649288"/>
                <a:gridCol w="935037"/>
                <a:gridCol w="936625"/>
              </a:tblGrid>
              <a:tr h="14401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例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0745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98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左移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(Y&lt;&lt;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(Y&gt;&gt;</a:t>
                      </a:r>
                      <a:r>
                        <a:rPr kumimoji="1" lang="en-US" altLang="zh-CN" sz="1800" b="1" i="0" u="none" strike="noStrike" kern="1200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3298" name="Text Box 82"/>
          <p:cNvSpPr txBox="1">
            <a:spLocks noChangeArrowheads="1"/>
          </p:cNvSpPr>
          <p:nvPr/>
        </p:nvSpPr>
        <p:spPr bwMode="auto">
          <a:xfrm>
            <a:off x="2012493" y="829161"/>
            <a:ext cx="695212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机器数</a:t>
            </a:r>
            <a:r>
              <a:rPr lang="zh-CN" altLang="en-US" u="sng" dirty="0" smtClean="0">
                <a:solidFill>
                  <a:srgbClr val="990099"/>
                </a:solidFill>
              </a:rPr>
              <a:t>符号位</a:t>
            </a:r>
            <a:r>
              <a:rPr lang="zh-CN" altLang="en-US" dirty="0" smtClean="0">
                <a:solidFill>
                  <a:schemeClr val="tx1"/>
                </a:solidFill>
              </a:rPr>
              <a:t>不变、</a:t>
            </a:r>
            <a:r>
              <a:rPr lang="zh-CN" altLang="en-US" u="sng" dirty="0" smtClean="0">
                <a:solidFill>
                  <a:srgbClr val="990099"/>
                </a:solidFill>
              </a:rPr>
              <a:t>数值位</a:t>
            </a:r>
            <a:r>
              <a:rPr lang="zh-CN" altLang="en-US" dirty="0" smtClean="0">
                <a:solidFill>
                  <a:schemeClr val="tx1"/>
                </a:solidFill>
              </a:rPr>
              <a:t>整体移位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pc="-100" dirty="0" smtClean="0">
                <a:solidFill>
                  <a:schemeClr val="tx1"/>
                </a:solidFill>
              </a:rPr>
              <a:t>移出</a:t>
            </a:r>
            <a:r>
              <a:rPr lang="zh-CN" altLang="en-US" spc="-100" dirty="0">
                <a:solidFill>
                  <a:schemeClr val="tx1"/>
                </a:solidFill>
              </a:rPr>
              <a:t>的</a:t>
            </a:r>
            <a:r>
              <a:rPr lang="zh-CN" altLang="en-US" spc="-100" dirty="0" smtClean="0">
                <a:solidFill>
                  <a:schemeClr val="tx1"/>
                </a:solidFill>
              </a:rPr>
              <a:t>数位</a:t>
            </a:r>
            <a:r>
              <a:rPr lang="zh-CN" altLang="en-US" u="sng" spc="-100" dirty="0" smtClean="0">
                <a:solidFill>
                  <a:srgbClr val="990099"/>
                </a:solidFill>
              </a:rPr>
              <a:t>丢弃</a:t>
            </a:r>
            <a:r>
              <a:rPr lang="zh-CN" altLang="en-US" spc="-100" dirty="0" smtClean="0">
                <a:solidFill>
                  <a:schemeClr val="tx1"/>
                </a:solidFill>
              </a:rPr>
              <a:t>，出现的</a:t>
            </a:r>
            <a:r>
              <a:rPr lang="zh-CN" altLang="en-US" dirty="0" smtClean="0">
                <a:solidFill>
                  <a:schemeClr val="tx1"/>
                </a:solidFill>
              </a:rPr>
              <a:t>空位</a:t>
            </a:r>
            <a:r>
              <a:rPr lang="zh-CN" altLang="en-US" u="sng" dirty="0">
                <a:solidFill>
                  <a:srgbClr val="990099"/>
                </a:solidFill>
              </a:rPr>
              <a:t>根据</a:t>
            </a:r>
            <a:r>
              <a:rPr lang="zh-CN" altLang="en-US" u="sng" dirty="0" smtClean="0">
                <a:solidFill>
                  <a:srgbClr val="990099"/>
                </a:solidFill>
              </a:rPr>
              <a:t>编码特征添补</a:t>
            </a:r>
            <a:endParaRPr lang="en-US" altLang="zh-CN" u="sng" dirty="0">
              <a:solidFill>
                <a:srgbClr val="990099"/>
              </a:solidFill>
            </a:endParaRPr>
          </a:p>
        </p:txBody>
      </p:sp>
      <p:graphicFrame>
        <p:nvGraphicFramePr>
          <p:cNvPr id="393584" name="Group 368"/>
          <p:cNvGraphicFramePr>
            <a:graphicFrameLocks noGrp="1"/>
          </p:cNvGraphicFramePr>
          <p:nvPr/>
        </p:nvGraphicFramePr>
        <p:xfrm>
          <a:off x="2123728" y="3170794"/>
          <a:ext cx="4896544" cy="889812"/>
        </p:xfrm>
        <a:graphic>
          <a:graphicData uri="http://schemas.openxmlformats.org/drawingml/2006/table">
            <a:tbl>
              <a:tblPr/>
              <a:tblGrid>
                <a:gridCol w="714380"/>
                <a:gridCol w="936625"/>
                <a:gridCol w="1561425"/>
                <a:gridCol w="1684114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左移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右移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原码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保持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补符号位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3572" name="Text Box 356"/>
          <p:cNvSpPr txBox="1">
            <a:spLocks noChangeArrowheads="1"/>
          </p:cNvSpPr>
          <p:nvPr/>
        </p:nvSpPr>
        <p:spPr bwMode="auto">
          <a:xfrm>
            <a:off x="6803603" y="4797152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3573" name="Text Box 357"/>
          <p:cNvSpPr txBox="1">
            <a:spLocks noChangeArrowheads="1"/>
          </p:cNvSpPr>
          <p:nvPr/>
        </p:nvSpPr>
        <p:spPr bwMode="auto">
          <a:xfrm>
            <a:off x="7739707" y="4797152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110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Text Box 356"/>
          <p:cNvSpPr txBox="1">
            <a:spLocks noChangeArrowheads="1"/>
          </p:cNvSpPr>
          <p:nvPr/>
        </p:nvSpPr>
        <p:spPr bwMode="auto">
          <a:xfrm>
            <a:off x="4211315" y="4808139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010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Text Box 357"/>
          <p:cNvSpPr txBox="1">
            <a:spLocks noChangeArrowheads="1"/>
          </p:cNvSpPr>
          <p:nvPr/>
        </p:nvSpPr>
        <p:spPr bwMode="auto">
          <a:xfrm>
            <a:off x="5076056" y="4808139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010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" name="Text Box 103"/>
          <p:cNvSpPr txBox="1">
            <a:spLocks noChangeArrowheads="1"/>
          </p:cNvSpPr>
          <p:nvPr/>
        </p:nvSpPr>
        <p:spPr bwMode="auto">
          <a:xfrm>
            <a:off x="179388" y="5517232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练习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整数用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位补码表示，设</a:t>
            </a:r>
            <a:r>
              <a:rPr lang="en-US" altLang="zh-CN" sz="2200" dirty="0" smtClean="0">
                <a:solidFill>
                  <a:schemeClr val="tx1"/>
                </a:solidFill>
              </a:rPr>
              <a:t>A=+</a:t>
            </a:r>
            <a:r>
              <a:rPr lang="en-US" altLang="zh-CN" sz="2200" dirty="0">
                <a:solidFill>
                  <a:schemeClr val="tx1"/>
                </a:solidFill>
              </a:rPr>
              <a:t>15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en-US" altLang="zh-CN" sz="2200" dirty="0" smtClean="0">
                <a:solidFill>
                  <a:schemeClr val="tx1"/>
                </a:solidFill>
              </a:rPr>
              <a:t>=-25</a:t>
            </a:r>
            <a:r>
              <a:rPr lang="zh-CN" altLang="en-US" sz="2200" dirty="0" smtClean="0">
                <a:solidFill>
                  <a:schemeClr val="tx1"/>
                </a:solidFill>
              </a:rPr>
              <a:t>，写出</a:t>
            </a:r>
            <a:r>
              <a:rPr lang="en-US" altLang="zh-CN" sz="2200" dirty="0" smtClean="0">
                <a:solidFill>
                  <a:schemeClr val="tx1"/>
                </a:solidFill>
              </a:rPr>
              <a:t>B&gt;&gt;1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A+B&lt;&lt;2</a:t>
            </a:r>
            <a:r>
              <a:rPr lang="zh-CN" altLang="en-US" sz="2200" dirty="0" smtClean="0">
                <a:solidFill>
                  <a:schemeClr val="tx1"/>
                </a:solidFill>
              </a:rPr>
              <a:t>的机器数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33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103"/>
          <p:cNvSpPr txBox="1">
            <a:spLocks noChangeArrowheads="1"/>
          </p:cNvSpPr>
          <p:nvPr/>
        </p:nvSpPr>
        <p:spPr bwMode="auto">
          <a:xfrm>
            <a:off x="179512" y="263691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zh-CN" altLang="en-US" dirty="0" smtClean="0">
                <a:solidFill>
                  <a:schemeClr val="accent2"/>
                </a:solidFill>
              </a:rPr>
              <a:t>    空位添补规则</a:t>
            </a:r>
            <a:r>
              <a:rPr lang="en-US" altLang="zh-CN" dirty="0" smtClean="0">
                <a:solidFill>
                  <a:schemeClr val="accent2"/>
                </a:solidFill>
              </a:rPr>
              <a:t>—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有符号机器数</a:t>
            </a:r>
            <a:r>
              <a:rPr lang="en-US" altLang="zh-CN" sz="1800" spc="-30" dirty="0">
                <a:solidFill>
                  <a:schemeClr val="tx1"/>
                </a:solidFill>
              </a:rPr>
              <a:t>×2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1800" spc="-30" dirty="0">
                <a:solidFill>
                  <a:schemeClr val="tx1"/>
                </a:solidFill>
              </a:rPr>
              <a:t>或</a:t>
            </a:r>
            <a:r>
              <a:rPr lang="en-US" altLang="zh-CN" sz="1800" spc="-30" dirty="0">
                <a:solidFill>
                  <a:schemeClr val="tx1"/>
                </a:solidFill>
              </a:rPr>
              <a:t>÷2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123728" y="1844824"/>
            <a:ext cx="5040416" cy="792088"/>
            <a:chOff x="2123728" y="1844824"/>
            <a:chExt cx="5040416" cy="792088"/>
          </a:xfrm>
        </p:grpSpPr>
        <p:sp>
          <p:nvSpPr>
            <p:cNvPr id="13" name="Rectangle 436"/>
            <p:cNvSpPr>
              <a:spLocks noChangeArrowheads="1"/>
            </p:cNvSpPr>
            <p:nvPr/>
          </p:nvSpPr>
          <p:spPr bwMode="auto">
            <a:xfrm>
              <a:off x="2123728" y="184482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36"/>
            <p:cNvSpPr>
              <a:spLocks noChangeArrowheads="1"/>
            </p:cNvSpPr>
            <p:nvPr/>
          </p:nvSpPr>
          <p:spPr bwMode="auto">
            <a:xfrm>
              <a:off x="2555775" y="18448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436"/>
            <p:cNvSpPr>
              <a:spLocks noChangeArrowheads="1"/>
            </p:cNvSpPr>
            <p:nvPr/>
          </p:nvSpPr>
          <p:spPr bwMode="auto">
            <a:xfrm>
              <a:off x="2123728" y="234957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436"/>
            <p:cNvSpPr>
              <a:spLocks noChangeArrowheads="1"/>
            </p:cNvSpPr>
            <p:nvPr/>
          </p:nvSpPr>
          <p:spPr bwMode="auto">
            <a:xfrm>
              <a:off x="2555776" y="23495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436"/>
            <p:cNvSpPr>
              <a:spLocks noChangeArrowheads="1"/>
            </p:cNvSpPr>
            <p:nvPr/>
          </p:nvSpPr>
          <p:spPr bwMode="auto">
            <a:xfrm>
              <a:off x="3851976" y="23488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3"/>
            <p:cNvCxnSpPr/>
            <p:nvPr/>
          </p:nvCxnSpPr>
          <p:spPr bwMode="auto">
            <a:xfrm>
              <a:off x="3059832" y="18448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3"/>
            <p:cNvCxnSpPr/>
            <p:nvPr/>
          </p:nvCxnSpPr>
          <p:spPr bwMode="auto">
            <a:xfrm flipH="1">
              <a:off x="3491880" y="19888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" name="Line 443"/>
            <p:cNvSpPr>
              <a:spLocks noChangeShapeType="1"/>
            </p:cNvSpPr>
            <p:nvPr/>
          </p:nvSpPr>
          <p:spPr bwMode="auto">
            <a:xfrm flipH="1">
              <a:off x="2555776" y="2240840"/>
              <a:ext cx="2143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44"/>
            <p:cNvSpPr>
              <a:spLocks noChangeShapeType="1"/>
            </p:cNvSpPr>
            <p:nvPr/>
          </p:nvSpPr>
          <p:spPr bwMode="auto">
            <a:xfrm flipH="1">
              <a:off x="2771800" y="19888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436"/>
            <p:cNvSpPr>
              <a:spLocks noChangeArrowheads="1"/>
            </p:cNvSpPr>
            <p:nvPr/>
          </p:nvSpPr>
          <p:spPr bwMode="auto">
            <a:xfrm>
              <a:off x="4932040" y="184482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436"/>
            <p:cNvSpPr>
              <a:spLocks noChangeArrowheads="1"/>
            </p:cNvSpPr>
            <p:nvPr/>
          </p:nvSpPr>
          <p:spPr bwMode="auto">
            <a:xfrm>
              <a:off x="5364087" y="18448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436"/>
            <p:cNvSpPr>
              <a:spLocks noChangeArrowheads="1"/>
            </p:cNvSpPr>
            <p:nvPr/>
          </p:nvSpPr>
          <p:spPr bwMode="auto">
            <a:xfrm>
              <a:off x="4932040" y="234957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436"/>
            <p:cNvSpPr>
              <a:spLocks noChangeArrowheads="1"/>
            </p:cNvSpPr>
            <p:nvPr/>
          </p:nvSpPr>
          <p:spPr bwMode="auto">
            <a:xfrm>
              <a:off x="5868144" y="23495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436"/>
            <p:cNvSpPr>
              <a:spLocks noChangeArrowheads="1"/>
            </p:cNvSpPr>
            <p:nvPr/>
          </p:nvSpPr>
          <p:spPr bwMode="auto">
            <a:xfrm>
              <a:off x="5364088" y="23488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接连接符 3"/>
            <p:cNvCxnSpPr/>
            <p:nvPr/>
          </p:nvCxnSpPr>
          <p:spPr bwMode="auto">
            <a:xfrm>
              <a:off x="6660232" y="18448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3"/>
            <p:cNvCxnSpPr/>
            <p:nvPr/>
          </p:nvCxnSpPr>
          <p:spPr bwMode="auto">
            <a:xfrm>
              <a:off x="5796176" y="19888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1" name="Line 443"/>
            <p:cNvSpPr>
              <a:spLocks noChangeShapeType="1"/>
            </p:cNvSpPr>
            <p:nvPr/>
          </p:nvSpPr>
          <p:spPr bwMode="auto">
            <a:xfrm>
              <a:off x="6876255" y="2240840"/>
              <a:ext cx="2878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444"/>
            <p:cNvSpPr>
              <a:spLocks noChangeShapeType="1"/>
            </p:cNvSpPr>
            <p:nvPr/>
          </p:nvSpPr>
          <p:spPr bwMode="auto">
            <a:xfrm flipH="1">
              <a:off x="6876256" y="19888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5" name="直接连接符 3"/>
            <p:cNvCxnSpPr/>
            <p:nvPr/>
          </p:nvCxnSpPr>
          <p:spPr bwMode="auto">
            <a:xfrm>
              <a:off x="2339752" y="2132162"/>
              <a:ext cx="0" cy="21741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直接连接符 3"/>
            <p:cNvCxnSpPr/>
            <p:nvPr/>
          </p:nvCxnSpPr>
          <p:spPr bwMode="auto">
            <a:xfrm>
              <a:off x="5148064" y="2132856"/>
              <a:ext cx="0" cy="21741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98" grpId="0" autoUpdateAnimBg="0"/>
      <p:bldP spid="393572" grpId="0"/>
      <p:bldP spid="393573" grpId="0"/>
      <p:bldP spid="14" grpId="0"/>
      <p:bldP spid="15" grpId="0"/>
      <p:bldP spid="11" grpId="0"/>
      <p:bldP spid="3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6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8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60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02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1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2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262" y="332656"/>
            <a:ext cx="7777114" cy="4044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逻辑实现：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(</a:t>
            </a:r>
            <a:r>
              <a:rPr lang="zh-CN" altLang="en-US" sz="1800" dirty="0" smtClean="0">
                <a:solidFill>
                  <a:srgbClr val="FF3399"/>
                </a:solidFill>
              </a:rPr>
              <a:t>不考虑溢出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溢出</a:t>
            </a:r>
            <a:r>
              <a:rPr lang="zh-CN" altLang="en-US" dirty="0" smtClean="0">
                <a:solidFill>
                  <a:srgbClr val="C00000"/>
                </a:solidFill>
              </a:rPr>
              <a:t>判断：</a:t>
            </a: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>
                <a:solidFill>
                  <a:schemeClr val="accent2"/>
                </a:solidFill>
              </a:rPr>
              <a:t>溢出条件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rgbClr val="990099"/>
              </a:solidFill>
            </a:endParaRPr>
          </a:p>
          <a:p>
            <a:endParaRPr lang="en-US" altLang="zh-CN" sz="1800" dirty="0" smtClean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 smtClean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功能集成的桶形移位器：</a:t>
            </a:r>
            <a:endParaRPr lang="zh-CN" altLang="en-US" dirty="0" smtClean="0">
              <a:solidFill>
                <a:srgbClr val="C00000"/>
              </a:solidFill>
            </a:endParaRPr>
          </a:p>
        </p:txBody>
      </p:sp>
      <p:sp>
        <p:nvSpPr>
          <p:cNvPr id="5" name="Text Box 42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07870" y="356235"/>
            <a:ext cx="690181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chemeClr val="tx1"/>
                </a:solidFill>
              </a:rPr>
              <a:t>符号与数值位</a:t>
            </a:r>
            <a:r>
              <a:rPr lang="zh-CN" altLang="en-US" u="sng" dirty="0">
                <a:solidFill>
                  <a:srgbClr val="0070C0"/>
                </a:solidFill>
              </a:rPr>
              <a:t>一起</a:t>
            </a:r>
            <a:r>
              <a:rPr lang="zh-CN" altLang="en-US" u="sng" dirty="0" smtClean="0">
                <a:solidFill>
                  <a:srgbClr val="0070C0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←便于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复用</a:t>
            </a:r>
            <a:r>
              <a:rPr lang="zh-CN" altLang="en-US" sz="1800" dirty="0" smtClean="0">
                <a:solidFill>
                  <a:schemeClr val="tx1"/>
                </a:solidFill>
              </a:rPr>
              <a:t>逻辑移位电路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442" name="组合 441"/>
          <p:cNvGrpSpPr/>
          <p:nvPr/>
        </p:nvGrpSpPr>
        <p:grpSpPr>
          <a:xfrm>
            <a:off x="2376735" y="871350"/>
            <a:ext cx="1656080" cy="648125"/>
            <a:chOff x="5386" y="2154"/>
            <a:chExt cx="2608" cy="1021"/>
          </a:xfrm>
        </p:grpSpPr>
        <p:sp>
          <p:nvSpPr>
            <p:cNvPr id="443" name="Text Box 44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726" y="2154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n-2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4" name="Rectangle 43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293" y="226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45" name="Rectangle 43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386" y="2268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46" name="Text Box 44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767" y="2268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7" name="直接连接符 3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5953" y="243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8" name="直接连接符 3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7541" y="24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9" name="直接连接符 3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6520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50" name="直接连接符 3"/>
            <p:cNvCxnSpPr/>
            <p:nvPr>
              <p:custDataLst>
                <p:tags r:id="rId11"/>
              </p:custDataLst>
            </p:nvPr>
          </p:nvCxnSpPr>
          <p:spPr bwMode="auto">
            <a:xfrm>
              <a:off x="5953" y="243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51" name="Rectangle 43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93" y="277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52" name="Rectangle 43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386" y="2778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453" name="直接连接符 3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7540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4" name="直接连接符 3"/>
            <p:cNvCxnSpPr/>
            <p:nvPr>
              <p:custDataLst>
                <p:tags r:id="rId15"/>
              </p:custDataLst>
            </p:nvPr>
          </p:nvCxnSpPr>
          <p:spPr bwMode="auto">
            <a:xfrm>
              <a:off x="6522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55" name="直接连接符 3"/>
            <p:cNvCxnSpPr/>
            <p:nvPr>
              <p:custDataLst>
                <p:tags r:id="rId16"/>
              </p:custDataLst>
            </p:nvPr>
          </p:nvCxnSpPr>
          <p:spPr bwMode="auto">
            <a:xfrm>
              <a:off x="7880" y="294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56" name="直接连接符 3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614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57" name="组合 456"/>
          <p:cNvGrpSpPr/>
          <p:nvPr/>
        </p:nvGrpSpPr>
        <p:grpSpPr>
          <a:xfrm>
            <a:off x="4680735" y="871350"/>
            <a:ext cx="2087245" cy="692150"/>
            <a:chOff x="8844" y="2154"/>
            <a:chExt cx="3287" cy="1090"/>
          </a:xfrm>
        </p:grpSpPr>
        <p:cxnSp>
          <p:nvCxnSpPr>
            <p:cNvPr id="458" name="直接连接符 3"/>
            <p:cNvCxnSpPr/>
            <p:nvPr>
              <p:custDataLst>
                <p:tags r:id="rId18"/>
              </p:custDataLst>
            </p:nvPr>
          </p:nvCxnSpPr>
          <p:spPr bwMode="auto">
            <a:xfrm>
              <a:off x="10035" y="2948"/>
              <a:ext cx="0" cy="29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59" name="直接连接符 3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8844" y="2452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60" name="Text Box 44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864" y="2154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n-2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1" name="Text Box 44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957" y="2154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n-1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2" name="Rectangle 43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431" y="226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63" name="Rectangle 436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524" y="2268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64" name="Text Box 44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1905" y="2268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65" name="直接连接符 3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1679" y="24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6" name="直接连接符 3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10658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67" name="Rectangle 43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431" y="277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468" name="Rectangle 436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524" y="2778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469" name="直接连接符 3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11678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0" name="直接连接符 3"/>
            <p:cNvCxnSpPr/>
            <p:nvPr>
              <p:custDataLst>
                <p:tags r:id="rId30"/>
              </p:custDataLst>
            </p:nvPr>
          </p:nvCxnSpPr>
          <p:spPr bwMode="auto">
            <a:xfrm>
              <a:off x="10660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1" name="直接连接符 3"/>
            <p:cNvCxnSpPr/>
            <p:nvPr>
              <p:custDataLst>
                <p:tags r:id="rId31"/>
              </p:custDataLst>
            </p:nvPr>
          </p:nvCxnSpPr>
          <p:spPr bwMode="auto">
            <a:xfrm>
              <a:off x="12018" y="294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2" name="直接连接符 3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9752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3" name="直接连接符 3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9751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4" name="直接连接符 3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9524" y="243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5" name="直接连接符 3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9184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6" name="直接连接符 3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9524" y="294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7" name="直接连接符 3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9184" y="3231"/>
              <a:ext cx="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8" name="直接连接符 3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9184" y="294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79" name="右箭头 478"/>
          <p:cNvSpPr/>
          <p:nvPr>
            <p:custDataLst>
              <p:tags r:id="rId39"/>
            </p:custDataLst>
          </p:nvPr>
        </p:nvSpPr>
        <p:spPr>
          <a:xfrm>
            <a:off x="4212735" y="1123350"/>
            <a:ext cx="360045" cy="216535"/>
          </a:xfrm>
          <a:prstGeom prst="right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720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232248" y="1800000"/>
            <a:ext cx="6911752" cy="2536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zh-CN" altLang="en-US" u="sng" dirty="0" smtClean="0">
                <a:solidFill>
                  <a:schemeClr val="tx1"/>
                </a:solidFill>
              </a:rPr>
              <a:t>左移</a:t>
            </a:r>
            <a:r>
              <a:rPr lang="zh-CN" altLang="en-US" dirty="0" smtClean="0">
                <a:solidFill>
                  <a:schemeClr val="tx1"/>
                </a:solidFill>
              </a:rPr>
              <a:t>时移丢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sz="1600" dirty="0" smtClean="0">
                <a:solidFill>
                  <a:schemeClr val="tx1"/>
                </a:solidFill>
                <a:sym typeface="+mn-ea"/>
              </a:rPr>
              <a:t>指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a</a:t>
            </a:r>
            <a:r>
              <a:rPr lang="en-US" altLang="zh-CN" sz="1600" baseline="-25000" dirty="0" smtClean="0">
                <a:solidFill>
                  <a:schemeClr val="tx1"/>
                </a:solidFill>
                <a:sym typeface="+mn-ea"/>
              </a:rPr>
              <a:t>n-2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u="sng" dirty="0" smtClean="0">
                <a:solidFill>
                  <a:srgbClr val="990099"/>
                </a:solidFill>
              </a:rPr>
              <a:t>与</a:t>
            </a:r>
            <a:r>
              <a:rPr lang="zh-CN" altLang="en-US" u="sng" dirty="0" smtClean="0">
                <a:solidFill>
                  <a:srgbClr val="990099"/>
                </a:solidFill>
              </a:rPr>
              <a:t>符号</a:t>
            </a:r>
            <a:r>
              <a:rPr lang="zh-CN" altLang="en-US" u="sng" dirty="0">
                <a:solidFill>
                  <a:srgbClr val="990099"/>
                </a:solidFill>
              </a:rPr>
              <a:t>位</a:t>
            </a:r>
            <a:r>
              <a:rPr lang="zh-CN" altLang="en-US" u="sng" dirty="0" smtClean="0">
                <a:solidFill>
                  <a:srgbClr val="990099"/>
                </a:solidFill>
              </a:rPr>
              <a:t>相反</a:t>
            </a:r>
            <a:r>
              <a:rPr lang="zh-CN" altLang="en-US" u="sng" dirty="0" smtClean="0">
                <a:solidFill>
                  <a:srgbClr val="990099"/>
                </a:solidFill>
              </a:rPr>
              <a:t>的</a:t>
            </a:r>
            <a:r>
              <a:rPr lang="zh-CN" altLang="en-US" u="sng" dirty="0" smtClean="0">
                <a:solidFill>
                  <a:srgbClr val="990099"/>
                </a:solidFill>
              </a:rPr>
              <a:t>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z="2000" dirty="0" smtClean="0">
                <a:solidFill>
                  <a:srgbClr val="990099"/>
                </a:solidFill>
              </a:rPr>
              <a:t>  例：</a:t>
            </a:r>
            <a:r>
              <a:rPr lang="zh-CN" altLang="en-US" sz="2000" dirty="0" smtClean="0">
                <a:solidFill>
                  <a:schemeClr val="tx1"/>
                </a:solidFill>
              </a:rPr>
              <a:t>连续</a:t>
            </a:r>
            <a:r>
              <a:rPr lang="en-US" altLang="zh-CN" sz="2000" dirty="0" smtClean="0">
                <a:solidFill>
                  <a:schemeClr val="tx1"/>
                </a:solidFill>
              </a:rPr>
              <a:t>&lt;&lt;</a:t>
            </a:r>
            <a:r>
              <a:rPr lang="en-US" altLang="zh-CN" sz="2000" baseline="-18000" dirty="0" smtClean="0">
                <a:solidFill>
                  <a:schemeClr val="tx1"/>
                </a:solidFill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11</a:t>
            </a:r>
            <a:r>
              <a:rPr lang="zh-CN" altLang="en-US" sz="2000" dirty="0">
                <a:solidFill>
                  <a:schemeClr val="tx1"/>
                </a:solidFill>
              </a:rPr>
              <a:t>→</a:t>
            </a:r>
            <a:r>
              <a:rPr lang="en-US" altLang="zh-CN" sz="2000" dirty="0">
                <a:solidFill>
                  <a:srgbClr val="990099"/>
                </a:solidFill>
              </a:rPr>
              <a:t>0</a:t>
            </a:r>
            <a:r>
              <a:rPr lang="en-US" altLang="zh-CN" sz="2000" dirty="0">
                <a:solidFill>
                  <a:srgbClr val="FF3399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10</a:t>
            </a:r>
            <a:r>
              <a:rPr lang="zh-CN" altLang="en-US" sz="2000" dirty="0" smtClean="0">
                <a:solidFill>
                  <a:schemeClr val="tx1"/>
                </a:solidFill>
              </a:rPr>
              <a:t>→</a:t>
            </a:r>
            <a:r>
              <a:rPr lang="en-US" altLang="zh-CN" sz="2000" dirty="0" smtClean="0">
                <a:solidFill>
                  <a:schemeClr val="tx1"/>
                </a:solidFill>
              </a:rPr>
              <a:t>1100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01</a:t>
            </a:r>
            <a:r>
              <a:rPr lang="zh-CN" altLang="en-US" sz="2000" dirty="0">
                <a:solidFill>
                  <a:schemeClr val="tx1"/>
                </a:solidFill>
              </a:rPr>
              <a:t>→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</a:t>
            </a:r>
            <a:r>
              <a:rPr lang="zh-CN" altLang="en-US" sz="2000" dirty="0" smtClean="0">
                <a:solidFill>
                  <a:schemeClr val="tx1"/>
                </a:solidFill>
              </a:rPr>
              <a:t>→</a:t>
            </a:r>
            <a:r>
              <a:rPr lang="en-US" altLang="zh-CN" sz="2000" dirty="0" smtClean="0">
                <a:solidFill>
                  <a:schemeClr val="tx1"/>
                </a:solidFill>
              </a:rPr>
              <a:t>0100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      +3    +6     </a:t>
            </a:r>
            <a:r>
              <a:rPr lang="en-US" altLang="zh-CN" sz="1800" dirty="0" smtClean="0">
                <a:solidFill>
                  <a:srgbClr val="FF3399"/>
                </a:solidFill>
              </a:rPr>
              <a:t>-4</a:t>
            </a: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en-US" altLang="zh-CN" sz="1800" dirty="0" smtClean="0">
                <a:solidFill>
                  <a:schemeClr val="tx1"/>
                </a:solidFill>
              </a:rPr>
              <a:t>-3    -6    </a:t>
            </a:r>
            <a:r>
              <a:rPr lang="en-US" altLang="zh-CN" sz="1800" dirty="0" smtClean="0">
                <a:solidFill>
                  <a:srgbClr val="FF3399"/>
                </a:solidFill>
              </a:rPr>
              <a:t>+4</a:t>
            </a:r>
            <a:endParaRPr lang="en-US" altLang="zh-CN" sz="1800" dirty="0" smtClean="0">
              <a:solidFill>
                <a:srgbClr val="FF3399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类似于</a:t>
            </a:r>
            <a:r>
              <a:rPr lang="zh-CN" altLang="en-US" dirty="0">
                <a:solidFill>
                  <a:schemeClr val="tx1"/>
                </a:solidFill>
              </a:rPr>
              <a:t>逻辑移位</a:t>
            </a:r>
            <a:r>
              <a:rPr lang="zh-CN" altLang="en-US" dirty="0" smtClean="0">
                <a:solidFill>
                  <a:schemeClr val="tx1"/>
                </a:solidFill>
              </a:rPr>
              <a:t>，判断最高位与其余位</a:t>
            </a:r>
            <a:r>
              <a:rPr lang="en-US" altLang="zh-CN" sz="1800" dirty="0" smtClean="0">
                <a:solidFill>
                  <a:schemeClr val="tx1"/>
                </a:solidFill>
              </a:rPr>
              <a:t>(n-2</a:t>
            </a:r>
            <a:r>
              <a:rPr lang="zh-CN" altLang="en-US" sz="1800" dirty="0" smtClean="0">
                <a:solidFill>
                  <a:schemeClr val="tx1"/>
                </a:solidFill>
              </a:rPr>
              <a:t>位起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spc="-50" dirty="0" smtClean="0">
                <a:solidFill>
                  <a:schemeClr val="tx1"/>
                </a:solidFill>
              </a:rPr>
              <a:t>OF</a:t>
            </a:r>
            <a:r>
              <a:rPr lang="zh-CN" altLang="en-US" sz="2000" spc="-5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D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⊕(S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k-1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(D</a:t>
            </a:r>
            <a:r>
              <a:rPr lang="en-US" altLang="zh-CN" sz="2000" spc="-5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+…+</a:t>
            </a:r>
            <a:r>
              <a:rPr lang="en-US" altLang="zh-CN" sz="2000" spc="-50" dirty="0" err="1">
                <a:solidFill>
                  <a:schemeClr val="tx1"/>
                </a:solidFill>
              </a:rPr>
              <a:t>D</a:t>
            </a:r>
            <a:r>
              <a:rPr lang="en-US" altLang="zh-CN" sz="2000" spc="-50" dirty="0" err="1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spc="-5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000" spc="-50" baseline="-18000" dirty="0">
                <a:solidFill>
                  <a:schemeClr val="tx1"/>
                </a:solidFill>
              </a:rPr>
              <a:t>/2</a:t>
            </a:r>
            <a:r>
              <a:rPr lang="en-US" altLang="zh-CN" sz="2000" spc="-50" dirty="0">
                <a:solidFill>
                  <a:schemeClr val="tx1"/>
                </a:solidFill>
              </a:rPr>
              <a:t>)+S</a:t>
            </a:r>
            <a:r>
              <a:rPr lang="en-US" altLang="zh-CN" sz="2000" spc="-50" baseline="-18000" dirty="0">
                <a:solidFill>
                  <a:schemeClr val="tx1"/>
                </a:solidFill>
              </a:rPr>
              <a:t>k-2</a:t>
            </a:r>
            <a:r>
              <a:rPr lang="en-US" altLang="zh-CN" sz="2000" spc="-50" dirty="0">
                <a:solidFill>
                  <a:schemeClr val="tx1"/>
                </a:solidFill>
              </a:rPr>
              <a:t>(D</a:t>
            </a:r>
            <a:r>
              <a:rPr lang="zh-CN" altLang="en-US" sz="2000" spc="-5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+…+</a:t>
            </a:r>
            <a:r>
              <a:rPr lang="en-US" altLang="zh-CN" sz="2000" spc="-50" dirty="0">
                <a:solidFill>
                  <a:schemeClr val="tx1"/>
                </a:solidFill>
              </a:rPr>
              <a:t>D</a:t>
            </a:r>
            <a:r>
              <a:rPr lang="zh-CN" altLang="en-US" sz="2000" spc="-5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000" spc="-50" baseline="-18000" dirty="0">
                <a:solidFill>
                  <a:schemeClr val="tx1"/>
                </a:solidFill>
              </a:rPr>
              <a:t>3n/4</a:t>
            </a:r>
            <a:r>
              <a:rPr lang="en-US" altLang="zh-CN" sz="2000" spc="-50" dirty="0">
                <a:solidFill>
                  <a:schemeClr val="tx1"/>
                </a:solidFill>
              </a:rPr>
              <a:t>)+…+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S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spc="-50" dirty="0" smtClean="0">
                <a:solidFill>
                  <a:schemeClr val="tx1"/>
                </a:solidFill>
              </a:rPr>
              <a:t>D</a:t>
            </a:r>
            <a:r>
              <a:rPr lang="en-US" altLang="zh-CN" sz="2000" spc="-5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000" dirty="0" smtClean="0">
                <a:solidFill>
                  <a:schemeClr val="tx1"/>
                </a:solidFill>
              </a:rPr>
              <a:t>))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     </a:t>
            </a:r>
            <a:r>
              <a:rPr lang="zh-CN" altLang="en-US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支持逻辑移位及算术移位</a:t>
            </a:r>
            <a:endParaRPr lang="zh-CN" altLang="en-US" dirty="0" smtClean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14" name="组合 513"/>
          <p:cNvGrpSpPr/>
          <p:nvPr/>
        </p:nvGrpSpPr>
        <p:grpSpPr>
          <a:xfrm>
            <a:off x="4144645" y="4391265"/>
            <a:ext cx="2303780" cy="972050"/>
            <a:chOff x="8674" y="5499"/>
            <a:chExt cx="3628" cy="1531"/>
          </a:xfrm>
        </p:grpSpPr>
        <p:sp>
          <p:nvSpPr>
            <p:cNvPr id="515" name="Rectangle 435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674" y="5669"/>
              <a:ext cx="3628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16" name="Rectangle 435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658" y="5896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517" name="Rectangle 436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977" y="5896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518" name="直接连接符 3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1905" y="60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9" name="直接连接符 3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887" y="6066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0" name="直接连接符 3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2132" y="5783"/>
              <a:ext cx="0" cy="28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1" name="直接连接符 3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10205" y="6066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2" name="直接连接符 3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9751" y="60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3" name="直接连接符 3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9977" y="606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4" name="直接连接符 3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8957" y="5783"/>
              <a:ext cx="147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5" name="直接连接符 3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8957" y="5783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6" name="Rectangle 436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9184" y="5896"/>
              <a:ext cx="567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  <a:endParaRPr lang="en-US" altLang="zh-CN" sz="16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27" name="直接连接符 3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8957" y="618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8" name="直接连接符 3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8957" y="59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9" name="Text Box 442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731" y="6009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0" name="直接连接符 3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0431" y="5783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531" name="直接连接符 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468" y="623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32" name="Text Box 432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844" y="6576"/>
              <a:ext cx="3288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逻辑右移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算术右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移</a:t>
              </a:r>
              <a:endParaRPr lang="zh-CN" altLang="en-US" sz="18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33" name="直接连接符 3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10091" y="623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4" name="直接连接符 3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1225" y="623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5" name="直接连接符 3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10091" y="5499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6" name="直接连接符 3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11225" y="5499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537" name="组合 536"/>
          <p:cNvGrpSpPr/>
          <p:nvPr/>
        </p:nvGrpSpPr>
        <p:grpSpPr>
          <a:xfrm>
            <a:off x="1552575" y="4391265"/>
            <a:ext cx="2087880" cy="972185"/>
            <a:chOff x="4592" y="5499"/>
            <a:chExt cx="3288" cy="1531"/>
          </a:xfrm>
        </p:grpSpPr>
        <p:sp>
          <p:nvSpPr>
            <p:cNvPr id="538" name="Rectangle 435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819" y="5669"/>
              <a:ext cx="2835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39" name="Text Box 43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4592" y="6576"/>
              <a:ext cx="3288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逻辑左移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算术左移</a:t>
              </a:r>
              <a:endParaRPr lang="zh-CN" altLang="en-US" sz="18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40" name="直接连接符 3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4989" y="606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1" name="Rectangle 435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896" y="5895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542" name="Rectangle 436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5215" y="5895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543" name="Text Box 442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7370" y="5895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4" name="直接连接符 3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7144" y="6080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5" name="直接连接符 3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6123" y="6065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6" name="直接连接符 3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5442" y="6065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7" name="直接连接符 3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5215" y="6065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8" name="直接连接符 3"/>
            <p:cNvCxnSpPr/>
            <p:nvPr>
              <p:custDataLst>
                <p:tags r:id="rId73"/>
              </p:custDataLst>
            </p:nvPr>
          </p:nvCxnSpPr>
          <p:spPr bwMode="auto">
            <a:xfrm flipH="1" flipV="1">
              <a:off x="5724" y="5782"/>
              <a:ext cx="2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549" name="直接连接符 3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4989" y="578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50" name="直接连接符 3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5329" y="623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1" name="直接连接符 3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6463" y="623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2" name="直接连接符 3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5329" y="5499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3" name="直接连接符 3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6463" y="5499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8" name="Text Box 216"/>
          <p:cNvSpPr txBox="1"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755576" y="5950441"/>
            <a:ext cx="3348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lang="zh-CN" altLang="en-US" sz="2000" dirty="0" smtClean="0"/>
              <a:t>作业</a:t>
            </a:r>
            <a:r>
              <a:rPr lang="en-US" altLang="zh-CN" sz="2000" dirty="0" smtClean="0"/>
              <a:t>2-3</a:t>
            </a:r>
            <a:r>
              <a:rPr lang="zh-CN" altLang="en-US" sz="2000" dirty="0" smtClean="0"/>
              <a:t>：</a:t>
            </a:r>
            <a:r>
              <a:rPr lang="en-US" altLang="zh-CN" sz="2000" dirty="0" smtClean="0">
                <a:solidFill>
                  <a:schemeClr val="tx1"/>
                </a:solidFill>
              </a:rPr>
              <a:t>P87—23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26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27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cxnSp>
        <p:nvCxnSpPr>
          <p:cNvPr id="3" name="直接连接符 3"/>
          <p:cNvCxnSpPr/>
          <p:nvPr>
            <p:custDataLst>
              <p:tags r:id="rId80"/>
            </p:custDataLst>
          </p:nvPr>
        </p:nvCxnSpPr>
        <p:spPr bwMode="auto">
          <a:xfrm flipH="1" flipV="1">
            <a:off x="901225" y="1132807"/>
            <a:ext cx="0" cy="324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D2E97-C701-404B-8BE7-893FE5FACAAF}" type="slidenum">
              <a:rPr lang="en-US" altLang="zh-CN"/>
            </a:fld>
            <a:endParaRPr lang="en-US" altLang="zh-CN"/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 smtClean="0"/>
              <a:t>三、</a:t>
            </a:r>
            <a:r>
              <a:rPr lang="zh-CN" altLang="en-US" sz="2400" dirty="0"/>
              <a:t>定点乘法运算</a:t>
            </a:r>
            <a:endParaRPr lang="zh-CN" altLang="en-US" sz="2400" dirty="0"/>
          </a:p>
        </p:txBody>
      </p:sp>
      <p:sp>
        <p:nvSpPr>
          <p:cNvPr id="45" name="Text Box 95"/>
          <p:cNvSpPr txBox="1">
            <a:spLocks noChangeArrowheads="1"/>
          </p:cNvSpPr>
          <p:nvPr/>
        </p:nvSpPr>
        <p:spPr bwMode="auto">
          <a:xfrm>
            <a:off x="179388" y="836712"/>
            <a:ext cx="8857108" cy="8432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chemeClr val="accent2"/>
                </a:solidFill>
              </a:rPr>
              <a:t>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无符号乘法、补码乘法、原码乘法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除法</a:t>
            </a:r>
            <a:r>
              <a:rPr lang="zh-CN" altLang="en-US" sz="1800" dirty="0" smtClean="0">
                <a:solidFill>
                  <a:schemeClr val="tx1"/>
                </a:solidFill>
              </a:rPr>
              <a:t>不考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                     (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用于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整数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           (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用于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小数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←基于数据表示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9" name="Text Box 181"/>
          <p:cNvSpPr txBox="1">
            <a:spLocks noChangeArrowheads="1"/>
          </p:cNvSpPr>
          <p:nvPr/>
        </p:nvSpPr>
        <p:spPr bwMode="auto">
          <a:xfrm>
            <a:off x="179388" y="1556792"/>
            <a:ext cx="6446078" cy="47089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机器乘法的实现需求：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硬件为定长运算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u="sng" dirty="0">
                <a:solidFill>
                  <a:srgbClr val="990099"/>
                </a:solidFill>
              </a:rPr>
              <a:t>多次累加</a:t>
            </a:r>
            <a:r>
              <a:rPr lang="zh-CN" altLang="en-US" dirty="0">
                <a:solidFill>
                  <a:schemeClr val="tx1"/>
                </a:solidFill>
              </a:rPr>
              <a:t>形成乘积，部分积</a:t>
            </a:r>
            <a:r>
              <a:rPr lang="zh-CN" altLang="en-US" u="sng" dirty="0">
                <a:solidFill>
                  <a:srgbClr val="990099"/>
                </a:solidFill>
              </a:rPr>
              <a:t>移位后再相加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机器乘法的实现方法</a:t>
            </a:r>
            <a:r>
              <a:rPr lang="zh-CN" altLang="en-US" dirty="0" smtClean="0">
                <a:solidFill>
                  <a:srgbClr val="C00000"/>
                </a:solidFill>
              </a:rPr>
              <a:t>：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 smtClean="0">
                <a:solidFill>
                  <a:schemeClr val="tx1"/>
                </a:solidFill>
              </a:rPr>
              <a:t>尽量复用器件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zh-CN" altLang="en-US" u="sng" dirty="0" smtClean="0">
                <a:solidFill>
                  <a:srgbClr val="990099"/>
                </a:solidFill>
              </a:rPr>
              <a:t>循环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zh-CN" altLang="en-US" u="sng" dirty="0">
                <a:solidFill>
                  <a:schemeClr val="accent2"/>
                </a:solidFill>
              </a:rPr>
              <a:t>加法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u="sng" dirty="0">
                <a:solidFill>
                  <a:schemeClr val="accent2"/>
                </a:solidFill>
              </a:rPr>
              <a:t>右移</a:t>
            </a:r>
            <a:r>
              <a:rPr lang="zh-CN" altLang="en-US" dirty="0" smtClean="0">
                <a:solidFill>
                  <a:schemeClr val="tx1"/>
                </a:solidFill>
              </a:rPr>
              <a:t>实现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②</a:t>
            </a:r>
            <a:r>
              <a:rPr lang="zh-CN" altLang="en-US" dirty="0">
                <a:solidFill>
                  <a:schemeClr val="tx1"/>
                </a:solidFill>
              </a:rPr>
              <a:t>加法时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u="sng" dirty="0" smtClean="0">
                <a:solidFill>
                  <a:srgbClr val="990099"/>
                </a:solidFill>
              </a:rPr>
              <a:t>加</a:t>
            </a:r>
            <a:r>
              <a:rPr lang="zh-CN" altLang="en-US" dirty="0" smtClean="0">
                <a:solidFill>
                  <a:schemeClr val="tx1"/>
                </a:solidFill>
              </a:rPr>
              <a:t>被乘数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155825" indent="-2155825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③</a:t>
            </a:r>
            <a:r>
              <a:rPr lang="zh-CN" altLang="en-US" dirty="0">
                <a:solidFill>
                  <a:schemeClr val="tx1"/>
                </a:solidFill>
              </a:rPr>
              <a:t>右移时，</a:t>
            </a:r>
            <a:r>
              <a:rPr lang="zh-CN" altLang="en-US" dirty="0">
                <a:solidFill>
                  <a:srgbClr val="0070C0"/>
                </a:solidFill>
              </a:rPr>
              <a:t>加法进位</a:t>
            </a:r>
            <a:r>
              <a:rPr lang="zh-CN" altLang="en-US" dirty="0">
                <a:solidFill>
                  <a:schemeClr val="tx1"/>
                </a:solidFill>
              </a:rPr>
              <a:t>、部分积</a:t>
            </a:r>
            <a:r>
              <a:rPr lang="zh-CN" altLang="en-US" dirty="0" smtClean="0">
                <a:solidFill>
                  <a:schemeClr val="tx1"/>
                </a:solidFill>
              </a:rPr>
              <a:t>高位、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155825" indent="-2155825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     </a:t>
            </a:r>
            <a:r>
              <a:rPr lang="zh-CN" altLang="en-US" dirty="0" smtClean="0">
                <a:solidFill>
                  <a:schemeClr val="tx1"/>
                </a:solidFill>
              </a:rPr>
              <a:t>部分</a:t>
            </a:r>
            <a:r>
              <a:rPr lang="zh-CN" altLang="en-US" dirty="0">
                <a:solidFill>
                  <a:schemeClr val="tx1"/>
                </a:solidFill>
              </a:rPr>
              <a:t>积低位</a:t>
            </a:r>
            <a:r>
              <a:rPr lang="zh-CN" altLang="en-US" u="sng" dirty="0">
                <a:solidFill>
                  <a:srgbClr val="990099"/>
                </a:solidFill>
              </a:rPr>
              <a:t>一起</a:t>
            </a:r>
            <a:r>
              <a:rPr lang="zh-CN" altLang="en-US" u="sng" dirty="0" smtClean="0">
                <a:solidFill>
                  <a:srgbClr val="990099"/>
                </a:solidFill>
              </a:rPr>
              <a:t>右移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155825" indent="-2155825"/>
            <a:endParaRPr lang="en-US" altLang="zh-CN" dirty="0">
              <a:solidFill>
                <a:schemeClr val="tx1"/>
              </a:solidFill>
            </a:endParaRPr>
          </a:p>
          <a:p>
            <a:pPr marL="2155825" indent="-2155825"/>
            <a:endParaRPr lang="en-US" altLang="zh-CN" dirty="0" smtClean="0">
              <a:solidFill>
                <a:schemeClr val="tx1"/>
              </a:solidFill>
            </a:endParaRPr>
          </a:p>
          <a:p>
            <a:pPr marL="2155825" indent="-2155825"/>
            <a:r>
              <a:rPr lang="zh-CN" altLang="en-US" sz="1800" b="0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0" spc="200" dirty="0" smtClean="0">
                <a:solidFill>
                  <a:schemeClr val="tx1"/>
                </a:solidFill>
              </a:rPr>
              <a:t>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0" name="Text Box 151"/>
          <p:cNvSpPr txBox="1">
            <a:spLocks noChangeArrowheads="1"/>
          </p:cNvSpPr>
          <p:nvPr/>
        </p:nvSpPr>
        <p:spPr bwMode="auto">
          <a:xfrm>
            <a:off x="179512" y="4797152"/>
            <a:ext cx="8785101" cy="15951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机器乘法</a:t>
            </a:r>
            <a:r>
              <a:rPr lang="zh-CN" altLang="en-US" dirty="0" smtClean="0">
                <a:solidFill>
                  <a:srgbClr val="C00000"/>
                </a:solidFill>
              </a:rPr>
              <a:t>的类型</a:t>
            </a:r>
            <a:r>
              <a:rPr lang="zh-CN" altLang="en-US" dirty="0" smtClean="0">
                <a:solidFill>
                  <a:srgbClr val="C00000"/>
                </a:solidFill>
              </a:rPr>
              <a:t>：   </a:t>
            </a:r>
            <a:r>
              <a:rPr lang="en-US" altLang="zh-CN" sz="1800" dirty="0" smtClean="0">
                <a:solidFill>
                  <a:schemeClr val="tx1"/>
                </a:solidFill>
              </a:rPr>
              <a:t>—</a:t>
            </a:r>
            <a:r>
              <a:rPr lang="zh-CN" altLang="en-US" sz="1800" dirty="0" smtClean="0">
                <a:solidFill>
                  <a:schemeClr val="tx1"/>
                </a:solidFill>
              </a:rPr>
              <a:t>基于每次所乘的位数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位、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乘法等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加法器＋移位器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，快速乘法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阵列乘法器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←每次判断</a:t>
            </a:r>
            <a:r>
              <a:rPr lang="en-US" altLang="zh-CN" sz="1800" dirty="0" smtClean="0">
                <a:solidFill>
                  <a:srgbClr val="990099"/>
                </a:solidFill>
              </a:rPr>
              <a:t>2</a:t>
            </a:r>
            <a:r>
              <a:rPr lang="zh-CN" altLang="en-US" sz="1800" dirty="0" smtClean="0">
                <a:solidFill>
                  <a:srgbClr val="990099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乘数</a:t>
            </a:r>
            <a:r>
              <a:rPr lang="zh-CN" altLang="en-US" sz="1800" dirty="0">
                <a:solidFill>
                  <a:schemeClr val="tx1"/>
                </a:solidFill>
              </a:rPr>
              <a:t>、加</a:t>
            </a:r>
            <a:r>
              <a:rPr lang="en-US" altLang="zh-CN" sz="1800" dirty="0">
                <a:solidFill>
                  <a:schemeClr val="tx1"/>
                </a:solidFill>
              </a:rPr>
              <a:t>0/A/2A/3A</a:t>
            </a:r>
            <a:r>
              <a:rPr lang="zh-CN" altLang="en-US" sz="1800" dirty="0">
                <a:solidFill>
                  <a:schemeClr val="tx1"/>
                </a:solidFill>
              </a:rPr>
              <a:t>、右移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位，循环</a:t>
            </a:r>
            <a:r>
              <a:rPr lang="en-US" altLang="zh-CN" sz="1800" dirty="0">
                <a:solidFill>
                  <a:srgbClr val="990099"/>
                </a:solidFill>
              </a:rPr>
              <a:t>n/2</a:t>
            </a:r>
            <a:r>
              <a:rPr lang="zh-CN" altLang="en-US" sz="1800" dirty="0" smtClean="0">
                <a:solidFill>
                  <a:srgbClr val="990099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←每次判断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zh-CN" altLang="en-US" sz="1800" dirty="0">
                <a:solidFill>
                  <a:srgbClr val="990099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乘数、加</a:t>
            </a:r>
            <a:r>
              <a:rPr lang="en-US" altLang="zh-CN" sz="1800" dirty="0" smtClean="0">
                <a:solidFill>
                  <a:schemeClr val="tx1"/>
                </a:solidFill>
              </a:rPr>
              <a:t>0/A</a:t>
            </a:r>
            <a:r>
              <a:rPr lang="zh-CN" altLang="en-US" sz="1800" dirty="0" smtClean="0">
                <a:solidFill>
                  <a:schemeClr val="tx1"/>
                </a:solidFill>
              </a:rPr>
              <a:t>、右移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，循环</a:t>
            </a:r>
            <a:r>
              <a:rPr lang="en-US" altLang="zh-CN" sz="1800" dirty="0" smtClean="0">
                <a:solidFill>
                  <a:srgbClr val="990099"/>
                </a:solidFill>
              </a:rPr>
              <a:t>n</a:t>
            </a:r>
            <a:r>
              <a:rPr lang="zh-CN" altLang="en-US" sz="1800" dirty="0" smtClean="0">
                <a:solidFill>
                  <a:srgbClr val="990099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   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8344" y="4752000"/>
            <a:ext cx="576000" cy="288000"/>
          </a:xfrm>
          <a:prstGeom prst="rect">
            <a:avLst/>
          </a:prstGeom>
        </p:spPr>
        <p:txBody>
          <a:bodyPr wrap="none" lIns="36000" tIns="10800" rIns="18000" bIns="10800" anchor="ctr" anchorCtr="0">
            <a:no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…P3</a:t>
            </a:r>
            <a:endParaRPr lang="zh-CN" altLang="en-US" sz="2000" dirty="0"/>
          </a:p>
        </p:txBody>
      </p:sp>
      <p:sp>
        <p:nvSpPr>
          <p:cNvPr id="132" name="AutoShape 29"/>
          <p:cNvSpPr/>
          <p:nvPr>
            <p:custDataLst>
              <p:tags r:id="rId1"/>
            </p:custDataLst>
          </p:nvPr>
        </p:nvSpPr>
        <p:spPr bwMode="auto">
          <a:xfrm>
            <a:off x="4392000" y="3456000"/>
            <a:ext cx="1764000" cy="252095"/>
          </a:xfrm>
          <a:prstGeom prst="borderCallout2">
            <a:avLst>
              <a:gd name="adj1" fmla="val 48385"/>
              <a:gd name="adj2" fmla="val 332"/>
              <a:gd name="adj3" fmla="val 46468"/>
              <a:gd name="adj4" fmla="val -11397"/>
              <a:gd name="adj5" fmla="val -19526"/>
              <a:gd name="adj6" fmla="val -2928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加法器位置不变时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157595" y="3140710"/>
            <a:ext cx="1440180" cy="1889760"/>
            <a:chOff x="9697" y="4946"/>
            <a:chExt cx="2268" cy="2976"/>
          </a:xfrm>
        </p:grpSpPr>
        <p:sp>
          <p:nvSpPr>
            <p:cNvPr id="3" name="Rectangle 17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0831" y="4946"/>
              <a:ext cx="1134" cy="79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18" name="Rectangle 17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697" y="7498"/>
              <a:ext cx="1077" cy="4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19" name="Rectangle 17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568" y="5839"/>
              <a:ext cx="397" cy="34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0" name="Rectangle 17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171" y="6690"/>
              <a:ext cx="794" cy="34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1" name="Rectangle 17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774" y="7540"/>
              <a:ext cx="1191" cy="34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2" name="Rectangle 20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434" y="5794"/>
              <a:ext cx="1134" cy="79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3" name="Rectangle 21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037" y="6647"/>
              <a:ext cx="1134" cy="79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algn="ctr">
              <a:solidFill>
                <a:srgbClr val="99CCFF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4" name="Rectangle 17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828" y="5839"/>
              <a:ext cx="680" cy="340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5" name="Rectangle 178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488" y="6690"/>
              <a:ext cx="624" cy="340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6" name="Rectangle 17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491" y="5833"/>
              <a:ext cx="283" cy="340"/>
            </a:xfrm>
            <a:prstGeom prst="rect">
              <a:avLst/>
            </a:prstGeom>
            <a:solidFill>
              <a:srgbClr val="FFCC99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7" name="Rectangle 178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091" y="6690"/>
              <a:ext cx="283" cy="340"/>
            </a:xfrm>
            <a:prstGeom prst="rect">
              <a:avLst/>
            </a:prstGeom>
            <a:solidFill>
              <a:srgbClr val="FFCC99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8" name="Rectangle 178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751" y="7540"/>
              <a:ext cx="283" cy="340"/>
            </a:xfrm>
            <a:prstGeom prst="rect">
              <a:avLst/>
            </a:prstGeom>
            <a:solidFill>
              <a:srgbClr val="FFCC99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  <p:sp>
          <p:nvSpPr>
            <p:cNvPr id="29" name="Rectangle 17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091" y="7540"/>
              <a:ext cx="624" cy="340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/>
            </a:p>
          </p:txBody>
        </p:sp>
      </p:grpSp>
      <p:sp>
        <p:nvSpPr>
          <p:cNvPr id="48" name="Text Box 212"/>
          <p:cNvSpPr txBox="1">
            <a:spLocks noChangeArrowheads="1"/>
          </p:cNvSpPr>
          <p:nvPr/>
        </p:nvSpPr>
        <p:spPr bwMode="auto">
          <a:xfrm>
            <a:off x="6012496" y="2564904"/>
            <a:ext cx="3024000" cy="24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1 1 1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u="sng" dirty="0" smtClean="0">
                <a:solidFill>
                  <a:schemeClr val="tx1"/>
                </a:solidFill>
                <a:latin typeface="+mn-ea"/>
                <a:ea typeface="+mn-ea"/>
              </a:rPr>
              <a:t>×    </a:t>
            </a:r>
            <a:r>
              <a:rPr lang="en-US" altLang="zh-CN" sz="2000" u="sng" dirty="0">
                <a:solidFill>
                  <a:schemeClr val="tx1"/>
                </a:solidFill>
                <a:latin typeface="+mn-ea"/>
                <a:ea typeface="+mn-ea"/>
              </a:rPr>
              <a:t>1 </a:t>
            </a:r>
            <a:r>
              <a:rPr lang="en-US" altLang="zh-CN" sz="2000" u="sng" dirty="0" smtClean="0">
                <a:solidFill>
                  <a:schemeClr val="tx1"/>
                </a:solidFill>
                <a:latin typeface="+mn-ea"/>
                <a:ea typeface="+mn-ea"/>
              </a:rPr>
              <a:t>0 1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   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0 0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0 </a:t>
            </a:r>
            <a:r>
              <a:rPr lang="en-US" altLang="zh-CN" sz="2000" dirty="0" smtClean="0">
                <a:solidFill>
                  <a:srgbClr val="990099"/>
                </a:solidFill>
              </a:rPr>
              <a:t>…PO</a:t>
            </a:r>
            <a:r>
              <a:rPr lang="en-US" altLang="zh-CN" sz="1800" dirty="0" smtClean="0">
                <a:solidFill>
                  <a:srgbClr val="990099"/>
                </a:solidFill>
              </a:rPr>
              <a:t>(</a:t>
            </a:r>
            <a:r>
              <a:rPr lang="zh-CN" altLang="en-US" sz="1800" dirty="0" smtClean="0">
                <a:solidFill>
                  <a:srgbClr val="990099"/>
                </a:solidFill>
              </a:rPr>
              <a:t>初值</a:t>
            </a:r>
            <a:r>
              <a:rPr lang="en-US" altLang="zh-CN" sz="1800" dirty="0" smtClean="0">
                <a:solidFill>
                  <a:srgbClr val="990099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2000" u="sng" dirty="0" smtClean="0">
                <a:solidFill>
                  <a:schemeClr val="tx1"/>
                </a:solidFill>
                <a:latin typeface="+mn-ea"/>
                <a:ea typeface="+mn-ea"/>
              </a:rPr>
              <a:t>+ 1 1 1</a:t>
            </a:r>
            <a:endParaRPr lang="en-US" altLang="zh-CN" sz="2000" u="sng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2000" u="sng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accent2"/>
                </a:solidFill>
                <a:latin typeface="+mn-ea"/>
                <a:ea typeface="+mn-ea"/>
              </a:rPr>
              <a:t>1 1 1</a:t>
            </a:r>
            <a:r>
              <a:rPr lang="en-US" altLang="zh-CN" sz="2000" dirty="0">
                <a:solidFill>
                  <a:schemeClr val="accent2"/>
                </a:solidFill>
              </a:rPr>
              <a:t> </a:t>
            </a:r>
            <a:r>
              <a:rPr lang="en-US" altLang="zh-CN" sz="2000" dirty="0">
                <a:solidFill>
                  <a:srgbClr val="990099"/>
                </a:solidFill>
              </a:rPr>
              <a:t>…</a:t>
            </a:r>
            <a:r>
              <a:rPr lang="en-US" altLang="zh-CN" sz="2000" dirty="0" smtClean="0">
                <a:solidFill>
                  <a:srgbClr val="990099"/>
                </a:solidFill>
              </a:rPr>
              <a:t>P1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2000" u="sng" dirty="0" smtClean="0">
                <a:solidFill>
                  <a:schemeClr val="tx1"/>
                </a:solidFill>
                <a:latin typeface="+mn-ea"/>
                <a:ea typeface="+mn-ea"/>
              </a:rPr>
              <a:t>+ 0 0 0</a:t>
            </a:r>
            <a:endParaRPr lang="en-US" altLang="zh-CN" sz="2000" u="sng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2000" u="sng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accent2"/>
                </a:solidFill>
                <a:latin typeface="+mn-ea"/>
                <a:ea typeface="+mn-ea"/>
              </a:rPr>
              <a:t>0 1 1 1 </a:t>
            </a:r>
            <a:r>
              <a:rPr lang="en-US" altLang="zh-CN" sz="2000" dirty="0" smtClean="0">
                <a:solidFill>
                  <a:srgbClr val="990099"/>
                </a:solidFill>
              </a:rPr>
              <a:t>…P2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u="sng" dirty="0" smtClean="0">
                <a:solidFill>
                  <a:schemeClr val="tx1"/>
                </a:solidFill>
                <a:latin typeface="+mn-ea"/>
                <a:ea typeface="+mn-ea"/>
              </a:rPr>
              <a:t>+ 1 </a:t>
            </a:r>
            <a:r>
              <a:rPr lang="en-US" altLang="zh-CN" sz="2000" u="sng" dirty="0">
                <a:solidFill>
                  <a:schemeClr val="tx1"/>
                </a:solidFill>
                <a:latin typeface="+mn-ea"/>
                <a:ea typeface="+mn-ea"/>
              </a:rPr>
              <a:t>1 1</a:t>
            </a:r>
            <a:endParaRPr lang="en-US" altLang="zh-CN" sz="2000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000" spc="600" dirty="0" smtClean="0">
                <a:solidFill>
                  <a:srgbClr val="CC3300"/>
                </a:solidFill>
                <a:uFillTx/>
                <a:latin typeface="+中文正文" charset="0"/>
                <a:ea typeface="+mn-ea"/>
              </a:rPr>
              <a:t> </a:t>
            </a:r>
            <a:r>
              <a:rPr lang="en-US" altLang="zh-CN" sz="2000" u="sng" dirty="0" smtClean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en-US" altLang="zh-CN" sz="2000" baseline="-250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</a:rPr>
              <a:t>0 0 0 1 1</a:t>
            </a:r>
            <a:r>
              <a:rPr lang="en-US" altLang="zh-CN" sz="2000" dirty="0" smtClean="0">
                <a:solidFill>
                  <a:schemeClr val="bg1"/>
                </a:solidFill>
                <a:latin typeface="+mn-ea"/>
                <a:ea typeface="+mn-ea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2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200"/>
          <p:cNvSpPr txBox="1">
            <a:spLocks noChangeArrowheads="1"/>
          </p:cNvSpPr>
          <p:nvPr/>
        </p:nvSpPr>
        <p:spPr bwMode="auto">
          <a:xfrm>
            <a:off x="179512" y="1268760"/>
            <a:ext cx="2511896" cy="45679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 *运算方法：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4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递推公式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实质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16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5816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utoShape 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74881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zh-CN" altLang="en-US" dirty="0" smtClean="0">
                <a:solidFill>
                  <a:srgbClr val="FF3399"/>
                </a:solidFill>
              </a:rPr>
              <a:t>、无符号乘法运算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只讨论</a:t>
            </a:r>
            <a:r>
              <a:rPr lang="zh-CN" altLang="en-US" sz="2000" dirty="0" smtClean="0">
                <a:solidFill>
                  <a:srgbClr val="990099"/>
                </a:solidFill>
              </a:rPr>
              <a:t>整数</a:t>
            </a:r>
            <a:r>
              <a:rPr lang="zh-CN" altLang="en-US" sz="2000" dirty="0" smtClean="0">
                <a:solidFill>
                  <a:schemeClr val="tx1"/>
                </a:solidFill>
              </a:rPr>
              <a:t>一位</a:t>
            </a:r>
            <a:r>
              <a:rPr lang="zh-CN" altLang="en-US" sz="2000" dirty="0" smtClean="0">
                <a:solidFill>
                  <a:schemeClr val="tx1"/>
                </a:solidFill>
              </a:rPr>
              <a:t>乘法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A×B]</a:t>
            </a:r>
            <a:r>
              <a:rPr lang="zh-CN" altLang="en-US" baseline="-16000" dirty="0">
                <a:solidFill>
                  <a:schemeClr val="tx1"/>
                </a:solidFill>
              </a:rPr>
              <a:t>无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[A]</a:t>
            </a:r>
            <a:r>
              <a:rPr lang="zh-CN" altLang="en-US" baseline="-16000" dirty="0">
                <a:solidFill>
                  <a:schemeClr val="tx1"/>
                </a:solidFill>
              </a:rPr>
              <a:t>无</a:t>
            </a:r>
            <a:r>
              <a:rPr lang="en-US" altLang="zh-CN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16000" dirty="0">
                <a:solidFill>
                  <a:schemeClr val="tx1"/>
                </a:solidFill>
              </a:rPr>
              <a:t>无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长度</a:t>
            </a:r>
            <a:r>
              <a:rPr lang="zh-CN" altLang="en-US" dirty="0" smtClean="0">
                <a:solidFill>
                  <a:srgbClr val="990099"/>
                </a:solidFill>
              </a:rPr>
              <a:t>须</a:t>
            </a:r>
            <a:r>
              <a:rPr lang="zh-CN" altLang="en-US" dirty="0" smtClean="0">
                <a:solidFill>
                  <a:schemeClr val="tx1"/>
                </a:solidFill>
              </a:rPr>
              <a:t>相同</a:t>
            </a:r>
            <a:r>
              <a:rPr lang="zh-CN" altLang="en-US" dirty="0">
                <a:solidFill>
                  <a:schemeClr val="tx1"/>
                </a:solidFill>
              </a:rPr>
              <a:t>，结果</a:t>
            </a:r>
            <a:r>
              <a:rPr lang="zh-CN" altLang="en-US" dirty="0">
                <a:solidFill>
                  <a:srgbClr val="990099"/>
                </a:solidFill>
              </a:rPr>
              <a:t>应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en-US" altLang="zh-CN" dirty="0">
                <a:solidFill>
                  <a:schemeClr val="tx1"/>
                </a:solidFill>
              </a:rPr>
              <a:t>2n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AutoShape 29"/>
          <p:cNvSpPr/>
          <p:nvPr/>
        </p:nvSpPr>
        <p:spPr bwMode="auto">
          <a:xfrm>
            <a:off x="4572152" y="1358840"/>
            <a:ext cx="2592136" cy="252000"/>
          </a:xfrm>
          <a:prstGeom prst="borderCallout2">
            <a:avLst>
              <a:gd name="adj1" fmla="val 53314"/>
              <a:gd name="adj2" fmla="val 100072"/>
              <a:gd name="adj3" fmla="val 53422"/>
              <a:gd name="adj4" fmla="val 107377"/>
              <a:gd name="adj5" fmla="val -51925"/>
              <a:gd name="adj6" fmla="val 11323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有时为</a:t>
            </a:r>
            <a:r>
              <a:rPr lang="en-US" altLang="zh-CN" sz="1600" dirty="0" smtClean="0">
                <a:solidFill>
                  <a:schemeClr val="tx1"/>
                </a:solidFill>
              </a:rPr>
              <a:t>n</a:t>
            </a:r>
            <a:r>
              <a:rPr lang="zh-CN" altLang="en-US" sz="1600" dirty="0" smtClean="0">
                <a:solidFill>
                  <a:schemeClr val="tx1"/>
                </a:solidFill>
              </a:rPr>
              <a:t>位</a:t>
            </a:r>
            <a:r>
              <a:rPr lang="en-US" altLang="zh-CN" sz="1600" dirty="0" smtClean="0">
                <a:solidFill>
                  <a:schemeClr val="tx1"/>
                </a:solidFill>
              </a:rPr>
              <a:t>,</a:t>
            </a:r>
            <a:r>
              <a:rPr lang="zh-CN" altLang="en-US" sz="1600" dirty="0" smtClean="0">
                <a:solidFill>
                  <a:schemeClr val="tx1"/>
                </a:solidFill>
              </a:rPr>
              <a:t>如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1600" dirty="0" smtClean="0">
                <a:solidFill>
                  <a:schemeClr val="tx1"/>
                </a:solidFill>
              </a:rPr>
              <a:t>=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r>
              <a:rPr lang="zh-CN" altLang="en-US" sz="1600" dirty="0" smtClean="0">
                <a:solidFill>
                  <a:schemeClr val="tx1"/>
                </a:solidFill>
              </a:rPr>
              <a:t>*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Text Box 122"/>
          <p:cNvSpPr txBox="1">
            <a:spLocks noChangeArrowheads="1"/>
          </p:cNvSpPr>
          <p:nvPr/>
        </p:nvSpPr>
        <p:spPr bwMode="auto">
          <a:xfrm>
            <a:off x="395536" y="1700808"/>
            <a:ext cx="8748464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…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0</a:t>
            </a:r>
            <a:endParaRPr lang="en-US" altLang="zh-CN" sz="2200" spc="-100" dirty="0" smtClean="0">
              <a:solidFill>
                <a:schemeClr val="tx1"/>
              </a:solidFill>
            </a:endParaRPr>
          </a:p>
          <a:p>
            <a:r>
              <a:rPr lang="en-US" altLang="zh-CN" sz="2200" spc="-100" dirty="0">
                <a:solidFill>
                  <a:schemeClr val="tx1"/>
                </a:solidFill>
              </a:rPr>
              <a:t>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n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×{A×b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>
                <a:solidFill>
                  <a:schemeClr val="tx1"/>
                </a:solidFill>
              </a:rPr>
              <a:t>…</a:t>
            </a:r>
            <a:r>
              <a:rPr lang="zh-CN" altLang="en-US" sz="2200" spc="-100" dirty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-(n-1)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-n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}</a:t>
            </a:r>
            <a:endParaRPr lang="en-US" altLang="zh-CN" sz="2200" spc="-100" dirty="0" smtClean="0">
              <a:solidFill>
                <a:schemeClr val="tx1"/>
              </a:solidFill>
            </a:endParaRPr>
          </a:p>
          <a:p>
            <a:r>
              <a:rPr lang="en-US" altLang="zh-CN" sz="2200" spc="-100" dirty="0">
                <a:solidFill>
                  <a:schemeClr val="tx1"/>
                </a:solidFill>
              </a:rPr>
              <a:t>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</a:rPr>
              <a:t>2</a:t>
            </a:r>
            <a:r>
              <a:rPr lang="en-US" altLang="zh-CN" sz="2200" spc="-100" baseline="30000" dirty="0">
                <a:solidFill>
                  <a:schemeClr val="tx1"/>
                </a:solidFill>
              </a:rPr>
              <a:t>n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×{</a:t>
            </a:r>
            <a:r>
              <a:rPr lang="en-US" altLang="zh-CN" sz="2200" spc="-100" dirty="0" smtClean="0">
                <a:solidFill>
                  <a:srgbClr val="C00000"/>
                </a:solidFill>
              </a:rPr>
              <a:t>(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rgbClr val="0070C0"/>
                </a:solidFill>
              </a:rPr>
              <a:t>(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…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(A×b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(</a:t>
            </a:r>
            <a:r>
              <a:rPr lang="en-US" altLang="zh-CN" sz="2200" spc="-100" dirty="0" smtClean="0">
                <a:solidFill>
                  <a:srgbClr val="990099"/>
                </a:solidFill>
              </a:rPr>
              <a:t>0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…</a:t>
            </a:r>
            <a:r>
              <a:rPr lang="en-US" altLang="zh-CN" sz="2200" spc="-100" dirty="0" smtClean="0">
                <a:solidFill>
                  <a:srgbClr val="0070C0"/>
                </a:solidFill>
              </a:rPr>
              <a:t>)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spc="-100" dirty="0">
                <a:solidFill>
                  <a:srgbClr val="C00000"/>
                </a:solidFill>
              </a:rPr>
              <a:t>)</a:t>
            </a:r>
            <a:r>
              <a:rPr lang="en-US" altLang="zh-CN" sz="2200" spc="-100" dirty="0">
                <a:solidFill>
                  <a:schemeClr val="tx1"/>
                </a:solidFill>
              </a:rPr>
              <a:t>×2</a:t>
            </a:r>
            <a:r>
              <a:rPr lang="en-US" altLang="zh-CN" sz="2200" spc="-100" baseline="30000" dirty="0">
                <a:solidFill>
                  <a:schemeClr val="tx1"/>
                </a:solidFill>
              </a:rPr>
              <a:t>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}</a:t>
            </a:r>
            <a:endParaRPr lang="en-US" altLang="zh-CN" sz="2200" spc="-100" dirty="0">
              <a:solidFill>
                <a:schemeClr val="accent2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131840" y="2955201"/>
            <a:ext cx="5796328" cy="473576"/>
            <a:chOff x="3564384" y="4467592"/>
            <a:chExt cx="5796328" cy="473576"/>
          </a:xfrm>
        </p:grpSpPr>
        <p:sp>
          <p:nvSpPr>
            <p:cNvPr id="25" name="Line 125"/>
            <p:cNvSpPr>
              <a:spLocks noChangeShapeType="1"/>
            </p:cNvSpPr>
            <p:nvPr/>
          </p:nvSpPr>
          <p:spPr bwMode="auto">
            <a:xfrm>
              <a:off x="5220288" y="4467592"/>
              <a:ext cx="1800000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25"/>
            <p:cNvSpPr>
              <a:spLocks noChangeShapeType="1"/>
            </p:cNvSpPr>
            <p:nvPr/>
          </p:nvSpPr>
          <p:spPr bwMode="auto">
            <a:xfrm>
              <a:off x="4284840" y="4509120"/>
              <a:ext cx="3384000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25"/>
            <p:cNvSpPr>
              <a:spLocks noChangeShapeType="1"/>
            </p:cNvSpPr>
            <p:nvPr/>
          </p:nvSpPr>
          <p:spPr bwMode="auto">
            <a:xfrm>
              <a:off x="3564384" y="4550648"/>
              <a:ext cx="5040000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右大括号 27"/>
            <p:cNvSpPr/>
            <p:nvPr/>
          </p:nvSpPr>
          <p:spPr bwMode="auto">
            <a:xfrm rot="5400000">
              <a:off x="7884712" y="3213128"/>
              <a:ext cx="108000" cy="2844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Text Box 178"/>
            <p:cNvSpPr txBox="1">
              <a:spLocks noChangeArrowheads="1"/>
            </p:cNvSpPr>
            <p:nvPr/>
          </p:nvSpPr>
          <p:spPr bwMode="auto">
            <a:xfrm>
              <a:off x="7812856" y="4689168"/>
              <a:ext cx="432048" cy="252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990099"/>
                  </a:solidFill>
                </a:rPr>
                <a:t>n</a:t>
              </a:r>
              <a:r>
                <a:rPr lang="zh-CN" altLang="en-US" sz="1800" dirty="0" smtClean="0">
                  <a:solidFill>
                    <a:srgbClr val="990099"/>
                  </a:solidFill>
                </a:rPr>
                <a:t>个</a:t>
              </a:r>
              <a:endParaRPr lang="zh-CN" altLang="en-US" sz="1800" dirty="0">
                <a:solidFill>
                  <a:srgbClr val="990099"/>
                </a:solidFill>
              </a:endParaRPr>
            </a:p>
          </p:txBody>
        </p:sp>
      </p:grpSp>
      <p:sp>
        <p:nvSpPr>
          <p:cNvPr id="30" name="Text Box 267"/>
          <p:cNvSpPr txBox="1">
            <a:spLocks noChangeArrowheads="1"/>
          </p:cNvSpPr>
          <p:nvPr/>
        </p:nvSpPr>
        <p:spPr bwMode="auto">
          <a:xfrm>
            <a:off x="1475655" y="3140968"/>
            <a:ext cx="7488833" cy="20621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zh-CN" altLang="en-US" dirty="0">
                <a:solidFill>
                  <a:schemeClr val="tx1"/>
                </a:solidFill>
              </a:rPr>
              <a:t>初始</a:t>
            </a:r>
            <a:r>
              <a:rPr lang="zh-CN" altLang="en-US" dirty="0" smtClean="0">
                <a:solidFill>
                  <a:schemeClr val="tx1"/>
                </a:solidFill>
              </a:rPr>
              <a:t>部分积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sz="20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(P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baseline="-22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)×2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 </a:t>
            </a:r>
            <a:endParaRPr lang="en-US" altLang="zh-CN" sz="2200" baseline="30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          …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i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i-1</a:t>
            </a:r>
            <a:r>
              <a:rPr lang="zh-CN" altLang="en-US" sz="2200" dirty="0" smtClean="0">
                <a:solidFill>
                  <a:srgbClr val="990099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i-1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en-US" altLang="zh-CN" sz="2200" dirty="0" smtClean="0">
                <a:solidFill>
                  <a:srgbClr val="0070C0"/>
                </a:solidFill>
              </a:rPr>
              <a:t>×2</a:t>
            </a:r>
            <a:r>
              <a:rPr lang="en-US" altLang="zh-CN" sz="2200" baseline="30000" dirty="0" smtClean="0">
                <a:solidFill>
                  <a:srgbClr val="0070C0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←需</a:t>
            </a:r>
            <a:r>
              <a:rPr lang="zh-CN" altLang="en-US" sz="1800" dirty="0" smtClean="0">
                <a:solidFill>
                  <a:srgbClr val="0070C0"/>
                </a:solidFill>
              </a:rPr>
              <a:t>带</a:t>
            </a:r>
            <a:r>
              <a:rPr lang="zh-CN" altLang="en-US" sz="1800" dirty="0">
                <a:solidFill>
                  <a:srgbClr val="0070C0"/>
                </a:solidFill>
              </a:rPr>
              <a:t>进位右移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</a:t>
            </a:r>
            <a:r>
              <a:rPr lang="zh-CN" altLang="en-US" sz="1800" dirty="0" smtClean="0">
                <a:solidFill>
                  <a:srgbClr val="990099"/>
                </a:solidFill>
              </a:rPr>
              <a:t>有进位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          … 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err="1" smtClean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 err="1" smtClean="0">
                <a:solidFill>
                  <a:schemeClr val="tx1"/>
                </a:solidFill>
              </a:rPr>
              <a:t>n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(P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A×b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)×2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←循环为</a:t>
            </a:r>
            <a:r>
              <a:rPr lang="en-US" altLang="zh-CN" sz="1800" dirty="0" smtClean="0">
                <a:solidFill>
                  <a:schemeClr val="tx1"/>
                </a:solidFill>
              </a:rPr>
              <a:t>n</a:t>
            </a:r>
            <a:r>
              <a:rPr lang="zh-CN" altLang="en-US" sz="1800" dirty="0" smtClean="0">
                <a:solidFill>
                  <a:schemeClr val="tx1"/>
                </a:solidFill>
              </a:rPr>
              <a:t>次</a:t>
            </a:r>
            <a:endParaRPr lang="en-US" altLang="zh-CN" sz="2000" baseline="-18000" dirty="0">
              <a:solidFill>
                <a:schemeClr val="accent2"/>
              </a:solidFill>
            </a:endParaRPr>
          </a:p>
        </p:txBody>
      </p:sp>
      <p:sp>
        <p:nvSpPr>
          <p:cNvPr id="31" name="AutoShape 29"/>
          <p:cNvSpPr/>
          <p:nvPr/>
        </p:nvSpPr>
        <p:spPr bwMode="auto">
          <a:xfrm>
            <a:off x="5580256" y="3456000"/>
            <a:ext cx="2592000" cy="252000"/>
          </a:xfrm>
          <a:prstGeom prst="borderCallout2">
            <a:avLst>
              <a:gd name="adj1" fmla="val 52165"/>
              <a:gd name="adj2" fmla="val 428"/>
              <a:gd name="adj3" fmla="val 50769"/>
              <a:gd name="adj4" fmla="val -7026"/>
              <a:gd name="adj5" fmla="val -227672"/>
              <a:gd name="adj6" fmla="val -2498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部分积初值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为递推所设置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76841" y="5229200"/>
            <a:ext cx="715132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循环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u="sng" dirty="0">
                <a:solidFill>
                  <a:srgbClr val="990099"/>
                </a:solidFill>
              </a:rPr>
              <a:t>判断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加法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判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zh-CN" altLang="en-US" sz="1800" baseline="-18000" dirty="0" smtClean="0">
                <a:solidFill>
                  <a:schemeClr val="tx1"/>
                </a:solidFill>
              </a:rPr>
              <a:t>当前</a:t>
            </a:r>
            <a:r>
              <a:rPr lang="zh-CN" altLang="en-US" sz="1800" dirty="0" smtClean="0">
                <a:solidFill>
                  <a:schemeClr val="tx1"/>
                </a:solidFill>
              </a:rPr>
              <a:t>，＋</a:t>
            </a:r>
            <a:r>
              <a:rPr lang="en-US" altLang="zh-CN" sz="1800" dirty="0" smtClean="0">
                <a:solidFill>
                  <a:schemeClr val="tx1"/>
                </a:solidFill>
              </a:rPr>
              <a:t>0/A</a:t>
            </a:r>
            <a:r>
              <a:rPr lang="zh-CN" altLang="en-US" sz="1800" dirty="0" smtClean="0">
                <a:solidFill>
                  <a:schemeClr val="tx1"/>
                </a:solidFill>
              </a:rPr>
              <a:t>，带进位右移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bldLvl="0" animBg="1"/>
      <p:bldP spid="1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9"/>
          <p:cNvSpPr txBox="1">
            <a:spLocks noChangeArrowheads="1"/>
          </p:cNvSpPr>
          <p:nvPr/>
        </p:nvSpPr>
        <p:spPr bwMode="auto">
          <a:xfrm>
            <a:off x="179388" y="320413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A=111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B=110</a:t>
            </a:r>
            <a:r>
              <a:rPr lang="zh-CN" altLang="en-US" dirty="0" smtClean="0">
                <a:solidFill>
                  <a:schemeClr val="tx1"/>
                </a:solidFill>
              </a:rPr>
              <a:t>，用一位乘法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</a:rPr>
              <a:t>[A×B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endParaRPr lang="en-US" altLang="zh-CN" baseline="-18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解：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Group 149"/>
          <p:cNvGraphicFramePr>
            <a:graphicFrameLocks noGrp="1"/>
          </p:cNvGraphicFramePr>
          <p:nvPr/>
        </p:nvGraphicFramePr>
        <p:xfrm>
          <a:off x="1619672" y="908720"/>
          <a:ext cx="5760640" cy="3645759"/>
        </p:xfrm>
        <a:graphic>
          <a:graphicData uri="http://schemas.openxmlformats.org/drawingml/2006/table">
            <a:tbl>
              <a:tblPr/>
              <a:tblGrid>
                <a:gridCol w="1368152"/>
                <a:gridCol w="720080"/>
                <a:gridCol w="792088"/>
                <a:gridCol w="2880320"/>
              </a:tblGrid>
              <a:tr h="144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部分积高位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000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4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+ 000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627848" y="2099718"/>
            <a:ext cx="504000" cy="2193378"/>
            <a:chOff x="2699792" y="2531766"/>
            <a:chExt cx="647701" cy="2193378"/>
          </a:xfrm>
        </p:grpSpPr>
        <p:sp>
          <p:nvSpPr>
            <p:cNvPr id="6" name="Line 144"/>
            <p:cNvSpPr>
              <a:spLocks noChangeShapeType="1"/>
            </p:cNvSpPr>
            <p:nvPr/>
          </p:nvSpPr>
          <p:spPr bwMode="auto">
            <a:xfrm>
              <a:off x="2699792" y="2531766"/>
              <a:ext cx="647701" cy="287338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145"/>
            <p:cNvSpPr>
              <a:spLocks noChangeShapeType="1"/>
            </p:cNvSpPr>
            <p:nvPr/>
          </p:nvSpPr>
          <p:spPr bwMode="auto">
            <a:xfrm>
              <a:off x="2699792" y="3466805"/>
              <a:ext cx="647701" cy="288926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146"/>
            <p:cNvSpPr>
              <a:spLocks noChangeShapeType="1"/>
            </p:cNvSpPr>
            <p:nvPr/>
          </p:nvSpPr>
          <p:spPr bwMode="auto">
            <a:xfrm>
              <a:off x="2699792" y="4509244"/>
              <a:ext cx="647701" cy="2159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" name="Text Box 99"/>
          <p:cNvSpPr txBox="1">
            <a:spLocks noChangeArrowheads="1"/>
          </p:cNvSpPr>
          <p:nvPr/>
        </p:nvSpPr>
        <p:spPr bwMode="auto">
          <a:xfrm>
            <a:off x="873003" y="4641666"/>
            <a:ext cx="8091610" cy="952184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/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无符号整数用</a:t>
            </a:r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位无符号编码表示，用无符号一位乘法求</a:t>
            </a:r>
            <a:r>
              <a:rPr lang="en-US" altLang="zh-CN" dirty="0" smtClean="0">
                <a:solidFill>
                  <a:schemeClr val="tx1"/>
                </a:solidFill>
              </a:rPr>
              <a:t>[9×6]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endParaRPr lang="en-US" altLang="zh-CN" baseline="-18000" dirty="0" smtClean="0">
              <a:solidFill>
                <a:schemeClr val="tx1"/>
              </a:solidFill>
            </a:endParaRPr>
          </a:p>
        </p:txBody>
      </p:sp>
      <p:sp>
        <p:nvSpPr>
          <p:cNvPr id="14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15817" y="6524302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59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524302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AutoShape 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201"/>
          <p:cNvSpPr txBox="1">
            <a:spLocks noChangeArrowheads="1"/>
          </p:cNvSpPr>
          <p:nvPr/>
        </p:nvSpPr>
        <p:spPr bwMode="auto">
          <a:xfrm>
            <a:off x="179512" y="332656"/>
            <a:ext cx="2160240" cy="3553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思路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accent2"/>
                </a:solidFill>
              </a:rPr>
              <a:t>    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u="sng" dirty="0" smtClean="0">
              <a:solidFill>
                <a:schemeClr val="tx1"/>
              </a:solidFill>
            </a:endParaRPr>
          </a:p>
        </p:txBody>
      </p:sp>
      <p:sp>
        <p:nvSpPr>
          <p:cNvPr id="83" name="Text Box 201"/>
          <p:cNvSpPr txBox="1">
            <a:spLocks noChangeArrowheads="1"/>
          </p:cNvSpPr>
          <p:nvPr/>
        </p:nvSpPr>
        <p:spPr bwMode="auto">
          <a:xfrm>
            <a:off x="1763689" y="836712"/>
            <a:ext cx="7272808" cy="3672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zh-CN" altLang="en-US" dirty="0" smtClean="0">
                <a:solidFill>
                  <a:schemeClr val="tx1"/>
                </a:solidFill>
              </a:rPr>
              <a:t>①循环的</a:t>
            </a:r>
            <a:r>
              <a:rPr lang="zh-CN" altLang="en-US" u="sng" dirty="0">
                <a:solidFill>
                  <a:srgbClr val="990099"/>
                </a:solidFill>
              </a:rPr>
              <a:t>判断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加法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②部分</a:t>
            </a:r>
            <a:r>
              <a:rPr lang="zh-CN" altLang="en-US" dirty="0">
                <a:solidFill>
                  <a:schemeClr val="tx1"/>
                </a:solidFill>
              </a:rPr>
              <a:t>积</a:t>
            </a:r>
            <a:r>
              <a:rPr lang="zh-CN" altLang="en-US" dirty="0" smtClean="0">
                <a:solidFill>
                  <a:schemeClr val="tx1"/>
                </a:solidFill>
              </a:rPr>
              <a:t>低位放在</a:t>
            </a:r>
            <a:r>
              <a:rPr lang="zh-CN" altLang="en-US" u="sng" dirty="0" smtClean="0">
                <a:solidFill>
                  <a:srgbClr val="990099"/>
                </a:solidFill>
              </a:rPr>
              <a:t>乘数</a:t>
            </a:r>
            <a:r>
              <a:rPr lang="zh-CN" altLang="en-US" u="sng" dirty="0">
                <a:solidFill>
                  <a:srgbClr val="990099"/>
                </a:solidFill>
              </a:rPr>
              <a:t>的</a:t>
            </a:r>
            <a:r>
              <a:rPr lang="zh-CN" altLang="en-US" u="sng" dirty="0" smtClean="0">
                <a:solidFill>
                  <a:srgbClr val="990099"/>
                </a:solidFill>
              </a:rPr>
              <a:t>空位</a:t>
            </a:r>
            <a:r>
              <a:rPr lang="zh-CN" altLang="en-US" dirty="0" smtClean="0">
                <a:solidFill>
                  <a:schemeClr val="tx1"/>
                </a:solidFill>
              </a:rPr>
              <a:t>上 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←节省</a:t>
            </a:r>
            <a:r>
              <a:rPr lang="en-US" altLang="zh-CN" sz="1800" dirty="0" smtClean="0">
                <a:solidFill>
                  <a:schemeClr val="tx1"/>
                </a:solidFill>
              </a:rPr>
              <a:t>REG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      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├</a:t>
            </a:r>
            <a:r>
              <a:rPr lang="zh-CN" altLang="en-US" sz="1800" dirty="0" smtClean="0">
                <a:solidFill>
                  <a:schemeClr val="tx1"/>
                </a:solidFill>
              </a:rPr>
              <a:t>→</a:t>
            </a:r>
            <a:r>
              <a:rPr lang="zh-CN" altLang="en-US" sz="1800" dirty="0" smtClean="0">
                <a:solidFill>
                  <a:srgbClr val="FF3399"/>
                </a:solidFill>
              </a:rPr>
              <a:t>可</a:t>
            </a:r>
            <a:r>
              <a:rPr lang="zh-CN" altLang="en-US" sz="1800" dirty="0" smtClean="0">
                <a:solidFill>
                  <a:schemeClr val="tx1"/>
                </a:solidFill>
              </a:rPr>
              <a:t>仅判断</a:t>
            </a:r>
            <a:r>
              <a:rPr lang="en-US" altLang="zh-CN" sz="1800" dirty="0" smtClean="0">
                <a:solidFill>
                  <a:srgbClr val="0070C0"/>
                </a:solidFill>
              </a:rPr>
              <a:t>REG</a:t>
            </a:r>
            <a:r>
              <a:rPr lang="zh-CN" altLang="en-US" sz="1800" dirty="0" smtClean="0">
                <a:solidFill>
                  <a:srgbClr val="0070C0"/>
                </a:solidFill>
              </a:rPr>
              <a:t>的最低位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实现</a:t>
            </a:r>
            <a:r>
              <a:rPr lang="zh-CN" altLang="en-US" sz="1800" dirty="0">
                <a:solidFill>
                  <a:schemeClr val="tx1"/>
                </a:solidFill>
              </a:rPr>
              <a:t>简单</a:t>
            </a:r>
            <a:endParaRPr lang="zh-CN" altLang="en-US" sz="1800" dirty="0">
              <a:solidFill>
                <a:srgbClr val="0070C0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                   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→</a:t>
            </a:r>
            <a:r>
              <a:rPr lang="zh-CN" altLang="en-US" sz="1800" dirty="0" smtClean="0">
                <a:solidFill>
                  <a:srgbClr val="FF3399"/>
                </a:solidFill>
              </a:rPr>
              <a:t>需</a:t>
            </a:r>
            <a:r>
              <a:rPr lang="zh-CN" altLang="en-US" sz="1800" dirty="0" smtClean="0">
                <a:solidFill>
                  <a:schemeClr val="tx1"/>
                </a:solidFill>
              </a:rPr>
              <a:t>部分积与乘数</a:t>
            </a:r>
            <a:r>
              <a:rPr lang="zh-CN" altLang="en-US" sz="1800" dirty="0" smtClean="0">
                <a:solidFill>
                  <a:srgbClr val="990099"/>
                </a:solidFill>
              </a:rPr>
              <a:t>一起右移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RegB</a:t>
            </a:r>
            <a:r>
              <a:rPr lang="en-US" altLang="zh-CN" baseline="-18000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控制控制</a:t>
            </a:r>
            <a:r>
              <a:rPr lang="zh-CN" altLang="en-US" dirty="0" smtClean="0">
                <a:solidFill>
                  <a:schemeClr val="tx1"/>
                </a:solidFill>
              </a:rPr>
              <a:t>门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输出</a:t>
            </a:r>
            <a:r>
              <a:rPr lang="en-US" altLang="zh-CN" sz="1800" dirty="0" smtClean="0">
                <a:solidFill>
                  <a:schemeClr val="tx1"/>
                </a:solidFill>
              </a:rPr>
              <a:t>0/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RegA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err="1" smtClean="0">
                <a:solidFill>
                  <a:schemeClr val="tx1"/>
                </a:solidFill>
              </a:rPr>
              <a:t>RegP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en-US" altLang="zh-CN" dirty="0" err="1" smtClean="0">
                <a:solidFill>
                  <a:schemeClr val="tx1"/>
                </a:solidFill>
              </a:rPr>
              <a:t>RegB</a:t>
            </a:r>
            <a:r>
              <a:rPr lang="zh-CN" altLang="en-US" dirty="0" smtClean="0">
                <a:solidFill>
                  <a:schemeClr val="tx1"/>
                </a:solidFill>
              </a:rPr>
              <a:t>一起移位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                                       </a:t>
            </a:r>
            <a:r>
              <a:rPr lang="zh-CN" altLang="en-US" sz="16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600" dirty="0" smtClean="0">
                <a:solidFill>
                  <a:schemeClr val="tx1"/>
                </a:solidFill>
              </a:rPr>
              <a:t>←写入后移位</a:t>
            </a:r>
            <a:endParaRPr lang="zh-CN" altLang="en-US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 smtClean="0">
                <a:solidFill>
                  <a:schemeClr val="tx1"/>
                </a:solidFill>
                <a:sym typeface="+mn-ea"/>
              </a:rPr>
              <a:t>Cnt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控制循环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初值＝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、为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时结束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aphicFrame>
        <p:nvGraphicFramePr>
          <p:cNvPr id="87" name="Group 318"/>
          <p:cNvGraphicFramePr>
            <a:graphicFrameLocks noGrp="1"/>
          </p:cNvGraphicFramePr>
          <p:nvPr/>
        </p:nvGraphicFramePr>
        <p:xfrm>
          <a:off x="2339752" y="1412776"/>
          <a:ext cx="6192688" cy="848664"/>
        </p:xfrm>
        <a:graphic>
          <a:graphicData uri="http://schemas.openxmlformats.org/drawingml/2006/table">
            <a:tbl>
              <a:tblPr/>
              <a:tblGrid>
                <a:gridCol w="864096"/>
                <a:gridCol w="3816424"/>
                <a:gridCol w="1512168"/>
              </a:tblGrid>
              <a:tr h="200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判断</a:t>
                      </a:r>
                      <a:endParaRPr kumimoji="1" lang="en-US" altLang="zh-CN" sz="1800" b="1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加法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移位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1217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16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带进位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pSp>
        <p:nvGrpSpPr>
          <p:cNvPr id="160" name="组合 159"/>
          <p:cNvGrpSpPr/>
          <p:nvPr/>
        </p:nvGrpSpPr>
        <p:grpSpPr>
          <a:xfrm>
            <a:off x="2195872" y="3068179"/>
            <a:ext cx="2448136" cy="216000"/>
            <a:chOff x="5220360" y="4149080"/>
            <a:chExt cx="2448136" cy="216000"/>
          </a:xfrm>
        </p:grpSpPr>
        <p:sp>
          <p:nvSpPr>
            <p:cNvPr id="161" name="Text Box 235"/>
            <p:cNvSpPr txBox="1">
              <a:spLocks noChangeArrowheads="1"/>
            </p:cNvSpPr>
            <p:nvPr/>
          </p:nvSpPr>
          <p:spPr bwMode="auto">
            <a:xfrm>
              <a:off x="5220360" y="4149080"/>
              <a:ext cx="12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部分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积高位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Text Box 235"/>
            <p:cNvSpPr txBox="1">
              <a:spLocks noChangeArrowheads="1"/>
            </p:cNvSpPr>
            <p:nvPr/>
          </p:nvSpPr>
          <p:spPr bwMode="auto">
            <a:xfrm>
              <a:off x="6444496" y="4149080"/>
              <a:ext cx="12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rgbClr val="0070C0"/>
                  </a:solidFill>
                </a:rPr>
                <a:t>低位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乘数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259"/>
            <p:cNvSpPr>
              <a:spLocks noChangeArrowheads="1"/>
            </p:cNvSpPr>
            <p:nvPr/>
          </p:nvSpPr>
          <p:spPr bwMode="auto">
            <a:xfrm>
              <a:off x="7524328" y="4157795"/>
              <a:ext cx="136800" cy="201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64" name="Line 236"/>
            <p:cNvSpPr>
              <a:spLocks noChangeShapeType="1"/>
            </p:cNvSpPr>
            <p:nvPr/>
          </p:nvSpPr>
          <p:spPr bwMode="auto">
            <a:xfrm>
              <a:off x="7524328" y="414908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9" name="AutoShape 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9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6" name="组合 155"/>
          <p:cNvGrpSpPr/>
          <p:nvPr/>
        </p:nvGrpSpPr>
        <p:grpSpPr>
          <a:xfrm>
            <a:off x="1477427" y="4500000"/>
            <a:ext cx="6120320" cy="1944160"/>
            <a:chOff x="1763688" y="3140992"/>
            <a:chExt cx="6120320" cy="1944160"/>
          </a:xfrm>
        </p:grpSpPr>
        <p:sp>
          <p:nvSpPr>
            <p:cNvPr id="157" name="Text Box 235"/>
            <p:cNvSpPr txBox="1">
              <a:spLocks noChangeArrowheads="1"/>
            </p:cNvSpPr>
            <p:nvPr/>
          </p:nvSpPr>
          <p:spPr bwMode="auto">
            <a:xfrm>
              <a:off x="1763688" y="3465168"/>
              <a:ext cx="4464000" cy="147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8" name="流程图: 手动操作 157"/>
            <p:cNvSpPr/>
            <p:nvPr/>
          </p:nvSpPr>
          <p:spPr bwMode="auto">
            <a:xfrm>
              <a:off x="2267744" y="3933056"/>
              <a:ext cx="1728000" cy="360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加法器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9" name="Text Box 235"/>
            <p:cNvSpPr txBox="1">
              <a:spLocks noChangeArrowheads="1"/>
            </p:cNvSpPr>
            <p:nvPr/>
          </p:nvSpPr>
          <p:spPr bwMode="auto">
            <a:xfrm>
              <a:off x="2915736" y="3140992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被乘数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endParaRPr lang="en-US" altLang="zh-CN" sz="1800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70" name="Text Box 235"/>
            <p:cNvSpPr txBox="1">
              <a:spLocks noChangeArrowheads="1"/>
            </p:cNvSpPr>
            <p:nvPr/>
          </p:nvSpPr>
          <p:spPr bwMode="auto">
            <a:xfrm>
              <a:off x="4068024" y="4581168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乘数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71" name="Text Box 235"/>
            <p:cNvSpPr txBox="1">
              <a:spLocks noChangeArrowheads="1"/>
            </p:cNvSpPr>
            <p:nvPr/>
          </p:nvSpPr>
          <p:spPr bwMode="auto">
            <a:xfrm>
              <a:off x="2627720" y="4581168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乘积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72" name="Line 238"/>
            <p:cNvSpPr>
              <a:spLocks noChangeShapeType="1"/>
            </p:cNvSpPr>
            <p:nvPr/>
          </p:nvSpPr>
          <p:spPr bwMode="auto">
            <a:xfrm>
              <a:off x="3635704" y="378905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38"/>
            <p:cNvSpPr>
              <a:spLocks noChangeShapeType="1"/>
            </p:cNvSpPr>
            <p:nvPr/>
          </p:nvSpPr>
          <p:spPr bwMode="auto">
            <a:xfrm flipH="1">
              <a:off x="3635816" y="335701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Text Box 230"/>
            <p:cNvSpPr txBox="1">
              <a:spLocks noChangeArrowheads="1"/>
            </p:cNvSpPr>
            <p:nvPr/>
          </p:nvSpPr>
          <p:spPr bwMode="auto">
            <a:xfrm>
              <a:off x="3059880" y="3573040"/>
              <a:ext cx="115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控制门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75" name="Line 238"/>
            <p:cNvSpPr>
              <a:spLocks noChangeShapeType="1"/>
            </p:cNvSpPr>
            <p:nvPr/>
          </p:nvSpPr>
          <p:spPr bwMode="auto">
            <a:xfrm>
              <a:off x="2627784" y="371705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38"/>
            <p:cNvSpPr>
              <a:spLocks noChangeShapeType="1"/>
            </p:cNvSpPr>
            <p:nvPr/>
          </p:nvSpPr>
          <p:spPr bwMode="auto">
            <a:xfrm flipH="1">
              <a:off x="3131648" y="4293096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38"/>
            <p:cNvSpPr>
              <a:spLocks noChangeShapeType="1"/>
            </p:cNvSpPr>
            <p:nvPr/>
          </p:nvSpPr>
          <p:spPr bwMode="auto">
            <a:xfrm flipH="1">
              <a:off x="3131648" y="4797152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36"/>
            <p:cNvSpPr>
              <a:spLocks noChangeShapeType="1"/>
            </p:cNvSpPr>
            <p:nvPr/>
          </p:nvSpPr>
          <p:spPr bwMode="auto">
            <a:xfrm>
              <a:off x="3563808" y="4365104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6"/>
            <p:cNvSpPr>
              <a:spLocks noChangeShapeType="1"/>
            </p:cNvSpPr>
            <p:nvPr/>
          </p:nvSpPr>
          <p:spPr bwMode="auto">
            <a:xfrm>
              <a:off x="5004080" y="4293056"/>
              <a:ext cx="0" cy="28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Text Box 239"/>
            <p:cNvSpPr txBox="1">
              <a:spLocks noChangeArrowheads="1"/>
            </p:cNvSpPr>
            <p:nvPr/>
          </p:nvSpPr>
          <p:spPr bwMode="auto">
            <a:xfrm>
              <a:off x="4787943" y="4005096"/>
              <a:ext cx="122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控制</a:t>
              </a:r>
              <a:r>
                <a:rPr lang="zh-CN" altLang="en-US" sz="1800" dirty="0">
                  <a:solidFill>
                    <a:schemeClr val="tx1"/>
                  </a:solidFill>
                </a:rPr>
                <a:t>逻辑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81" name="Rectangle 259"/>
            <p:cNvSpPr>
              <a:spLocks noChangeArrowheads="1"/>
            </p:cNvSpPr>
            <p:nvPr/>
          </p:nvSpPr>
          <p:spPr bwMode="auto">
            <a:xfrm>
              <a:off x="5364008" y="4591156"/>
              <a:ext cx="136800" cy="201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82" name="Line 236"/>
            <p:cNvSpPr>
              <a:spLocks noChangeShapeType="1"/>
            </p:cNvSpPr>
            <p:nvPr/>
          </p:nvSpPr>
          <p:spPr bwMode="auto">
            <a:xfrm>
              <a:off x="5364008" y="4581168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236"/>
            <p:cNvSpPr>
              <a:spLocks noChangeShapeType="1"/>
            </p:cNvSpPr>
            <p:nvPr/>
          </p:nvSpPr>
          <p:spPr bwMode="auto">
            <a:xfrm flipV="1">
              <a:off x="5436016" y="4293096"/>
              <a:ext cx="1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236"/>
            <p:cNvSpPr>
              <a:spLocks noChangeShapeType="1"/>
            </p:cNvSpPr>
            <p:nvPr/>
          </p:nvSpPr>
          <p:spPr bwMode="auto">
            <a:xfrm flipH="1">
              <a:off x="3779720" y="4149080"/>
              <a:ext cx="100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5" name="直接箭头连接符 61"/>
            <p:cNvCxnSpPr/>
            <p:nvPr/>
          </p:nvCxnSpPr>
          <p:spPr bwMode="auto">
            <a:xfrm flipH="1" flipV="1">
              <a:off x="4211887" y="3645670"/>
              <a:ext cx="122400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86" name="Text Box 242"/>
            <p:cNvSpPr txBox="1">
              <a:spLocks noChangeArrowheads="1"/>
            </p:cNvSpPr>
            <p:nvPr/>
          </p:nvSpPr>
          <p:spPr bwMode="auto">
            <a:xfrm>
              <a:off x="4860168" y="3573040"/>
              <a:ext cx="122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计数器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7" name="Text Box 232"/>
            <p:cNvSpPr txBox="1">
              <a:spLocks noChangeArrowheads="1"/>
            </p:cNvSpPr>
            <p:nvPr/>
          </p:nvSpPr>
          <p:spPr bwMode="auto">
            <a:xfrm>
              <a:off x="3995744" y="393308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加</a:t>
              </a:r>
              <a:r>
                <a:rPr lang="zh-CN" altLang="en-US" sz="1600" dirty="0">
                  <a:solidFill>
                    <a:schemeClr val="tx1"/>
                  </a:solidFill>
                </a:rPr>
                <a:t>法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 Box 247"/>
            <p:cNvSpPr txBox="1">
              <a:spLocks noChangeArrowheads="1"/>
            </p:cNvSpPr>
            <p:nvPr/>
          </p:nvSpPr>
          <p:spPr bwMode="auto">
            <a:xfrm>
              <a:off x="4427984" y="4293096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89" name="直接箭头连接符 61"/>
            <p:cNvCxnSpPr/>
            <p:nvPr/>
          </p:nvCxnSpPr>
          <p:spPr bwMode="auto">
            <a:xfrm flipH="1">
              <a:off x="6012024" y="4149080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0" name="Text Box 232"/>
            <p:cNvSpPr txBox="1">
              <a:spLocks noChangeArrowheads="1"/>
            </p:cNvSpPr>
            <p:nvPr/>
          </p:nvSpPr>
          <p:spPr bwMode="auto">
            <a:xfrm>
              <a:off x="6372008" y="4005096"/>
              <a:ext cx="151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op(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无符号乘法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)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61"/>
            <p:cNvCxnSpPr/>
            <p:nvPr/>
          </p:nvCxnSpPr>
          <p:spPr bwMode="auto">
            <a:xfrm flipH="1">
              <a:off x="6084208" y="3645403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2" name="Text Box 232"/>
            <p:cNvSpPr txBox="1">
              <a:spLocks noChangeArrowheads="1"/>
            </p:cNvSpPr>
            <p:nvPr/>
          </p:nvSpPr>
          <p:spPr bwMode="auto">
            <a:xfrm>
              <a:off x="6372056" y="3501040"/>
              <a:ext cx="432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Clk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93" name="Line 236"/>
            <p:cNvSpPr>
              <a:spLocks noChangeShapeType="1"/>
            </p:cNvSpPr>
            <p:nvPr/>
          </p:nvSpPr>
          <p:spPr bwMode="auto">
            <a:xfrm flipH="1">
              <a:off x="3779992" y="4437112"/>
              <a:ext cx="122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36"/>
            <p:cNvSpPr>
              <a:spLocks noChangeShapeType="1"/>
            </p:cNvSpPr>
            <p:nvPr/>
          </p:nvSpPr>
          <p:spPr bwMode="auto">
            <a:xfrm>
              <a:off x="5580032" y="3789064"/>
              <a:ext cx="1" cy="216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238"/>
            <p:cNvSpPr>
              <a:spLocks noChangeShapeType="1"/>
            </p:cNvSpPr>
            <p:nvPr/>
          </p:nvSpPr>
          <p:spPr bwMode="auto">
            <a:xfrm>
              <a:off x="1907704" y="3717694"/>
              <a:ext cx="720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238"/>
            <p:cNvSpPr>
              <a:spLocks noChangeShapeType="1"/>
            </p:cNvSpPr>
            <p:nvPr/>
          </p:nvSpPr>
          <p:spPr bwMode="auto">
            <a:xfrm flipV="1">
              <a:off x="1907704" y="3716337"/>
              <a:ext cx="0" cy="11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238"/>
            <p:cNvSpPr>
              <a:spLocks noChangeShapeType="1"/>
            </p:cNvSpPr>
            <p:nvPr/>
          </p:nvSpPr>
          <p:spPr bwMode="auto">
            <a:xfrm flipH="1" flipV="1">
              <a:off x="1907704" y="4869160"/>
              <a:ext cx="1224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238"/>
            <p:cNvSpPr>
              <a:spLocks noChangeShapeType="1"/>
            </p:cNvSpPr>
            <p:nvPr/>
          </p:nvSpPr>
          <p:spPr bwMode="auto">
            <a:xfrm flipH="1">
              <a:off x="4787944" y="4797152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36"/>
            <p:cNvSpPr>
              <a:spLocks noChangeShapeType="1"/>
            </p:cNvSpPr>
            <p:nvPr/>
          </p:nvSpPr>
          <p:spPr bwMode="auto">
            <a:xfrm flipH="1">
              <a:off x="3563808" y="4221088"/>
              <a:ext cx="1224000" cy="14404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36"/>
            <p:cNvSpPr>
              <a:spLocks noChangeShapeType="1"/>
            </p:cNvSpPr>
            <p:nvPr/>
          </p:nvSpPr>
          <p:spPr bwMode="auto">
            <a:xfrm>
              <a:off x="3779832" y="4437128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247"/>
            <p:cNvSpPr txBox="1">
              <a:spLocks noChangeArrowheads="1"/>
            </p:cNvSpPr>
            <p:nvPr/>
          </p:nvSpPr>
          <p:spPr bwMode="auto">
            <a:xfrm>
              <a:off x="3923904" y="422111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写入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2" name="Text Box 235"/>
            <p:cNvSpPr txBox="1">
              <a:spLocks noChangeArrowheads="1"/>
            </p:cNvSpPr>
            <p:nvPr/>
          </p:nvSpPr>
          <p:spPr bwMode="auto">
            <a:xfrm>
              <a:off x="2051592" y="414907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i="1" dirty="0" smtClean="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r>
                <a:rPr lang="en-US" altLang="zh-CN" sz="1600" baseline="-16000" dirty="0" smtClean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Line 236"/>
            <p:cNvSpPr>
              <a:spLocks noChangeShapeType="1"/>
            </p:cNvSpPr>
            <p:nvPr/>
          </p:nvSpPr>
          <p:spPr bwMode="auto">
            <a:xfrm flipH="1">
              <a:off x="2051736" y="414907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04" name="直接箭头连接符 61"/>
            <p:cNvCxnSpPr/>
            <p:nvPr/>
          </p:nvCxnSpPr>
          <p:spPr bwMode="auto">
            <a:xfrm rot="16200000" flipH="1">
              <a:off x="1835712" y="4365072"/>
              <a:ext cx="576000" cy="144016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5" name="Text Box 235"/>
            <p:cNvSpPr txBox="1">
              <a:spLocks noChangeArrowheads="1"/>
            </p:cNvSpPr>
            <p:nvPr/>
          </p:nvSpPr>
          <p:spPr bwMode="auto">
            <a:xfrm>
              <a:off x="2195720" y="4581164"/>
              <a:ext cx="21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06" name="Line 236"/>
            <p:cNvSpPr>
              <a:spLocks noChangeShapeType="1"/>
            </p:cNvSpPr>
            <p:nvPr/>
          </p:nvSpPr>
          <p:spPr bwMode="auto">
            <a:xfrm>
              <a:off x="2411784" y="4726327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Text Box 235"/>
            <p:cNvSpPr txBox="1">
              <a:spLocks noChangeArrowheads="1"/>
            </p:cNvSpPr>
            <p:nvPr/>
          </p:nvSpPr>
          <p:spPr bwMode="auto">
            <a:xfrm>
              <a:off x="2915816" y="4293124"/>
              <a:ext cx="216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i="1" dirty="0" smtClean="0">
                  <a:solidFill>
                    <a:schemeClr val="tx1"/>
                  </a:solidFill>
                  <a:latin typeface="+mn-lt"/>
                  <a:ea typeface="+mn-ea"/>
                </a:rPr>
                <a:t>Z</a:t>
              </a:r>
              <a:endParaRPr lang="en-US" altLang="zh-CN" sz="1600" i="1" baseline="-160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469315" y="4572000"/>
            <a:ext cx="2448272" cy="793063"/>
            <a:chOff x="2915816" y="4005128"/>
            <a:chExt cx="2448272" cy="793063"/>
          </a:xfrm>
        </p:grpSpPr>
        <p:sp>
          <p:nvSpPr>
            <p:cNvPr id="82" name="Text Box 101"/>
            <p:cNvSpPr txBox="1">
              <a:spLocks noChangeArrowheads="1"/>
            </p:cNvSpPr>
            <p:nvPr/>
          </p:nvSpPr>
          <p:spPr bwMode="auto">
            <a:xfrm>
              <a:off x="2915816" y="4077072"/>
              <a:ext cx="720000" cy="576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4" name="Line 186"/>
            <p:cNvSpPr>
              <a:spLocks noChangeShapeType="1"/>
            </p:cNvSpPr>
            <p:nvPr/>
          </p:nvSpPr>
          <p:spPr bwMode="auto">
            <a:xfrm>
              <a:off x="3275992" y="4582191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流程图: 手动操作 84"/>
            <p:cNvSpPr/>
            <p:nvPr/>
          </p:nvSpPr>
          <p:spPr bwMode="auto">
            <a:xfrm>
              <a:off x="2987960" y="4438151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" name="Line 199"/>
            <p:cNvSpPr>
              <a:spLocks noChangeShapeType="1"/>
            </p:cNvSpPr>
            <p:nvPr/>
          </p:nvSpPr>
          <p:spPr bwMode="auto">
            <a:xfrm>
              <a:off x="3419872" y="4005128"/>
              <a:ext cx="0" cy="43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99"/>
            <p:cNvSpPr>
              <a:spLocks noChangeShapeType="1"/>
            </p:cNvSpPr>
            <p:nvPr/>
          </p:nvSpPr>
          <p:spPr bwMode="auto">
            <a:xfrm>
              <a:off x="3131840" y="4294119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430"/>
            <p:cNvSpPr>
              <a:spLocks noChangeShapeType="1"/>
            </p:cNvSpPr>
            <p:nvPr/>
          </p:nvSpPr>
          <p:spPr bwMode="auto">
            <a:xfrm flipH="1" flipV="1">
              <a:off x="3492016" y="4510143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97" name="直接箭头连接符 96"/>
            <p:cNvCxnSpPr/>
            <p:nvPr/>
          </p:nvCxnSpPr>
          <p:spPr bwMode="auto">
            <a:xfrm>
              <a:off x="3635896" y="4222176"/>
              <a:ext cx="1728192" cy="21495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98" name="Text Box 235"/>
            <p:cNvSpPr txBox="1">
              <a:spLocks noChangeArrowheads="1"/>
            </p:cNvSpPr>
            <p:nvPr/>
          </p:nvSpPr>
          <p:spPr bwMode="auto">
            <a:xfrm>
              <a:off x="3059832" y="4113096"/>
              <a:ext cx="144000" cy="1800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843544" y="2780171"/>
            <a:ext cx="1008224" cy="216000"/>
            <a:chOff x="2843544" y="2780171"/>
            <a:chExt cx="1008224" cy="216000"/>
          </a:xfrm>
        </p:grpSpPr>
        <p:sp>
          <p:nvSpPr>
            <p:cNvPr id="69" name="Line 236"/>
            <p:cNvSpPr>
              <a:spLocks noChangeShapeType="1"/>
            </p:cNvSpPr>
            <p:nvPr/>
          </p:nvSpPr>
          <p:spPr bwMode="auto">
            <a:xfrm>
              <a:off x="2843544" y="2996171"/>
              <a:ext cx="1008224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Box 232"/>
            <p:cNvSpPr txBox="1">
              <a:spLocks noChangeArrowheads="1"/>
            </p:cNvSpPr>
            <p:nvPr/>
          </p:nvSpPr>
          <p:spPr bwMode="auto">
            <a:xfrm>
              <a:off x="2951768" y="2780171"/>
              <a:ext cx="9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一起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移位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71" name="Line 236"/>
          <p:cNvSpPr>
            <a:spLocks noChangeShapeType="1"/>
          </p:cNvSpPr>
          <p:nvPr/>
        </p:nvSpPr>
        <p:spPr bwMode="auto">
          <a:xfrm flipV="1">
            <a:off x="4568240" y="2852203"/>
            <a:ext cx="0" cy="216000"/>
          </a:xfrm>
          <a:prstGeom prst="line">
            <a:avLst/>
          </a:prstGeom>
          <a:noFill/>
          <a:ln w="12700">
            <a:solidFill>
              <a:srgbClr val="990099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696000" y="5688000"/>
            <a:ext cx="1871980" cy="612140"/>
            <a:chOff x="10942" y="6689"/>
            <a:chExt cx="2948" cy="964"/>
          </a:xfrm>
        </p:grpSpPr>
        <p:cxnSp>
          <p:nvCxnSpPr>
            <p:cNvPr id="17" name="直接连接符 16"/>
            <p:cNvCxnSpPr/>
            <p:nvPr>
              <p:custDataLst>
                <p:tags r:id="rId3"/>
              </p:custDataLst>
            </p:nvPr>
          </p:nvCxnSpPr>
          <p:spPr bwMode="auto">
            <a:xfrm flipV="1">
              <a:off x="10942" y="7030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4"/>
              </p:custDataLst>
            </p:nvPr>
          </p:nvCxnSpPr>
          <p:spPr bwMode="auto">
            <a:xfrm>
              <a:off x="11169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"/>
              </p:custDataLst>
            </p:nvPr>
          </p:nvCxnSpPr>
          <p:spPr bwMode="auto">
            <a:xfrm>
              <a:off x="11169" y="6689"/>
              <a:ext cx="1134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6"/>
              </p:custDataLst>
            </p:nvPr>
          </p:nvCxnSpPr>
          <p:spPr bwMode="auto">
            <a:xfrm>
              <a:off x="12302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7"/>
              </p:custDataLst>
            </p:nvPr>
          </p:nvCxnSpPr>
          <p:spPr bwMode="auto">
            <a:xfrm>
              <a:off x="12302" y="7030"/>
              <a:ext cx="113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8"/>
              </p:custDataLst>
            </p:nvPr>
          </p:nvCxnSpPr>
          <p:spPr bwMode="auto">
            <a:xfrm>
              <a:off x="13436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3436" y="6689"/>
              <a:ext cx="227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3436" y="67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5" name="Text Box 14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339" y="6973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加法</a:t>
              </a:r>
              <a:endParaRPr lang="zh-CN" altLang="en-US" sz="1600" b="1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12"/>
              </p:custDataLst>
            </p:nvPr>
          </p:nvCxnSpPr>
          <p:spPr bwMode="auto">
            <a:xfrm>
              <a:off x="11169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13"/>
              </p:custDataLst>
            </p:nvPr>
          </p:nvCxnSpPr>
          <p:spPr bwMode="auto">
            <a:xfrm>
              <a:off x="12302" y="67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30" name="Text Box 14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395" y="7313"/>
              <a:ext cx="147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RegP&amp;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C</a:t>
              </a:r>
              <a:endParaRPr lang="en-US" altLang="zh-CN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" name="直接连接符 3"/>
            <p:cNvCxnSpPr/>
            <p:nvPr>
              <p:custDataLst>
                <p:tags r:id="rId15"/>
              </p:custDataLst>
            </p:nvPr>
          </p:nvCxnSpPr>
          <p:spPr bwMode="auto">
            <a:xfrm>
              <a:off x="12302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16"/>
              </p:custDataLst>
            </p:nvPr>
          </p:nvCxnSpPr>
          <p:spPr bwMode="auto">
            <a:xfrm>
              <a:off x="13436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" name="Text Box 14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3096" y="7313"/>
              <a:ext cx="79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solidFill>
                    <a:schemeClr val="tx1"/>
                  </a:solidFill>
                </a:rPr>
                <a:t>移位</a:t>
              </a:r>
              <a:endParaRPr lang="zh-CN" sz="1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 Box 232"/>
          <p:cNvSpPr txBox="1">
            <a:spLocks noChangeArrowheads="1"/>
          </p:cNvSpPr>
          <p:nvPr/>
        </p:nvSpPr>
        <p:spPr bwMode="auto">
          <a:xfrm>
            <a:off x="6444000" y="4140000"/>
            <a:ext cx="2556000" cy="1152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dirty="0" smtClean="0">
                <a:solidFill>
                  <a:srgbClr val="C00000"/>
                </a:solidFill>
              </a:rPr>
              <a:t>控制逻辑：</a:t>
            </a:r>
            <a:endParaRPr lang="zh-CN" sz="16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solidFill>
                  <a:srgbClr val="0070C0"/>
                </a:solidFill>
              </a:rPr>
              <a:t>  </a:t>
            </a:r>
            <a:r>
              <a:rPr lang="zh-CN" sz="1600" dirty="0" smtClean="0">
                <a:solidFill>
                  <a:srgbClr val="0070C0"/>
                </a:solidFill>
              </a:rPr>
              <a:t>控制门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—</a:t>
            </a:r>
            <a:r>
              <a:rPr lang="zh-CN" sz="1600" dirty="0" smtClean="0">
                <a:solidFill>
                  <a:schemeClr val="tx1"/>
                </a:solidFill>
              </a:rPr>
              <a:t>＝</a:t>
            </a:r>
            <a:r>
              <a:rPr lang="en-US" altLang="zh-CN" sz="1600" dirty="0" smtClean="0">
                <a:solidFill>
                  <a:schemeClr val="tx1"/>
                </a:solidFill>
              </a:rPr>
              <a:t>RegB</a:t>
            </a:r>
            <a:r>
              <a:rPr lang="en-US" altLang="zh-CN" sz="1600" baseline="-25000" dirty="0" smtClean="0">
                <a:solidFill>
                  <a:schemeClr val="tx1"/>
                </a:solidFill>
              </a:rPr>
              <a:t>0</a:t>
            </a:r>
            <a:r>
              <a:rPr lang="en-US" altLang="zh-CN" sz="1600" dirty="0" smtClean="0">
                <a:solidFill>
                  <a:schemeClr val="tx1"/>
                </a:solidFill>
              </a:rPr>
              <a:t> 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solidFill>
                  <a:srgbClr val="0070C0"/>
                </a:solidFill>
              </a:rPr>
              <a:t>  </a:t>
            </a:r>
            <a:r>
              <a:rPr lang="zh-CN" altLang="en-US" sz="1600" dirty="0" smtClean="0">
                <a:solidFill>
                  <a:srgbClr val="0070C0"/>
                </a:solidFill>
              </a:rPr>
              <a:t>加法器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—</a:t>
            </a:r>
            <a:r>
              <a:rPr lang="zh-CN" sz="1600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1</a:t>
            </a:r>
            <a:endParaRPr lang="en-US" altLang="zh-CN" sz="16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  </a:t>
            </a:r>
            <a:r>
              <a:rPr lang="zh-CN" altLang="en-US" sz="1600" dirty="0" smtClean="0">
                <a:solidFill>
                  <a:srgbClr val="0070C0"/>
                </a:solidFill>
                <a:sym typeface="+mn-ea"/>
              </a:rPr>
              <a:t>写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  </a:t>
            </a:r>
            <a:r>
              <a:rPr lang="zh-CN" altLang="en-US" sz="1600" dirty="0" smtClean="0">
                <a:solidFill>
                  <a:srgbClr val="0070C0"/>
                </a:solidFill>
                <a:sym typeface="+mn-ea"/>
              </a:rPr>
              <a:t>入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—</a:t>
            </a:r>
            <a:r>
              <a:rPr lang="zh-CN" sz="1600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CLK</a:t>
            </a:r>
            <a:r>
              <a:rPr lang="en-US" altLang="zh-C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↓</a:t>
            </a:r>
            <a:r>
              <a:rPr lang="zh-CN" altLang="en-US" sz="16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触发</a:t>
            </a:r>
            <a:endParaRPr lang="zh-CN" altLang="en-US" sz="1600" dirty="0" smtClean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 </a:t>
            </a:r>
            <a:r>
              <a:rPr lang="zh-CN" altLang="en-US" sz="1600" dirty="0" smtClean="0">
                <a:solidFill>
                  <a:srgbClr val="0070C0"/>
                </a:solidFill>
                <a:sym typeface="+mn-ea"/>
              </a:rPr>
              <a:t>右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  </a:t>
            </a:r>
            <a:r>
              <a:rPr lang="zh-CN" altLang="en-US" sz="1600" dirty="0" smtClean="0">
                <a:solidFill>
                  <a:srgbClr val="0070C0"/>
                </a:solidFill>
                <a:sym typeface="+mn-ea"/>
              </a:rPr>
              <a:t>移</a:t>
            </a:r>
            <a:r>
              <a:rPr lang="en-US" altLang="zh-CN" sz="1600" dirty="0" smtClean="0">
                <a:solidFill>
                  <a:srgbClr val="0070C0"/>
                </a:solidFill>
                <a:sym typeface="+mn-ea"/>
              </a:rPr>
              <a:t>—</a:t>
            </a:r>
            <a:r>
              <a:rPr lang="zh-CN" sz="1600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CLK</a:t>
            </a:r>
            <a:r>
              <a:rPr lang="en-US" altLang="zh-C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↑</a:t>
            </a:r>
            <a:r>
              <a:rPr lang="zh-CN" altLang="en-US" sz="1600" dirty="0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触发</a:t>
            </a:r>
            <a:endParaRPr lang="zh-CN" altLang="en-US" sz="1600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8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1"/>
          <p:cNvSpPr txBox="1">
            <a:spLocks noChangeArrowheads="1"/>
          </p:cNvSpPr>
          <p:nvPr/>
        </p:nvSpPr>
        <p:spPr bwMode="auto">
          <a:xfrm>
            <a:off x="179512" y="3326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 控制流程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循环</a:t>
            </a:r>
            <a:r>
              <a:rPr lang="zh-CN" altLang="en-US" dirty="0">
                <a:solidFill>
                  <a:schemeClr val="tx1"/>
                </a:solidFill>
              </a:rPr>
              <a:t>的判断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加法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</a:rPr>
              <a:t>移位操作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6662610" y="1772816"/>
            <a:ext cx="1149750" cy="1367458"/>
            <a:chOff x="6950073" y="2420888"/>
            <a:chExt cx="1149750" cy="1367458"/>
          </a:xfrm>
        </p:grpSpPr>
        <p:sp>
          <p:nvSpPr>
            <p:cNvPr id="142" name="Text Box 139"/>
            <p:cNvSpPr txBox="1">
              <a:spLocks noChangeArrowheads="1"/>
            </p:cNvSpPr>
            <p:nvPr/>
          </p:nvSpPr>
          <p:spPr bwMode="auto">
            <a:xfrm>
              <a:off x="7452121" y="2420888"/>
              <a:ext cx="5762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FF3399"/>
                  </a:solidFill>
                </a:rPr>
                <a:t>判断</a:t>
              </a:r>
              <a:endParaRPr lang="zh-CN" altLang="en-US" sz="1800" baseline="-18000" dirty="0">
                <a:solidFill>
                  <a:srgbClr val="FF3399"/>
                </a:solidFill>
              </a:endParaRPr>
            </a:p>
          </p:txBody>
        </p:sp>
        <p:sp>
          <p:nvSpPr>
            <p:cNvPr id="143" name="Text Box 140"/>
            <p:cNvSpPr txBox="1">
              <a:spLocks noChangeArrowheads="1"/>
            </p:cNvSpPr>
            <p:nvPr/>
          </p:nvSpPr>
          <p:spPr bwMode="auto">
            <a:xfrm>
              <a:off x="7452121" y="2852936"/>
              <a:ext cx="5762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FF3399"/>
                  </a:solidFill>
                </a:rPr>
                <a:t>加法</a:t>
              </a:r>
              <a:endParaRPr lang="zh-CN" altLang="en-US" sz="1800" baseline="-18000" dirty="0">
                <a:solidFill>
                  <a:srgbClr val="FF3399"/>
                </a:solidFill>
              </a:endParaRPr>
            </a:p>
          </p:txBody>
        </p:sp>
        <p:sp>
          <p:nvSpPr>
            <p:cNvPr id="144" name="Text Box 141"/>
            <p:cNvSpPr txBox="1">
              <a:spLocks noChangeArrowheads="1"/>
            </p:cNvSpPr>
            <p:nvPr/>
          </p:nvSpPr>
          <p:spPr bwMode="auto">
            <a:xfrm>
              <a:off x="7452320" y="3501008"/>
              <a:ext cx="5762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FF3399"/>
                  </a:solidFill>
                </a:rPr>
                <a:t>移位</a:t>
              </a:r>
              <a:endParaRPr lang="zh-CN" altLang="en-US" sz="1800" baseline="-18000" dirty="0">
                <a:solidFill>
                  <a:srgbClr val="FF3399"/>
                </a:solidFill>
              </a:endParaRPr>
            </a:p>
          </p:txBody>
        </p:sp>
        <p:sp>
          <p:nvSpPr>
            <p:cNvPr id="145" name="Line 142"/>
            <p:cNvSpPr>
              <a:spLocks noChangeShapeType="1"/>
            </p:cNvSpPr>
            <p:nvPr/>
          </p:nvSpPr>
          <p:spPr bwMode="auto">
            <a:xfrm flipH="1">
              <a:off x="6950073" y="2636912"/>
              <a:ext cx="4318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AutoShape 144"/>
            <p:cNvSpPr/>
            <p:nvPr/>
          </p:nvSpPr>
          <p:spPr bwMode="auto">
            <a:xfrm rot="10800000">
              <a:off x="8028583" y="2565032"/>
              <a:ext cx="71240" cy="1152000"/>
            </a:xfrm>
            <a:prstGeom prst="leftBrace">
              <a:avLst>
                <a:gd name="adj1" fmla="val 14277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146"/>
            <p:cNvSpPr>
              <a:spLocks noChangeShapeType="1"/>
            </p:cNvSpPr>
            <p:nvPr/>
          </p:nvSpPr>
          <p:spPr bwMode="auto">
            <a:xfrm flipH="1">
              <a:off x="6950073" y="3068960"/>
              <a:ext cx="4318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47"/>
            <p:cNvSpPr>
              <a:spLocks noChangeShapeType="1"/>
            </p:cNvSpPr>
            <p:nvPr/>
          </p:nvSpPr>
          <p:spPr bwMode="auto">
            <a:xfrm flipH="1">
              <a:off x="6950073" y="3645024"/>
              <a:ext cx="4318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AutoShape 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1404488" y="908784"/>
            <a:ext cx="5183736" cy="3888368"/>
            <a:chOff x="1403928" y="980760"/>
            <a:chExt cx="5183736" cy="3888368"/>
          </a:xfrm>
        </p:grpSpPr>
        <p:sp>
          <p:nvSpPr>
            <p:cNvPr id="51" name="Line 86"/>
            <p:cNvSpPr>
              <a:spLocks noChangeShapeType="1"/>
            </p:cNvSpPr>
            <p:nvPr/>
          </p:nvSpPr>
          <p:spPr bwMode="auto">
            <a:xfrm>
              <a:off x="2617221" y="2852936"/>
              <a:ext cx="303319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AutoShape 87"/>
            <p:cNvSpPr>
              <a:spLocks noChangeArrowheads="1"/>
            </p:cNvSpPr>
            <p:nvPr/>
          </p:nvSpPr>
          <p:spPr bwMode="auto">
            <a:xfrm>
              <a:off x="3060112" y="1988840"/>
              <a:ext cx="2016000" cy="288000"/>
            </a:xfrm>
            <a:prstGeom prst="flowChartDecision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RegB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=1?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 Box 91"/>
            <p:cNvSpPr txBox="1">
              <a:spLocks noChangeArrowheads="1"/>
            </p:cNvSpPr>
            <p:nvPr/>
          </p:nvSpPr>
          <p:spPr bwMode="auto">
            <a:xfrm>
              <a:off x="2915816" y="1916864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Y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61" name="Text Box 96"/>
            <p:cNvSpPr txBox="1">
              <a:spLocks noChangeArrowheads="1"/>
            </p:cNvSpPr>
            <p:nvPr/>
          </p:nvSpPr>
          <p:spPr bwMode="auto">
            <a:xfrm>
              <a:off x="1403928" y="2420888"/>
              <a:ext cx="252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＋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 Box 109"/>
            <p:cNvSpPr txBox="1">
              <a:spLocks noChangeArrowheads="1"/>
            </p:cNvSpPr>
            <p:nvPr/>
          </p:nvSpPr>
          <p:spPr bwMode="auto">
            <a:xfrm>
              <a:off x="2484048" y="2996952"/>
              <a:ext cx="316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及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带进位右移</a:t>
              </a:r>
              <a:r>
                <a:rPr lang="en-US" altLang="zh-CN" sz="1800" dirty="0">
                  <a:solidFill>
                    <a:schemeClr val="tx1"/>
                  </a:solidFill>
                </a:rPr>
                <a:t>1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4" name="Text Box 110"/>
            <p:cNvSpPr txBox="1">
              <a:spLocks noChangeArrowheads="1"/>
            </p:cNvSpPr>
            <p:nvPr/>
          </p:nvSpPr>
          <p:spPr bwMode="auto">
            <a:xfrm>
              <a:off x="3227414" y="3501008"/>
              <a:ext cx="1776634" cy="28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←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－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67" name="六边形 66"/>
            <p:cNvSpPr/>
            <p:nvPr/>
          </p:nvSpPr>
          <p:spPr bwMode="auto">
            <a:xfrm>
              <a:off x="1547664" y="980760"/>
              <a:ext cx="5040000" cy="288000"/>
            </a:xfrm>
            <a:prstGeom prst="hexagon">
              <a:avLst>
                <a:gd name="adj" fmla="val 32096"/>
                <a:gd name="vf" fmla="val 11547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8000" tIns="10800" rIns="18000" bIns="10800" numCol="1" rtlCol="0" anchor="ctr" anchorCtr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被乘数，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乘数，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op←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无符号乘法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</a:endParaRPr>
            </a:p>
          </p:txBody>
        </p:sp>
        <p:sp>
          <p:nvSpPr>
            <p:cNvPr id="68" name="Text Box 85"/>
            <p:cNvSpPr txBox="1">
              <a:spLocks noChangeArrowheads="1"/>
            </p:cNvSpPr>
            <p:nvPr/>
          </p:nvSpPr>
          <p:spPr bwMode="auto">
            <a:xfrm>
              <a:off x="2999054" y="1484784"/>
              <a:ext cx="2197425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←0</a:t>
              </a:r>
              <a:r>
                <a:rPr lang="zh-CN" altLang="en-US" sz="1800" dirty="0">
                  <a:solidFill>
                    <a:schemeClr val="tx1"/>
                  </a:solidFill>
                </a:rPr>
                <a:t>，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Cnt←n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 bwMode="auto">
            <a:xfrm>
              <a:off x="4067944" y="1268760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 flipH="1">
              <a:off x="4067944" y="1772816"/>
              <a:ext cx="186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52"/>
            <p:cNvCxnSpPr/>
            <p:nvPr/>
          </p:nvCxnSpPr>
          <p:spPr bwMode="auto">
            <a:xfrm rot="10800000" flipV="1">
              <a:off x="2663928" y="2132888"/>
              <a:ext cx="467912" cy="288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3" name="Text Box 96"/>
            <p:cNvSpPr txBox="1">
              <a:spLocks noChangeArrowheads="1"/>
            </p:cNvSpPr>
            <p:nvPr/>
          </p:nvSpPr>
          <p:spPr bwMode="auto">
            <a:xfrm>
              <a:off x="4356216" y="2420888"/>
              <a:ext cx="194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＋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接箭头连接符 52"/>
            <p:cNvCxnSpPr/>
            <p:nvPr/>
          </p:nvCxnSpPr>
          <p:spPr bwMode="auto">
            <a:xfrm>
              <a:off x="5076056" y="2132888"/>
              <a:ext cx="468000" cy="288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5" name="Text Box 91"/>
            <p:cNvSpPr txBox="1">
              <a:spLocks noChangeArrowheads="1"/>
            </p:cNvSpPr>
            <p:nvPr/>
          </p:nvSpPr>
          <p:spPr bwMode="auto">
            <a:xfrm>
              <a:off x="5076056" y="1916864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N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直接箭头连接符 75"/>
            <p:cNvCxnSpPr/>
            <p:nvPr/>
          </p:nvCxnSpPr>
          <p:spPr bwMode="auto">
            <a:xfrm>
              <a:off x="2699792" y="2708888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>
              <a:off x="5580112" y="2708888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77"/>
            <p:cNvCxnSpPr/>
            <p:nvPr/>
          </p:nvCxnSpPr>
          <p:spPr bwMode="auto">
            <a:xfrm>
              <a:off x="4091585" y="2852936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/>
          </p:nvCxnSpPr>
          <p:spPr bwMode="auto">
            <a:xfrm flipH="1">
              <a:off x="4067944" y="3284952"/>
              <a:ext cx="1209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/>
            <p:cNvCxnSpPr/>
            <p:nvPr/>
          </p:nvCxnSpPr>
          <p:spPr bwMode="auto">
            <a:xfrm>
              <a:off x="4067944" y="378900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1" name="AutoShape 87"/>
            <p:cNvSpPr>
              <a:spLocks noChangeArrowheads="1"/>
            </p:cNvSpPr>
            <p:nvPr/>
          </p:nvSpPr>
          <p:spPr bwMode="auto">
            <a:xfrm>
              <a:off x="3131840" y="4005064"/>
              <a:ext cx="1872000" cy="288000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=0?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接箭头连接符 52"/>
            <p:cNvCxnSpPr/>
            <p:nvPr/>
          </p:nvCxnSpPr>
          <p:spPr bwMode="auto">
            <a:xfrm rot="5400000" flipH="1" flipV="1">
              <a:off x="4571943" y="2276856"/>
              <a:ext cx="2268000" cy="1404000"/>
            </a:xfrm>
            <a:prstGeom prst="bentConnector3">
              <a:avLst>
                <a:gd name="adj1" fmla="val -893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5076460" y="3933088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N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箭头连接符 83"/>
            <p:cNvCxnSpPr/>
            <p:nvPr/>
          </p:nvCxnSpPr>
          <p:spPr bwMode="auto">
            <a:xfrm flipH="1">
              <a:off x="4068224" y="42930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5" name="六边形 84"/>
            <p:cNvSpPr/>
            <p:nvPr/>
          </p:nvSpPr>
          <p:spPr bwMode="auto">
            <a:xfrm>
              <a:off x="2772072" y="4581128"/>
              <a:ext cx="2448000" cy="288000"/>
            </a:xfrm>
            <a:prstGeom prst="hexagon">
              <a:avLst>
                <a:gd name="adj" fmla="val 32096"/>
                <a:gd name="vf" fmla="val 11547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8000" tIns="10800" rIns="18000" bIns="10800" numCol="1" rtlCol="0" anchor="ctr" anchorCtr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乘积在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及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中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</a:endParaRPr>
            </a:p>
          </p:txBody>
        </p:sp>
        <p:sp>
          <p:nvSpPr>
            <p:cNvPr id="86" name="Text Box 91"/>
            <p:cNvSpPr txBox="1">
              <a:spLocks noChangeArrowheads="1"/>
            </p:cNvSpPr>
            <p:nvPr/>
          </p:nvSpPr>
          <p:spPr bwMode="auto">
            <a:xfrm>
              <a:off x="3852324" y="4293120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Y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 flipH="1">
              <a:off x="4067943" y="1844856"/>
              <a:ext cx="234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9" name="Text Box 201"/>
          <p:cNvSpPr txBox="1">
            <a:spLocks noChangeArrowheads="1"/>
          </p:cNvSpPr>
          <p:nvPr/>
        </p:nvSpPr>
        <p:spPr bwMode="auto">
          <a:xfrm>
            <a:off x="179512" y="4797152"/>
            <a:ext cx="5904656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*溢出判断：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基于指令</a:t>
            </a:r>
            <a:r>
              <a:rPr lang="zh-CN" altLang="en-US" sz="2000" dirty="0">
                <a:solidFill>
                  <a:schemeClr val="tx1"/>
                </a:solidFill>
              </a:rPr>
              <a:t>需求</a:t>
            </a:r>
            <a:r>
              <a:rPr lang="en-US" altLang="zh-CN" sz="1800" dirty="0" smtClean="0">
                <a:solidFill>
                  <a:schemeClr val="tx1"/>
                </a:solidFill>
              </a:rPr>
              <a:t>[</a:t>
            </a:r>
            <a:r>
              <a:rPr lang="zh-CN" altLang="en-US" sz="1800" dirty="0" smtClean="0">
                <a:solidFill>
                  <a:schemeClr val="tx1"/>
                </a:solidFill>
              </a:rPr>
              <a:t>非乘法运算本身</a:t>
            </a:r>
            <a:r>
              <a:rPr lang="en-US" altLang="zh-CN" sz="1800" dirty="0" smtClean="0">
                <a:solidFill>
                  <a:schemeClr val="tx1"/>
                </a:solidFill>
              </a:rPr>
              <a:t>]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8230" indent="-1078230"/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乘法结果为</a:t>
            </a:r>
            <a:r>
              <a:rPr lang="en-US" altLang="zh-CN" dirty="0">
                <a:solidFill>
                  <a:schemeClr val="accent2"/>
                </a:solidFill>
              </a:rPr>
              <a:t>2n</a:t>
            </a:r>
            <a:r>
              <a:rPr lang="zh-CN" altLang="en-US" dirty="0">
                <a:solidFill>
                  <a:schemeClr val="accent2"/>
                </a:solidFill>
              </a:rPr>
              <a:t>位时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8230" indent="-1078230"/>
            <a:r>
              <a:rPr lang="zh-CN" altLang="en-US" dirty="0" smtClean="0">
                <a:solidFill>
                  <a:schemeClr val="accent2"/>
                </a:solidFill>
              </a:rPr>
              <a:t>    乘法结果为</a:t>
            </a:r>
            <a:r>
              <a:rPr lang="en-US" altLang="zh-CN" dirty="0" smtClean="0">
                <a:solidFill>
                  <a:schemeClr val="accent2"/>
                </a:solidFill>
              </a:rPr>
              <a:t> n</a:t>
            </a:r>
            <a:r>
              <a:rPr lang="zh-CN" altLang="en-US" dirty="0">
                <a:solidFill>
                  <a:schemeClr val="accent2"/>
                </a:solidFill>
              </a:rPr>
              <a:t>位时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90" name="Text Box 99"/>
          <p:cNvSpPr txBox="1">
            <a:spLocks noChangeArrowheads="1"/>
          </p:cNvSpPr>
          <p:nvPr/>
        </p:nvSpPr>
        <p:spPr bwMode="auto">
          <a:xfrm>
            <a:off x="3635896" y="5229200"/>
            <a:ext cx="5328841" cy="101473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892175" indent="-892175"/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不会溢出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892175" indent="-892175"/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  <a:ea typeface="+mn-ea"/>
              </a:rPr>
              <a:t>2n-1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+…+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baseline="-18000" dirty="0" err="1" smtClean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    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←高位有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就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溢出</a:t>
            </a:r>
            <a:endParaRPr lang="en-US" altLang="zh-CN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1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53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AutoShape 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AutoShape 29"/>
          <p:cNvSpPr/>
          <p:nvPr/>
        </p:nvSpPr>
        <p:spPr bwMode="auto">
          <a:xfrm>
            <a:off x="6516216" y="5157256"/>
            <a:ext cx="2376000" cy="576000"/>
          </a:xfrm>
          <a:prstGeom prst="borderCallout2">
            <a:avLst>
              <a:gd name="adj1" fmla="val 52165"/>
              <a:gd name="adj2" fmla="val 428"/>
              <a:gd name="adj3" fmla="val 51452"/>
              <a:gd name="adj4" fmla="val -8540"/>
              <a:gd name="adj5" fmla="val 106695"/>
              <a:gd name="adj6" fmla="val -17212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rgbClr val="0070C0"/>
                </a:solidFill>
              </a:rPr>
              <a:t>硬件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按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n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位产生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OF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，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指令决定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是否保存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视为异常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右大括号 4"/>
          <p:cNvSpPr/>
          <p:nvPr/>
        </p:nvSpPr>
        <p:spPr bwMode="auto">
          <a:xfrm>
            <a:off x="5940152" y="5445224"/>
            <a:ext cx="108000" cy="648072"/>
          </a:xfrm>
          <a:prstGeom prst="rightBrace">
            <a:avLst/>
          </a:prstGeom>
          <a:noFill/>
          <a:ln w="12700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42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683568" y="5157192"/>
            <a:ext cx="8352928" cy="1250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     由于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>
                <a:solidFill>
                  <a:schemeClr val="tx1"/>
                </a:solidFill>
              </a:rPr>
              <a:t>A×2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    ＝</a:t>
            </a:r>
            <a:r>
              <a:rPr lang="en-US" altLang="zh-CN" sz="2200" dirty="0" smtClean="0">
                <a:solidFill>
                  <a:srgbClr val="990099"/>
                </a:solidFill>
              </a:rPr>
              <a:t>2</a:t>
            </a:r>
            <a:r>
              <a:rPr lang="en-US" altLang="zh-CN" sz="2200" baseline="30000" dirty="0" smtClean="0">
                <a:solidFill>
                  <a:srgbClr val="990099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</a:rPr>
              <a:t>×{[(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)×A]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{…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{[(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)×</a:t>
            </a:r>
            <a:r>
              <a:rPr lang="en-US" altLang="zh-CN" sz="2200" dirty="0" smtClean="0">
                <a:solidFill>
                  <a:schemeClr val="tx1"/>
                </a:solidFill>
              </a:rPr>
              <a:t>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                    ＋</a:t>
            </a:r>
            <a:r>
              <a:rPr lang="en-US" altLang="zh-CN" sz="2200" dirty="0" smtClean="0">
                <a:solidFill>
                  <a:schemeClr val="tx1"/>
                </a:solidFill>
              </a:rPr>
              <a:t>{</a:t>
            </a:r>
            <a:r>
              <a:rPr lang="en-US" altLang="zh-CN" sz="2200" dirty="0" smtClean="0">
                <a:solidFill>
                  <a:srgbClr val="FF3399"/>
                </a:solidFill>
              </a:rPr>
              <a:t>0</a:t>
            </a:r>
            <a:r>
              <a:rPr lang="zh-CN" altLang="en-US" sz="2200" dirty="0" smtClean="0">
                <a:solidFill>
                  <a:srgbClr val="FF3399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[(0-b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)×A]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}×2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}×2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}…}×2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3" name="Rectangle 445"/>
          <p:cNvSpPr>
            <a:spLocks noChangeArrowheads="1"/>
          </p:cNvSpPr>
          <p:nvPr/>
        </p:nvSpPr>
        <p:spPr bwMode="auto">
          <a:xfrm>
            <a:off x="1535984" y="2852968"/>
            <a:ext cx="2268000" cy="288000"/>
          </a:xfrm>
          <a:prstGeom prst="rect">
            <a:avLst/>
          </a:prstGeom>
          <a:solidFill>
            <a:srgbClr val="FFCC99"/>
          </a:solidFill>
          <a:ln w="19050" algn="ctr">
            <a:noFill/>
            <a:miter lim="800000"/>
          </a:ln>
          <a:effectLst/>
        </p:spPr>
        <p:txBody>
          <a:bodyPr wrap="square" anchor="ctr">
            <a:noAutofit/>
          </a:bodyPr>
          <a:lstStyle/>
          <a:p>
            <a:endParaRPr lang="zh-CN" altLang="en-US"/>
          </a:p>
        </p:txBody>
      </p:sp>
      <p:sp>
        <p:nvSpPr>
          <p:cNvPr id="24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785100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补码</a:t>
            </a:r>
            <a:r>
              <a:rPr lang="zh-CN" altLang="en-US" dirty="0" smtClean="0">
                <a:solidFill>
                  <a:srgbClr val="FF3399"/>
                </a:solidFill>
              </a:rPr>
              <a:t>乘法运算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只讨论</a:t>
            </a:r>
            <a:r>
              <a:rPr lang="zh-CN" altLang="en-US" sz="2000" dirty="0" smtClean="0">
                <a:solidFill>
                  <a:srgbClr val="990099"/>
                </a:solidFill>
              </a:rPr>
              <a:t>整数</a:t>
            </a:r>
            <a:r>
              <a:rPr lang="zh-CN" altLang="en-US" sz="2000" dirty="0" smtClean="0">
                <a:solidFill>
                  <a:schemeClr val="tx1"/>
                </a:solidFill>
              </a:rPr>
              <a:t>一位乘法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，结果</a:t>
            </a:r>
            <a:r>
              <a:rPr lang="zh-CN" altLang="en-US" dirty="0">
                <a:solidFill>
                  <a:srgbClr val="990099"/>
                </a:solidFill>
              </a:rPr>
              <a:t>应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en-US" altLang="zh-CN" dirty="0">
                <a:solidFill>
                  <a:schemeClr val="tx1"/>
                </a:solidFill>
              </a:rPr>
              <a:t>2n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*运算方法：</a:t>
            </a:r>
            <a:r>
              <a:rPr lang="zh-CN" altLang="en-US" dirty="0" smtClean="0">
                <a:solidFill>
                  <a:schemeClr val="tx1"/>
                </a:solidFill>
              </a:rPr>
              <a:t>又称</a:t>
            </a:r>
            <a:r>
              <a:rPr lang="en-US" altLang="zh-CN" dirty="0" smtClean="0">
                <a:solidFill>
                  <a:schemeClr val="tx1"/>
                </a:solidFill>
              </a:rPr>
              <a:t>Booth</a:t>
            </a:r>
            <a:r>
              <a:rPr lang="zh-CN" altLang="en-US" dirty="0" smtClean="0">
                <a:solidFill>
                  <a:schemeClr val="tx1"/>
                </a:solidFill>
              </a:rPr>
              <a:t>算法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5" name="Text Box 200"/>
          <p:cNvSpPr txBox="1">
            <a:spLocks noChangeArrowheads="1"/>
          </p:cNvSpPr>
          <p:nvPr/>
        </p:nvSpPr>
        <p:spPr bwMode="auto">
          <a:xfrm>
            <a:off x="755576" y="1700808"/>
            <a:ext cx="8280920" cy="1926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设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[B]</a:t>
            </a:r>
            <a:r>
              <a:rPr lang="zh-CN" altLang="en-US" sz="2200" spc="-40" baseline="-16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40" dirty="0" smtClean="0">
                <a:solidFill>
                  <a:srgbClr val="990099"/>
                </a:solidFill>
              </a:rPr>
              <a:t>b</a:t>
            </a:r>
            <a:r>
              <a:rPr lang="en-US" altLang="zh-CN" sz="2200" spc="-40" baseline="-18000" dirty="0" smtClean="0">
                <a:solidFill>
                  <a:srgbClr val="990099"/>
                </a:solidFill>
              </a:rPr>
              <a:t>n-1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…b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，则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B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40" dirty="0" smtClean="0">
                <a:solidFill>
                  <a:srgbClr val="990099"/>
                </a:solidFill>
              </a:rPr>
              <a:t>b</a:t>
            </a:r>
            <a:r>
              <a:rPr lang="en-US" altLang="zh-CN" sz="2200" spc="-40" baseline="-18000" dirty="0" smtClean="0">
                <a:solidFill>
                  <a:srgbClr val="990099"/>
                </a:solidFill>
              </a:rPr>
              <a:t>n-1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…b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－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2</a:t>
            </a:r>
            <a:r>
              <a:rPr lang="en-US" altLang="zh-CN" sz="2200" spc="-40" baseline="30000" dirty="0" smtClean="0">
                <a:solidFill>
                  <a:schemeClr val="tx1"/>
                </a:solidFill>
              </a:rPr>
              <a:t>n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40" dirty="0" smtClean="0">
                <a:solidFill>
                  <a:srgbClr val="990099"/>
                </a:solidFill>
              </a:rPr>
              <a:t>-</a:t>
            </a:r>
            <a:r>
              <a:rPr lang="en-US" altLang="zh-CN" sz="2200" spc="-40" dirty="0">
                <a:solidFill>
                  <a:srgbClr val="990099"/>
                </a:solidFill>
              </a:rPr>
              <a:t>b</a:t>
            </a:r>
            <a:r>
              <a:rPr lang="en-US" altLang="zh-CN" sz="2200" spc="-4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2200" spc="-40" dirty="0">
                <a:solidFill>
                  <a:srgbClr val="990099"/>
                </a:solidFill>
              </a:rPr>
              <a:t>×2</a:t>
            </a:r>
            <a:r>
              <a:rPr lang="en-US" altLang="zh-CN" sz="2200" spc="-40" baseline="30000" dirty="0">
                <a:solidFill>
                  <a:srgbClr val="990099"/>
                </a:solidFill>
              </a:rPr>
              <a:t>n-1</a:t>
            </a:r>
            <a:r>
              <a:rPr lang="zh-CN" altLang="en-US" sz="2200" spc="-40" dirty="0">
                <a:solidFill>
                  <a:schemeClr val="tx1"/>
                </a:solidFill>
              </a:rPr>
              <a:t>＋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…b</a:t>
            </a:r>
            <a:r>
              <a:rPr lang="en-US" altLang="zh-CN" sz="2200" spc="-4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   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时如此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代入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rgbClr val="FF3399"/>
                </a:solidFill>
              </a:rPr>
              <a:t>→</a:t>
            </a:r>
            <a:r>
              <a:rPr lang="zh-CN" altLang="en-US" sz="1800" b="0" dirty="0" smtClean="0">
                <a:solidFill>
                  <a:srgbClr val="FF3399"/>
                </a:solidFill>
              </a:rPr>
              <a:t>┴</a:t>
            </a:r>
            <a:r>
              <a:rPr lang="zh-CN" altLang="en-US" sz="1800" dirty="0" smtClean="0">
                <a:solidFill>
                  <a:srgbClr val="FF3399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时如此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代入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有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rgbClr val="990099"/>
                </a:solidFill>
              </a:rPr>
              <a:t>-</a:t>
            </a:r>
            <a:r>
              <a:rPr lang="en-US" altLang="zh-CN" sz="2200" dirty="0" smtClean="0">
                <a:solidFill>
                  <a:srgbClr val="990099"/>
                </a:solidFill>
              </a:rPr>
              <a:t>b</a:t>
            </a:r>
            <a:r>
              <a:rPr lang="en-US" altLang="zh-CN" sz="2200" baseline="-18000" dirty="0" smtClean="0">
                <a:solidFill>
                  <a:srgbClr val="990099"/>
                </a:solidFill>
              </a:rPr>
              <a:t>n-1</a:t>
            </a:r>
            <a:r>
              <a:rPr lang="en-US" altLang="zh-CN" sz="2200" dirty="0" smtClean="0">
                <a:solidFill>
                  <a:srgbClr val="990099"/>
                </a:solidFill>
              </a:rPr>
              <a:t>×2</a:t>
            </a:r>
            <a:r>
              <a:rPr lang="en-US" altLang="zh-CN" sz="2200" baseline="30000" dirty="0" smtClean="0">
                <a:solidFill>
                  <a:srgbClr val="990099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accent2"/>
                </a:solidFill>
              </a:rPr>
              <a:t>b</a:t>
            </a:r>
            <a:r>
              <a:rPr lang="en-US" altLang="zh-CN" sz="2200" baseline="-18000" dirty="0" smtClean="0">
                <a:solidFill>
                  <a:schemeClr val="accent2"/>
                </a:solidFill>
              </a:rPr>
              <a:t>n-2</a:t>
            </a:r>
            <a:r>
              <a:rPr lang="en-US" altLang="zh-CN" sz="2200" dirty="0" smtClean="0">
                <a:solidFill>
                  <a:schemeClr val="accent2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accent2"/>
                </a:solidFill>
              </a:rPr>
              <a:t>n-2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0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   ＝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2</a:t>
            </a:r>
            <a:r>
              <a:rPr lang="en-US" altLang="zh-CN" sz="22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accent2"/>
                </a:solidFill>
              </a:rPr>
              <a:t>b</a:t>
            </a:r>
            <a:r>
              <a:rPr lang="en-US" altLang="zh-CN" sz="2200" baseline="-18000" dirty="0">
                <a:solidFill>
                  <a:schemeClr val="accent2"/>
                </a:solidFill>
              </a:rPr>
              <a:t>n-2</a:t>
            </a:r>
            <a:r>
              <a:rPr lang="en-US" altLang="zh-CN" sz="2200" dirty="0">
                <a:solidFill>
                  <a:schemeClr val="accent2"/>
                </a:solidFill>
              </a:rPr>
              <a:t>2</a:t>
            </a:r>
            <a:r>
              <a:rPr lang="en-US" altLang="zh-CN" sz="2200" baseline="30000" dirty="0">
                <a:solidFill>
                  <a:schemeClr val="accent2"/>
                </a:solidFill>
              </a:rPr>
              <a:t>n-1</a:t>
            </a:r>
            <a:r>
              <a:rPr lang="en-US" altLang="zh-CN" sz="2200" dirty="0">
                <a:solidFill>
                  <a:schemeClr val="accent2"/>
                </a:solidFill>
              </a:rPr>
              <a:t>-b</a:t>
            </a:r>
            <a:r>
              <a:rPr lang="en-US" altLang="zh-CN" sz="2200" baseline="-18000" dirty="0">
                <a:solidFill>
                  <a:schemeClr val="accent2"/>
                </a:solidFill>
              </a:rPr>
              <a:t>n-2</a:t>
            </a:r>
            <a:r>
              <a:rPr lang="en-US" altLang="zh-CN" sz="2200" dirty="0">
                <a:solidFill>
                  <a:schemeClr val="accent2"/>
                </a:solidFill>
              </a:rPr>
              <a:t>2</a:t>
            </a:r>
            <a:r>
              <a:rPr lang="en-US" altLang="zh-CN" sz="2200" baseline="30000" dirty="0">
                <a:solidFill>
                  <a:schemeClr val="accent2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…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accent2"/>
                </a:solidFill>
              </a:rPr>
              <a:t>b</a:t>
            </a:r>
            <a:r>
              <a:rPr lang="en-US" altLang="zh-CN" sz="2200" baseline="-18000" dirty="0">
                <a:solidFill>
                  <a:schemeClr val="accent2"/>
                </a:solidFill>
              </a:rPr>
              <a:t>0</a:t>
            </a:r>
            <a:r>
              <a:rPr lang="en-US" altLang="zh-CN" sz="2200" dirty="0">
                <a:solidFill>
                  <a:schemeClr val="accent2"/>
                </a:solidFill>
              </a:rPr>
              <a:t>2</a:t>
            </a:r>
            <a:r>
              <a:rPr lang="en-US" altLang="zh-CN" sz="2200" baseline="30000" dirty="0">
                <a:solidFill>
                  <a:schemeClr val="accent2"/>
                </a:solidFill>
              </a:rPr>
              <a:t>1</a:t>
            </a:r>
            <a:r>
              <a:rPr lang="en-US" altLang="zh-CN" sz="2200" dirty="0">
                <a:solidFill>
                  <a:schemeClr val="accent2"/>
                </a:solidFill>
              </a:rPr>
              <a:t>-b</a:t>
            </a:r>
            <a:r>
              <a:rPr lang="en-US" altLang="zh-CN" sz="2200" baseline="-18000" dirty="0">
                <a:solidFill>
                  <a:schemeClr val="accent2"/>
                </a:solidFill>
              </a:rPr>
              <a:t>0</a:t>
            </a:r>
            <a:r>
              <a:rPr lang="en-US" altLang="zh-CN" sz="2200" dirty="0">
                <a:solidFill>
                  <a:schemeClr val="accent2"/>
                </a:solidFill>
              </a:rPr>
              <a:t>2</a:t>
            </a:r>
            <a:r>
              <a:rPr lang="en-US" altLang="zh-CN" sz="2200" baseline="30000" dirty="0">
                <a:solidFill>
                  <a:schemeClr val="accent2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aseline="30000" dirty="0" smtClean="0">
                <a:solidFill>
                  <a:schemeClr val="tx1"/>
                </a:solidFill>
              </a:rPr>
              <a:t>i-1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aseline="30000" dirty="0" smtClean="0">
                <a:solidFill>
                  <a:schemeClr val="tx1"/>
                </a:solidFill>
              </a:rPr>
              <a:t>i</a:t>
            </a:r>
            <a:r>
              <a:rPr lang="en-US" altLang="zh-CN" sz="1800" dirty="0" smtClean="0">
                <a:solidFill>
                  <a:schemeClr val="tx1"/>
                </a:solidFill>
              </a:rPr>
              <a:t>-2</a:t>
            </a:r>
            <a:r>
              <a:rPr lang="en-US" altLang="zh-CN" sz="1800" baseline="30000" dirty="0" smtClean="0">
                <a:solidFill>
                  <a:schemeClr val="tx1"/>
                </a:solidFill>
              </a:rPr>
              <a:t>i-1</a:t>
            </a:r>
            <a:endParaRPr lang="en-US" altLang="zh-CN" sz="1800" baseline="30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 smtClean="0">
                <a:solidFill>
                  <a:schemeClr val="tx1"/>
                </a:solidFill>
              </a:rPr>
              <a:t>   ＝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rgbClr val="C00000"/>
                </a:solidFill>
              </a:rPr>
              <a:t>b</a:t>
            </a:r>
            <a:r>
              <a:rPr lang="en-US" altLang="zh-CN" sz="2200" baseline="-18000" dirty="0">
                <a:solidFill>
                  <a:srgbClr val="C00000"/>
                </a:solidFill>
              </a:rPr>
              <a:t>n-2</a:t>
            </a:r>
            <a:r>
              <a:rPr lang="en-US" altLang="zh-CN" sz="2200" dirty="0">
                <a:solidFill>
                  <a:srgbClr val="C00000"/>
                </a:solidFill>
              </a:rPr>
              <a:t>-b</a:t>
            </a:r>
            <a:r>
              <a:rPr lang="en-US" altLang="zh-CN" sz="2200" baseline="-18000" dirty="0">
                <a:solidFill>
                  <a:srgbClr val="C00000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rgbClr val="C00000"/>
                </a:solidFill>
              </a:rPr>
              <a:t>b</a:t>
            </a:r>
            <a:r>
              <a:rPr lang="en-US" altLang="zh-CN" sz="2200" baseline="-18000" dirty="0">
                <a:solidFill>
                  <a:srgbClr val="C00000"/>
                </a:solidFill>
              </a:rPr>
              <a:t>n-3</a:t>
            </a:r>
            <a:r>
              <a:rPr lang="en-US" altLang="zh-CN" sz="2200" dirty="0">
                <a:solidFill>
                  <a:srgbClr val="C00000"/>
                </a:solidFill>
              </a:rPr>
              <a:t>-b</a:t>
            </a:r>
            <a:r>
              <a:rPr lang="en-US" altLang="zh-CN" sz="2200" baseline="-18000" dirty="0">
                <a:solidFill>
                  <a:srgbClr val="C00000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>
                <a:solidFill>
                  <a:schemeClr val="tx1"/>
                </a:solidFill>
              </a:rPr>
              <a:t>n-2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…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 smtClean="0">
                <a:solidFill>
                  <a:srgbClr val="FF3399"/>
                </a:solidFill>
              </a:rPr>
              <a:t>0</a:t>
            </a:r>
            <a:r>
              <a:rPr lang="en-US" altLang="zh-CN" sz="2200" dirty="0" smtClean="0">
                <a:solidFill>
                  <a:srgbClr val="C00000"/>
                </a:solidFill>
              </a:rPr>
              <a:t>-b</a:t>
            </a:r>
            <a:r>
              <a:rPr lang="en-US" altLang="zh-CN" sz="2200" baseline="-18000" dirty="0" smtClean="0">
                <a:solidFill>
                  <a:srgbClr val="C00000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29" name="Text Box 12"/>
          <p:cNvSpPr txBox="1">
            <a:spLocks noChangeArrowheads="1"/>
          </p:cNvSpPr>
          <p:nvPr/>
        </p:nvSpPr>
        <p:spPr bwMode="auto">
          <a:xfrm>
            <a:off x="683444" y="3573016"/>
            <a:ext cx="8353052" cy="16360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>
                <a:solidFill>
                  <a:schemeClr val="tx1"/>
                </a:solidFill>
              </a:rPr>
              <a:t>A×B]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[A×{(b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(b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n-3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n-2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tx1"/>
                </a:solidFill>
              </a:rPr>
              <a:t>0-b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}]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endParaRPr lang="en-US" altLang="zh-CN" sz="2200" baseline="-180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rgbClr val="990099"/>
                </a:solidFill>
              </a:rPr>
              <a:t>2</a:t>
            </a:r>
            <a:r>
              <a:rPr lang="en-US" altLang="zh-CN" sz="2200" baseline="30000" dirty="0" smtClean="0">
                <a:solidFill>
                  <a:srgbClr val="990099"/>
                </a:solidFill>
              </a:rPr>
              <a:t>n</a:t>
            </a:r>
            <a:r>
              <a:rPr lang="en-US" altLang="zh-CN" sz="2200" dirty="0" smtClean="0">
                <a:solidFill>
                  <a:srgbClr val="990099"/>
                </a:solidFill>
              </a:rPr>
              <a:t>×</a:t>
            </a:r>
            <a:r>
              <a:rPr lang="en-US" altLang="zh-CN" sz="2200" dirty="0" smtClean="0">
                <a:solidFill>
                  <a:schemeClr val="tx1"/>
                </a:solidFill>
              </a:rPr>
              <a:t>[A×{(b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</a:t>
            </a:r>
            <a:r>
              <a:rPr lang="en-US" altLang="zh-CN" sz="2200" baseline="30000" dirty="0" smtClean="0">
                <a:solidFill>
                  <a:srgbClr val="990099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(b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n-3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-2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…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(0-b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)2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</a:t>
            </a:r>
            <a:r>
              <a:rPr lang="en-US" altLang="zh-CN" sz="2200" baseline="30000" dirty="0" smtClean="0">
                <a:solidFill>
                  <a:srgbClr val="990099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</a:rPr>
              <a:t>}]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endParaRPr lang="en-US" altLang="zh-CN" sz="2200" baseline="-18000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   ＝</a:t>
            </a:r>
            <a:r>
              <a:rPr lang="en-US" altLang="zh-CN" sz="2200" dirty="0">
                <a:solidFill>
                  <a:srgbClr val="990099"/>
                </a:solidFill>
              </a:rPr>
              <a:t>2</a:t>
            </a:r>
            <a:r>
              <a:rPr lang="en-US" altLang="zh-CN" sz="2200" baseline="30000" dirty="0">
                <a:solidFill>
                  <a:srgbClr val="990099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</a:rPr>
              <a:t>×[</a:t>
            </a:r>
            <a:r>
              <a:rPr lang="en-US" altLang="zh-CN" sz="2200" dirty="0">
                <a:solidFill>
                  <a:srgbClr val="C00000"/>
                </a:solidFill>
              </a:rPr>
              <a:t>{</a:t>
            </a:r>
            <a:r>
              <a:rPr lang="en-US" altLang="zh-CN" sz="2200" dirty="0">
                <a:solidFill>
                  <a:schemeClr val="tx1"/>
                </a:solidFill>
              </a:rPr>
              <a:t>(b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)×A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{…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rgbClr val="0070C0"/>
                </a:solidFill>
              </a:rPr>
              <a:t>{</a:t>
            </a:r>
            <a:r>
              <a:rPr lang="en-US" altLang="zh-CN" sz="2200" dirty="0">
                <a:solidFill>
                  <a:schemeClr val="tx1"/>
                </a:solidFill>
              </a:rPr>
              <a:t>(b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)×A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            </a:t>
            </a:r>
            <a:r>
              <a:rPr lang="zh-CN" altLang="en-US" sz="2200" dirty="0" smtClean="0">
                <a:solidFill>
                  <a:schemeClr val="tx1"/>
                </a:solidFill>
              </a:rPr>
              <a:t>         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{</a:t>
            </a:r>
            <a:r>
              <a:rPr lang="en-US" altLang="zh-CN" sz="2200" dirty="0">
                <a:solidFill>
                  <a:srgbClr val="FF3399"/>
                </a:solidFill>
              </a:rPr>
              <a:t>0</a:t>
            </a:r>
            <a:r>
              <a:rPr lang="zh-CN" altLang="en-US" sz="2200" dirty="0">
                <a:solidFill>
                  <a:srgbClr val="FF3399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(0-b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)×A}×2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</a:t>
            </a:r>
            <a:r>
              <a:rPr lang="en-US" altLang="zh-CN" sz="2200" dirty="0">
                <a:solidFill>
                  <a:srgbClr val="0070C0"/>
                </a:solidFill>
              </a:rPr>
              <a:t>}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}…</a:t>
            </a:r>
            <a:r>
              <a:rPr lang="en-US" altLang="zh-CN" sz="2200" dirty="0">
                <a:solidFill>
                  <a:srgbClr val="C00000"/>
                </a:solidFill>
              </a:rPr>
              <a:t>}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192472" y="6273328"/>
            <a:ext cx="2628000" cy="324024"/>
            <a:chOff x="6164848" y="6904630"/>
            <a:chExt cx="2628000" cy="324024"/>
          </a:xfrm>
        </p:grpSpPr>
        <p:sp>
          <p:nvSpPr>
            <p:cNvPr id="35" name="右大括号 34"/>
            <p:cNvSpPr/>
            <p:nvPr/>
          </p:nvSpPr>
          <p:spPr bwMode="auto">
            <a:xfrm rot="5400000">
              <a:off x="7424848" y="5644630"/>
              <a:ext cx="108000" cy="2628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Text Box 178"/>
            <p:cNvSpPr txBox="1">
              <a:spLocks noChangeArrowheads="1"/>
            </p:cNvSpPr>
            <p:nvPr/>
          </p:nvSpPr>
          <p:spPr bwMode="auto">
            <a:xfrm>
              <a:off x="7244680" y="7012654"/>
              <a:ext cx="432048" cy="216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990099"/>
                  </a:solidFill>
                </a:rPr>
                <a:t>n</a:t>
              </a:r>
              <a:r>
                <a:rPr lang="zh-CN" altLang="en-US" sz="1600" dirty="0" smtClean="0">
                  <a:solidFill>
                    <a:srgbClr val="990099"/>
                  </a:solidFill>
                </a:rPr>
                <a:t>次</a:t>
              </a:r>
              <a:endParaRPr lang="zh-CN" altLang="en-US" sz="1600" dirty="0">
                <a:solidFill>
                  <a:srgbClr val="990099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5868144" y="5085184"/>
            <a:ext cx="2592000" cy="324024"/>
            <a:chOff x="5976152" y="5049192"/>
            <a:chExt cx="2592000" cy="324024"/>
          </a:xfrm>
        </p:grpSpPr>
        <p:sp>
          <p:nvSpPr>
            <p:cNvPr id="38" name="右大括号 37"/>
            <p:cNvSpPr/>
            <p:nvPr/>
          </p:nvSpPr>
          <p:spPr bwMode="auto">
            <a:xfrm rot="5400000">
              <a:off x="7218152" y="3807192"/>
              <a:ext cx="108000" cy="2592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Text Box 178"/>
            <p:cNvSpPr txBox="1">
              <a:spLocks noChangeArrowheads="1"/>
            </p:cNvSpPr>
            <p:nvPr/>
          </p:nvSpPr>
          <p:spPr bwMode="auto">
            <a:xfrm>
              <a:off x="7092280" y="5157216"/>
              <a:ext cx="432048" cy="216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990099"/>
                  </a:solidFill>
                </a:rPr>
                <a:t>n</a:t>
              </a:r>
              <a:r>
                <a:rPr lang="zh-CN" altLang="en-US" sz="1600" dirty="0" smtClean="0">
                  <a:solidFill>
                    <a:srgbClr val="990099"/>
                  </a:solidFill>
                </a:rPr>
                <a:t>次</a:t>
              </a:r>
              <a:endParaRPr lang="zh-CN" altLang="en-US" sz="1600" dirty="0">
                <a:solidFill>
                  <a:srgbClr val="990099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67"/>
          <p:cNvSpPr txBox="1">
            <a:spLocks noChangeArrowheads="1"/>
          </p:cNvSpPr>
          <p:nvPr/>
        </p:nvSpPr>
        <p:spPr bwMode="auto">
          <a:xfrm>
            <a:off x="179388" y="332656"/>
            <a:ext cx="8785350" cy="2639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递推公式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spc="-100" dirty="0">
                <a:solidFill>
                  <a:schemeClr val="tx1"/>
                </a:solidFill>
              </a:rPr>
              <a:t>[B</a:t>
            </a:r>
            <a:r>
              <a:rPr lang="en-US" altLang="zh-CN" spc="-100" dirty="0" smtClean="0">
                <a:solidFill>
                  <a:schemeClr val="tx1"/>
                </a:solidFill>
              </a:rPr>
              <a:t>]</a:t>
            </a:r>
            <a:r>
              <a:rPr lang="zh-CN" altLang="en-US" spc="-100" baseline="-16000" dirty="0" smtClean="0">
                <a:solidFill>
                  <a:schemeClr val="tx1"/>
                </a:solidFill>
              </a:rPr>
              <a:t>补</a:t>
            </a:r>
            <a:r>
              <a:rPr lang="zh-CN" altLang="en-US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pc="-100" dirty="0" smtClean="0">
                <a:solidFill>
                  <a:schemeClr val="tx1"/>
                </a:solidFill>
              </a:rPr>
              <a:t>b</a:t>
            </a:r>
            <a:r>
              <a:rPr lang="en-US" altLang="zh-CN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pc="-100" dirty="0" smtClean="0">
                <a:solidFill>
                  <a:schemeClr val="tx1"/>
                </a:solidFill>
              </a:rPr>
              <a:t>b</a:t>
            </a:r>
            <a:r>
              <a:rPr lang="en-US" altLang="zh-CN" spc="-100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spc="-100" dirty="0" smtClean="0">
                <a:solidFill>
                  <a:schemeClr val="tx1"/>
                </a:solidFill>
              </a:rPr>
              <a:t>…b</a:t>
            </a:r>
            <a:r>
              <a:rPr lang="en-US" altLang="zh-CN" spc="-1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r>
              <a:rPr lang="zh-CN" altLang="en-US" spc="-100" dirty="0">
                <a:solidFill>
                  <a:srgbClr val="990099"/>
                </a:solidFill>
              </a:rPr>
              <a:t>附加位</a:t>
            </a:r>
            <a:r>
              <a:rPr lang="en-US" altLang="zh-CN" spc="-100" dirty="0" smtClean="0">
                <a:solidFill>
                  <a:srgbClr val="990099"/>
                </a:solidFill>
              </a:rPr>
              <a:t>b</a:t>
            </a:r>
            <a:r>
              <a:rPr lang="en-US" altLang="zh-CN" spc="-100" baseline="-20000" dirty="0" smtClean="0">
                <a:solidFill>
                  <a:srgbClr val="990099"/>
                </a:solidFill>
              </a:rPr>
              <a:t>-1</a:t>
            </a:r>
            <a:r>
              <a:rPr lang="zh-CN" altLang="en-US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pc="-100" dirty="0" smtClean="0">
                <a:solidFill>
                  <a:schemeClr val="tx1"/>
                </a:solidFill>
              </a:rPr>
              <a:t>0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r>
              <a:rPr lang="en-US" altLang="zh-CN" spc="-100" dirty="0" smtClean="0">
                <a:solidFill>
                  <a:schemeClr val="tx1"/>
                </a:solidFill>
              </a:rPr>
              <a:t>[P</a:t>
            </a:r>
            <a:r>
              <a:rPr lang="en-US" altLang="zh-CN" spc="-100" baseline="-20000" dirty="0" smtClean="0">
                <a:solidFill>
                  <a:schemeClr val="tx1"/>
                </a:solidFill>
              </a:rPr>
              <a:t>0</a:t>
            </a:r>
            <a:r>
              <a:rPr lang="en-US" altLang="zh-CN" spc="-100" dirty="0" smtClean="0">
                <a:solidFill>
                  <a:schemeClr val="tx1"/>
                </a:solidFill>
              </a:rPr>
              <a:t>]</a:t>
            </a:r>
            <a:r>
              <a:rPr lang="zh-CN" altLang="en-US" spc="-100" baseline="-16000" dirty="0" smtClean="0">
                <a:solidFill>
                  <a:schemeClr val="tx1"/>
                </a:solidFill>
              </a:rPr>
              <a:t>补</a:t>
            </a:r>
            <a:r>
              <a:rPr lang="zh-CN" altLang="en-US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pc="-100" dirty="0" smtClean="0">
                <a:solidFill>
                  <a:schemeClr val="tx1"/>
                </a:solidFill>
              </a:rPr>
              <a:t>0</a:t>
            </a:r>
            <a:endParaRPr lang="en-US" altLang="zh-CN" sz="2000" spc="-1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  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{[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[(</a:t>
            </a:r>
            <a:r>
              <a:rPr lang="en-US" altLang="zh-CN" sz="2200" dirty="0">
                <a:solidFill>
                  <a:srgbClr val="990099"/>
                </a:solidFill>
              </a:rPr>
              <a:t>b</a:t>
            </a:r>
            <a:r>
              <a:rPr lang="en-US" altLang="zh-CN" sz="2200" baseline="-20000" dirty="0">
                <a:solidFill>
                  <a:srgbClr val="990099"/>
                </a:solidFill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-b</a:t>
            </a:r>
            <a:r>
              <a:rPr lang="en-US" altLang="zh-CN" sz="2200" baseline="-20000" dirty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)×A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}×</a:t>
            </a:r>
            <a:r>
              <a:rPr lang="en-US" altLang="zh-CN" sz="2200" dirty="0">
                <a:solidFill>
                  <a:schemeClr val="tx1"/>
                </a:solidFill>
              </a:rPr>
              <a:t>2</a:t>
            </a:r>
            <a:r>
              <a:rPr lang="en-US" altLang="zh-CN" sz="2200" baseline="30000" dirty="0">
                <a:solidFill>
                  <a:schemeClr val="tx1"/>
                </a:solidFill>
              </a:rPr>
              <a:t>-1 </a:t>
            </a:r>
            <a:endParaRPr lang="en-US" altLang="zh-CN" sz="2200" baseline="30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                        …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 [P</a:t>
            </a:r>
            <a:r>
              <a:rPr lang="en-US" altLang="zh-CN" sz="2200" baseline="-16000" dirty="0" smtClean="0">
                <a:solidFill>
                  <a:schemeClr val="tx1"/>
                </a:solidFill>
              </a:rPr>
              <a:t>i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{[P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i-1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[(b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i-2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i-1</a:t>
            </a:r>
            <a:r>
              <a:rPr lang="en-US" altLang="zh-CN" sz="2200" dirty="0" smtClean="0">
                <a:solidFill>
                  <a:schemeClr val="tx1"/>
                </a:solidFill>
              </a:rPr>
              <a:t>)×</a:t>
            </a:r>
            <a:r>
              <a:rPr lang="en-US" altLang="zh-CN" sz="2200" dirty="0">
                <a:solidFill>
                  <a:schemeClr val="tx1"/>
                </a:solidFill>
              </a:rPr>
              <a:t>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}</a:t>
            </a:r>
            <a:r>
              <a:rPr lang="en-US" altLang="zh-CN" sz="2200" dirty="0" smtClean="0">
                <a:solidFill>
                  <a:srgbClr val="0070C0"/>
                </a:solidFill>
              </a:rPr>
              <a:t>×</a:t>
            </a:r>
            <a:r>
              <a:rPr lang="en-US" altLang="zh-CN" sz="2200" dirty="0">
                <a:solidFill>
                  <a:srgbClr val="0070C0"/>
                </a:solidFill>
              </a:rPr>
              <a:t>2</a:t>
            </a:r>
            <a:r>
              <a:rPr lang="en-US" altLang="zh-CN" sz="2200" baseline="30000" dirty="0">
                <a:solidFill>
                  <a:srgbClr val="0070C0"/>
                </a:solidFill>
              </a:rPr>
              <a:t>-1</a:t>
            </a:r>
            <a:r>
              <a:rPr lang="en-US" altLang="zh-CN" sz="2200" baseline="300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rgbClr val="0070C0"/>
                </a:solidFill>
              </a:rPr>
              <a:t>算术</a:t>
            </a:r>
            <a:r>
              <a:rPr lang="zh-CN" altLang="en-US" sz="1800" dirty="0">
                <a:solidFill>
                  <a:schemeClr val="tx1"/>
                </a:solidFill>
              </a:rPr>
              <a:t>右移</a:t>
            </a:r>
            <a:endParaRPr lang="en-US" altLang="zh-CN" sz="1800" baseline="30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                          … 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  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P</a:t>
            </a:r>
            <a:r>
              <a:rPr lang="en-US" altLang="zh-CN" sz="2200" baseline="-20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{[P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[(b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n-2</a:t>
            </a:r>
            <a:r>
              <a:rPr lang="en-US" altLang="zh-CN" sz="2200" dirty="0" smtClean="0">
                <a:solidFill>
                  <a:schemeClr val="tx1"/>
                </a:solidFill>
              </a:rPr>
              <a:t>-b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)×A]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}×2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lvl="0">
              <a:spcBef>
                <a:spcPts val="9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实质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519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64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179388" y="2913474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</a:t>
            </a:r>
            <a:r>
              <a:rPr lang="en-US" altLang="zh-CN" sz="2200" dirty="0" smtClean="0">
                <a:solidFill>
                  <a:srgbClr val="990099"/>
                </a:solidFill>
              </a:rPr>
              <a:t>   </a:t>
            </a: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>
                <a:solidFill>
                  <a:srgbClr val="990099"/>
                </a:solidFill>
              </a:rPr>
              <a:t>2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en-US" altLang="zh-CN" sz="2200" dirty="0" smtClean="0">
                <a:solidFill>
                  <a:schemeClr val="tx1"/>
                </a:solidFill>
              </a:rPr>
              <a:t>[A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 smtClean="0">
                <a:solidFill>
                  <a:schemeClr val="tx1"/>
                </a:solidFill>
              </a:rPr>
              <a:t>011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dirty="0">
                <a:solidFill>
                  <a:schemeClr val="tx1"/>
                </a:solidFill>
              </a:rPr>
              <a:t>B]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dirty="0">
                <a:solidFill>
                  <a:schemeClr val="tx1"/>
                </a:solidFill>
              </a:rPr>
              <a:t>用</a:t>
            </a:r>
            <a:r>
              <a:rPr lang="en-US" altLang="zh-CN" sz="2200" dirty="0">
                <a:solidFill>
                  <a:schemeClr val="tx1"/>
                </a:solidFill>
              </a:rPr>
              <a:t>Booth</a:t>
            </a:r>
            <a:r>
              <a:rPr lang="zh-CN" altLang="en-US" sz="2200" dirty="0">
                <a:solidFill>
                  <a:schemeClr val="tx1"/>
                </a:solidFill>
              </a:rPr>
              <a:t>算法求</a:t>
            </a:r>
            <a:r>
              <a:rPr lang="en-US" altLang="zh-CN" sz="2200" dirty="0">
                <a:solidFill>
                  <a:schemeClr val="tx1"/>
                </a:solidFill>
              </a:rPr>
              <a:t>[A×B]</a:t>
            </a:r>
            <a:r>
              <a:rPr lang="zh-CN" altLang="en-US" sz="2200" baseline="-20000" dirty="0" smtClean="0">
                <a:solidFill>
                  <a:schemeClr val="tx1"/>
                </a:solidFill>
              </a:rPr>
              <a:t>补</a:t>
            </a:r>
            <a:endParaRPr lang="en-US" altLang="zh-CN" sz="2200" baseline="-200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38" name="Group 116"/>
          <p:cNvGraphicFramePr>
            <a:graphicFrameLocks noGrp="1"/>
          </p:cNvGraphicFramePr>
          <p:nvPr/>
        </p:nvGraphicFramePr>
        <p:xfrm>
          <a:off x="1115616" y="3429000"/>
          <a:ext cx="5184576" cy="2961754"/>
        </p:xfrm>
        <a:graphic>
          <a:graphicData uri="http://schemas.openxmlformats.org/drawingml/2006/table">
            <a:tbl>
              <a:tblPr/>
              <a:tblGrid>
                <a:gridCol w="1367309"/>
                <a:gridCol w="648915"/>
                <a:gridCol w="648072"/>
                <a:gridCol w="432048"/>
                <a:gridCol w="2088232"/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部分积高位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10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4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+ 101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1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[-A]</a:t>
                      </a:r>
                      <a:r>
                        <a:rPr kumimoji="1" lang="zh-CN" altLang="en-US" sz="1800" b="1" i="0" u="none" strike="noStrike" cap="none" normalizeH="0" baseline="-2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+ 011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[A]</a:t>
                      </a:r>
                      <a:r>
                        <a:rPr kumimoji="1" lang="zh-CN" altLang="en-US" sz="1800" b="1" i="0" u="none" strike="noStrike" cap="none" normalizeH="0" baseline="-2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+ 101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[-A]</a:t>
                      </a:r>
                      <a:r>
                        <a:rPr kumimoji="1" lang="zh-CN" altLang="en-US" sz="1800" b="1" i="0" u="none" strike="noStrike" cap="none" normalizeH="0" baseline="-2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  <a:endParaRPr kumimoji="1" lang="zh-CN" altLang="en-US" sz="1800" b="1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906861" y="4023560"/>
            <a:ext cx="1946518" cy="2232248"/>
            <a:chOff x="2123947" y="2349251"/>
            <a:chExt cx="1946518" cy="2232248"/>
          </a:xfrm>
        </p:grpSpPr>
        <p:sp>
          <p:nvSpPr>
            <p:cNvPr id="40" name="Line 147"/>
            <p:cNvSpPr>
              <a:spLocks noChangeShapeType="1"/>
            </p:cNvSpPr>
            <p:nvPr/>
          </p:nvSpPr>
          <p:spPr bwMode="auto">
            <a:xfrm>
              <a:off x="3852982" y="3141339"/>
              <a:ext cx="216000" cy="647701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144"/>
            <p:cNvSpPr>
              <a:spLocks noChangeShapeType="1"/>
            </p:cNvSpPr>
            <p:nvPr/>
          </p:nvSpPr>
          <p:spPr bwMode="auto">
            <a:xfrm>
              <a:off x="2123947" y="2781299"/>
              <a:ext cx="720000" cy="21431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145"/>
            <p:cNvSpPr>
              <a:spLocks noChangeShapeType="1"/>
            </p:cNvSpPr>
            <p:nvPr/>
          </p:nvSpPr>
          <p:spPr bwMode="auto">
            <a:xfrm>
              <a:off x="2125535" y="3573387"/>
              <a:ext cx="720000" cy="21748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46"/>
            <p:cNvSpPr>
              <a:spLocks noChangeShapeType="1"/>
            </p:cNvSpPr>
            <p:nvPr/>
          </p:nvSpPr>
          <p:spPr bwMode="auto">
            <a:xfrm>
              <a:off x="2125535" y="4365475"/>
              <a:ext cx="720000" cy="2159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47"/>
            <p:cNvSpPr>
              <a:spLocks noChangeShapeType="1"/>
            </p:cNvSpPr>
            <p:nvPr/>
          </p:nvSpPr>
          <p:spPr bwMode="auto">
            <a:xfrm>
              <a:off x="3854246" y="2349251"/>
              <a:ext cx="216000" cy="647701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47"/>
            <p:cNvSpPr>
              <a:spLocks noChangeShapeType="1"/>
            </p:cNvSpPr>
            <p:nvPr/>
          </p:nvSpPr>
          <p:spPr bwMode="auto">
            <a:xfrm>
              <a:off x="3854465" y="3933798"/>
              <a:ext cx="216000" cy="647701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Text Box 200"/>
          <p:cNvSpPr txBox="1">
            <a:spLocks noChangeArrowheads="1"/>
          </p:cNvSpPr>
          <p:nvPr/>
        </p:nvSpPr>
        <p:spPr bwMode="auto">
          <a:xfrm>
            <a:off x="6444207" y="3458020"/>
            <a:ext cx="2520405" cy="737189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269875" indent="-269875"/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右移时</a:t>
            </a:r>
            <a:r>
              <a:rPr lang="zh-CN" altLang="en-US" sz="1800" dirty="0" smtClean="0">
                <a:solidFill>
                  <a:schemeClr val="tx1"/>
                </a:solidFill>
              </a:rPr>
              <a:t>为何不</a:t>
            </a:r>
            <a:r>
              <a:rPr lang="zh-CN" altLang="en-US" sz="1800" dirty="0">
                <a:solidFill>
                  <a:schemeClr val="tx1"/>
                </a:solidFill>
              </a:rPr>
              <a:t>考虑</a:t>
            </a:r>
            <a:r>
              <a:rPr lang="zh-CN" altLang="en-US" sz="1800" u="sng" dirty="0">
                <a:solidFill>
                  <a:schemeClr val="tx1"/>
                </a:solidFill>
              </a:rPr>
              <a:t>加法的进位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763688" y="2384738"/>
            <a:ext cx="7380312" cy="490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循环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u="sng" dirty="0">
                <a:solidFill>
                  <a:srgbClr val="990099"/>
                </a:solidFill>
              </a:rPr>
              <a:t>判断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加法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判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b</a:t>
            </a:r>
            <a:r>
              <a:rPr lang="zh-CN" altLang="en-US" sz="1800" spc="-50" baseline="-18000" dirty="0">
                <a:solidFill>
                  <a:schemeClr val="tx1"/>
                </a:solidFill>
              </a:rPr>
              <a:t>当前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b</a:t>
            </a:r>
            <a:r>
              <a:rPr lang="zh-CN" altLang="en-US" sz="1800" spc="-50" baseline="-18000" dirty="0" smtClean="0">
                <a:solidFill>
                  <a:schemeClr val="tx1"/>
                </a:solidFill>
              </a:rPr>
              <a:t>上次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+0/+A/-A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，算术右移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)</a:t>
            </a:r>
            <a:endParaRPr lang="zh-CN" altLang="en-US" sz="1800" spc="-50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44208" y="4293096"/>
            <a:ext cx="2520000" cy="1080000"/>
            <a:chOff x="6660232" y="5569280"/>
            <a:chExt cx="2520000" cy="1080000"/>
          </a:xfrm>
        </p:grpSpPr>
        <p:sp>
          <p:nvSpPr>
            <p:cNvPr id="29" name="Text Box 141"/>
            <p:cNvSpPr txBox="1">
              <a:spLocks noChangeArrowheads="1"/>
            </p:cNvSpPr>
            <p:nvPr/>
          </p:nvSpPr>
          <p:spPr bwMode="auto">
            <a:xfrm>
              <a:off x="6660232" y="5569280"/>
              <a:ext cx="2520000" cy="10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设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1 0 1 1 0,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400" baseline="-18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∵循环时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2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个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间</a:t>
              </a:r>
              <a:r>
                <a:rPr lang="zh-CN" altLang="en-US" sz="1800" dirty="0">
                  <a:solidFill>
                    <a:schemeClr val="tx1"/>
                  </a:solidFill>
                </a:rPr>
                <a:t>必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有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01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∴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+A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-A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交替进行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 bwMode="auto">
            <a:xfrm>
              <a:off x="7794782" y="5904552"/>
              <a:ext cx="36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/>
          </p:nvCxnSpPr>
          <p:spPr bwMode="auto">
            <a:xfrm>
              <a:off x="7535214" y="5948326"/>
              <a:ext cx="360000" cy="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/>
          </p:nvCxnSpPr>
          <p:spPr bwMode="auto">
            <a:xfrm>
              <a:off x="7279840" y="5860487"/>
              <a:ext cx="360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>
              <a:off x="8006612" y="5860487"/>
              <a:ext cx="396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/>
          </p:nvCxnSpPr>
          <p:spPr bwMode="auto">
            <a:xfrm flipH="1">
              <a:off x="7236296" y="6021288"/>
              <a:ext cx="1188088" cy="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201"/>
          <p:cNvSpPr txBox="1">
            <a:spLocks noChangeArrowheads="1"/>
          </p:cNvSpPr>
          <p:nvPr/>
        </p:nvSpPr>
        <p:spPr bwMode="auto">
          <a:xfrm>
            <a:off x="179512" y="332656"/>
            <a:ext cx="2160240" cy="34394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思路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u="sng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1"/>
          <p:cNvSpPr txBox="1">
            <a:spLocks noChangeArrowheads="1"/>
          </p:cNvSpPr>
          <p:nvPr/>
        </p:nvSpPr>
        <p:spPr bwMode="auto">
          <a:xfrm>
            <a:off x="1763688" y="836712"/>
            <a:ext cx="7200800" cy="3399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 smtClean="0">
                <a:solidFill>
                  <a:schemeClr val="tx1"/>
                </a:solidFill>
              </a:rPr>
              <a:t>循环的</a:t>
            </a:r>
            <a:r>
              <a:rPr lang="zh-CN" altLang="en-US" u="sng" dirty="0">
                <a:solidFill>
                  <a:srgbClr val="990099"/>
                </a:solidFill>
              </a:rPr>
              <a:t>判断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加法</a:t>
            </a:r>
            <a:r>
              <a:rPr lang="en-US" altLang="zh-CN" u="sng" dirty="0">
                <a:solidFill>
                  <a:srgbClr val="990099"/>
                </a:solidFill>
              </a:rPr>
              <a:t>-</a:t>
            </a:r>
            <a:r>
              <a:rPr lang="zh-CN" altLang="en-US" u="sng" dirty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 smtClean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②</a:t>
            </a:r>
            <a:r>
              <a:rPr lang="zh-CN" altLang="en-US" dirty="0">
                <a:solidFill>
                  <a:schemeClr val="tx1"/>
                </a:solidFill>
              </a:rPr>
              <a:t>部分积</a:t>
            </a:r>
            <a:r>
              <a:rPr lang="zh-CN" altLang="en-US" dirty="0" smtClean="0">
                <a:solidFill>
                  <a:schemeClr val="tx1"/>
                </a:solidFill>
              </a:rPr>
              <a:t>低位放在</a:t>
            </a:r>
            <a:r>
              <a:rPr lang="zh-CN" altLang="en-US" u="sng" dirty="0" smtClean="0">
                <a:solidFill>
                  <a:srgbClr val="990099"/>
                </a:solidFill>
              </a:rPr>
              <a:t>乘数</a:t>
            </a:r>
            <a:r>
              <a:rPr lang="zh-CN" altLang="en-US" u="sng" dirty="0">
                <a:solidFill>
                  <a:srgbClr val="990099"/>
                </a:solidFill>
              </a:rPr>
              <a:t>的</a:t>
            </a:r>
            <a:r>
              <a:rPr lang="zh-CN" altLang="en-US" u="sng" dirty="0" smtClean="0">
                <a:solidFill>
                  <a:srgbClr val="990099"/>
                </a:solidFill>
              </a:rPr>
              <a:t>空位</a:t>
            </a:r>
            <a:r>
              <a:rPr lang="zh-CN" altLang="en-US" dirty="0" smtClean="0">
                <a:solidFill>
                  <a:schemeClr val="tx1"/>
                </a:solidFill>
              </a:rPr>
              <a:t>上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←同无符号乘法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1078230" indent="-1078230"/>
            <a:r>
              <a:rPr lang="zh-CN" altLang="en-US" u="sng" dirty="0" smtClean="0">
                <a:solidFill>
                  <a:srgbClr val="990099"/>
                </a:solidFill>
              </a:rPr>
              <a:t>扩展</a:t>
            </a:r>
            <a:r>
              <a:rPr lang="zh-CN" altLang="en-US" dirty="0" smtClean="0">
                <a:solidFill>
                  <a:schemeClr val="tx1"/>
                </a:solidFill>
              </a:rPr>
              <a:t>无</a:t>
            </a:r>
            <a:r>
              <a:rPr lang="zh-CN" altLang="en-US" dirty="0">
                <a:solidFill>
                  <a:schemeClr val="tx1"/>
                </a:solidFill>
              </a:rPr>
              <a:t>符号</a:t>
            </a:r>
            <a:r>
              <a:rPr lang="zh-CN" altLang="en-US" dirty="0" smtClean="0">
                <a:solidFill>
                  <a:schemeClr val="tx1"/>
                </a:solidFill>
              </a:rPr>
              <a:t>乘法器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增设</a:t>
            </a:r>
            <a:r>
              <a:rPr lang="en-US" altLang="zh-CN" sz="1800" dirty="0" smtClean="0">
                <a:solidFill>
                  <a:srgbClr val="0070C0"/>
                </a:solidFill>
              </a:rPr>
              <a:t>B</a:t>
            </a:r>
            <a:r>
              <a:rPr lang="zh-CN" altLang="en-US" sz="1800" baseline="-16000" dirty="0" smtClean="0">
                <a:solidFill>
                  <a:srgbClr val="0070C0"/>
                </a:solidFill>
              </a:rPr>
              <a:t>附</a:t>
            </a:r>
            <a:r>
              <a:rPr lang="zh-CN" altLang="en-US" sz="1800" dirty="0" smtClean="0">
                <a:solidFill>
                  <a:schemeClr val="tx1"/>
                </a:solidFill>
              </a:rPr>
              <a:t>、改为</a:t>
            </a:r>
            <a:r>
              <a:rPr lang="zh-CN" altLang="en-US" sz="1800" dirty="0" smtClean="0">
                <a:solidFill>
                  <a:srgbClr val="0070C0"/>
                </a:solidFill>
              </a:rPr>
              <a:t>加减法器</a:t>
            </a:r>
            <a:r>
              <a:rPr lang="zh-CN" altLang="en-US" sz="1800" dirty="0" smtClean="0">
                <a:solidFill>
                  <a:schemeClr val="tx1"/>
                </a:solidFill>
              </a:rPr>
              <a:t>、缺省</a:t>
            </a:r>
            <a:r>
              <a:rPr lang="en-US" altLang="zh-CN" sz="1800" dirty="0" smtClean="0">
                <a:solidFill>
                  <a:srgbClr val="0070C0"/>
                </a:solidFill>
              </a:rPr>
              <a:t>C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/>
                </a:solidFill>
              </a:rPr>
              <a:t>RegB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及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附</a:t>
            </a:r>
            <a:r>
              <a:rPr lang="zh-CN" altLang="en-US" dirty="0">
                <a:solidFill>
                  <a:schemeClr val="tx1"/>
                </a:solidFill>
              </a:rPr>
              <a:t>控制控制</a:t>
            </a:r>
            <a:r>
              <a:rPr lang="zh-CN" altLang="en-US" dirty="0" smtClean="0">
                <a:solidFill>
                  <a:schemeClr val="tx1"/>
                </a:solidFill>
              </a:rPr>
              <a:t>门及</a:t>
            </a:r>
            <a:r>
              <a:rPr lang="en-US" altLang="zh-CN" dirty="0" smtClean="0">
                <a:solidFill>
                  <a:schemeClr val="tx1"/>
                </a:solidFill>
              </a:rPr>
              <a:t>±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err="1" smtClean="0">
                <a:solidFill>
                  <a:schemeClr val="tx1"/>
                </a:solidFill>
              </a:rPr>
              <a:t>RegP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en-US" altLang="zh-CN" dirty="0" err="1" smtClean="0">
                <a:solidFill>
                  <a:schemeClr val="tx1"/>
                </a:solidFill>
              </a:rPr>
              <a:t>RegB</a:t>
            </a:r>
            <a:r>
              <a:rPr lang="en-US" altLang="zh-CN" dirty="0" smtClean="0">
                <a:solidFill>
                  <a:schemeClr val="tx1"/>
                </a:solidFill>
              </a:rPr>
              <a:t>/B</a:t>
            </a:r>
            <a:r>
              <a:rPr lang="zh-CN" altLang="en-US" baseline="-18000" dirty="0">
                <a:solidFill>
                  <a:schemeClr val="tx1"/>
                </a:solidFill>
              </a:rPr>
              <a:t>附</a:t>
            </a:r>
            <a:r>
              <a:rPr lang="zh-CN" altLang="en-US" dirty="0" smtClean="0">
                <a:solidFill>
                  <a:schemeClr val="tx1"/>
                </a:solidFill>
              </a:rPr>
              <a:t>一起移位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53" name="Group 318"/>
          <p:cNvGraphicFramePr>
            <a:graphicFrameLocks noGrp="1"/>
          </p:cNvGraphicFramePr>
          <p:nvPr/>
        </p:nvGraphicFramePr>
        <p:xfrm>
          <a:off x="1475656" y="1371626"/>
          <a:ext cx="7344816" cy="1409302"/>
        </p:xfrm>
        <a:graphic>
          <a:graphicData uri="http://schemas.openxmlformats.org/drawingml/2006/table">
            <a:tbl>
              <a:tblPr/>
              <a:tblGrid>
                <a:gridCol w="1800200"/>
                <a:gridCol w="4248472"/>
                <a:gridCol w="1296144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判断</a:t>
                      </a:r>
                      <a:endParaRPr kumimoji="1" lang="en-US" altLang="zh-CN" sz="1800" b="1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15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    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16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[A]</a:t>
                      </a:r>
                      <a:r>
                        <a:rPr lang="zh-CN" altLang="en-US" sz="1800" b="1" baseline="-16000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 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38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[-A]</a:t>
                      </a:r>
                      <a:r>
                        <a:rPr lang="zh-CN" altLang="en-US" sz="1800" b="1" baseline="-16000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2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519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405925" y="4356000"/>
            <a:ext cx="5976320" cy="1944160"/>
            <a:chOff x="1763688" y="3140992"/>
            <a:chExt cx="5976320" cy="1944160"/>
          </a:xfrm>
        </p:grpSpPr>
        <p:sp>
          <p:nvSpPr>
            <p:cNvPr id="56" name="Text Box 235"/>
            <p:cNvSpPr txBox="1">
              <a:spLocks noChangeArrowheads="1"/>
            </p:cNvSpPr>
            <p:nvPr/>
          </p:nvSpPr>
          <p:spPr bwMode="auto">
            <a:xfrm>
              <a:off x="1763688" y="3465168"/>
              <a:ext cx="4464000" cy="147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7" name="流程图: 手动操作 56"/>
            <p:cNvSpPr/>
            <p:nvPr/>
          </p:nvSpPr>
          <p:spPr bwMode="auto">
            <a:xfrm>
              <a:off x="2267744" y="3933056"/>
              <a:ext cx="1728000" cy="360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加减法器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Text Box 235"/>
            <p:cNvSpPr txBox="1">
              <a:spLocks noChangeArrowheads="1"/>
            </p:cNvSpPr>
            <p:nvPr/>
          </p:nvSpPr>
          <p:spPr bwMode="auto">
            <a:xfrm>
              <a:off x="2915736" y="3140992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被乘数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9" name="Text Box 235"/>
            <p:cNvSpPr txBox="1">
              <a:spLocks noChangeArrowheads="1"/>
            </p:cNvSpPr>
            <p:nvPr/>
          </p:nvSpPr>
          <p:spPr bwMode="auto">
            <a:xfrm>
              <a:off x="4068024" y="4581168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乘数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 Box 235"/>
            <p:cNvSpPr txBox="1">
              <a:spLocks noChangeArrowheads="1"/>
            </p:cNvSpPr>
            <p:nvPr/>
          </p:nvSpPr>
          <p:spPr bwMode="auto">
            <a:xfrm>
              <a:off x="2627720" y="4581168"/>
              <a:ext cx="14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乘积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61" name="Line 238"/>
            <p:cNvSpPr>
              <a:spLocks noChangeShapeType="1"/>
            </p:cNvSpPr>
            <p:nvPr/>
          </p:nvSpPr>
          <p:spPr bwMode="auto">
            <a:xfrm>
              <a:off x="3635704" y="378905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38"/>
            <p:cNvSpPr>
              <a:spLocks noChangeShapeType="1"/>
            </p:cNvSpPr>
            <p:nvPr/>
          </p:nvSpPr>
          <p:spPr bwMode="auto">
            <a:xfrm flipH="1">
              <a:off x="3635816" y="335701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230"/>
            <p:cNvSpPr txBox="1">
              <a:spLocks noChangeArrowheads="1"/>
            </p:cNvSpPr>
            <p:nvPr/>
          </p:nvSpPr>
          <p:spPr bwMode="auto">
            <a:xfrm>
              <a:off x="3059880" y="3573040"/>
              <a:ext cx="115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控制门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64" name="Line 238"/>
            <p:cNvSpPr>
              <a:spLocks noChangeShapeType="1"/>
            </p:cNvSpPr>
            <p:nvPr/>
          </p:nvSpPr>
          <p:spPr bwMode="auto">
            <a:xfrm>
              <a:off x="2627784" y="371705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38"/>
            <p:cNvSpPr>
              <a:spLocks noChangeShapeType="1"/>
            </p:cNvSpPr>
            <p:nvPr/>
          </p:nvSpPr>
          <p:spPr bwMode="auto">
            <a:xfrm flipH="1">
              <a:off x="3131648" y="4293096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38"/>
            <p:cNvSpPr>
              <a:spLocks noChangeShapeType="1"/>
            </p:cNvSpPr>
            <p:nvPr/>
          </p:nvSpPr>
          <p:spPr bwMode="auto">
            <a:xfrm flipH="1">
              <a:off x="3131648" y="4797152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36"/>
            <p:cNvSpPr>
              <a:spLocks noChangeShapeType="1"/>
            </p:cNvSpPr>
            <p:nvPr/>
          </p:nvSpPr>
          <p:spPr bwMode="auto">
            <a:xfrm>
              <a:off x="3563808" y="4365104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236"/>
            <p:cNvSpPr>
              <a:spLocks noChangeShapeType="1"/>
            </p:cNvSpPr>
            <p:nvPr/>
          </p:nvSpPr>
          <p:spPr bwMode="auto">
            <a:xfrm>
              <a:off x="5004080" y="4293056"/>
              <a:ext cx="0" cy="28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239"/>
            <p:cNvSpPr txBox="1">
              <a:spLocks noChangeArrowheads="1"/>
            </p:cNvSpPr>
            <p:nvPr/>
          </p:nvSpPr>
          <p:spPr bwMode="auto">
            <a:xfrm>
              <a:off x="4787943" y="4005096"/>
              <a:ext cx="122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控制</a:t>
              </a:r>
              <a:r>
                <a:rPr lang="zh-CN" altLang="en-US" sz="1800" dirty="0">
                  <a:solidFill>
                    <a:schemeClr val="tx1"/>
                  </a:solidFill>
                </a:rPr>
                <a:t>逻辑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259"/>
            <p:cNvSpPr>
              <a:spLocks noChangeArrowheads="1"/>
            </p:cNvSpPr>
            <p:nvPr/>
          </p:nvSpPr>
          <p:spPr bwMode="auto">
            <a:xfrm>
              <a:off x="5364008" y="4591156"/>
              <a:ext cx="136800" cy="201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Line 236"/>
            <p:cNvSpPr>
              <a:spLocks noChangeShapeType="1"/>
            </p:cNvSpPr>
            <p:nvPr/>
          </p:nvSpPr>
          <p:spPr bwMode="auto">
            <a:xfrm>
              <a:off x="5364008" y="4581168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36"/>
            <p:cNvSpPr>
              <a:spLocks noChangeShapeType="1"/>
            </p:cNvSpPr>
            <p:nvPr/>
          </p:nvSpPr>
          <p:spPr bwMode="auto">
            <a:xfrm flipV="1">
              <a:off x="5436016" y="4293096"/>
              <a:ext cx="1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36"/>
            <p:cNvSpPr>
              <a:spLocks noChangeShapeType="1"/>
            </p:cNvSpPr>
            <p:nvPr/>
          </p:nvSpPr>
          <p:spPr bwMode="auto">
            <a:xfrm flipH="1">
              <a:off x="3779720" y="4149080"/>
              <a:ext cx="100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4" name="直接箭头连接符 61"/>
            <p:cNvCxnSpPr/>
            <p:nvPr/>
          </p:nvCxnSpPr>
          <p:spPr bwMode="auto">
            <a:xfrm flipH="1" flipV="1">
              <a:off x="4211887" y="3645670"/>
              <a:ext cx="122400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75" name="Text Box 242"/>
            <p:cNvSpPr txBox="1">
              <a:spLocks noChangeArrowheads="1"/>
            </p:cNvSpPr>
            <p:nvPr/>
          </p:nvSpPr>
          <p:spPr bwMode="auto">
            <a:xfrm>
              <a:off x="4860168" y="3573040"/>
              <a:ext cx="122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计数器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76" name="Text Box 232"/>
            <p:cNvSpPr txBox="1">
              <a:spLocks noChangeArrowheads="1"/>
            </p:cNvSpPr>
            <p:nvPr/>
          </p:nvSpPr>
          <p:spPr bwMode="auto">
            <a:xfrm>
              <a:off x="3995744" y="393308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加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减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7" name="Text Box 247"/>
            <p:cNvSpPr txBox="1">
              <a:spLocks noChangeArrowheads="1"/>
            </p:cNvSpPr>
            <p:nvPr/>
          </p:nvSpPr>
          <p:spPr bwMode="auto">
            <a:xfrm>
              <a:off x="4427984" y="4293096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接箭头连接符 61"/>
            <p:cNvCxnSpPr/>
            <p:nvPr/>
          </p:nvCxnSpPr>
          <p:spPr bwMode="auto">
            <a:xfrm flipH="1">
              <a:off x="6012024" y="4149080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79" name="Text Box 232"/>
            <p:cNvSpPr txBox="1">
              <a:spLocks noChangeArrowheads="1"/>
            </p:cNvSpPr>
            <p:nvPr/>
          </p:nvSpPr>
          <p:spPr bwMode="auto">
            <a:xfrm>
              <a:off x="6372008" y="4005096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p(</a:t>
              </a:r>
              <a:r>
                <a:rPr lang="zh-CN" altLang="en-US" sz="1600" dirty="0">
                  <a:solidFill>
                    <a:schemeClr val="tx1"/>
                  </a:solidFill>
                </a:rPr>
                <a:t>补码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乘法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)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80" name="直接箭头连接符 61"/>
            <p:cNvCxnSpPr/>
            <p:nvPr/>
          </p:nvCxnSpPr>
          <p:spPr bwMode="auto">
            <a:xfrm flipH="1">
              <a:off x="6084208" y="3645403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1" name="Text Box 232"/>
            <p:cNvSpPr txBox="1">
              <a:spLocks noChangeArrowheads="1"/>
            </p:cNvSpPr>
            <p:nvPr/>
          </p:nvSpPr>
          <p:spPr bwMode="auto">
            <a:xfrm>
              <a:off x="6372056" y="3501040"/>
              <a:ext cx="432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Clk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2" name="Line 236"/>
            <p:cNvSpPr>
              <a:spLocks noChangeShapeType="1"/>
            </p:cNvSpPr>
            <p:nvPr/>
          </p:nvSpPr>
          <p:spPr bwMode="auto">
            <a:xfrm flipH="1">
              <a:off x="3779992" y="4437112"/>
              <a:ext cx="122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36"/>
            <p:cNvSpPr>
              <a:spLocks noChangeShapeType="1"/>
            </p:cNvSpPr>
            <p:nvPr/>
          </p:nvSpPr>
          <p:spPr bwMode="auto">
            <a:xfrm>
              <a:off x="5580032" y="3789064"/>
              <a:ext cx="1" cy="216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38"/>
            <p:cNvSpPr>
              <a:spLocks noChangeShapeType="1"/>
            </p:cNvSpPr>
            <p:nvPr/>
          </p:nvSpPr>
          <p:spPr bwMode="auto">
            <a:xfrm>
              <a:off x="1907704" y="3717694"/>
              <a:ext cx="720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38"/>
            <p:cNvSpPr>
              <a:spLocks noChangeShapeType="1"/>
            </p:cNvSpPr>
            <p:nvPr/>
          </p:nvSpPr>
          <p:spPr bwMode="auto">
            <a:xfrm flipV="1">
              <a:off x="1907704" y="3716337"/>
              <a:ext cx="0" cy="11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38"/>
            <p:cNvSpPr>
              <a:spLocks noChangeShapeType="1"/>
            </p:cNvSpPr>
            <p:nvPr/>
          </p:nvSpPr>
          <p:spPr bwMode="auto">
            <a:xfrm flipH="1" flipV="1">
              <a:off x="1907704" y="4869160"/>
              <a:ext cx="1224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38"/>
            <p:cNvSpPr>
              <a:spLocks noChangeShapeType="1"/>
            </p:cNvSpPr>
            <p:nvPr/>
          </p:nvSpPr>
          <p:spPr bwMode="auto">
            <a:xfrm flipH="1">
              <a:off x="4787944" y="4797152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36"/>
            <p:cNvSpPr>
              <a:spLocks noChangeShapeType="1"/>
            </p:cNvSpPr>
            <p:nvPr/>
          </p:nvSpPr>
          <p:spPr bwMode="auto">
            <a:xfrm flipH="1">
              <a:off x="3563808" y="4221088"/>
              <a:ext cx="1224000" cy="14404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36"/>
            <p:cNvSpPr>
              <a:spLocks noChangeShapeType="1"/>
            </p:cNvSpPr>
            <p:nvPr/>
          </p:nvSpPr>
          <p:spPr bwMode="auto">
            <a:xfrm>
              <a:off x="3779832" y="4437128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247"/>
            <p:cNvSpPr txBox="1">
              <a:spLocks noChangeArrowheads="1"/>
            </p:cNvSpPr>
            <p:nvPr/>
          </p:nvSpPr>
          <p:spPr bwMode="auto">
            <a:xfrm>
              <a:off x="3923904" y="422111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写入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1" name="Text Box 235"/>
            <p:cNvSpPr txBox="1">
              <a:spLocks noChangeArrowheads="1"/>
            </p:cNvSpPr>
            <p:nvPr/>
          </p:nvSpPr>
          <p:spPr bwMode="auto">
            <a:xfrm>
              <a:off x="5723952" y="4581822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zh-CN" altLang="en-US" sz="1800" baseline="-16000" dirty="0" smtClean="0">
                  <a:solidFill>
                    <a:schemeClr val="tx1"/>
                  </a:solidFill>
                </a:rPr>
                <a:t>附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92" name="Line 236"/>
            <p:cNvSpPr>
              <a:spLocks noChangeShapeType="1"/>
            </p:cNvSpPr>
            <p:nvPr/>
          </p:nvSpPr>
          <p:spPr bwMode="auto">
            <a:xfrm flipV="1">
              <a:off x="5507912" y="4718340"/>
              <a:ext cx="216000" cy="3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36"/>
            <p:cNvSpPr>
              <a:spLocks noChangeShapeType="1"/>
            </p:cNvSpPr>
            <p:nvPr/>
          </p:nvSpPr>
          <p:spPr bwMode="auto">
            <a:xfrm flipH="1" flipV="1">
              <a:off x="5471808" y="4293136"/>
              <a:ext cx="468000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Box 235"/>
            <p:cNvSpPr txBox="1">
              <a:spLocks noChangeArrowheads="1"/>
            </p:cNvSpPr>
            <p:nvPr/>
          </p:nvSpPr>
          <p:spPr bwMode="auto">
            <a:xfrm>
              <a:off x="2051592" y="414907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</a:rPr>
                <a:t>C</a:t>
              </a:r>
              <a:r>
                <a:rPr lang="en-US" altLang="zh-CN" sz="1600" baseline="-160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n-1</a:t>
              </a:r>
              <a:endParaRPr lang="en-US" altLang="zh-CN" sz="1600" baseline="-160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5" name="Line 236"/>
            <p:cNvSpPr>
              <a:spLocks noChangeShapeType="1"/>
            </p:cNvSpPr>
            <p:nvPr/>
          </p:nvSpPr>
          <p:spPr bwMode="auto">
            <a:xfrm flipH="1">
              <a:off x="2051736" y="4149076"/>
              <a:ext cx="43200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3" name="直接箭头连接符 61"/>
            <p:cNvCxnSpPr/>
            <p:nvPr/>
          </p:nvCxnSpPr>
          <p:spPr bwMode="auto">
            <a:xfrm rot="16200000" flipH="1">
              <a:off x="1835712" y="4365072"/>
              <a:ext cx="576000" cy="144016"/>
            </a:xfrm>
            <a:prstGeom prst="bentConnector2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4" name="Text Box 235"/>
            <p:cNvSpPr txBox="1">
              <a:spLocks noChangeArrowheads="1"/>
            </p:cNvSpPr>
            <p:nvPr/>
          </p:nvSpPr>
          <p:spPr bwMode="auto">
            <a:xfrm>
              <a:off x="2195720" y="4581164"/>
              <a:ext cx="216000" cy="21600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</a:t>
              </a:r>
              <a:endPara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5" name="Line 236"/>
            <p:cNvSpPr>
              <a:spLocks noChangeShapeType="1"/>
            </p:cNvSpPr>
            <p:nvPr/>
          </p:nvSpPr>
          <p:spPr bwMode="auto">
            <a:xfrm>
              <a:off x="2411784" y="4726327"/>
              <a:ext cx="21600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235"/>
            <p:cNvSpPr txBox="1">
              <a:spLocks noChangeArrowheads="1"/>
            </p:cNvSpPr>
            <p:nvPr/>
          </p:nvSpPr>
          <p:spPr bwMode="auto">
            <a:xfrm>
              <a:off x="2915816" y="4293124"/>
              <a:ext cx="216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i="1" dirty="0" smtClean="0">
                  <a:solidFill>
                    <a:schemeClr val="tx1"/>
                  </a:solidFill>
                  <a:latin typeface="+mn-lt"/>
                  <a:ea typeface="+mn-ea"/>
                </a:rPr>
                <a:t>Z</a:t>
              </a:r>
              <a:endParaRPr lang="en-US" altLang="zh-CN" sz="1600" i="1" baseline="-160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515100" y="4176000"/>
            <a:ext cx="2513330" cy="972185"/>
            <a:chOff x="9582" y="8555"/>
            <a:chExt cx="3958" cy="1531"/>
          </a:xfrm>
        </p:grpSpPr>
        <p:sp>
          <p:nvSpPr>
            <p:cNvPr id="8" name="Text Box 23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9582" y="8555"/>
              <a:ext cx="3958" cy="1531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100000"/>
                </a:lnSpc>
              </a:pPr>
              <a:r>
                <a:rPr lang="zh-CN" sz="1600" dirty="0" smtClean="0">
                  <a:solidFill>
                    <a:srgbClr val="C00000"/>
                  </a:solidFill>
                </a:rPr>
                <a:t>控制逻辑：</a:t>
              </a:r>
              <a:endParaRPr lang="zh-CN" sz="1600" dirty="0" smtClean="0">
                <a:solidFill>
                  <a:srgbClr val="C00000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sz="1600" dirty="0" smtClean="0">
                  <a:solidFill>
                    <a:srgbClr val="0070C0"/>
                  </a:solidFill>
                </a:rPr>
                <a:t> </a:t>
              </a:r>
              <a:r>
                <a:rPr lang="en-US" altLang="zh-CN" sz="1600" dirty="0" smtClean="0">
                  <a:solidFill>
                    <a:srgbClr val="0070C0"/>
                  </a:solidFill>
                </a:rPr>
                <a:t> </a:t>
              </a:r>
              <a:r>
                <a:rPr lang="zh-CN" sz="1600" dirty="0" smtClean="0">
                  <a:solidFill>
                    <a:schemeClr val="tx1"/>
                  </a:solidFill>
                </a:rPr>
                <a:t>控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</a:t>
              </a:r>
              <a:r>
                <a:rPr lang="zh-CN" sz="1600" dirty="0" smtClean="0">
                  <a:solidFill>
                    <a:schemeClr val="tx1"/>
                  </a:solidFill>
                </a:rPr>
                <a:t>制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</a:t>
              </a:r>
              <a:r>
                <a:rPr lang="zh-CN" sz="1600" dirty="0" smtClean="0">
                  <a:solidFill>
                    <a:schemeClr val="tx1"/>
                  </a:solidFill>
                </a:rPr>
                <a:t>门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—</a:t>
              </a:r>
              <a:r>
                <a:rPr lang="zh-CN" sz="1600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RegB</a:t>
              </a:r>
              <a:r>
                <a:rPr lang="en-US" altLang="zh-CN" sz="1600" baseline="-25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⊕B</a:t>
              </a:r>
              <a:r>
                <a:rPr lang="zh-CN" altLang="en-US" sz="1600" baseline="-25000" dirty="0" smtClean="0">
                  <a:solidFill>
                    <a:schemeClr val="tx1"/>
                  </a:solidFill>
                </a:rPr>
                <a:t>附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 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加减法器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—</a:t>
              </a:r>
              <a:r>
                <a:rPr lang="zh-CN" sz="1600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RegB</a:t>
              </a:r>
              <a:r>
                <a:rPr lang="en-US" altLang="zh-CN" sz="1600" baseline="-25000" dirty="0" smtClean="0">
                  <a:solidFill>
                    <a:schemeClr val="tx1"/>
                  </a:solidFill>
                  <a:sym typeface="+mn-ea"/>
                </a:rPr>
                <a:t>0</a:t>
              </a:r>
              <a:r>
                <a:rPr lang="zh-CN" sz="1600" dirty="0" smtClean="0">
                  <a:solidFill>
                    <a:schemeClr val="tx1"/>
                  </a:solidFill>
                  <a:sym typeface="+mn-ea"/>
                </a:rPr>
                <a:t>•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B</a:t>
              </a:r>
              <a:r>
                <a:rPr lang="zh-CN" altLang="en-US" sz="1600" baseline="-25000" dirty="0" smtClean="0">
                  <a:solidFill>
                    <a:schemeClr val="tx1"/>
                  </a:solidFill>
                  <a:sym typeface="+mn-ea"/>
                </a:rPr>
                <a:t>附</a:t>
              </a:r>
              <a:endParaRPr lang="en-US" altLang="zh-CN" sz="1600" dirty="0" smtClean="0">
                <a:solidFill>
                  <a:schemeClr val="tx1"/>
                </a:solidFill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  </a:t>
              </a:r>
              <a:r>
                <a:rPr lang="zh-CN" altLang="en-US" sz="1600" dirty="0" smtClean="0">
                  <a:solidFill>
                    <a:schemeClr val="tx1"/>
                  </a:solidFill>
                  <a:sym typeface="+mn-ea"/>
                </a:rPr>
                <a:t>写入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&amp;</a:t>
              </a:r>
              <a:r>
                <a:rPr lang="zh-CN" altLang="en-US" sz="1600" dirty="0" smtClean="0">
                  <a:solidFill>
                    <a:schemeClr val="tx1"/>
                  </a:solidFill>
                  <a:sym typeface="+mn-ea"/>
                </a:rPr>
                <a:t>右移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—</a:t>
              </a:r>
              <a:r>
                <a:rPr lang="zh-CN" sz="1600" dirty="0" smtClean="0">
                  <a:solidFill>
                    <a:schemeClr val="tx1"/>
                  </a:solidFill>
                  <a:sym typeface="+mn-ea"/>
                </a:rPr>
                <a:t>＝</a:t>
              </a:r>
              <a:r>
                <a:rPr lang="en-US" altLang="zh-CN" sz="1600" dirty="0" smtClean="0">
                  <a:solidFill>
                    <a:schemeClr val="tx1"/>
                  </a:solidFill>
                  <a:sym typeface="+mn-ea"/>
                </a:rPr>
                <a:t>1</a:t>
              </a:r>
              <a:endParaRPr lang="zh-CN" altLang="en-US" sz="1600" dirty="0" smtClean="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4" name="直接箭头连接符 61"/>
            <p:cNvCxnSpPr/>
            <p:nvPr>
              <p:custDataLst>
                <p:tags r:id="rId3"/>
              </p:custDataLst>
            </p:nvPr>
          </p:nvCxnSpPr>
          <p:spPr bwMode="auto">
            <a:xfrm>
              <a:off x="12756" y="9370"/>
              <a:ext cx="397" cy="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</p:grpSp>
      <p:grpSp>
        <p:nvGrpSpPr>
          <p:cNvPr id="7" name="组合 6"/>
          <p:cNvGrpSpPr/>
          <p:nvPr/>
        </p:nvGrpSpPr>
        <p:grpSpPr>
          <a:xfrm>
            <a:off x="6624245" y="5544490"/>
            <a:ext cx="1871980" cy="612140"/>
            <a:chOff x="10942" y="6689"/>
            <a:chExt cx="2948" cy="964"/>
          </a:xfrm>
        </p:grpSpPr>
        <p:cxnSp>
          <p:nvCxnSpPr>
            <p:cNvPr id="17" name="直接连接符 16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10942" y="7030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5"/>
              </p:custDataLst>
            </p:nvPr>
          </p:nvCxnSpPr>
          <p:spPr bwMode="auto">
            <a:xfrm>
              <a:off x="11169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6"/>
              </p:custDataLst>
            </p:nvPr>
          </p:nvCxnSpPr>
          <p:spPr bwMode="auto">
            <a:xfrm>
              <a:off x="11169" y="6689"/>
              <a:ext cx="1134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 bwMode="auto">
            <a:xfrm>
              <a:off x="12302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8"/>
              </p:custDataLst>
            </p:nvPr>
          </p:nvCxnSpPr>
          <p:spPr bwMode="auto">
            <a:xfrm>
              <a:off x="12302" y="7030"/>
              <a:ext cx="113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9"/>
              </p:custDataLst>
            </p:nvPr>
          </p:nvCxnSpPr>
          <p:spPr bwMode="auto">
            <a:xfrm>
              <a:off x="13436" y="6690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3436" y="6689"/>
              <a:ext cx="227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3436" y="67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5" name="Text Box 14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339" y="6973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加减</a:t>
              </a:r>
              <a:endParaRPr lang="zh-CN" altLang="en-US" sz="1600" b="1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13"/>
              </p:custDataLst>
            </p:nvPr>
          </p:nvCxnSpPr>
          <p:spPr bwMode="auto">
            <a:xfrm>
              <a:off x="11169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14"/>
              </p:custDataLst>
            </p:nvPr>
          </p:nvCxnSpPr>
          <p:spPr bwMode="auto">
            <a:xfrm>
              <a:off x="12302" y="67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30" name="Text Box 14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679" y="7313"/>
              <a:ext cx="113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RegP</a:t>
              </a:r>
              <a:endParaRPr lang="en-US" altLang="zh-CN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6"/>
              </p:custDataLst>
            </p:nvPr>
          </p:nvCxnSpPr>
          <p:spPr bwMode="auto">
            <a:xfrm>
              <a:off x="12302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17"/>
              </p:custDataLst>
            </p:nvPr>
          </p:nvCxnSpPr>
          <p:spPr bwMode="auto">
            <a:xfrm>
              <a:off x="13436" y="7030"/>
              <a:ext cx="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 Box 14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3096" y="7313"/>
              <a:ext cx="79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solidFill>
                    <a:schemeClr val="tx1"/>
                  </a:solidFill>
                </a:rPr>
                <a:t>右移</a:t>
              </a:r>
              <a:endParaRPr lang="zh-CN" sz="16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201"/>
          <p:cNvSpPr txBox="1">
            <a:spLocks noChangeArrowheads="1"/>
          </p:cNvSpPr>
          <p:nvPr/>
        </p:nvSpPr>
        <p:spPr bwMode="auto">
          <a:xfrm>
            <a:off x="179512" y="35472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控制流程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循环</a:t>
            </a:r>
            <a:r>
              <a:rPr lang="zh-CN" altLang="en-US" dirty="0">
                <a:solidFill>
                  <a:schemeClr val="tx1"/>
                </a:solidFill>
              </a:rPr>
              <a:t>的判断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加法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 smtClean="0">
                <a:solidFill>
                  <a:schemeClr val="tx1"/>
                </a:solidFill>
              </a:rPr>
              <a:t>移位操作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4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0" name="Text Box 200"/>
          <p:cNvSpPr txBox="1">
            <a:spLocks noChangeArrowheads="1"/>
          </p:cNvSpPr>
          <p:nvPr/>
        </p:nvSpPr>
        <p:spPr bwMode="auto">
          <a:xfrm>
            <a:off x="5796136" y="4366845"/>
            <a:ext cx="2808436" cy="646331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714375" indent="-714375"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与无符号乘法控制流程的差别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295840" y="908720"/>
            <a:ext cx="5580416" cy="3888432"/>
            <a:chOff x="1115616" y="908720"/>
            <a:chExt cx="5580416" cy="3888432"/>
          </a:xfrm>
        </p:grpSpPr>
        <p:sp>
          <p:nvSpPr>
            <p:cNvPr id="42" name="Line 86"/>
            <p:cNvSpPr>
              <a:spLocks noChangeShapeType="1"/>
            </p:cNvSpPr>
            <p:nvPr/>
          </p:nvSpPr>
          <p:spPr bwMode="auto">
            <a:xfrm>
              <a:off x="2328909" y="2780960"/>
              <a:ext cx="303319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AutoShape 87"/>
            <p:cNvSpPr>
              <a:spLocks noChangeArrowheads="1"/>
            </p:cNvSpPr>
            <p:nvPr/>
          </p:nvSpPr>
          <p:spPr bwMode="auto">
            <a:xfrm>
              <a:off x="2844032" y="1916800"/>
              <a:ext cx="2016000" cy="288000"/>
            </a:xfrm>
            <a:prstGeom prst="flowChartDecision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RegB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附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45" name="Text Box 91"/>
            <p:cNvSpPr txBox="1">
              <a:spLocks noChangeArrowheads="1"/>
            </p:cNvSpPr>
            <p:nvPr/>
          </p:nvSpPr>
          <p:spPr bwMode="auto">
            <a:xfrm>
              <a:off x="2555776" y="1844792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accent2"/>
                  </a:solidFill>
                </a:rPr>
                <a:t>01</a:t>
              </a:r>
              <a:endParaRPr lang="en-US" altLang="zh-CN" sz="1600" dirty="0">
                <a:solidFill>
                  <a:schemeClr val="accent2"/>
                </a:solidFill>
              </a:endParaRPr>
            </a:p>
          </p:txBody>
        </p:sp>
        <p:sp>
          <p:nvSpPr>
            <p:cNvPr id="46" name="Text Box 96"/>
            <p:cNvSpPr txBox="1">
              <a:spLocks noChangeArrowheads="1"/>
            </p:cNvSpPr>
            <p:nvPr/>
          </p:nvSpPr>
          <p:spPr bwMode="auto">
            <a:xfrm>
              <a:off x="1115616" y="2348912"/>
              <a:ext cx="252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＋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8" name="Text Box 109"/>
            <p:cNvSpPr txBox="1">
              <a:spLocks noChangeArrowheads="1"/>
            </p:cNvSpPr>
            <p:nvPr/>
          </p:nvSpPr>
          <p:spPr bwMode="auto">
            <a:xfrm>
              <a:off x="2268096" y="2924976"/>
              <a:ext cx="316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zh-CN" altLang="en-US" sz="1800" dirty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及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附</a:t>
              </a:r>
              <a:r>
                <a:rPr lang="zh-CN" altLang="en-US" sz="1800" dirty="0" smtClean="0">
                  <a:solidFill>
                    <a:schemeClr val="accent2"/>
                  </a:solidFill>
                </a:rPr>
                <a:t>算术右移</a:t>
              </a:r>
              <a:r>
                <a:rPr lang="en-US" altLang="zh-CN" sz="1800" dirty="0">
                  <a:solidFill>
                    <a:schemeClr val="tx1"/>
                  </a:solidFill>
                </a:rPr>
                <a:t>1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 Box 110"/>
            <p:cNvSpPr txBox="1">
              <a:spLocks noChangeArrowheads="1"/>
            </p:cNvSpPr>
            <p:nvPr/>
          </p:nvSpPr>
          <p:spPr bwMode="auto">
            <a:xfrm>
              <a:off x="3011790" y="3429032"/>
              <a:ext cx="1776634" cy="28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←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－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0" name="六边形 49"/>
            <p:cNvSpPr/>
            <p:nvPr/>
          </p:nvSpPr>
          <p:spPr bwMode="auto">
            <a:xfrm>
              <a:off x="1332200" y="908720"/>
              <a:ext cx="5040000" cy="288000"/>
            </a:xfrm>
            <a:prstGeom prst="hexagon">
              <a:avLst>
                <a:gd name="adj" fmla="val 32096"/>
                <a:gd name="vf" fmla="val 11547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8000" tIns="10800" rIns="18000" bIns="10800" numCol="1" rtlCol="0" anchor="ctr" anchorCtr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RegA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被乘数，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乘数，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op←</a:t>
              </a:r>
              <a:r>
                <a:rPr lang="zh-CN" altLang="en-US" sz="1800" dirty="0" smtClean="0">
                  <a:solidFill>
                    <a:schemeClr val="accent2"/>
                  </a:solidFill>
                </a:rPr>
                <a:t>补码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乘法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</a:endParaRPr>
            </a:p>
          </p:txBody>
        </p:sp>
        <p:sp>
          <p:nvSpPr>
            <p:cNvPr id="52" name="Text Box 85"/>
            <p:cNvSpPr txBox="1">
              <a:spLocks noChangeArrowheads="1"/>
            </p:cNvSpPr>
            <p:nvPr/>
          </p:nvSpPr>
          <p:spPr bwMode="auto">
            <a:xfrm>
              <a:off x="2483768" y="1412744"/>
              <a:ext cx="2736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←0</a:t>
              </a:r>
              <a:r>
                <a:rPr lang="zh-CN" altLang="en-US" sz="1800" dirty="0">
                  <a:solidFill>
                    <a:schemeClr val="tx1"/>
                  </a:solidFill>
                </a:rPr>
                <a:t>，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Cnt←n</a:t>
              </a:r>
              <a:r>
                <a:rPr lang="zh-CN" altLang="en-US" sz="1800" dirty="0">
                  <a:solidFill>
                    <a:schemeClr val="tx1"/>
                  </a:solidFill>
                </a:rPr>
                <a:t>，</a:t>
              </a:r>
              <a:r>
                <a:rPr lang="en-US" altLang="zh-CN" sz="1800" dirty="0">
                  <a:solidFill>
                    <a:schemeClr val="accent2"/>
                  </a:solidFill>
                </a:rPr>
                <a:t>B</a:t>
              </a:r>
              <a:r>
                <a:rPr lang="zh-CN" altLang="en-US" sz="1800" baseline="-16000" dirty="0">
                  <a:solidFill>
                    <a:schemeClr val="accent2"/>
                  </a:solidFill>
                </a:rPr>
                <a:t>附</a:t>
              </a:r>
              <a:r>
                <a:rPr lang="en-US" altLang="zh-CN" sz="1800" dirty="0">
                  <a:solidFill>
                    <a:schemeClr val="accent2"/>
                  </a:solidFill>
                </a:rPr>
                <a:t>=</a:t>
              </a:r>
              <a:r>
                <a:rPr lang="en-US" altLang="zh-CN" sz="1800" dirty="0" smtClean="0">
                  <a:solidFill>
                    <a:schemeClr val="accent2"/>
                  </a:solidFill>
                </a:rPr>
                <a:t>0</a:t>
              </a:r>
              <a:endParaRPr lang="en-US" altLang="zh-CN" sz="1800" dirty="0">
                <a:solidFill>
                  <a:schemeClr val="accent2"/>
                </a:solidFill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 bwMode="auto">
            <a:xfrm>
              <a:off x="3851920" y="1196720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53"/>
            <p:cNvCxnSpPr/>
            <p:nvPr/>
          </p:nvCxnSpPr>
          <p:spPr bwMode="auto">
            <a:xfrm flipH="1">
              <a:off x="3851734" y="1700776"/>
              <a:ext cx="186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2"/>
            <p:cNvCxnSpPr/>
            <p:nvPr/>
          </p:nvCxnSpPr>
          <p:spPr bwMode="auto">
            <a:xfrm rot="10800000" flipV="1">
              <a:off x="2375616" y="2060880"/>
              <a:ext cx="467912" cy="288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Text Box 96"/>
            <p:cNvSpPr txBox="1">
              <a:spLocks noChangeArrowheads="1"/>
            </p:cNvSpPr>
            <p:nvPr/>
          </p:nvSpPr>
          <p:spPr bwMode="auto">
            <a:xfrm>
              <a:off x="4067904" y="2348912"/>
              <a:ext cx="2520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>
                  <a:solidFill>
                    <a:schemeClr val="tx1"/>
                  </a:solidFill>
                </a:rPr>
                <a:t>←(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r>
                <a:rPr lang="zh-CN" altLang="en-US" sz="1800" dirty="0" smtClean="0">
                  <a:solidFill>
                    <a:schemeClr val="accent2"/>
                  </a:solidFill>
                </a:rPr>
                <a:t>－</a:t>
              </a:r>
              <a:r>
                <a:rPr lang="en-US" altLang="zh-CN" sz="1800" dirty="0" smtClean="0">
                  <a:solidFill>
                    <a:schemeClr val="accent2"/>
                  </a:solidFill>
                </a:rPr>
                <a:t>(</a:t>
              </a:r>
              <a:r>
                <a:rPr lang="en-US" altLang="zh-CN" sz="1800" dirty="0" err="1">
                  <a:solidFill>
                    <a:schemeClr val="accent2"/>
                  </a:solidFill>
                </a:rPr>
                <a:t>RegA</a:t>
              </a:r>
              <a:r>
                <a:rPr lang="en-US" altLang="zh-CN" sz="1800" dirty="0" smtClean="0">
                  <a:solidFill>
                    <a:schemeClr val="accent2"/>
                  </a:solidFill>
                </a:rPr>
                <a:t>)</a:t>
              </a:r>
              <a:endParaRPr lang="en-US" altLang="zh-CN" sz="1800" dirty="0">
                <a:solidFill>
                  <a:schemeClr val="accent2"/>
                </a:solidFill>
              </a:endParaRPr>
            </a:p>
          </p:txBody>
        </p:sp>
        <p:cxnSp>
          <p:nvCxnSpPr>
            <p:cNvPr id="58" name="直接箭头连接符 52"/>
            <p:cNvCxnSpPr/>
            <p:nvPr/>
          </p:nvCxnSpPr>
          <p:spPr bwMode="auto">
            <a:xfrm>
              <a:off x="4787744" y="2060800"/>
              <a:ext cx="468000" cy="288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91"/>
            <p:cNvSpPr txBox="1">
              <a:spLocks noChangeArrowheads="1"/>
            </p:cNvSpPr>
            <p:nvPr/>
          </p:nvSpPr>
          <p:spPr bwMode="auto">
            <a:xfrm>
              <a:off x="4860064" y="1844792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accent2"/>
                  </a:solidFill>
                </a:rPr>
                <a:t>10</a:t>
              </a:r>
              <a:endParaRPr lang="en-US" altLang="zh-CN" sz="1600" dirty="0">
                <a:solidFill>
                  <a:schemeClr val="accent2"/>
                </a:solidFill>
              </a:endParaRPr>
            </a:p>
          </p:txBody>
        </p:sp>
        <p:cxnSp>
          <p:nvCxnSpPr>
            <p:cNvPr id="60" name="直接箭头连接符 59"/>
            <p:cNvCxnSpPr/>
            <p:nvPr/>
          </p:nvCxnSpPr>
          <p:spPr bwMode="auto">
            <a:xfrm>
              <a:off x="2411480" y="263691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>
              <a:off x="5291800" y="263691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>
              <a:off x="3851920" y="278096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3852320" y="3212976"/>
              <a:ext cx="1209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>
              <a:off x="3852320" y="3717032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0" name="AutoShape 87"/>
            <p:cNvSpPr>
              <a:spLocks noChangeArrowheads="1"/>
            </p:cNvSpPr>
            <p:nvPr/>
          </p:nvSpPr>
          <p:spPr bwMode="auto">
            <a:xfrm>
              <a:off x="2916216" y="3933088"/>
              <a:ext cx="1872000" cy="288000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Cnt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=0?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直接箭头连接符 52"/>
            <p:cNvCxnSpPr/>
            <p:nvPr/>
          </p:nvCxnSpPr>
          <p:spPr bwMode="auto">
            <a:xfrm rot="5400000" flipH="1" flipV="1">
              <a:off x="4608032" y="1975812"/>
              <a:ext cx="2268000" cy="1908000"/>
            </a:xfrm>
            <a:prstGeom prst="bentConnector3">
              <a:avLst>
                <a:gd name="adj1" fmla="val -893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2" name="Text Box 91"/>
            <p:cNvSpPr txBox="1">
              <a:spLocks noChangeArrowheads="1"/>
            </p:cNvSpPr>
            <p:nvPr/>
          </p:nvSpPr>
          <p:spPr bwMode="auto">
            <a:xfrm>
              <a:off x="4932164" y="3861048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N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 flipH="1">
              <a:off x="3851920" y="4221088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" name="六边形 73"/>
            <p:cNvSpPr/>
            <p:nvPr/>
          </p:nvSpPr>
          <p:spPr bwMode="auto">
            <a:xfrm>
              <a:off x="2556448" y="4509152"/>
              <a:ext cx="2448000" cy="288000"/>
            </a:xfrm>
            <a:prstGeom prst="hexagon">
              <a:avLst>
                <a:gd name="adj" fmla="val 32096"/>
                <a:gd name="vf" fmla="val 11547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8000" tIns="10800" rIns="18000" bIns="10800" numCol="1" rtlCol="0" anchor="ctr" anchorCtr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乘积在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RegP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及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RegB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中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CC3300"/>
                </a:solidFill>
                <a:effectLst/>
              </a:endParaRPr>
            </a:p>
          </p:txBody>
        </p:sp>
        <p:sp>
          <p:nvSpPr>
            <p:cNvPr id="75" name="Text Box 91"/>
            <p:cNvSpPr txBox="1">
              <a:spLocks noChangeArrowheads="1"/>
            </p:cNvSpPr>
            <p:nvPr/>
          </p:nvSpPr>
          <p:spPr bwMode="auto">
            <a:xfrm>
              <a:off x="3636020" y="4221144"/>
              <a:ext cx="2159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Y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直接箭头连接符 75"/>
            <p:cNvCxnSpPr/>
            <p:nvPr/>
          </p:nvCxnSpPr>
          <p:spPr bwMode="auto">
            <a:xfrm flipH="1">
              <a:off x="3851776" y="1795812"/>
              <a:ext cx="28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7" name="Text Box 91"/>
            <p:cNvSpPr txBox="1">
              <a:spLocks noChangeArrowheads="1"/>
            </p:cNvSpPr>
            <p:nvPr/>
          </p:nvSpPr>
          <p:spPr bwMode="auto">
            <a:xfrm>
              <a:off x="3563952" y="2204888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accent2"/>
                  </a:solidFill>
                </a:rPr>
                <a:t>00 11</a:t>
              </a:r>
              <a:endParaRPr lang="en-US" altLang="zh-CN" sz="1600" dirty="0">
                <a:solidFill>
                  <a:schemeClr val="accent2"/>
                </a:solidFill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 flipH="1">
              <a:off x="3851920" y="2204864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9" name="Text Box 201"/>
          <p:cNvSpPr txBox="1">
            <a:spLocks noChangeArrowheads="1"/>
          </p:cNvSpPr>
          <p:nvPr/>
        </p:nvSpPr>
        <p:spPr bwMode="auto">
          <a:xfrm>
            <a:off x="179512" y="4869160"/>
            <a:ext cx="6048672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基于</a:t>
            </a:r>
            <a:r>
              <a:rPr lang="zh-CN" altLang="en-US" sz="1800" dirty="0" smtClean="0">
                <a:solidFill>
                  <a:schemeClr val="tx1"/>
                </a:solidFill>
              </a:rPr>
              <a:t>指令需求</a:t>
            </a:r>
            <a:r>
              <a:rPr lang="en-US" altLang="zh-CN" sz="1600" dirty="0" smtClean="0">
                <a:solidFill>
                  <a:schemeClr val="tx1"/>
                </a:solidFill>
              </a:rPr>
              <a:t>[</a:t>
            </a:r>
            <a:r>
              <a:rPr lang="zh-CN" altLang="en-US" sz="1600" dirty="0">
                <a:solidFill>
                  <a:schemeClr val="tx1"/>
                </a:solidFill>
              </a:rPr>
              <a:t>非乘法运算本身</a:t>
            </a:r>
            <a:r>
              <a:rPr lang="en-US" altLang="zh-CN" sz="1600" dirty="0">
                <a:solidFill>
                  <a:schemeClr val="tx1"/>
                </a:solidFill>
              </a:rPr>
              <a:t>]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8230" indent="-107823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乘法结果为</a:t>
            </a:r>
            <a:r>
              <a:rPr lang="en-US" altLang="zh-CN" dirty="0">
                <a:solidFill>
                  <a:schemeClr val="accent2"/>
                </a:solidFill>
              </a:rPr>
              <a:t>2n</a:t>
            </a:r>
            <a:r>
              <a:rPr lang="zh-CN" altLang="en-US" dirty="0">
                <a:solidFill>
                  <a:schemeClr val="accent2"/>
                </a:solidFill>
              </a:rPr>
              <a:t>位时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1078230" indent="-1078230"/>
            <a:r>
              <a:rPr lang="zh-CN" altLang="en-US" dirty="0" smtClean="0">
                <a:solidFill>
                  <a:schemeClr val="accent2"/>
                </a:solidFill>
              </a:rPr>
              <a:t>    乘法结果为</a:t>
            </a:r>
            <a:r>
              <a:rPr lang="en-US" altLang="zh-CN" dirty="0" smtClean="0">
                <a:solidFill>
                  <a:schemeClr val="accent2"/>
                </a:solidFill>
              </a:rPr>
              <a:t> n</a:t>
            </a:r>
            <a:r>
              <a:rPr lang="zh-CN" altLang="en-US" dirty="0">
                <a:solidFill>
                  <a:schemeClr val="accent2"/>
                </a:solidFill>
              </a:rPr>
              <a:t>位时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80" name="Text Box 99"/>
          <p:cNvSpPr txBox="1">
            <a:spLocks noChangeArrowheads="1"/>
          </p:cNvSpPr>
          <p:nvPr/>
        </p:nvSpPr>
        <p:spPr bwMode="auto">
          <a:xfrm>
            <a:off x="3635523" y="5301208"/>
            <a:ext cx="5400973" cy="1015663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892175" indent="-892175"/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不会溢出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892175" indent="-892175"/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  <a:ea typeface="+mn-ea"/>
              </a:rPr>
              <a:t>2n-1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+…+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baseline="-18000" dirty="0" err="1" smtClean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)+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  <a:latin typeface="+mn-ea"/>
              </a:rPr>
              <a:t>2n-1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+…+</a:t>
            </a:r>
            <a:r>
              <a:rPr lang="en-US" altLang="zh-CN" dirty="0" err="1" smtClean="0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baseline="-18000" dirty="0" err="1" smtClean="0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endParaRPr lang="en-US" altLang="zh-CN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356100" y="5956935"/>
            <a:ext cx="4319905" cy="0"/>
            <a:chOff x="6860" y="9381"/>
            <a:chExt cx="6803" cy="0"/>
          </a:xfrm>
        </p:grpSpPr>
        <p:cxnSp>
          <p:nvCxnSpPr>
            <p:cNvPr id="81" name="直接连接符 80"/>
            <p:cNvCxnSpPr/>
            <p:nvPr/>
          </p:nvCxnSpPr>
          <p:spPr bwMode="auto">
            <a:xfrm>
              <a:off x="6860" y="9381"/>
              <a:ext cx="68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/>
          </p:nvCxnSpPr>
          <p:spPr bwMode="auto">
            <a:xfrm>
              <a:off x="11509" y="9381"/>
              <a:ext cx="79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 bwMode="auto">
            <a:xfrm>
              <a:off x="13323" y="9381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303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7851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原码</a:t>
            </a:r>
            <a:r>
              <a:rPr lang="zh-CN" altLang="en-US" dirty="0" smtClean="0">
                <a:solidFill>
                  <a:srgbClr val="FF3399"/>
                </a:solidFill>
              </a:rPr>
              <a:t>乘法运算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只讨论</a:t>
            </a:r>
            <a:r>
              <a:rPr lang="zh-CN" altLang="en-US" sz="2000" dirty="0" smtClean="0">
                <a:solidFill>
                  <a:srgbClr val="990099"/>
                </a:solidFill>
              </a:rPr>
              <a:t>小数</a:t>
            </a:r>
            <a:r>
              <a:rPr lang="zh-CN" altLang="en-US" sz="2000" dirty="0" smtClean="0">
                <a:solidFill>
                  <a:schemeClr val="tx1"/>
                </a:solidFill>
              </a:rPr>
              <a:t>一位乘法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，结果为≤</a:t>
            </a:r>
            <a:r>
              <a:rPr lang="en-US" altLang="zh-CN" dirty="0" smtClean="0">
                <a:solidFill>
                  <a:schemeClr val="tx1"/>
                </a:solidFill>
              </a:rPr>
              <a:t>2n-1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Text Box 200"/>
          <p:cNvSpPr txBox="1">
            <a:spLocks noChangeArrowheads="1"/>
          </p:cNvSpPr>
          <p:nvPr/>
        </p:nvSpPr>
        <p:spPr bwMode="auto">
          <a:xfrm>
            <a:off x="179511" y="1268760"/>
            <a:ext cx="4032447" cy="32085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C00000"/>
                </a:solidFill>
              </a:rPr>
              <a:t> *运算方法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baseline="-18000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乘积数值的递</a:t>
            </a:r>
            <a:r>
              <a:rPr lang="zh-CN" altLang="en-US" dirty="0">
                <a:solidFill>
                  <a:schemeClr val="accent2"/>
                </a:solidFill>
              </a:rPr>
              <a:t>推公式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sz="2000" dirty="0" smtClean="0">
              <a:solidFill>
                <a:schemeClr val="accent2"/>
              </a:solidFill>
            </a:endParaRPr>
          </a:p>
          <a:p>
            <a:endParaRPr lang="en-US" altLang="zh-CN" sz="1800" dirty="0" smtClean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实质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/>
        </p:nvSpPr>
        <p:spPr bwMode="auto">
          <a:xfrm>
            <a:off x="1115616" y="1268760"/>
            <a:ext cx="7848872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[B]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990099"/>
                </a:solidFill>
              </a:rPr>
              <a:t>b</a:t>
            </a:r>
            <a:r>
              <a:rPr lang="en-US" altLang="zh-CN" baseline="-18000" dirty="0" smtClean="0">
                <a:solidFill>
                  <a:srgbClr val="990099"/>
                </a:solidFill>
              </a:rPr>
              <a:t>n-1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[A×B]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2n-2</a:t>
            </a:r>
            <a:r>
              <a:rPr lang="en-US" altLang="zh-CN" dirty="0" smtClean="0">
                <a:solidFill>
                  <a:schemeClr val="tx1"/>
                </a:solidFill>
              </a:rPr>
              <a:t>…z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 smtClean="0">
                <a:solidFill>
                  <a:schemeClr val="tx1"/>
                </a:solidFill>
              </a:rPr>
              <a:t>求乘积符号，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，  </a:t>
            </a:r>
            <a:r>
              <a:rPr lang="zh-CN" altLang="en-US" baseline="-25000" dirty="0" smtClean="0">
                <a:solidFill>
                  <a:schemeClr val="tx1"/>
                </a:solidFill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②</a:t>
            </a:r>
            <a:r>
              <a:rPr lang="zh-CN" altLang="en-US" dirty="0" smtClean="0">
                <a:solidFill>
                  <a:schemeClr val="tx1"/>
                </a:solidFill>
              </a:rPr>
              <a:t>求乘积数值，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en-US" altLang="zh-CN" dirty="0">
                <a:solidFill>
                  <a:schemeClr val="tx1"/>
                </a:solidFill>
              </a:rPr>
              <a:t>A|×|B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2n-3</a:t>
            </a:r>
            <a:r>
              <a:rPr lang="en-US" altLang="zh-CN" dirty="0" smtClean="0">
                <a:solidFill>
                  <a:schemeClr val="tx1"/>
                </a:solidFill>
              </a:rPr>
              <a:t>…z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3" name="Text Box 267"/>
          <p:cNvSpPr txBox="1">
            <a:spLocks noChangeArrowheads="1"/>
          </p:cNvSpPr>
          <p:nvPr/>
        </p:nvSpPr>
        <p:spPr bwMode="auto">
          <a:xfrm>
            <a:off x="1331640" y="3102059"/>
            <a:ext cx="7704856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i-1</a:t>
            </a:r>
            <a:r>
              <a:rPr lang="zh-CN" altLang="en-US" dirty="0" smtClean="0">
                <a:solidFill>
                  <a:srgbClr val="990099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|A|×b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i-1</a:t>
            </a:r>
            <a:r>
              <a:rPr lang="en-US" altLang="zh-CN" dirty="0" smtClean="0">
                <a:solidFill>
                  <a:schemeClr val="tx1"/>
                </a:solidFill>
              </a:rPr>
              <a:t>)×2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990099"/>
                </a:solidFill>
              </a:rPr>
              <a:t>n-1</a:t>
            </a:r>
            <a:r>
              <a:rPr lang="zh-CN" altLang="en-US" sz="1800" dirty="0" smtClean="0">
                <a:solidFill>
                  <a:srgbClr val="990099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</a:t>
            </a:r>
            <a:r>
              <a:rPr lang="zh-CN" altLang="en-US" sz="1800" dirty="0">
                <a:solidFill>
                  <a:schemeClr val="tx1"/>
                </a:solidFill>
              </a:rPr>
              <a:t>符号</a:t>
            </a:r>
            <a:r>
              <a:rPr lang="zh-CN" altLang="en-US" sz="1800" dirty="0" smtClean="0">
                <a:solidFill>
                  <a:schemeClr val="tx1"/>
                </a:solidFill>
              </a:rPr>
              <a:t>乘法为</a:t>
            </a:r>
            <a:r>
              <a:rPr lang="en-US" altLang="zh-CN" sz="1800" dirty="0" smtClean="0">
                <a:solidFill>
                  <a:srgbClr val="0070C0"/>
                </a:solidFill>
              </a:rPr>
              <a:t>n</a:t>
            </a:r>
            <a:r>
              <a:rPr lang="zh-CN" altLang="en-US" sz="1800" dirty="0" smtClean="0">
                <a:solidFill>
                  <a:srgbClr val="0070C0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baseline="30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                   </a:t>
            </a:r>
            <a:r>
              <a:rPr lang="en-US" altLang="zh-CN" sz="2000" spc="3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990099"/>
                </a:solidFill>
              </a:rPr>
              <a:t>n-1</a:t>
            </a:r>
            <a:r>
              <a:rPr lang="zh-CN" altLang="en-US" sz="1800" dirty="0" smtClean="0">
                <a:solidFill>
                  <a:srgbClr val="990099"/>
                </a:solidFill>
              </a:rPr>
              <a:t>次</a:t>
            </a:r>
            <a:r>
              <a:rPr lang="zh-CN" altLang="en-US" sz="1800" dirty="0" smtClean="0">
                <a:solidFill>
                  <a:schemeClr val="tx1"/>
                </a:solidFill>
              </a:rPr>
              <a:t>循环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无符号乘法为</a:t>
            </a:r>
            <a:r>
              <a:rPr lang="en-US" altLang="zh-CN" sz="1800" dirty="0" smtClean="0">
                <a:solidFill>
                  <a:srgbClr val="0070C0"/>
                </a:solidFill>
              </a:rPr>
              <a:t>n</a:t>
            </a:r>
            <a:r>
              <a:rPr lang="zh-CN" altLang="en-US" sz="1800" dirty="0" smtClean="0">
                <a:solidFill>
                  <a:srgbClr val="0070C0"/>
                </a:solidFill>
              </a:rPr>
              <a:t>次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rgbClr val="990099"/>
              </a:solidFill>
            </a:endParaRPr>
          </a:p>
        </p:txBody>
      </p:sp>
      <p:sp>
        <p:nvSpPr>
          <p:cNvPr id="24" name="Text Box 99"/>
          <p:cNvSpPr txBox="1">
            <a:spLocks noChangeArrowheads="1"/>
          </p:cNvSpPr>
          <p:nvPr/>
        </p:nvSpPr>
        <p:spPr bwMode="auto">
          <a:xfrm>
            <a:off x="179512" y="4409241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3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[A]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chemeClr val="tx1"/>
                </a:solidFill>
              </a:rPr>
              <a:t>=0.111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chemeClr val="tx1"/>
                </a:solidFill>
              </a:rPr>
              <a:t>=1.110</a:t>
            </a:r>
            <a:r>
              <a:rPr lang="zh-CN" altLang="en-US" dirty="0" smtClean="0">
                <a:solidFill>
                  <a:schemeClr val="tx1"/>
                </a:solidFill>
              </a:rPr>
              <a:t>，求</a:t>
            </a:r>
            <a:r>
              <a:rPr lang="en-US" altLang="zh-CN" dirty="0">
                <a:solidFill>
                  <a:schemeClr val="tx1"/>
                </a:solidFill>
              </a:rPr>
              <a:t>[A×B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原</a:t>
            </a:r>
            <a:endParaRPr lang="en-US" altLang="zh-CN" baseline="-180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Text Box 100"/>
          <p:cNvSpPr txBox="1">
            <a:spLocks noChangeArrowheads="1"/>
          </p:cNvSpPr>
          <p:nvPr/>
        </p:nvSpPr>
        <p:spPr bwMode="auto">
          <a:xfrm>
            <a:off x="1398437" y="4841289"/>
            <a:ext cx="7566299" cy="1396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|=0.111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|B</a:t>
            </a:r>
            <a:r>
              <a:rPr lang="en-US" altLang="zh-CN" dirty="0" smtClean="0">
                <a:solidFill>
                  <a:schemeClr val="tx1"/>
                </a:solidFill>
              </a:rPr>
              <a:t>|=0.110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|A|×|B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0.101010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同例</a:t>
            </a:r>
            <a:r>
              <a:rPr lang="en-US" altLang="zh-CN" sz="1800" dirty="0" smtClean="0">
                <a:solidFill>
                  <a:schemeClr val="tx1"/>
                </a:solidFill>
              </a:rPr>
              <a:t>1[</a:t>
            </a:r>
            <a:r>
              <a:rPr lang="zh-CN" altLang="en-US" sz="1800" dirty="0" smtClean="0">
                <a:solidFill>
                  <a:schemeClr val="tx1"/>
                </a:solidFill>
              </a:rPr>
              <a:t>循环</a:t>
            </a:r>
            <a:r>
              <a:rPr lang="en-US" altLang="zh-CN" sz="18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])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A×B]</a:t>
            </a:r>
            <a:r>
              <a:rPr lang="zh-CN" altLang="en-US" baseline="-16000" dirty="0">
                <a:solidFill>
                  <a:schemeClr val="tx1"/>
                </a:solidFill>
              </a:rPr>
              <a:t>原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smtClean="0"/>
              <a:t>1.</a:t>
            </a:r>
            <a:r>
              <a:rPr lang="en-US" altLang="zh-CN" dirty="0" smtClean="0">
                <a:solidFill>
                  <a:schemeClr val="tx1"/>
                </a:solidFill>
              </a:rPr>
              <a:t>101010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27" name="Text Box 267"/>
          <p:cNvSpPr txBox="1">
            <a:spLocks noChangeArrowheads="1"/>
          </p:cNvSpPr>
          <p:nvPr/>
        </p:nvSpPr>
        <p:spPr bwMode="auto">
          <a:xfrm>
            <a:off x="1763688" y="3883114"/>
            <a:ext cx="7201049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符号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数值</a:t>
            </a:r>
            <a:r>
              <a:rPr lang="zh-CN" altLang="en-US" u="sng" dirty="0">
                <a:solidFill>
                  <a:schemeClr val="tx1"/>
                </a:solidFill>
              </a:rPr>
              <a:t>分开运算</a:t>
            </a:r>
            <a:r>
              <a:rPr lang="zh-CN" altLang="en-US" dirty="0" smtClean="0">
                <a:solidFill>
                  <a:schemeClr val="tx1"/>
                </a:solidFill>
              </a:rPr>
              <a:t>，数值</a:t>
            </a:r>
            <a:r>
              <a:rPr lang="zh-CN" altLang="en-US" dirty="0">
                <a:solidFill>
                  <a:schemeClr val="tx1"/>
                </a:solidFill>
              </a:rPr>
              <a:t>相乘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zh-CN" altLang="en-US" u="sng" dirty="0" smtClean="0">
                <a:solidFill>
                  <a:schemeClr val="tx1"/>
                </a:solidFill>
              </a:rPr>
              <a:t>无符号乘法</a:t>
            </a:r>
            <a:r>
              <a:rPr lang="en-US" altLang="zh-CN" sz="1800" dirty="0" smtClean="0">
                <a:solidFill>
                  <a:schemeClr val="tx1"/>
                </a:solidFill>
              </a:rPr>
              <a:t>(n-1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01"/>
          <p:cNvSpPr txBox="1">
            <a:spLocks noChangeArrowheads="1"/>
          </p:cNvSpPr>
          <p:nvPr/>
        </p:nvSpPr>
        <p:spPr bwMode="auto">
          <a:xfrm>
            <a:off x="179512" y="260648"/>
            <a:ext cx="2520280" cy="5529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>
                <a:solidFill>
                  <a:schemeClr val="accent2"/>
                </a:solidFill>
              </a:rPr>
              <a:t>思路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控制流程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4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溢出判断：</a:t>
            </a:r>
            <a:endParaRPr lang="en-US" altLang="zh-CN" u="sng" dirty="0" smtClean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1"/>
          <p:cNvSpPr txBox="1">
            <a:spLocks noChangeArrowheads="1"/>
          </p:cNvSpPr>
          <p:nvPr/>
        </p:nvSpPr>
        <p:spPr bwMode="auto">
          <a:xfrm>
            <a:off x="1691680" y="764704"/>
            <a:ext cx="7128792" cy="2631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 smtClean="0">
                <a:solidFill>
                  <a:schemeClr val="tx1"/>
                </a:solidFill>
              </a:rPr>
              <a:t>计算并暂存</a:t>
            </a:r>
            <a:r>
              <a:rPr lang="zh-CN" altLang="en-US" u="sng" dirty="0" smtClean="0">
                <a:solidFill>
                  <a:schemeClr val="tx1"/>
                </a:solidFill>
              </a:rPr>
              <a:t>结果符号</a:t>
            </a:r>
            <a:endParaRPr lang="en-US" altLang="zh-CN" u="sng" dirty="0" smtClean="0">
              <a:solidFill>
                <a:schemeClr val="tx1"/>
              </a:solidFill>
            </a:endParaRPr>
          </a:p>
          <a:p>
            <a:pPr marL="1078230" indent="-1078230"/>
            <a:r>
              <a:rPr lang="zh-CN" altLang="en-US" dirty="0">
                <a:solidFill>
                  <a:schemeClr val="tx1"/>
                </a:solidFill>
              </a:rPr>
              <a:t>②循环</a:t>
            </a:r>
            <a:r>
              <a:rPr lang="en-US" altLang="zh-CN" dirty="0" smtClean="0">
                <a:solidFill>
                  <a:srgbClr val="990099"/>
                </a:solidFill>
              </a:rPr>
              <a:t>n-1</a:t>
            </a:r>
            <a:r>
              <a:rPr lang="zh-CN" altLang="en-US" dirty="0" smtClean="0">
                <a:solidFill>
                  <a:srgbClr val="990099"/>
                </a:solidFill>
              </a:rPr>
              <a:t>次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u="sng" dirty="0">
                <a:solidFill>
                  <a:schemeClr val="tx1"/>
                </a:solidFill>
              </a:rPr>
              <a:t>判断</a:t>
            </a:r>
            <a:r>
              <a:rPr lang="en-US" altLang="zh-CN" u="sng" dirty="0">
                <a:solidFill>
                  <a:schemeClr val="tx1"/>
                </a:solidFill>
              </a:rPr>
              <a:t>-</a:t>
            </a:r>
            <a:r>
              <a:rPr lang="zh-CN" altLang="en-US" u="sng" dirty="0">
                <a:solidFill>
                  <a:schemeClr val="tx1"/>
                </a:solidFill>
              </a:rPr>
              <a:t>加法</a:t>
            </a:r>
            <a:r>
              <a:rPr lang="en-US" altLang="zh-CN" u="sng" dirty="0">
                <a:solidFill>
                  <a:schemeClr val="tx1"/>
                </a:solidFill>
              </a:rPr>
              <a:t>-</a:t>
            </a:r>
            <a:r>
              <a:rPr lang="zh-CN" altLang="en-US" u="sng" dirty="0" smtClean="0">
                <a:solidFill>
                  <a:schemeClr val="tx1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8230" indent="-1078230"/>
            <a:endParaRPr lang="en-US" altLang="zh-CN" dirty="0">
              <a:solidFill>
                <a:schemeClr val="tx1"/>
              </a:solidFill>
            </a:endParaRPr>
          </a:p>
          <a:p>
            <a:pPr marL="1078230" indent="-1078230"/>
            <a:endParaRPr lang="en-US" altLang="zh-CN" sz="1800" dirty="0" smtClean="0">
              <a:solidFill>
                <a:schemeClr val="tx1"/>
              </a:solidFill>
            </a:endParaRPr>
          </a:p>
          <a:p>
            <a:pPr marL="1078230" indent="-1078230"/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③部分</a:t>
            </a:r>
            <a:r>
              <a:rPr lang="zh-CN" altLang="en-US" dirty="0" smtClean="0">
                <a:solidFill>
                  <a:schemeClr val="tx1"/>
                </a:solidFill>
              </a:rPr>
              <a:t>积低位放在</a:t>
            </a:r>
            <a:r>
              <a:rPr lang="zh-CN" altLang="en-US" u="sng" dirty="0" smtClean="0">
                <a:solidFill>
                  <a:schemeClr val="tx1"/>
                </a:solidFill>
              </a:rPr>
              <a:t>乘数的空位</a:t>
            </a:r>
            <a:r>
              <a:rPr lang="zh-CN" altLang="en-US" dirty="0" smtClean="0">
                <a:solidFill>
                  <a:schemeClr val="tx1"/>
                </a:solidFill>
              </a:rPr>
              <a:t>上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←同无符号乘法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4" name="Text Box 201"/>
          <p:cNvSpPr txBox="1">
            <a:spLocks noChangeArrowheads="1"/>
          </p:cNvSpPr>
          <p:nvPr/>
        </p:nvSpPr>
        <p:spPr bwMode="auto">
          <a:xfrm>
            <a:off x="1763688" y="3275694"/>
            <a:ext cx="7128792" cy="251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zh-CN" altLang="en-US" u="sng" dirty="0" smtClean="0">
                <a:solidFill>
                  <a:srgbClr val="990099"/>
                </a:solidFill>
              </a:rPr>
              <a:t>扩展</a:t>
            </a:r>
            <a:r>
              <a:rPr lang="zh-CN" altLang="en-US" dirty="0" smtClean="0">
                <a:solidFill>
                  <a:schemeClr val="tx1"/>
                </a:solidFill>
              </a:rPr>
              <a:t>无符号乘法器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增加</a:t>
            </a:r>
            <a:r>
              <a:rPr lang="en-US" altLang="zh-CN" sz="2000" dirty="0" smtClean="0">
                <a:solidFill>
                  <a:srgbClr val="990099"/>
                </a:solidFill>
              </a:rPr>
              <a:t>S</a:t>
            </a:r>
            <a:r>
              <a:rPr lang="en-US" altLang="zh-CN" sz="2000" baseline="-16000" dirty="0" smtClean="0">
                <a:solidFill>
                  <a:srgbClr val="990099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及</a:t>
            </a:r>
            <a:r>
              <a:rPr lang="zh-CN" altLang="en-US" sz="2000" dirty="0">
                <a:solidFill>
                  <a:srgbClr val="990099"/>
                </a:solidFill>
              </a:rPr>
              <a:t>相关</a:t>
            </a:r>
            <a:r>
              <a:rPr lang="zh-CN" altLang="en-US" sz="2000" dirty="0" smtClean="0">
                <a:solidFill>
                  <a:srgbClr val="990099"/>
                </a:solidFill>
              </a:rPr>
              <a:t>电路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1078230" indent="-1078230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  ①结果符号计算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8230" indent="-1078230">
              <a:spcBef>
                <a:spcPts val="300"/>
              </a:spcBef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②循环</a:t>
            </a:r>
            <a:r>
              <a:rPr lang="zh-CN" altLang="en-US" dirty="0">
                <a:solidFill>
                  <a:schemeClr val="tx1"/>
                </a:solidFill>
              </a:rPr>
              <a:t>的判断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加法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8230" indent="-1078230">
              <a:spcBef>
                <a:spcPts val="0"/>
              </a:spcBef>
            </a:pP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③拼接成乘积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符号</a:t>
            </a:r>
            <a:r>
              <a:rPr lang="en-US" altLang="zh-CN" sz="1800" dirty="0" smtClean="0">
                <a:solidFill>
                  <a:schemeClr val="tx1"/>
                </a:solidFill>
              </a:rPr>
              <a:t>+</a:t>
            </a:r>
            <a:r>
              <a:rPr lang="zh-CN" altLang="en-US" sz="1800" dirty="0" smtClean="0">
                <a:solidFill>
                  <a:schemeClr val="tx1"/>
                </a:solidFill>
              </a:rPr>
              <a:t>数值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078230" indent="-1078230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  小数乘法不会溢出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与乘积长度无关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aphicFrame>
        <p:nvGraphicFramePr>
          <p:cNvPr id="7" name="Group 318"/>
          <p:cNvGraphicFramePr>
            <a:graphicFrameLocks noGrp="1"/>
          </p:cNvGraphicFramePr>
          <p:nvPr/>
        </p:nvGraphicFramePr>
        <p:xfrm>
          <a:off x="2154213" y="1772816"/>
          <a:ext cx="6696744" cy="1023539"/>
        </p:xfrm>
        <a:graphic>
          <a:graphicData uri="http://schemas.openxmlformats.org/drawingml/2006/table">
            <a:tbl>
              <a:tblPr/>
              <a:tblGrid>
                <a:gridCol w="864096"/>
                <a:gridCol w="4320480"/>
                <a:gridCol w="1512168"/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判断</a:t>
                      </a:r>
                      <a:endParaRPr kumimoji="1" lang="en-US" altLang="zh-CN" sz="1800" b="1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(n-1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153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  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16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|A|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8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519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66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Box 68"/>
          <p:cNvSpPr txBox="1">
            <a:spLocks noChangeArrowheads="1"/>
          </p:cNvSpPr>
          <p:nvPr/>
        </p:nvSpPr>
        <p:spPr bwMode="auto">
          <a:xfrm>
            <a:off x="179512" y="332656"/>
            <a:ext cx="6336325" cy="5272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4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阵列</a:t>
            </a:r>
            <a:r>
              <a:rPr lang="zh-CN" altLang="en-US" dirty="0" smtClean="0">
                <a:solidFill>
                  <a:srgbClr val="FF3399"/>
                </a:solidFill>
              </a:rPr>
              <a:t>乘法器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快速乘法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阵列乘法器组成：</a:t>
            </a:r>
            <a:r>
              <a:rPr lang="zh-CN" altLang="en-US" u="sng" dirty="0" smtClean="0">
                <a:solidFill>
                  <a:schemeClr val="tx1"/>
                </a:solidFill>
              </a:rPr>
              <a:t>组合逻辑</a:t>
            </a:r>
            <a:r>
              <a:rPr lang="zh-CN" altLang="en-US" dirty="0" smtClean="0">
                <a:solidFill>
                  <a:schemeClr val="tx1"/>
                </a:solidFill>
              </a:rPr>
              <a:t>电路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无需循环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accent2"/>
                </a:solidFill>
              </a:rPr>
              <a:t>    位乘</a:t>
            </a:r>
            <a:r>
              <a:rPr lang="zh-CN" altLang="en-US" dirty="0">
                <a:solidFill>
                  <a:schemeClr val="accent2"/>
                </a:solidFill>
              </a:rPr>
              <a:t>元件</a:t>
            </a:r>
            <a:r>
              <a:rPr lang="zh-CN" altLang="en-US" dirty="0" smtClean="0">
                <a:solidFill>
                  <a:schemeClr val="accent2"/>
                </a:solidFill>
              </a:rPr>
              <a:t>组成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zh-CN" altLang="en-US" dirty="0" smtClean="0">
                <a:solidFill>
                  <a:schemeClr val="accent2"/>
                </a:solidFill>
              </a:rPr>
              <a:t>    运算</a:t>
            </a:r>
            <a:r>
              <a:rPr lang="zh-CN" altLang="en-US" dirty="0">
                <a:solidFill>
                  <a:schemeClr val="accent2"/>
                </a:solidFill>
              </a:rPr>
              <a:t>时延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阵列乘法器功能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144" name="Text Box 66"/>
          <p:cNvSpPr txBox="1">
            <a:spLocks noChangeArrowheads="1"/>
          </p:cNvSpPr>
          <p:nvPr/>
        </p:nvSpPr>
        <p:spPr bwMode="auto">
          <a:xfrm>
            <a:off x="2339752" y="3789040"/>
            <a:ext cx="5040576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    P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i+1,j</a:t>
            </a:r>
            <a:r>
              <a:rPr lang="en-US" altLang="zh-CN" dirty="0" smtClean="0">
                <a:solidFill>
                  <a:schemeClr val="tx1"/>
                </a:solidFill>
              </a:rPr>
              <a:t>=(</a:t>
            </a:r>
            <a:r>
              <a:rPr lang="en-US" altLang="zh-CN" dirty="0" smtClean="0">
                <a:solidFill>
                  <a:srgbClr val="990099"/>
                </a:solidFill>
              </a:rPr>
              <a:t>P</a:t>
            </a:r>
            <a:r>
              <a:rPr lang="en-US" altLang="zh-CN" baseline="-16000" dirty="0" smtClean="0">
                <a:solidFill>
                  <a:srgbClr val="990099"/>
                </a:solidFill>
              </a:rPr>
              <a:t>i,j+1</a:t>
            </a:r>
            <a:r>
              <a:rPr lang="zh-CN" altLang="en-US" dirty="0" smtClean="0">
                <a:solidFill>
                  <a:srgbClr val="990099"/>
                </a:solidFill>
              </a:rPr>
              <a:t>＋</a:t>
            </a:r>
            <a:r>
              <a:rPr lang="en-US" altLang="zh-CN" dirty="0" err="1" smtClean="0">
                <a:solidFill>
                  <a:srgbClr val="990099"/>
                </a:solidFill>
              </a:rPr>
              <a:t>a</a:t>
            </a:r>
            <a:r>
              <a:rPr lang="en-US" altLang="zh-CN" baseline="-16000" dirty="0" err="1" smtClean="0">
                <a:solidFill>
                  <a:srgbClr val="990099"/>
                </a:solidFill>
              </a:rPr>
              <a:t>i</a:t>
            </a:r>
            <a:r>
              <a:rPr lang="en-US" altLang="zh-CN" dirty="0" err="1" smtClean="0">
                <a:solidFill>
                  <a:srgbClr val="990099"/>
                </a:solidFill>
              </a:rPr>
              <a:t>×b</a:t>
            </a:r>
            <a:r>
              <a:rPr lang="en-US" altLang="zh-CN" baseline="-16000" dirty="0" err="1" smtClean="0">
                <a:solidFill>
                  <a:srgbClr val="990099"/>
                </a:solidFill>
              </a:rPr>
              <a:t>j</a:t>
            </a:r>
            <a:r>
              <a:rPr lang="zh-CN" altLang="en-US" dirty="0" smtClean="0">
                <a:solidFill>
                  <a:srgbClr val="990099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i,j-1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err="1" smtClean="0">
                <a:solidFill>
                  <a:schemeClr val="tx1"/>
                </a:solidFill>
              </a:rPr>
              <a:t>n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</a:rPr>
              <a:t>·</a:t>
            </a:r>
            <a:r>
              <a:rPr lang="en-US" altLang="zh-CN" i="1" dirty="0" err="1" smtClean="0">
                <a:solidFill>
                  <a:schemeClr val="tx1"/>
                </a:solidFill>
              </a:rPr>
              <a:t>T</a:t>
            </a:r>
            <a:r>
              <a:rPr lang="zh-CN" altLang="en-US" baseline="-16000" dirty="0">
                <a:solidFill>
                  <a:schemeClr val="tx1"/>
                </a:solidFill>
              </a:rPr>
              <a:t>位乘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zh-CN" alt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err="1" smtClean="0">
                <a:solidFill>
                  <a:schemeClr val="tx1"/>
                </a:solidFill>
              </a:rPr>
              <a:t>n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</a:rPr>
              <a:t>·</a:t>
            </a:r>
            <a:r>
              <a:rPr lang="en-US" altLang="zh-CN" i="1" dirty="0" err="1" smtClean="0">
                <a:solidFill>
                  <a:schemeClr val="tx1"/>
                </a:solidFill>
              </a:rPr>
              <a:t>T</a:t>
            </a:r>
            <a:r>
              <a:rPr lang="en-US" altLang="zh-CN" baseline="-16000" dirty="0" err="1" smtClean="0">
                <a:solidFill>
                  <a:schemeClr val="tx1"/>
                </a:solidFill>
              </a:rPr>
              <a:t>CLK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endParaRPr lang="en-US" altLang="zh-CN" baseline="-160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               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一</a:t>
            </a:r>
            <a:r>
              <a:rPr lang="zh-CN" altLang="en-US" sz="1600" dirty="0">
                <a:solidFill>
                  <a:schemeClr val="tx1"/>
                </a:solidFill>
              </a:rPr>
              <a:t>位</a:t>
            </a:r>
            <a:r>
              <a:rPr lang="zh-CN" altLang="en-US" sz="1600" dirty="0" smtClean="0">
                <a:solidFill>
                  <a:schemeClr val="tx1"/>
                </a:solidFill>
              </a:rPr>
              <a:t>乘法器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2000" b="0" dirty="0" smtClean="0">
              <a:solidFill>
                <a:schemeClr val="tx1"/>
              </a:solidFill>
            </a:endParaRPr>
          </a:p>
        </p:txBody>
      </p:sp>
      <p:sp>
        <p:nvSpPr>
          <p:cNvPr id="152" name="Text Box 187"/>
          <p:cNvSpPr txBox="1">
            <a:spLocks noChangeArrowheads="1"/>
          </p:cNvSpPr>
          <p:nvPr/>
        </p:nvSpPr>
        <p:spPr bwMode="auto">
          <a:xfrm>
            <a:off x="769764" y="5445224"/>
            <a:ext cx="5458403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无符号乘法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实现其他乘法需增加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辅助电路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6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1691837" y="1196752"/>
            <a:ext cx="5471789" cy="2592240"/>
            <a:chOff x="2699917" y="1052760"/>
            <a:chExt cx="5471789" cy="2592240"/>
          </a:xfrm>
        </p:grpSpPr>
        <p:sp>
          <p:nvSpPr>
            <p:cNvPr id="273" name="Rectangle 70"/>
            <p:cNvSpPr>
              <a:spLocks noChangeArrowheads="1"/>
            </p:cNvSpPr>
            <p:nvPr/>
          </p:nvSpPr>
          <p:spPr bwMode="auto">
            <a:xfrm>
              <a:off x="2700352" y="1412778"/>
              <a:ext cx="5040000" cy="194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阵列乘法器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endParaRPr lang="en-US" altLang="zh-CN" sz="2000" dirty="0" smtClean="0"/>
            </a:p>
            <a:p>
              <a:endParaRPr lang="en-US" altLang="zh-CN" sz="2000" dirty="0"/>
            </a:p>
            <a:p>
              <a:endParaRPr lang="en-US" altLang="zh-CN" dirty="0" smtClean="0"/>
            </a:p>
          </p:txBody>
        </p:sp>
        <p:sp>
          <p:nvSpPr>
            <p:cNvPr id="274" name="Rectangle 70"/>
            <p:cNvSpPr>
              <a:spLocks noChangeArrowheads="1"/>
            </p:cNvSpPr>
            <p:nvPr/>
          </p:nvSpPr>
          <p:spPr bwMode="auto">
            <a:xfrm>
              <a:off x="7164287" y="1700808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Line 71"/>
            <p:cNvSpPr>
              <a:spLocks noChangeShapeType="1"/>
            </p:cNvSpPr>
            <p:nvPr/>
          </p:nvSpPr>
          <p:spPr bwMode="auto">
            <a:xfrm flipH="1" flipV="1">
              <a:off x="6804248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72"/>
            <p:cNvSpPr>
              <a:spLocks noChangeShapeType="1"/>
            </p:cNvSpPr>
            <p:nvPr/>
          </p:nvSpPr>
          <p:spPr bwMode="auto">
            <a:xfrm flipH="1">
              <a:off x="6804248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75"/>
            <p:cNvSpPr>
              <a:spLocks noChangeShapeType="1"/>
            </p:cNvSpPr>
            <p:nvPr/>
          </p:nvSpPr>
          <p:spPr bwMode="auto">
            <a:xfrm flipH="1">
              <a:off x="7308304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80"/>
            <p:cNvSpPr>
              <a:spLocks noChangeShapeType="1"/>
            </p:cNvSpPr>
            <p:nvPr/>
          </p:nvSpPr>
          <p:spPr bwMode="auto">
            <a:xfrm flipH="1">
              <a:off x="7452320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Text Box 81"/>
            <p:cNvSpPr txBox="1">
              <a:spLocks noChangeArrowheads="1"/>
            </p:cNvSpPr>
            <p:nvPr/>
          </p:nvSpPr>
          <p:spPr bwMode="auto">
            <a:xfrm>
              <a:off x="2699917" y="3429000"/>
              <a:ext cx="482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7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6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4</a:t>
              </a:r>
              <a:r>
                <a:rPr lang="en-US" altLang="zh-CN" sz="1600" baseline="-240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3 </a:t>
              </a:r>
              <a:r>
                <a:rPr lang="en-US" altLang="zh-CN" sz="1600" baseline="-160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2 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1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baseline="-25000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Line 84"/>
            <p:cNvSpPr>
              <a:spLocks noChangeShapeType="1"/>
            </p:cNvSpPr>
            <p:nvPr/>
          </p:nvSpPr>
          <p:spPr bwMode="auto">
            <a:xfrm flipH="1" flipV="1">
              <a:off x="4860032" y="1484784"/>
              <a:ext cx="24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Text Box 174"/>
            <p:cNvSpPr txBox="1">
              <a:spLocks noChangeArrowheads="1"/>
            </p:cNvSpPr>
            <p:nvPr/>
          </p:nvSpPr>
          <p:spPr bwMode="auto">
            <a:xfrm>
              <a:off x="5540743" y="1052760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3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6000" dirty="0" smtClean="0">
                  <a:solidFill>
                    <a:schemeClr val="tx1"/>
                  </a:solidFill>
                </a:rPr>
                <a:t>2 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 a</a:t>
              </a:r>
              <a:r>
                <a:rPr lang="en-US" altLang="zh-CN" sz="16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82" name="Line 178"/>
            <p:cNvSpPr>
              <a:spLocks noChangeShapeType="1"/>
            </p:cNvSpPr>
            <p:nvPr/>
          </p:nvSpPr>
          <p:spPr bwMode="auto">
            <a:xfrm flipH="1">
              <a:off x="7596336" y="1268759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83" name="Text Box 179"/>
            <p:cNvSpPr txBox="1">
              <a:spLocks noChangeArrowheads="1"/>
            </p:cNvSpPr>
            <p:nvPr/>
          </p:nvSpPr>
          <p:spPr bwMode="auto">
            <a:xfrm>
              <a:off x="7884368" y="1611849"/>
              <a:ext cx="287338" cy="16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1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2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3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84" name="Line 82"/>
            <p:cNvSpPr>
              <a:spLocks noChangeShapeType="1"/>
            </p:cNvSpPr>
            <p:nvPr/>
          </p:nvSpPr>
          <p:spPr bwMode="auto">
            <a:xfrm>
              <a:off x="7668344" y="1844824"/>
              <a:ext cx="0" cy="14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Rectangle 70"/>
            <p:cNvSpPr>
              <a:spLocks noChangeArrowheads="1"/>
            </p:cNvSpPr>
            <p:nvPr/>
          </p:nvSpPr>
          <p:spPr bwMode="auto">
            <a:xfrm>
              <a:off x="6516909" y="1700832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Line 71"/>
            <p:cNvSpPr>
              <a:spLocks noChangeShapeType="1"/>
            </p:cNvSpPr>
            <p:nvPr/>
          </p:nvSpPr>
          <p:spPr bwMode="auto">
            <a:xfrm flipH="1" flipV="1">
              <a:off x="6156870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72"/>
            <p:cNvSpPr>
              <a:spLocks noChangeShapeType="1"/>
            </p:cNvSpPr>
            <p:nvPr/>
          </p:nvSpPr>
          <p:spPr bwMode="auto">
            <a:xfrm flipH="1">
              <a:off x="6156870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75"/>
            <p:cNvSpPr>
              <a:spLocks noChangeShapeType="1"/>
            </p:cNvSpPr>
            <p:nvPr/>
          </p:nvSpPr>
          <p:spPr bwMode="auto">
            <a:xfrm flipH="1">
              <a:off x="6660232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Rectangle 70"/>
            <p:cNvSpPr>
              <a:spLocks noChangeArrowheads="1"/>
            </p:cNvSpPr>
            <p:nvPr/>
          </p:nvSpPr>
          <p:spPr bwMode="auto">
            <a:xfrm>
              <a:off x="5868176" y="1700832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0" name="Line 71"/>
            <p:cNvSpPr>
              <a:spLocks noChangeShapeType="1"/>
            </p:cNvSpPr>
            <p:nvPr/>
          </p:nvSpPr>
          <p:spPr bwMode="auto">
            <a:xfrm flipH="1" flipV="1">
              <a:off x="5503740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72"/>
            <p:cNvSpPr>
              <a:spLocks noChangeShapeType="1"/>
            </p:cNvSpPr>
            <p:nvPr/>
          </p:nvSpPr>
          <p:spPr bwMode="auto">
            <a:xfrm flipH="1">
              <a:off x="5503740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75"/>
            <p:cNvSpPr>
              <a:spLocks noChangeShapeType="1"/>
            </p:cNvSpPr>
            <p:nvPr/>
          </p:nvSpPr>
          <p:spPr bwMode="auto">
            <a:xfrm flipH="1">
              <a:off x="6012160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Rectangle 70"/>
            <p:cNvSpPr>
              <a:spLocks noChangeArrowheads="1"/>
            </p:cNvSpPr>
            <p:nvPr/>
          </p:nvSpPr>
          <p:spPr bwMode="auto">
            <a:xfrm>
              <a:off x="5220104" y="1700832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Line 72"/>
            <p:cNvSpPr>
              <a:spLocks noChangeShapeType="1"/>
            </p:cNvSpPr>
            <p:nvPr/>
          </p:nvSpPr>
          <p:spPr bwMode="auto">
            <a:xfrm flipH="1">
              <a:off x="4716072" y="1844824"/>
              <a:ext cx="504000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75"/>
            <p:cNvSpPr>
              <a:spLocks noChangeShapeType="1"/>
            </p:cNvSpPr>
            <p:nvPr/>
          </p:nvSpPr>
          <p:spPr bwMode="auto">
            <a:xfrm flipH="1">
              <a:off x="5364088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Rectangle 70"/>
            <p:cNvSpPr>
              <a:spLocks noChangeArrowheads="1"/>
            </p:cNvSpPr>
            <p:nvPr/>
          </p:nvSpPr>
          <p:spPr bwMode="auto">
            <a:xfrm>
              <a:off x="6516909" y="213285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" name="Line 71"/>
            <p:cNvSpPr>
              <a:spLocks noChangeShapeType="1"/>
            </p:cNvSpPr>
            <p:nvPr/>
          </p:nvSpPr>
          <p:spPr bwMode="auto">
            <a:xfrm flipH="1" flipV="1">
              <a:off x="6156870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72"/>
            <p:cNvSpPr>
              <a:spLocks noChangeShapeType="1"/>
            </p:cNvSpPr>
            <p:nvPr/>
          </p:nvSpPr>
          <p:spPr bwMode="auto">
            <a:xfrm flipH="1">
              <a:off x="6156870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75"/>
            <p:cNvSpPr>
              <a:spLocks noChangeShapeType="1"/>
            </p:cNvSpPr>
            <p:nvPr/>
          </p:nvSpPr>
          <p:spPr bwMode="auto">
            <a:xfrm flipH="1">
              <a:off x="6660232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Rectangle 70"/>
            <p:cNvSpPr>
              <a:spLocks noChangeArrowheads="1"/>
            </p:cNvSpPr>
            <p:nvPr/>
          </p:nvSpPr>
          <p:spPr bwMode="auto">
            <a:xfrm>
              <a:off x="5868176" y="213285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" name="Line 71"/>
            <p:cNvSpPr>
              <a:spLocks noChangeShapeType="1"/>
            </p:cNvSpPr>
            <p:nvPr/>
          </p:nvSpPr>
          <p:spPr bwMode="auto">
            <a:xfrm flipH="1" flipV="1">
              <a:off x="5503740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72"/>
            <p:cNvSpPr>
              <a:spLocks noChangeShapeType="1"/>
            </p:cNvSpPr>
            <p:nvPr/>
          </p:nvSpPr>
          <p:spPr bwMode="auto">
            <a:xfrm flipH="1">
              <a:off x="5503740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75"/>
            <p:cNvSpPr>
              <a:spLocks noChangeShapeType="1"/>
            </p:cNvSpPr>
            <p:nvPr/>
          </p:nvSpPr>
          <p:spPr bwMode="auto">
            <a:xfrm flipH="1">
              <a:off x="6012160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Rectangle 70"/>
            <p:cNvSpPr>
              <a:spLocks noChangeArrowheads="1"/>
            </p:cNvSpPr>
            <p:nvPr/>
          </p:nvSpPr>
          <p:spPr bwMode="auto">
            <a:xfrm>
              <a:off x="5220104" y="213285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Line 71"/>
            <p:cNvSpPr>
              <a:spLocks noChangeShapeType="1"/>
            </p:cNvSpPr>
            <p:nvPr/>
          </p:nvSpPr>
          <p:spPr bwMode="auto">
            <a:xfrm flipH="1" flipV="1">
              <a:off x="4860726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72"/>
            <p:cNvSpPr>
              <a:spLocks noChangeShapeType="1"/>
            </p:cNvSpPr>
            <p:nvPr/>
          </p:nvSpPr>
          <p:spPr bwMode="auto">
            <a:xfrm flipH="1">
              <a:off x="4860726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75"/>
            <p:cNvSpPr>
              <a:spLocks noChangeShapeType="1"/>
            </p:cNvSpPr>
            <p:nvPr/>
          </p:nvSpPr>
          <p:spPr bwMode="auto">
            <a:xfrm flipH="1">
              <a:off x="5364088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Rectangle 70"/>
            <p:cNvSpPr>
              <a:spLocks noChangeArrowheads="1"/>
            </p:cNvSpPr>
            <p:nvPr/>
          </p:nvSpPr>
          <p:spPr bwMode="auto">
            <a:xfrm>
              <a:off x="4572032" y="213285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Line 72"/>
            <p:cNvSpPr>
              <a:spLocks noChangeShapeType="1"/>
            </p:cNvSpPr>
            <p:nvPr/>
          </p:nvSpPr>
          <p:spPr bwMode="auto">
            <a:xfrm flipH="1">
              <a:off x="4067944" y="22768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75"/>
            <p:cNvSpPr>
              <a:spLocks noChangeShapeType="1"/>
            </p:cNvSpPr>
            <p:nvPr/>
          </p:nvSpPr>
          <p:spPr bwMode="auto">
            <a:xfrm flipH="1">
              <a:off x="4716016" y="1844824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Rectangle 70"/>
            <p:cNvSpPr>
              <a:spLocks noChangeArrowheads="1"/>
            </p:cNvSpPr>
            <p:nvPr/>
          </p:nvSpPr>
          <p:spPr bwMode="auto">
            <a:xfrm>
              <a:off x="5868176" y="2564904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" name="Line 71"/>
            <p:cNvSpPr>
              <a:spLocks noChangeShapeType="1"/>
            </p:cNvSpPr>
            <p:nvPr/>
          </p:nvSpPr>
          <p:spPr bwMode="auto">
            <a:xfrm flipH="1" flipV="1">
              <a:off x="5503740" y="2636912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72"/>
            <p:cNvSpPr>
              <a:spLocks noChangeShapeType="1"/>
            </p:cNvSpPr>
            <p:nvPr/>
          </p:nvSpPr>
          <p:spPr bwMode="auto">
            <a:xfrm flipH="1">
              <a:off x="5503740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75"/>
            <p:cNvSpPr>
              <a:spLocks noChangeShapeType="1"/>
            </p:cNvSpPr>
            <p:nvPr/>
          </p:nvSpPr>
          <p:spPr bwMode="auto">
            <a:xfrm flipH="1">
              <a:off x="6012160" y="2348880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Rectangle 70"/>
            <p:cNvSpPr>
              <a:spLocks noChangeArrowheads="1"/>
            </p:cNvSpPr>
            <p:nvPr/>
          </p:nvSpPr>
          <p:spPr bwMode="auto">
            <a:xfrm>
              <a:off x="5220765" y="256718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" name="Line 71"/>
            <p:cNvSpPr>
              <a:spLocks noChangeShapeType="1"/>
            </p:cNvSpPr>
            <p:nvPr/>
          </p:nvSpPr>
          <p:spPr bwMode="auto">
            <a:xfrm flipH="1" flipV="1">
              <a:off x="4860726" y="2636912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72"/>
            <p:cNvSpPr>
              <a:spLocks noChangeShapeType="1"/>
            </p:cNvSpPr>
            <p:nvPr/>
          </p:nvSpPr>
          <p:spPr bwMode="auto">
            <a:xfrm flipH="1">
              <a:off x="4860726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75"/>
            <p:cNvSpPr>
              <a:spLocks noChangeShapeType="1"/>
            </p:cNvSpPr>
            <p:nvPr/>
          </p:nvSpPr>
          <p:spPr bwMode="auto">
            <a:xfrm flipH="1">
              <a:off x="5364088" y="2348881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Rectangle 70"/>
            <p:cNvSpPr>
              <a:spLocks noChangeArrowheads="1"/>
            </p:cNvSpPr>
            <p:nvPr/>
          </p:nvSpPr>
          <p:spPr bwMode="auto">
            <a:xfrm>
              <a:off x="4572032" y="2567187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" name="Line 71"/>
            <p:cNvSpPr>
              <a:spLocks noChangeShapeType="1"/>
            </p:cNvSpPr>
            <p:nvPr/>
          </p:nvSpPr>
          <p:spPr bwMode="auto">
            <a:xfrm flipH="1" flipV="1">
              <a:off x="4211993" y="2636913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72"/>
            <p:cNvSpPr>
              <a:spLocks noChangeShapeType="1"/>
            </p:cNvSpPr>
            <p:nvPr/>
          </p:nvSpPr>
          <p:spPr bwMode="auto">
            <a:xfrm flipH="1">
              <a:off x="4207596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75"/>
            <p:cNvSpPr>
              <a:spLocks noChangeShapeType="1"/>
            </p:cNvSpPr>
            <p:nvPr/>
          </p:nvSpPr>
          <p:spPr bwMode="auto">
            <a:xfrm flipH="1">
              <a:off x="4716016" y="234888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Rectangle 70"/>
            <p:cNvSpPr>
              <a:spLocks noChangeArrowheads="1"/>
            </p:cNvSpPr>
            <p:nvPr/>
          </p:nvSpPr>
          <p:spPr bwMode="auto">
            <a:xfrm>
              <a:off x="3919563" y="2564928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4" name="Line 72"/>
            <p:cNvSpPr>
              <a:spLocks noChangeShapeType="1"/>
            </p:cNvSpPr>
            <p:nvPr/>
          </p:nvSpPr>
          <p:spPr bwMode="auto">
            <a:xfrm flipH="1">
              <a:off x="3415508" y="270892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75"/>
            <p:cNvSpPr>
              <a:spLocks noChangeShapeType="1"/>
            </p:cNvSpPr>
            <p:nvPr/>
          </p:nvSpPr>
          <p:spPr bwMode="auto">
            <a:xfrm flipH="1">
              <a:off x="4067944" y="2276872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Rectangle 70"/>
            <p:cNvSpPr>
              <a:spLocks noChangeArrowheads="1"/>
            </p:cNvSpPr>
            <p:nvPr/>
          </p:nvSpPr>
          <p:spPr bwMode="auto">
            <a:xfrm>
              <a:off x="5220765" y="299697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" name="Line 71"/>
            <p:cNvSpPr>
              <a:spLocks noChangeShapeType="1"/>
            </p:cNvSpPr>
            <p:nvPr/>
          </p:nvSpPr>
          <p:spPr bwMode="auto">
            <a:xfrm flipH="1" flipV="1">
              <a:off x="4860726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72"/>
            <p:cNvSpPr>
              <a:spLocks noChangeShapeType="1"/>
            </p:cNvSpPr>
            <p:nvPr/>
          </p:nvSpPr>
          <p:spPr bwMode="auto">
            <a:xfrm flipH="1">
              <a:off x="4860726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75"/>
            <p:cNvSpPr>
              <a:spLocks noChangeShapeType="1"/>
            </p:cNvSpPr>
            <p:nvPr/>
          </p:nvSpPr>
          <p:spPr bwMode="auto">
            <a:xfrm flipH="1">
              <a:off x="5364088" y="2780930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Rectangle 70"/>
            <p:cNvSpPr>
              <a:spLocks noChangeArrowheads="1"/>
            </p:cNvSpPr>
            <p:nvPr/>
          </p:nvSpPr>
          <p:spPr bwMode="auto">
            <a:xfrm>
              <a:off x="4572032" y="2996976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" name="Line 71"/>
            <p:cNvSpPr>
              <a:spLocks noChangeShapeType="1"/>
            </p:cNvSpPr>
            <p:nvPr/>
          </p:nvSpPr>
          <p:spPr bwMode="auto">
            <a:xfrm flipH="1" flipV="1">
              <a:off x="4211993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72"/>
            <p:cNvSpPr>
              <a:spLocks noChangeShapeType="1"/>
            </p:cNvSpPr>
            <p:nvPr/>
          </p:nvSpPr>
          <p:spPr bwMode="auto">
            <a:xfrm flipH="1">
              <a:off x="4211993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75"/>
            <p:cNvSpPr>
              <a:spLocks noChangeShapeType="1"/>
            </p:cNvSpPr>
            <p:nvPr/>
          </p:nvSpPr>
          <p:spPr bwMode="auto">
            <a:xfrm flipH="1">
              <a:off x="4716016" y="2780929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Rectangle 70"/>
            <p:cNvSpPr>
              <a:spLocks noChangeArrowheads="1"/>
            </p:cNvSpPr>
            <p:nvPr/>
          </p:nvSpPr>
          <p:spPr bwMode="auto">
            <a:xfrm>
              <a:off x="3919563" y="2996952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" name="Line 71"/>
            <p:cNvSpPr>
              <a:spLocks noChangeShapeType="1"/>
            </p:cNvSpPr>
            <p:nvPr/>
          </p:nvSpPr>
          <p:spPr bwMode="auto">
            <a:xfrm flipH="1" flipV="1">
              <a:off x="3559524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72"/>
            <p:cNvSpPr>
              <a:spLocks noChangeShapeType="1"/>
            </p:cNvSpPr>
            <p:nvPr/>
          </p:nvSpPr>
          <p:spPr bwMode="auto">
            <a:xfrm flipH="1">
              <a:off x="3559524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75"/>
            <p:cNvSpPr>
              <a:spLocks noChangeShapeType="1"/>
            </p:cNvSpPr>
            <p:nvPr/>
          </p:nvSpPr>
          <p:spPr bwMode="auto">
            <a:xfrm flipH="1">
              <a:off x="4067944" y="2780928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Rectangle 70"/>
            <p:cNvSpPr>
              <a:spLocks noChangeArrowheads="1"/>
            </p:cNvSpPr>
            <p:nvPr/>
          </p:nvSpPr>
          <p:spPr bwMode="auto">
            <a:xfrm>
              <a:off x="3275888" y="2999234"/>
              <a:ext cx="288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" name="Line 75"/>
            <p:cNvSpPr>
              <a:spLocks noChangeShapeType="1"/>
            </p:cNvSpPr>
            <p:nvPr/>
          </p:nvSpPr>
          <p:spPr bwMode="auto">
            <a:xfrm flipH="1">
              <a:off x="3419872" y="2708921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75"/>
            <p:cNvSpPr>
              <a:spLocks noChangeShapeType="1"/>
            </p:cNvSpPr>
            <p:nvPr/>
          </p:nvSpPr>
          <p:spPr bwMode="auto">
            <a:xfrm flipH="1">
              <a:off x="6804248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75"/>
            <p:cNvSpPr>
              <a:spLocks noChangeShapeType="1"/>
            </p:cNvSpPr>
            <p:nvPr/>
          </p:nvSpPr>
          <p:spPr bwMode="auto">
            <a:xfrm flipH="1">
              <a:off x="6156870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75"/>
            <p:cNvSpPr>
              <a:spLocks noChangeShapeType="1"/>
            </p:cNvSpPr>
            <p:nvPr/>
          </p:nvSpPr>
          <p:spPr bwMode="auto">
            <a:xfrm flipH="1">
              <a:off x="5505923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75"/>
            <p:cNvSpPr>
              <a:spLocks noChangeShapeType="1"/>
            </p:cNvSpPr>
            <p:nvPr/>
          </p:nvSpPr>
          <p:spPr bwMode="auto">
            <a:xfrm flipH="1">
              <a:off x="4862909" y="1914549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75"/>
            <p:cNvSpPr>
              <a:spLocks noChangeShapeType="1"/>
            </p:cNvSpPr>
            <p:nvPr/>
          </p:nvSpPr>
          <p:spPr bwMode="auto">
            <a:xfrm flipH="1">
              <a:off x="6156870" y="234991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75"/>
            <p:cNvSpPr>
              <a:spLocks noChangeShapeType="1"/>
            </p:cNvSpPr>
            <p:nvPr/>
          </p:nvSpPr>
          <p:spPr bwMode="auto">
            <a:xfrm flipH="1">
              <a:off x="5503740" y="234888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75"/>
            <p:cNvSpPr>
              <a:spLocks noChangeShapeType="1"/>
            </p:cNvSpPr>
            <p:nvPr/>
          </p:nvSpPr>
          <p:spPr bwMode="auto">
            <a:xfrm flipH="1">
              <a:off x="4862909" y="2346597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75"/>
            <p:cNvSpPr>
              <a:spLocks noChangeShapeType="1"/>
            </p:cNvSpPr>
            <p:nvPr/>
          </p:nvSpPr>
          <p:spPr bwMode="auto">
            <a:xfrm flipH="1">
              <a:off x="4211962" y="234888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75"/>
            <p:cNvSpPr>
              <a:spLocks noChangeShapeType="1"/>
            </p:cNvSpPr>
            <p:nvPr/>
          </p:nvSpPr>
          <p:spPr bwMode="auto">
            <a:xfrm flipH="1">
              <a:off x="5508104" y="2780928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75"/>
            <p:cNvSpPr>
              <a:spLocks noChangeShapeType="1"/>
            </p:cNvSpPr>
            <p:nvPr/>
          </p:nvSpPr>
          <p:spPr bwMode="auto">
            <a:xfrm flipH="1">
              <a:off x="4862909" y="2780511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75"/>
            <p:cNvSpPr>
              <a:spLocks noChangeShapeType="1"/>
            </p:cNvSpPr>
            <p:nvPr/>
          </p:nvSpPr>
          <p:spPr bwMode="auto">
            <a:xfrm flipH="1">
              <a:off x="4216359" y="2778645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75"/>
            <p:cNvSpPr>
              <a:spLocks noChangeShapeType="1"/>
            </p:cNvSpPr>
            <p:nvPr/>
          </p:nvSpPr>
          <p:spPr bwMode="auto">
            <a:xfrm flipH="1">
              <a:off x="3563888" y="2773834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75"/>
            <p:cNvSpPr>
              <a:spLocks noChangeShapeType="1"/>
            </p:cNvSpPr>
            <p:nvPr/>
          </p:nvSpPr>
          <p:spPr bwMode="auto">
            <a:xfrm flipH="1">
              <a:off x="5364088" y="3212976"/>
              <a:ext cx="1" cy="2880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75"/>
            <p:cNvSpPr>
              <a:spLocks noChangeShapeType="1"/>
            </p:cNvSpPr>
            <p:nvPr/>
          </p:nvSpPr>
          <p:spPr bwMode="auto">
            <a:xfrm flipH="1">
              <a:off x="4716016" y="3212976"/>
              <a:ext cx="1" cy="2880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75"/>
            <p:cNvSpPr>
              <a:spLocks noChangeShapeType="1"/>
            </p:cNvSpPr>
            <p:nvPr/>
          </p:nvSpPr>
          <p:spPr bwMode="auto">
            <a:xfrm flipH="1">
              <a:off x="4067944" y="3212976"/>
              <a:ext cx="1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75"/>
            <p:cNvSpPr>
              <a:spLocks noChangeShapeType="1"/>
            </p:cNvSpPr>
            <p:nvPr/>
          </p:nvSpPr>
          <p:spPr bwMode="auto">
            <a:xfrm flipH="1">
              <a:off x="3419871" y="3212975"/>
              <a:ext cx="1" cy="2880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71"/>
            <p:cNvSpPr>
              <a:spLocks noChangeShapeType="1"/>
            </p:cNvSpPr>
            <p:nvPr/>
          </p:nvSpPr>
          <p:spPr bwMode="auto">
            <a:xfrm flipH="1" flipV="1">
              <a:off x="7452320" y="177281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72"/>
            <p:cNvSpPr>
              <a:spLocks noChangeShapeType="1"/>
            </p:cNvSpPr>
            <p:nvPr/>
          </p:nvSpPr>
          <p:spPr bwMode="auto">
            <a:xfrm flipH="1">
              <a:off x="7452320" y="1844824"/>
              <a:ext cx="220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80"/>
            <p:cNvSpPr>
              <a:spLocks noChangeShapeType="1"/>
            </p:cNvSpPr>
            <p:nvPr/>
          </p:nvSpPr>
          <p:spPr bwMode="auto">
            <a:xfrm flipH="1">
              <a:off x="6807290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178"/>
            <p:cNvSpPr>
              <a:spLocks noChangeShapeType="1"/>
            </p:cNvSpPr>
            <p:nvPr/>
          </p:nvSpPr>
          <p:spPr bwMode="auto">
            <a:xfrm>
              <a:off x="6948264" y="1268760"/>
              <a:ext cx="1377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0" name="Line 80"/>
            <p:cNvSpPr>
              <a:spLocks noChangeShapeType="1"/>
            </p:cNvSpPr>
            <p:nvPr/>
          </p:nvSpPr>
          <p:spPr bwMode="auto">
            <a:xfrm flipH="1">
              <a:off x="6155406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178"/>
            <p:cNvSpPr>
              <a:spLocks noChangeShapeType="1"/>
            </p:cNvSpPr>
            <p:nvPr/>
          </p:nvSpPr>
          <p:spPr bwMode="auto">
            <a:xfrm>
              <a:off x="6296380" y="1268760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2" name="Line 80"/>
            <p:cNvSpPr>
              <a:spLocks noChangeShapeType="1"/>
            </p:cNvSpPr>
            <p:nvPr/>
          </p:nvSpPr>
          <p:spPr bwMode="auto">
            <a:xfrm flipH="1">
              <a:off x="5502276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178"/>
            <p:cNvSpPr>
              <a:spLocks noChangeShapeType="1"/>
            </p:cNvSpPr>
            <p:nvPr/>
          </p:nvSpPr>
          <p:spPr bwMode="auto">
            <a:xfrm>
              <a:off x="5647756" y="1268760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4" name="Text Box 78"/>
            <p:cNvSpPr txBox="1">
              <a:spLocks noChangeArrowheads="1"/>
            </p:cNvSpPr>
            <p:nvPr/>
          </p:nvSpPr>
          <p:spPr bwMode="auto">
            <a:xfrm>
              <a:off x="4788040" y="1592816"/>
              <a:ext cx="144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65" name="Line 71"/>
            <p:cNvSpPr>
              <a:spLocks noChangeShapeType="1"/>
            </p:cNvSpPr>
            <p:nvPr/>
          </p:nvSpPr>
          <p:spPr bwMode="auto">
            <a:xfrm flipH="1">
              <a:off x="6804248" y="2204864"/>
              <a:ext cx="10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72"/>
            <p:cNvSpPr>
              <a:spLocks noChangeShapeType="1"/>
            </p:cNvSpPr>
            <p:nvPr/>
          </p:nvSpPr>
          <p:spPr bwMode="auto">
            <a:xfrm flipH="1">
              <a:off x="6804248" y="2276872"/>
              <a:ext cx="86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71"/>
            <p:cNvSpPr>
              <a:spLocks noChangeShapeType="1"/>
            </p:cNvSpPr>
            <p:nvPr/>
          </p:nvSpPr>
          <p:spPr bwMode="auto">
            <a:xfrm flipH="1">
              <a:off x="6156870" y="2636911"/>
              <a:ext cx="17280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72"/>
            <p:cNvSpPr>
              <a:spLocks noChangeShapeType="1"/>
            </p:cNvSpPr>
            <p:nvPr/>
          </p:nvSpPr>
          <p:spPr bwMode="auto">
            <a:xfrm flipH="1">
              <a:off x="6156870" y="2708920"/>
              <a:ext cx="1512000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71"/>
            <p:cNvSpPr>
              <a:spLocks noChangeShapeType="1"/>
            </p:cNvSpPr>
            <p:nvPr/>
          </p:nvSpPr>
          <p:spPr bwMode="auto">
            <a:xfrm flipH="1">
              <a:off x="5508104" y="3068960"/>
              <a:ext cx="237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72"/>
            <p:cNvSpPr>
              <a:spLocks noChangeShapeType="1"/>
            </p:cNvSpPr>
            <p:nvPr/>
          </p:nvSpPr>
          <p:spPr bwMode="auto">
            <a:xfrm flipH="1">
              <a:off x="5508104" y="3140968"/>
              <a:ext cx="21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Text Box 78"/>
            <p:cNvSpPr txBox="1">
              <a:spLocks noChangeArrowheads="1"/>
            </p:cNvSpPr>
            <p:nvPr/>
          </p:nvSpPr>
          <p:spPr bwMode="auto">
            <a:xfrm>
              <a:off x="7380312" y="3140968"/>
              <a:ext cx="144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72" name="Line 72"/>
            <p:cNvSpPr>
              <a:spLocks noChangeShapeType="1"/>
            </p:cNvSpPr>
            <p:nvPr/>
          </p:nvSpPr>
          <p:spPr bwMode="auto">
            <a:xfrm flipH="1">
              <a:off x="2771800" y="3140968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75"/>
            <p:cNvSpPr>
              <a:spLocks noChangeShapeType="1"/>
            </p:cNvSpPr>
            <p:nvPr/>
          </p:nvSpPr>
          <p:spPr bwMode="auto">
            <a:xfrm flipH="1">
              <a:off x="2771800" y="3140968"/>
              <a:ext cx="0" cy="3600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75"/>
            <p:cNvSpPr>
              <a:spLocks noChangeShapeType="1"/>
            </p:cNvSpPr>
            <p:nvPr/>
          </p:nvSpPr>
          <p:spPr bwMode="auto">
            <a:xfrm flipH="1">
              <a:off x="3166893" y="3212977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75"/>
            <p:cNvSpPr>
              <a:spLocks noChangeShapeType="1"/>
            </p:cNvSpPr>
            <p:nvPr/>
          </p:nvSpPr>
          <p:spPr bwMode="auto">
            <a:xfrm flipH="1">
              <a:off x="3810601" y="3212975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75"/>
            <p:cNvSpPr>
              <a:spLocks noChangeShapeType="1"/>
            </p:cNvSpPr>
            <p:nvPr/>
          </p:nvSpPr>
          <p:spPr bwMode="auto">
            <a:xfrm flipH="1">
              <a:off x="4467433" y="3212976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75"/>
            <p:cNvSpPr>
              <a:spLocks noChangeShapeType="1"/>
            </p:cNvSpPr>
            <p:nvPr/>
          </p:nvSpPr>
          <p:spPr bwMode="auto">
            <a:xfrm flipH="1">
              <a:off x="5111803" y="3212976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72"/>
            <p:cNvSpPr>
              <a:spLocks noChangeShapeType="1"/>
            </p:cNvSpPr>
            <p:nvPr/>
          </p:nvSpPr>
          <p:spPr bwMode="auto">
            <a:xfrm flipH="1">
              <a:off x="7524328" y="3248816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75"/>
            <p:cNvSpPr>
              <a:spLocks noChangeShapeType="1"/>
            </p:cNvSpPr>
            <p:nvPr/>
          </p:nvSpPr>
          <p:spPr bwMode="auto">
            <a:xfrm flipH="1">
              <a:off x="6012160" y="2780928"/>
              <a:ext cx="1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75"/>
            <p:cNvSpPr>
              <a:spLocks noChangeShapeType="1"/>
            </p:cNvSpPr>
            <p:nvPr/>
          </p:nvSpPr>
          <p:spPr bwMode="auto">
            <a:xfrm flipH="1">
              <a:off x="6660232" y="2347463"/>
              <a:ext cx="0" cy="11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75"/>
            <p:cNvSpPr>
              <a:spLocks noChangeShapeType="1"/>
            </p:cNvSpPr>
            <p:nvPr/>
          </p:nvSpPr>
          <p:spPr bwMode="auto">
            <a:xfrm flipH="1">
              <a:off x="7308304" y="1916832"/>
              <a:ext cx="1" cy="158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178"/>
            <p:cNvSpPr>
              <a:spLocks noChangeShapeType="1"/>
            </p:cNvSpPr>
            <p:nvPr/>
          </p:nvSpPr>
          <p:spPr bwMode="auto">
            <a:xfrm>
              <a:off x="4860032" y="148478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83" name="组合 382"/>
          <p:cNvGrpSpPr/>
          <p:nvPr/>
        </p:nvGrpSpPr>
        <p:grpSpPr>
          <a:xfrm>
            <a:off x="6372348" y="4365104"/>
            <a:ext cx="2520132" cy="1718896"/>
            <a:chOff x="6156076" y="4437112"/>
            <a:chExt cx="2520132" cy="1718896"/>
          </a:xfrm>
        </p:grpSpPr>
        <p:sp>
          <p:nvSpPr>
            <p:cNvPr id="384" name="Rectangle 14"/>
            <p:cNvSpPr>
              <a:spLocks noChangeArrowheads="1"/>
            </p:cNvSpPr>
            <p:nvPr/>
          </p:nvSpPr>
          <p:spPr bwMode="auto">
            <a:xfrm>
              <a:off x="6732240" y="4796184"/>
              <a:ext cx="1224000" cy="936000"/>
            </a:xfrm>
            <a:prstGeom prst="rect">
              <a:avLst/>
            </a:prstGeom>
            <a:solidFill>
              <a:srgbClr val="FF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" name="Line 16"/>
            <p:cNvSpPr>
              <a:spLocks noChangeShapeType="1"/>
            </p:cNvSpPr>
            <p:nvPr/>
          </p:nvSpPr>
          <p:spPr bwMode="auto">
            <a:xfrm flipH="1">
              <a:off x="6588224" y="5660927"/>
              <a:ext cx="28800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Text Box 27"/>
            <p:cNvSpPr txBox="1">
              <a:spLocks noChangeArrowheads="1"/>
            </p:cNvSpPr>
            <p:nvPr/>
          </p:nvSpPr>
          <p:spPr bwMode="auto">
            <a:xfrm>
              <a:off x="8100392" y="4437112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a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i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87" name="Text Box 28"/>
            <p:cNvSpPr txBox="1">
              <a:spLocks noChangeArrowheads="1"/>
            </p:cNvSpPr>
            <p:nvPr/>
          </p:nvSpPr>
          <p:spPr bwMode="auto">
            <a:xfrm>
              <a:off x="6299870" y="5661248"/>
              <a:ext cx="360362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a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i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88" name="Text Box 30"/>
            <p:cNvSpPr txBox="1">
              <a:spLocks noChangeArrowheads="1"/>
            </p:cNvSpPr>
            <p:nvPr/>
          </p:nvSpPr>
          <p:spPr bwMode="auto">
            <a:xfrm>
              <a:off x="6300887" y="4869184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b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j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89" name="Text Box 32"/>
            <p:cNvSpPr txBox="1">
              <a:spLocks noChangeArrowheads="1"/>
            </p:cNvSpPr>
            <p:nvPr/>
          </p:nvSpPr>
          <p:spPr bwMode="auto">
            <a:xfrm>
              <a:off x="6156076" y="5373216"/>
              <a:ext cx="43214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6000" dirty="0" err="1" smtClean="0">
                  <a:solidFill>
                    <a:schemeClr val="tx1"/>
                  </a:solidFill>
                </a:rPr>
                <a:t>i,j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90" name="Text Box 33"/>
            <p:cNvSpPr txBox="1">
              <a:spLocks noChangeArrowheads="1"/>
            </p:cNvSpPr>
            <p:nvPr/>
          </p:nvSpPr>
          <p:spPr bwMode="auto">
            <a:xfrm>
              <a:off x="6588224" y="4437136"/>
              <a:ext cx="129698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i,j+1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91" name="Text Box 34"/>
            <p:cNvSpPr txBox="1">
              <a:spLocks noChangeArrowheads="1"/>
            </p:cNvSpPr>
            <p:nvPr/>
          </p:nvSpPr>
          <p:spPr bwMode="auto">
            <a:xfrm>
              <a:off x="6732240" y="5940008"/>
              <a:ext cx="13684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800" dirty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i+1,j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92" name="Line 41"/>
            <p:cNvSpPr>
              <a:spLocks noChangeShapeType="1"/>
            </p:cNvSpPr>
            <p:nvPr/>
          </p:nvSpPr>
          <p:spPr bwMode="auto">
            <a:xfrm>
              <a:off x="6876256" y="4869160"/>
              <a:ext cx="10080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42"/>
            <p:cNvSpPr>
              <a:spLocks noChangeShapeType="1"/>
            </p:cNvSpPr>
            <p:nvPr/>
          </p:nvSpPr>
          <p:spPr bwMode="auto">
            <a:xfrm>
              <a:off x="6876256" y="4868638"/>
              <a:ext cx="0" cy="792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43"/>
            <p:cNvSpPr>
              <a:spLocks noChangeShapeType="1"/>
            </p:cNvSpPr>
            <p:nvPr/>
          </p:nvSpPr>
          <p:spPr bwMode="auto">
            <a:xfrm flipH="1">
              <a:off x="7956376" y="4653136"/>
              <a:ext cx="14400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44"/>
            <p:cNvSpPr>
              <a:spLocks noChangeShapeType="1"/>
            </p:cNvSpPr>
            <p:nvPr/>
          </p:nvSpPr>
          <p:spPr bwMode="auto">
            <a:xfrm flipH="1">
              <a:off x="7884864" y="4797160"/>
              <a:ext cx="7200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46"/>
            <p:cNvSpPr>
              <a:spLocks noChangeShapeType="1"/>
            </p:cNvSpPr>
            <p:nvPr/>
          </p:nvSpPr>
          <p:spPr bwMode="auto">
            <a:xfrm flipH="1">
              <a:off x="7740352" y="5552404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47"/>
            <p:cNvSpPr>
              <a:spLocks noChangeShapeType="1"/>
            </p:cNvSpPr>
            <p:nvPr/>
          </p:nvSpPr>
          <p:spPr bwMode="auto">
            <a:xfrm flipH="1">
              <a:off x="7956376" y="5013101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48"/>
            <p:cNvSpPr>
              <a:spLocks noChangeShapeType="1"/>
            </p:cNvSpPr>
            <p:nvPr/>
          </p:nvSpPr>
          <p:spPr bwMode="auto">
            <a:xfrm>
              <a:off x="7380312" y="5661248"/>
              <a:ext cx="1587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49"/>
            <p:cNvSpPr>
              <a:spLocks noChangeShapeType="1"/>
            </p:cNvSpPr>
            <p:nvPr/>
          </p:nvSpPr>
          <p:spPr bwMode="auto">
            <a:xfrm flipH="1">
              <a:off x="7216527" y="46531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Text Box 52"/>
            <p:cNvSpPr txBox="1">
              <a:spLocks noChangeArrowheads="1"/>
            </p:cNvSpPr>
            <p:nvPr/>
          </p:nvSpPr>
          <p:spPr bwMode="auto">
            <a:xfrm>
              <a:off x="8100392" y="4869184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b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j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401" name="Text Box 53"/>
            <p:cNvSpPr txBox="1">
              <a:spLocks noChangeArrowheads="1"/>
            </p:cNvSpPr>
            <p:nvPr/>
          </p:nvSpPr>
          <p:spPr bwMode="auto">
            <a:xfrm>
              <a:off x="8100392" y="5445027"/>
              <a:ext cx="575816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i,j-1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402" name="Line 54"/>
            <p:cNvSpPr>
              <a:spLocks noChangeShapeType="1"/>
            </p:cNvSpPr>
            <p:nvPr/>
          </p:nvSpPr>
          <p:spPr bwMode="auto">
            <a:xfrm flipH="1">
              <a:off x="6588224" y="5013101"/>
              <a:ext cx="13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56"/>
            <p:cNvSpPr>
              <a:spLocks noChangeShapeType="1"/>
            </p:cNvSpPr>
            <p:nvPr/>
          </p:nvSpPr>
          <p:spPr bwMode="auto">
            <a:xfrm flipH="1">
              <a:off x="6588272" y="5552404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Text Box 60"/>
            <p:cNvSpPr txBox="1">
              <a:spLocks noChangeArrowheads="1"/>
            </p:cNvSpPr>
            <p:nvPr/>
          </p:nvSpPr>
          <p:spPr bwMode="auto">
            <a:xfrm>
              <a:off x="7020352" y="5446488"/>
              <a:ext cx="72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全加器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" name="Line 62"/>
            <p:cNvSpPr>
              <a:spLocks noChangeShapeType="1"/>
            </p:cNvSpPr>
            <p:nvPr/>
          </p:nvSpPr>
          <p:spPr bwMode="auto">
            <a:xfrm>
              <a:off x="7596336" y="5300761"/>
              <a:ext cx="0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63"/>
            <p:cNvSpPr>
              <a:spLocks noChangeShapeType="1"/>
            </p:cNvSpPr>
            <p:nvPr/>
          </p:nvSpPr>
          <p:spPr bwMode="auto">
            <a:xfrm>
              <a:off x="7668344" y="5013176"/>
              <a:ext cx="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64"/>
            <p:cNvSpPr>
              <a:spLocks noChangeShapeType="1"/>
            </p:cNvSpPr>
            <p:nvPr/>
          </p:nvSpPr>
          <p:spPr bwMode="auto">
            <a:xfrm>
              <a:off x="7503782" y="4869160"/>
              <a:ext cx="0" cy="25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65"/>
            <p:cNvSpPr>
              <a:spLocks noChangeShapeType="1"/>
            </p:cNvSpPr>
            <p:nvPr/>
          </p:nvSpPr>
          <p:spPr bwMode="auto">
            <a:xfrm flipH="1">
              <a:off x="7216444" y="4796507"/>
              <a:ext cx="0" cy="64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Text Box 60"/>
            <p:cNvSpPr txBox="1">
              <a:spLocks noChangeArrowheads="1"/>
            </p:cNvSpPr>
            <p:nvPr/>
          </p:nvSpPr>
          <p:spPr bwMode="auto">
            <a:xfrm>
              <a:off x="7308056" y="5121208"/>
              <a:ext cx="576000" cy="180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乘</a:t>
              </a:r>
              <a:r>
                <a:rPr lang="en-US" altLang="zh-CN" sz="1400" dirty="0" smtClean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Line 47"/>
            <p:cNvSpPr>
              <a:spLocks noChangeShapeType="1"/>
            </p:cNvSpPr>
            <p:nvPr/>
          </p:nvSpPr>
          <p:spPr bwMode="auto">
            <a:xfrm flipH="1">
              <a:off x="7956376" y="5552404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" name="直接箭头连接符 3"/>
          <p:cNvCxnSpPr/>
          <p:nvPr/>
        </p:nvCxnSpPr>
        <p:spPr bwMode="auto">
          <a:xfrm>
            <a:off x="4494196" y="764704"/>
            <a:ext cx="725870" cy="216024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1691018" y="1484784"/>
            <a:ext cx="5905318" cy="2052000"/>
            <a:chOff x="1691018" y="1484784"/>
            <a:chExt cx="5905318" cy="2052000"/>
          </a:xfrm>
        </p:grpSpPr>
        <p:sp>
          <p:nvSpPr>
            <p:cNvPr id="154" name="Line 184"/>
            <p:cNvSpPr>
              <a:spLocks noChangeShapeType="1"/>
            </p:cNvSpPr>
            <p:nvPr/>
          </p:nvSpPr>
          <p:spPr bwMode="auto">
            <a:xfrm>
              <a:off x="2339090" y="2996829"/>
              <a:ext cx="496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184"/>
            <p:cNvSpPr>
              <a:spLocks noChangeShapeType="1"/>
            </p:cNvSpPr>
            <p:nvPr/>
          </p:nvSpPr>
          <p:spPr bwMode="auto">
            <a:xfrm>
              <a:off x="2987162" y="2564880"/>
              <a:ext cx="4320000" cy="5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184"/>
            <p:cNvSpPr>
              <a:spLocks noChangeShapeType="1"/>
            </p:cNvSpPr>
            <p:nvPr/>
          </p:nvSpPr>
          <p:spPr bwMode="auto">
            <a:xfrm>
              <a:off x="3635234" y="2132832"/>
              <a:ext cx="3672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184"/>
            <p:cNvSpPr>
              <a:spLocks noChangeShapeType="1"/>
            </p:cNvSpPr>
            <p:nvPr/>
          </p:nvSpPr>
          <p:spPr bwMode="auto">
            <a:xfrm flipV="1">
              <a:off x="1691018" y="3428976"/>
              <a:ext cx="5616000" cy="2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Text Box 186"/>
            <p:cNvSpPr txBox="1">
              <a:spLocks noChangeArrowheads="1"/>
            </p:cNvSpPr>
            <p:nvPr/>
          </p:nvSpPr>
          <p:spPr bwMode="auto">
            <a:xfrm>
              <a:off x="7308336" y="1484784"/>
              <a:ext cx="288000" cy="20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8000" dirty="0" smtClean="0">
                  <a:solidFill>
                    <a:srgbClr val="990099"/>
                  </a:solidFill>
                </a:rPr>
                <a:t>0</a:t>
              </a:r>
              <a:endParaRPr lang="en-US" altLang="zh-CN" sz="1600" baseline="-18000" dirty="0" smtClean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altLang="zh-CN" sz="1600" dirty="0" smtClean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 smtClean="0">
                  <a:solidFill>
                    <a:srgbClr val="990099"/>
                  </a:solidFill>
                </a:rPr>
                <a:t>1</a:t>
              </a:r>
              <a:endParaRPr lang="en-US" altLang="zh-CN" sz="1600" baseline="-160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2</a:t>
              </a:r>
              <a:endParaRPr lang="en-US" altLang="zh-CN" sz="1600" baseline="-160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3</a:t>
              </a:r>
              <a:endParaRPr lang="en-US" altLang="zh-CN" sz="1600" baseline="-160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4</a:t>
              </a:r>
              <a:endParaRPr lang="en-US" altLang="zh-CN" sz="1600" baseline="-16000" dirty="0">
                <a:solidFill>
                  <a:srgbClr val="990099"/>
                </a:solidFill>
              </a:endParaRPr>
            </a:p>
          </p:txBody>
        </p:sp>
        <p:sp>
          <p:nvSpPr>
            <p:cNvPr id="156" name="Line 184"/>
            <p:cNvSpPr>
              <a:spLocks noChangeShapeType="1"/>
            </p:cNvSpPr>
            <p:nvPr/>
          </p:nvSpPr>
          <p:spPr bwMode="auto">
            <a:xfrm>
              <a:off x="6372200" y="1628800"/>
              <a:ext cx="93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97E5-F6BB-443F-ABBF-82B2FC3CBB80}" type="slidenum">
              <a:rPr lang="en-US" altLang="zh-CN"/>
            </a:fld>
            <a:endParaRPr lang="en-US" altLang="zh-CN"/>
          </a:p>
        </p:txBody>
      </p:sp>
      <p:sp>
        <p:nvSpPr>
          <p:cNvPr id="322570" name="Text Box 10"/>
          <p:cNvSpPr txBox="1">
            <a:spLocks noChangeArrowheads="1"/>
          </p:cNvSpPr>
          <p:nvPr/>
        </p:nvSpPr>
        <p:spPr bwMode="auto">
          <a:xfrm>
            <a:off x="838200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§2.4 </a:t>
            </a:r>
            <a:r>
              <a:rPr lang="zh-CN" altLang="en-US" sz="2800" dirty="0" smtClean="0">
                <a:solidFill>
                  <a:schemeClr val="tx1"/>
                </a:solidFill>
              </a:rPr>
              <a:t>浮点数的运算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79512" y="908720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200" dirty="0" smtClean="0">
                <a:solidFill>
                  <a:srgbClr val="FF3399"/>
                </a:solidFill>
              </a:rPr>
              <a:t> ※</a:t>
            </a:r>
            <a:r>
              <a:rPr lang="zh-CN" altLang="en-US" sz="2200" dirty="0" smtClean="0">
                <a:solidFill>
                  <a:srgbClr val="FF3399"/>
                </a:solidFill>
              </a:rPr>
              <a:t>主要内容：</a:t>
            </a:r>
            <a:r>
              <a:rPr lang="zh-CN" altLang="en-US" sz="2200" dirty="0" smtClean="0">
                <a:solidFill>
                  <a:schemeClr val="tx1"/>
                </a:solidFill>
              </a:rPr>
              <a:t>浮点加减的运算方法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不要求</a:t>
            </a:r>
            <a:r>
              <a:rPr lang="zh-CN" altLang="en-US" sz="2000" dirty="0">
                <a:solidFill>
                  <a:schemeClr val="tx1"/>
                </a:solidFill>
              </a:rPr>
              <a:t>逻辑实现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1485131"/>
            <a:ext cx="8569075" cy="3138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*浮点数的表示：</a:t>
            </a:r>
            <a:r>
              <a:rPr lang="en-US" altLang="zh-CN" dirty="0" smtClean="0">
                <a:solidFill>
                  <a:schemeClr val="tx1"/>
                </a:solidFill>
              </a:rPr>
              <a:t>IEEE 754</a:t>
            </a:r>
            <a:r>
              <a:rPr lang="zh-CN" altLang="en-US" dirty="0" smtClean="0">
                <a:solidFill>
                  <a:schemeClr val="tx1"/>
                </a:solidFill>
              </a:rPr>
              <a:t>标准，</a:t>
            </a:r>
            <a:r>
              <a:rPr lang="en-US" altLang="zh-CN" dirty="0" smtClean="0">
                <a:solidFill>
                  <a:schemeClr val="tx1"/>
                </a:solidFill>
              </a:rPr>
              <a:t>F=(-1)</a:t>
            </a:r>
            <a:r>
              <a:rPr lang="en-US" altLang="zh-CN" baseline="40000" dirty="0" smtClean="0">
                <a:solidFill>
                  <a:schemeClr val="tx1"/>
                </a:solidFill>
                <a:uFillTx/>
              </a:rPr>
              <a:t>S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</a:rPr>
              <a:t>×M×2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进制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格式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编码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规格化</a:t>
            </a:r>
            <a:r>
              <a:rPr lang="en-US" altLang="zh-CN" dirty="0" smtClean="0">
                <a:solidFill>
                  <a:schemeClr val="accent2"/>
                </a:solidFill>
                <a:sym typeface="+mn-ea"/>
              </a:rPr>
              <a:t>—</a:t>
            </a:r>
            <a:endParaRPr lang="zh-CN" altLang="en-US" dirty="0" smtClean="0">
              <a:solidFill>
                <a:schemeClr val="accent2"/>
              </a:solidFill>
            </a:endParaRPr>
          </a:p>
        </p:txBody>
      </p:sp>
      <p:sp>
        <p:nvSpPr>
          <p:cNvPr id="3" name="Text Box 1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63395" y="1917065"/>
            <a:ext cx="7270115" cy="3138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</a:rPr>
              <a:t>为二进制，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zh-CN" altLang="en-US" dirty="0" smtClean="0">
                <a:solidFill>
                  <a:schemeClr val="tx1"/>
                </a:solidFill>
              </a:rPr>
              <a:t>二进制</a:t>
            </a:r>
            <a:endParaRPr lang="zh-CN" altLang="en-US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浮点格式</a:t>
            </a:r>
            <a:r>
              <a:rPr lang="en-US" altLang="zh-CN" sz="1800" dirty="0" smtClean="0">
                <a:solidFill>
                  <a:schemeClr val="tx1"/>
                </a:solidFill>
              </a:rPr>
              <a:t>(M</a:t>
            </a:r>
            <a:r>
              <a:rPr lang="zh-CN" altLang="en-US" sz="1800" dirty="0" smtClean="0">
                <a:solidFill>
                  <a:schemeClr val="tx1"/>
                </a:solidFill>
              </a:rPr>
              <a:t>为小数、</a:t>
            </a:r>
            <a:r>
              <a:rPr lang="en-US" altLang="zh-CN" sz="1800" dirty="0" smtClean="0">
                <a:solidFill>
                  <a:schemeClr val="tx1"/>
                </a:solidFill>
              </a:rPr>
              <a:t>E</a:t>
            </a:r>
            <a:r>
              <a:rPr lang="zh-CN" altLang="en-US" sz="1800" dirty="0" smtClean="0">
                <a:solidFill>
                  <a:schemeClr val="tx1"/>
                </a:solidFill>
              </a:rPr>
              <a:t>为整数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种长度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单精度、双精度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zh-CN" altLang="en-US" dirty="0" smtClean="0">
                <a:solidFill>
                  <a:schemeClr val="tx1"/>
                </a:solidFill>
              </a:rPr>
              <a:t>为原码，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</a:rPr>
              <a:t>为移码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偏移值为</a:t>
            </a:r>
            <a:r>
              <a:rPr lang="en-US" sz="1800" dirty="0" smtClean="0">
                <a:solidFill>
                  <a:schemeClr val="tx1"/>
                </a:solidFill>
              </a:rPr>
              <a:t>2</a:t>
            </a:r>
            <a:r>
              <a:rPr lang="en-US" sz="1800" baseline="30000" dirty="0" smtClean="0">
                <a:solidFill>
                  <a:schemeClr val="tx1"/>
                </a:solidFill>
              </a:rPr>
              <a:t>Len(E)</a:t>
            </a:r>
            <a:r>
              <a:rPr lang="en-US" sz="1800" dirty="0" smtClean="0">
                <a:solidFill>
                  <a:schemeClr val="tx1"/>
                </a:solidFill>
              </a:rPr>
              <a:t>-1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b="0" dirty="0" smtClean="0">
                <a:solidFill>
                  <a:schemeClr val="tx1"/>
                </a:solidFill>
              </a:rPr>
              <a:t>└</a:t>
            </a:r>
            <a:r>
              <a:rPr lang="en-US" altLang="zh-CN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 smtClean="0">
                <a:solidFill>
                  <a:schemeClr val="tx1"/>
                </a:solidFill>
              </a:rPr>
              <a:t>规格化数为</a:t>
            </a:r>
            <a:r>
              <a:rPr lang="en-US" altLang="zh-CN" sz="1800" dirty="0" smtClean="0">
                <a:solidFill>
                  <a:schemeClr val="tx1"/>
                </a:solidFill>
              </a:rPr>
              <a:t>1.M</a:t>
            </a:r>
            <a:r>
              <a:rPr lang="zh-CN" altLang="en-US" sz="1800" dirty="0" smtClean="0">
                <a:solidFill>
                  <a:schemeClr val="tx1"/>
                </a:solidFill>
              </a:rPr>
              <a:t>，非规格化数为</a:t>
            </a:r>
            <a:r>
              <a:rPr lang="en-US" altLang="zh-CN" sz="1800" dirty="0" smtClean="0">
                <a:solidFill>
                  <a:schemeClr val="tx1"/>
                </a:solidFill>
              </a:rPr>
              <a:t>0.M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u="sng" dirty="0">
                <a:solidFill>
                  <a:schemeClr val="tx1"/>
                </a:solidFill>
              </a:rPr>
              <a:t>目标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0.5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≤|M|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；</a:t>
            </a:r>
            <a:endParaRPr lang="zh-CN" altLang="en-US" dirty="0" smtClean="0">
              <a:solidFill>
                <a:schemeClr val="tx1"/>
              </a:solidFill>
              <a:sym typeface="+mn-ea"/>
            </a:endParaRPr>
          </a:p>
          <a:p>
            <a:pPr marL="0" indent="0" eaLnBrk="1" latinLnBrk="0" hangingPunct="1"/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u="sng" dirty="0" smtClean="0">
                <a:solidFill>
                  <a:schemeClr val="tx1"/>
                </a:solidFill>
                <a:sym typeface="+mn-ea"/>
              </a:rPr>
              <a:t>操作类型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有左规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M&lt;&lt;1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位、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E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－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、右规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M&gt;&gt;1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位、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E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1)</a:t>
            </a:r>
            <a:endParaRPr lang="en-US" altLang="zh-CN" sz="1800" dirty="0" smtClean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84660" y="2913470"/>
            <a:ext cx="4967660" cy="371514"/>
            <a:chOff x="2124968" y="2060526"/>
            <a:chExt cx="4967660" cy="371514"/>
          </a:xfrm>
        </p:grpSpPr>
        <p:sp>
          <p:nvSpPr>
            <p:cNvPr id="5" name="Text Box 1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579740" y="2071678"/>
              <a:ext cx="1512888" cy="3603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S</a:t>
              </a:r>
              <a:r>
                <a:rPr lang="en-US" altLang="zh-CN" sz="2000" baseline="-20000" dirty="0">
                  <a:solidFill>
                    <a:schemeClr val="tx1"/>
                  </a:solidFill>
                </a:rPr>
                <a:t>M</a:t>
              </a:r>
              <a:r>
                <a:rPr lang="en-US" altLang="zh-CN" sz="2000" dirty="0">
                  <a:solidFill>
                    <a:schemeClr val="tx1"/>
                  </a:solidFill>
                </a:rPr>
                <a:t>     M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Line 1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940103" y="2073265"/>
              <a:ext cx="0" cy="358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32040" y="2071678"/>
              <a:ext cx="646113" cy="36036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E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8" name="Text Box 1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31443" y="2060526"/>
              <a:ext cx="1152525" cy="3603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    M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2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485331" y="2060526"/>
              <a:ext cx="646113" cy="36036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E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0" name="Text Box 2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24968" y="2060526"/>
              <a:ext cx="360363" cy="3603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S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M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1" name="Text Box 2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29125" y="2071678"/>
              <a:ext cx="360363" cy="360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2000">
                  <a:solidFill>
                    <a:schemeClr val="tx1"/>
                  </a:solidFill>
                </a:rPr>
                <a:t>或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78"/>
          <p:cNvSpPr txBox="1">
            <a:spLocks noChangeArrowheads="1"/>
          </p:cNvSpPr>
          <p:nvPr/>
        </p:nvSpPr>
        <p:spPr bwMode="auto">
          <a:xfrm>
            <a:off x="5004047" y="2326694"/>
            <a:ext cx="1224000" cy="360000"/>
          </a:xfrm>
          <a:prstGeom prst="rect">
            <a:avLst/>
          </a:prstGeom>
          <a:solidFill>
            <a:srgbClr val="CCFFFF"/>
          </a:solidFill>
          <a:ln w="12700">
            <a:solidFill>
              <a:srgbClr val="990099"/>
            </a:solidFill>
            <a:prstDash val="sysDot"/>
            <a:miter lim="800000"/>
          </a:ln>
          <a:effectLst/>
        </p:spPr>
        <p:txBody>
          <a:bodyPr lIns="18000" tIns="0" rIns="18000" bIns="10800" anchor="ctr"/>
          <a:lstStyle/>
          <a:p>
            <a:pPr algn="ctr">
              <a:lnSpc>
                <a:spcPct val="100000"/>
              </a:lnSpc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1259632" y="1322179"/>
            <a:ext cx="7776864" cy="46063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     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zh-CN" altLang="en-US" dirty="0">
                <a:solidFill>
                  <a:schemeClr val="tx1"/>
                </a:solidFill>
              </a:rPr>
              <a:t>浮点数</a:t>
            </a:r>
            <a:r>
              <a:rPr lang="en-US" altLang="zh-CN" dirty="0">
                <a:solidFill>
                  <a:schemeClr val="tx1"/>
                </a:solidFill>
              </a:rPr>
              <a:t>A=M</a:t>
            </a:r>
            <a:r>
              <a:rPr lang="en-US" altLang="zh-CN" baseline="-20000" dirty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B=M</a:t>
            </a:r>
            <a:r>
              <a:rPr lang="en-US" altLang="zh-CN" baseline="-20000" dirty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，且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en-US" altLang="zh-CN" baseline="-20000" dirty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≤E</a:t>
            </a:r>
            <a:r>
              <a:rPr lang="en-US" altLang="zh-CN" baseline="-20000" dirty="0">
                <a:solidFill>
                  <a:schemeClr val="tx1"/>
                </a:solidFill>
              </a:rPr>
              <a:t>B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①</a:t>
            </a:r>
            <a:r>
              <a:rPr lang="zh-CN" altLang="en-US" dirty="0">
                <a:solidFill>
                  <a:srgbClr val="990099"/>
                </a:solidFill>
              </a:rPr>
              <a:t>对阶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阶＝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20000" dirty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>
                <a:solidFill>
                  <a:schemeClr val="tx1"/>
                </a:solidFill>
              </a:rPr>
              <a:t>A</a:t>
            </a:r>
            <a:r>
              <a:rPr lang="en-US" altLang="zh-CN" baseline="30000" dirty="0">
                <a:solidFill>
                  <a:schemeClr val="tx1"/>
                </a:solidFill>
              </a:rPr>
              <a:t>-E</a:t>
            </a:r>
            <a:r>
              <a:rPr lang="en-US" altLang="zh-CN" sz="2000" baseline="28000" dirty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)×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>
                <a:solidFill>
                  <a:schemeClr val="tx1"/>
                </a:solidFill>
              </a:rPr>
              <a:t>B</a:t>
            </a:r>
            <a:endParaRPr lang="zh-CN" altLang="en-US" sz="2000" baseline="280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②尾数加减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zh-CN" altLang="en-US" dirty="0" smtClean="0">
                <a:solidFill>
                  <a:schemeClr val="tx1"/>
                </a:solidFill>
              </a:rPr>
              <a:t>尾数＝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 smtClean="0">
                <a:solidFill>
                  <a:schemeClr val="tx1"/>
                </a:solidFill>
              </a:rPr>
              <a:t>A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-E</a:t>
            </a:r>
            <a:r>
              <a:rPr lang="en-US" altLang="zh-CN" sz="2000" baseline="28000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±M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←有效位数受损</a:t>
            </a:r>
            <a:endParaRPr lang="zh-CN" altLang="en-US" baseline="-16000" dirty="0">
              <a:solidFill>
                <a:schemeClr val="tx1"/>
              </a:solidFill>
            </a:endParaRPr>
          </a:p>
          <a:p>
            <a:pPr>
              <a:tabLst>
                <a:tab pos="1619250" algn="l"/>
              </a:tabLst>
            </a:pPr>
            <a:r>
              <a:rPr lang="zh-CN" altLang="en-US" dirty="0" smtClean="0">
                <a:solidFill>
                  <a:srgbClr val="990099"/>
                </a:solidFill>
              </a:rPr>
              <a:t>③结果规格化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使</a:t>
            </a:r>
            <a:r>
              <a:rPr lang="zh-CN" altLang="en-US" dirty="0" smtClean="0">
                <a:solidFill>
                  <a:schemeClr val="tx1"/>
                </a:solidFill>
              </a:rPr>
              <a:t>结果为</a:t>
            </a:r>
            <a:r>
              <a:rPr lang="zh-CN" altLang="en-US" dirty="0">
                <a:solidFill>
                  <a:schemeClr val="tx1"/>
                </a:solidFill>
              </a:rPr>
              <a:t>规格化</a:t>
            </a:r>
            <a:r>
              <a:rPr lang="zh-CN" altLang="en-US" dirty="0" smtClean="0">
                <a:solidFill>
                  <a:schemeClr val="tx1"/>
                </a:solidFill>
              </a:rPr>
              <a:t>数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←提高结果精度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运算过程中，</a:t>
            </a:r>
            <a:r>
              <a:rPr lang="zh-CN" altLang="en-US" u="sng" dirty="0" smtClean="0">
                <a:solidFill>
                  <a:srgbClr val="990099"/>
                </a:solidFill>
              </a:rPr>
              <a:t>增加</a:t>
            </a:r>
            <a:r>
              <a:rPr lang="zh-CN" altLang="en-US" dirty="0">
                <a:solidFill>
                  <a:schemeClr val="tx1"/>
                </a:solidFill>
              </a:rPr>
              <a:t>尾数的有效位数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增加</a:t>
            </a:r>
            <a:r>
              <a:rPr lang="zh-CN" altLang="en-US" sz="1800" dirty="0" smtClean="0">
                <a:solidFill>
                  <a:schemeClr val="tx1"/>
                </a:solidFill>
              </a:rPr>
              <a:t>部分称为</a:t>
            </a:r>
            <a:r>
              <a:rPr lang="zh-CN" altLang="en-US" sz="1800" u="sng" dirty="0">
                <a:solidFill>
                  <a:schemeClr val="tx1"/>
                </a:solidFill>
              </a:rPr>
              <a:t>附加位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000" dirty="0" smtClean="0">
                <a:solidFill>
                  <a:srgbClr val="990099"/>
                </a:solidFill>
              </a:rPr>
              <a:t>  如：</a:t>
            </a:r>
            <a:r>
              <a:rPr lang="en-US" altLang="zh-CN" sz="2000" dirty="0" smtClean="0">
                <a:solidFill>
                  <a:schemeClr val="tx1"/>
                </a:solidFill>
              </a:rPr>
              <a:t>IEEE </a:t>
            </a:r>
            <a:r>
              <a:rPr lang="en-US" altLang="zh-CN" sz="2000" dirty="0">
                <a:solidFill>
                  <a:schemeClr val="tx1"/>
                </a:solidFill>
              </a:rPr>
              <a:t>754</a:t>
            </a:r>
            <a:r>
              <a:rPr lang="zh-CN" altLang="en-US" sz="2000" dirty="0">
                <a:solidFill>
                  <a:schemeClr val="tx1"/>
                </a:solidFill>
              </a:rPr>
              <a:t>标准中</a:t>
            </a:r>
            <a:r>
              <a:rPr lang="zh-CN" altLang="en-US" sz="2000" dirty="0" smtClean="0">
                <a:solidFill>
                  <a:schemeClr val="tx1"/>
                </a:solidFill>
              </a:rPr>
              <a:t>，附加位</a:t>
            </a:r>
            <a:r>
              <a:rPr lang="zh-CN" altLang="en-US" sz="2000" u="sng" dirty="0" smtClean="0">
                <a:solidFill>
                  <a:schemeClr val="tx1"/>
                </a:solidFill>
              </a:rPr>
              <a:t>至少含</a:t>
            </a:r>
            <a:r>
              <a:rPr lang="zh-CN" altLang="en-US" sz="2000" dirty="0" smtClean="0">
                <a:solidFill>
                  <a:srgbClr val="0070C0"/>
                </a:solidFill>
              </a:rPr>
              <a:t>保护</a:t>
            </a:r>
            <a:r>
              <a:rPr lang="zh-CN" altLang="en-US" sz="2000" dirty="0">
                <a:solidFill>
                  <a:srgbClr val="0070C0"/>
                </a:solidFill>
              </a:rPr>
              <a:t>位、舍入</a:t>
            </a:r>
            <a:r>
              <a:rPr lang="zh-CN" altLang="en-US" sz="2000" dirty="0" smtClean="0">
                <a:solidFill>
                  <a:srgbClr val="0070C0"/>
                </a:solidFill>
              </a:rPr>
              <a:t>位</a:t>
            </a:r>
            <a:endParaRPr lang="en-US" altLang="zh-CN" sz="2000" dirty="0" smtClean="0">
              <a:solidFill>
                <a:srgbClr val="0070C0"/>
              </a:solidFill>
            </a:endParaRPr>
          </a:p>
          <a:p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对</a:t>
            </a:r>
            <a:r>
              <a:rPr lang="zh-CN" altLang="en-US" dirty="0">
                <a:solidFill>
                  <a:schemeClr val="tx1"/>
                </a:solidFill>
              </a:rPr>
              <a:t>阶、尾数加减</a:t>
            </a:r>
            <a:r>
              <a:rPr lang="zh-CN" altLang="en-US" dirty="0" smtClean="0">
                <a:solidFill>
                  <a:schemeClr val="tx1"/>
                </a:solidFill>
              </a:rPr>
              <a:t>、结果规格化</a:t>
            </a:r>
            <a:r>
              <a:rPr lang="zh-CN" altLang="en-US" dirty="0">
                <a:solidFill>
                  <a:schemeClr val="tx1"/>
                </a:solidFill>
              </a:rPr>
              <a:t>、尾数</a:t>
            </a:r>
            <a:r>
              <a:rPr lang="zh-CN" altLang="en-US" dirty="0" smtClean="0">
                <a:solidFill>
                  <a:schemeClr val="tx1"/>
                </a:solidFill>
              </a:rPr>
              <a:t>舍入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1800" dirty="0" smtClean="0">
                <a:solidFill>
                  <a:schemeClr val="tx1"/>
                </a:solidFill>
              </a:rPr>
              <a:t>  (</a:t>
            </a:r>
            <a:r>
              <a:rPr lang="zh-CN" altLang="en-US" sz="1800" dirty="0" smtClean="0">
                <a:solidFill>
                  <a:schemeClr val="tx1"/>
                </a:solidFill>
              </a:rPr>
              <a:t>教材中“溢出判断”，可融入结果规格化、尾数</a:t>
            </a:r>
            <a:r>
              <a:rPr lang="zh-CN" altLang="en-US" sz="1800" dirty="0" smtClean="0">
                <a:solidFill>
                  <a:schemeClr val="tx1"/>
                </a:solidFill>
              </a:rPr>
              <a:t>舍入步骤中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179388" y="332656"/>
            <a:ext cx="4536628" cy="47089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浮点加减运算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运算步骤：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基本运算过程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减少精度</a:t>
            </a:r>
            <a:r>
              <a:rPr lang="zh-CN" altLang="en-US" dirty="0">
                <a:solidFill>
                  <a:schemeClr val="accent2"/>
                </a:solidFill>
              </a:rPr>
              <a:t>损失的</a:t>
            </a:r>
            <a:r>
              <a:rPr lang="zh-CN" altLang="en-US" dirty="0" smtClean="0">
                <a:solidFill>
                  <a:schemeClr val="accent2"/>
                </a:solidFill>
              </a:rPr>
              <a:t>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sz="2000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   运算步骤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5508184" y="4437112"/>
            <a:ext cx="720000" cy="504000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F2B8-357C-43D5-87D4-E253D13442A0}" type="slidenum">
              <a:rPr lang="en-US" altLang="zh-CN"/>
            </a:fld>
            <a:endParaRPr lang="en-US" altLang="zh-CN"/>
          </a:p>
        </p:txBody>
      </p:sp>
      <p:sp>
        <p:nvSpPr>
          <p:cNvPr id="329730" name="Text Box 2"/>
          <p:cNvSpPr txBox="1">
            <a:spLocks noChangeArrowheads="1"/>
          </p:cNvSpPr>
          <p:nvPr/>
        </p:nvSpPr>
        <p:spPr bwMode="auto">
          <a:xfrm>
            <a:off x="179388" y="332656"/>
            <a:ext cx="8857108" cy="1400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*运算方法：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en-US" altLang="zh-CN" sz="2200" dirty="0" smtClean="0">
                <a:solidFill>
                  <a:srgbClr val="C00000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设浮点数</a:t>
            </a:r>
            <a:r>
              <a:rPr lang="en-US" altLang="zh-CN" sz="2200" dirty="0">
                <a:solidFill>
                  <a:schemeClr val="tx1"/>
                </a:solidFill>
              </a:rPr>
              <a:t>A=M</a:t>
            </a:r>
            <a:r>
              <a:rPr lang="en-US" altLang="zh-CN" sz="2200" baseline="-20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E</a:t>
            </a:r>
            <a:r>
              <a:rPr lang="en-US" altLang="zh-CN" sz="2200" baseline="26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B=M</a:t>
            </a:r>
            <a:r>
              <a:rPr lang="en-US" altLang="zh-CN" sz="2200" baseline="-20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>
                <a:solidFill>
                  <a:schemeClr val="tx1"/>
                </a:solidFill>
              </a:rPr>
              <a:t>E</a:t>
            </a:r>
            <a:r>
              <a:rPr lang="en-US" altLang="zh-CN" sz="2200" baseline="26000" dirty="0">
                <a:solidFill>
                  <a:schemeClr val="tx1"/>
                </a:solidFill>
              </a:rPr>
              <a:t>B</a:t>
            </a:r>
            <a:r>
              <a:rPr lang="zh-CN" altLang="en-US" sz="2200" dirty="0" smtClean="0">
                <a:solidFill>
                  <a:schemeClr val="tx1"/>
                </a:solidFill>
              </a:rPr>
              <a:t>，尾数加减后</a:t>
            </a:r>
            <a:r>
              <a:rPr lang="en-US" altLang="zh-CN" sz="22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200" baseline="340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26000" dirty="0" smtClean="0">
                <a:solidFill>
                  <a:schemeClr val="tx1"/>
                </a:solidFill>
              </a:rPr>
              <a:t>F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</a:t>
            </a:r>
            <a:r>
              <a:rPr lang="zh-CN" altLang="en-US" sz="2200" dirty="0" smtClean="0">
                <a:solidFill>
                  <a:schemeClr val="tx1"/>
                </a:solidFill>
              </a:rPr>
              <a:t>规格化后</a:t>
            </a:r>
            <a:r>
              <a:rPr lang="en-US" altLang="zh-CN" sz="2200" dirty="0" smtClean="0">
                <a:solidFill>
                  <a:schemeClr val="tx1"/>
                </a:solidFill>
              </a:rPr>
              <a:t>F</a:t>
            </a:r>
            <a:r>
              <a:rPr lang="en-US" altLang="zh-CN" sz="200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00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000" baseline="34000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baseline="26000" dirty="0" smtClean="0">
                <a:solidFill>
                  <a:schemeClr val="tx1"/>
                </a:solidFill>
              </a:rPr>
              <a:t>F</a:t>
            </a:r>
            <a:r>
              <a:rPr lang="zh-CN" altLang="en-US" sz="2200" dirty="0" smtClean="0">
                <a:solidFill>
                  <a:schemeClr val="tx1"/>
                </a:solidFill>
              </a:rPr>
              <a:t>，尾数舍入后</a:t>
            </a:r>
            <a:r>
              <a:rPr lang="en-US" altLang="zh-CN" sz="2200" dirty="0" smtClean="0">
                <a:solidFill>
                  <a:schemeClr val="tx1"/>
                </a:solidFill>
              </a:rPr>
              <a:t>F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</a:rPr>
              <a:t>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200" baseline="260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sz="1800" dirty="0" smtClean="0">
                <a:solidFill>
                  <a:schemeClr val="tx1"/>
                </a:solidFill>
              </a:rPr>
              <a:t>、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dirty="0" smtClean="0">
                <a:solidFill>
                  <a:schemeClr val="tx1"/>
                </a:solidFill>
              </a:rPr>
              <a:t>含附加位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329731" name="Text Box 3"/>
          <p:cNvSpPr txBox="1">
            <a:spLocks noChangeArrowheads="1"/>
          </p:cNvSpPr>
          <p:nvPr/>
        </p:nvSpPr>
        <p:spPr bwMode="auto">
          <a:xfrm>
            <a:off x="179388" y="2566065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①对阶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⑴求</a:t>
            </a:r>
            <a:r>
              <a:rPr lang="zh-CN" altLang="en-US" dirty="0">
                <a:solidFill>
                  <a:schemeClr val="tx1"/>
                </a:solidFill>
              </a:rPr>
              <a:t>公共阶：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max(E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,E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|E</a:t>
            </a:r>
            <a:r>
              <a:rPr lang="en-US" altLang="zh-CN" baseline="-20000" dirty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-E</a:t>
            </a:r>
            <a:r>
              <a:rPr lang="en-US" altLang="zh-CN" baseline="-20000" dirty="0">
                <a:solidFill>
                  <a:schemeClr val="tx1"/>
                </a:solidFill>
              </a:rPr>
              <a:t>B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        ⑵小阶尾数右移：右移</a:t>
            </a:r>
            <a:r>
              <a:rPr lang="en-US" altLang="zh-CN" b="0" dirty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zh-CN" altLang="en-US" dirty="0" smtClean="0">
                <a:solidFill>
                  <a:schemeClr val="tx1"/>
                </a:solidFill>
              </a:rPr>
              <a:t>位，移出的位→附加位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9738" name="Text Box 10"/>
          <p:cNvSpPr txBox="1">
            <a:spLocks noChangeArrowheads="1"/>
          </p:cNvSpPr>
          <p:nvPr/>
        </p:nvSpPr>
        <p:spPr bwMode="auto">
          <a:xfrm>
            <a:off x="179388" y="3509720"/>
            <a:ext cx="8857108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zh-CN" altLang="en-US" sz="2200" dirty="0" smtClean="0">
                <a:solidFill>
                  <a:srgbClr val="990099"/>
                </a:solidFill>
              </a:rPr>
              <a:t>        解</a:t>
            </a:r>
            <a:r>
              <a:rPr lang="en-US" altLang="zh-CN" sz="2200" dirty="0" smtClean="0">
                <a:solidFill>
                  <a:srgbClr val="990099"/>
                </a:solidFill>
              </a:rPr>
              <a:t>-1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en-US" altLang="zh-CN" sz="2200" spc="-100" dirty="0">
                <a:solidFill>
                  <a:schemeClr val="tx1"/>
                </a:solidFill>
              </a:rPr>
              <a:t>[E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20000" dirty="0">
                <a:solidFill>
                  <a:schemeClr val="tx1"/>
                </a:solidFill>
              </a:rPr>
              <a:t>F</a:t>
            </a:r>
            <a:r>
              <a:rPr lang="en-US" altLang="zh-CN" sz="2200" spc="-100" dirty="0">
                <a:solidFill>
                  <a:schemeClr val="tx1"/>
                </a:solidFill>
              </a:rPr>
              <a:t>]</a:t>
            </a:r>
            <a:r>
              <a:rPr lang="zh-CN" altLang="en-US" sz="2200" spc="-1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spc="-100" dirty="0">
                <a:solidFill>
                  <a:schemeClr val="tx1"/>
                </a:solidFill>
              </a:rPr>
              <a:t>＝</a:t>
            </a:r>
            <a:r>
              <a:rPr lang="en-US" altLang="zh-CN" sz="2200" spc="-100" dirty="0"/>
              <a:t>00</a:t>
            </a:r>
            <a:r>
              <a:rPr lang="en-US" altLang="zh-CN" sz="2200" spc="-1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200" spc="-100" dirty="0">
                <a:solidFill>
                  <a:schemeClr val="tx1"/>
                </a:solidFill>
              </a:rPr>
              <a:t>11</a:t>
            </a:r>
            <a:r>
              <a:rPr lang="zh-CN" altLang="en-US" sz="2200" spc="-100" dirty="0">
                <a:solidFill>
                  <a:schemeClr val="tx1"/>
                </a:solidFill>
              </a:rPr>
              <a:t>，</a:t>
            </a:r>
            <a:r>
              <a:rPr lang="en-US" altLang="zh-CN" sz="2200" b="0" dirty="0" smtClean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E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|</a:t>
            </a:r>
            <a:r>
              <a:rPr lang="en-US" altLang="zh-CN" sz="2200" spc="-100" dirty="0" smtClean="0">
                <a:solidFill>
                  <a:srgbClr val="C00000"/>
                </a:solidFill>
              </a:rPr>
              <a:t>00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01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－</a:t>
            </a:r>
            <a:r>
              <a:rPr lang="en-US" altLang="zh-CN" sz="2200" spc="-100" dirty="0" smtClean="0">
                <a:solidFill>
                  <a:srgbClr val="C00000"/>
                </a:solidFill>
              </a:rPr>
              <a:t>00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11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|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10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，</a:t>
            </a:r>
            <a:endParaRPr lang="en-US" altLang="zh-CN" sz="2200" spc="-100" dirty="0" smtClean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      [M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A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/>
              <a:t>00</a:t>
            </a:r>
            <a:r>
              <a:rPr lang="en-US" altLang="zh-CN" sz="2200" dirty="0">
                <a:solidFill>
                  <a:schemeClr val="tx1"/>
                </a:solidFill>
              </a:rPr>
              <a:t>.</a:t>
            </a:r>
            <a:r>
              <a:rPr lang="en-US" altLang="zh-CN" sz="2200" dirty="0">
                <a:solidFill>
                  <a:srgbClr val="990099"/>
                </a:solidFill>
              </a:rPr>
              <a:t>00</a:t>
            </a:r>
            <a:r>
              <a:rPr lang="en-US" altLang="zh-CN" sz="2200" dirty="0">
                <a:solidFill>
                  <a:schemeClr val="tx1"/>
                </a:solidFill>
              </a:rPr>
              <a:t>11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>
                <a:solidFill>
                  <a:schemeClr val="accent2"/>
                </a:solidFill>
              </a:rPr>
              <a:t>01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[M</a:t>
            </a:r>
            <a:r>
              <a:rPr lang="en-US" altLang="zh-CN" sz="2200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B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/>
              <a:t>11</a:t>
            </a:r>
            <a:r>
              <a:rPr lang="en-US" altLang="zh-CN" sz="2200" dirty="0" smtClean="0">
                <a:solidFill>
                  <a:schemeClr val="tx1"/>
                </a:solidFill>
              </a:rPr>
              <a:t>.0110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00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329739" name="Text Box 11"/>
          <p:cNvSpPr txBox="1">
            <a:spLocks noChangeArrowheads="1"/>
          </p:cNvSpPr>
          <p:nvPr/>
        </p:nvSpPr>
        <p:spPr bwMode="auto">
          <a:xfrm>
            <a:off x="179388" y="4726305"/>
            <a:ext cx="8785225" cy="4884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4572000" indent="-4572000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chemeClr val="accent2"/>
                </a:solidFill>
              </a:rPr>
              <a:t>②尾数</a:t>
            </a:r>
            <a:r>
              <a:rPr lang="zh-CN" altLang="en-US" dirty="0">
                <a:solidFill>
                  <a:schemeClr val="accent2"/>
                </a:solidFill>
              </a:rPr>
              <a:t>加</a:t>
            </a:r>
            <a:r>
              <a:rPr lang="zh-CN" altLang="en-US" dirty="0" smtClean="0">
                <a:solidFill>
                  <a:schemeClr val="accent2"/>
                </a:solidFill>
              </a:rPr>
              <a:t>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±M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en-US" dirty="0" smtClean="0">
                <a:solidFill>
                  <a:schemeClr val="tx1"/>
                </a:solidFill>
              </a:rPr>
              <a:t>尾数</a:t>
            </a:r>
            <a:r>
              <a:rPr lang="zh-CN" altLang="en-US" dirty="0">
                <a:solidFill>
                  <a:schemeClr val="tx1"/>
                </a:solidFill>
              </a:rPr>
              <a:t>及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附加</a:t>
            </a:r>
            <a:r>
              <a:rPr lang="zh-CN" altLang="en-US" dirty="0">
                <a:solidFill>
                  <a:schemeClr val="tx1"/>
                </a:solidFill>
              </a:rPr>
              <a:t>位一起</a:t>
            </a:r>
            <a:r>
              <a:rPr lang="zh-CN" altLang="en-US" dirty="0" smtClean="0">
                <a:solidFill>
                  <a:schemeClr val="tx1"/>
                </a:solidFill>
              </a:rPr>
              <a:t>运算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329749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79512" y="5229200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200" dirty="0" smtClean="0">
                <a:solidFill>
                  <a:srgbClr val="990099"/>
                </a:solidFill>
              </a:rPr>
              <a:t>        解</a:t>
            </a:r>
            <a:r>
              <a:rPr lang="en-US" altLang="zh-CN" sz="2200" dirty="0" smtClean="0">
                <a:solidFill>
                  <a:srgbClr val="990099"/>
                </a:solidFill>
              </a:rPr>
              <a:t>-2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en-US" altLang="zh-CN" sz="2200" dirty="0" smtClean="0">
                <a:solidFill>
                  <a:schemeClr val="tx1"/>
                </a:solidFill>
              </a:rPr>
              <a:t>[M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00.0011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01</a:t>
            </a:r>
            <a:r>
              <a:rPr lang="zh-CN" altLang="en-US" sz="2200" dirty="0" smtClean="0">
                <a:solidFill>
                  <a:schemeClr val="accent2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11.0110 </a:t>
            </a:r>
            <a:r>
              <a:rPr lang="en-US" altLang="zh-CN" sz="2200" dirty="0" smtClean="0">
                <a:solidFill>
                  <a:schemeClr val="accent2"/>
                </a:solidFill>
              </a:rPr>
              <a:t>00</a:t>
            </a:r>
            <a:r>
              <a:rPr lang="zh-CN" altLang="en-US" sz="2200" dirty="0" smtClean="0">
                <a:solidFill>
                  <a:schemeClr val="accent2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11.1001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accent2"/>
                </a:solidFill>
              </a:rPr>
              <a:t>01</a:t>
            </a:r>
            <a:endParaRPr lang="en-US" altLang="zh-CN" sz="2200" dirty="0">
              <a:solidFill>
                <a:schemeClr val="accent2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79512" y="1684342"/>
            <a:ext cx="885710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1—</a:t>
            </a:r>
            <a:r>
              <a:rPr lang="zh-CN" altLang="en-US" sz="2200" dirty="0" smtClean="0">
                <a:solidFill>
                  <a:schemeClr val="tx1"/>
                </a:solidFill>
              </a:rPr>
              <a:t>浮点数的尾数用</a:t>
            </a:r>
            <a:r>
              <a:rPr lang="en-US" altLang="zh-CN" sz="2200" dirty="0" smtClean="0">
                <a:solidFill>
                  <a:schemeClr val="tx1"/>
                </a:solidFill>
              </a:rPr>
              <a:t>5</a:t>
            </a:r>
            <a:r>
              <a:rPr lang="zh-CN" altLang="en-US" sz="2200" dirty="0" smtClean="0">
                <a:solidFill>
                  <a:schemeClr val="tx1"/>
                </a:solidFill>
              </a:rPr>
              <a:t>位补码、阶用</a:t>
            </a:r>
            <a:r>
              <a:rPr lang="en-US" altLang="zh-CN" sz="2200" dirty="0" smtClean="0">
                <a:solidFill>
                  <a:schemeClr val="tx1"/>
                </a:solidFill>
              </a:rPr>
              <a:t>3</a:t>
            </a:r>
            <a:r>
              <a:rPr lang="zh-CN" altLang="en-US" sz="2200" dirty="0" smtClean="0">
                <a:solidFill>
                  <a:schemeClr val="tx1"/>
                </a:solidFill>
              </a:rPr>
              <a:t>位补码表示，附加位为</a:t>
            </a:r>
            <a:r>
              <a:rPr lang="en-US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</a:rPr>
              <a:t>位，采用双符号位</a:t>
            </a:r>
            <a:r>
              <a:rPr lang="zh-CN" altLang="en-US" sz="2200" dirty="0">
                <a:solidFill>
                  <a:schemeClr val="tx1"/>
                </a:solidFill>
              </a:rPr>
              <a:t>运算</a:t>
            </a:r>
            <a:r>
              <a:rPr lang="zh-CN" altLang="en-US" sz="2200" dirty="0" smtClean="0">
                <a:solidFill>
                  <a:schemeClr val="tx1"/>
                </a:solidFill>
              </a:rPr>
              <a:t>。</a:t>
            </a:r>
            <a:r>
              <a:rPr lang="en-US" altLang="zh-CN" sz="2200" dirty="0" smtClean="0">
                <a:solidFill>
                  <a:schemeClr val="tx1"/>
                </a:solidFill>
              </a:rPr>
              <a:t>A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0.1101×2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01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-0.1010×2</a:t>
            </a:r>
            <a:r>
              <a:rPr lang="en-US" altLang="zh-CN" sz="2200" baseline="30000" dirty="0" smtClean="0">
                <a:solidFill>
                  <a:schemeClr val="tx1"/>
                </a:solidFill>
              </a:rPr>
              <a:t>11</a:t>
            </a:r>
            <a:r>
              <a:rPr lang="zh-CN" altLang="en-US" sz="2200" dirty="0" smtClean="0">
                <a:solidFill>
                  <a:schemeClr val="tx1"/>
                </a:solidFill>
              </a:rPr>
              <a:t>，求</a:t>
            </a:r>
            <a:r>
              <a:rPr lang="en-US" altLang="zh-CN" sz="2200" dirty="0" smtClean="0">
                <a:solidFill>
                  <a:schemeClr val="tx1"/>
                </a:solidFill>
              </a:rPr>
              <a:t>[A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B]</a:t>
            </a:r>
            <a:r>
              <a:rPr lang="zh-CN" altLang="en-US" sz="2200" baseline="-16000" dirty="0" smtClean="0">
                <a:solidFill>
                  <a:schemeClr val="tx1"/>
                </a:solidFill>
              </a:rPr>
              <a:t>浮</a:t>
            </a:r>
            <a:endParaRPr lang="en-US" altLang="zh-CN" sz="2200" baseline="-16000" dirty="0">
              <a:solidFill>
                <a:schemeClr val="tx1"/>
              </a:solidFill>
            </a:endParaRPr>
          </a:p>
        </p:txBody>
      </p:sp>
      <p:sp>
        <p:nvSpPr>
          <p:cNvPr id="13" name="Text Box 200"/>
          <p:cNvSpPr txBox="1">
            <a:spLocks noChangeArrowheads="1"/>
          </p:cNvSpPr>
          <p:nvPr/>
        </p:nvSpPr>
        <p:spPr bwMode="auto">
          <a:xfrm>
            <a:off x="1763688" y="4437144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dirty="0" smtClean="0">
                <a:solidFill>
                  <a:schemeClr val="tx1"/>
                </a:solidFill>
              </a:rPr>
              <a:t>小数何时被</a:t>
            </a:r>
            <a:r>
              <a:rPr lang="zh-CN" altLang="en-US" sz="1800" dirty="0">
                <a:solidFill>
                  <a:schemeClr val="tx1"/>
                </a:solidFill>
              </a:rPr>
              <a:t>大数吃</a:t>
            </a:r>
            <a:r>
              <a:rPr lang="zh-CN" altLang="en-US" sz="1800" dirty="0" smtClean="0">
                <a:solidFill>
                  <a:schemeClr val="tx1"/>
                </a:solidFill>
              </a:rPr>
              <a:t>掉？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4" name="Text Box 200"/>
          <p:cNvSpPr txBox="1">
            <a:spLocks noChangeArrowheads="1"/>
          </p:cNvSpPr>
          <p:nvPr/>
        </p:nvSpPr>
        <p:spPr bwMode="auto">
          <a:xfrm>
            <a:off x="5148064" y="4437112"/>
            <a:ext cx="18002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sz="1800" dirty="0" smtClean="0">
                <a:solidFill>
                  <a:schemeClr val="tx1"/>
                </a:solidFill>
              </a:rPr>
              <a:t>E</a:t>
            </a:r>
            <a:r>
              <a:rPr lang="zh-CN" altLang="en-US" sz="1800" dirty="0" smtClean="0">
                <a:solidFill>
                  <a:schemeClr val="tx1"/>
                </a:solidFill>
              </a:rPr>
              <a:t>≥尾数长度时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5" name="Text Box 200"/>
          <p:cNvSpPr txBox="1">
            <a:spLocks noChangeArrowheads="1"/>
          </p:cNvSpPr>
          <p:nvPr/>
        </p:nvSpPr>
        <p:spPr bwMode="auto">
          <a:xfrm>
            <a:off x="1763688" y="5733256"/>
            <a:ext cx="28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dirty="0" smtClean="0">
                <a:solidFill>
                  <a:schemeClr val="tx1"/>
                </a:solidFill>
              </a:rPr>
              <a:t>结果溢出怎么办？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7" name="Text Box 200"/>
          <p:cNvSpPr txBox="1">
            <a:spLocks noChangeArrowheads="1"/>
          </p:cNvSpPr>
          <p:nvPr/>
        </p:nvSpPr>
        <p:spPr bwMode="auto">
          <a:xfrm>
            <a:off x="4860032" y="5733256"/>
            <a:ext cx="360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不视为错误</a:t>
            </a:r>
            <a:r>
              <a:rPr lang="zh-CN" altLang="en-US" sz="1800" dirty="0" smtClean="0">
                <a:solidFill>
                  <a:schemeClr val="tx1"/>
                </a:solidFill>
              </a:rPr>
              <a:t>，尾数规格化时再处理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/>
      <p:bldP spid="329738" grpId="0"/>
      <p:bldP spid="329739" grpId="0"/>
      <p:bldP spid="19" grpId="0"/>
      <p:bldP spid="13" grpId="0" animBg="1"/>
      <p:bldP spid="14" grpId="0"/>
      <p:bldP spid="15" grpId="0" animBg="1"/>
      <p:bldP spid="1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5" name="Text Box 7"/>
          <p:cNvSpPr txBox="1">
            <a:spLocks noChangeArrowheads="1"/>
          </p:cNvSpPr>
          <p:nvPr/>
        </p:nvSpPr>
        <p:spPr bwMode="auto">
          <a:xfrm>
            <a:off x="179388" y="332656"/>
            <a:ext cx="8641084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961005" indent="-2961005"/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③结果规格化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规格化结果，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endParaRPr lang="en-US" altLang="zh-CN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961005" indent="-2961005"/>
            <a:r>
              <a:rPr lang="en-US" altLang="zh-CN" dirty="0" smtClean="0">
                <a:solidFill>
                  <a:schemeClr val="tx1"/>
                </a:solidFill>
              </a:rPr>
              <a:t>                  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是否溢出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961005" indent="-2961005">
              <a:lnSpc>
                <a:spcPct val="105000"/>
              </a:lnSpc>
            </a:pPr>
            <a:r>
              <a:rPr lang="en-US" altLang="zh-CN" dirty="0" smtClean="0">
                <a:solidFill>
                  <a:srgbClr val="990099"/>
                </a:solidFill>
              </a:rPr>
              <a:t>        </a:t>
            </a:r>
            <a:r>
              <a:rPr lang="zh-CN" altLang="en-US" dirty="0" smtClean="0">
                <a:solidFill>
                  <a:srgbClr val="990099"/>
                </a:solidFill>
              </a:rPr>
              <a:t>规格化：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961005" indent="-2961005"/>
            <a:r>
              <a:rPr lang="en-US" altLang="zh-CN" dirty="0" smtClean="0">
                <a:solidFill>
                  <a:schemeClr val="tx1"/>
                </a:solidFill>
              </a:rPr>
              <a:t>              |M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en-US" altLang="zh-CN" dirty="0">
                <a:solidFill>
                  <a:schemeClr val="tx1"/>
                </a:solidFill>
              </a:rPr>
              <a:t>≥</a:t>
            </a:r>
            <a:r>
              <a:rPr lang="en-US" altLang="zh-CN" dirty="0" smtClean="0">
                <a:solidFill>
                  <a:schemeClr val="tx1"/>
                </a:solidFill>
              </a:rPr>
              <a:t>1.0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en-US" altLang="zh-CN" dirty="0" smtClean="0">
                <a:solidFill>
                  <a:schemeClr val="tx1"/>
                </a:solidFill>
              </a:rPr>
              <a:t>— 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pPr marL="2961005" indent="-2961005"/>
            <a:r>
              <a:rPr lang="zh-CN" altLang="en-US" dirty="0" smtClean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0.5≤|M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 smtClean="0">
                <a:solidFill>
                  <a:schemeClr val="tx1"/>
                </a:solidFill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</a:rPr>
              <a:t>1.0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en-US" altLang="zh-CN" dirty="0">
                <a:solidFill>
                  <a:schemeClr val="tx1"/>
                </a:solidFill>
              </a:rPr>
              <a:t>—M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已为规格化数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     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 marL="3053080" indent="-3053080"/>
            <a:r>
              <a:rPr lang="zh-CN" altLang="en-US" dirty="0" smtClean="0">
                <a:solidFill>
                  <a:schemeClr val="tx1"/>
                </a:solidFill>
              </a:rPr>
              <a:t>              </a:t>
            </a:r>
            <a:r>
              <a:rPr lang="en-US" altLang="zh-CN" dirty="0" smtClean="0">
                <a:solidFill>
                  <a:schemeClr val="tx1"/>
                </a:solidFill>
              </a:rPr>
              <a:t>|M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</a:rPr>
              <a:t>0.5</a:t>
            </a:r>
            <a:r>
              <a:rPr lang="zh-CN" altLang="en-US" dirty="0" smtClean="0">
                <a:solidFill>
                  <a:schemeClr val="tx1"/>
                </a:solidFill>
              </a:rPr>
              <a:t>时</a:t>
            </a:r>
            <a:r>
              <a:rPr lang="en-US" altLang="zh-CN" dirty="0" smtClean="0">
                <a:solidFill>
                  <a:schemeClr val="tx1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310380" indent="-4310380"/>
            <a:endParaRPr lang="en-US" altLang="zh-CN" sz="2200" dirty="0" smtClean="0">
              <a:solidFill>
                <a:srgbClr val="990099"/>
              </a:solidFill>
            </a:endParaRPr>
          </a:p>
          <a:p>
            <a:pPr marL="4310380" indent="-4310380"/>
            <a:r>
              <a:rPr lang="zh-CN" altLang="en-US" dirty="0" smtClean="0">
                <a:solidFill>
                  <a:srgbClr val="990099"/>
                </a:solidFill>
              </a:rPr>
              <a:t>        溢出判断：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392488" y="1628800"/>
            <a:ext cx="4572000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961005" indent="-2961005"/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右规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</a:rPr>
              <a:t>(M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 </a:t>
            </a:r>
            <a:r>
              <a:rPr lang="zh-CN" altLang="en-US" sz="1800" dirty="0" smtClean="0">
                <a:solidFill>
                  <a:schemeClr val="tx1"/>
                </a:solidFill>
              </a:rPr>
              <a:t>＜</a:t>
            </a:r>
            <a:r>
              <a:rPr lang="en-US" altLang="zh-CN" sz="1800" dirty="0" smtClean="0">
                <a:solidFill>
                  <a:schemeClr val="tx1"/>
                </a:solidFill>
              </a:rPr>
              <a:t>2)</a:t>
            </a:r>
            <a:r>
              <a:rPr lang="zh-CN" altLang="en-US" dirty="0" smtClean="0">
                <a:solidFill>
                  <a:schemeClr val="tx1"/>
                </a:solidFill>
              </a:rPr>
              <a:t>， </a:t>
            </a:r>
            <a:r>
              <a:rPr lang="zh-CN" altLang="en-US" sz="18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endParaRPr lang="zh-CN" altLang="en-US" sz="1800" dirty="0" smtClean="0">
              <a:solidFill>
                <a:schemeClr val="tx1"/>
              </a:solidFill>
            </a:endParaRPr>
          </a:p>
          <a:p>
            <a:pPr marL="2961005" indent="-2961005"/>
            <a:endParaRPr lang="zh-CN" altLang="en-US" dirty="0" smtClean="0">
              <a:solidFill>
                <a:schemeClr val="tx1"/>
              </a:solidFill>
            </a:endParaRPr>
          </a:p>
          <a:p>
            <a:pPr marL="3053080" indent="-3053080"/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左规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直到≥</a:t>
            </a:r>
            <a:r>
              <a:rPr lang="en-US" altLang="zh-CN" sz="1800" dirty="0" smtClean="0">
                <a:solidFill>
                  <a:schemeClr val="tx1"/>
                </a:solidFill>
              </a:rPr>
              <a:t>0.5)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smtClean="0">
                <a:solidFill>
                  <a:schemeClr val="tx1"/>
                </a:solidFill>
              </a:rPr>
              <a:t>-</a:t>
            </a:r>
            <a:r>
              <a:rPr lang="en-US" altLang="zh-CN" sz="2000" i="1" dirty="0" smtClean="0">
                <a:solidFill>
                  <a:schemeClr val="tx1"/>
                </a:solidFill>
                <a:latin typeface="+mn-lt"/>
              </a:rPr>
              <a:t>x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4A4F-4B26-40EA-B82E-7CF9965F094D}" type="slidenum">
              <a:rPr lang="en-US" altLang="zh-CN"/>
            </a:fld>
            <a:endParaRPr lang="en-US" altLang="zh-CN"/>
          </a:p>
        </p:txBody>
      </p:sp>
      <p:sp>
        <p:nvSpPr>
          <p:cNvPr id="416779" name="Text Box 11"/>
          <p:cNvSpPr txBox="1">
            <a:spLocks noChangeArrowheads="1"/>
          </p:cNvSpPr>
          <p:nvPr/>
        </p:nvSpPr>
        <p:spPr bwMode="auto">
          <a:xfrm>
            <a:off x="179388" y="5085152"/>
            <a:ext cx="8857482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</a:t>
            </a:r>
            <a:r>
              <a:rPr lang="en-US" altLang="zh-CN" sz="2200" dirty="0" smtClean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dirty="0" smtClean="0">
                <a:solidFill>
                  <a:srgbClr val="990099"/>
                </a:solidFill>
                <a:latin typeface="+mn-ea"/>
                <a:ea typeface="+mn-ea"/>
              </a:rPr>
              <a:t>解</a:t>
            </a:r>
            <a:r>
              <a:rPr lang="en-US" altLang="zh-CN" sz="2200" dirty="0" smtClean="0">
                <a:solidFill>
                  <a:srgbClr val="990099"/>
                </a:solidFill>
                <a:latin typeface="+mn-ea"/>
                <a:ea typeface="+mn-ea"/>
              </a:rPr>
              <a:t>-3</a:t>
            </a:r>
            <a:r>
              <a:rPr lang="zh-CN" altLang="en-US" sz="2200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因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[E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20000" dirty="0" smtClean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00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11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11.1001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01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            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故需左规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次，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11.001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0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1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[E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00 10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                E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200" baseline="-20000" dirty="0" smtClean="0">
                <a:solidFill>
                  <a:schemeClr val="tx1"/>
                </a:solidFill>
                <a:latin typeface="+mn-ea"/>
              </a:rPr>
              <a:t>F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未溢出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1678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835696" y="3428968"/>
            <a:ext cx="7308304" cy="1785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4035425" indent="-4035425"/>
            <a:r>
              <a:rPr lang="zh-CN" altLang="en-US" dirty="0" smtClean="0">
                <a:solidFill>
                  <a:schemeClr val="tx1"/>
                </a:solidFill>
              </a:rPr>
              <a:t>       判断方法～</a:t>
            </a:r>
            <a:r>
              <a:rPr lang="zh-CN" altLang="en-US" dirty="0" smtClean="0">
                <a:solidFill>
                  <a:schemeClr val="tx1"/>
                </a:solidFill>
              </a:rPr>
              <a:t>阶的运算</a:t>
            </a:r>
            <a:r>
              <a:rPr lang="zh-CN" altLang="en-US" dirty="0" smtClean="0">
                <a:solidFill>
                  <a:schemeClr val="tx1"/>
                </a:solidFill>
              </a:rPr>
              <a:t>方法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如单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双</a:t>
            </a:r>
            <a:r>
              <a:rPr lang="zh-CN" altLang="en-US" sz="1800" dirty="0" smtClean="0">
                <a:solidFill>
                  <a:schemeClr val="tx1"/>
                </a:solidFill>
              </a:rPr>
              <a:t>符号</a:t>
            </a:r>
            <a:r>
              <a:rPr lang="zh-CN" altLang="en-US" sz="1800" dirty="0" smtClean="0">
                <a:solidFill>
                  <a:schemeClr val="tx1"/>
                </a:solidFill>
              </a:rPr>
              <a:t>、补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移码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035425" indent="-4035425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溢出时进行相应处理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035425" indent="-4035425">
              <a:spcBef>
                <a:spcPts val="0"/>
              </a:spcBef>
            </a:pPr>
            <a:r>
              <a:rPr lang="en-US" altLang="zh-CN" sz="2000" dirty="0" smtClean="0">
                <a:solidFill>
                  <a:srgbClr val="0070C0"/>
                </a:solidFill>
              </a:rPr>
              <a:t>IEEE </a:t>
            </a:r>
            <a:r>
              <a:rPr lang="en-US" altLang="zh-CN" sz="2000" dirty="0">
                <a:solidFill>
                  <a:srgbClr val="0070C0"/>
                </a:solidFill>
              </a:rPr>
              <a:t>754</a:t>
            </a:r>
            <a:r>
              <a:rPr lang="zh-CN" altLang="en-US" sz="2000" dirty="0">
                <a:solidFill>
                  <a:srgbClr val="0070C0"/>
                </a:solidFill>
              </a:rPr>
              <a:t>标准：</a:t>
            </a:r>
            <a:r>
              <a:rPr lang="en-US" altLang="zh-CN" sz="2000" dirty="0">
                <a:solidFill>
                  <a:schemeClr val="tx1"/>
                </a:solidFill>
              </a:rPr>
              <a:t>E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-20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上溢时，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±</a:t>
            </a:r>
            <a:r>
              <a:rPr lang="zh-CN" altLang="en-US" sz="2000" dirty="0">
                <a:solidFill>
                  <a:schemeClr val="tx1"/>
                </a:solidFill>
              </a:rPr>
              <a:t>∞</a:t>
            </a:r>
            <a:r>
              <a:rPr lang="en-US" altLang="zh-CN" sz="1800" dirty="0">
                <a:solidFill>
                  <a:schemeClr val="tx1"/>
                </a:solidFill>
              </a:rPr>
              <a:t>([E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移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255,[M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0)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035425" indent="-4035425"/>
            <a:r>
              <a:rPr lang="en-US" altLang="zh-CN" sz="2000" dirty="0">
                <a:solidFill>
                  <a:schemeClr val="tx1"/>
                </a:solidFill>
              </a:rPr>
              <a:t>   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>
                <a:solidFill>
                  <a:schemeClr val="tx1"/>
                </a:solidFill>
              </a:rPr>
              <a:t>E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-20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下溢时，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([E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移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0,[M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Text Box 200"/>
          <p:cNvSpPr txBox="1">
            <a:spLocks noChangeArrowheads="1"/>
          </p:cNvSpPr>
          <p:nvPr/>
        </p:nvSpPr>
        <p:spPr bwMode="auto">
          <a:xfrm>
            <a:off x="1908128" y="3140968"/>
            <a:ext cx="532816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dirty="0">
                <a:solidFill>
                  <a:schemeClr val="tx1"/>
                </a:solidFill>
              </a:rPr>
              <a:t>为负数、补码编码</a:t>
            </a:r>
            <a:r>
              <a:rPr lang="zh-CN" altLang="en-US" sz="1800" dirty="0" smtClean="0">
                <a:solidFill>
                  <a:schemeClr val="tx1"/>
                </a:solidFill>
              </a:rPr>
              <a:t>时，</a:t>
            </a:r>
            <a:r>
              <a:rPr lang="en-US" altLang="zh-CN" sz="18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种范围有何变化？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3" name="Text Box 200"/>
          <p:cNvSpPr txBox="1">
            <a:spLocks noChangeArrowheads="1"/>
          </p:cNvSpPr>
          <p:nvPr/>
        </p:nvSpPr>
        <p:spPr bwMode="auto">
          <a:xfrm>
            <a:off x="7308304" y="3147594"/>
            <a:ext cx="1692358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＞，＜及≤，≤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9" grpId="0"/>
      <p:bldP spid="11" grpId="0"/>
      <p:bldP spid="9" grpId="0" animBg="1"/>
      <p:bldP spid="1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16" name="Text Box 12"/>
          <p:cNvSpPr txBox="1">
            <a:spLocks noChangeArrowheads="1"/>
          </p:cNvSpPr>
          <p:nvPr/>
        </p:nvSpPr>
        <p:spPr bwMode="auto">
          <a:xfrm>
            <a:off x="179388" y="404664"/>
            <a:ext cx="8785225" cy="3980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4035425" indent="-4035425"/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④尾数</a:t>
            </a:r>
            <a:r>
              <a:rPr lang="zh-CN" altLang="en-US" dirty="0">
                <a:solidFill>
                  <a:schemeClr val="accent2"/>
                </a:solidFill>
              </a:rPr>
              <a:t>舍入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baseline="-20000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dirty="0" smtClean="0">
                <a:solidFill>
                  <a:schemeClr val="tx1"/>
                </a:solidFill>
              </a:rPr>
              <a:t>根据</a:t>
            </a:r>
            <a:r>
              <a:rPr lang="zh-CN" altLang="en-US" dirty="0">
                <a:solidFill>
                  <a:schemeClr val="tx1"/>
                </a:solidFill>
              </a:rPr>
              <a:t>附加位</a:t>
            </a:r>
            <a:r>
              <a:rPr lang="zh-CN" altLang="en-US" dirty="0" smtClean="0">
                <a:solidFill>
                  <a:schemeClr val="tx1"/>
                </a:solidFill>
              </a:rPr>
              <a:t>得到；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035425" indent="-4035425"/>
            <a:r>
              <a:rPr lang="zh-CN" altLang="en-US" dirty="0" smtClean="0">
                <a:solidFill>
                  <a:schemeClr val="tx1"/>
                </a:solidFill>
              </a:rPr>
              <a:t>               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F</a:t>
            </a:r>
            <a:r>
              <a:rPr lang="zh-CN" altLang="en-US" dirty="0" smtClean="0">
                <a:solidFill>
                  <a:schemeClr val="tx1"/>
                </a:solidFill>
              </a:rPr>
              <a:t>溢出时进行</a:t>
            </a:r>
            <a:r>
              <a:rPr lang="zh-CN" altLang="en-US" u="sng" dirty="0">
                <a:solidFill>
                  <a:schemeClr val="tx1"/>
                </a:solidFill>
              </a:rPr>
              <a:t>规格化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含溢出判断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035425" indent="-4035425">
              <a:spcBef>
                <a:spcPts val="0"/>
              </a:spcBef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舍入</a:t>
            </a:r>
            <a:r>
              <a:rPr lang="zh-CN" altLang="en-US" dirty="0">
                <a:solidFill>
                  <a:srgbClr val="990099"/>
                </a:solidFill>
              </a:rPr>
              <a:t>类型：</a:t>
            </a:r>
            <a:r>
              <a:rPr lang="zh-CN" altLang="en-US" dirty="0">
                <a:solidFill>
                  <a:schemeClr val="tx1"/>
                </a:solidFill>
              </a:rPr>
              <a:t>截断法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朝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，恒置法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朝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∞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，舍入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就近舍入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针对真值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0)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   (</a:t>
            </a:r>
            <a:r>
              <a: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[</a:t>
            </a:r>
            <a:r>
              <a:rPr lang="zh-CN" altLang="en-US" sz="1800" dirty="0">
                <a:solidFill>
                  <a:schemeClr val="tx1"/>
                </a:solidFill>
              </a:rPr>
              <a:t>正数</a:t>
            </a:r>
            <a:r>
              <a:rPr lang="en-US" altLang="zh-CN" sz="1800" dirty="0" smtClean="0">
                <a:solidFill>
                  <a:schemeClr val="tx1"/>
                </a:solidFill>
              </a:rPr>
              <a:t>]/-1[</a:t>
            </a:r>
            <a:r>
              <a:rPr lang="zh-CN" altLang="en-US" sz="1800" dirty="0" smtClean="0">
                <a:solidFill>
                  <a:schemeClr val="tx1"/>
                </a:solidFill>
              </a:rPr>
              <a:t>负数</a:t>
            </a:r>
            <a:r>
              <a:rPr lang="en-US" altLang="zh-CN" sz="1800" dirty="0" smtClean="0">
                <a:solidFill>
                  <a:schemeClr val="tx1"/>
                </a:solidFill>
              </a:rPr>
              <a:t>]) (</a:t>
            </a:r>
            <a:r>
              <a: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1800" dirty="0" smtClean="0">
                <a:solidFill>
                  <a:schemeClr val="tx1"/>
                </a:solidFill>
              </a:rPr>
              <a:t>＝附</a:t>
            </a:r>
            <a:r>
              <a:rPr lang="zh-CN" altLang="en-US" sz="1800" baseline="-20000" dirty="0" smtClean="0">
                <a:solidFill>
                  <a:schemeClr val="tx1"/>
                </a:solidFill>
              </a:rPr>
              <a:t>首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</a:pPr>
            <a:endParaRPr lang="en-US" altLang="zh-CN" sz="2000" dirty="0" smtClean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</a:pPr>
            <a:endParaRPr lang="en-US" altLang="zh-CN" sz="2000" dirty="0" smtClean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</a:pPr>
            <a:endParaRPr lang="en-US" altLang="zh-CN" sz="2000" dirty="0">
              <a:solidFill>
                <a:srgbClr val="0070C0"/>
              </a:solidFill>
            </a:endParaRPr>
          </a:p>
          <a:p>
            <a:pPr>
              <a:spcBef>
                <a:spcPts val="2100"/>
              </a:spcBef>
            </a:pPr>
            <a:r>
              <a:rPr lang="en-US" altLang="zh-CN" sz="2000" dirty="0" smtClean="0">
                <a:solidFill>
                  <a:srgbClr val="0070C0"/>
                </a:solidFill>
              </a:rPr>
              <a:t>           IEEE 754</a:t>
            </a:r>
            <a:r>
              <a:rPr lang="zh-CN" altLang="en-US" sz="2000" dirty="0" smtClean="0">
                <a:solidFill>
                  <a:srgbClr val="0070C0"/>
                </a:solidFill>
              </a:rPr>
              <a:t>标准：</a:t>
            </a:r>
            <a:r>
              <a:rPr lang="zh-CN" altLang="en-US" sz="2000" dirty="0" smtClean="0">
                <a:solidFill>
                  <a:schemeClr val="tx1"/>
                </a:solidFill>
              </a:rPr>
              <a:t>默认采用</a:t>
            </a:r>
            <a:r>
              <a:rPr lang="zh-CN" altLang="en-US" sz="2000" u="sng" dirty="0" smtClean="0">
                <a:solidFill>
                  <a:schemeClr val="tx1"/>
                </a:solidFill>
                <a:latin typeface="+mn-ea"/>
              </a:rPr>
              <a:t>就近舍入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</a:rPr>
              <a:t>法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舍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/6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入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zh-CN" sz="1800" dirty="0">
                <a:solidFill>
                  <a:srgbClr val="0070C0"/>
                </a:solidFill>
                <a:latin typeface="+mn-ea"/>
              </a:rPr>
              <a:t>5</a:t>
            </a:r>
            <a:r>
              <a:rPr lang="zh-CN" altLang="en-US" sz="1800" dirty="0">
                <a:solidFill>
                  <a:srgbClr val="0070C0"/>
                </a:solidFill>
                <a:latin typeface="+mn-ea"/>
              </a:rPr>
              <a:t>成偶数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1800" dirty="0" smtClean="0">
              <a:solidFill>
                <a:schemeClr val="tx1"/>
              </a:solidFill>
              <a:latin typeface="+mn-ea"/>
            </a:endParaRPr>
          </a:p>
          <a:p>
            <a:pPr marL="4035425" indent="-4035425"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即</a:t>
            </a:r>
            <a:r>
              <a:rPr lang="en-US" altLang="zh-CN" sz="1800" dirty="0" smtClean="0">
                <a:solidFill>
                  <a:schemeClr val="tx1"/>
                </a:solidFill>
              </a:rPr>
              <a:t>(M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baseline="-20000" dirty="0" smtClean="0">
                <a:solidFill>
                  <a:schemeClr val="tx1"/>
                </a:solidFill>
              </a:rPr>
              <a:t>附</a:t>
            </a:r>
            <a:r>
              <a:rPr lang="en-US" altLang="zh-CN" sz="1800" dirty="0" smtClean="0">
                <a:solidFill>
                  <a:schemeClr val="tx1"/>
                </a:solidFill>
              </a:rPr>
              <a:t>=10…0)(M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baseline="-20000" dirty="0" smtClean="0">
                <a:solidFill>
                  <a:schemeClr val="tx1"/>
                </a:solidFill>
              </a:rPr>
              <a:t>末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en-US" altLang="zh-CN" sz="1800" dirty="0" smtClean="0">
                <a:solidFill>
                  <a:schemeClr val="tx1"/>
                </a:solidFill>
              </a:rPr>
              <a:t>1)</a:t>
            </a:r>
            <a:r>
              <a:rPr lang="zh-CN" altLang="en-US" sz="1800" dirty="0" smtClean="0">
                <a:solidFill>
                  <a:schemeClr val="tx1"/>
                </a:solidFill>
              </a:rPr>
              <a:t>时</a:t>
            </a:r>
            <a:r>
              <a:rPr lang="en-US" altLang="zh-CN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，否则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baseline="-20000" dirty="0" smtClean="0">
                <a:solidFill>
                  <a:schemeClr val="tx1"/>
                </a:solidFill>
              </a:rPr>
              <a:t>附首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167A-F375-4095-89D4-CE8E39B16F54}" type="slidenum">
              <a:rPr lang="en-US" altLang="zh-CN"/>
            </a:fld>
            <a:endParaRPr lang="en-US" altLang="zh-CN" dirty="0"/>
          </a:p>
        </p:txBody>
      </p:sp>
      <p:sp>
        <p:nvSpPr>
          <p:cNvPr id="328719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9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9388" y="4293096"/>
            <a:ext cx="8857108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</a:t>
            </a:r>
            <a:r>
              <a:rPr lang="en-US" altLang="zh-CN" sz="2200" dirty="0" smtClean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dirty="0" smtClean="0">
                <a:solidFill>
                  <a:srgbClr val="990099"/>
                </a:solidFill>
                <a:latin typeface="+mn-ea"/>
                <a:ea typeface="+mn-ea"/>
              </a:rPr>
              <a:t>解</a:t>
            </a:r>
            <a:r>
              <a:rPr lang="en-US" altLang="zh-CN" sz="2200" dirty="0" smtClean="0">
                <a:solidFill>
                  <a:srgbClr val="990099"/>
                </a:solidFill>
                <a:latin typeface="+mn-ea"/>
                <a:ea typeface="+mn-ea"/>
              </a:rPr>
              <a:t>-4</a:t>
            </a:r>
            <a:r>
              <a:rPr lang="zh-CN" altLang="en-US" sz="2200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因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11.0010 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[E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00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              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 smtClean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为负数，附加位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选择</a:t>
            </a:r>
            <a:r>
              <a:rPr lang="zh-CN" altLang="en-US" sz="2200" u="sng" dirty="0" smtClean="0">
                <a:solidFill>
                  <a:schemeClr val="tx1"/>
                </a:solidFill>
                <a:latin typeface="+mn-ea"/>
                <a:ea typeface="+mn-ea"/>
              </a:rPr>
              <a:t>舍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            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故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[M</a:t>
            </a:r>
            <a:r>
              <a:rPr lang="en-US" altLang="zh-CN" sz="2200" baseline="-20000" dirty="0" smtClean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1.0010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en-US" altLang="zh-CN" sz="2200" baseline="-20000" dirty="0" smtClean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0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10        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79388" y="5589240"/>
            <a:ext cx="8785225" cy="8617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 smtClean="0">
                <a:solidFill>
                  <a:srgbClr val="990099"/>
                </a:solidFill>
              </a:rPr>
              <a:t>—</a:t>
            </a:r>
            <a:r>
              <a:rPr lang="zh-CN" altLang="en-US" sz="2000" dirty="0" smtClean="0">
                <a:solidFill>
                  <a:schemeClr val="tx1"/>
                </a:solidFill>
              </a:rPr>
              <a:t>浮点数的尾数用</a:t>
            </a:r>
            <a:r>
              <a:rPr lang="en-US" altLang="zh-CN" sz="2000" dirty="0" smtClean="0">
                <a:solidFill>
                  <a:schemeClr val="tx1"/>
                </a:solidFill>
              </a:rPr>
              <a:t>6</a:t>
            </a:r>
            <a:r>
              <a:rPr lang="zh-CN" altLang="en-US" sz="2000" dirty="0" smtClean="0">
                <a:solidFill>
                  <a:schemeClr val="tx1"/>
                </a:solidFill>
              </a:rPr>
              <a:t>位原码、阶用</a:t>
            </a:r>
            <a:r>
              <a:rPr lang="en-US" altLang="zh-CN" sz="2000" dirty="0" smtClean="0">
                <a:solidFill>
                  <a:schemeClr val="tx1"/>
                </a:solidFill>
              </a:rPr>
              <a:t>4</a:t>
            </a:r>
            <a:r>
              <a:rPr lang="zh-CN" altLang="en-US" sz="2000" dirty="0" smtClean="0">
                <a:solidFill>
                  <a:schemeClr val="tx1"/>
                </a:solidFill>
              </a:rPr>
              <a:t>位移码表示，附加位为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位，采用单</a:t>
            </a:r>
            <a:r>
              <a:rPr lang="zh-CN" altLang="en-US" sz="2000" dirty="0">
                <a:solidFill>
                  <a:schemeClr val="tx1"/>
                </a:solidFill>
              </a:rPr>
              <a:t>符号位</a:t>
            </a:r>
            <a:r>
              <a:rPr lang="zh-CN" altLang="en-US" sz="2000" dirty="0" smtClean="0">
                <a:solidFill>
                  <a:schemeClr val="tx1"/>
                </a:solidFill>
              </a:rPr>
              <a:t>运算，尾数采用舍入</a:t>
            </a:r>
            <a:r>
              <a:rPr lang="zh-CN" altLang="en-US" sz="2000" dirty="0">
                <a:solidFill>
                  <a:schemeClr val="tx1"/>
                </a:solidFill>
              </a:rPr>
              <a:t>法</a:t>
            </a:r>
            <a:r>
              <a:rPr lang="zh-CN" altLang="en-US" sz="2000" dirty="0" smtClean="0">
                <a:solidFill>
                  <a:schemeClr val="tx1"/>
                </a:solidFill>
              </a:rPr>
              <a:t>。求</a:t>
            </a:r>
            <a:r>
              <a:rPr lang="en-US" altLang="zh-CN" sz="2000" dirty="0" smtClean="0">
                <a:solidFill>
                  <a:schemeClr val="tx1"/>
                </a:solidFill>
              </a:rPr>
              <a:t>0.11001×2</a:t>
            </a:r>
            <a:r>
              <a:rPr lang="en-US" altLang="zh-CN" sz="2000" baseline="30000" dirty="0" smtClean="0">
                <a:solidFill>
                  <a:schemeClr val="tx1"/>
                </a:solidFill>
              </a:rPr>
              <a:t>6</a:t>
            </a:r>
            <a:r>
              <a:rPr lang="zh-CN" altLang="en-US" sz="2000" dirty="0" smtClean="0">
                <a:solidFill>
                  <a:schemeClr val="tx1"/>
                </a:solidFill>
              </a:rPr>
              <a:t>－</a:t>
            </a:r>
            <a:r>
              <a:rPr lang="en-US" altLang="zh-CN" sz="2000" dirty="0" smtClean="0">
                <a:solidFill>
                  <a:schemeClr val="tx1"/>
                </a:solidFill>
              </a:rPr>
              <a:t>0.10101×2</a:t>
            </a:r>
            <a:r>
              <a:rPr lang="en-US" altLang="zh-CN" sz="2000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sz="2000" dirty="0" smtClean="0">
                <a:solidFill>
                  <a:schemeClr val="tx1"/>
                </a:solidFill>
              </a:rPr>
              <a:t>的浮点数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AutoShape 29"/>
          <p:cNvSpPr/>
          <p:nvPr/>
        </p:nvSpPr>
        <p:spPr bwMode="auto">
          <a:xfrm>
            <a:off x="7740480" y="4401136"/>
            <a:ext cx="1152000" cy="252000"/>
          </a:xfrm>
          <a:prstGeom prst="borderCallout2">
            <a:avLst>
              <a:gd name="adj1" fmla="val 52165"/>
              <a:gd name="adj2" fmla="val 428"/>
              <a:gd name="adj3" fmla="val 53342"/>
              <a:gd name="adj4" fmla="val -16329"/>
              <a:gd name="adj5" fmla="val -184346"/>
              <a:gd name="adj6" fmla="val -3188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查表舍入法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96464" y="2132856"/>
            <a:ext cx="7380000" cy="1492250"/>
          </a:xfrm>
          <a:prstGeom prst="rect">
            <a:avLst/>
          </a:prstGeom>
          <a:ln w="12700">
            <a:solidFill>
              <a:srgbClr val="FF3399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教材</a:t>
            </a:r>
            <a:r>
              <a:rPr lang="en-US" altLang="zh-CN" sz="1600" dirty="0">
                <a:solidFill>
                  <a:schemeClr val="tx1"/>
                </a:solidFill>
              </a:rPr>
              <a:t>P76</a:t>
            </a:r>
            <a:r>
              <a:rPr lang="zh-CN" altLang="en-US" sz="1600" dirty="0">
                <a:solidFill>
                  <a:schemeClr val="tx1"/>
                </a:solidFill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</a:rPr>
              <a:t>17</a:t>
            </a:r>
            <a:r>
              <a:rPr lang="zh-CN" altLang="en-US" sz="1600" dirty="0">
                <a:solidFill>
                  <a:schemeClr val="tx1"/>
                </a:solidFill>
              </a:rPr>
              <a:t>行那一段</a:t>
            </a:r>
            <a:r>
              <a:rPr lang="zh-CN" altLang="en-US" sz="1600" dirty="0" smtClean="0">
                <a:solidFill>
                  <a:schemeClr val="tx1"/>
                </a:solidFill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</a:rPr>
              <a:t>说明的</a:t>
            </a:r>
            <a:r>
              <a:rPr lang="zh-CN" altLang="en-US" sz="1600" dirty="0" smtClean="0">
                <a:solidFill>
                  <a:schemeClr val="tx1"/>
                </a:solidFill>
              </a:rPr>
              <a:t>是</a:t>
            </a:r>
            <a:r>
              <a:rPr lang="zh-CN" altLang="en-US" sz="1600" u="sng" dirty="0" smtClean="0">
                <a:solidFill>
                  <a:srgbClr val="0070C0"/>
                </a:solidFill>
              </a:rPr>
              <a:t>基于机器</a:t>
            </a:r>
            <a:r>
              <a:rPr lang="zh-CN" altLang="en-US" sz="1600" u="sng" dirty="0">
                <a:solidFill>
                  <a:srgbClr val="0070C0"/>
                </a:solidFill>
              </a:rPr>
              <a:t>数舍入</a:t>
            </a:r>
            <a:r>
              <a:rPr lang="zh-CN" altLang="en-US" sz="1600" dirty="0">
                <a:solidFill>
                  <a:schemeClr val="tx1"/>
                </a:solidFill>
              </a:rPr>
              <a:t>的方法，</a:t>
            </a:r>
            <a:r>
              <a:rPr lang="zh-CN" altLang="en-US" sz="1600" dirty="0">
                <a:solidFill>
                  <a:srgbClr val="FF3399"/>
                </a:solidFill>
              </a:rPr>
              <a:t>更正如下</a:t>
            </a:r>
            <a:r>
              <a:rPr lang="zh-CN" altLang="en-US" sz="1600" dirty="0">
                <a:solidFill>
                  <a:schemeClr val="tx1"/>
                </a:solidFill>
              </a:rPr>
              <a:t>：</a:t>
            </a:r>
            <a:endParaRPr lang="en-US" altLang="zh-CN" sz="1600" dirty="0"/>
          </a:p>
          <a:p>
            <a:pPr>
              <a:lnSpc>
                <a:spcPct val="114000"/>
              </a:lnSpc>
            </a:pPr>
            <a:r>
              <a:rPr lang="zh-CN" altLang="zh-CN" sz="1600" dirty="0" smtClean="0">
                <a:solidFill>
                  <a:schemeClr val="tx1"/>
                </a:solidFill>
              </a:rPr>
              <a:t>由于负数</a:t>
            </a:r>
            <a:r>
              <a:rPr lang="zh-CN" altLang="en-US" sz="1600" dirty="0" smtClean="0">
                <a:solidFill>
                  <a:srgbClr val="C00000"/>
                </a:solidFill>
              </a:rPr>
              <a:t>机器数</a:t>
            </a:r>
            <a:r>
              <a:rPr lang="zh-CN" altLang="zh-CN" sz="1600" dirty="0" smtClean="0">
                <a:solidFill>
                  <a:schemeClr val="tx1"/>
                </a:solidFill>
              </a:rPr>
              <a:t>的舍使绝对值变大、入使绝对值变小，为了针对真值舍入，负数</a:t>
            </a:r>
            <a:r>
              <a:rPr lang="zh-CN" altLang="en-US" sz="1600" dirty="0" smtClean="0">
                <a:solidFill>
                  <a:srgbClr val="C00000"/>
                </a:solidFill>
              </a:rPr>
              <a:t>机器数</a:t>
            </a:r>
            <a:r>
              <a:rPr lang="zh-CN" altLang="zh-CN" sz="1600" dirty="0" smtClean="0">
                <a:solidFill>
                  <a:schemeClr val="tx1"/>
                </a:solidFill>
              </a:rPr>
              <a:t>采用</a:t>
            </a:r>
            <a:r>
              <a:rPr lang="zh-CN" altLang="zh-CN" sz="1600" dirty="0">
                <a:solidFill>
                  <a:schemeClr val="tx1"/>
                </a:solidFill>
              </a:rPr>
              <a:t>如下规则：①所有位全为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时，不舍不入；②最高位为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、其余位不全为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时，或最高位为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zh-CN" sz="1600" dirty="0">
                <a:solidFill>
                  <a:schemeClr val="tx1"/>
                </a:solidFill>
              </a:rPr>
              <a:t>、其余位全为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</a:t>
            </a:r>
            <a:r>
              <a:rPr lang="zh-CN" altLang="zh-CN" sz="1600" dirty="0" smtClean="0">
                <a:solidFill>
                  <a:schemeClr val="tx1"/>
                </a:solidFill>
              </a:rPr>
              <a:t>进行</a:t>
            </a:r>
            <a:r>
              <a:rPr lang="zh-CN" altLang="en-US" sz="1600" dirty="0" smtClean="0">
                <a:solidFill>
                  <a:schemeClr val="tx1"/>
                </a:solidFill>
              </a:rPr>
              <a:t>舍</a:t>
            </a:r>
            <a:r>
              <a:rPr lang="zh-CN" altLang="zh-CN" sz="1600" dirty="0" smtClean="0">
                <a:solidFill>
                  <a:schemeClr val="tx1"/>
                </a:solidFill>
              </a:rPr>
              <a:t>处理</a:t>
            </a:r>
            <a:r>
              <a:rPr lang="zh-CN" altLang="zh-CN" sz="1600" dirty="0">
                <a:solidFill>
                  <a:schemeClr val="tx1"/>
                </a:solidFill>
              </a:rPr>
              <a:t>；③最高位为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zh-CN" sz="1600" dirty="0">
                <a:solidFill>
                  <a:schemeClr val="tx1"/>
                </a:solidFill>
              </a:rPr>
              <a:t>、其余位不全为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</a:t>
            </a:r>
            <a:r>
              <a:rPr lang="zh-CN" altLang="zh-CN" sz="1600" dirty="0" smtClean="0">
                <a:solidFill>
                  <a:schemeClr val="tx1"/>
                </a:solidFill>
              </a:rPr>
              <a:t>进行</a:t>
            </a:r>
            <a:r>
              <a:rPr lang="zh-CN" altLang="en-US" sz="1600" dirty="0" smtClean="0">
                <a:solidFill>
                  <a:schemeClr val="tx1"/>
                </a:solidFill>
              </a:rPr>
              <a:t>入</a:t>
            </a:r>
            <a:r>
              <a:rPr lang="zh-CN" altLang="zh-CN" sz="1600" dirty="0" smtClean="0">
                <a:solidFill>
                  <a:schemeClr val="tx1"/>
                </a:solidFill>
              </a:rPr>
              <a:t>处理</a:t>
            </a:r>
            <a:r>
              <a:rPr lang="zh-CN" altLang="zh-CN" sz="1600" dirty="0">
                <a:solidFill>
                  <a:schemeClr val="tx1"/>
                </a:solidFill>
              </a:rPr>
              <a:t>。就是说</a:t>
            </a:r>
            <a:r>
              <a:rPr lang="zh-CN" altLang="zh-CN" sz="1600" dirty="0" smtClean="0">
                <a:solidFill>
                  <a:schemeClr val="tx1"/>
                </a:solidFill>
              </a:rPr>
              <a:t>，</a:t>
            </a:r>
            <a:r>
              <a:rPr lang="zh-CN" altLang="en-US" sz="1600" dirty="0">
                <a:solidFill>
                  <a:srgbClr val="C00000"/>
                </a:solidFill>
              </a:rPr>
              <a:t>附加位机器数</a:t>
            </a:r>
            <a:r>
              <a:rPr lang="zh-CN" altLang="zh-CN" sz="1600" dirty="0" smtClean="0">
                <a:solidFill>
                  <a:schemeClr val="tx1"/>
                </a:solidFill>
              </a:rPr>
              <a:t>在</a:t>
            </a:r>
            <a:r>
              <a:rPr lang="en-US" altLang="zh-CN" sz="1600" dirty="0" smtClean="0">
                <a:solidFill>
                  <a:srgbClr val="C00000"/>
                </a:solidFill>
              </a:rPr>
              <a:t>01/10</a:t>
            </a:r>
            <a:r>
              <a:rPr lang="zh-CN" altLang="zh-CN" sz="1600" dirty="0" smtClean="0">
                <a:solidFill>
                  <a:schemeClr val="tx1"/>
                </a:solidFill>
              </a:rPr>
              <a:t>时</a:t>
            </a:r>
            <a:r>
              <a:rPr lang="zh-CN" altLang="zh-CN" sz="1600" dirty="0">
                <a:solidFill>
                  <a:schemeClr val="tx1"/>
                </a:solidFill>
              </a:rPr>
              <a:t>舍</a:t>
            </a:r>
            <a:r>
              <a:rPr lang="zh-CN" altLang="zh-CN" sz="1600" dirty="0" smtClean="0">
                <a:solidFill>
                  <a:schemeClr val="tx1"/>
                </a:solidFill>
              </a:rPr>
              <a:t>、</a:t>
            </a:r>
            <a:r>
              <a:rPr lang="en-US" altLang="zh-CN" sz="1600" smtClean="0">
                <a:solidFill>
                  <a:srgbClr val="C00000"/>
                </a:solidFill>
              </a:rPr>
              <a:t>11</a:t>
            </a:r>
            <a:r>
              <a:rPr lang="zh-CN" altLang="zh-CN" sz="1600" smtClean="0">
                <a:solidFill>
                  <a:schemeClr val="tx1"/>
                </a:solidFill>
              </a:rPr>
              <a:t>时</a:t>
            </a:r>
            <a:r>
              <a:rPr lang="zh-CN" altLang="zh-CN" sz="1600" dirty="0">
                <a:solidFill>
                  <a:schemeClr val="tx1"/>
                </a:solidFill>
              </a:rPr>
              <a:t>入、</a:t>
            </a:r>
            <a:r>
              <a:rPr lang="en-US" altLang="zh-CN" sz="1600" dirty="0" smtClean="0">
                <a:solidFill>
                  <a:schemeClr val="tx1"/>
                </a:solidFill>
              </a:rPr>
              <a:t>0</a:t>
            </a:r>
            <a:r>
              <a:rPr lang="en-US" altLang="zh-CN" sz="1600" dirty="0" smtClean="0">
                <a:solidFill>
                  <a:srgbClr val="C00000"/>
                </a:solidFill>
              </a:rPr>
              <a:t>0</a:t>
            </a:r>
            <a:r>
              <a:rPr lang="zh-CN" altLang="zh-CN" sz="1600" dirty="0" smtClean="0">
                <a:solidFill>
                  <a:schemeClr val="tx1"/>
                </a:solidFill>
              </a:rPr>
              <a:t>时</a:t>
            </a:r>
            <a:r>
              <a:rPr lang="zh-CN" altLang="zh-CN" sz="1600" dirty="0">
                <a:solidFill>
                  <a:schemeClr val="tx1"/>
                </a:solidFill>
              </a:rPr>
              <a:t>弃。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020272" y="692688"/>
            <a:ext cx="2016056" cy="576072"/>
            <a:chOff x="7020272" y="692688"/>
            <a:chExt cx="2016056" cy="576072"/>
          </a:xfrm>
        </p:grpSpPr>
        <p:cxnSp>
          <p:nvCxnSpPr>
            <p:cNvPr id="34" name="直接连接符 33"/>
            <p:cNvCxnSpPr/>
            <p:nvPr/>
          </p:nvCxnSpPr>
          <p:spPr bwMode="auto">
            <a:xfrm>
              <a:off x="7524328" y="836760"/>
              <a:ext cx="151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 flipV="1">
              <a:off x="7704096" y="692712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 bwMode="auto">
            <a:xfrm flipV="1">
              <a:off x="8820472" y="69268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28"/>
            <p:cNvSpPr txBox="1">
              <a:spLocks noChangeArrowheads="1"/>
            </p:cNvSpPr>
            <p:nvPr/>
          </p:nvSpPr>
          <p:spPr bwMode="auto">
            <a:xfrm>
              <a:off x="7020272" y="836760"/>
              <a:ext cx="2016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真值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-0.11        -0.10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补码 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101  101:</a:t>
              </a:r>
              <a:r>
                <a:rPr lang="en-US" altLang="zh-CN" sz="1400" dirty="0" smtClean="0">
                  <a:solidFill>
                    <a:srgbClr val="C00000"/>
                  </a:solidFill>
                </a:rPr>
                <a:t>10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110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 bwMode="auto">
            <a:xfrm flipV="1">
              <a:off x="8244176" y="72876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V="1">
              <a:off x="8532440" y="728712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 flipV="1">
              <a:off x="7956376" y="728712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8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22" grpId="0" bldLvl="0" animBg="1"/>
      <p:bldP spid="32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F046-C5DA-4321-8B0D-6634E89CDC53}" type="slidenum">
              <a:rPr lang="en-US" altLang="zh-CN"/>
            </a:fld>
            <a:endParaRPr lang="en-US" altLang="zh-CN"/>
          </a:p>
        </p:txBody>
      </p:sp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179388" y="404664"/>
            <a:ext cx="3672651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方法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结构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5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51720" y="1484784"/>
            <a:ext cx="5760488" cy="4320480"/>
            <a:chOff x="2051720" y="1484784"/>
            <a:chExt cx="5760488" cy="4320480"/>
          </a:xfrm>
        </p:grpSpPr>
        <p:sp>
          <p:nvSpPr>
            <p:cNvPr id="111" name="Text Box 128"/>
            <p:cNvSpPr txBox="1">
              <a:spLocks noChangeArrowheads="1"/>
            </p:cNvSpPr>
            <p:nvPr/>
          </p:nvSpPr>
          <p:spPr bwMode="auto">
            <a:xfrm>
              <a:off x="2123728" y="2853000"/>
              <a:ext cx="180000" cy="576000"/>
            </a:xfrm>
            <a:prstGeom prst="rect">
              <a:avLst/>
            </a:prstGeom>
            <a:solidFill>
              <a:srgbClr val="CCFFFF"/>
            </a:solidFill>
            <a:ln w="15875">
              <a:noFill/>
              <a:miter lim="800000"/>
            </a:ln>
            <a:effectLst/>
          </p:spPr>
          <p:txBody>
            <a:bodyPr vert="eaVert"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结果阶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 Box 128"/>
            <p:cNvSpPr txBox="1">
              <a:spLocks noChangeArrowheads="1"/>
            </p:cNvSpPr>
            <p:nvPr/>
          </p:nvSpPr>
          <p:spPr bwMode="auto">
            <a:xfrm>
              <a:off x="4896120" y="3213000"/>
              <a:ext cx="756000" cy="216000"/>
            </a:xfrm>
            <a:prstGeom prst="rect">
              <a:avLst/>
            </a:prstGeom>
            <a:solidFill>
              <a:srgbClr val="CCFFFF"/>
            </a:solidFill>
            <a:ln w="15875">
              <a:noFill/>
              <a:miter lim="800000"/>
            </a:ln>
            <a:effectLst/>
          </p:spPr>
          <p:txBody>
            <a:bodyPr vert="horz"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小阶尾数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>
              <a:off x="2987792" y="1700808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Line 121"/>
            <p:cNvSpPr>
              <a:spLocks noChangeShapeType="1"/>
            </p:cNvSpPr>
            <p:nvPr/>
          </p:nvSpPr>
          <p:spPr bwMode="auto">
            <a:xfrm>
              <a:off x="5003848" y="170080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80" name="直接箭头连接符 79"/>
            <p:cNvCxnSpPr/>
            <p:nvPr/>
          </p:nvCxnSpPr>
          <p:spPr bwMode="auto">
            <a:xfrm>
              <a:off x="3995784" y="53012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1" name="Text Box 19"/>
            <p:cNvSpPr txBox="1">
              <a:spLocks noChangeArrowheads="1"/>
            </p:cNvSpPr>
            <p:nvPr/>
          </p:nvSpPr>
          <p:spPr bwMode="auto">
            <a:xfrm>
              <a:off x="3203784" y="148478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2" name="Text Box 21"/>
            <p:cNvSpPr txBox="1">
              <a:spLocks noChangeArrowheads="1"/>
            </p:cNvSpPr>
            <p:nvPr/>
          </p:nvSpPr>
          <p:spPr bwMode="auto">
            <a:xfrm>
              <a:off x="2627720" y="148478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3" name="Text Box 22"/>
            <p:cNvSpPr txBox="1">
              <a:spLocks noChangeArrowheads="1"/>
            </p:cNvSpPr>
            <p:nvPr/>
          </p:nvSpPr>
          <p:spPr bwMode="auto">
            <a:xfrm>
              <a:off x="2339720" y="148478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4" name="Text Box 19"/>
            <p:cNvSpPr txBox="1">
              <a:spLocks noChangeArrowheads="1"/>
            </p:cNvSpPr>
            <p:nvPr/>
          </p:nvSpPr>
          <p:spPr bwMode="auto">
            <a:xfrm>
              <a:off x="5292016" y="148478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5" name="Text Box 21"/>
            <p:cNvSpPr txBox="1">
              <a:spLocks noChangeArrowheads="1"/>
            </p:cNvSpPr>
            <p:nvPr/>
          </p:nvSpPr>
          <p:spPr bwMode="auto">
            <a:xfrm>
              <a:off x="4715952" y="148478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6" name="Text Box 22"/>
            <p:cNvSpPr txBox="1">
              <a:spLocks noChangeArrowheads="1"/>
            </p:cNvSpPr>
            <p:nvPr/>
          </p:nvSpPr>
          <p:spPr bwMode="auto">
            <a:xfrm>
              <a:off x="4427952" y="148478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7" name="Line 121"/>
            <p:cNvSpPr>
              <a:spLocks noChangeShapeType="1"/>
            </p:cNvSpPr>
            <p:nvPr/>
          </p:nvSpPr>
          <p:spPr bwMode="auto">
            <a:xfrm>
              <a:off x="5868112" y="1700808"/>
              <a:ext cx="0" cy="72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88" name="Line 121"/>
            <p:cNvSpPr>
              <a:spLocks noChangeShapeType="1"/>
            </p:cNvSpPr>
            <p:nvPr/>
          </p:nvSpPr>
          <p:spPr bwMode="auto">
            <a:xfrm flipH="1" flipV="1">
              <a:off x="2483792" y="1844824"/>
              <a:ext cx="252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>
              <a:off x="3419840" y="184484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94" name="流程图: 手动操作 93"/>
            <p:cNvSpPr/>
            <p:nvPr/>
          </p:nvSpPr>
          <p:spPr bwMode="auto">
            <a:xfrm>
              <a:off x="2771768" y="2060880"/>
              <a:ext cx="864000" cy="288000"/>
            </a:xfrm>
            <a:prstGeom prst="flowChartManualOperation">
              <a:avLst/>
            </a:prstGeom>
            <a:solidFill>
              <a:srgbClr val="FFCC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5" name="Line 121"/>
            <p:cNvSpPr>
              <a:spLocks noChangeShapeType="1"/>
            </p:cNvSpPr>
            <p:nvPr/>
          </p:nvSpPr>
          <p:spPr bwMode="auto">
            <a:xfrm>
              <a:off x="3851888" y="1695197"/>
              <a:ext cx="0" cy="57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 bwMode="auto">
            <a:xfrm>
              <a:off x="2987904" y="3068992"/>
              <a:ext cx="1008000" cy="288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 rtlCol="0" anchor="ctr"/>
            <a:lstStyle/>
            <a:p>
              <a:pPr algn="ctr"/>
              <a:r>
                <a:rPr lang="zh-CN" altLang="en-US" sz="1600" dirty="0" smtClean="0">
                  <a:solidFill>
                    <a:srgbClr val="FF3399"/>
                  </a:solidFill>
                </a:rPr>
                <a:t>控制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97" name="Text Box 21"/>
            <p:cNvSpPr txBox="1">
              <a:spLocks noChangeArrowheads="1"/>
            </p:cNvSpPr>
            <p:nvPr/>
          </p:nvSpPr>
          <p:spPr bwMode="auto">
            <a:xfrm>
              <a:off x="2915720" y="256492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阶差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 bwMode="auto">
            <a:xfrm>
              <a:off x="3203816" y="234892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9" name="流程图: 手动操作 98"/>
            <p:cNvSpPr/>
            <p:nvPr/>
          </p:nvSpPr>
          <p:spPr bwMode="auto">
            <a:xfrm>
              <a:off x="2051720" y="256490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/>
          </p:nvCxnSpPr>
          <p:spPr bwMode="auto">
            <a:xfrm>
              <a:off x="3203816" y="2780952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Line 121"/>
            <p:cNvSpPr>
              <a:spLocks noChangeShapeType="1"/>
            </p:cNvSpPr>
            <p:nvPr/>
          </p:nvSpPr>
          <p:spPr bwMode="auto">
            <a:xfrm>
              <a:off x="2339720" y="2780904"/>
              <a:ext cx="0" cy="11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02" name="直接箭头连接符 101"/>
            <p:cNvCxnSpPr/>
            <p:nvPr/>
          </p:nvCxnSpPr>
          <p:spPr bwMode="auto">
            <a:xfrm>
              <a:off x="2484255" y="1839197"/>
              <a:ext cx="0" cy="72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3" name="Line 121"/>
            <p:cNvSpPr>
              <a:spLocks noChangeShapeType="1"/>
            </p:cNvSpPr>
            <p:nvPr/>
          </p:nvSpPr>
          <p:spPr bwMode="auto">
            <a:xfrm flipH="1" flipV="1">
              <a:off x="2195792" y="1758922"/>
              <a:ext cx="79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04" name="直接箭头连接符 103"/>
            <p:cNvCxnSpPr/>
            <p:nvPr/>
          </p:nvCxnSpPr>
          <p:spPr bwMode="auto">
            <a:xfrm>
              <a:off x="2195704" y="1772896"/>
              <a:ext cx="0" cy="79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5" name="流程图: 手动操作 104"/>
            <p:cNvSpPr/>
            <p:nvPr/>
          </p:nvSpPr>
          <p:spPr bwMode="auto">
            <a:xfrm>
              <a:off x="4572176" y="256492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6" name="流程图: 手动操作 105"/>
            <p:cNvSpPr/>
            <p:nvPr/>
          </p:nvSpPr>
          <p:spPr bwMode="auto">
            <a:xfrm>
              <a:off x="5436208" y="256492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07" name="直接箭头连接符 106"/>
            <p:cNvCxnSpPr/>
            <p:nvPr/>
          </p:nvCxnSpPr>
          <p:spPr bwMode="auto">
            <a:xfrm>
              <a:off x="4860144" y="278096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5724176" y="2780968"/>
              <a:ext cx="0" cy="64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Line 121"/>
            <p:cNvSpPr>
              <a:spLocks noChangeShapeType="1"/>
            </p:cNvSpPr>
            <p:nvPr/>
          </p:nvSpPr>
          <p:spPr bwMode="auto">
            <a:xfrm flipH="1" flipV="1">
              <a:off x="5004160" y="2420856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10" name="直接箭头连接符 109"/>
            <p:cNvCxnSpPr/>
            <p:nvPr/>
          </p:nvCxnSpPr>
          <p:spPr bwMode="auto">
            <a:xfrm>
              <a:off x="5004160" y="242087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Line 121"/>
            <p:cNvSpPr>
              <a:spLocks noChangeShapeType="1"/>
            </p:cNvSpPr>
            <p:nvPr/>
          </p:nvSpPr>
          <p:spPr bwMode="auto">
            <a:xfrm>
              <a:off x="3851888" y="2276840"/>
              <a:ext cx="172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>
              <a:off x="5580160" y="22768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5868192" y="242087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4716128" y="22768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17" name="Text Box 21"/>
            <p:cNvSpPr txBox="1">
              <a:spLocks noChangeArrowheads="1"/>
            </p:cNvSpPr>
            <p:nvPr/>
          </p:nvSpPr>
          <p:spPr bwMode="auto">
            <a:xfrm>
              <a:off x="4572176" y="2996992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右移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8" name="直接箭头连接符 117"/>
            <p:cNvCxnSpPr/>
            <p:nvPr/>
          </p:nvCxnSpPr>
          <p:spPr bwMode="auto">
            <a:xfrm>
              <a:off x="4860144" y="321296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9" name="流程图: 手动操作 118"/>
            <p:cNvSpPr/>
            <p:nvPr/>
          </p:nvSpPr>
          <p:spPr bwMode="auto">
            <a:xfrm>
              <a:off x="4644120" y="3429000"/>
              <a:ext cx="1296080" cy="288000"/>
            </a:xfrm>
            <a:prstGeom prst="flowChartManualOperation">
              <a:avLst/>
            </a:prstGeom>
            <a:solidFill>
              <a:srgbClr val="FFCC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大</a:t>
              </a: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 bwMode="auto">
            <a:xfrm>
              <a:off x="5292048" y="3717024"/>
              <a:ext cx="0" cy="43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1" name="流程图: 手动操作 120"/>
            <p:cNvSpPr/>
            <p:nvPr/>
          </p:nvSpPr>
          <p:spPr bwMode="auto">
            <a:xfrm>
              <a:off x="5148096" y="4149128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2" name="Line 121"/>
            <p:cNvSpPr>
              <a:spLocks noChangeShapeType="1"/>
            </p:cNvSpPr>
            <p:nvPr/>
          </p:nvSpPr>
          <p:spPr bwMode="auto">
            <a:xfrm>
              <a:off x="2339720" y="3933056"/>
              <a:ext cx="79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23" name="直接箭头连接符 122"/>
            <p:cNvCxnSpPr/>
            <p:nvPr/>
          </p:nvCxnSpPr>
          <p:spPr bwMode="auto">
            <a:xfrm>
              <a:off x="5580080" y="3933056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24" name="流程图: 手动操作 123"/>
            <p:cNvSpPr/>
            <p:nvPr/>
          </p:nvSpPr>
          <p:spPr bwMode="auto">
            <a:xfrm>
              <a:off x="2987736" y="41491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Text Box 21"/>
            <p:cNvSpPr txBox="1">
              <a:spLocks noChangeArrowheads="1"/>
            </p:cNvSpPr>
            <p:nvPr/>
          </p:nvSpPr>
          <p:spPr bwMode="auto">
            <a:xfrm>
              <a:off x="4860008" y="4581152"/>
              <a:ext cx="115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左移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右移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6" name="直接箭头连接符 98"/>
            <p:cNvCxnSpPr/>
            <p:nvPr/>
          </p:nvCxnSpPr>
          <p:spPr bwMode="auto">
            <a:xfrm rot="10800000" flipV="1">
              <a:off x="4643952" y="4941183"/>
              <a:ext cx="792000" cy="144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21"/>
            <p:cNvSpPr txBox="1">
              <a:spLocks noChangeArrowheads="1"/>
            </p:cNvSpPr>
            <p:nvPr/>
          </p:nvSpPr>
          <p:spPr bwMode="auto">
            <a:xfrm>
              <a:off x="2843656" y="4581184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阶码增减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直接箭头连接符 127"/>
            <p:cNvCxnSpPr/>
            <p:nvPr/>
          </p:nvCxnSpPr>
          <p:spPr bwMode="auto">
            <a:xfrm>
              <a:off x="3275704" y="436516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9" name="Line 121"/>
            <p:cNvSpPr>
              <a:spLocks noChangeShapeType="1"/>
            </p:cNvSpPr>
            <p:nvPr/>
          </p:nvSpPr>
          <p:spPr bwMode="auto">
            <a:xfrm flipH="1" flipV="1">
              <a:off x="3780048" y="3789008"/>
              <a:ext cx="151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30" name="Line 121"/>
            <p:cNvSpPr>
              <a:spLocks noChangeShapeType="1"/>
            </p:cNvSpPr>
            <p:nvPr/>
          </p:nvSpPr>
          <p:spPr bwMode="auto">
            <a:xfrm flipH="1" flipV="1">
              <a:off x="3636168" y="3933056"/>
              <a:ext cx="26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none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31" name="直接箭头连接符 130"/>
            <p:cNvCxnSpPr/>
            <p:nvPr/>
          </p:nvCxnSpPr>
          <p:spPr bwMode="auto">
            <a:xfrm>
              <a:off x="3131688" y="393308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>
              <a:off x="3419720" y="37890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21"/>
            <p:cNvSpPr txBox="1">
              <a:spLocks noChangeArrowheads="1"/>
            </p:cNvSpPr>
            <p:nvPr/>
          </p:nvSpPr>
          <p:spPr bwMode="auto">
            <a:xfrm>
              <a:off x="3779880" y="5085240"/>
              <a:ext cx="108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舍入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>
              <a:off x="5436064" y="4365104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4644120" y="5301296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6" name="Text Box 19"/>
            <p:cNvSpPr txBox="1">
              <a:spLocks noChangeArrowheads="1"/>
            </p:cNvSpPr>
            <p:nvPr/>
          </p:nvSpPr>
          <p:spPr bwMode="auto">
            <a:xfrm>
              <a:off x="4211920" y="558926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37" name="Text Box 21"/>
            <p:cNvSpPr txBox="1">
              <a:spLocks noChangeArrowheads="1"/>
            </p:cNvSpPr>
            <p:nvPr/>
          </p:nvSpPr>
          <p:spPr bwMode="auto">
            <a:xfrm>
              <a:off x="3635856" y="558926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38" name="Text Box 22"/>
            <p:cNvSpPr txBox="1">
              <a:spLocks noChangeArrowheads="1"/>
            </p:cNvSpPr>
            <p:nvPr/>
          </p:nvSpPr>
          <p:spPr bwMode="auto">
            <a:xfrm>
              <a:off x="3347856" y="558926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39" name="Line 121"/>
            <p:cNvSpPr>
              <a:spLocks noChangeShapeType="1"/>
            </p:cNvSpPr>
            <p:nvPr/>
          </p:nvSpPr>
          <p:spPr bwMode="auto">
            <a:xfrm>
              <a:off x="5436064" y="479720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0" name="Line 121"/>
            <p:cNvSpPr>
              <a:spLocks noChangeShapeType="1"/>
            </p:cNvSpPr>
            <p:nvPr/>
          </p:nvSpPr>
          <p:spPr bwMode="auto">
            <a:xfrm>
              <a:off x="4644160" y="5445224"/>
              <a:ext cx="165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1" name="Line 121"/>
            <p:cNvSpPr>
              <a:spLocks noChangeShapeType="1"/>
            </p:cNvSpPr>
            <p:nvPr/>
          </p:nvSpPr>
          <p:spPr bwMode="auto">
            <a:xfrm flipH="1">
              <a:off x="6299772" y="3933224"/>
              <a:ext cx="388" cy="151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2" name="Line 121"/>
            <p:cNvSpPr>
              <a:spLocks noChangeShapeType="1"/>
            </p:cNvSpPr>
            <p:nvPr/>
          </p:nvSpPr>
          <p:spPr bwMode="auto">
            <a:xfrm flipH="1">
              <a:off x="2195704" y="5445224"/>
              <a:ext cx="180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3" name="Line 121"/>
            <p:cNvSpPr>
              <a:spLocks noChangeShapeType="1"/>
            </p:cNvSpPr>
            <p:nvPr/>
          </p:nvSpPr>
          <p:spPr bwMode="auto">
            <a:xfrm>
              <a:off x="2195704" y="3789040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4" name="Line 121"/>
            <p:cNvSpPr>
              <a:spLocks noChangeShapeType="1"/>
            </p:cNvSpPr>
            <p:nvPr/>
          </p:nvSpPr>
          <p:spPr bwMode="auto">
            <a:xfrm flipH="1">
              <a:off x="2204192" y="3789224"/>
              <a:ext cx="388" cy="165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45" name="直接箭头连接符 144"/>
            <p:cNvCxnSpPr/>
            <p:nvPr/>
          </p:nvCxnSpPr>
          <p:spPr bwMode="auto">
            <a:xfrm>
              <a:off x="3707872" y="2708936"/>
              <a:ext cx="93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5292072" y="270893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47" name="Line 121"/>
            <p:cNvSpPr>
              <a:spLocks noChangeShapeType="1"/>
            </p:cNvSpPr>
            <p:nvPr/>
          </p:nvSpPr>
          <p:spPr bwMode="auto">
            <a:xfrm>
              <a:off x="5292048" y="2708952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66" name="Line 121"/>
            <p:cNvSpPr>
              <a:spLocks noChangeShapeType="1"/>
            </p:cNvSpPr>
            <p:nvPr/>
          </p:nvSpPr>
          <p:spPr bwMode="auto">
            <a:xfrm flipH="1" flipV="1">
              <a:off x="3851888" y="2852936"/>
              <a:ext cx="14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68" name="Line 121"/>
            <p:cNvSpPr>
              <a:spLocks noChangeShapeType="1"/>
            </p:cNvSpPr>
            <p:nvPr/>
          </p:nvSpPr>
          <p:spPr bwMode="auto">
            <a:xfrm>
              <a:off x="3707872" y="2708920"/>
              <a:ext cx="0" cy="37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69" name="直接箭头连接符 168"/>
            <p:cNvCxnSpPr/>
            <p:nvPr/>
          </p:nvCxnSpPr>
          <p:spPr bwMode="auto">
            <a:xfrm flipH="1">
              <a:off x="2547448" y="2708920"/>
              <a:ext cx="15231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0" name="Line 121"/>
            <p:cNvSpPr>
              <a:spLocks noChangeShapeType="1"/>
            </p:cNvSpPr>
            <p:nvPr/>
          </p:nvSpPr>
          <p:spPr bwMode="auto">
            <a:xfrm>
              <a:off x="2699760" y="2708976"/>
              <a:ext cx="0" cy="43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71" name="直接箭头连接符 170"/>
            <p:cNvCxnSpPr/>
            <p:nvPr/>
          </p:nvCxnSpPr>
          <p:spPr bwMode="auto">
            <a:xfrm flipV="1">
              <a:off x="3779880" y="332104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71"/>
            <p:cNvCxnSpPr/>
            <p:nvPr/>
          </p:nvCxnSpPr>
          <p:spPr bwMode="auto">
            <a:xfrm flipV="1">
              <a:off x="3635864" y="3357064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>
              <a:off x="4355944" y="4293064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4" name="Line 121"/>
            <p:cNvSpPr>
              <a:spLocks noChangeShapeType="1"/>
            </p:cNvSpPr>
            <p:nvPr/>
          </p:nvSpPr>
          <p:spPr bwMode="auto">
            <a:xfrm>
              <a:off x="4355944" y="3212976"/>
              <a:ext cx="0" cy="10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75" name="直接箭头连接符 174"/>
            <p:cNvCxnSpPr/>
            <p:nvPr/>
          </p:nvCxnSpPr>
          <p:spPr bwMode="auto">
            <a:xfrm>
              <a:off x="2843680" y="429309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8" name="Line 121"/>
            <p:cNvSpPr>
              <a:spLocks noChangeShapeType="1"/>
            </p:cNvSpPr>
            <p:nvPr/>
          </p:nvSpPr>
          <p:spPr bwMode="auto">
            <a:xfrm>
              <a:off x="2843656" y="3357104"/>
              <a:ext cx="0" cy="93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79" name="Line 121"/>
            <p:cNvSpPr>
              <a:spLocks noChangeShapeType="1"/>
            </p:cNvSpPr>
            <p:nvPr/>
          </p:nvSpPr>
          <p:spPr bwMode="auto">
            <a:xfrm flipH="1" flipV="1">
              <a:off x="2699760" y="314096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1" name="Line 121"/>
            <p:cNvSpPr>
              <a:spLocks noChangeShapeType="1"/>
            </p:cNvSpPr>
            <p:nvPr/>
          </p:nvSpPr>
          <p:spPr bwMode="auto">
            <a:xfrm flipH="1" flipV="1">
              <a:off x="3995832" y="3212976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2" name="Line 121"/>
            <p:cNvSpPr>
              <a:spLocks noChangeShapeType="1"/>
            </p:cNvSpPr>
            <p:nvPr/>
          </p:nvSpPr>
          <p:spPr bwMode="auto">
            <a:xfrm flipH="1" flipV="1">
              <a:off x="2843680" y="3356992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3" name="Line 121"/>
            <p:cNvSpPr>
              <a:spLocks noChangeShapeType="1"/>
            </p:cNvSpPr>
            <p:nvPr/>
          </p:nvSpPr>
          <p:spPr bwMode="auto">
            <a:xfrm>
              <a:off x="3275783" y="4797152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84" name="直接箭头连接符 98"/>
            <p:cNvCxnSpPr/>
            <p:nvPr/>
          </p:nvCxnSpPr>
          <p:spPr bwMode="auto">
            <a:xfrm>
              <a:off x="3275784" y="4941168"/>
              <a:ext cx="720000" cy="144016"/>
            </a:xfrm>
            <a:prstGeom prst="bentConnector3">
              <a:avLst>
                <a:gd name="adj1" fmla="val 1003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5" name="直接箭头连接符 184"/>
            <p:cNvCxnSpPr/>
            <p:nvPr/>
          </p:nvCxnSpPr>
          <p:spPr bwMode="auto">
            <a:xfrm flipV="1">
              <a:off x="3923776" y="3140968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86" name="Line 121"/>
            <p:cNvSpPr>
              <a:spLocks noChangeShapeType="1"/>
            </p:cNvSpPr>
            <p:nvPr/>
          </p:nvSpPr>
          <p:spPr bwMode="auto">
            <a:xfrm>
              <a:off x="3851888" y="2852936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7" name="Text Box 128"/>
            <p:cNvSpPr txBox="1">
              <a:spLocks noChangeArrowheads="1"/>
            </p:cNvSpPr>
            <p:nvPr/>
          </p:nvSpPr>
          <p:spPr bwMode="auto">
            <a:xfrm>
              <a:off x="6732208" y="2564928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对阶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右大括号 187"/>
            <p:cNvSpPr/>
            <p:nvPr/>
          </p:nvSpPr>
          <p:spPr bwMode="auto">
            <a:xfrm>
              <a:off x="6660200" y="2060880"/>
              <a:ext cx="72000" cy="1152088"/>
            </a:xfrm>
            <a:prstGeom prst="rightBrace">
              <a:avLst>
                <a:gd name="adj1" fmla="val 28654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9" name="Text Box 128"/>
            <p:cNvSpPr txBox="1">
              <a:spLocks noChangeArrowheads="1"/>
            </p:cNvSpPr>
            <p:nvPr/>
          </p:nvSpPr>
          <p:spPr bwMode="auto">
            <a:xfrm>
              <a:off x="6732208" y="3501032"/>
              <a:ext cx="936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尾数加减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90" name="Text Box 128"/>
            <p:cNvSpPr txBox="1">
              <a:spLocks noChangeArrowheads="1"/>
            </p:cNvSpPr>
            <p:nvPr/>
          </p:nvSpPr>
          <p:spPr bwMode="auto">
            <a:xfrm>
              <a:off x="6732208" y="4581152"/>
              <a:ext cx="108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结果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规格化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91" name="Text Box 128"/>
            <p:cNvSpPr txBox="1">
              <a:spLocks noChangeArrowheads="1"/>
            </p:cNvSpPr>
            <p:nvPr/>
          </p:nvSpPr>
          <p:spPr bwMode="auto">
            <a:xfrm>
              <a:off x="6732208" y="5085208"/>
              <a:ext cx="936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结果舍入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92" name="直接箭头连接符 191"/>
            <p:cNvCxnSpPr/>
            <p:nvPr/>
          </p:nvCxnSpPr>
          <p:spPr bwMode="auto">
            <a:xfrm>
              <a:off x="2627632" y="47251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4" name="Line 121"/>
            <p:cNvSpPr>
              <a:spLocks noChangeShapeType="1"/>
            </p:cNvSpPr>
            <p:nvPr/>
          </p:nvSpPr>
          <p:spPr bwMode="auto">
            <a:xfrm>
              <a:off x="2627632" y="3285152"/>
              <a:ext cx="0" cy="144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96" name="直接箭头连接符 195"/>
            <p:cNvCxnSpPr/>
            <p:nvPr/>
          </p:nvCxnSpPr>
          <p:spPr bwMode="auto">
            <a:xfrm>
              <a:off x="4211808" y="4725144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7" name="Line 121"/>
            <p:cNvSpPr>
              <a:spLocks noChangeShapeType="1"/>
            </p:cNvSpPr>
            <p:nvPr/>
          </p:nvSpPr>
          <p:spPr bwMode="auto">
            <a:xfrm>
              <a:off x="4211808" y="3284984"/>
              <a:ext cx="0" cy="144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98" name="Line 121"/>
            <p:cNvSpPr>
              <a:spLocks noChangeShapeType="1"/>
            </p:cNvSpPr>
            <p:nvPr/>
          </p:nvSpPr>
          <p:spPr bwMode="auto">
            <a:xfrm flipH="1" flipV="1">
              <a:off x="2483680" y="3212976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99" name="Line 121"/>
            <p:cNvSpPr>
              <a:spLocks noChangeShapeType="1"/>
            </p:cNvSpPr>
            <p:nvPr/>
          </p:nvSpPr>
          <p:spPr bwMode="auto">
            <a:xfrm flipH="1" flipV="1">
              <a:off x="3923776" y="3284984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200" name="直接箭头连接符 199"/>
            <p:cNvCxnSpPr/>
            <p:nvPr/>
          </p:nvCxnSpPr>
          <p:spPr bwMode="auto">
            <a:xfrm>
              <a:off x="2483768" y="5229200"/>
              <a:ext cx="129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2" name="Line 121"/>
            <p:cNvSpPr>
              <a:spLocks noChangeShapeType="1"/>
            </p:cNvSpPr>
            <p:nvPr/>
          </p:nvSpPr>
          <p:spPr bwMode="auto">
            <a:xfrm>
              <a:off x="2483616" y="3212976"/>
              <a:ext cx="0" cy="20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203" name="Line 121"/>
            <p:cNvSpPr>
              <a:spLocks noChangeShapeType="1"/>
            </p:cNvSpPr>
            <p:nvPr/>
          </p:nvSpPr>
          <p:spPr bwMode="auto">
            <a:xfrm flipH="1" flipV="1">
              <a:off x="2627688" y="3284984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</p:grpSp>
      <p:sp>
        <p:nvSpPr>
          <p:cNvPr id="204" name="Text Box 201"/>
          <p:cNvSpPr txBox="1">
            <a:spLocks noChangeArrowheads="1"/>
          </p:cNvSpPr>
          <p:nvPr/>
        </p:nvSpPr>
        <p:spPr bwMode="auto">
          <a:xfrm>
            <a:off x="1835696" y="836712"/>
            <a:ext cx="6984776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个步骤按序进行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179388" y="332656"/>
            <a:ext cx="5688756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、浮点乘除运算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不要求，了解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运算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827584" y="836712"/>
            <a:ext cx="8064896" cy="3323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  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zh-CN" altLang="en-US" dirty="0">
                <a:solidFill>
                  <a:schemeClr val="tx1"/>
                </a:solidFill>
              </a:rPr>
              <a:t>浮点数</a:t>
            </a:r>
            <a:r>
              <a:rPr lang="en-US" altLang="zh-CN" dirty="0">
                <a:solidFill>
                  <a:schemeClr val="tx1"/>
                </a:solidFill>
              </a:rPr>
              <a:t>A=M</a:t>
            </a:r>
            <a:r>
              <a:rPr lang="en-US" altLang="zh-CN" baseline="-20000" dirty="0">
                <a:solidFill>
                  <a:schemeClr val="tx1"/>
                </a:solidFill>
              </a:rPr>
              <a:t>A</a:t>
            </a:r>
            <a:r>
              <a:rPr lang="en-US" altLang="zh-CN" dirty="0">
                <a:solidFill>
                  <a:schemeClr val="tx1"/>
                </a:solidFill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B=M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E</a:t>
            </a:r>
            <a:r>
              <a:rPr lang="en-US" altLang="zh-CN" sz="2000" baseline="28000" dirty="0" smtClean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①操作数预判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及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是否符合要求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如＝</a:t>
            </a:r>
            <a:r>
              <a:rPr lang="en-US" altLang="zh-CN" sz="1600" dirty="0" smtClean="0">
                <a:solidFill>
                  <a:schemeClr val="tx1"/>
                </a:solidFill>
              </a:rPr>
              <a:t>0</a:t>
            </a:r>
            <a:r>
              <a:rPr lang="zh-CN" altLang="en-US" sz="1600" dirty="0" smtClean="0">
                <a:solidFill>
                  <a:schemeClr val="tx1"/>
                </a:solidFill>
              </a:rPr>
              <a:t>或∞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②阶码运算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结果的阶＝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baseline="-18000" dirty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或</a:t>
            </a:r>
            <a:r>
              <a:rPr lang="en-US" altLang="zh-CN" dirty="0" smtClean="0">
                <a:solidFill>
                  <a:schemeClr val="tx1"/>
                </a:solidFill>
              </a:rPr>
              <a:t>E</a:t>
            </a:r>
            <a:r>
              <a:rPr lang="en-US" altLang="zh-CN" baseline="-18000" dirty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en-US" altLang="zh-CN" baseline="-18000" dirty="0">
                <a:solidFill>
                  <a:schemeClr val="tx1"/>
                </a:solidFill>
              </a:rPr>
              <a:t>B</a:t>
            </a:r>
            <a:endParaRPr lang="zh-CN" altLang="en-US" baseline="-18000" dirty="0">
              <a:solidFill>
                <a:schemeClr val="tx1"/>
              </a:solidFill>
            </a:endParaRPr>
          </a:p>
          <a:p>
            <a:pPr>
              <a:tabLst>
                <a:tab pos="1619250" algn="l"/>
              </a:tabLst>
            </a:pPr>
            <a:r>
              <a:rPr lang="zh-CN" altLang="en-US" dirty="0" smtClean="0">
                <a:solidFill>
                  <a:srgbClr val="990099"/>
                </a:solidFill>
              </a:rPr>
              <a:t>③尾数运算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结果</a:t>
            </a:r>
            <a:r>
              <a:rPr lang="zh-CN" altLang="en-US" dirty="0" smtClean="0">
                <a:solidFill>
                  <a:schemeClr val="tx1"/>
                </a:solidFill>
              </a:rPr>
              <a:t>的尾数＝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×M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或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÷M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B</a:t>
            </a:r>
            <a:endParaRPr lang="en-US" altLang="zh-CN" baseline="-16000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④结果规格化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使结果为</a:t>
            </a:r>
            <a:r>
              <a:rPr lang="zh-CN" altLang="en-US" dirty="0">
                <a:solidFill>
                  <a:schemeClr val="tx1"/>
                </a:solidFill>
              </a:rPr>
              <a:t>规格化数 </a:t>
            </a:r>
            <a:r>
              <a:rPr lang="zh-CN" altLang="en-US" dirty="0" smtClean="0">
                <a:solidFill>
                  <a:schemeClr val="tx1"/>
                </a:solidFill>
              </a:rPr>
              <a:t>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←同浮点加减运算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⑤尾数舍入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附加位处理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smtClean="0">
                <a:solidFill>
                  <a:srgbClr val="0070C0"/>
                </a:solidFill>
              </a:rPr>
              <a:t>  </a:t>
            </a:r>
            <a:r>
              <a:rPr lang="zh-CN" altLang="en-US" dirty="0">
                <a:solidFill>
                  <a:srgbClr val="0070C0"/>
                </a:solidFill>
              </a:rPr>
              <a:t>注</a:t>
            </a:r>
            <a:r>
              <a:rPr lang="zh-CN" altLang="en-US" dirty="0" smtClean="0">
                <a:solidFill>
                  <a:srgbClr val="0070C0"/>
                </a:solidFill>
              </a:rPr>
              <a:t>：</a:t>
            </a:r>
            <a:r>
              <a:rPr lang="zh-CN" altLang="en-US" dirty="0" smtClean="0">
                <a:solidFill>
                  <a:schemeClr val="tx1"/>
                </a:solidFill>
              </a:rPr>
              <a:t>步骤②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 smtClean="0">
                <a:solidFill>
                  <a:schemeClr val="tx1"/>
                </a:solidFill>
              </a:rPr>
              <a:t>④及⑤会改变阶，需判断溢出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179512" y="4536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000" dirty="0" smtClean="0">
                <a:solidFill>
                  <a:srgbClr val="990099"/>
                </a:solidFill>
              </a:rPr>
              <a:t>     </a:t>
            </a:r>
            <a:r>
              <a:rPr lang="zh-CN" altLang="en-US" sz="2000" dirty="0" smtClean="0">
                <a:solidFill>
                  <a:srgbClr val="990099"/>
                </a:solidFill>
              </a:rPr>
              <a:t>练习</a:t>
            </a:r>
            <a:r>
              <a:rPr lang="en-US" altLang="zh-CN" sz="2000" dirty="0" smtClean="0">
                <a:solidFill>
                  <a:srgbClr val="990099"/>
                </a:solidFill>
              </a:rPr>
              <a:t>—</a:t>
            </a:r>
            <a:r>
              <a:rPr lang="zh-CN" altLang="en-US" sz="2000" dirty="0" smtClean="0">
                <a:solidFill>
                  <a:schemeClr val="tx1"/>
                </a:solidFill>
              </a:rPr>
              <a:t>利用</a:t>
            </a:r>
            <a:r>
              <a:rPr lang="zh-CN" altLang="en-US" sz="2000" u="sng" dirty="0">
                <a:solidFill>
                  <a:schemeClr val="tx1"/>
                </a:solidFill>
              </a:rPr>
              <a:t>上述</a:t>
            </a:r>
            <a:r>
              <a:rPr lang="zh-CN" altLang="en-US" sz="2000" u="sng" dirty="0" smtClean="0">
                <a:solidFill>
                  <a:schemeClr val="tx1"/>
                </a:solidFill>
              </a:rPr>
              <a:t>器件</a:t>
            </a:r>
            <a:r>
              <a:rPr lang="zh-CN" altLang="en-US" sz="2000" dirty="0" smtClean="0">
                <a:solidFill>
                  <a:schemeClr val="tx1"/>
                </a:solidFill>
              </a:rPr>
              <a:t>及门</a:t>
            </a:r>
            <a:r>
              <a:rPr lang="zh-CN" altLang="en-US" sz="2000" dirty="0">
                <a:solidFill>
                  <a:schemeClr val="tx1"/>
                </a:solidFill>
              </a:rPr>
              <a:t>电路</a:t>
            </a:r>
            <a:r>
              <a:rPr lang="zh-CN" altLang="en-US" sz="2000" dirty="0" smtClean="0">
                <a:solidFill>
                  <a:schemeClr val="tx1"/>
                </a:solidFill>
              </a:rPr>
              <a:t>，设计如下功能电路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       ⑴</a:t>
            </a:r>
            <a:r>
              <a:rPr lang="en-US" altLang="zh-CN" dirty="0" smtClean="0">
                <a:solidFill>
                  <a:schemeClr val="tx1"/>
                </a:solidFill>
              </a:rPr>
              <a:t>                </a:t>
            </a:r>
            <a:r>
              <a:rPr lang="zh-CN" altLang="en-US" dirty="0" smtClean="0">
                <a:solidFill>
                  <a:schemeClr val="tx1"/>
                </a:solidFill>
              </a:rPr>
              <a:t>⑵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</a:t>
            </a:r>
            <a:r>
              <a:rPr lang="en-US" altLang="zh-CN" sz="2800" dirty="0" smtClean="0">
                <a:solidFill>
                  <a:schemeClr val="tx1"/>
                </a:solidFill>
              </a:rPr>
              <a:t>2.6 </a:t>
            </a:r>
            <a:r>
              <a:rPr lang="zh-CN" altLang="en-US" sz="2800" dirty="0" smtClean="0">
                <a:solidFill>
                  <a:schemeClr val="tx1"/>
                </a:solidFill>
              </a:rPr>
              <a:t>运算器的组成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一、常用数字逻辑电路</a:t>
            </a:r>
            <a:endParaRPr lang="zh-CN" altLang="en-US" sz="2400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9388" y="1763701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*组合逻辑电路：</a:t>
            </a:r>
            <a:r>
              <a:rPr lang="zh-CN" altLang="en-US" dirty="0" smtClean="0">
                <a:solidFill>
                  <a:schemeClr val="tx1"/>
                </a:solidFill>
              </a:rPr>
              <a:t>又称</a:t>
            </a:r>
            <a:r>
              <a:rPr lang="zh-CN" altLang="en-US" u="sng" dirty="0" smtClean="0">
                <a:solidFill>
                  <a:srgbClr val="990099"/>
                </a:solidFill>
              </a:rPr>
              <a:t>操作单元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zh-CN" altLang="en-US" dirty="0">
                <a:solidFill>
                  <a:schemeClr val="tx1"/>
                </a:solidFill>
              </a:rPr>
              <a:t>输出＝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输入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三态门、译码器、选择器、加法器等    </a:t>
            </a: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(P48</a:t>
            </a: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~</a:t>
            </a:r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en-US" altLang="zh-CN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59632" y="2779364"/>
          <a:ext cx="7560840" cy="170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3312368"/>
                <a:gridCol w="1728192"/>
                <a:gridCol w="1440160"/>
              </a:tblGrid>
              <a:tr h="289596">
                <a:tc>
                  <a:txBody>
                    <a:bodyPr/>
                    <a:lstStyle/>
                    <a:p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功能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输入信号线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输出信号线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三态门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输出</a:t>
                      </a:r>
                      <a:r>
                        <a:rPr lang="zh-CN" altLang="en-US" sz="2000" b="1" i="0" dirty="0" smtClean="0">
                          <a:solidFill>
                            <a:srgbClr val="990099"/>
                          </a:solidFill>
                        </a:rPr>
                        <a:t>三种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</a:t>
                      </a:r>
                      <a:endParaRPr lang="zh-CN" altLang="en-US" sz="2000" b="1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5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译码器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每个编码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都有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不同的电位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altLang="zh-CN" sz="20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</a:t>
                      </a:r>
                      <a:endParaRPr lang="zh-CN" altLang="en-US" sz="2000" b="1" kern="12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Y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7</a:t>
                      </a:r>
                      <a:r>
                        <a:rPr lang="en-US" altLang="zh-CN" sz="2000" b="1" kern="1200" dirty="0" smtClean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kern="12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Y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000" b="1" kern="1200" baseline="-160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选择器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从多个输入中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选择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一个输出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en-US" altLang="zh-CN" sz="2000" b="1" baseline="-160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en-US" altLang="zh-CN" sz="2000" b="1" baseline="-16000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altLang="en-US" sz="2000" b="1" kern="1200" baseline="-16000" dirty="0" smtClean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7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加法器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进行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全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加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运算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err="1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r>
                        <a:rPr lang="en-US" altLang="zh-CN" sz="2000" b="1" baseline="-16000" dirty="0" err="1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</a:t>
                      </a:r>
                      <a:endParaRPr lang="zh-CN" altLang="en-US" sz="2000" b="1" kern="1200" baseline="-16000" dirty="0" smtClean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err="1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r>
                        <a:rPr lang="en-US" altLang="zh-CN" sz="2000" b="1" baseline="-16000" dirty="0" err="1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out</a:t>
                      </a:r>
                      <a:endParaRPr lang="zh-CN" altLang="en-US" sz="2000" b="1" kern="12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" name="AutoShape 4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5816" y="651926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 bwMode="auto">
          <a:xfrm>
            <a:off x="6084000" y="3137082"/>
            <a:ext cx="504056" cy="31397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0800" rIns="18000" bIns="10800" numCol="1" rtlCol="0" anchor="ctr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zh-CN" altLang="en-US" sz="2000" b="1" i="0" u="none" strike="noStrike" cap="none" normalizeH="0" baseline="0" dirty="0" smtClean="0">
              <a:ln>
                <a:noFill/>
              </a:ln>
              <a:solidFill>
                <a:srgbClr val="FF3399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516000" y="3471184"/>
            <a:ext cx="1584176" cy="313970"/>
            <a:chOff x="6573877" y="3259046"/>
            <a:chExt cx="1584176" cy="313970"/>
          </a:xfrm>
        </p:grpSpPr>
        <p:sp>
          <p:nvSpPr>
            <p:cNvPr id="20" name="矩形 19"/>
            <p:cNvSpPr/>
            <p:nvPr/>
          </p:nvSpPr>
          <p:spPr bwMode="auto">
            <a:xfrm>
              <a:off x="6573877" y="3259046"/>
              <a:ext cx="504056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7452320" y="3259046"/>
              <a:ext cx="705733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2" name="矩形 21"/>
          <p:cNvSpPr/>
          <p:nvPr/>
        </p:nvSpPr>
        <p:spPr bwMode="auto">
          <a:xfrm>
            <a:off x="6480000" y="3831224"/>
            <a:ext cx="657751" cy="31397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0800" rIns="18000" bIns="10800" numCol="1" rtlCol="0" anchor="ctr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zh-CN" altLang="en-US" sz="2000" b="1" i="0" u="none" strike="noStrike" cap="none" normalizeH="0" baseline="0" dirty="0" smtClean="0">
              <a:ln>
                <a:noFill/>
              </a:ln>
              <a:solidFill>
                <a:srgbClr val="FF3399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08000" y="4176000"/>
            <a:ext cx="1872055" cy="313970"/>
            <a:chOff x="6480008" y="3959976"/>
            <a:chExt cx="1872055" cy="313970"/>
          </a:xfrm>
        </p:grpSpPr>
        <p:sp>
          <p:nvSpPr>
            <p:cNvPr id="24" name="矩形 23"/>
            <p:cNvSpPr/>
            <p:nvPr/>
          </p:nvSpPr>
          <p:spPr bwMode="auto">
            <a:xfrm>
              <a:off x="6480008" y="3959976"/>
              <a:ext cx="576064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⑤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7848008" y="3959976"/>
              <a:ext cx="504055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⑥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179512" y="764704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200" dirty="0" smtClean="0">
                <a:solidFill>
                  <a:srgbClr val="FF3399"/>
                </a:solidFill>
              </a:rPr>
              <a:t> ※</a:t>
            </a:r>
            <a:r>
              <a:rPr lang="zh-CN" altLang="en-US" sz="2200" dirty="0" smtClean="0">
                <a:solidFill>
                  <a:srgbClr val="FF3399"/>
                </a:solidFill>
              </a:rPr>
              <a:t>主要内容：</a:t>
            </a:r>
            <a:r>
              <a:rPr lang="en-US" altLang="zh-CN" sz="2200" dirty="0" smtClean="0">
                <a:solidFill>
                  <a:schemeClr val="tx1"/>
                </a:solidFill>
              </a:rPr>
              <a:t>ALU</a:t>
            </a:r>
            <a:r>
              <a:rPr lang="zh-CN" altLang="en-US" sz="2200" dirty="0" smtClean="0">
                <a:solidFill>
                  <a:schemeClr val="tx1"/>
                </a:solidFill>
              </a:rPr>
              <a:t>的组成、运算器的组成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部件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互连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644008" y="5075786"/>
            <a:ext cx="4248472" cy="1161526"/>
            <a:chOff x="2771800" y="3573080"/>
            <a:chExt cx="4248472" cy="1161526"/>
          </a:xfrm>
        </p:grpSpPr>
        <p:sp>
          <p:nvSpPr>
            <p:cNvPr id="52" name="Text Box 419"/>
            <p:cNvSpPr txBox="1">
              <a:spLocks noChangeArrowheads="1"/>
            </p:cNvSpPr>
            <p:nvPr/>
          </p:nvSpPr>
          <p:spPr bwMode="auto">
            <a:xfrm>
              <a:off x="4283968" y="3573080"/>
              <a:ext cx="720080" cy="57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</a:rPr>
                <a:t>血型配对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 bwMode="auto">
            <a:xfrm>
              <a:off x="3995936" y="3717032"/>
              <a:ext cx="28803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53"/>
            <p:cNvCxnSpPr/>
            <p:nvPr/>
          </p:nvCxnSpPr>
          <p:spPr bwMode="auto">
            <a:xfrm>
              <a:off x="3995936" y="4014590"/>
              <a:ext cx="28803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5004048" y="3870574"/>
              <a:ext cx="28803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Text Box 430"/>
            <p:cNvSpPr txBox="1">
              <a:spLocks noChangeArrowheads="1"/>
            </p:cNvSpPr>
            <p:nvPr/>
          </p:nvSpPr>
          <p:spPr bwMode="auto">
            <a:xfrm>
              <a:off x="2771800" y="3573080"/>
              <a:ext cx="1296000" cy="57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dirty="0">
                  <a:solidFill>
                    <a:schemeClr val="tx1"/>
                  </a:solidFill>
                </a:rPr>
                <a:t>供血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型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X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X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8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受血型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Y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Y</a:t>
              </a:r>
              <a:r>
                <a:rPr lang="en-US" altLang="zh-CN" sz="18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 Box 430"/>
            <p:cNvSpPr txBox="1">
              <a:spLocks noChangeArrowheads="1"/>
            </p:cNvSpPr>
            <p:nvPr/>
          </p:nvSpPr>
          <p:spPr bwMode="auto">
            <a:xfrm>
              <a:off x="5292080" y="3655813"/>
              <a:ext cx="1728192" cy="3587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结果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 (1-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成功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)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9" name="Text Box 430"/>
            <p:cNvSpPr txBox="1">
              <a:spLocks noChangeArrowheads="1"/>
            </p:cNvSpPr>
            <p:nvPr/>
          </p:nvSpPr>
          <p:spPr bwMode="auto">
            <a:xfrm>
              <a:off x="2771800" y="4158606"/>
              <a:ext cx="4248000" cy="57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血型：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00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～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11=O/A/B/AB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配对：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</a:t>
              </a:r>
              <a:r>
                <a:rPr lang="zh-CN" altLang="en-US" sz="1800" dirty="0">
                  <a:solidFill>
                    <a:schemeClr val="tx1"/>
                  </a:solidFill>
                </a:rPr>
                <a:t>→</a:t>
              </a:r>
              <a:r>
                <a:rPr lang="en-US" altLang="zh-CN" sz="1800" dirty="0">
                  <a:solidFill>
                    <a:schemeClr val="tx1"/>
                  </a:solidFill>
                </a:rPr>
                <a:t>O</a:t>
              </a:r>
              <a:r>
                <a:rPr lang="zh-CN" altLang="en-US" sz="1800" dirty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>
                  <a:solidFill>
                    <a:schemeClr val="tx1"/>
                  </a:solidFill>
                </a:rPr>
                <a:t>O/A</a:t>
              </a:r>
              <a:r>
                <a:rPr lang="zh-CN" altLang="en-US" sz="1800" dirty="0">
                  <a:solidFill>
                    <a:schemeClr val="tx1"/>
                  </a:solidFill>
                </a:rPr>
                <a:t>→</a:t>
              </a: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O/B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→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B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4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种→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AB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835696" y="5013176"/>
            <a:ext cx="2016224" cy="653296"/>
            <a:chOff x="4709424" y="5872048"/>
            <a:chExt cx="2016224" cy="653296"/>
          </a:xfrm>
        </p:grpSpPr>
        <p:sp>
          <p:nvSpPr>
            <p:cNvPr id="61" name="Text Box 240"/>
            <p:cNvSpPr txBox="1">
              <a:spLocks noChangeArrowheads="1"/>
            </p:cNvSpPr>
            <p:nvPr/>
          </p:nvSpPr>
          <p:spPr bwMode="auto">
            <a:xfrm>
              <a:off x="4709424" y="6034731"/>
              <a:ext cx="576064" cy="3465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200" dirty="0">
                  <a:solidFill>
                    <a:schemeClr val="tx1"/>
                  </a:solidFill>
                </a:rPr>
                <a:t>Y</a:t>
              </a:r>
              <a:r>
                <a:rPr lang="zh-CN" altLang="en-US" sz="2200" dirty="0" smtClean="0">
                  <a:solidFill>
                    <a:schemeClr val="tx1"/>
                  </a:solidFill>
                </a:rPr>
                <a:t>＝</a:t>
              </a:r>
              <a:endParaRPr lang="en-US" altLang="zh-CN" sz="2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2" name="Text Box 240"/>
            <p:cNvSpPr txBox="1">
              <a:spLocks noChangeArrowheads="1"/>
            </p:cNvSpPr>
            <p:nvPr/>
          </p:nvSpPr>
          <p:spPr bwMode="auto">
            <a:xfrm>
              <a:off x="5308348" y="5872048"/>
              <a:ext cx="1417300" cy="6532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2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2200" dirty="0" smtClean="0">
                  <a:solidFill>
                    <a:schemeClr val="tx1"/>
                  </a:solidFill>
                  <a:latin typeface="+mn-lt"/>
                </a:rPr>
                <a:t>·</a:t>
              </a:r>
              <a:r>
                <a:rPr lang="en-US" altLang="zh-CN" sz="2200" dirty="0" smtClean="0">
                  <a:solidFill>
                    <a:schemeClr val="tx1"/>
                  </a:solidFill>
                </a:rPr>
                <a:t>B  E=0</a:t>
              </a:r>
              <a:r>
                <a:rPr lang="zh-CN" altLang="en-US" sz="2200" dirty="0" smtClean="0">
                  <a:solidFill>
                    <a:schemeClr val="tx1"/>
                  </a:solidFill>
                </a:rPr>
                <a:t>时</a:t>
              </a:r>
              <a:endParaRPr lang="en-US" altLang="zh-CN" sz="22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    </a:t>
              </a:r>
              <a:r>
                <a:rPr lang="en-US" altLang="zh-CN" sz="2200" dirty="0" smtClean="0">
                  <a:solidFill>
                    <a:schemeClr val="tx1"/>
                  </a:solidFill>
                </a:rPr>
                <a:t>E=1</a:t>
              </a:r>
              <a:r>
                <a:rPr lang="zh-CN" altLang="en-US" sz="2200" dirty="0" smtClean="0">
                  <a:solidFill>
                    <a:schemeClr val="tx1"/>
                  </a:solidFill>
                </a:rPr>
                <a:t>时</a:t>
              </a:r>
              <a:endParaRPr lang="en-US" altLang="zh-CN" sz="22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3" name="左大括号 62"/>
            <p:cNvSpPr/>
            <p:nvPr/>
          </p:nvSpPr>
          <p:spPr bwMode="auto">
            <a:xfrm>
              <a:off x="5213479" y="5985584"/>
              <a:ext cx="72008" cy="504056"/>
            </a:xfrm>
            <a:prstGeom prst="leftBrac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5400000">
            <a:off x="6156523" y="5949628"/>
            <a:ext cx="287337" cy="1440160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转运算器组成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ldLvl="0" animBg="1"/>
      <p:bldP spid="5" grpId="0"/>
      <p:bldP spid="14" grpId="0" bldLvl="0" animBg="1"/>
      <p:bldP spid="14" grpId="1" bldLvl="0" animBg="1"/>
      <p:bldP spid="22" grpId="0" bldLvl="0" animBg="1"/>
      <p:bldP spid="22" grpId="1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Box 7"/>
          <p:cNvSpPr txBox="1">
            <a:spLocks noChangeArrowheads="1"/>
          </p:cNvSpPr>
          <p:nvPr/>
        </p:nvSpPr>
        <p:spPr bwMode="auto">
          <a:xfrm>
            <a:off x="179513" y="3861048"/>
            <a:ext cx="2306862" cy="23193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触发器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  <a:p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endParaRPr lang="en-US" altLang="zh-CN" sz="2000" dirty="0">
              <a:solidFill>
                <a:schemeClr val="accent2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  <a:latin typeface="+mn-ea"/>
                <a:ea typeface="+mn-ea"/>
              </a:rPr>
              <a:t>锁存器</a:t>
            </a:r>
            <a:r>
              <a:rPr lang="en-US" altLang="zh-CN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79512" y="404664"/>
            <a:ext cx="8785225" cy="1304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*时序逻辑电路：</a:t>
            </a:r>
            <a:r>
              <a:rPr lang="zh-CN" altLang="en-US" dirty="0" smtClean="0">
                <a:solidFill>
                  <a:schemeClr val="tx1"/>
                </a:solidFill>
              </a:rPr>
              <a:t>又称</a:t>
            </a:r>
            <a:r>
              <a:rPr lang="zh-CN" altLang="en-US" u="sng" dirty="0" smtClean="0">
                <a:solidFill>
                  <a:srgbClr val="990099"/>
                </a:solidFill>
              </a:rPr>
              <a:t>状态单元</a:t>
            </a:r>
            <a:r>
              <a:rPr lang="zh-CN" altLang="en-US" dirty="0" smtClean="0">
                <a:solidFill>
                  <a:schemeClr val="tx1"/>
                </a:solidFill>
              </a:rPr>
              <a:t>，输出＝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f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输入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dirty="0" smtClean="0">
                <a:solidFill>
                  <a:schemeClr val="tx1"/>
                </a:solidFill>
              </a:rPr>
              <a:t>当前状态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触发器、锁存器、寄存器、计数器，及存储器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边沿触发</a:t>
            </a:r>
            <a:r>
              <a:rPr lang="en-US" altLang="zh-CN" sz="1800" dirty="0" smtClean="0">
                <a:solidFill>
                  <a:schemeClr val="tx1"/>
                </a:solidFill>
              </a:rPr>
              <a:t>)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电平触发</a:t>
            </a:r>
            <a:r>
              <a:rPr lang="en-US" altLang="zh-CN" sz="1800" dirty="0" smtClean="0">
                <a:solidFill>
                  <a:schemeClr val="tx1"/>
                </a:solidFill>
              </a:rPr>
              <a:t>) (</a:t>
            </a:r>
            <a:r>
              <a:rPr lang="zh-CN" altLang="en-US" sz="1800" dirty="0" smtClean="0">
                <a:solidFill>
                  <a:schemeClr val="tx1"/>
                </a:solidFill>
              </a:rPr>
              <a:t>边沿触发</a:t>
            </a:r>
            <a:r>
              <a:rPr lang="en-US" altLang="zh-CN" sz="1800" dirty="0" smtClean="0">
                <a:solidFill>
                  <a:schemeClr val="tx1"/>
                </a:solidFill>
              </a:rPr>
              <a:t>) (</a:t>
            </a:r>
            <a:r>
              <a:rPr lang="zh-CN" altLang="en-US" sz="1800" dirty="0" smtClean="0">
                <a:solidFill>
                  <a:schemeClr val="tx1"/>
                </a:solidFill>
              </a:rPr>
              <a:t>边沿触发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31640" y="1700808"/>
          <a:ext cx="7560840" cy="17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2952328"/>
                <a:gridCol w="2448272"/>
                <a:gridCol w="1224136"/>
              </a:tblGrid>
              <a:tr h="216024">
                <a:tc>
                  <a:txBody>
                    <a:bodyPr/>
                    <a:lstStyle/>
                    <a:p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操作功能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输入信号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</a:rPr>
                        <a:t>输出信号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5264"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触发器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写入、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保持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、清零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锁存器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写入、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保持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、清零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 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 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504"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寄存器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写入、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保持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、清零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20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lang="zh-CN" altLang="en-US" sz="2000" b="1" kern="1200" dirty="0">
                        <a:solidFill>
                          <a:srgbClr val="CC33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2000" b="1" baseline="-16000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en-US" altLang="zh-CN" sz="2000" b="1" baseline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2000" b="1" kern="1200" baseline="-16000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000" b="1" kern="1200" dirty="0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800">
                <a:tc>
                  <a:txBody>
                    <a:bodyPr/>
                    <a:lstStyle/>
                    <a:p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计数器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计数、</a:t>
                      </a:r>
                      <a:r>
                        <a:rPr lang="zh-CN" altLang="en-US" sz="2000" b="1" dirty="0" smtClean="0">
                          <a:solidFill>
                            <a:srgbClr val="990099"/>
                          </a:solidFill>
                        </a:rPr>
                        <a:t>保持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</a:rPr>
                        <a:t>、清零、</a:t>
                      </a:r>
                      <a:r>
                        <a:rPr lang="zh-CN" altLang="en-US" sz="2000" b="1" dirty="0" smtClean="0">
                          <a:solidFill>
                            <a:srgbClr val="C00000"/>
                          </a:solidFill>
                        </a:rPr>
                        <a:t>置数</a:t>
                      </a:r>
                      <a:endParaRPr lang="zh-CN" altLang="en-US" sz="2000" b="1" dirty="0" smtClean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baseline="-16000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altLang="zh-CN" sz="2000" b="1" baseline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 kern="1200" baseline="-16000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LD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lang="zh-CN" altLang="en-US" sz="2000" b="1" kern="1200" dirty="0" smtClean="0">
                        <a:solidFill>
                          <a:srgbClr val="CC33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20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2000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2000" b="1" kern="1200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8" name="Text Box 7"/>
          <p:cNvSpPr txBox="1">
            <a:spLocks noChangeArrowheads="1"/>
          </p:cNvSpPr>
          <p:nvPr/>
        </p:nvSpPr>
        <p:spPr bwMode="auto">
          <a:xfrm>
            <a:off x="2051719" y="3861048"/>
            <a:ext cx="691301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zh-CN" altLang="en-US" u="sng" dirty="0" smtClean="0">
                <a:solidFill>
                  <a:schemeClr val="tx1"/>
                </a:solidFill>
                <a:latin typeface="+mn-lt"/>
              </a:rPr>
              <a:t>写入值</a:t>
            </a:r>
            <a:r>
              <a:rPr lang="en-US" altLang="zh-CN" i="1" u="sng" dirty="0" smtClean="0">
                <a:solidFill>
                  <a:schemeClr val="tx1"/>
                </a:solidFill>
                <a:latin typeface="+mn-lt"/>
              </a:rPr>
              <a:t>D</a:t>
            </a:r>
            <a:r>
              <a:rPr lang="zh-CN" altLang="en-US" u="sng" dirty="0" smtClean="0">
                <a:solidFill>
                  <a:schemeClr val="tx1"/>
                </a:solidFill>
                <a:latin typeface="+mn-lt"/>
              </a:rPr>
              <a:t>的时序</a:t>
            </a:r>
            <a:r>
              <a:rPr lang="zh-CN" altLang="en-US" dirty="0" smtClean="0">
                <a:solidFill>
                  <a:srgbClr val="990099"/>
                </a:solidFill>
              </a:rPr>
              <a:t>应满足</a:t>
            </a:r>
            <a:r>
              <a:rPr lang="zh-CN" altLang="en-US" dirty="0" smtClean="0">
                <a:solidFill>
                  <a:schemeClr val="tx1"/>
                </a:solidFill>
              </a:rPr>
              <a:t>建立时间、保持时间的要求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14" name="AutoShape 40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Text Box 7"/>
          <p:cNvSpPr txBox="1">
            <a:spLocks noChangeArrowheads="1"/>
          </p:cNvSpPr>
          <p:nvPr/>
        </p:nvSpPr>
        <p:spPr bwMode="auto">
          <a:xfrm>
            <a:off x="2051720" y="5517232"/>
            <a:ext cx="433339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zh-CN" altLang="en-US" u="sng" dirty="0" smtClean="0">
                <a:solidFill>
                  <a:schemeClr val="tx1"/>
                </a:solidFill>
                <a:latin typeface="+mn-lt"/>
              </a:rPr>
              <a:t>控制信号</a:t>
            </a:r>
            <a:r>
              <a:rPr lang="en-US" altLang="zh-CN" i="1" u="sng" dirty="0" smtClean="0">
                <a:solidFill>
                  <a:schemeClr val="tx1"/>
                </a:solidFill>
                <a:latin typeface="+mn-lt"/>
              </a:rPr>
              <a:t>E</a:t>
            </a:r>
            <a:r>
              <a:rPr lang="zh-CN" altLang="en-US" dirty="0" smtClean="0">
                <a:solidFill>
                  <a:srgbClr val="990099"/>
                </a:solidFill>
              </a:rPr>
              <a:t>应在</a:t>
            </a:r>
            <a:r>
              <a:rPr lang="zh-CN" altLang="en-US" dirty="0" smtClean="0">
                <a:solidFill>
                  <a:schemeClr val="tx1"/>
                </a:solidFill>
              </a:rPr>
              <a:t>数据稳定时无效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pSp>
        <p:nvGrpSpPr>
          <p:cNvPr id="255" name="组合 254"/>
          <p:cNvGrpSpPr/>
          <p:nvPr/>
        </p:nvGrpSpPr>
        <p:grpSpPr>
          <a:xfrm>
            <a:off x="6660232" y="5442404"/>
            <a:ext cx="1800200" cy="938924"/>
            <a:chOff x="2265138" y="2204863"/>
            <a:chExt cx="1800200" cy="938924"/>
          </a:xfrm>
        </p:grpSpPr>
        <p:sp>
          <p:nvSpPr>
            <p:cNvPr id="256" name="Text Box 430"/>
            <p:cNvSpPr txBox="1">
              <a:spLocks noChangeArrowheads="1"/>
            </p:cNvSpPr>
            <p:nvPr/>
          </p:nvSpPr>
          <p:spPr bwMode="auto">
            <a:xfrm>
              <a:off x="2555775" y="2573733"/>
              <a:ext cx="28803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57" name="Text Box 430"/>
            <p:cNvSpPr txBox="1">
              <a:spLocks noChangeArrowheads="1"/>
            </p:cNvSpPr>
            <p:nvPr/>
          </p:nvSpPr>
          <p:spPr bwMode="auto">
            <a:xfrm>
              <a:off x="2987824" y="2924240"/>
              <a:ext cx="1077514" cy="21672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58" name="Text Box 430"/>
            <p:cNvSpPr txBox="1">
              <a:spLocks noChangeArrowheads="1"/>
            </p:cNvSpPr>
            <p:nvPr/>
          </p:nvSpPr>
          <p:spPr bwMode="auto">
            <a:xfrm>
              <a:off x="2851272" y="2564200"/>
              <a:ext cx="851016" cy="21672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59" name="Text Box 430"/>
            <p:cNvSpPr txBox="1">
              <a:spLocks noChangeArrowheads="1"/>
            </p:cNvSpPr>
            <p:nvPr/>
          </p:nvSpPr>
          <p:spPr bwMode="auto">
            <a:xfrm>
              <a:off x="3702288" y="2566162"/>
              <a:ext cx="363050" cy="2083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60" name="Text Box 430"/>
            <p:cNvSpPr txBox="1">
              <a:spLocks noChangeArrowheads="1"/>
            </p:cNvSpPr>
            <p:nvPr/>
          </p:nvSpPr>
          <p:spPr bwMode="auto">
            <a:xfrm>
              <a:off x="2555776" y="2915647"/>
              <a:ext cx="424654" cy="216024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261" name="Line 425"/>
            <p:cNvSpPr>
              <a:spLocks noChangeShapeType="1"/>
            </p:cNvSpPr>
            <p:nvPr/>
          </p:nvSpPr>
          <p:spPr bwMode="auto">
            <a:xfrm flipV="1">
              <a:off x="3705298" y="2204869"/>
              <a:ext cx="0" cy="21728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425"/>
            <p:cNvSpPr>
              <a:spLocks noChangeShapeType="1"/>
            </p:cNvSpPr>
            <p:nvPr/>
          </p:nvSpPr>
          <p:spPr bwMode="auto">
            <a:xfrm flipV="1">
              <a:off x="2555779" y="2422147"/>
              <a:ext cx="28803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Text Box 430"/>
            <p:cNvSpPr txBox="1">
              <a:spLocks noChangeArrowheads="1"/>
            </p:cNvSpPr>
            <p:nvPr/>
          </p:nvSpPr>
          <p:spPr bwMode="auto">
            <a:xfrm>
              <a:off x="2334540" y="2532182"/>
              <a:ext cx="218630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</a:rPr>
                <a:t>D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64" name="Line 425"/>
            <p:cNvSpPr>
              <a:spLocks noChangeShapeType="1"/>
            </p:cNvSpPr>
            <p:nvPr/>
          </p:nvSpPr>
          <p:spPr bwMode="auto">
            <a:xfrm>
              <a:off x="2843808" y="2780925"/>
              <a:ext cx="36004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425"/>
            <p:cNvSpPr>
              <a:spLocks noChangeShapeType="1"/>
            </p:cNvSpPr>
            <p:nvPr/>
          </p:nvSpPr>
          <p:spPr bwMode="auto">
            <a:xfrm flipV="1">
              <a:off x="2843808" y="2204869"/>
              <a:ext cx="0" cy="21728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425"/>
            <p:cNvSpPr>
              <a:spLocks noChangeShapeType="1"/>
            </p:cNvSpPr>
            <p:nvPr/>
          </p:nvSpPr>
          <p:spPr bwMode="auto">
            <a:xfrm flipV="1">
              <a:off x="2843808" y="2204863"/>
              <a:ext cx="858480" cy="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425"/>
            <p:cNvSpPr>
              <a:spLocks noChangeShapeType="1"/>
            </p:cNvSpPr>
            <p:nvPr/>
          </p:nvSpPr>
          <p:spPr bwMode="auto">
            <a:xfrm flipV="1">
              <a:off x="2555776" y="2917697"/>
              <a:ext cx="43204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425"/>
            <p:cNvSpPr>
              <a:spLocks noChangeShapeType="1"/>
            </p:cNvSpPr>
            <p:nvPr/>
          </p:nvSpPr>
          <p:spPr bwMode="auto">
            <a:xfrm flipV="1">
              <a:off x="2987824" y="2917828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425"/>
            <p:cNvSpPr>
              <a:spLocks noChangeShapeType="1"/>
            </p:cNvSpPr>
            <p:nvPr/>
          </p:nvSpPr>
          <p:spPr bwMode="auto">
            <a:xfrm>
              <a:off x="3705298" y="2422149"/>
              <a:ext cx="36004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425"/>
            <p:cNvSpPr>
              <a:spLocks noChangeShapeType="1"/>
            </p:cNvSpPr>
            <p:nvPr/>
          </p:nvSpPr>
          <p:spPr bwMode="auto">
            <a:xfrm flipH="1">
              <a:off x="3702288" y="2422150"/>
              <a:ext cx="1505" cy="720081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425"/>
            <p:cNvSpPr>
              <a:spLocks noChangeShapeType="1"/>
            </p:cNvSpPr>
            <p:nvPr/>
          </p:nvSpPr>
          <p:spPr bwMode="auto">
            <a:xfrm flipH="1">
              <a:off x="2843806" y="2422151"/>
              <a:ext cx="2" cy="714627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Text Box 430"/>
            <p:cNvSpPr txBox="1">
              <a:spLocks noChangeArrowheads="1"/>
            </p:cNvSpPr>
            <p:nvPr/>
          </p:nvSpPr>
          <p:spPr bwMode="auto">
            <a:xfrm>
              <a:off x="2337146" y="2892222"/>
              <a:ext cx="218630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</a:rPr>
                <a:t>Q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73" name="Text Box 430"/>
            <p:cNvSpPr txBox="1">
              <a:spLocks noChangeArrowheads="1"/>
            </p:cNvSpPr>
            <p:nvPr/>
          </p:nvSpPr>
          <p:spPr bwMode="auto">
            <a:xfrm>
              <a:off x="2265138" y="2206127"/>
              <a:ext cx="290638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dirty="0" err="1" smtClean="0">
                  <a:solidFill>
                    <a:schemeClr val="tx1"/>
                  </a:solidFill>
                </a:rPr>
                <a:t>En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74" name="Line 425"/>
            <p:cNvSpPr>
              <a:spLocks noChangeShapeType="1"/>
            </p:cNvSpPr>
            <p:nvPr/>
          </p:nvSpPr>
          <p:spPr bwMode="auto">
            <a:xfrm>
              <a:off x="2555776" y="2564901"/>
              <a:ext cx="288032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425"/>
            <p:cNvSpPr>
              <a:spLocks noChangeShapeType="1"/>
            </p:cNvSpPr>
            <p:nvPr/>
          </p:nvSpPr>
          <p:spPr bwMode="auto">
            <a:xfrm flipV="1">
              <a:off x="2843808" y="2564904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425"/>
            <p:cNvSpPr>
              <a:spLocks noChangeShapeType="1"/>
            </p:cNvSpPr>
            <p:nvPr/>
          </p:nvSpPr>
          <p:spPr bwMode="auto">
            <a:xfrm flipV="1">
              <a:off x="3203848" y="2564904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425"/>
            <p:cNvSpPr>
              <a:spLocks noChangeShapeType="1"/>
            </p:cNvSpPr>
            <p:nvPr/>
          </p:nvSpPr>
          <p:spPr bwMode="auto">
            <a:xfrm flipV="1">
              <a:off x="3275856" y="2563646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425"/>
            <p:cNvSpPr>
              <a:spLocks noChangeShapeType="1"/>
            </p:cNvSpPr>
            <p:nvPr/>
          </p:nvSpPr>
          <p:spPr bwMode="auto">
            <a:xfrm>
              <a:off x="3275856" y="2780928"/>
              <a:ext cx="139097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Line 425"/>
            <p:cNvSpPr>
              <a:spLocks noChangeShapeType="1"/>
            </p:cNvSpPr>
            <p:nvPr/>
          </p:nvSpPr>
          <p:spPr bwMode="auto">
            <a:xfrm flipV="1">
              <a:off x="3419872" y="2566162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425"/>
            <p:cNvSpPr>
              <a:spLocks noChangeShapeType="1"/>
            </p:cNvSpPr>
            <p:nvPr/>
          </p:nvSpPr>
          <p:spPr bwMode="auto">
            <a:xfrm flipV="1">
              <a:off x="3491880" y="2564904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425"/>
            <p:cNvSpPr>
              <a:spLocks noChangeShapeType="1"/>
            </p:cNvSpPr>
            <p:nvPr/>
          </p:nvSpPr>
          <p:spPr bwMode="auto">
            <a:xfrm flipV="1">
              <a:off x="3419872" y="2568407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425"/>
            <p:cNvSpPr>
              <a:spLocks noChangeShapeType="1"/>
            </p:cNvSpPr>
            <p:nvPr/>
          </p:nvSpPr>
          <p:spPr bwMode="auto">
            <a:xfrm flipV="1">
              <a:off x="3489274" y="2781764"/>
              <a:ext cx="2909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425"/>
            <p:cNvSpPr>
              <a:spLocks noChangeShapeType="1"/>
            </p:cNvSpPr>
            <p:nvPr/>
          </p:nvSpPr>
          <p:spPr bwMode="auto">
            <a:xfrm flipV="1">
              <a:off x="3777306" y="2566162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425"/>
            <p:cNvSpPr>
              <a:spLocks noChangeShapeType="1"/>
            </p:cNvSpPr>
            <p:nvPr/>
          </p:nvSpPr>
          <p:spPr bwMode="auto">
            <a:xfrm flipV="1">
              <a:off x="3849314" y="2564904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425"/>
            <p:cNvSpPr>
              <a:spLocks noChangeShapeType="1"/>
            </p:cNvSpPr>
            <p:nvPr/>
          </p:nvSpPr>
          <p:spPr bwMode="auto">
            <a:xfrm flipV="1">
              <a:off x="3777306" y="2568407"/>
              <a:ext cx="720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425"/>
            <p:cNvSpPr>
              <a:spLocks noChangeShapeType="1"/>
            </p:cNvSpPr>
            <p:nvPr/>
          </p:nvSpPr>
          <p:spPr bwMode="auto">
            <a:xfrm>
              <a:off x="3849314" y="2780928"/>
              <a:ext cx="216024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425"/>
            <p:cNvSpPr>
              <a:spLocks noChangeShapeType="1"/>
            </p:cNvSpPr>
            <p:nvPr/>
          </p:nvSpPr>
          <p:spPr bwMode="auto">
            <a:xfrm flipV="1">
              <a:off x="3347862" y="2922428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425"/>
            <p:cNvSpPr>
              <a:spLocks noChangeShapeType="1"/>
            </p:cNvSpPr>
            <p:nvPr/>
          </p:nvSpPr>
          <p:spPr bwMode="auto">
            <a:xfrm flipV="1">
              <a:off x="3419870" y="2921170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425"/>
            <p:cNvSpPr>
              <a:spLocks noChangeShapeType="1"/>
            </p:cNvSpPr>
            <p:nvPr/>
          </p:nvSpPr>
          <p:spPr bwMode="auto">
            <a:xfrm>
              <a:off x="3419870" y="3138452"/>
              <a:ext cx="139097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425"/>
            <p:cNvSpPr>
              <a:spLocks noChangeShapeType="1"/>
            </p:cNvSpPr>
            <p:nvPr/>
          </p:nvSpPr>
          <p:spPr bwMode="auto">
            <a:xfrm flipV="1">
              <a:off x="3563886" y="2923686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425"/>
            <p:cNvSpPr>
              <a:spLocks noChangeShapeType="1"/>
            </p:cNvSpPr>
            <p:nvPr/>
          </p:nvSpPr>
          <p:spPr bwMode="auto">
            <a:xfrm flipV="1">
              <a:off x="3635894" y="2922428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425"/>
            <p:cNvSpPr>
              <a:spLocks noChangeShapeType="1"/>
            </p:cNvSpPr>
            <p:nvPr/>
          </p:nvSpPr>
          <p:spPr bwMode="auto">
            <a:xfrm flipV="1">
              <a:off x="3563886" y="2925931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425"/>
            <p:cNvSpPr>
              <a:spLocks noChangeShapeType="1"/>
            </p:cNvSpPr>
            <p:nvPr/>
          </p:nvSpPr>
          <p:spPr bwMode="auto">
            <a:xfrm flipV="1">
              <a:off x="3644280" y="3136778"/>
              <a:ext cx="421058" cy="16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425"/>
            <p:cNvSpPr>
              <a:spLocks noChangeShapeType="1"/>
            </p:cNvSpPr>
            <p:nvPr/>
          </p:nvSpPr>
          <p:spPr bwMode="auto">
            <a:xfrm flipV="1">
              <a:off x="3203846" y="2564904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425"/>
            <p:cNvSpPr>
              <a:spLocks noChangeShapeType="1"/>
            </p:cNvSpPr>
            <p:nvPr/>
          </p:nvSpPr>
          <p:spPr bwMode="auto">
            <a:xfrm flipV="1">
              <a:off x="3339478" y="2924944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425"/>
            <p:cNvSpPr>
              <a:spLocks noChangeShapeType="1"/>
            </p:cNvSpPr>
            <p:nvPr/>
          </p:nvSpPr>
          <p:spPr bwMode="auto">
            <a:xfrm>
              <a:off x="2987824" y="3140965"/>
              <a:ext cx="36004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425"/>
            <p:cNvSpPr>
              <a:spLocks noChangeShapeType="1"/>
            </p:cNvSpPr>
            <p:nvPr/>
          </p:nvSpPr>
          <p:spPr bwMode="auto">
            <a:xfrm flipH="1">
              <a:off x="2585002" y="2927762"/>
              <a:ext cx="133138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425"/>
            <p:cNvSpPr>
              <a:spLocks noChangeShapeType="1"/>
            </p:cNvSpPr>
            <p:nvPr/>
          </p:nvSpPr>
          <p:spPr bwMode="auto">
            <a:xfrm flipH="1">
              <a:off x="2851272" y="2927762"/>
              <a:ext cx="133138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425"/>
            <p:cNvSpPr>
              <a:spLocks noChangeShapeType="1"/>
            </p:cNvSpPr>
            <p:nvPr/>
          </p:nvSpPr>
          <p:spPr bwMode="auto">
            <a:xfrm flipH="1">
              <a:off x="2718140" y="2924944"/>
              <a:ext cx="133138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425"/>
            <p:cNvSpPr>
              <a:spLocks noChangeShapeType="1"/>
            </p:cNvSpPr>
            <p:nvPr/>
          </p:nvSpPr>
          <p:spPr bwMode="auto">
            <a:xfrm flipV="1">
              <a:off x="2555776" y="3140968"/>
              <a:ext cx="43204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4" name="矩形 113"/>
          <p:cNvSpPr/>
          <p:nvPr/>
        </p:nvSpPr>
        <p:spPr bwMode="auto">
          <a:xfrm>
            <a:off x="5577125" y="2389998"/>
            <a:ext cx="477730" cy="31397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0800" rIns="18000" bIns="10800" numCol="1" rtlCol="0" anchor="ctr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zh-CN" altLang="en-US" sz="2000" b="1" i="0" u="none" strike="noStrike" cap="none" normalizeH="0" baseline="0" dirty="0" smtClean="0">
              <a:ln>
                <a:noFill/>
              </a:ln>
              <a:solidFill>
                <a:srgbClr val="FF3399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6048000" y="2750038"/>
            <a:ext cx="2365427" cy="313970"/>
            <a:chOff x="6570367" y="3259046"/>
            <a:chExt cx="2365427" cy="313970"/>
          </a:xfrm>
        </p:grpSpPr>
        <p:sp>
          <p:nvSpPr>
            <p:cNvPr id="116" name="矩形 115"/>
            <p:cNvSpPr/>
            <p:nvPr/>
          </p:nvSpPr>
          <p:spPr bwMode="auto">
            <a:xfrm>
              <a:off x="6570367" y="3259046"/>
              <a:ext cx="46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7" name="矩形 116"/>
            <p:cNvSpPr/>
            <p:nvPr/>
          </p:nvSpPr>
          <p:spPr bwMode="auto">
            <a:xfrm>
              <a:off x="8230061" y="3259046"/>
              <a:ext cx="705733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08000" y="3064008"/>
            <a:ext cx="2450749" cy="313970"/>
            <a:chOff x="4624272" y="3068960"/>
            <a:chExt cx="2450749" cy="313970"/>
          </a:xfrm>
        </p:grpSpPr>
        <p:sp>
          <p:nvSpPr>
            <p:cNvPr id="119" name="矩形 118"/>
            <p:cNvSpPr/>
            <p:nvPr/>
          </p:nvSpPr>
          <p:spPr bwMode="auto">
            <a:xfrm>
              <a:off x="5776272" y="3068960"/>
              <a:ext cx="1298749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⑤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4624272" y="3068960"/>
              <a:ext cx="533472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④</a:t>
              </a:r>
              <a:r>
                <a:rPr kumimoji="1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33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?</a:t>
              </a:r>
              <a:endParaRPr kumimoji="1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22" name="AutoShape 40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6200000">
            <a:off x="5076056" y="652460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Text Box 308"/>
          <p:cNvSpPr txBox="1">
            <a:spLocks noChangeArrowheads="1"/>
          </p:cNvSpPr>
          <p:nvPr/>
        </p:nvSpPr>
        <p:spPr bwMode="auto">
          <a:xfrm>
            <a:off x="2262547" y="3501008"/>
            <a:ext cx="3168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dirty="0" smtClean="0">
                <a:solidFill>
                  <a:schemeClr val="tx1"/>
                </a:solidFill>
              </a:rPr>
              <a:t>为什么没有读出操作？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24" name="Text Box 308"/>
          <p:cNvSpPr txBox="1">
            <a:spLocks noChangeArrowheads="1"/>
          </p:cNvSpPr>
          <p:nvPr/>
        </p:nvSpPr>
        <p:spPr bwMode="auto">
          <a:xfrm>
            <a:off x="5580280" y="3501008"/>
            <a:ext cx="1512000" cy="3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chemeClr val="bg1">
                    <a:lumMod val="75000"/>
                  </a:schemeClr>
                </a:solidFill>
              </a:rPr>
              <a:t>保持就是读出</a:t>
            </a:r>
            <a:endParaRPr lang="en-US" altLang="zh-CN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2409130" y="4437112"/>
            <a:ext cx="5763270" cy="1008112"/>
            <a:chOff x="2265138" y="4293096"/>
            <a:chExt cx="5763270" cy="1008112"/>
          </a:xfrm>
        </p:grpSpPr>
        <p:sp>
          <p:nvSpPr>
            <p:cNvPr id="126" name="Text Box 430"/>
            <p:cNvSpPr txBox="1">
              <a:spLocks noChangeArrowheads="1"/>
            </p:cNvSpPr>
            <p:nvPr/>
          </p:nvSpPr>
          <p:spPr bwMode="auto">
            <a:xfrm>
              <a:off x="5148064" y="4725144"/>
              <a:ext cx="864000" cy="216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1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 Box 430"/>
            <p:cNvSpPr txBox="1">
              <a:spLocks noChangeArrowheads="1"/>
            </p:cNvSpPr>
            <p:nvPr/>
          </p:nvSpPr>
          <p:spPr bwMode="auto">
            <a:xfrm>
              <a:off x="5940152" y="5085208"/>
              <a:ext cx="144016" cy="216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28" name="Text Box 430"/>
            <p:cNvSpPr txBox="1">
              <a:spLocks noChangeArrowheads="1"/>
            </p:cNvSpPr>
            <p:nvPr/>
          </p:nvSpPr>
          <p:spPr bwMode="auto">
            <a:xfrm>
              <a:off x="3710624" y="4735643"/>
              <a:ext cx="1578736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 Box 430"/>
            <p:cNvSpPr txBox="1">
              <a:spLocks noChangeArrowheads="1"/>
            </p:cNvSpPr>
            <p:nvPr/>
          </p:nvSpPr>
          <p:spPr bwMode="auto">
            <a:xfrm>
              <a:off x="2555777" y="4727964"/>
              <a:ext cx="28803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30" name="Text Box 430"/>
            <p:cNvSpPr txBox="1">
              <a:spLocks noChangeArrowheads="1"/>
            </p:cNvSpPr>
            <p:nvPr/>
          </p:nvSpPr>
          <p:spPr bwMode="auto">
            <a:xfrm>
              <a:off x="2555777" y="5085184"/>
              <a:ext cx="1080000" cy="216024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31" name="Text Box 430"/>
            <p:cNvSpPr txBox="1">
              <a:spLocks noChangeArrowheads="1"/>
            </p:cNvSpPr>
            <p:nvPr/>
          </p:nvSpPr>
          <p:spPr bwMode="auto">
            <a:xfrm>
              <a:off x="2843808" y="4725168"/>
              <a:ext cx="86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32" name="Line 425"/>
            <p:cNvSpPr>
              <a:spLocks noChangeShapeType="1"/>
            </p:cNvSpPr>
            <p:nvPr/>
          </p:nvSpPr>
          <p:spPr bwMode="auto">
            <a:xfrm flipV="1">
              <a:off x="4427984" y="4293101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25"/>
            <p:cNvSpPr>
              <a:spLocks noChangeShapeType="1"/>
            </p:cNvSpPr>
            <p:nvPr/>
          </p:nvSpPr>
          <p:spPr bwMode="auto">
            <a:xfrm flipV="1">
              <a:off x="2555778" y="4510380"/>
              <a:ext cx="7200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425"/>
            <p:cNvSpPr>
              <a:spLocks noChangeShapeType="1"/>
            </p:cNvSpPr>
            <p:nvPr/>
          </p:nvSpPr>
          <p:spPr bwMode="auto">
            <a:xfrm>
              <a:off x="3707904" y="4725142"/>
              <a:ext cx="1440000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Text Box 430"/>
            <p:cNvSpPr txBox="1">
              <a:spLocks noChangeArrowheads="1"/>
            </p:cNvSpPr>
            <p:nvPr/>
          </p:nvSpPr>
          <p:spPr bwMode="auto">
            <a:xfrm>
              <a:off x="2265138" y="472514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</a:rPr>
                <a:t>D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36" name="Line 425"/>
            <p:cNvSpPr>
              <a:spLocks noChangeShapeType="1"/>
            </p:cNvSpPr>
            <p:nvPr/>
          </p:nvSpPr>
          <p:spPr bwMode="auto">
            <a:xfrm flipV="1">
              <a:off x="2555777" y="4725142"/>
              <a:ext cx="288031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425"/>
            <p:cNvSpPr>
              <a:spLocks noChangeShapeType="1"/>
            </p:cNvSpPr>
            <p:nvPr/>
          </p:nvSpPr>
          <p:spPr bwMode="auto">
            <a:xfrm flipV="1">
              <a:off x="2843808" y="4941168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425"/>
            <p:cNvSpPr>
              <a:spLocks noChangeShapeType="1"/>
            </p:cNvSpPr>
            <p:nvPr/>
          </p:nvSpPr>
          <p:spPr bwMode="auto">
            <a:xfrm flipH="1" flipV="1">
              <a:off x="5148064" y="4725144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Text Box 430"/>
            <p:cNvSpPr txBox="1">
              <a:spLocks noChangeArrowheads="1"/>
            </p:cNvSpPr>
            <p:nvPr/>
          </p:nvSpPr>
          <p:spPr bwMode="auto">
            <a:xfrm>
              <a:off x="3635896" y="5084480"/>
              <a:ext cx="2304000" cy="21672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40" name="Line 425"/>
            <p:cNvSpPr>
              <a:spLocks noChangeShapeType="1"/>
            </p:cNvSpPr>
            <p:nvPr/>
          </p:nvSpPr>
          <p:spPr bwMode="auto">
            <a:xfrm flipV="1">
              <a:off x="3635900" y="5301208"/>
              <a:ext cx="230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425"/>
            <p:cNvSpPr>
              <a:spLocks noChangeShapeType="1"/>
            </p:cNvSpPr>
            <p:nvPr/>
          </p:nvSpPr>
          <p:spPr bwMode="auto">
            <a:xfrm flipV="1">
              <a:off x="5580113" y="4293101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425"/>
            <p:cNvSpPr>
              <a:spLocks noChangeShapeType="1"/>
            </p:cNvSpPr>
            <p:nvPr/>
          </p:nvSpPr>
          <p:spPr bwMode="auto">
            <a:xfrm flipV="1">
              <a:off x="3275858" y="4293101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425"/>
            <p:cNvSpPr>
              <a:spLocks noChangeShapeType="1"/>
            </p:cNvSpPr>
            <p:nvPr/>
          </p:nvSpPr>
          <p:spPr bwMode="auto">
            <a:xfrm flipV="1">
              <a:off x="3275856" y="4293096"/>
              <a:ext cx="115200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425"/>
            <p:cNvSpPr>
              <a:spLocks noChangeShapeType="1"/>
            </p:cNvSpPr>
            <p:nvPr/>
          </p:nvSpPr>
          <p:spPr bwMode="auto">
            <a:xfrm flipV="1">
              <a:off x="5580111" y="4293096"/>
              <a:ext cx="50400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425"/>
            <p:cNvSpPr>
              <a:spLocks noChangeShapeType="1"/>
            </p:cNvSpPr>
            <p:nvPr/>
          </p:nvSpPr>
          <p:spPr bwMode="auto">
            <a:xfrm flipV="1">
              <a:off x="2843808" y="4727963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425"/>
            <p:cNvSpPr>
              <a:spLocks noChangeShapeType="1"/>
            </p:cNvSpPr>
            <p:nvPr/>
          </p:nvSpPr>
          <p:spPr bwMode="auto">
            <a:xfrm flipV="1">
              <a:off x="3707904" y="4727963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425"/>
            <p:cNvSpPr>
              <a:spLocks noChangeShapeType="1"/>
            </p:cNvSpPr>
            <p:nvPr/>
          </p:nvSpPr>
          <p:spPr bwMode="auto">
            <a:xfrm>
              <a:off x="2555778" y="5085183"/>
              <a:ext cx="10800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425"/>
            <p:cNvSpPr>
              <a:spLocks noChangeShapeType="1"/>
            </p:cNvSpPr>
            <p:nvPr/>
          </p:nvSpPr>
          <p:spPr bwMode="auto">
            <a:xfrm flipV="1">
              <a:off x="3635898" y="5083926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425"/>
            <p:cNvSpPr>
              <a:spLocks noChangeShapeType="1"/>
            </p:cNvSpPr>
            <p:nvPr/>
          </p:nvSpPr>
          <p:spPr bwMode="auto">
            <a:xfrm>
              <a:off x="4427984" y="4510383"/>
              <a:ext cx="115200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425"/>
            <p:cNvSpPr>
              <a:spLocks noChangeShapeType="1"/>
            </p:cNvSpPr>
            <p:nvPr/>
          </p:nvSpPr>
          <p:spPr bwMode="auto">
            <a:xfrm flipV="1">
              <a:off x="5148064" y="4726706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425"/>
            <p:cNvSpPr>
              <a:spLocks noChangeShapeType="1"/>
            </p:cNvSpPr>
            <p:nvPr/>
          </p:nvSpPr>
          <p:spPr bwMode="auto">
            <a:xfrm>
              <a:off x="5944884" y="5085184"/>
              <a:ext cx="2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425"/>
            <p:cNvSpPr>
              <a:spLocks noChangeShapeType="1"/>
            </p:cNvSpPr>
            <p:nvPr/>
          </p:nvSpPr>
          <p:spPr bwMode="auto">
            <a:xfrm flipV="1">
              <a:off x="6016892" y="4723886"/>
              <a:ext cx="0" cy="21728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425"/>
            <p:cNvSpPr>
              <a:spLocks noChangeShapeType="1"/>
            </p:cNvSpPr>
            <p:nvPr/>
          </p:nvSpPr>
          <p:spPr bwMode="auto">
            <a:xfrm flipV="1">
              <a:off x="6012166" y="4938969"/>
              <a:ext cx="72000" cy="219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425"/>
            <p:cNvSpPr>
              <a:spLocks noChangeShapeType="1"/>
            </p:cNvSpPr>
            <p:nvPr/>
          </p:nvSpPr>
          <p:spPr bwMode="auto">
            <a:xfrm flipV="1">
              <a:off x="2555776" y="4941168"/>
              <a:ext cx="288031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425"/>
            <p:cNvSpPr>
              <a:spLocks noChangeShapeType="1"/>
            </p:cNvSpPr>
            <p:nvPr/>
          </p:nvSpPr>
          <p:spPr bwMode="auto">
            <a:xfrm flipV="1">
              <a:off x="3710624" y="4941168"/>
              <a:ext cx="144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425"/>
            <p:cNvSpPr>
              <a:spLocks noChangeShapeType="1"/>
            </p:cNvSpPr>
            <p:nvPr/>
          </p:nvSpPr>
          <p:spPr bwMode="auto">
            <a:xfrm flipH="1">
              <a:off x="2699792" y="4727962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425"/>
            <p:cNvSpPr>
              <a:spLocks noChangeShapeType="1"/>
            </p:cNvSpPr>
            <p:nvPr/>
          </p:nvSpPr>
          <p:spPr bwMode="auto">
            <a:xfrm flipH="1">
              <a:off x="2566660" y="4725144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425"/>
            <p:cNvSpPr>
              <a:spLocks noChangeShapeType="1"/>
            </p:cNvSpPr>
            <p:nvPr/>
          </p:nvSpPr>
          <p:spPr bwMode="auto">
            <a:xfrm flipH="1">
              <a:off x="3881146" y="4730781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425"/>
            <p:cNvSpPr>
              <a:spLocks noChangeShapeType="1"/>
            </p:cNvSpPr>
            <p:nvPr/>
          </p:nvSpPr>
          <p:spPr bwMode="auto">
            <a:xfrm flipH="1">
              <a:off x="3748014" y="4727963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425"/>
            <p:cNvSpPr>
              <a:spLocks noChangeShapeType="1"/>
            </p:cNvSpPr>
            <p:nvPr/>
          </p:nvSpPr>
          <p:spPr bwMode="auto">
            <a:xfrm flipH="1">
              <a:off x="4147416" y="4730781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425"/>
            <p:cNvSpPr>
              <a:spLocks noChangeShapeType="1"/>
            </p:cNvSpPr>
            <p:nvPr/>
          </p:nvSpPr>
          <p:spPr bwMode="auto">
            <a:xfrm flipH="1">
              <a:off x="4014284" y="4727963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425"/>
            <p:cNvSpPr>
              <a:spLocks noChangeShapeType="1"/>
            </p:cNvSpPr>
            <p:nvPr/>
          </p:nvSpPr>
          <p:spPr bwMode="auto">
            <a:xfrm flipH="1">
              <a:off x="4435448" y="4730781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25"/>
            <p:cNvSpPr>
              <a:spLocks noChangeShapeType="1"/>
            </p:cNvSpPr>
            <p:nvPr/>
          </p:nvSpPr>
          <p:spPr bwMode="auto">
            <a:xfrm flipH="1">
              <a:off x="4302316" y="4727963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425"/>
            <p:cNvSpPr>
              <a:spLocks noChangeShapeType="1"/>
            </p:cNvSpPr>
            <p:nvPr/>
          </p:nvSpPr>
          <p:spPr bwMode="auto">
            <a:xfrm flipH="1">
              <a:off x="4701718" y="4730781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425"/>
            <p:cNvSpPr>
              <a:spLocks noChangeShapeType="1"/>
            </p:cNvSpPr>
            <p:nvPr/>
          </p:nvSpPr>
          <p:spPr bwMode="auto">
            <a:xfrm flipH="1">
              <a:off x="4568586" y="4727963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425"/>
            <p:cNvSpPr>
              <a:spLocks noChangeShapeType="1"/>
            </p:cNvSpPr>
            <p:nvPr/>
          </p:nvSpPr>
          <p:spPr bwMode="auto">
            <a:xfrm flipH="1">
              <a:off x="4983028" y="4730781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425"/>
            <p:cNvSpPr>
              <a:spLocks noChangeShapeType="1"/>
            </p:cNvSpPr>
            <p:nvPr/>
          </p:nvSpPr>
          <p:spPr bwMode="auto">
            <a:xfrm flipH="1">
              <a:off x="4849896" y="4727963"/>
              <a:ext cx="144000" cy="216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425"/>
            <p:cNvSpPr>
              <a:spLocks noChangeShapeType="1"/>
            </p:cNvSpPr>
            <p:nvPr/>
          </p:nvSpPr>
          <p:spPr bwMode="auto">
            <a:xfrm flipH="1">
              <a:off x="3275856" y="4545208"/>
              <a:ext cx="0" cy="756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425"/>
            <p:cNvSpPr>
              <a:spLocks noChangeShapeType="1"/>
            </p:cNvSpPr>
            <p:nvPr/>
          </p:nvSpPr>
          <p:spPr bwMode="auto">
            <a:xfrm flipH="1">
              <a:off x="3707904" y="4545144"/>
              <a:ext cx="0" cy="180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425"/>
            <p:cNvSpPr>
              <a:spLocks noChangeShapeType="1"/>
            </p:cNvSpPr>
            <p:nvPr/>
          </p:nvSpPr>
          <p:spPr bwMode="auto">
            <a:xfrm flipH="1">
              <a:off x="2843808" y="4545144"/>
              <a:ext cx="1" cy="180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425"/>
            <p:cNvSpPr>
              <a:spLocks noChangeShapeType="1"/>
            </p:cNvSpPr>
            <p:nvPr/>
          </p:nvSpPr>
          <p:spPr bwMode="auto">
            <a:xfrm flipH="1" flipV="1">
              <a:off x="5940152" y="5085184"/>
              <a:ext cx="144000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Text Box 430"/>
            <p:cNvSpPr txBox="1">
              <a:spLocks noChangeArrowheads="1"/>
            </p:cNvSpPr>
            <p:nvPr/>
          </p:nvSpPr>
          <p:spPr bwMode="auto">
            <a:xfrm>
              <a:off x="2267744" y="508518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</a:rPr>
                <a:t>Q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73" name="Text Box 430"/>
            <p:cNvSpPr txBox="1">
              <a:spLocks noChangeArrowheads="1"/>
            </p:cNvSpPr>
            <p:nvPr/>
          </p:nvSpPr>
          <p:spPr bwMode="auto">
            <a:xfrm>
              <a:off x="2267776" y="4294359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CP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74" name="Text Box 430"/>
            <p:cNvSpPr txBox="1">
              <a:spLocks noChangeArrowheads="1"/>
            </p:cNvSpPr>
            <p:nvPr/>
          </p:nvSpPr>
          <p:spPr bwMode="auto">
            <a:xfrm>
              <a:off x="2915816" y="450912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①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75" name="Text Box 430"/>
            <p:cNvSpPr txBox="1">
              <a:spLocks noChangeArrowheads="1"/>
            </p:cNvSpPr>
            <p:nvPr/>
          </p:nvSpPr>
          <p:spPr bwMode="auto">
            <a:xfrm>
              <a:off x="3347864" y="450912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②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76" name="Text Box 430"/>
            <p:cNvSpPr txBox="1">
              <a:spLocks noChangeArrowheads="1"/>
            </p:cNvSpPr>
            <p:nvPr/>
          </p:nvSpPr>
          <p:spPr bwMode="auto">
            <a:xfrm>
              <a:off x="6228408" y="4365104"/>
              <a:ext cx="1800000" cy="72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14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①建立时间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setup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14000"/>
                </a:lnSpc>
                <a:spcBef>
                  <a:spcPts val="300"/>
                </a:spcBef>
              </a:pPr>
              <a:r>
                <a:rPr lang="zh-CN" altLang="en-US" sz="1800" dirty="0">
                  <a:solidFill>
                    <a:schemeClr val="tx1"/>
                  </a:solidFill>
                </a:rPr>
                <a:t>②保持时间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Hold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7" name="Line 425"/>
            <p:cNvSpPr>
              <a:spLocks noChangeShapeType="1"/>
            </p:cNvSpPr>
            <p:nvPr/>
          </p:nvSpPr>
          <p:spPr bwMode="auto">
            <a:xfrm flipV="1">
              <a:off x="3275856" y="4343795"/>
              <a:ext cx="0" cy="144016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arrow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425"/>
            <p:cNvSpPr>
              <a:spLocks noChangeShapeType="1"/>
            </p:cNvSpPr>
            <p:nvPr/>
          </p:nvSpPr>
          <p:spPr bwMode="auto">
            <a:xfrm flipV="1">
              <a:off x="5580112" y="4327575"/>
              <a:ext cx="0" cy="144016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arrow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425"/>
            <p:cNvSpPr>
              <a:spLocks noChangeShapeType="1"/>
            </p:cNvSpPr>
            <p:nvPr/>
          </p:nvSpPr>
          <p:spPr bwMode="auto">
            <a:xfrm flipH="1">
              <a:off x="5580112" y="4545208"/>
              <a:ext cx="0" cy="756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425"/>
            <p:cNvSpPr>
              <a:spLocks noChangeShapeType="1"/>
            </p:cNvSpPr>
            <p:nvPr/>
          </p:nvSpPr>
          <p:spPr bwMode="auto">
            <a:xfrm flipH="1">
              <a:off x="6012158" y="4545144"/>
              <a:ext cx="0" cy="180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425"/>
            <p:cNvSpPr>
              <a:spLocks noChangeShapeType="1"/>
            </p:cNvSpPr>
            <p:nvPr/>
          </p:nvSpPr>
          <p:spPr bwMode="auto">
            <a:xfrm flipH="1">
              <a:off x="5148064" y="4546488"/>
              <a:ext cx="1" cy="18000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Text Box 430"/>
            <p:cNvSpPr txBox="1">
              <a:spLocks noChangeArrowheads="1"/>
            </p:cNvSpPr>
            <p:nvPr/>
          </p:nvSpPr>
          <p:spPr bwMode="auto">
            <a:xfrm>
              <a:off x="5220104" y="450912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①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45" name="Text Box 430"/>
            <p:cNvSpPr txBox="1">
              <a:spLocks noChangeArrowheads="1"/>
            </p:cNvSpPr>
            <p:nvPr/>
          </p:nvSpPr>
          <p:spPr bwMode="auto">
            <a:xfrm>
              <a:off x="5652152" y="450912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②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00" grpId="0"/>
      <p:bldP spid="114" grpId="1" animBg="1"/>
      <p:bldP spid="123" grpId="0" animBg="1"/>
      <p:bldP spid="12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/>
          <p:cNvGrpSpPr/>
          <p:nvPr/>
        </p:nvGrpSpPr>
        <p:grpSpPr>
          <a:xfrm>
            <a:off x="1187624" y="4932000"/>
            <a:ext cx="3685243" cy="1493888"/>
            <a:chOff x="1390813" y="5108262"/>
            <a:chExt cx="3685243" cy="1493888"/>
          </a:xfrm>
        </p:grpSpPr>
        <p:sp>
          <p:nvSpPr>
            <p:cNvPr id="34" name="Text Box 430"/>
            <p:cNvSpPr txBox="1">
              <a:spLocks noChangeArrowheads="1"/>
            </p:cNvSpPr>
            <p:nvPr/>
          </p:nvSpPr>
          <p:spPr bwMode="auto">
            <a:xfrm>
              <a:off x="2060235" y="6359262"/>
              <a:ext cx="2498930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800" b="1" baseline="-16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 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412"/>
            <p:cNvSpPr>
              <a:spLocks noChangeArrowheads="1"/>
            </p:cNvSpPr>
            <p:nvPr/>
          </p:nvSpPr>
          <p:spPr bwMode="auto">
            <a:xfrm>
              <a:off x="1763688" y="5423084"/>
              <a:ext cx="3312368" cy="93617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Text Box 419"/>
            <p:cNvSpPr txBox="1">
              <a:spLocks noChangeArrowheads="1"/>
            </p:cNvSpPr>
            <p:nvPr/>
          </p:nvSpPr>
          <p:spPr bwMode="auto">
            <a:xfrm>
              <a:off x="1954042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4" name="Line 425"/>
            <p:cNvSpPr>
              <a:spLocks noChangeShapeType="1"/>
            </p:cNvSpPr>
            <p:nvPr/>
          </p:nvSpPr>
          <p:spPr bwMode="auto">
            <a:xfrm flipH="1" flipV="1">
              <a:off x="2557775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419"/>
            <p:cNvSpPr txBox="1">
              <a:spLocks noChangeArrowheads="1"/>
            </p:cNvSpPr>
            <p:nvPr/>
          </p:nvSpPr>
          <p:spPr bwMode="auto">
            <a:xfrm>
              <a:off x="3032738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6" name="Line 425"/>
            <p:cNvSpPr>
              <a:spLocks noChangeShapeType="1"/>
            </p:cNvSpPr>
            <p:nvPr/>
          </p:nvSpPr>
          <p:spPr bwMode="auto">
            <a:xfrm flipH="1" flipV="1">
              <a:off x="3645429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419"/>
            <p:cNvSpPr txBox="1">
              <a:spLocks noChangeArrowheads="1"/>
            </p:cNvSpPr>
            <p:nvPr/>
          </p:nvSpPr>
          <p:spPr bwMode="auto">
            <a:xfrm>
              <a:off x="4127117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48" name="Line 425"/>
            <p:cNvSpPr>
              <a:spLocks noChangeShapeType="1"/>
            </p:cNvSpPr>
            <p:nvPr/>
          </p:nvSpPr>
          <p:spPr bwMode="auto">
            <a:xfrm flipH="1" flipV="1">
              <a:off x="4730850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" name="直接箭头连接符 48"/>
            <p:cNvCxnSpPr/>
            <p:nvPr/>
          </p:nvCxnSpPr>
          <p:spPr bwMode="auto">
            <a:xfrm flipH="1" flipV="1">
              <a:off x="2144875" y="5349494"/>
              <a:ext cx="1882" cy="13804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 flipH="1" flipV="1">
              <a:off x="2144875" y="6043522"/>
              <a:ext cx="1880" cy="34920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/>
          </p:nvCxnSpPr>
          <p:spPr bwMode="auto">
            <a:xfrm flipV="1">
              <a:off x="2434788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 flipV="1">
              <a:off x="2739551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53" name="Line 425"/>
            <p:cNvSpPr>
              <a:spLocks noChangeShapeType="1"/>
            </p:cNvSpPr>
            <p:nvPr/>
          </p:nvSpPr>
          <p:spPr bwMode="auto">
            <a:xfrm flipH="1" flipV="1">
              <a:off x="1849297" y="6164454"/>
              <a:ext cx="3069907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25"/>
            <p:cNvSpPr>
              <a:spLocks noChangeShapeType="1"/>
            </p:cNvSpPr>
            <p:nvPr/>
          </p:nvSpPr>
          <p:spPr bwMode="auto">
            <a:xfrm flipH="1" flipV="1">
              <a:off x="1678844" y="6287184"/>
              <a:ext cx="2935598" cy="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5" name="直接箭头连接符 54"/>
            <p:cNvCxnSpPr/>
            <p:nvPr/>
          </p:nvCxnSpPr>
          <p:spPr bwMode="auto">
            <a:xfrm flipV="1">
              <a:off x="3520063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 flipV="1">
              <a:off x="3824826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 flipV="1">
              <a:off x="4614442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8" name="直接箭头连接符 57"/>
            <p:cNvCxnSpPr/>
            <p:nvPr/>
          </p:nvCxnSpPr>
          <p:spPr bwMode="auto">
            <a:xfrm flipV="1">
              <a:off x="4919205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9" name="直接箭头连接符 58"/>
            <p:cNvCxnSpPr/>
            <p:nvPr/>
          </p:nvCxnSpPr>
          <p:spPr bwMode="auto">
            <a:xfrm flipH="1" flipV="1">
              <a:off x="3246882" y="5360200"/>
              <a:ext cx="1880" cy="12835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0" name="直接箭头连接符 59"/>
            <p:cNvCxnSpPr/>
            <p:nvPr/>
          </p:nvCxnSpPr>
          <p:spPr bwMode="auto">
            <a:xfrm flipH="1" flipV="1">
              <a:off x="3246882" y="6043522"/>
              <a:ext cx="1880" cy="34920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 flipH="1" flipV="1">
              <a:off x="4341261" y="5349493"/>
              <a:ext cx="1880" cy="13804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 flipH="1" flipV="1">
              <a:off x="4341261" y="6043522"/>
              <a:ext cx="1880" cy="34920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184"/>
            <p:cNvCxnSpPr/>
            <p:nvPr/>
          </p:nvCxnSpPr>
          <p:spPr bwMode="auto">
            <a:xfrm rot="16200000" flipV="1">
              <a:off x="1627396" y="5942555"/>
              <a:ext cx="273353" cy="170454"/>
            </a:xfrm>
            <a:prstGeom prst="bentConnector3">
              <a:avLst>
                <a:gd name="adj1" fmla="val 97174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4" name="Text Box 470"/>
            <p:cNvSpPr txBox="1">
              <a:spLocks noChangeArrowheads="1"/>
            </p:cNvSpPr>
            <p:nvPr/>
          </p:nvSpPr>
          <p:spPr bwMode="auto">
            <a:xfrm>
              <a:off x="1390813" y="5711122"/>
              <a:ext cx="319345" cy="7200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CP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5" name="Text Box 430"/>
            <p:cNvSpPr txBox="1">
              <a:spLocks noChangeArrowheads="1"/>
            </p:cNvSpPr>
            <p:nvPr/>
          </p:nvSpPr>
          <p:spPr bwMode="auto">
            <a:xfrm>
              <a:off x="2066653" y="5108262"/>
              <a:ext cx="2564520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800" b="1" baseline="-16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 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5155684" y="4932000"/>
            <a:ext cx="3664788" cy="1598940"/>
            <a:chOff x="5076056" y="5085184"/>
            <a:chExt cx="3664788" cy="1598940"/>
          </a:xfrm>
        </p:grpSpPr>
        <p:sp>
          <p:nvSpPr>
            <p:cNvPr id="37" name="Rectangle 412"/>
            <p:cNvSpPr>
              <a:spLocks noChangeArrowheads="1"/>
            </p:cNvSpPr>
            <p:nvPr/>
          </p:nvSpPr>
          <p:spPr bwMode="auto">
            <a:xfrm>
              <a:off x="5428475" y="5380836"/>
              <a:ext cx="3312369" cy="103177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8" name="直接箭头连接符 109"/>
            <p:cNvCxnSpPr/>
            <p:nvPr/>
          </p:nvCxnSpPr>
          <p:spPr bwMode="auto">
            <a:xfrm flipV="1">
              <a:off x="6924505" y="5427404"/>
              <a:ext cx="1096259" cy="924488"/>
            </a:xfrm>
            <a:prstGeom prst="bentConnector3">
              <a:avLst>
                <a:gd name="adj1" fmla="val 70853"/>
              </a:avLst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9" name="直接箭头连接符 109"/>
            <p:cNvCxnSpPr/>
            <p:nvPr/>
          </p:nvCxnSpPr>
          <p:spPr bwMode="auto">
            <a:xfrm flipV="1">
              <a:off x="5822498" y="5427404"/>
              <a:ext cx="1118146" cy="924488"/>
            </a:xfrm>
            <a:prstGeom prst="bentConnector3">
              <a:avLst>
                <a:gd name="adj1" fmla="val 70445"/>
              </a:avLst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 flipV="1">
              <a:off x="8022946" y="6302018"/>
              <a:ext cx="0" cy="166588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Text Box 430"/>
            <p:cNvSpPr txBox="1">
              <a:spLocks noChangeArrowheads="1"/>
            </p:cNvSpPr>
            <p:nvPr/>
          </p:nvSpPr>
          <p:spPr bwMode="auto">
            <a:xfrm>
              <a:off x="7929333" y="6446034"/>
              <a:ext cx="156936" cy="2380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D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 Box 419"/>
            <p:cNvSpPr txBox="1">
              <a:spLocks noChangeArrowheads="1"/>
            </p:cNvSpPr>
            <p:nvPr/>
          </p:nvSpPr>
          <p:spPr bwMode="auto">
            <a:xfrm>
              <a:off x="5639285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30" name="Line 425"/>
            <p:cNvSpPr>
              <a:spLocks noChangeShapeType="1"/>
            </p:cNvSpPr>
            <p:nvPr/>
          </p:nvSpPr>
          <p:spPr bwMode="auto">
            <a:xfrm flipH="1" flipV="1">
              <a:off x="6243018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419"/>
            <p:cNvSpPr txBox="1">
              <a:spLocks noChangeArrowheads="1"/>
            </p:cNvSpPr>
            <p:nvPr/>
          </p:nvSpPr>
          <p:spPr bwMode="auto">
            <a:xfrm>
              <a:off x="6717981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32" name="Line 425"/>
            <p:cNvSpPr>
              <a:spLocks noChangeShapeType="1"/>
            </p:cNvSpPr>
            <p:nvPr/>
          </p:nvSpPr>
          <p:spPr bwMode="auto">
            <a:xfrm flipH="1" flipV="1">
              <a:off x="7330672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Text Box 419"/>
            <p:cNvSpPr txBox="1">
              <a:spLocks noChangeArrowheads="1"/>
            </p:cNvSpPr>
            <p:nvPr/>
          </p:nvSpPr>
          <p:spPr bwMode="auto">
            <a:xfrm>
              <a:off x="7812360" y="5495098"/>
              <a:ext cx="876931" cy="5466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Q   </a:t>
              </a:r>
              <a:r>
                <a:rPr lang="en-US" altLang="zh-CN" sz="18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 D CP R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34" name="Line 425"/>
            <p:cNvSpPr>
              <a:spLocks noChangeShapeType="1"/>
            </p:cNvSpPr>
            <p:nvPr/>
          </p:nvSpPr>
          <p:spPr bwMode="auto">
            <a:xfrm flipH="1" flipV="1">
              <a:off x="8416093" y="5531545"/>
              <a:ext cx="92149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5" name="直接箭头连接符 134"/>
            <p:cNvCxnSpPr/>
            <p:nvPr/>
          </p:nvCxnSpPr>
          <p:spPr bwMode="auto">
            <a:xfrm flipH="1" flipV="1">
              <a:off x="5830118" y="5328072"/>
              <a:ext cx="1882" cy="16703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 flipH="1" flipV="1">
              <a:off x="5830118" y="6041734"/>
              <a:ext cx="1880" cy="3174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7" name="直接箭头连接符 136"/>
            <p:cNvCxnSpPr/>
            <p:nvPr/>
          </p:nvCxnSpPr>
          <p:spPr bwMode="auto">
            <a:xfrm flipV="1">
              <a:off x="6120031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 bwMode="auto">
            <a:xfrm flipV="1">
              <a:off x="6424794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39" name="Line 425"/>
            <p:cNvSpPr>
              <a:spLocks noChangeShapeType="1"/>
            </p:cNvSpPr>
            <p:nvPr/>
          </p:nvSpPr>
          <p:spPr bwMode="auto">
            <a:xfrm flipH="1" flipV="1">
              <a:off x="5534540" y="6164454"/>
              <a:ext cx="3069907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425"/>
            <p:cNvSpPr>
              <a:spLocks noChangeShapeType="1"/>
            </p:cNvSpPr>
            <p:nvPr/>
          </p:nvSpPr>
          <p:spPr bwMode="auto">
            <a:xfrm flipH="1" flipV="1">
              <a:off x="5364087" y="6287184"/>
              <a:ext cx="2935598" cy="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1" name="直接箭头连接符 140"/>
            <p:cNvCxnSpPr/>
            <p:nvPr/>
          </p:nvCxnSpPr>
          <p:spPr bwMode="auto">
            <a:xfrm flipV="1">
              <a:off x="7205306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 flipV="1">
              <a:off x="7510069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 flipV="1">
              <a:off x="8299685" y="6041733"/>
              <a:ext cx="0" cy="245453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4" name="直接箭头连接符 143"/>
            <p:cNvCxnSpPr/>
            <p:nvPr/>
          </p:nvCxnSpPr>
          <p:spPr bwMode="auto">
            <a:xfrm flipV="1">
              <a:off x="8604448" y="6041733"/>
              <a:ext cx="0" cy="12272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 flipH="1" flipV="1">
              <a:off x="6932125" y="5339796"/>
              <a:ext cx="1880" cy="15530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 flipH="1" flipV="1">
              <a:off x="6932125" y="6041734"/>
              <a:ext cx="1880" cy="3174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 flipH="1" flipV="1">
              <a:off x="8026504" y="5328072"/>
              <a:ext cx="1880" cy="16702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 flipH="1" flipV="1">
              <a:off x="8026504" y="6041734"/>
              <a:ext cx="1880" cy="3174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84"/>
            <p:cNvCxnSpPr/>
            <p:nvPr/>
          </p:nvCxnSpPr>
          <p:spPr bwMode="auto">
            <a:xfrm rot="16200000" flipV="1">
              <a:off x="5312639" y="5942555"/>
              <a:ext cx="273353" cy="170454"/>
            </a:xfrm>
            <a:prstGeom prst="bentConnector3">
              <a:avLst>
                <a:gd name="adj1" fmla="val 97174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0" name="Text Box 470"/>
            <p:cNvSpPr txBox="1">
              <a:spLocks noChangeArrowheads="1"/>
            </p:cNvSpPr>
            <p:nvPr/>
          </p:nvSpPr>
          <p:spPr bwMode="auto">
            <a:xfrm>
              <a:off x="5076056" y="5711122"/>
              <a:ext cx="319345" cy="7200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Bef>
                  <a:spcPts val="12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CP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1" name="Text Box 430"/>
            <p:cNvSpPr txBox="1">
              <a:spLocks noChangeArrowheads="1"/>
            </p:cNvSpPr>
            <p:nvPr/>
          </p:nvSpPr>
          <p:spPr bwMode="auto">
            <a:xfrm>
              <a:off x="5751896" y="5085184"/>
              <a:ext cx="2564520" cy="242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800" b="1" baseline="-16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 Q</a:t>
              </a:r>
              <a:r>
                <a:rPr lang="en-US" altLang="zh-CN" sz="1800" baseline="-16000" dirty="0" smtClean="0">
                  <a:solidFill>
                    <a:schemeClr val="tx1"/>
                  </a:solidFill>
                </a:rPr>
                <a:t>0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399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703730" cy="1567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pic>
        <p:nvPicPr>
          <p:cNvPr id="3399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836712"/>
            <a:ext cx="633670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9512" y="354722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dirty="0" smtClean="0">
                <a:solidFill>
                  <a:srgbClr val="990099"/>
                </a:solidFill>
              </a:rPr>
              <a:t>     </a:t>
            </a:r>
            <a:r>
              <a:rPr lang="zh-CN" altLang="en-US" dirty="0" smtClean="0">
                <a:solidFill>
                  <a:srgbClr val="990099"/>
                </a:solidFill>
              </a:rPr>
              <a:t>示例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三态门、触发器、锁存器的特性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Quartus</a:t>
            </a:r>
            <a:r>
              <a:rPr lang="en-US" altLang="zh-CN" sz="1800" dirty="0" smtClean="0">
                <a:solidFill>
                  <a:schemeClr val="tx1"/>
                </a:solidFill>
              </a:rPr>
              <a:t> II</a:t>
            </a:r>
            <a:r>
              <a:rPr lang="zh-CN" altLang="en-US" sz="1800" dirty="0" smtClean="0">
                <a:solidFill>
                  <a:schemeClr val="tx1"/>
                </a:solidFill>
              </a:rPr>
              <a:t>的时序仿真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66" name="Text Box 7"/>
          <p:cNvSpPr txBox="1">
            <a:spLocks noChangeArrowheads="1"/>
          </p:cNvSpPr>
          <p:nvPr/>
        </p:nvSpPr>
        <p:spPr bwMode="auto">
          <a:xfrm>
            <a:off x="179513" y="4005064"/>
            <a:ext cx="613005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 寄  存  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由多个</a:t>
            </a:r>
            <a:r>
              <a:rPr lang="zh-CN" altLang="en-US" dirty="0" smtClean="0">
                <a:solidFill>
                  <a:schemeClr val="tx1"/>
                </a:solidFill>
              </a:rPr>
              <a:t>触发器</a:t>
            </a:r>
            <a:r>
              <a:rPr lang="zh-CN" altLang="en-US" u="sng" dirty="0">
                <a:solidFill>
                  <a:srgbClr val="990099"/>
                </a:solidFill>
              </a:rPr>
              <a:t>并联</a:t>
            </a:r>
            <a:r>
              <a:rPr lang="zh-CN" altLang="en-US" dirty="0" smtClean="0">
                <a:solidFill>
                  <a:schemeClr val="tx1"/>
                </a:solidFill>
              </a:rPr>
              <a:t>构成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移位寄存器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78" name="AutoShape 29"/>
          <p:cNvSpPr/>
          <p:nvPr/>
        </p:nvSpPr>
        <p:spPr bwMode="auto">
          <a:xfrm>
            <a:off x="4644112" y="3825072"/>
            <a:ext cx="936000" cy="252000"/>
          </a:xfrm>
          <a:prstGeom prst="borderCallout2">
            <a:avLst>
              <a:gd name="adj1" fmla="val 49599"/>
              <a:gd name="adj2" fmla="val -811"/>
              <a:gd name="adj3" fmla="val 49342"/>
              <a:gd name="adj4" fmla="val -10136"/>
              <a:gd name="adj5" fmla="val -451124"/>
              <a:gd name="adj6" fmla="val -126057"/>
            </a:avLst>
          </a:prstGeom>
          <a:noFill/>
          <a:ln w="12700">
            <a:solidFill>
              <a:srgbClr val="CC330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操作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时延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9" name="AutoShape 29"/>
          <p:cNvSpPr/>
          <p:nvPr/>
        </p:nvSpPr>
        <p:spPr bwMode="auto">
          <a:xfrm>
            <a:off x="7128392" y="3825072"/>
            <a:ext cx="972000" cy="252000"/>
          </a:xfrm>
          <a:prstGeom prst="borderCallout2">
            <a:avLst>
              <a:gd name="adj1" fmla="val 54051"/>
              <a:gd name="adj2" fmla="val -1185"/>
              <a:gd name="adj3" fmla="val 56225"/>
              <a:gd name="adj4" fmla="val -10690"/>
              <a:gd name="adj5" fmla="val -429691"/>
              <a:gd name="adj6" fmla="val -67315"/>
            </a:avLst>
          </a:prstGeom>
          <a:noFill/>
          <a:ln w="12700">
            <a:solidFill>
              <a:srgbClr val="CC330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高阻状态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0" name="AutoShape 29"/>
          <p:cNvSpPr/>
          <p:nvPr/>
        </p:nvSpPr>
        <p:spPr bwMode="auto">
          <a:xfrm>
            <a:off x="5832248" y="3825072"/>
            <a:ext cx="972000" cy="252000"/>
          </a:xfrm>
          <a:prstGeom prst="borderCallout2">
            <a:avLst>
              <a:gd name="adj1" fmla="val 51622"/>
              <a:gd name="adj2" fmla="val -554"/>
              <a:gd name="adj3" fmla="val 51367"/>
              <a:gd name="adj4" fmla="val -9427"/>
              <a:gd name="adj5" fmla="val -334165"/>
              <a:gd name="adj6" fmla="val -75576"/>
            </a:avLst>
          </a:prstGeom>
          <a:noFill/>
          <a:ln w="12700">
            <a:solidFill>
              <a:srgbClr val="CC330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锁住时刻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2143049" y="2248337"/>
            <a:ext cx="4930181" cy="1425487"/>
            <a:chOff x="1886749" y="2656866"/>
            <a:chExt cx="4930181" cy="1425487"/>
          </a:xfrm>
        </p:grpSpPr>
        <p:sp>
          <p:nvSpPr>
            <p:cNvPr id="105" name="Text Box 430"/>
            <p:cNvSpPr txBox="1">
              <a:spLocks noChangeArrowheads="1"/>
            </p:cNvSpPr>
            <p:nvPr/>
          </p:nvSpPr>
          <p:spPr bwMode="auto">
            <a:xfrm>
              <a:off x="1886749" y="4053553"/>
              <a:ext cx="308987" cy="28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直接箭头连接符 105"/>
            <p:cNvCxnSpPr/>
            <p:nvPr/>
          </p:nvCxnSpPr>
          <p:spPr bwMode="auto">
            <a:xfrm flipV="1">
              <a:off x="1889306" y="3837529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 flipV="1">
              <a:off x="6816930" y="3837529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V="1">
              <a:off x="4853664" y="384279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1886923" y="2656866"/>
              <a:ext cx="308813" cy="1368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4845013" y="2811200"/>
              <a:ext cx="288000" cy="1224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3131840" y="2250153"/>
            <a:ext cx="4896544" cy="460009"/>
            <a:chOff x="3131840" y="2394169"/>
            <a:chExt cx="4896544" cy="460009"/>
          </a:xfrm>
        </p:grpSpPr>
        <p:cxnSp>
          <p:nvCxnSpPr>
            <p:cNvPr id="112" name="直接箭头连接符 111"/>
            <p:cNvCxnSpPr/>
            <p:nvPr/>
          </p:nvCxnSpPr>
          <p:spPr bwMode="auto">
            <a:xfrm>
              <a:off x="3131840" y="2394169"/>
              <a:ext cx="339746" cy="396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  <p:cxnSp>
          <p:nvCxnSpPr>
            <p:cNvPr id="113" name="直接箭头连接符 112"/>
            <p:cNvCxnSpPr/>
            <p:nvPr/>
          </p:nvCxnSpPr>
          <p:spPr bwMode="auto">
            <a:xfrm>
              <a:off x="5107806" y="2590304"/>
              <a:ext cx="32400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  <p:cxnSp>
          <p:nvCxnSpPr>
            <p:cNvPr id="114" name="直接箭头连接符 113"/>
            <p:cNvCxnSpPr/>
            <p:nvPr/>
          </p:nvCxnSpPr>
          <p:spPr bwMode="auto">
            <a:xfrm>
              <a:off x="3131840" y="2582415"/>
              <a:ext cx="1986725" cy="1451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7092280" y="2581838"/>
              <a:ext cx="936104" cy="4189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6" name="Text Box 430"/>
            <p:cNvSpPr txBox="1">
              <a:spLocks noChangeArrowheads="1"/>
            </p:cNvSpPr>
            <p:nvPr/>
          </p:nvSpPr>
          <p:spPr bwMode="auto">
            <a:xfrm>
              <a:off x="3149899" y="2825378"/>
              <a:ext cx="308987" cy="28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7" name="AutoShape 29"/>
          <p:cNvSpPr/>
          <p:nvPr/>
        </p:nvSpPr>
        <p:spPr bwMode="auto">
          <a:xfrm>
            <a:off x="2411760" y="3825072"/>
            <a:ext cx="864000" cy="252000"/>
          </a:xfrm>
          <a:prstGeom prst="borderCallout2">
            <a:avLst>
              <a:gd name="adj1" fmla="val 54052"/>
              <a:gd name="adj2" fmla="val -811"/>
              <a:gd name="adj3" fmla="val 56022"/>
              <a:gd name="adj4" fmla="val -11320"/>
              <a:gd name="adj5" fmla="val -53489"/>
              <a:gd name="adj6" fmla="val -18311"/>
            </a:avLst>
          </a:prstGeom>
          <a:noFill/>
          <a:ln w="12700">
            <a:solidFill>
              <a:srgbClr val="CC330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操作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时延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27" name="Text Box 7"/>
          <p:cNvSpPr txBox="1">
            <a:spLocks noChangeArrowheads="1"/>
          </p:cNvSpPr>
          <p:nvPr/>
        </p:nvSpPr>
        <p:spPr bwMode="auto">
          <a:xfrm>
            <a:off x="2662218" y="4466729"/>
            <a:ext cx="486211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功能有串→并、并→串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 smtClean="0">
                <a:solidFill>
                  <a:schemeClr val="tx1"/>
                </a:solidFill>
              </a:rPr>
              <a:t>寄存器等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88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076057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139921" y="2252326"/>
            <a:ext cx="4888463" cy="960642"/>
            <a:chOff x="3139921" y="2396342"/>
            <a:chExt cx="4888463" cy="960642"/>
          </a:xfrm>
        </p:grpSpPr>
        <p:cxnSp>
          <p:nvCxnSpPr>
            <p:cNvPr id="99" name="直接箭头连接符 98"/>
            <p:cNvCxnSpPr/>
            <p:nvPr/>
          </p:nvCxnSpPr>
          <p:spPr bwMode="auto">
            <a:xfrm>
              <a:off x="3140730" y="2988485"/>
              <a:ext cx="196058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7092280" y="2988485"/>
              <a:ext cx="93610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3139921" y="2396342"/>
              <a:ext cx="267251" cy="792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5107806" y="2539504"/>
              <a:ext cx="288000" cy="756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oval" w="med" len="med"/>
              <a:tailEnd type="arrow" w="sm" len="sm"/>
            </a:ln>
            <a:effectLst/>
          </p:spPr>
        </p:cxnSp>
        <p:sp>
          <p:nvSpPr>
            <p:cNvPr id="103" name="椭圆 102"/>
            <p:cNvSpPr/>
            <p:nvPr/>
          </p:nvSpPr>
          <p:spPr bwMode="auto">
            <a:xfrm>
              <a:off x="5389488" y="3284984"/>
              <a:ext cx="45719" cy="72000"/>
            </a:xfrm>
            <a:prstGeom prst="ellips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9" name="Text Box 430"/>
            <p:cNvSpPr txBox="1">
              <a:spLocks noChangeArrowheads="1"/>
            </p:cNvSpPr>
            <p:nvPr/>
          </p:nvSpPr>
          <p:spPr bwMode="auto">
            <a:xfrm>
              <a:off x="3142726" y="3229305"/>
              <a:ext cx="252000" cy="288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</p:grpSp>
      <p:sp>
        <p:nvSpPr>
          <p:cNvPr id="81" name="AutoShape 29"/>
          <p:cNvSpPr/>
          <p:nvPr/>
        </p:nvSpPr>
        <p:spPr bwMode="auto">
          <a:xfrm>
            <a:off x="3635896" y="3825072"/>
            <a:ext cx="864000" cy="252000"/>
          </a:xfrm>
          <a:prstGeom prst="borderCallout2">
            <a:avLst>
              <a:gd name="adj1" fmla="val 51622"/>
              <a:gd name="adj2" fmla="val -554"/>
              <a:gd name="adj3" fmla="val 51367"/>
              <a:gd name="adj4" fmla="val -9427"/>
              <a:gd name="adj5" fmla="val -305115"/>
              <a:gd name="adj6" fmla="val -29811"/>
            </a:avLst>
          </a:prstGeom>
          <a:noFill/>
          <a:ln w="15875">
            <a:solidFill>
              <a:srgbClr val="CC3300"/>
            </a:solidFill>
            <a:prstDash val="sysDot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开始变化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ldLvl="0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117" grpId="0" animBg="1"/>
      <p:bldP spid="117" grpId="1" animBg="1"/>
      <p:bldP spid="127" grpId="0"/>
      <p:bldP spid="81" grpId="0" animBg="1"/>
      <p:bldP spid="81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A7DB-9E27-4F29-B9ED-B7652044F7CE}" type="slidenum">
              <a:rPr lang="en-US" altLang="zh-CN"/>
            </a:fld>
            <a:endParaRPr lang="en-US" altLang="zh-CN"/>
          </a:p>
        </p:txBody>
      </p:sp>
      <p:sp>
        <p:nvSpPr>
          <p:cNvPr id="337926" name="Text Box 6"/>
          <p:cNvSpPr txBox="1">
            <a:spLocks noChangeArrowheads="1"/>
          </p:cNvSpPr>
          <p:nvPr/>
        </p:nvSpPr>
        <p:spPr bwMode="auto">
          <a:xfrm>
            <a:off x="179388" y="348045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二、加法器的组成</a:t>
            </a:r>
            <a:endParaRPr lang="zh-CN" altLang="en-US" sz="2400" dirty="0"/>
          </a:p>
        </p:txBody>
      </p:sp>
      <p:sp>
        <p:nvSpPr>
          <p:cNvPr id="337927" name="Text Box 7"/>
          <p:cNvSpPr txBox="1">
            <a:spLocks noChangeArrowheads="1"/>
          </p:cNvSpPr>
          <p:nvPr/>
        </p:nvSpPr>
        <p:spPr bwMode="auto">
          <a:xfrm>
            <a:off x="179388" y="836712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</a:t>
            </a:r>
            <a:r>
              <a:rPr lang="zh-CN" altLang="en-US" dirty="0" smtClean="0">
                <a:solidFill>
                  <a:srgbClr val="FF3399"/>
                </a:solidFill>
              </a:rPr>
              <a:t>全加器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*真值表：</a:t>
            </a:r>
            <a:r>
              <a:rPr lang="zh-CN" altLang="en-US" dirty="0" smtClean="0">
                <a:solidFill>
                  <a:schemeClr val="tx1"/>
                </a:solidFill>
              </a:rPr>
              <a:t>半加器没有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i-1</a:t>
            </a:r>
            <a:endParaRPr lang="zh-CN" altLang="en-US" baseline="-16000" dirty="0">
              <a:solidFill>
                <a:schemeClr val="tx1"/>
              </a:solidFill>
            </a:endParaRPr>
          </a:p>
        </p:txBody>
      </p:sp>
      <p:sp>
        <p:nvSpPr>
          <p:cNvPr id="338128" name="Text Box 208"/>
          <p:cNvSpPr txBox="1">
            <a:spLocks noChangeArrowheads="1"/>
          </p:cNvSpPr>
          <p:nvPr/>
        </p:nvSpPr>
        <p:spPr bwMode="auto">
          <a:xfrm>
            <a:off x="179388" y="4221088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内部逻辑：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338336" name="Group 416"/>
          <p:cNvGraphicFramePr>
            <a:graphicFrameLocks noGrp="1"/>
          </p:cNvGraphicFramePr>
          <p:nvPr/>
        </p:nvGraphicFramePr>
        <p:xfrm>
          <a:off x="1187698" y="1935672"/>
          <a:ext cx="3888358" cy="2220264"/>
        </p:xfrm>
        <a:graphic>
          <a:graphicData uri="http://schemas.openxmlformats.org/drawingml/2006/table">
            <a:tbl>
              <a:tblPr/>
              <a:tblGrid>
                <a:gridCol w="360363"/>
                <a:gridCol w="431800"/>
                <a:gridCol w="503237"/>
                <a:gridCol w="576263"/>
                <a:gridCol w="864567"/>
                <a:gridCol w="1152128"/>
              </a:tblGrid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vert="eaVert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进位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-18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全加和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>
                        <a:alpha val="90000"/>
                      </a:srgbClr>
                    </a:solidFill>
                  </a:tcPr>
                </a:tc>
              </a:tr>
              <a:tr h="700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>
                        <a:alpha val="80000"/>
                      </a:srgbClr>
                    </a:solidFill>
                  </a:tcPr>
                </a:tc>
              </a:tr>
              <a:tr h="68262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8316" name="Object 396"/>
          <p:cNvGraphicFramePr>
            <a:graphicFrameLocks noChangeAspect="1"/>
          </p:cNvGraphicFramePr>
          <p:nvPr/>
        </p:nvGraphicFramePr>
        <p:xfrm>
          <a:off x="1331913" y="4730136"/>
          <a:ext cx="68484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60" name="公式" r:id="rId1" imgW="3810000" imgH="508000" progId="Equation.3">
                  <p:embed/>
                </p:oleObj>
              </mc:Choice>
              <mc:Fallback>
                <p:oleObj name="公式" r:id="rId1" imgW="3810000" imgH="508000" progId="Equation.3">
                  <p:embed/>
                  <p:pic>
                    <p:nvPicPr>
                      <p:cNvPr id="0" name="Picture 4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30136"/>
                        <a:ext cx="6848475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17" name="Object 397"/>
          <p:cNvGraphicFramePr>
            <a:graphicFrameLocks noChangeAspect="1"/>
          </p:cNvGraphicFramePr>
          <p:nvPr/>
        </p:nvGraphicFramePr>
        <p:xfrm>
          <a:off x="1331913" y="5647711"/>
          <a:ext cx="73437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61" name="公式" r:id="rId3" imgW="4254500" imgH="241300" progId="Equation.3">
                  <p:embed/>
                </p:oleObj>
              </mc:Choice>
              <mc:Fallback>
                <p:oleObj name="公式" r:id="rId3" imgW="4254500" imgH="241300" progId="Equation.3">
                  <p:embed/>
                  <p:pic>
                    <p:nvPicPr>
                      <p:cNvPr id="0" name="Picture 4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647711"/>
                        <a:ext cx="7343775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320" name="Group 400"/>
          <p:cNvGrpSpPr/>
          <p:nvPr/>
        </p:nvGrpSpPr>
        <p:grpSpPr bwMode="auto">
          <a:xfrm>
            <a:off x="5436939" y="1845742"/>
            <a:ext cx="3311525" cy="2519362"/>
            <a:chOff x="3334" y="1253"/>
            <a:chExt cx="2086" cy="1587"/>
          </a:xfrm>
        </p:grpSpPr>
        <p:sp>
          <p:nvSpPr>
            <p:cNvPr id="338321" name="Line 401"/>
            <p:cNvSpPr>
              <a:spLocks noChangeShapeType="1"/>
            </p:cNvSpPr>
            <p:nvPr/>
          </p:nvSpPr>
          <p:spPr bwMode="auto">
            <a:xfrm flipH="1" flipV="1">
              <a:off x="4467" y="2523"/>
              <a:ext cx="1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2" name="Line 402"/>
            <p:cNvSpPr>
              <a:spLocks noChangeShapeType="1"/>
            </p:cNvSpPr>
            <p:nvPr/>
          </p:nvSpPr>
          <p:spPr bwMode="auto">
            <a:xfrm flipV="1">
              <a:off x="4785" y="2523"/>
              <a:ext cx="0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3" name="Rectangle 403"/>
            <p:cNvSpPr>
              <a:spLocks noChangeArrowheads="1"/>
            </p:cNvSpPr>
            <p:nvPr/>
          </p:nvSpPr>
          <p:spPr bwMode="auto">
            <a:xfrm>
              <a:off x="3605" y="1570"/>
              <a:ext cx="1452" cy="95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24" name="Line 404"/>
            <p:cNvSpPr>
              <a:spLocks noChangeShapeType="1"/>
            </p:cNvSpPr>
            <p:nvPr/>
          </p:nvSpPr>
          <p:spPr bwMode="auto">
            <a:xfrm flipH="1" flipV="1">
              <a:off x="4513" y="1434"/>
              <a:ext cx="0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5" name="Text Box 405"/>
            <p:cNvSpPr txBox="1">
              <a:spLocks noChangeArrowheads="1"/>
            </p:cNvSpPr>
            <p:nvPr/>
          </p:nvSpPr>
          <p:spPr bwMode="auto">
            <a:xfrm>
              <a:off x="4422" y="1253"/>
              <a:ext cx="227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S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i</a:t>
              </a:r>
              <a:endParaRPr lang="en-US" altLang="zh-CN" sz="2000" baseline="-20000">
                <a:solidFill>
                  <a:schemeClr val="accent2"/>
                </a:solidFill>
              </a:endParaRPr>
            </a:p>
          </p:txBody>
        </p:sp>
        <p:sp>
          <p:nvSpPr>
            <p:cNvPr id="338326" name="Text Box 406"/>
            <p:cNvSpPr txBox="1">
              <a:spLocks noChangeArrowheads="1"/>
            </p:cNvSpPr>
            <p:nvPr/>
          </p:nvSpPr>
          <p:spPr bwMode="auto">
            <a:xfrm>
              <a:off x="3334" y="1842"/>
              <a:ext cx="227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i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8327" name="Text Box 407"/>
            <p:cNvSpPr txBox="1">
              <a:spLocks noChangeArrowheads="1"/>
            </p:cNvSpPr>
            <p:nvPr/>
          </p:nvSpPr>
          <p:spPr bwMode="auto">
            <a:xfrm>
              <a:off x="4421" y="2659"/>
              <a:ext cx="500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A</a:t>
              </a:r>
              <a:r>
                <a:rPr lang="en-US" altLang="zh-CN" sz="2000" baseline="-18000">
                  <a:solidFill>
                    <a:schemeClr val="accent2"/>
                  </a:solidFill>
                </a:rPr>
                <a:t>i</a:t>
              </a:r>
              <a:r>
                <a:rPr lang="en-US" altLang="zh-CN" sz="2000">
                  <a:solidFill>
                    <a:schemeClr val="accent2"/>
                  </a:solidFill>
                </a:rPr>
                <a:t>  B</a:t>
              </a:r>
              <a:r>
                <a:rPr lang="en-US" altLang="zh-CN" sz="2000" baseline="-18000">
                  <a:solidFill>
                    <a:schemeClr val="accent2"/>
                  </a:solidFill>
                </a:rPr>
                <a:t>i</a:t>
              </a:r>
              <a:endParaRPr lang="en-US" altLang="zh-CN" sz="2000" baseline="-18000">
                <a:solidFill>
                  <a:schemeClr val="accent2"/>
                </a:solidFill>
              </a:endParaRPr>
            </a:p>
          </p:txBody>
        </p:sp>
        <p:sp>
          <p:nvSpPr>
            <p:cNvPr id="338328" name="Text Box 408"/>
            <p:cNvSpPr txBox="1">
              <a:spLocks noChangeArrowheads="1"/>
            </p:cNvSpPr>
            <p:nvPr/>
          </p:nvSpPr>
          <p:spPr bwMode="auto">
            <a:xfrm>
              <a:off x="5102" y="1797"/>
              <a:ext cx="318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i-1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8329" name="Line 409"/>
            <p:cNvSpPr>
              <a:spLocks noChangeShapeType="1"/>
            </p:cNvSpPr>
            <p:nvPr/>
          </p:nvSpPr>
          <p:spPr bwMode="auto">
            <a:xfrm flipH="1">
              <a:off x="3334" y="2069"/>
              <a:ext cx="27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0" name="Line 410"/>
            <p:cNvSpPr>
              <a:spLocks noChangeShapeType="1"/>
            </p:cNvSpPr>
            <p:nvPr/>
          </p:nvSpPr>
          <p:spPr bwMode="auto">
            <a:xfrm flipH="1">
              <a:off x="5056" y="2024"/>
              <a:ext cx="319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337" name="Group 417"/>
          <p:cNvGrpSpPr/>
          <p:nvPr/>
        </p:nvGrpSpPr>
        <p:grpSpPr bwMode="auto">
          <a:xfrm>
            <a:off x="5871120" y="2780928"/>
            <a:ext cx="1870075" cy="938213"/>
            <a:chOff x="1021" y="1842"/>
            <a:chExt cx="1178" cy="591"/>
          </a:xfrm>
        </p:grpSpPr>
        <p:sp>
          <p:nvSpPr>
            <p:cNvPr id="338338" name="Text Box 418"/>
            <p:cNvSpPr txBox="1">
              <a:spLocks noChangeArrowheads="1"/>
            </p:cNvSpPr>
            <p:nvPr/>
          </p:nvSpPr>
          <p:spPr bwMode="auto">
            <a:xfrm>
              <a:off x="1111" y="1842"/>
              <a:ext cx="226" cy="451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200">
                  <a:solidFill>
                    <a:schemeClr val="tx1"/>
                  </a:solidFill>
                </a:rPr>
                <a:t>≥</a:t>
              </a:r>
              <a:r>
                <a:rPr lang="en-US" altLang="zh-CN" sz="1800">
                  <a:solidFill>
                    <a:schemeClr val="tx1"/>
                  </a:solidFill>
                </a:rPr>
                <a:t>1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338339" name="Line 419"/>
            <p:cNvSpPr>
              <a:spLocks noChangeShapeType="1"/>
            </p:cNvSpPr>
            <p:nvPr/>
          </p:nvSpPr>
          <p:spPr bwMode="auto">
            <a:xfrm flipV="1">
              <a:off x="1700" y="211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1" name="Text Box 421"/>
            <p:cNvSpPr txBox="1">
              <a:spLocks noChangeArrowheads="1"/>
            </p:cNvSpPr>
            <p:nvPr/>
          </p:nvSpPr>
          <p:spPr bwMode="auto">
            <a:xfrm>
              <a:off x="1337" y="2069"/>
              <a:ext cx="181" cy="22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&amp;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338343" name="Line 423"/>
            <p:cNvSpPr>
              <a:spLocks noChangeShapeType="1"/>
            </p:cNvSpPr>
            <p:nvPr/>
          </p:nvSpPr>
          <p:spPr bwMode="auto">
            <a:xfrm flipH="1" flipV="1">
              <a:off x="1609" y="2432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4" name="Line 424"/>
            <p:cNvSpPr>
              <a:spLocks noChangeShapeType="1"/>
            </p:cNvSpPr>
            <p:nvPr/>
          </p:nvSpPr>
          <p:spPr bwMode="auto">
            <a:xfrm flipH="1" flipV="1">
              <a:off x="1700" y="2341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0" name="Line 430"/>
            <p:cNvSpPr>
              <a:spLocks noChangeShapeType="1"/>
            </p:cNvSpPr>
            <p:nvPr/>
          </p:nvSpPr>
          <p:spPr bwMode="auto">
            <a:xfrm flipH="1" flipV="1">
              <a:off x="1021" y="2069"/>
              <a:ext cx="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1" name="Line 431"/>
            <p:cNvSpPr>
              <a:spLocks noChangeShapeType="1"/>
            </p:cNvSpPr>
            <p:nvPr/>
          </p:nvSpPr>
          <p:spPr bwMode="auto">
            <a:xfrm flipV="1">
              <a:off x="1609" y="2251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2" name="Line 432"/>
            <p:cNvSpPr>
              <a:spLocks noChangeShapeType="1"/>
            </p:cNvSpPr>
            <p:nvPr/>
          </p:nvSpPr>
          <p:spPr bwMode="auto">
            <a:xfrm flipH="1" flipV="1">
              <a:off x="1518" y="2115"/>
              <a:ext cx="1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3" name="Line 433"/>
            <p:cNvSpPr>
              <a:spLocks noChangeShapeType="1"/>
            </p:cNvSpPr>
            <p:nvPr/>
          </p:nvSpPr>
          <p:spPr bwMode="auto">
            <a:xfrm flipH="1" flipV="1">
              <a:off x="1518" y="2251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4" name="Text Box 434"/>
            <p:cNvSpPr txBox="1">
              <a:spLocks noChangeArrowheads="1"/>
            </p:cNvSpPr>
            <p:nvPr/>
          </p:nvSpPr>
          <p:spPr bwMode="auto">
            <a:xfrm>
              <a:off x="1337" y="1842"/>
              <a:ext cx="181" cy="22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338355" name="Line 435"/>
            <p:cNvSpPr>
              <a:spLocks noChangeShapeType="1"/>
            </p:cNvSpPr>
            <p:nvPr/>
          </p:nvSpPr>
          <p:spPr bwMode="auto">
            <a:xfrm flipH="1" flipV="1">
              <a:off x="1518" y="1888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417"/>
          <p:cNvGrpSpPr/>
          <p:nvPr/>
        </p:nvGrpSpPr>
        <p:grpSpPr bwMode="auto">
          <a:xfrm>
            <a:off x="6661075" y="2348880"/>
            <a:ext cx="1512888" cy="1514475"/>
            <a:chOff x="1518" y="1570"/>
            <a:chExt cx="953" cy="954"/>
          </a:xfrm>
        </p:grpSpPr>
        <p:sp>
          <p:nvSpPr>
            <p:cNvPr id="45" name="Line 420"/>
            <p:cNvSpPr>
              <a:spLocks noChangeShapeType="1"/>
            </p:cNvSpPr>
            <p:nvPr/>
          </p:nvSpPr>
          <p:spPr bwMode="auto">
            <a:xfrm flipV="1">
              <a:off x="1881" y="2251"/>
              <a:ext cx="0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22"/>
            <p:cNvSpPr>
              <a:spLocks noChangeShapeType="1"/>
            </p:cNvSpPr>
            <p:nvPr/>
          </p:nvSpPr>
          <p:spPr bwMode="auto">
            <a:xfrm flipV="1">
              <a:off x="2199" y="2251"/>
              <a:ext cx="0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25"/>
            <p:cNvSpPr>
              <a:spLocks noChangeShapeType="1"/>
            </p:cNvSpPr>
            <p:nvPr/>
          </p:nvSpPr>
          <p:spPr bwMode="auto">
            <a:xfrm flipV="1">
              <a:off x="2108" y="1797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26"/>
            <p:cNvSpPr>
              <a:spLocks noChangeShapeType="1"/>
            </p:cNvSpPr>
            <p:nvPr/>
          </p:nvSpPr>
          <p:spPr bwMode="auto">
            <a:xfrm flipH="1" flipV="1">
              <a:off x="1518" y="2024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427"/>
            <p:cNvSpPr txBox="1">
              <a:spLocks noChangeArrowheads="1"/>
            </p:cNvSpPr>
            <p:nvPr/>
          </p:nvSpPr>
          <p:spPr bwMode="auto">
            <a:xfrm>
              <a:off x="1836" y="2115"/>
              <a:ext cx="408" cy="13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=1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53" name="Text Box 428"/>
            <p:cNvSpPr txBox="1">
              <a:spLocks noChangeArrowheads="1"/>
            </p:cNvSpPr>
            <p:nvPr/>
          </p:nvSpPr>
          <p:spPr bwMode="auto">
            <a:xfrm>
              <a:off x="1745" y="1661"/>
              <a:ext cx="408" cy="13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=1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54" name="Line 429"/>
            <p:cNvSpPr>
              <a:spLocks noChangeShapeType="1"/>
            </p:cNvSpPr>
            <p:nvPr/>
          </p:nvSpPr>
          <p:spPr bwMode="auto">
            <a:xfrm flipV="1">
              <a:off x="1790" y="1797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436"/>
            <p:cNvSpPr>
              <a:spLocks noChangeShapeType="1"/>
            </p:cNvSpPr>
            <p:nvPr/>
          </p:nvSpPr>
          <p:spPr bwMode="auto">
            <a:xfrm flipH="1" flipV="1">
              <a:off x="1927" y="1570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AutoShape 406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514875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AutoShape 437">
            <a:hlinkClick r:id="rId6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915816" y="651926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3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3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3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3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7" grpId="0"/>
      <p:bldP spid="338128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61609-D5AD-4BC7-9915-45D6E081292C}" type="slidenum">
              <a:rPr lang="en-US" altLang="zh-CN"/>
            </a:fld>
            <a:endParaRPr lang="en-US" altLang="zh-CN"/>
          </a:p>
        </p:txBody>
      </p:sp>
      <p:sp>
        <p:nvSpPr>
          <p:cNvPr id="419235" name="Text Box 419"/>
          <p:cNvSpPr txBox="1">
            <a:spLocks noChangeArrowheads="1"/>
          </p:cNvSpPr>
          <p:nvPr/>
        </p:nvSpPr>
        <p:spPr bwMode="auto">
          <a:xfrm>
            <a:off x="179388" y="332656"/>
            <a:ext cx="5581649" cy="37087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、串行进位加法器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</a:t>
            </a:r>
            <a:r>
              <a:rPr lang="zh-CN" altLang="en-US" dirty="0">
                <a:solidFill>
                  <a:srgbClr val="C00000"/>
                </a:solidFill>
              </a:rPr>
              <a:t>组成：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</a:rPr>
              <a:t>个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r>
              <a:rPr lang="zh-CN" altLang="en-US" dirty="0">
                <a:solidFill>
                  <a:schemeClr val="tx1"/>
                </a:solidFill>
              </a:rPr>
              <a:t>全加器＋串行</a:t>
            </a:r>
            <a:r>
              <a:rPr lang="zh-CN" altLang="en-US" dirty="0">
                <a:solidFill>
                  <a:schemeClr val="tx1"/>
                </a:solidFill>
              </a:rPr>
              <a:t>进位</a:t>
            </a:r>
            <a:r>
              <a:rPr lang="zh-CN" altLang="en-US" dirty="0" smtClean="0">
                <a:solidFill>
                  <a:schemeClr val="tx1"/>
                </a:solidFill>
              </a:rPr>
              <a:t>逻辑</a:t>
            </a:r>
            <a:endParaRPr lang="en-US" altLang="zh-CN" dirty="0" smtClean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 smtClean="0">
              <a:solidFill>
                <a:schemeClr val="tx1"/>
              </a:solidFill>
            </a:endParaRPr>
          </a:p>
          <a:p>
            <a:endParaRPr lang="en-US" altLang="zh-CN" sz="2000" dirty="0" smtClean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串行进位逻辑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50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特点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19295" name="Group 479"/>
          <p:cNvGrpSpPr/>
          <p:nvPr/>
        </p:nvGrpSpPr>
        <p:grpSpPr bwMode="auto">
          <a:xfrm>
            <a:off x="1476375" y="1270199"/>
            <a:ext cx="6626225" cy="1582737"/>
            <a:chOff x="930" y="755"/>
            <a:chExt cx="4174" cy="997"/>
          </a:xfrm>
        </p:grpSpPr>
        <p:sp>
          <p:nvSpPr>
            <p:cNvPr id="419237" name="Text Box 421"/>
            <p:cNvSpPr txBox="1">
              <a:spLocks noChangeArrowheads="1"/>
            </p:cNvSpPr>
            <p:nvPr/>
          </p:nvSpPr>
          <p:spPr bwMode="auto">
            <a:xfrm>
              <a:off x="4195" y="1072"/>
              <a:ext cx="546" cy="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800">
                  <a:solidFill>
                    <a:schemeClr val="tx1"/>
                  </a:solidFill>
                </a:rPr>
                <a:t>∑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  <p:sp>
          <p:nvSpPr>
            <p:cNvPr id="419238" name="Text Box 422"/>
            <p:cNvSpPr txBox="1">
              <a:spLocks noChangeArrowheads="1"/>
            </p:cNvSpPr>
            <p:nvPr/>
          </p:nvSpPr>
          <p:spPr bwMode="auto">
            <a:xfrm>
              <a:off x="4331" y="755"/>
              <a:ext cx="226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S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0</a:t>
              </a:r>
              <a:endParaRPr lang="en-US" altLang="zh-CN" sz="2000" baseline="-20000">
                <a:solidFill>
                  <a:schemeClr val="accent2"/>
                </a:solidFill>
              </a:endParaRPr>
            </a:p>
          </p:txBody>
        </p:sp>
        <p:sp>
          <p:nvSpPr>
            <p:cNvPr id="419239" name="Text Box 423"/>
            <p:cNvSpPr txBox="1">
              <a:spLocks noChangeArrowheads="1"/>
            </p:cNvSpPr>
            <p:nvPr/>
          </p:nvSpPr>
          <p:spPr bwMode="auto">
            <a:xfrm>
              <a:off x="3968" y="1027"/>
              <a:ext cx="227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0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419240" name="Text Box 424"/>
            <p:cNvSpPr txBox="1">
              <a:spLocks noChangeArrowheads="1"/>
            </p:cNvSpPr>
            <p:nvPr/>
          </p:nvSpPr>
          <p:spPr bwMode="auto">
            <a:xfrm>
              <a:off x="4286" y="1526"/>
              <a:ext cx="499" cy="2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A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0</a:t>
              </a:r>
              <a:r>
                <a:rPr lang="en-US" altLang="zh-CN" sz="2000">
                  <a:solidFill>
                    <a:schemeClr val="accent2"/>
                  </a:solidFill>
                </a:rPr>
                <a:t>  B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0</a:t>
              </a:r>
              <a:endParaRPr lang="en-US" altLang="zh-CN" sz="2000" baseline="-20000">
                <a:solidFill>
                  <a:schemeClr val="accent2"/>
                </a:solidFill>
              </a:endParaRPr>
            </a:p>
          </p:txBody>
        </p:sp>
        <p:sp>
          <p:nvSpPr>
            <p:cNvPr id="419241" name="Text Box 425"/>
            <p:cNvSpPr txBox="1">
              <a:spLocks noChangeArrowheads="1"/>
            </p:cNvSpPr>
            <p:nvPr/>
          </p:nvSpPr>
          <p:spPr bwMode="auto">
            <a:xfrm>
              <a:off x="4876" y="1027"/>
              <a:ext cx="228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-1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419242" name="Line 426"/>
            <p:cNvSpPr>
              <a:spLocks noChangeShapeType="1"/>
            </p:cNvSpPr>
            <p:nvPr/>
          </p:nvSpPr>
          <p:spPr bwMode="auto">
            <a:xfrm flipH="1" flipV="1">
              <a:off x="3923" y="1254"/>
              <a:ext cx="272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43" name="Line 427"/>
            <p:cNvSpPr>
              <a:spLocks noChangeShapeType="1"/>
            </p:cNvSpPr>
            <p:nvPr/>
          </p:nvSpPr>
          <p:spPr bwMode="auto">
            <a:xfrm flipH="1" flipV="1">
              <a:off x="4740" y="1253"/>
              <a:ext cx="36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44" name="Text Box 428"/>
            <p:cNvSpPr txBox="1">
              <a:spLocks noChangeArrowheads="1"/>
            </p:cNvSpPr>
            <p:nvPr/>
          </p:nvSpPr>
          <p:spPr bwMode="auto">
            <a:xfrm>
              <a:off x="2336" y="1072"/>
              <a:ext cx="546" cy="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800">
                  <a:solidFill>
                    <a:schemeClr val="tx1"/>
                  </a:solidFill>
                </a:rPr>
                <a:t>∑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  <p:sp>
          <p:nvSpPr>
            <p:cNvPr id="419245" name="Text Box 429"/>
            <p:cNvSpPr txBox="1">
              <a:spLocks noChangeArrowheads="1"/>
            </p:cNvSpPr>
            <p:nvPr/>
          </p:nvSpPr>
          <p:spPr bwMode="auto">
            <a:xfrm>
              <a:off x="2019" y="1027"/>
              <a:ext cx="317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n-2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419246" name="Line 430"/>
            <p:cNvSpPr>
              <a:spLocks noChangeShapeType="1"/>
            </p:cNvSpPr>
            <p:nvPr/>
          </p:nvSpPr>
          <p:spPr bwMode="auto">
            <a:xfrm flipH="1" flipV="1">
              <a:off x="1928" y="1254"/>
              <a:ext cx="40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47" name="Line 431"/>
            <p:cNvSpPr>
              <a:spLocks noChangeShapeType="1"/>
            </p:cNvSpPr>
            <p:nvPr/>
          </p:nvSpPr>
          <p:spPr bwMode="auto">
            <a:xfrm flipH="1" flipV="1">
              <a:off x="2880" y="1254"/>
              <a:ext cx="36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48" name="Text Box 432"/>
            <p:cNvSpPr txBox="1">
              <a:spLocks noChangeArrowheads="1"/>
            </p:cNvSpPr>
            <p:nvPr/>
          </p:nvSpPr>
          <p:spPr bwMode="auto">
            <a:xfrm>
              <a:off x="1382" y="1072"/>
              <a:ext cx="546" cy="3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800" dirty="0">
                  <a:solidFill>
                    <a:schemeClr val="tx1"/>
                  </a:solidFill>
                </a:rPr>
                <a:t>∑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419249" name="Line 433"/>
            <p:cNvSpPr>
              <a:spLocks noChangeShapeType="1"/>
            </p:cNvSpPr>
            <p:nvPr/>
          </p:nvSpPr>
          <p:spPr bwMode="auto">
            <a:xfrm flipV="1">
              <a:off x="1654" y="936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50" name="Text Box 434"/>
            <p:cNvSpPr txBox="1">
              <a:spLocks noChangeArrowheads="1"/>
            </p:cNvSpPr>
            <p:nvPr/>
          </p:nvSpPr>
          <p:spPr bwMode="auto">
            <a:xfrm>
              <a:off x="1564" y="755"/>
              <a:ext cx="319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S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n-1</a:t>
              </a:r>
              <a:r>
                <a:rPr lang="en-US" altLang="zh-CN" sz="2000">
                  <a:solidFill>
                    <a:schemeClr val="accent2"/>
                  </a:solidFill>
                </a:rPr>
                <a:t> </a:t>
              </a:r>
              <a:endParaRPr lang="en-US" altLang="zh-CN" sz="2000">
                <a:solidFill>
                  <a:schemeClr val="accent2"/>
                </a:solidFill>
              </a:endParaRPr>
            </a:p>
          </p:txBody>
        </p:sp>
        <p:sp>
          <p:nvSpPr>
            <p:cNvPr id="419251" name="Text Box 435"/>
            <p:cNvSpPr txBox="1">
              <a:spLocks noChangeArrowheads="1"/>
            </p:cNvSpPr>
            <p:nvPr/>
          </p:nvSpPr>
          <p:spPr bwMode="auto">
            <a:xfrm>
              <a:off x="975" y="1027"/>
              <a:ext cx="272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n-1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419252" name="Text Box 436"/>
            <p:cNvSpPr txBox="1">
              <a:spLocks noChangeArrowheads="1"/>
            </p:cNvSpPr>
            <p:nvPr/>
          </p:nvSpPr>
          <p:spPr bwMode="auto">
            <a:xfrm>
              <a:off x="1456" y="1551"/>
              <a:ext cx="608" cy="2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A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n-1</a:t>
              </a:r>
              <a:r>
                <a:rPr lang="en-US" altLang="zh-CN" sz="2000">
                  <a:solidFill>
                    <a:schemeClr val="accent2"/>
                  </a:solidFill>
                </a:rPr>
                <a:t> B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n-1</a:t>
              </a:r>
              <a:endParaRPr lang="en-US" altLang="zh-CN" sz="2000" baseline="-20000">
                <a:solidFill>
                  <a:schemeClr val="accent2"/>
                </a:solidFill>
              </a:endParaRPr>
            </a:p>
          </p:txBody>
        </p:sp>
        <p:sp>
          <p:nvSpPr>
            <p:cNvPr id="419253" name="Line 437"/>
            <p:cNvSpPr>
              <a:spLocks noChangeShapeType="1"/>
            </p:cNvSpPr>
            <p:nvPr/>
          </p:nvSpPr>
          <p:spPr bwMode="auto">
            <a:xfrm flipH="1" flipV="1">
              <a:off x="930" y="1253"/>
              <a:ext cx="452" cy="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54" name="Line 438"/>
            <p:cNvSpPr>
              <a:spLocks noChangeShapeType="1"/>
            </p:cNvSpPr>
            <p:nvPr/>
          </p:nvSpPr>
          <p:spPr bwMode="auto">
            <a:xfrm flipH="1" flipV="1">
              <a:off x="1836" y="1435"/>
              <a:ext cx="1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55" name="Line 439"/>
            <p:cNvSpPr>
              <a:spLocks noChangeShapeType="1"/>
            </p:cNvSpPr>
            <p:nvPr/>
          </p:nvSpPr>
          <p:spPr bwMode="auto">
            <a:xfrm flipH="1" flipV="1">
              <a:off x="1518" y="1435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56" name="Text Box 440"/>
            <p:cNvSpPr txBox="1">
              <a:spLocks noChangeArrowheads="1"/>
            </p:cNvSpPr>
            <p:nvPr/>
          </p:nvSpPr>
          <p:spPr bwMode="auto">
            <a:xfrm>
              <a:off x="2972" y="1027"/>
              <a:ext cx="317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n-3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419257" name="Text Box 441"/>
            <p:cNvSpPr txBox="1">
              <a:spLocks noChangeArrowheads="1"/>
            </p:cNvSpPr>
            <p:nvPr/>
          </p:nvSpPr>
          <p:spPr bwMode="auto">
            <a:xfrm>
              <a:off x="3334" y="1072"/>
              <a:ext cx="590" cy="31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800">
                  <a:solidFill>
                    <a:schemeClr val="tx1"/>
                  </a:solidFill>
                </a:rPr>
                <a:t>……</a:t>
              </a:r>
              <a:endParaRPr lang="en-US" altLang="zh-CN" sz="2800" baseline="-20000">
                <a:solidFill>
                  <a:schemeClr val="tx1"/>
                </a:solidFill>
              </a:endParaRPr>
            </a:p>
          </p:txBody>
        </p:sp>
        <p:sp>
          <p:nvSpPr>
            <p:cNvPr id="419258" name="Line 442"/>
            <p:cNvSpPr>
              <a:spLocks noChangeShapeType="1"/>
            </p:cNvSpPr>
            <p:nvPr/>
          </p:nvSpPr>
          <p:spPr bwMode="auto">
            <a:xfrm flipV="1">
              <a:off x="2608" y="936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59" name="Text Box 443"/>
            <p:cNvSpPr txBox="1">
              <a:spLocks noChangeArrowheads="1"/>
            </p:cNvSpPr>
            <p:nvPr/>
          </p:nvSpPr>
          <p:spPr bwMode="auto">
            <a:xfrm>
              <a:off x="2535" y="755"/>
              <a:ext cx="319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S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n-2</a:t>
              </a:r>
              <a:r>
                <a:rPr lang="en-US" altLang="zh-CN" sz="2000">
                  <a:solidFill>
                    <a:schemeClr val="accent2"/>
                  </a:solidFill>
                </a:rPr>
                <a:t> </a:t>
              </a:r>
              <a:endParaRPr lang="en-US" altLang="zh-CN" sz="2000">
                <a:solidFill>
                  <a:schemeClr val="accent2"/>
                </a:solidFill>
              </a:endParaRPr>
            </a:p>
          </p:txBody>
        </p:sp>
        <p:sp>
          <p:nvSpPr>
            <p:cNvPr id="419260" name="Text Box 444"/>
            <p:cNvSpPr txBox="1">
              <a:spLocks noChangeArrowheads="1"/>
            </p:cNvSpPr>
            <p:nvPr/>
          </p:nvSpPr>
          <p:spPr bwMode="auto">
            <a:xfrm>
              <a:off x="2427" y="1551"/>
              <a:ext cx="635" cy="2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>
                  <a:solidFill>
                    <a:schemeClr val="accent2"/>
                  </a:solidFill>
                </a:rPr>
                <a:t>A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n-2</a:t>
              </a:r>
              <a:r>
                <a:rPr lang="en-US" altLang="zh-CN" sz="2000">
                  <a:solidFill>
                    <a:schemeClr val="accent2"/>
                  </a:solidFill>
                </a:rPr>
                <a:t> B</a:t>
              </a:r>
              <a:r>
                <a:rPr lang="en-US" altLang="zh-CN" sz="2000" baseline="-20000">
                  <a:solidFill>
                    <a:schemeClr val="accent2"/>
                  </a:solidFill>
                </a:rPr>
                <a:t>n-2</a:t>
              </a:r>
              <a:endParaRPr lang="en-US" altLang="zh-CN" sz="2000" baseline="-20000">
                <a:solidFill>
                  <a:schemeClr val="accent2"/>
                </a:solidFill>
              </a:endParaRPr>
            </a:p>
          </p:txBody>
        </p:sp>
        <p:sp>
          <p:nvSpPr>
            <p:cNvPr id="419261" name="Line 445"/>
            <p:cNvSpPr>
              <a:spLocks noChangeShapeType="1"/>
            </p:cNvSpPr>
            <p:nvPr/>
          </p:nvSpPr>
          <p:spPr bwMode="auto">
            <a:xfrm flipH="1" flipV="1">
              <a:off x="2790" y="1435"/>
              <a:ext cx="1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62" name="Line 446"/>
            <p:cNvSpPr>
              <a:spLocks noChangeShapeType="1"/>
            </p:cNvSpPr>
            <p:nvPr/>
          </p:nvSpPr>
          <p:spPr bwMode="auto">
            <a:xfrm flipH="1" flipV="1">
              <a:off x="2472" y="1435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63" name="Line 447"/>
            <p:cNvSpPr>
              <a:spLocks noChangeShapeType="1"/>
            </p:cNvSpPr>
            <p:nvPr/>
          </p:nvSpPr>
          <p:spPr bwMode="auto">
            <a:xfrm flipV="1">
              <a:off x="4467" y="936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64" name="Line 448"/>
            <p:cNvSpPr>
              <a:spLocks noChangeShapeType="1"/>
            </p:cNvSpPr>
            <p:nvPr/>
          </p:nvSpPr>
          <p:spPr bwMode="auto">
            <a:xfrm flipH="1" flipV="1">
              <a:off x="4649" y="1435"/>
              <a:ext cx="1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65" name="Line 449"/>
            <p:cNvSpPr>
              <a:spLocks noChangeShapeType="1"/>
            </p:cNvSpPr>
            <p:nvPr/>
          </p:nvSpPr>
          <p:spPr bwMode="auto">
            <a:xfrm flipH="1" flipV="1">
              <a:off x="4331" y="1435"/>
              <a:ext cx="2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266" name="Rectangle 450"/>
            <p:cNvSpPr>
              <a:spLocks noChangeArrowheads="1"/>
            </p:cNvSpPr>
            <p:nvPr/>
          </p:nvSpPr>
          <p:spPr bwMode="auto">
            <a:xfrm>
              <a:off x="1292" y="1028"/>
              <a:ext cx="3538" cy="49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9278" name="Text Box 462"/>
          <p:cNvSpPr txBox="1">
            <a:spLocks noChangeArrowheads="1"/>
          </p:cNvSpPr>
          <p:nvPr/>
        </p:nvSpPr>
        <p:spPr bwMode="auto">
          <a:xfrm>
            <a:off x="2987824" y="2924944"/>
            <a:ext cx="583277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串行形成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18000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→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 smtClean="0">
                <a:solidFill>
                  <a:schemeClr val="tx1"/>
                </a:solidFill>
              </a:rPr>
              <a:t>A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i</a:t>
            </a:r>
            <a:r>
              <a:rPr lang="en-US" altLang="zh-CN" b="0" dirty="0" err="1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err="1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i</a:t>
            </a:r>
            <a:r>
              <a:rPr lang="en-US" altLang="zh-CN" dirty="0" smtClean="0">
                <a:solidFill>
                  <a:schemeClr val="tx1"/>
                </a:solidFill>
              </a:rPr>
              <a:t>)C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i-1</a:t>
            </a:r>
            <a:endParaRPr lang="en-US" altLang="zh-CN" baseline="-18000" dirty="0">
              <a:solidFill>
                <a:schemeClr val="tx1"/>
              </a:solidFill>
            </a:endParaRPr>
          </a:p>
        </p:txBody>
      </p:sp>
      <p:sp>
        <p:nvSpPr>
          <p:cNvPr id="419283" name="Text Box 467"/>
          <p:cNvSpPr txBox="1">
            <a:spLocks noChangeArrowheads="1"/>
          </p:cNvSpPr>
          <p:nvPr/>
        </p:nvSpPr>
        <p:spPr bwMode="auto">
          <a:xfrm>
            <a:off x="1403648" y="3429000"/>
            <a:ext cx="5688756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进位</a:t>
            </a:r>
            <a:r>
              <a:rPr lang="zh-CN" altLang="en-US" dirty="0">
                <a:solidFill>
                  <a:schemeClr val="tx1"/>
                </a:solidFill>
              </a:rPr>
              <a:t>电路简单，运算速度慢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latin typeface="+mn-lt"/>
              </a:rPr>
              <a:t>T</a:t>
            </a:r>
            <a:r>
              <a:rPr lang="zh-CN" altLang="en-US" sz="2000" baseline="-18000" dirty="0" smtClean="0">
                <a:solidFill>
                  <a:schemeClr val="tx1"/>
                </a:solidFill>
              </a:rPr>
              <a:t>加法</a:t>
            </a:r>
            <a:r>
              <a:rPr lang="zh-CN" altLang="en-US" sz="2000" dirty="0" smtClean="0">
                <a:solidFill>
                  <a:schemeClr val="tx1"/>
                </a:solidFill>
              </a:rPr>
              <a:t>＝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n</a:t>
            </a:r>
            <a:r>
              <a:rPr lang="en-US" altLang="zh-CN" sz="200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Δt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419285" name="Text Box 469"/>
          <p:cNvSpPr txBox="1">
            <a:spLocks noChangeArrowheads="1"/>
          </p:cNvSpPr>
          <p:nvPr/>
        </p:nvSpPr>
        <p:spPr bwMode="auto">
          <a:xfrm>
            <a:off x="179388" y="39330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3</a:t>
            </a:r>
            <a:r>
              <a:rPr lang="zh-CN" altLang="en-US" dirty="0">
                <a:solidFill>
                  <a:srgbClr val="FF3399"/>
                </a:solidFill>
              </a:rPr>
              <a:t>、先行进位</a:t>
            </a:r>
            <a:r>
              <a:rPr lang="zh-CN" altLang="en-US" dirty="0" smtClean="0">
                <a:solidFill>
                  <a:srgbClr val="FF3399"/>
                </a:solidFill>
              </a:rPr>
              <a:t>加法器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chemeClr val="accent2"/>
                </a:solidFill>
              </a:rPr>
              <a:t>目标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同时形成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>
                <a:solidFill>
                  <a:schemeClr val="tx1"/>
                </a:solidFill>
              </a:rPr>
              <a:t>～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，以提高运算</a:t>
            </a:r>
            <a:r>
              <a:rPr lang="zh-CN" altLang="en-US" dirty="0" smtClean="0">
                <a:solidFill>
                  <a:schemeClr val="tx1"/>
                </a:solidFill>
              </a:rPr>
              <a:t>速度</a:t>
            </a:r>
            <a:r>
              <a:rPr lang="en-US" altLang="zh-CN" sz="2000" dirty="0">
                <a:solidFill>
                  <a:schemeClr val="tx1"/>
                </a:solidFill>
              </a:rPr>
              <a:t>(≈</a:t>
            </a:r>
            <a:r>
              <a:rPr lang="en-US" altLang="zh-CN" sz="2000" dirty="0" err="1">
                <a:solidFill>
                  <a:schemeClr val="tx1"/>
                </a:solidFill>
              </a:rPr>
              <a:t>Δt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419287" name="Text Box 471"/>
          <p:cNvSpPr txBox="1">
            <a:spLocks noChangeArrowheads="1"/>
          </p:cNvSpPr>
          <p:nvPr/>
        </p:nvSpPr>
        <p:spPr bwMode="auto">
          <a:xfrm>
            <a:off x="191294" y="4904000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进位辅助函数：</a:t>
            </a:r>
            <a:r>
              <a:rPr lang="zh-CN" altLang="en-US" dirty="0">
                <a:solidFill>
                  <a:schemeClr val="tx1"/>
                </a:solidFill>
              </a:rPr>
              <a:t>假设</a:t>
            </a:r>
            <a:r>
              <a:rPr lang="en-US" altLang="zh-CN" dirty="0" err="1">
                <a:solidFill>
                  <a:schemeClr val="tx1"/>
                </a:solidFill>
              </a:rPr>
              <a:t>C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b="0" dirty="0" err="1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)C</a:t>
            </a:r>
            <a:r>
              <a:rPr lang="en-US" altLang="zh-CN" baseline="-18000" dirty="0">
                <a:solidFill>
                  <a:schemeClr val="tx1"/>
                </a:solidFill>
              </a:rPr>
              <a:t>i-1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G</a:t>
            </a:r>
            <a:r>
              <a:rPr lang="en-US" altLang="zh-CN" baseline="-20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＋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18000" dirty="0">
                <a:solidFill>
                  <a:schemeClr val="tx1"/>
                </a:solidFill>
              </a:rPr>
              <a:t>i-1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产生</a:t>
            </a:r>
            <a:r>
              <a:rPr lang="zh-CN" altLang="en-US" dirty="0">
                <a:solidFill>
                  <a:schemeClr val="accent2"/>
                </a:solidFill>
              </a:rPr>
              <a:t>函数</a:t>
            </a:r>
            <a:r>
              <a:rPr lang="en-US" altLang="zh-CN" dirty="0" err="1">
                <a:solidFill>
                  <a:schemeClr val="accent2"/>
                </a:solidFill>
              </a:rPr>
              <a:t>G</a:t>
            </a:r>
            <a:r>
              <a:rPr lang="en-US" altLang="zh-CN" baseline="-20000" dirty="0" err="1">
                <a:solidFill>
                  <a:schemeClr val="accent2"/>
                </a:solidFill>
              </a:rPr>
              <a:t>i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G</a:t>
            </a:r>
            <a:r>
              <a:rPr lang="en-US" altLang="zh-CN" baseline="-20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20000" dirty="0" err="1">
                <a:solidFill>
                  <a:schemeClr val="tx1"/>
                </a:solidFill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20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，本地</a:t>
            </a:r>
            <a:r>
              <a:rPr lang="zh-CN" altLang="en-US" u="sng" dirty="0">
                <a:solidFill>
                  <a:schemeClr val="tx1"/>
                </a:solidFill>
              </a:rPr>
              <a:t>产生</a:t>
            </a:r>
            <a:r>
              <a:rPr lang="zh-CN" altLang="en-US" dirty="0">
                <a:solidFill>
                  <a:schemeClr val="tx1"/>
                </a:solidFill>
              </a:rPr>
              <a:t>进位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不依赖于</a:t>
            </a: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i-1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传递函数</a:t>
            </a:r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baseline="-20000" dirty="0">
                <a:solidFill>
                  <a:schemeClr val="accent2"/>
                </a:solidFill>
              </a:rPr>
              <a:t>i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18000" dirty="0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b="0" dirty="0" err="1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 smtClean="0">
                <a:solidFill>
                  <a:schemeClr val="tx1"/>
                </a:solidFill>
              </a:rPr>
              <a:t>，本地</a:t>
            </a:r>
            <a:r>
              <a:rPr lang="zh-CN" altLang="en-US" u="sng" dirty="0" smtClean="0">
                <a:solidFill>
                  <a:schemeClr val="tx1"/>
                </a:solidFill>
              </a:rPr>
              <a:t>传递</a:t>
            </a:r>
            <a:r>
              <a:rPr lang="zh-CN" altLang="en-US" dirty="0" smtClean="0">
                <a:solidFill>
                  <a:schemeClr val="tx1"/>
                </a:solidFill>
              </a:rPr>
              <a:t>进位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依赖于</a:t>
            </a: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i-1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9" name="AutoShape 16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22887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278" grpId="0"/>
      <p:bldP spid="419283" grpId="0"/>
      <p:bldP spid="419285" grpId="0"/>
      <p:bldP spid="41928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C7D1D-A64B-4C93-9293-5BEB3CC7A7C2}" type="slidenum">
              <a:rPr lang="en-US" altLang="zh-CN"/>
            </a:fld>
            <a:endParaRPr lang="en-US" altLang="zh-CN"/>
          </a:p>
        </p:txBody>
      </p:sp>
      <p:grpSp>
        <p:nvGrpSpPr>
          <p:cNvPr id="96" name="组合 95"/>
          <p:cNvGrpSpPr/>
          <p:nvPr/>
        </p:nvGrpSpPr>
        <p:grpSpPr>
          <a:xfrm>
            <a:off x="827088" y="3140993"/>
            <a:ext cx="8135937" cy="2808287"/>
            <a:chOff x="827088" y="2925763"/>
            <a:chExt cx="8135937" cy="2808287"/>
          </a:xfrm>
        </p:grpSpPr>
        <p:sp>
          <p:nvSpPr>
            <p:cNvPr id="336143" name="Rectangle 271"/>
            <p:cNvSpPr>
              <a:spLocks noChangeArrowheads="1"/>
            </p:cNvSpPr>
            <p:nvPr/>
          </p:nvSpPr>
          <p:spPr bwMode="auto">
            <a:xfrm>
              <a:off x="2843213" y="3789363"/>
              <a:ext cx="649287" cy="215900"/>
            </a:xfrm>
            <a:prstGeom prst="rect">
              <a:avLst/>
            </a:prstGeom>
            <a:solidFill>
              <a:srgbClr val="CC6600"/>
            </a:solidFill>
            <a:ln w="19050" algn="ctr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6144" name="Rectangle 272"/>
            <p:cNvSpPr>
              <a:spLocks noChangeArrowheads="1"/>
            </p:cNvSpPr>
            <p:nvPr/>
          </p:nvSpPr>
          <p:spPr bwMode="auto">
            <a:xfrm>
              <a:off x="827088" y="3357563"/>
              <a:ext cx="7632700" cy="2016125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6145" name="Text Box 273"/>
            <p:cNvSpPr txBox="1">
              <a:spLocks noChangeArrowheads="1"/>
            </p:cNvSpPr>
            <p:nvPr/>
          </p:nvSpPr>
          <p:spPr bwMode="auto">
            <a:xfrm>
              <a:off x="7596188" y="3502025"/>
              <a:ext cx="792162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≥</a:t>
              </a: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336146" name="Line 274"/>
            <p:cNvSpPr>
              <a:spLocks noChangeShapeType="1"/>
            </p:cNvSpPr>
            <p:nvPr/>
          </p:nvSpPr>
          <p:spPr bwMode="auto">
            <a:xfrm>
              <a:off x="3562350" y="4222750"/>
              <a:ext cx="4968875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47" name="Text Box 275"/>
            <p:cNvSpPr txBox="1">
              <a:spLocks noChangeArrowheads="1"/>
            </p:cNvSpPr>
            <p:nvPr/>
          </p:nvSpPr>
          <p:spPr bwMode="auto">
            <a:xfrm>
              <a:off x="8602663" y="4006850"/>
              <a:ext cx="360362" cy="360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-1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6148" name="Rectangle 276"/>
            <p:cNvSpPr>
              <a:spLocks noChangeArrowheads="1"/>
            </p:cNvSpPr>
            <p:nvPr/>
          </p:nvSpPr>
          <p:spPr bwMode="auto">
            <a:xfrm>
              <a:off x="7596188" y="3790950"/>
              <a:ext cx="288925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49" name="Rectangle 277"/>
            <p:cNvSpPr>
              <a:spLocks noChangeArrowheads="1"/>
            </p:cNvSpPr>
            <p:nvPr/>
          </p:nvSpPr>
          <p:spPr bwMode="auto">
            <a:xfrm>
              <a:off x="7883525" y="3790950"/>
              <a:ext cx="504825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0" name="Text Box 278"/>
            <p:cNvSpPr txBox="1">
              <a:spLocks noChangeArrowheads="1"/>
            </p:cNvSpPr>
            <p:nvPr/>
          </p:nvSpPr>
          <p:spPr bwMode="auto">
            <a:xfrm>
              <a:off x="6083300" y="3502025"/>
              <a:ext cx="1225550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≥</a:t>
              </a:r>
              <a:r>
                <a:rPr lang="en-US" altLang="zh-CN" sz="2000">
                  <a:solidFill>
                    <a:schemeClr val="tx1"/>
                  </a:solidFill>
                </a:rPr>
                <a:t>1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336151" name="Rectangle 279"/>
            <p:cNvSpPr>
              <a:spLocks noChangeArrowheads="1"/>
            </p:cNvSpPr>
            <p:nvPr/>
          </p:nvSpPr>
          <p:spPr bwMode="auto">
            <a:xfrm>
              <a:off x="6083300" y="3790950"/>
              <a:ext cx="217487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2" name="Rectangle 280"/>
            <p:cNvSpPr>
              <a:spLocks noChangeArrowheads="1"/>
            </p:cNvSpPr>
            <p:nvPr/>
          </p:nvSpPr>
          <p:spPr bwMode="auto">
            <a:xfrm>
              <a:off x="6300788" y="3790950"/>
              <a:ext cx="431800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3" name="Rectangle 281"/>
            <p:cNvSpPr>
              <a:spLocks noChangeArrowheads="1"/>
            </p:cNvSpPr>
            <p:nvPr/>
          </p:nvSpPr>
          <p:spPr bwMode="auto">
            <a:xfrm>
              <a:off x="6732588" y="3790950"/>
              <a:ext cx="576262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4" name="Text Box 282"/>
            <p:cNvSpPr txBox="1">
              <a:spLocks noChangeArrowheads="1"/>
            </p:cNvSpPr>
            <p:nvPr/>
          </p:nvSpPr>
          <p:spPr bwMode="auto">
            <a:xfrm>
              <a:off x="3922713" y="3502025"/>
              <a:ext cx="1944687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≥</a:t>
              </a:r>
              <a:r>
                <a:rPr lang="en-US" altLang="zh-CN" sz="2000">
                  <a:solidFill>
                    <a:schemeClr val="tx1"/>
                  </a:solidFill>
                </a:rPr>
                <a:t>1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336155" name="Rectangle 283"/>
            <p:cNvSpPr>
              <a:spLocks noChangeArrowheads="1"/>
            </p:cNvSpPr>
            <p:nvPr/>
          </p:nvSpPr>
          <p:spPr bwMode="auto">
            <a:xfrm>
              <a:off x="3922713" y="3790950"/>
              <a:ext cx="217487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6156" name="Rectangle 284"/>
            <p:cNvSpPr>
              <a:spLocks noChangeArrowheads="1"/>
            </p:cNvSpPr>
            <p:nvPr/>
          </p:nvSpPr>
          <p:spPr bwMode="auto">
            <a:xfrm>
              <a:off x="4138613" y="3790950"/>
              <a:ext cx="431800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7" name="Rectangle 285"/>
            <p:cNvSpPr>
              <a:spLocks noChangeArrowheads="1"/>
            </p:cNvSpPr>
            <p:nvPr/>
          </p:nvSpPr>
          <p:spPr bwMode="auto">
            <a:xfrm>
              <a:off x="4570413" y="3790950"/>
              <a:ext cx="576262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8" name="Rectangle 286"/>
            <p:cNvSpPr>
              <a:spLocks noChangeArrowheads="1"/>
            </p:cNvSpPr>
            <p:nvPr/>
          </p:nvSpPr>
          <p:spPr bwMode="auto">
            <a:xfrm>
              <a:off x="5146675" y="3790950"/>
              <a:ext cx="720725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59" name="Text Box 287"/>
            <p:cNvSpPr txBox="1">
              <a:spLocks noChangeArrowheads="1"/>
            </p:cNvSpPr>
            <p:nvPr/>
          </p:nvSpPr>
          <p:spPr bwMode="auto">
            <a:xfrm>
              <a:off x="898525" y="3502025"/>
              <a:ext cx="2809875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≥</a:t>
              </a:r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336160" name="Rectangle 288"/>
            <p:cNvSpPr>
              <a:spLocks noChangeArrowheads="1"/>
            </p:cNvSpPr>
            <p:nvPr/>
          </p:nvSpPr>
          <p:spPr bwMode="auto">
            <a:xfrm>
              <a:off x="898525" y="3790950"/>
              <a:ext cx="217487" cy="2159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61" name="Rectangle 289"/>
            <p:cNvSpPr>
              <a:spLocks noChangeArrowheads="1"/>
            </p:cNvSpPr>
            <p:nvPr/>
          </p:nvSpPr>
          <p:spPr bwMode="auto">
            <a:xfrm>
              <a:off x="1116013" y="3790950"/>
              <a:ext cx="431800" cy="2159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62" name="Rectangle 290"/>
            <p:cNvSpPr>
              <a:spLocks noChangeArrowheads="1"/>
            </p:cNvSpPr>
            <p:nvPr/>
          </p:nvSpPr>
          <p:spPr bwMode="auto">
            <a:xfrm>
              <a:off x="1547813" y="3790950"/>
              <a:ext cx="576262" cy="2159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63" name="Rectangle 291"/>
            <p:cNvSpPr>
              <a:spLocks noChangeArrowheads="1"/>
            </p:cNvSpPr>
            <p:nvPr/>
          </p:nvSpPr>
          <p:spPr bwMode="auto">
            <a:xfrm>
              <a:off x="2124075" y="3790950"/>
              <a:ext cx="720725" cy="2159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64" name="Rectangle 292"/>
            <p:cNvSpPr>
              <a:spLocks noChangeArrowheads="1"/>
            </p:cNvSpPr>
            <p:nvPr/>
          </p:nvSpPr>
          <p:spPr bwMode="auto">
            <a:xfrm>
              <a:off x="2844800" y="3790950"/>
              <a:ext cx="863600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336165" name="Line 293"/>
            <p:cNvSpPr>
              <a:spLocks noChangeShapeType="1"/>
            </p:cNvSpPr>
            <p:nvPr/>
          </p:nvSpPr>
          <p:spPr bwMode="auto">
            <a:xfrm>
              <a:off x="3419475" y="4365625"/>
              <a:ext cx="46085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66" name="Line 294"/>
            <p:cNvSpPr>
              <a:spLocks noChangeShapeType="1"/>
            </p:cNvSpPr>
            <p:nvPr/>
          </p:nvSpPr>
          <p:spPr bwMode="auto">
            <a:xfrm flipV="1">
              <a:off x="2698750" y="4510088"/>
              <a:ext cx="5040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67" name="Line 295"/>
            <p:cNvSpPr>
              <a:spLocks noChangeShapeType="1"/>
            </p:cNvSpPr>
            <p:nvPr/>
          </p:nvSpPr>
          <p:spPr bwMode="auto">
            <a:xfrm flipV="1">
              <a:off x="2554288" y="4654550"/>
              <a:ext cx="4321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68" name="Line 296"/>
            <p:cNvSpPr>
              <a:spLocks noChangeShapeType="1"/>
            </p:cNvSpPr>
            <p:nvPr/>
          </p:nvSpPr>
          <p:spPr bwMode="auto">
            <a:xfrm flipV="1">
              <a:off x="1978025" y="4799013"/>
              <a:ext cx="42497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69" name="Line 297"/>
            <p:cNvSpPr>
              <a:spLocks noChangeShapeType="1"/>
            </p:cNvSpPr>
            <p:nvPr/>
          </p:nvSpPr>
          <p:spPr bwMode="auto">
            <a:xfrm flipH="1">
              <a:off x="8243888" y="4006850"/>
              <a:ext cx="1587" cy="2159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0" name="Line 298"/>
            <p:cNvSpPr>
              <a:spLocks noChangeShapeType="1"/>
            </p:cNvSpPr>
            <p:nvPr/>
          </p:nvSpPr>
          <p:spPr bwMode="auto">
            <a:xfrm flipV="1">
              <a:off x="8029575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1" name="Line 299"/>
            <p:cNvSpPr>
              <a:spLocks noChangeShapeType="1"/>
            </p:cNvSpPr>
            <p:nvPr/>
          </p:nvSpPr>
          <p:spPr bwMode="auto">
            <a:xfrm flipV="1">
              <a:off x="7740650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2" name="Line 300"/>
            <p:cNvSpPr>
              <a:spLocks noChangeShapeType="1"/>
            </p:cNvSpPr>
            <p:nvPr/>
          </p:nvSpPr>
          <p:spPr bwMode="auto">
            <a:xfrm flipV="1">
              <a:off x="6229350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3" name="Line 301"/>
            <p:cNvSpPr>
              <a:spLocks noChangeShapeType="1"/>
            </p:cNvSpPr>
            <p:nvPr/>
          </p:nvSpPr>
          <p:spPr bwMode="auto">
            <a:xfrm>
              <a:off x="6443663" y="4006850"/>
              <a:ext cx="1587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4" name="Line 302"/>
            <p:cNvSpPr>
              <a:spLocks noChangeShapeType="1"/>
            </p:cNvSpPr>
            <p:nvPr/>
          </p:nvSpPr>
          <p:spPr bwMode="auto">
            <a:xfrm>
              <a:off x="6659563" y="4006850"/>
              <a:ext cx="1587" cy="5032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5" name="Line 303"/>
            <p:cNvSpPr>
              <a:spLocks noChangeShapeType="1"/>
            </p:cNvSpPr>
            <p:nvPr/>
          </p:nvSpPr>
          <p:spPr bwMode="auto">
            <a:xfrm flipH="1">
              <a:off x="7162800" y="4006850"/>
              <a:ext cx="1587" cy="2159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6" name="Line 304"/>
            <p:cNvSpPr>
              <a:spLocks noChangeShapeType="1"/>
            </p:cNvSpPr>
            <p:nvPr/>
          </p:nvSpPr>
          <p:spPr bwMode="auto">
            <a:xfrm>
              <a:off x="7019925" y="4006850"/>
              <a:ext cx="1587" cy="360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7" name="Line 305"/>
            <p:cNvSpPr>
              <a:spLocks noChangeShapeType="1"/>
            </p:cNvSpPr>
            <p:nvPr/>
          </p:nvSpPr>
          <p:spPr bwMode="auto">
            <a:xfrm flipV="1">
              <a:off x="6877050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8" name="Line 306"/>
            <p:cNvSpPr>
              <a:spLocks noChangeShapeType="1"/>
            </p:cNvSpPr>
            <p:nvPr/>
          </p:nvSpPr>
          <p:spPr bwMode="auto">
            <a:xfrm>
              <a:off x="1836738" y="4941888"/>
              <a:ext cx="3455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79" name="Line 307"/>
            <p:cNvSpPr>
              <a:spLocks noChangeShapeType="1"/>
            </p:cNvSpPr>
            <p:nvPr/>
          </p:nvSpPr>
          <p:spPr bwMode="auto">
            <a:xfrm>
              <a:off x="1403350" y="5086350"/>
              <a:ext cx="26654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0" name="Line 308"/>
            <p:cNvSpPr>
              <a:spLocks noChangeShapeType="1"/>
            </p:cNvSpPr>
            <p:nvPr/>
          </p:nvSpPr>
          <p:spPr bwMode="auto">
            <a:xfrm>
              <a:off x="1260475" y="5230813"/>
              <a:ext cx="172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1" name="Text Box 309"/>
            <p:cNvSpPr txBox="1">
              <a:spLocks noChangeArrowheads="1"/>
            </p:cNvSpPr>
            <p:nvPr/>
          </p:nvSpPr>
          <p:spPr bwMode="auto">
            <a:xfrm>
              <a:off x="7929563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P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0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182" name="Text Box 310"/>
            <p:cNvSpPr txBox="1">
              <a:spLocks noChangeArrowheads="1"/>
            </p:cNvSpPr>
            <p:nvPr/>
          </p:nvSpPr>
          <p:spPr bwMode="auto">
            <a:xfrm>
              <a:off x="7596188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G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0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183" name="Line 311"/>
            <p:cNvSpPr>
              <a:spLocks noChangeShapeType="1"/>
            </p:cNvSpPr>
            <p:nvPr/>
          </p:nvSpPr>
          <p:spPr bwMode="auto">
            <a:xfrm flipV="1">
              <a:off x="5292725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4" name="Line 312"/>
            <p:cNvSpPr>
              <a:spLocks noChangeShapeType="1"/>
            </p:cNvSpPr>
            <p:nvPr/>
          </p:nvSpPr>
          <p:spPr bwMode="auto">
            <a:xfrm>
              <a:off x="5435600" y="4006850"/>
              <a:ext cx="1587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5" name="Line 313"/>
            <p:cNvSpPr>
              <a:spLocks noChangeShapeType="1"/>
            </p:cNvSpPr>
            <p:nvPr/>
          </p:nvSpPr>
          <p:spPr bwMode="auto">
            <a:xfrm>
              <a:off x="5722938" y="4006850"/>
              <a:ext cx="0" cy="2159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6" name="Line 314"/>
            <p:cNvSpPr>
              <a:spLocks noChangeShapeType="1"/>
            </p:cNvSpPr>
            <p:nvPr/>
          </p:nvSpPr>
          <p:spPr bwMode="auto">
            <a:xfrm>
              <a:off x="5578475" y="4006850"/>
              <a:ext cx="0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7" name="Line 315"/>
            <p:cNvSpPr>
              <a:spLocks noChangeShapeType="1"/>
            </p:cNvSpPr>
            <p:nvPr/>
          </p:nvSpPr>
          <p:spPr bwMode="auto">
            <a:xfrm>
              <a:off x="4714875" y="4006850"/>
              <a:ext cx="1587" cy="935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8" name="Line 316"/>
            <p:cNvSpPr>
              <a:spLocks noChangeShapeType="1"/>
            </p:cNvSpPr>
            <p:nvPr/>
          </p:nvSpPr>
          <p:spPr bwMode="auto">
            <a:xfrm>
              <a:off x="4859338" y="4006850"/>
              <a:ext cx="1587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89" name="Line 317"/>
            <p:cNvSpPr>
              <a:spLocks noChangeShapeType="1"/>
            </p:cNvSpPr>
            <p:nvPr/>
          </p:nvSpPr>
          <p:spPr bwMode="auto">
            <a:xfrm>
              <a:off x="5002213" y="4006850"/>
              <a:ext cx="1587" cy="5032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0" name="Line 318"/>
            <p:cNvSpPr>
              <a:spLocks noChangeShapeType="1"/>
            </p:cNvSpPr>
            <p:nvPr/>
          </p:nvSpPr>
          <p:spPr bwMode="auto">
            <a:xfrm flipV="1">
              <a:off x="4068763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1" name="Line 319"/>
            <p:cNvSpPr>
              <a:spLocks noChangeShapeType="1"/>
            </p:cNvSpPr>
            <p:nvPr/>
          </p:nvSpPr>
          <p:spPr bwMode="auto">
            <a:xfrm>
              <a:off x="4283075" y="4006850"/>
              <a:ext cx="1587" cy="935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2" name="Line 320"/>
            <p:cNvSpPr>
              <a:spLocks noChangeShapeType="1"/>
            </p:cNvSpPr>
            <p:nvPr/>
          </p:nvSpPr>
          <p:spPr bwMode="auto">
            <a:xfrm>
              <a:off x="4427538" y="4006850"/>
              <a:ext cx="1587" cy="792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3" name="Line 321"/>
            <p:cNvSpPr>
              <a:spLocks noChangeShapeType="1"/>
            </p:cNvSpPr>
            <p:nvPr/>
          </p:nvSpPr>
          <p:spPr bwMode="auto">
            <a:xfrm>
              <a:off x="3130550" y="4006850"/>
              <a:ext cx="1587" cy="935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4" name="Line 322"/>
            <p:cNvSpPr>
              <a:spLocks noChangeShapeType="1"/>
            </p:cNvSpPr>
            <p:nvPr/>
          </p:nvSpPr>
          <p:spPr bwMode="auto">
            <a:xfrm>
              <a:off x="3275013" y="4006850"/>
              <a:ext cx="1587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5" name="Line 323"/>
            <p:cNvSpPr>
              <a:spLocks noChangeShapeType="1"/>
            </p:cNvSpPr>
            <p:nvPr/>
          </p:nvSpPr>
          <p:spPr bwMode="auto">
            <a:xfrm flipV="1">
              <a:off x="3562350" y="4008438"/>
              <a:ext cx="0" cy="2159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6" name="Line 324"/>
            <p:cNvSpPr>
              <a:spLocks noChangeShapeType="1"/>
            </p:cNvSpPr>
            <p:nvPr/>
          </p:nvSpPr>
          <p:spPr bwMode="auto">
            <a:xfrm flipV="1">
              <a:off x="3419475" y="4006850"/>
              <a:ext cx="0" cy="360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7" name="Line 325"/>
            <p:cNvSpPr>
              <a:spLocks noChangeShapeType="1"/>
            </p:cNvSpPr>
            <p:nvPr/>
          </p:nvSpPr>
          <p:spPr bwMode="auto">
            <a:xfrm flipV="1">
              <a:off x="2987675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8" name="Line 326"/>
            <p:cNvSpPr>
              <a:spLocks noChangeShapeType="1"/>
            </p:cNvSpPr>
            <p:nvPr/>
          </p:nvSpPr>
          <p:spPr bwMode="auto">
            <a:xfrm>
              <a:off x="2411413" y="4006850"/>
              <a:ext cx="1587" cy="935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199" name="Line 327"/>
            <p:cNvSpPr>
              <a:spLocks noChangeShapeType="1"/>
            </p:cNvSpPr>
            <p:nvPr/>
          </p:nvSpPr>
          <p:spPr bwMode="auto">
            <a:xfrm flipH="1" flipV="1">
              <a:off x="2555875" y="4006850"/>
              <a:ext cx="1587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0" name="Line 328"/>
            <p:cNvSpPr>
              <a:spLocks noChangeShapeType="1"/>
            </p:cNvSpPr>
            <p:nvPr/>
          </p:nvSpPr>
          <p:spPr bwMode="auto">
            <a:xfrm flipV="1">
              <a:off x="2698750" y="4006850"/>
              <a:ext cx="0" cy="5032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1" name="Line 329"/>
            <p:cNvSpPr>
              <a:spLocks noChangeShapeType="1"/>
            </p:cNvSpPr>
            <p:nvPr/>
          </p:nvSpPr>
          <p:spPr bwMode="auto">
            <a:xfrm flipH="1">
              <a:off x="2266950" y="4006850"/>
              <a:ext cx="0" cy="1223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2" name="Line 330"/>
            <p:cNvSpPr>
              <a:spLocks noChangeShapeType="1"/>
            </p:cNvSpPr>
            <p:nvPr/>
          </p:nvSpPr>
          <p:spPr bwMode="auto">
            <a:xfrm flipV="1">
              <a:off x="1836738" y="4006850"/>
              <a:ext cx="0" cy="936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3" name="Line 331"/>
            <p:cNvSpPr>
              <a:spLocks noChangeShapeType="1"/>
            </p:cNvSpPr>
            <p:nvPr/>
          </p:nvSpPr>
          <p:spPr bwMode="auto">
            <a:xfrm flipH="1" flipV="1">
              <a:off x="1978025" y="4006850"/>
              <a:ext cx="0" cy="792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4" name="Line 332"/>
            <p:cNvSpPr>
              <a:spLocks noChangeShapeType="1"/>
            </p:cNvSpPr>
            <p:nvPr/>
          </p:nvSpPr>
          <p:spPr bwMode="auto">
            <a:xfrm>
              <a:off x="1690688" y="4006850"/>
              <a:ext cx="1587" cy="1223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5" name="Line 333"/>
            <p:cNvSpPr>
              <a:spLocks noChangeShapeType="1"/>
            </p:cNvSpPr>
            <p:nvPr/>
          </p:nvSpPr>
          <p:spPr bwMode="auto">
            <a:xfrm flipH="1" flipV="1">
              <a:off x="1401763" y="4006850"/>
              <a:ext cx="0" cy="10810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6" name="Line 334"/>
            <p:cNvSpPr>
              <a:spLocks noChangeShapeType="1"/>
            </p:cNvSpPr>
            <p:nvPr/>
          </p:nvSpPr>
          <p:spPr bwMode="auto">
            <a:xfrm flipV="1">
              <a:off x="1260475" y="4006850"/>
              <a:ext cx="0" cy="1223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7" name="Line 335"/>
            <p:cNvSpPr>
              <a:spLocks noChangeShapeType="1"/>
            </p:cNvSpPr>
            <p:nvPr/>
          </p:nvSpPr>
          <p:spPr bwMode="auto">
            <a:xfrm flipV="1">
              <a:off x="1044575" y="4006850"/>
              <a:ext cx="0" cy="1439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08" name="Text Box 336"/>
            <p:cNvSpPr txBox="1">
              <a:spLocks noChangeArrowheads="1"/>
            </p:cNvSpPr>
            <p:nvPr/>
          </p:nvSpPr>
          <p:spPr bwMode="auto">
            <a:xfrm>
              <a:off x="6791325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P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1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09" name="Text Box 337"/>
            <p:cNvSpPr txBox="1">
              <a:spLocks noChangeArrowheads="1"/>
            </p:cNvSpPr>
            <p:nvPr/>
          </p:nvSpPr>
          <p:spPr bwMode="auto">
            <a:xfrm>
              <a:off x="6127750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G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1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10" name="Text Box 338"/>
            <p:cNvSpPr txBox="1">
              <a:spLocks noChangeArrowheads="1"/>
            </p:cNvSpPr>
            <p:nvPr/>
          </p:nvSpPr>
          <p:spPr bwMode="auto">
            <a:xfrm>
              <a:off x="5208588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P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2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11" name="Text Box 339"/>
            <p:cNvSpPr txBox="1">
              <a:spLocks noChangeArrowheads="1"/>
            </p:cNvSpPr>
            <p:nvPr/>
          </p:nvSpPr>
          <p:spPr bwMode="auto">
            <a:xfrm>
              <a:off x="3952875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G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2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12" name="Text Box 340"/>
            <p:cNvSpPr txBox="1">
              <a:spLocks noChangeArrowheads="1"/>
            </p:cNvSpPr>
            <p:nvPr/>
          </p:nvSpPr>
          <p:spPr bwMode="auto">
            <a:xfrm>
              <a:off x="2889250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P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3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13" name="Text Box 341"/>
            <p:cNvSpPr txBox="1">
              <a:spLocks noChangeArrowheads="1"/>
            </p:cNvSpPr>
            <p:nvPr/>
          </p:nvSpPr>
          <p:spPr bwMode="auto">
            <a:xfrm>
              <a:off x="957263" y="544671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G</a:t>
              </a:r>
              <a:r>
                <a:rPr lang="en-US" altLang="zh-CN" sz="2000" baseline="-20000">
                  <a:solidFill>
                    <a:schemeClr val="tx1"/>
                  </a:solidFill>
                </a:rPr>
                <a:t>3</a:t>
              </a:r>
              <a:endParaRPr lang="en-US" altLang="zh-CN" sz="2000" baseline="-20000">
                <a:solidFill>
                  <a:schemeClr val="tx1"/>
                </a:solidFill>
              </a:endParaRPr>
            </a:p>
          </p:txBody>
        </p:sp>
        <p:sp>
          <p:nvSpPr>
            <p:cNvPr id="336214" name="Line 342"/>
            <p:cNvSpPr>
              <a:spLocks noChangeShapeType="1"/>
            </p:cNvSpPr>
            <p:nvPr/>
          </p:nvSpPr>
          <p:spPr bwMode="auto">
            <a:xfrm flipV="1">
              <a:off x="8026400" y="3214688"/>
              <a:ext cx="1587" cy="2857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15" name="Text Box 343"/>
            <p:cNvSpPr txBox="1">
              <a:spLocks noChangeArrowheads="1"/>
            </p:cNvSpPr>
            <p:nvPr/>
          </p:nvSpPr>
          <p:spPr bwMode="auto">
            <a:xfrm>
              <a:off x="7885113" y="292576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0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6216" name="Text Box 344"/>
            <p:cNvSpPr txBox="1">
              <a:spLocks noChangeArrowheads="1"/>
            </p:cNvSpPr>
            <p:nvPr/>
          </p:nvSpPr>
          <p:spPr bwMode="auto">
            <a:xfrm>
              <a:off x="6588125" y="292576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1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6217" name="Text Box 345"/>
            <p:cNvSpPr txBox="1">
              <a:spLocks noChangeArrowheads="1"/>
            </p:cNvSpPr>
            <p:nvPr/>
          </p:nvSpPr>
          <p:spPr bwMode="auto">
            <a:xfrm>
              <a:off x="4787900" y="292576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2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6218" name="Text Box 346"/>
            <p:cNvSpPr txBox="1">
              <a:spLocks noChangeArrowheads="1"/>
            </p:cNvSpPr>
            <p:nvPr/>
          </p:nvSpPr>
          <p:spPr bwMode="auto">
            <a:xfrm>
              <a:off x="2197100" y="2925763"/>
              <a:ext cx="287337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rgbClr val="990099"/>
                  </a:solidFill>
                </a:rPr>
                <a:t>C</a:t>
              </a:r>
              <a:r>
                <a:rPr lang="en-US" altLang="zh-CN" sz="2000" baseline="-20000">
                  <a:solidFill>
                    <a:srgbClr val="990099"/>
                  </a:solidFill>
                </a:rPr>
                <a:t>3</a:t>
              </a:r>
              <a:endParaRPr lang="en-US" altLang="zh-CN" sz="2000" baseline="-20000">
                <a:solidFill>
                  <a:srgbClr val="990099"/>
                </a:solidFill>
              </a:endParaRPr>
            </a:p>
          </p:txBody>
        </p:sp>
        <p:sp>
          <p:nvSpPr>
            <p:cNvPr id="336219" name="Line 347"/>
            <p:cNvSpPr>
              <a:spLocks noChangeShapeType="1"/>
            </p:cNvSpPr>
            <p:nvPr/>
          </p:nvSpPr>
          <p:spPr bwMode="auto">
            <a:xfrm flipV="1">
              <a:off x="6659563" y="3214688"/>
              <a:ext cx="1587" cy="2857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20" name="Line 348"/>
            <p:cNvSpPr>
              <a:spLocks noChangeShapeType="1"/>
            </p:cNvSpPr>
            <p:nvPr/>
          </p:nvSpPr>
          <p:spPr bwMode="auto">
            <a:xfrm flipV="1">
              <a:off x="4857750" y="3214688"/>
              <a:ext cx="1587" cy="2857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221" name="Line 349"/>
            <p:cNvSpPr>
              <a:spLocks noChangeShapeType="1"/>
            </p:cNvSpPr>
            <p:nvPr/>
          </p:nvSpPr>
          <p:spPr bwMode="auto">
            <a:xfrm flipV="1">
              <a:off x="2266950" y="3216275"/>
              <a:ext cx="1587" cy="2857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5946" name="Text Box 74"/>
          <p:cNvSpPr txBox="1">
            <a:spLocks noChangeArrowheads="1"/>
          </p:cNvSpPr>
          <p:nvPr/>
        </p:nvSpPr>
        <p:spPr bwMode="auto">
          <a:xfrm>
            <a:off x="179388" y="332656"/>
            <a:ext cx="3240087" cy="30931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r>
              <a:rPr lang="zh-CN" altLang="en-US" dirty="0" smtClean="0">
                <a:solidFill>
                  <a:srgbClr val="C00000"/>
                </a:solidFill>
              </a:rPr>
              <a:t>先行进位电路：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逻辑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accent2"/>
                </a:solidFill>
              </a:rPr>
              <a:t> </a:t>
            </a:r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电路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91" name="Text Box 74"/>
          <p:cNvSpPr txBox="1">
            <a:spLocks noChangeArrowheads="1"/>
          </p:cNvSpPr>
          <p:nvPr/>
        </p:nvSpPr>
        <p:spPr bwMode="auto">
          <a:xfrm>
            <a:off x="1187624" y="764704"/>
            <a:ext cx="7272932" cy="2179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    C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～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同时形成，其中</a:t>
            </a:r>
            <a:r>
              <a:rPr lang="en-US" altLang="zh-CN" dirty="0" err="1">
                <a:solidFill>
                  <a:schemeClr val="tx1"/>
                </a:solidFill>
              </a:rPr>
              <a:t>G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err="1">
                <a:solidFill>
                  <a:schemeClr val="tx1"/>
                </a:solidFill>
              </a:rPr>
              <a:t>A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B</a:t>
            </a:r>
            <a:r>
              <a:rPr lang="en-US" altLang="zh-CN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i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dirty="0" err="1" smtClean="0">
                <a:solidFill>
                  <a:schemeClr val="tx1"/>
                </a:solidFill>
              </a:rPr>
              <a:t>A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i</a:t>
            </a:r>
            <a:r>
              <a:rPr lang="en-US" altLang="zh-CN" b="0" dirty="0" err="1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err="1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i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smtClean="0">
                <a:solidFill>
                  <a:srgbClr val="990099"/>
                </a:solidFill>
              </a:rPr>
              <a:t>C</a:t>
            </a:r>
            <a:r>
              <a:rPr lang="en-US" altLang="zh-CN" baseline="-20000" dirty="0" smtClean="0">
                <a:solidFill>
                  <a:srgbClr val="990099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-1</a:t>
            </a:r>
            <a:endParaRPr lang="en-US" altLang="zh-CN" baseline="-200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dirty="0" smtClean="0">
                <a:solidFill>
                  <a:srgbClr val="990099"/>
                </a:solidFill>
              </a:rPr>
              <a:t>C</a:t>
            </a:r>
            <a:r>
              <a:rPr lang="en-US" altLang="zh-CN" baseline="-20000" dirty="0" smtClean="0">
                <a:solidFill>
                  <a:srgbClr val="990099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0 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-1</a:t>
            </a:r>
            <a:endParaRPr lang="en-US" altLang="zh-CN" baseline="-200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dirty="0" smtClean="0">
                <a:solidFill>
                  <a:srgbClr val="990099"/>
                </a:solidFill>
              </a:rPr>
              <a:t>C</a:t>
            </a:r>
            <a:r>
              <a:rPr lang="en-US" altLang="zh-CN" baseline="-20000" dirty="0" smtClean="0">
                <a:solidFill>
                  <a:srgbClr val="990099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1 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-1</a:t>
            </a:r>
            <a:endParaRPr lang="en-US" altLang="zh-CN" baseline="-200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dirty="0" smtClean="0">
                <a:solidFill>
                  <a:srgbClr val="990099"/>
                </a:solidFill>
              </a:rPr>
              <a:t>C</a:t>
            </a:r>
            <a:r>
              <a:rPr lang="en-US" altLang="zh-CN" baseline="-20000" dirty="0" smtClean="0">
                <a:solidFill>
                  <a:srgbClr val="990099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G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+P</a:t>
            </a:r>
            <a:r>
              <a:rPr lang="en-US" altLang="zh-CN" baseline="-20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2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r>
              <a:rPr lang="en-US" altLang="zh-CN" baseline="-20000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en-US" altLang="zh-CN" baseline="-20000" dirty="0">
                <a:solidFill>
                  <a:schemeClr val="tx1"/>
                </a:solidFill>
              </a:rPr>
              <a:t>-1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0B270-E5D0-45A1-93FB-91A17CADD169}" type="slidenum">
              <a:rPr lang="en-US" altLang="zh-CN"/>
            </a:fld>
            <a:endParaRPr lang="en-US" altLang="zh-CN"/>
          </a:p>
        </p:txBody>
      </p:sp>
      <p:sp>
        <p:nvSpPr>
          <p:cNvPr id="420868" name="Text Box 4"/>
          <p:cNvSpPr txBox="1">
            <a:spLocks noChangeArrowheads="1"/>
          </p:cNvSpPr>
          <p:nvPr/>
        </p:nvSpPr>
        <p:spPr bwMode="auto">
          <a:xfrm>
            <a:off x="179388" y="404664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*n</a:t>
            </a:r>
            <a:r>
              <a:rPr lang="zh-CN" altLang="en-US" dirty="0" smtClean="0">
                <a:solidFill>
                  <a:srgbClr val="C00000"/>
                </a:solidFill>
              </a:rPr>
              <a:t>位</a:t>
            </a:r>
            <a:r>
              <a:rPr lang="zh-CN" altLang="en-US" dirty="0">
                <a:solidFill>
                  <a:srgbClr val="C00000"/>
                </a:solidFill>
              </a:rPr>
              <a:t>先行进位</a:t>
            </a:r>
            <a:r>
              <a:rPr lang="zh-CN" altLang="en-US" dirty="0" smtClean="0">
                <a:solidFill>
                  <a:srgbClr val="C00000"/>
                </a:solidFill>
              </a:rPr>
              <a:t>加法器的组成：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4</a:t>
            </a:r>
            <a:r>
              <a:rPr lang="zh-CN" altLang="en-US" dirty="0" smtClean="0">
                <a:solidFill>
                  <a:schemeClr val="accent2"/>
                </a:solidFill>
              </a:rPr>
              <a:t>位</a:t>
            </a:r>
            <a:r>
              <a:rPr lang="zh-CN" altLang="en-US" dirty="0">
                <a:solidFill>
                  <a:schemeClr val="accent2"/>
                </a:solidFill>
              </a:rPr>
              <a:t>先行</a:t>
            </a:r>
            <a:r>
              <a:rPr lang="zh-CN" altLang="en-US" dirty="0" smtClean="0">
                <a:solidFill>
                  <a:schemeClr val="accent2"/>
                </a:solidFill>
              </a:rPr>
              <a:t>进位加法器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全加器需输出</a:t>
            </a:r>
            <a:r>
              <a:rPr lang="en-US" altLang="zh-CN" dirty="0" smtClean="0">
                <a:solidFill>
                  <a:schemeClr val="tx1"/>
                </a:solidFill>
              </a:rPr>
              <a:t>G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0925" name="Text Box 61"/>
          <p:cNvSpPr txBox="1">
            <a:spLocks noChangeArrowheads="1"/>
          </p:cNvSpPr>
          <p:nvPr/>
        </p:nvSpPr>
        <p:spPr bwMode="auto">
          <a:xfrm>
            <a:off x="179388" y="3212976"/>
            <a:ext cx="8785225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chemeClr val="accent2"/>
                </a:solidFill>
              </a:rPr>
              <a:t>    n</a:t>
            </a:r>
            <a:r>
              <a:rPr lang="zh-CN" altLang="en-US" dirty="0">
                <a:solidFill>
                  <a:schemeClr val="accent2"/>
                </a:solidFill>
              </a:rPr>
              <a:t>位先行进位</a:t>
            </a:r>
            <a:r>
              <a:rPr lang="zh-CN" altLang="en-US" dirty="0" smtClean="0">
                <a:solidFill>
                  <a:schemeClr val="accent2"/>
                </a:solidFill>
              </a:rPr>
              <a:t>加法器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有全并行、组间串行、组间并行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种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                     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下图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2988" y="1412776"/>
            <a:ext cx="7566026" cy="1801439"/>
            <a:chOff x="1042988" y="1773016"/>
            <a:chExt cx="7566026" cy="1801439"/>
          </a:xfrm>
        </p:grpSpPr>
        <p:sp>
          <p:nvSpPr>
            <p:cNvPr id="421013" name="Rectangle 149"/>
            <p:cNvSpPr>
              <a:spLocks noChangeArrowheads="1"/>
            </p:cNvSpPr>
            <p:nvPr/>
          </p:nvSpPr>
          <p:spPr bwMode="auto">
            <a:xfrm>
              <a:off x="1547813" y="1773016"/>
              <a:ext cx="6480175" cy="1512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1015" name="Text Box 151"/>
            <p:cNvSpPr txBox="1">
              <a:spLocks noChangeArrowheads="1"/>
            </p:cNvSpPr>
            <p:nvPr/>
          </p:nvSpPr>
          <p:spPr bwMode="auto">
            <a:xfrm>
              <a:off x="1908176" y="1844856"/>
              <a:ext cx="5688013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4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位先行进位产生电路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421016" name="Text Box 152"/>
            <p:cNvSpPr txBox="1">
              <a:spLocks noChangeArrowheads="1"/>
            </p:cNvSpPr>
            <p:nvPr/>
          </p:nvSpPr>
          <p:spPr bwMode="auto">
            <a:xfrm>
              <a:off x="1908176" y="2706812"/>
              <a:ext cx="865188" cy="4318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∑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421017" name="Line 153"/>
            <p:cNvSpPr>
              <a:spLocks noChangeShapeType="1"/>
            </p:cNvSpPr>
            <p:nvPr/>
          </p:nvSpPr>
          <p:spPr bwMode="auto">
            <a:xfrm flipH="1" flipV="1">
              <a:off x="1981201" y="2490912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18" name="Text Box 154"/>
            <p:cNvSpPr txBox="1">
              <a:spLocks noChangeArrowheads="1"/>
            </p:cNvSpPr>
            <p:nvPr/>
          </p:nvSpPr>
          <p:spPr bwMode="auto">
            <a:xfrm>
              <a:off x="1908176" y="2273424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3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19" name="Text Box 155"/>
            <p:cNvSpPr txBox="1">
              <a:spLocks noChangeArrowheads="1"/>
            </p:cNvSpPr>
            <p:nvPr/>
          </p:nvSpPr>
          <p:spPr bwMode="auto">
            <a:xfrm>
              <a:off x="2052638" y="3356992"/>
              <a:ext cx="7191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 dirty="0">
                  <a:solidFill>
                    <a:schemeClr val="accent2"/>
                  </a:solidFill>
                </a:rPr>
                <a:t>3</a:t>
              </a:r>
              <a:r>
                <a:rPr lang="en-US" altLang="zh-CN" sz="1800" dirty="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 dirty="0">
                  <a:solidFill>
                    <a:schemeClr val="accent2"/>
                  </a:solidFill>
                </a:rPr>
                <a:t>3</a:t>
              </a:r>
              <a:endParaRPr lang="en-US" altLang="zh-CN" sz="1800" baseline="-18000" dirty="0">
                <a:solidFill>
                  <a:schemeClr val="accent2"/>
                </a:solidFill>
              </a:endParaRPr>
            </a:p>
          </p:txBody>
        </p:sp>
        <p:sp>
          <p:nvSpPr>
            <p:cNvPr id="421020" name="Line 156"/>
            <p:cNvSpPr>
              <a:spLocks noChangeShapeType="1"/>
            </p:cNvSpPr>
            <p:nvPr/>
          </p:nvSpPr>
          <p:spPr bwMode="auto">
            <a:xfrm flipH="1" flipV="1">
              <a:off x="2555876" y="3140968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1" name="Line 157"/>
            <p:cNvSpPr>
              <a:spLocks noChangeShapeType="1"/>
            </p:cNvSpPr>
            <p:nvPr/>
          </p:nvSpPr>
          <p:spPr bwMode="auto">
            <a:xfrm flipH="1" flipV="1">
              <a:off x="2124076" y="3140968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2" name="Line 158"/>
            <p:cNvSpPr>
              <a:spLocks noChangeShapeType="1"/>
            </p:cNvSpPr>
            <p:nvPr/>
          </p:nvSpPr>
          <p:spPr bwMode="auto">
            <a:xfrm flipH="1" flipV="1">
              <a:off x="2773363" y="2994149"/>
              <a:ext cx="3635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3" name="Line 159"/>
            <p:cNvSpPr>
              <a:spLocks noChangeShapeType="1"/>
            </p:cNvSpPr>
            <p:nvPr/>
          </p:nvSpPr>
          <p:spPr bwMode="auto">
            <a:xfrm flipH="1" flipV="1">
              <a:off x="2484438" y="2129745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4" name="Line 160"/>
            <p:cNvSpPr>
              <a:spLocks noChangeShapeType="1"/>
            </p:cNvSpPr>
            <p:nvPr/>
          </p:nvSpPr>
          <p:spPr bwMode="auto">
            <a:xfrm flipH="1" flipV="1">
              <a:off x="2700338" y="2131332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5" name="Text Box 161"/>
            <p:cNvSpPr txBox="1">
              <a:spLocks noChangeArrowheads="1"/>
            </p:cNvSpPr>
            <p:nvPr/>
          </p:nvSpPr>
          <p:spPr bwMode="auto">
            <a:xfrm>
              <a:off x="2197101" y="2132856"/>
              <a:ext cx="7921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G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P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3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421026" name="Line 162"/>
            <p:cNvSpPr>
              <a:spLocks noChangeShapeType="1"/>
            </p:cNvSpPr>
            <p:nvPr/>
          </p:nvSpPr>
          <p:spPr bwMode="auto">
            <a:xfrm>
              <a:off x="3132138" y="2134493"/>
              <a:ext cx="0" cy="86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7" name="Line 163"/>
            <p:cNvSpPr>
              <a:spLocks noChangeShapeType="1"/>
            </p:cNvSpPr>
            <p:nvPr/>
          </p:nvSpPr>
          <p:spPr bwMode="auto">
            <a:xfrm>
              <a:off x="1692276" y="1989013"/>
              <a:ext cx="0" cy="100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8" name="Line 164"/>
            <p:cNvSpPr>
              <a:spLocks noChangeShapeType="1"/>
            </p:cNvSpPr>
            <p:nvPr/>
          </p:nvSpPr>
          <p:spPr bwMode="auto">
            <a:xfrm flipH="1" flipV="1">
              <a:off x="1692276" y="1988840"/>
              <a:ext cx="2159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29" name="Line 165"/>
            <p:cNvSpPr>
              <a:spLocks noChangeShapeType="1"/>
            </p:cNvSpPr>
            <p:nvPr/>
          </p:nvSpPr>
          <p:spPr bwMode="auto">
            <a:xfrm flipH="1" flipV="1">
              <a:off x="1331913" y="2995737"/>
              <a:ext cx="36036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0" name="Text Box 166"/>
            <p:cNvSpPr txBox="1">
              <a:spLocks noChangeArrowheads="1"/>
            </p:cNvSpPr>
            <p:nvPr/>
          </p:nvSpPr>
          <p:spPr bwMode="auto">
            <a:xfrm>
              <a:off x="2843213" y="2706812"/>
              <a:ext cx="28892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18000">
                  <a:solidFill>
                    <a:srgbClr val="990099"/>
                  </a:solidFill>
                </a:rPr>
                <a:t>2</a:t>
              </a:r>
              <a:endParaRPr lang="en-US" altLang="zh-CN" sz="1800" baseline="-18000">
                <a:solidFill>
                  <a:srgbClr val="990099"/>
                </a:solidFill>
              </a:endParaRPr>
            </a:p>
          </p:txBody>
        </p:sp>
        <p:sp>
          <p:nvSpPr>
            <p:cNvPr id="421031" name="Text Box 167"/>
            <p:cNvSpPr txBox="1">
              <a:spLocks noChangeArrowheads="1"/>
            </p:cNvSpPr>
            <p:nvPr/>
          </p:nvSpPr>
          <p:spPr bwMode="auto">
            <a:xfrm>
              <a:off x="3492501" y="2708399"/>
              <a:ext cx="865188" cy="4318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∑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421032" name="Line 168"/>
            <p:cNvSpPr>
              <a:spLocks noChangeShapeType="1"/>
            </p:cNvSpPr>
            <p:nvPr/>
          </p:nvSpPr>
          <p:spPr bwMode="auto">
            <a:xfrm flipH="1" flipV="1">
              <a:off x="3565526" y="2492499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3" name="Text Box 169"/>
            <p:cNvSpPr txBox="1">
              <a:spLocks noChangeArrowheads="1"/>
            </p:cNvSpPr>
            <p:nvPr/>
          </p:nvSpPr>
          <p:spPr bwMode="auto">
            <a:xfrm>
              <a:off x="3492501" y="2275012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2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34" name="Text Box 170"/>
            <p:cNvSpPr txBox="1">
              <a:spLocks noChangeArrowheads="1"/>
            </p:cNvSpPr>
            <p:nvPr/>
          </p:nvSpPr>
          <p:spPr bwMode="auto">
            <a:xfrm>
              <a:off x="3636963" y="3358455"/>
              <a:ext cx="7191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 dirty="0">
                  <a:solidFill>
                    <a:schemeClr val="accent2"/>
                  </a:solidFill>
                </a:rPr>
                <a:t>2</a:t>
              </a:r>
              <a:r>
                <a:rPr lang="en-US" altLang="zh-CN" sz="1800" dirty="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 dirty="0">
                  <a:solidFill>
                    <a:schemeClr val="accent2"/>
                  </a:solidFill>
                </a:rPr>
                <a:t>2</a:t>
              </a:r>
              <a:endParaRPr lang="en-US" altLang="zh-CN" sz="1800" baseline="-18000" dirty="0">
                <a:solidFill>
                  <a:schemeClr val="accent2"/>
                </a:solidFill>
              </a:endParaRPr>
            </a:p>
          </p:txBody>
        </p:sp>
        <p:sp>
          <p:nvSpPr>
            <p:cNvPr id="421035" name="Line 171"/>
            <p:cNvSpPr>
              <a:spLocks noChangeShapeType="1"/>
            </p:cNvSpPr>
            <p:nvPr/>
          </p:nvSpPr>
          <p:spPr bwMode="auto">
            <a:xfrm flipH="1" flipV="1">
              <a:off x="4140201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6" name="Line 172"/>
            <p:cNvSpPr>
              <a:spLocks noChangeShapeType="1"/>
            </p:cNvSpPr>
            <p:nvPr/>
          </p:nvSpPr>
          <p:spPr bwMode="auto">
            <a:xfrm flipH="1" flipV="1">
              <a:off x="3708401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7" name="Line 173"/>
            <p:cNvSpPr>
              <a:spLocks noChangeShapeType="1"/>
            </p:cNvSpPr>
            <p:nvPr/>
          </p:nvSpPr>
          <p:spPr bwMode="auto">
            <a:xfrm flipH="1" flipV="1">
              <a:off x="4357688" y="2995737"/>
              <a:ext cx="3635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8" name="Line 174"/>
            <p:cNvSpPr>
              <a:spLocks noChangeShapeType="1"/>
            </p:cNvSpPr>
            <p:nvPr/>
          </p:nvSpPr>
          <p:spPr bwMode="auto">
            <a:xfrm flipH="1" flipV="1">
              <a:off x="4068763" y="2131332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39" name="Line 175"/>
            <p:cNvSpPr>
              <a:spLocks noChangeShapeType="1"/>
            </p:cNvSpPr>
            <p:nvPr/>
          </p:nvSpPr>
          <p:spPr bwMode="auto">
            <a:xfrm flipH="1" flipV="1">
              <a:off x="4284663" y="2132920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0" name="Text Box 176"/>
            <p:cNvSpPr txBox="1">
              <a:spLocks noChangeArrowheads="1"/>
            </p:cNvSpPr>
            <p:nvPr/>
          </p:nvSpPr>
          <p:spPr bwMode="auto">
            <a:xfrm>
              <a:off x="3781426" y="2132880"/>
              <a:ext cx="7921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G</a:t>
              </a:r>
              <a:r>
                <a:rPr lang="en-US" altLang="zh-CN" sz="1800" baseline="-18000">
                  <a:solidFill>
                    <a:schemeClr val="tx1"/>
                  </a:solidFill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</a:rPr>
                <a:t>   P</a:t>
              </a:r>
              <a:r>
                <a:rPr lang="en-US" altLang="zh-CN" sz="1800" baseline="-18000">
                  <a:solidFill>
                    <a:schemeClr val="tx1"/>
                  </a:solidFill>
                </a:rPr>
                <a:t>2</a:t>
              </a:r>
              <a:endParaRPr lang="en-US" altLang="zh-CN" sz="1800" baseline="-18000">
                <a:solidFill>
                  <a:schemeClr val="tx1"/>
                </a:solidFill>
              </a:endParaRPr>
            </a:p>
          </p:txBody>
        </p:sp>
        <p:sp>
          <p:nvSpPr>
            <p:cNvPr id="421041" name="Line 177"/>
            <p:cNvSpPr>
              <a:spLocks noChangeShapeType="1"/>
            </p:cNvSpPr>
            <p:nvPr/>
          </p:nvSpPr>
          <p:spPr bwMode="auto">
            <a:xfrm>
              <a:off x="4716463" y="2132952"/>
              <a:ext cx="0" cy="86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2" name="Text Box 178"/>
            <p:cNvSpPr txBox="1">
              <a:spLocks noChangeArrowheads="1"/>
            </p:cNvSpPr>
            <p:nvPr/>
          </p:nvSpPr>
          <p:spPr bwMode="auto">
            <a:xfrm>
              <a:off x="4427538" y="2708399"/>
              <a:ext cx="28892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18000">
                  <a:solidFill>
                    <a:srgbClr val="990099"/>
                  </a:solidFill>
                </a:rPr>
                <a:t>1</a:t>
              </a:r>
              <a:endParaRPr lang="en-US" altLang="zh-CN" sz="1800" baseline="-18000">
                <a:solidFill>
                  <a:srgbClr val="990099"/>
                </a:solidFill>
              </a:endParaRPr>
            </a:p>
          </p:txBody>
        </p:sp>
        <p:sp>
          <p:nvSpPr>
            <p:cNvPr id="421043" name="Text Box 179"/>
            <p:cNvSpPr txBox="1">
              <a:spLocks noChangeArrowheads="1"/>
            </p:cNvSpPr>
            <p:nvPr/>
          </p:nvSpPr>
          <p:spPr bwMode="auto">
            <a:xfrm>
              <a:off x="5072063" y="2708399"/>
              <a:ext cx="865188" cy="4318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∑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421044" name="Line 180"/>
            <p:cNvSpPr>
              <a:spLocks noChangeShapeType="1"/>
            </p:cNvSpPr>
            <p:nvPr/>
          </p:nvSpPr>
          <p:spPr bwMode="auto">
            <a:xfrm flipH="1" flipV="1">
              <a:off x="5145088" y="2492499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5" name="Text Box 181"/>
            <p:cNvSpPr txBox="1">
              <a:spLocks noChangeArrowheads="1"/>
            </p:cNvSpPr>
            <p:nvPr/>
          </p:nvSpPr>
          <p:spPr bwMode="auto">
            <a:xfrm>
              <a:off x="5072063" y="2275012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46" name="Text Box 182"/>
            <p:cNvSpPr txBox="1">
              <a:spLocks noChangeArrowheads="1"/>
            </p:cNvSpPr>
            <p:nvPr/>
          </p:nvSpPr>
          <p:spPr bwMode="auto">
            <a:xfrm>
              <a:off x="5216526" y="3358455"/>
              <a:ext cx="7191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</a:t>
              </a:r>
              <a:r>
                <a:rPr lang="en-US" altLang="zh-CN" sz="180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47" name="Line 183"/>
            <p:cNvSpPr>
              <a:spLocks noChangeShapeType="1"/>
            </p:cNvSpPr>
            <p:nvPr/>
          </p:nvSpPr>
          <p:spPr bwMode="auto">
            <a:xfrm flipH="1" flipV="1">
              <a:off x="5719763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8" name="Line 184"/>
            <p:cNvSpPr>
              <a:spLocks noChangeShapeType="1"/>
            </p:cNvSpPr>
            <p:nvPr/>
          </p:nvSpPr>
          <p:spPr bwMode="auto">
            <a:xfrm flipH="1" flipV="1">
              <a:off x="5287963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49" name="Line 185"/>
            <p:cNvSpPr>
              <a:spLocks noChangeShapeType="1"/>
            </p:cNvSpPr>
            <p:nvPr/>
          </p:nvSpPr>
          <p:spPr bwMode="auto">
            <a:xfrm flipH="1" flipV="1">
              <a:off x="5937251" y="2995737"/>
              <a:ext cx="3635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0" name="Line 186"/>
            <p:cNvSpPr>
              <a:spLocks noChangeShapeType="1"/>
            </p:cNvSpPr>
            <p:nvPr/>
          </p:nvSpPr>
          <p:spPr bwMode="auto">
            <a:xfrm flipH="1" flipV="1">
              <a:off x="5648326" y="2131332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1" name="Line 187"/>
            <p:cNvSpPr>
              <a:spLocks noChangeShapeType="1"/>
            </p:cNvSpPr>
            <p:nvPr/>
          </p:nvSpPr>
          <p:spPr bwMode="auto">
            <a:xfrm flipH="1" flipV="1">
              <a:off x="5864226" y="2132920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2" name="Text Box 188"/>
            <p:cNvSpPr txBox="1">
              <a:spLocks noChangeArrowheads="1"/>
            </p:cNvSpPr>
            <p:nvPr/>
          </p:nvSpPr>
          <p:spPr bwMode="auto">
            <a:xfrm>
              <a:off x="5360988" y="2132880"/>
              <a:ext cx="7921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G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P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421053" name="Line 189"/>
            <p:cNvSpPr>
              <a:spLocks noChangeShapeType="1"/>
            </p:cNvSpPr>
            <p:nvPr/>
          </p:nvSpPr>
          <p:spPr bwMode="auto">
            <a:xfrm>
              <a:off x="6296026" y="2132952"/>
              <a:ext cx="0" cy="86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4" name="Text Box 190"/>
            <p:cNvSpPr txBox="1">
              <a:spLocks noChangeArrowheads="1"/>
            </p:cNvSpPr>
            <p:nvPr/>
          </p:nvSpPr>
          <p:spPr bwMode="auto">
            <a:xfrm>
              <a:off x="6007101" y="2708399"/>
              <a:ext cx="28892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18000">
                  <a:solidFill>
                    <a:srgbClr val="990099"/>
                  </a:solidFill>
                </a:rPr>
                <a:t>0</a:t>
              </a:r>
              <a:endParaRPr lang="en-US" altLang="zh-CN" sz="1800" baseline="-18000">
                <a:solidFill>
                  <a:srgbClr val="990099"/>
                </a:solidFill>
              </a:endParaRPr>
            </a:p>
          </p:txBody>
        </p:sp>
        <p:sp>
          <p:nvSpPr>
            <p:cNvPr id="421055" name="Text Box 191"/>
            <p:cNvSpPr txBox="1">
              <a:spLocks noChangeArrowheads="1"/>
            </p:cNvSpPr>
            <p:nvPr/>
          </p:nvSpPr>
          <p:spPr bwMode="auto">
            <a:xfrm>
              <a:off x="6727826" y="2708399"/>
              <a:ext cx="865188" cy="4318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∑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421056" name="Line 192"/>
            <p:cNvSpPr>
              <a:spLocks noChangeShapeType="1"/>
            </p:cNvSpPr>
            <p:nvPr/>
          </p:nvSpPr>
          <p:spPr bwMode="auto">
            <a:xfrm flipH="1" flipV="1">
              <a:off x="6800851" y="2492499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57" name="Text Box 193"/>
            <p:cNvSpPr txBox="1">
              <a:spLocks noChangeArrowheads="1"/>
            </p:cNvSpPr>
            <p:nvPr/>
          </p:nvSpPr>
          <p:spPr bwMode="auto">
            <a:xfrm>
              <a:off x="6727826" y="2275012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58" name="Text Box 194"/>
            <p:cNvSpPr txBox="1">
              <a:spLocks noChangeArrowheads="1"/>
            </p:cNvSpPr>
            <p:nvPr/>
          </p:nvSpPr>
          <p:spPr bwMode="auto">
            <a:xfrm>
              <a:off x="6872288" y="3358455"/>
              <a:ext cx="7191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r>
                <a:rPr lang="en-US" altLang="zh-CN" sz="180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421059" name="Line 195"/>
            <p:cNvSpPr>
              <a:spLocks noChangeShapeType="1"/>
            </p:cNvSpPr>
            <p:nvPr/>
          </p:nvSpPr>
          <p:spPr bwMode="auto">
            <a:xfrm flipH="1" flipV="1">
              <a:off x="7375526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0" name="Line 196"/>
            <p:cNvSpPr>
              <a:spLocks noChangeShapeType="1"/>
            </p:cNvSpPr>
            <p:nvPr/>
          </p:nvSpPr>
          <p:spPr bwMode="auto">
            <a:xfrm flipH="1" flipV="1">
              <a:off x="6943726" y="3142555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1" name="Line 197"/>
            <p:cNvSpPr>
              <a:spLocks noChangeShapeType="1"/>
            </p:cNvSpPr>
            <p:nvPr/>
          </p:nvSpPr>
          <p:spPr bwMode="auto">
            <a:xfrm flipH="1" flipV="1">
              <a:off x="7593013" y="2997324"/>
              <a:ext cx="5794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2" name="Line 198"/>
            <p:cNvSpPr>
              <a:spLocks noChangeShapeType="1"/>
            </p:cNvSpPr>
            <p:nvPr/>
          </p:nvSpPr>
          <p:spPr bwMode="auto">
            <a:xfrm flipH="1" flipV="1">
              <a:off x="7304088" y="2131332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3" name="Line 199"/>
            <p:cNvSpPr>
              <a:spLocks noChangeShapeType="1"/>
            </p:cNvSpPr>
            <p:nvPr/>
          </p:nvSpPr>
          <p:spPr bwMode="auto">
            <a:xfrm flipH="1" flipV="1">
              <a:off x="7519988" y="2132920"/>
              <a:ext cx="0" cy="57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4" name="Text Box 200"/>
            <p:cNvSpPr txBox="1">
              <a:spLocks noChangeArrowheads="1"/>
            </p:cNvSpPr>
            <p:nvPr/>
          </p:nvSpPr>
          <p:spPr bwMode="auto">
            <a:xfrm>
              <a:off x="7016751" y="2132880"/>
              <a:ext cx="7921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G</a:t>
              </a:r>
              <a:r>
                <a:rPr lang="en-US" altLang="zh-CN" sz="1800" baseline="-18000">
                  <a:solidFill>
                    <a:schemeClr val="tx1"/>
                  </a:solidFill>
                </a:rPr>
                <a:t>0</a:t>
              </a:r>
              <a:r>
                <a:rPr lang="en-US" altLang="zh-CN" sz="1800">
                  <a:solidFill>
                    <a:schemeClr val="tx1"/>
                  </a:solidFill>
                </a:rPr>
                <a:t>   P</a:t>
              </a:r>
              <a:r>
                <a:rPr lang="en-US" altLang="zh-CN" sz="1800" baseline="-18000">
                  <a:solidFill>
                    <a:schemeClr val="tx1"/>
                  </a:solidFill>
                </a:rPr>
                <a:t>0</a:t>
              </a:r>
              <a:endParaRPr lang="en-US" altLang="zh-CN" sz="1800" baseline="-18000">
                <a:solidFill>
                  <a:schemeClr val="tx1"/>
                </a:solidFill>
              </a:endParaRPr>
            </a:p>
          </p:txBody>
        </p:sp>
        <p:sp>
          <p:nvSpPr>
            <p:cNvPr id="421065" name="Text Box 201"/>
            <p:cNvSpPr txBox="1">
              <a:spLocks noChangeArrowheads="1"/>
            </p:cNvSpPr>
            <p:nvPr/>
          </p:nvSpPr>
          <p:spPr bwMode="auto">
            <a:xfrm>
              <a:off x="8242301" y="2852862"/>
              <a:ext cx="36671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18000" dirty="0">
                  <a:solidFill>
                    <a:srgbClr val="990099"/>
                  </a:solidFill>
                </a:rPr>
                <a:t>-1</a:t>
              </a:r>
              <a:endParaRPr lang="en-US" altLang="zh-CN" sz="1800" baseline="-18000" dirty="0">
                <a:solidFill>
                  <a:srgbClr val="990099"/>
                </a:solidFill>
              </a:endParaRPr>
            </a:p>
          </p:txBody>
        </p:sp>
        <p:sp>
          <p:nvSpPr>
            <p:cNvPr id="421066" name="Line 202"/>
            <p:cNvSpPr>
              <a:spLocks noChangeShapeType="1"/>
            </p:cNvSpPr>
            <p:nvPr/>
          </p:nvSpPr>
          <p:spPr bwMode="auto">
            <a:xfrm>
              <a:off x="7888288" y="1988960"/>
              <a:ext cx="0" cy="100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7" name="Line 203"/>
            <p:cNvSpPr>
              <a:spLocks noChangeShapeType="1"/>
            </p:cNvSpPr>
            <p:nvPr/>
          </p:nvSpPr>
          <p:spPr bwMode="auto">
            <a:xfrm flipH="1" flipV="1">
              <a:off x="7596188" y="1988840"/>
              <a:ext cx="2921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068" name="Text Box 204"/>
            <p:cNvSpPr txBox="1">
              <a:spLocks noChangeArrowheads="1"/>
            </p:cNvSpPr>
            <p:nvPr/>
          </p:nvSpPr>
          <p:spPr bwMode="auto">
            <a:xfrm>
              <a:off x="1042988" y="2851274"/>
              <a:ext cx="36671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18000">
                  <a:solidFill>
                    <a:srgbClr val="990099"/>
                  </a:solidFill>
                </a:rPr>
                <a:t>3</a:t>
              </a:r>
              <a:endParaRPr lang="en-US" altLang="zh-CN" sz="1800" baseline="-18000">
                <a:solidFill>
                  <a:srgbClr val="990099"/>
                </a:solidFill>
              </a:endParaRPr>
            </a:p>
          </p:txBody>
        </p:sp>
      </p:grpSp>
      <p:sp>
        <p:nvSpPr>
          <p:cNvPr id="114" name="Text Box 47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5929322" y="6524451"/>
            <a:ext cx="1372385" cy="288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返</a:t>
            </a:r>
            <a:r>
              <a:rPr lang="zh-CN" altLang="en-US" sz="1600" dirty="0" smtClean="0">
                <a:solidFill>
                  <a:schemeClr val="tx1"/>
                </a:solidFill>
              </a:rPr>
              <a:t>回</a:t>
            </a:r>
            <a:r>
              <a:rPr lang="zh-CN" altLang="en-US" sz="1600" dirty="0">
                <a:solidFill>
                  <a:schemeClr val="tx1"/>
                </a:solidFill>
              </a:rPr>
              <a:t>定点运算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182" name="Group 326"/>
          <p:cNvGrpSpPr/>
          <p:nvPr/>
        </p:nvGrpSpPr>
        <p:grpSpPr bwMode="auto">
          <a:xfrm>
            <a:off x="971600" y="4005064"/>
            <a:ext cx="7778750" cy="1789112"/>
            <a:chOff x="702" y="527"/>
            <a:chExt cx="4900" cy="1127"/>
          </a:xfrm>
        </p:grpSpPr>
        <p:sp>
          <p:nvSpPr>
            <p:cNvPr id="183" name="Rectangle 257"/>
            <p:cNvSpPr>
              <a:spLocks noChangeArrowheads="1"/>
            </p:cNvSpPr>
            <p:nvPr/>
          </p:nvSpPr>
          <p:spPr bwMode="auto">
            <a:xfrm>
              <a:off x="1019" y="799"/>
              <a:ext cx="4219" cy="6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Text Box 292"/>
            <p:cNvSpPr txBox="1">
              <a:spLocks noChangeArrowheads="1"/>
            </p:cNvSpPr>
            <p:nvPr/>
          </p:nvSpPr>
          <p:spPr bwMode="auto">
            <a:xfrm>
              <a:off x="4331" y="890"/>
              <a:ext cx="816" cy="453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r>
                <a:rPr lang="zh-CN" altLang="en-US" sz="2000" dirty="0">
                  <a:solidFill>
                    <a:schemeClr val="tx1"/>
                  </a:solidFill>
                </a:rPr>
                <a:t>位先行进位加法器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5" name="Text Box 293"/>
            <p:cNvSpPr txBox="1">
              <a:spLocks noChangeArrowheads="1"/>
            </p:cNvSpPr>
            <p:nvPr/>
          </p:nvSpPr>
          <p:spPr bwMode="auto">
            <a:xfrm>
              <a:off x="4649" y="527"/>
              <a:ext cx="362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3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186" name="Text Box 294"/>
            <p:cNvSpPr txBox="1">
              <a:spLocks noChangeArrowheads="1"/>
            </p:cNvSpPr>
            <p:nvPr/>
          </p:nvSpPr>
          <p:spPr bwMode="auto">
            <a:xfrm>
              <a:off x="4465" y="1499"/>
              <a:ext cx="728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3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r>
                <a:rPr lang="en-US" altLang="zh-CN" sz="180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3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0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187" name="Line 295"/>
            <p:cNvSpPr>
              <a:spLocks noChangeShapeType="1"/>
            </p:cNvSpPr>
            <p:nvPr/>
          </p:nvSpPr>
          <p:spPr bwMode="auto">
            <a:xfrm flipH="1">
              <a:off x="4058" y="1136"/>
              <a:ext cx="27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296"/>
            <p:cNvSpPr>
              <a:spLocks noChangeShapeType="1"/>
            </p:cNvSpPr>
            <p:nvPr/>
          </p:nvSpPr>
          <p:spPr bwMode="auto">
            <a:xfrm flipH="1" flipV="1">
              <a:off x="5147" y="1136"/>
              <a:ext cx="182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AutoShape 297"/>
            <p:cNvSpPr>
              <a:spLocks noChangeArrowheads="1"/>
            </p:cNvSpPr>
            <p:nvPr/>
          </p:nvSpPr>
          <p:spPr bwMode="auto">
            <a:xfrm>
              <a:off x="4467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0" name="AutoShape 298"/>
            <p:cNvSpPr>
              <a:spLocks noChangeArrowheads="1"/>
            </p:cNvSpPr>
            <p:nvPr/>
          </p:nvSpPr>
          <p:spPr bwMode="auto">
            <a:xfrm>
              <a:off x="4876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1" name="AutoShape 299"/>
            <p:cNvSpPr>
              <a:spLocks noChangeArrowheads="1"/>
            </p:cNvSpPr>
            <p:nvPr/>
          </p:nvSpPr>
          <p:spPr bwMode="auto">
            <a:xfrm>
              <a:off x="4694" y="728"/>
              <a:ext cx="90" cy="163"/>
            </a:xfrm>
            <a:prstGeom prst="upArrow">
              <a:avLst>
                <a:gd name="adj1" fmla="val 50000"/>
                <a:gd name="adj2" fmla="val 45278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2" name="Text Box 300"/>
            <p:cNvSpPr txBox="1">
              <a:spLocks noChangeArrowheads="1"/>
            </p:cNvSpPr>
            <p:nvPr/>
          </p:nvSpPr>
          <p:spPr bwMode="auto">
            <a:xfrm>
              <a:off x="3241" y="890"/>
              <a:ext cx="816" cy="453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4</a:t>
              </a:r>
              <a:r>
                <a:rPr lang="zh-CN" altLang="en-US" sz="2000">
                  <a:solidFill>
                    <a:schemeClr val="tx1"/>
                  </a:solidFill>
                </a:rPr>
                <a:t>位先行进位加法器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3" name="Text Box 301"/>
            <p:cNvSpPr txBox="1">
              <a:spLocks noChangeArrowheads="1"/>
            </p:cNvSpPr>
            <p:nvPr/>
          </p:nvSpPr>
          <p:spPr bwMode="auto">
            <a:xfrm>
              <a:off x="3559" y="527"/>
              <a:ext cx="362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7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4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194" name="Text Box 302"/>
            <p:cNvSpPr txBox="1">
              <a:spLocks noChangeArrowheads="1"/>
            </p:cNvSpPr>
            <p:nvPr/>
          </p:nvSpPr>
          <p:spPr bwMode="auto">
            <a:xfrm>
              <a:off x="3015" y="909"/>
              <a:ext cx="18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20000">
                  <a:solidFill>
                    <a:srgbClr val="990099"/>
                  </a:solidFill>
                </a:rPr>
                <a:t>7</a:t>
              </a:r>
              <a:endParaRPr lang="en-US" altLang="zh-CN" sz="1800" baseline="-20000">
                <a:solidFill>
                  <a:srgbClr val="990099"/>
                </a:solidFill>
              </a:endParaRPr>
            </a:p>
          </p:txBody>
        </p:sp>
        <p:sp>
          <p:nvSpPr>
            <p:cNvPr id="195" name="Line 303"/>
            <p:cNvSpPr>
              <a:spLocks noChangeShapeType="1"/>
            </p:cNvSpPr>
            <p:nvPr/>
          </p:nvSpPr>
          <p:spPr bwMode="auto">
            <a:xfrm flipH="1">
              <a:off x="2970" y="1136"/>
              <a:ext cx="271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AutoShape 304"/>
            <p:cNvSpPr>
              <a:spLocks noChangeArrowheads="1"/>
            </p:cNvSpPr>
            <p:nvPr/>
          </p:nvSpPr>
          <p:spPr bwMode="auto">
            <a:xfrm>
              <a:off x="3377" y="1343"/>
              <a:ext cx="92" cy="156"/>
            </a:xfrm>
            <a:prstGeom prst="upArrow">
              <a:avLst>
                <a:gd name="adj1" fmla="val 50000"/>
                <a:gd name="adj2" fmla="val 42391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7" name="AutoShape 305"/>
            <p:cNvSpPr>
              <a:spLocks noChangeArrowheads="1"/>
            </p:cNvSpPr>
            <p:nvPr/>
          </p:nvSpPr>
          <p:spPr bwMode="auto">
            <a:xfrm>
              <a:off x="3786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8" name="AutoShape 306"/>
            <p:cNvSpPr>
              <a:spLocks noChangeArrowheads="1"/>
            </p:cNvSpPr>
            <p:nvPr/>
          </p:nvSpPr>
          <p:spPr bwMode="auto">
            <a:xfrm>
              <a:off x="3605" y="728"/>
              <a:ext cx="89" cy="163"/>
            </a:xfrm>
            <a:prstGeom prst="upArrow">
              <a:avLst>
                <a:gd name="adj1" fmla="val 50000"/>
                <a:gd name="adj2" fmla="val 4578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99" name="Text Box 307"/>
            <p:cNvSpPr txBox="1">
              <a:spLocks noChangeArrowheads="1"/>
            </p:cNvSpPr>
            <p:nvPr/>
          </p:nvSpPr>
          <p:spPr bwMode="auto">
            <a:xfrm>
              <a:off x="3376" y="1499"/>
              <a:ext cx="773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7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4</a:t>
              </a:r>
              <a:r>
                <a:rPr lang="en-US" altLang="zh-CN" sz="1800">
                  <a:solidFill>
                    <a:schemeClr val="accent2"/>
                  </a:solidFill>
                </a:rPr>
                <a:t>  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7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4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200" name="Text Box 308"/>
            <p:cNvSpPr txBox="1">
              <a:spLocks noChangeArrowheads="1"/>
            </p:cNvSpPr>
            <p:nvPr/>
          </p:nvSpPr>
          <p:spPr bwMode="auto">
            <a:xfrm>
              <a:off x="2153" y="890"/>
              <a:ext cx="816" cy="453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solidFill>
                    <a:schemeClr val="tx1"/>
                  </a:solidFill>
                </a:rPr>
                <a:t>4</a:t>
              </a:r>
              <a:r>
                <a:rPr lang="zh-CN" altLang="en-US" sz="2000">
                  <a:solidFill>
                    <a:schemeClr val="tx1"/>
                  </a:solidFill>
                </a:rPr>
                <a:t>位先行进位加法器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1" name="Text Box 309"/>
            <p:cNvSpPr txBox="1">
              <a:spLocks noChangeArrowheads="1"/>
            </p:cNvSpPr>
            <p:nvPr/>
          </p:nvSpPr>
          <p:spPr bwMode="auto">
            <a:xfrm>
              <a:off x="2471" y="527"/>
              <a:ext cx="409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11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8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202" name="Line 310"/>
            <p:cNvSpPr>
              <a:spLocks noChangeShapeType="1"/>
            </p:cNvSpPr>
            <p:nvPr/>
          </p:nvSpPr>
          <p:spPr bwMode="auto">
            <a:xfrm flipH="1">
              <a:off x="1881" y="1136"/>
              <a:ext cx="273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AutoShape 311"/>
            <p:cNvSpPr>
              <a:spLocks noChangeArrowheads="1"/>
            </p:cNvSpPr>
            <p:nvPr/>
          </p:nvSpPr>
          <p:spPr bwMode="auto">
            <a:xfrm>
              <a:off x="2289" y="1343"/>
              <a:ext cx="92" cy="156"/>
            </a:xfrm>
            <a:prstGeom prst="upArrow">
              <a:avLst>
                <a:gd name="adj1" fmla="val 50000"/>
                <a:gd name="adj2" fmla="val 42391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04" name="AutoShape 312"/>
            <p:cNvSpPr>
              <a:spLocks noChangeArrowheads="1"/>
            </p:cNvSpPr>
            <p:nvPr/>
          </p:nvSpPr>
          <p:spPr bwMode="auto">
            <a:xfrm>
              <a:off x="2698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05" name="AutoShape 313"/>
            <p:cNvSpPr>
              <a:spLocks noChangeArrowheads="1"/>
            </p:cNvSpPr>
            <p:nvPr/>
          </p:nvSpPr>
          <p:spPr bwMode="auto">
            <a:xfrm>
              <a:off x="2517" y="728"/>
              <a:ext cx="89" cy="163"/>
            </a:xfrm>
            <a:prstGeom prst="upArrow">
              <a:avLst>
                <a:gd name="adj1" fmla="val 50000"/>
                <a:gd name="adj2" fmla="val 4578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06" name="Text Box 314"/>
            <p:cNvSpPr txBox="1">
              <a:spLocks noChangeArrowheads="1"/>
            </p:cNvSpPr>
            <p:nvPr/>
          </p:nvSpPr>
          <p:spPr bwMode="auto">
            <a:xfrm>
              <a:off x="2288" y="1499"/>
              <a:ext cx="773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11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8</a:t>
              </a:r>
              <a:r>
                <a:rPr lang="en-US" altLang="zh-CN" sz="1800">
                  <a:solidFill>
                    <a:schemeClr val="accent2"/>
                  </a:solidFill>
                </a:rPr>
                <a:t> </a:t>
              </a:r>
              <a:r>
                <a:rPr lang="en-US" altLang="zh-CN" sz="18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>
                  <a:solidFill>
                    <a:schemeClr val="accent2"/>
                  </a:solidFill>
                </a:rPr>
                <a:t>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11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8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207" name="Text Box 315"/>
            <p:cNvSpPr txBox="1">
              <a:spLocks noChangeArrowheads="1"/>
            </p:cNvSpPr>
            <p:nvPr/>
          </p:nvSpPr>
          <p:spPr bwMode="auto">
            <a:xfrm>
              <a:off x="1064" y="890"/>
              <a:ext cx="816" cy="453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r>
                <a:rPr lang="zh-CN" altLang="en-US" sz="2000" dirty="0">
                  <a:solidFill>
                    <a:schemeClr val="tx1"/>
                  </a:solidFill>
                </a:rPr>
                <a:t>位先行进位加法器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8" name="Text Box 316"/>
            <p:cNvSpPr txBox="1">
              <a:spLocks noChangeArrowheads="1"/>
            </p:cNvSpPr>
            <p:nvPr/>
          </p:nvSpPr>
          <p:spPr bwMode="auto">
            <a:xfrm>
              <a:off x="1382" y="527"/>
              <a:ext cx="453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S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15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12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209" name="Line 317"/>
            <p:cNvSpPr>
              <a:spLocks noChangeShapeType="1"/>
            </p:cNvSpPr>
            <p:nvPr/>
          </p:nvSpPr>
          <p:spPr bwMode="auto">
            <a:xfrm flipH="1">
              <a:off x="883" y="1136"/>
              <a:ext cx="181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AutoShape 318"/>
            <p:cNvSpPr>
              <a:spLocks noChangeArrowheads="1"/>
            </p:cNvSpPr>
            <p:nvPr/>
          </p:nvSpPr>
          <p:spPr bwMode="auto">
            <a:xfrm>
              <a:off x="1200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11" name="AutoShape 319"/>
            <p:cNvSpPr>
              <a:spLocks noChangeArrowheads="1"/>
            </p:cNvSpPr>
            <p:nvPr/>
          </p:nvSpPr>
          <p:spPr bwMode="auto">
            <a:xfrm>
              <a:off x="1609" y="1343"/>
              <a:ext cx="91" cy="156"/>
            </a:xfrm>
            <a:prstGeom prst="upArrow">
              <a:avLst>
                <a:gd name="adj1" fmla="val 50000"/>
                <a:gd name="adj2" fmla="val 42857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12" name="AutoShape 320"/>
            <p:cNvSpPr>
              <a:spLocks noChangeArrowheads="1"/>
            </p:cNvSpPr>
            <p:nvPr/>
          </p:nvSpPr>
          <p:spPr bwMode="auto">
            <a:xfrm>
              <a:off x="1427" y="728"/>
              <a:ext cx="91" cy="163"/>
            </a:xfrm>
            <a:prstGeom prst="upArrow">
              <a:avLst>
                <a:gd name="adj1" fmla="val 50000"/>
                <a:gd name="adj2" fmla="val 44780"/>
              </a:avLst>
            </a:prstGeom>
            <a:noFill/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13" name="Text Box 321"/>
            <p:cNvSpPr txBox="1">
              <a:spLocks noChangeArrowheads="1"/>
            </p:cNvSpPr>
            <p:nvPr/>
          </p:nvSpPr>
          <p:spPr bwMode="auto">
            <a:xfrm>
              <a:off x="1201" y="1499"/>
              <a:ext cx="862" cy="1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chemeClr val="accent2"/>
                  </a:solidFill>
                </a:rPr>
                <a:t>A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15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12</a:t>
              </a:r>
              <a:r>
                <a:rPr lang="en-US" altLang="zh-CN" sz="1800">
                  <a:solidFill>
                    <a:schemeClr val="accent2"/>
                  </a:solidFill>
                </a:rPr>
                <a:t> B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15</a:t>
              </a:r>
              <a:r>
                <a:rPr lang="zh-CN" altLang="en-US" sz="1800" baseline="-18000">
                  <a:solidFill>
                    <a:schemeClr val="accent2"/>
                  </a:solidFill>
                </a:rPr>
                <a:t>～</a:t>
              </a:r>
              <a:r>
                <a:rPr lang="en-US" altLang="zh-CN" sz="1800" baseline="-18000">
                  <a:solidFill>
                    <a:schemeClr val="accent2"/>
                  </a:solidFill>
                </a:rPr>
                <a:t>12</a:t>
              </a:r>
              <a:endParaRPr lang="en-US" altLang="zh-CN" sz="1800" baseline="-18000">
                <a:solidFill>
                  <a:schemeClr val="accent2"/>
                </a:solidFill>
              </a:endParaRPr>
            </a:p>
          </p:txBody>
        </p:sp>
        <p:sp>
          <p:nvSpPr>
            <p:cNvPr id="214" name="Text Box 322"/>
            <p:cNvSpPr txBox="1">
              <a:spLocks noChangeArrowheads="1"/>
            </p:cNvSpPr>
            <p:nvPr/>
          </p:nvSpPr>
          <p:spPr bwMode="auto">
            <a:xfrm>
              <a:off x="4104" y="909"/>
              <a:ext cx="18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20000">
                  <a:solidFill>
                    <a:srgbClr val="990099"/>
                  </a:solidFill>
                </a:rPr>
                <a:t>3</a:t>
              </a:r>
              <a:endParaRPr lang="en-US" altLang="zh-CN" sz="1800" baseline="-20000">
                <a:solidFill>
                  <a:srgbClr val="990099"/>
                </a:solidFill>
              </a:endParaRPr>
            </a:p>
          </p:txBody>
        </p:sp>
        <p:sp>
          <p:nvSpPr>
            <p:cNvPr id="215" name="Text Box 323"/>
            <p:cNvSpPr txBox="1">
              <a:spLocks noChangeArrowheads="1"/>
            </p:cNvSpPr>
            <p:nvPr/>
          </p:nvSpPr>
          <p:spPr bwMode="auto">
            <a:xfrm>
              <a:off x="5373" y="1001"/>
              <a:ext cx="229" cy="22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20000">
                  <a:solidFill>
                    <a:srgbClr val="990099"/>
                  </a:solidFill>
                </a:rPr>
                <a:t>-1</a:t>
              </a:r>
              <a:endParaRPr lang="en-US" altLang="zh-CN" sz="1800" baseline="-20000">
                <a:solidFill>
                  <a:srgbClr val="990099"/>
                </a:solidFill>
              </a:endParaRPr>
            </a:p>
          </p:txBody>
        </p:sp>
        <p:sp>
          <p:nvSpPr>
            <p:cNvPr id="216" name="Text Box 324"/>
            <p:cNvSpPr txBox="1">
              <a:spLocks noChangeArrowheads="1"/>
            </p:cNvSpPr>
            <p:nvPr/>
          </p:nvSpPr>
          <p:spPr bwMode="auto">
            <a:xfrm>
              <a:off x="1927" y="909"/>
              <a:ext cx="226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20000">
                  <a:solidFill>
                    <a:srgbClr val="990099"/>
                  </a:solidFill>
                </a:rPr>
                <a:t>11</a:t>
              </a:r>
              <a:endParaRPr lang="en-US" altLang="zh-CN" sz="1800" baseline="-20000">
                <a:solidFill>
                  <a:srgbClr val="990099"/>
                </a:solidFill>
              </a:endParaRPr>
            </a:p>
          </p:txBody>
        </p:sp>
        <p:sp>
          <p:nvSpPr>
            <p:cNvPr id="217" name="Text Box 325"/>
            <p:cNvSpPr txBox="1">
              <a:spLocks noChangeArrowheads="1"/>
            </p:cNvSpPr>
            <p:nvPr/>
          </p:nvSpPr>
          <p:spPr bwMode="auto">
            <a:xfrm>
              <a:off x="702" y="1001"/>
              <a:ext cx="226" cy="22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>
                  <a:solidFill>
                    <a:srgbClr val="990099"/>
                  </a:solidFill>
                </a:rPr>
                <a:t>C</a:t>
              </a:r>
              <a:r>
                <a:rPr lang="en-US" altLang="zh-CN" sz="1800" baseline="-20000">
                  <a:solidFill>
                    <a:srgbClr val="990099"/>
                  </a:solidFill>
                </a:rPr>
                <a:t>15</a:t>
              </a:r>
              <a:endParaRPr lang="en-US" altLang="zh-CN" sz="1800" baseline="-20000">
                <a:solidFill>
                  <a:srgbClr val="990099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3" y="836712"/>
            <a:ext cx="5976664" cy="4131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zh-CN" altLang="en-US" dirty="0" smtClean="0">
                <a:solidFill>
                  <a:srgbClr val="FF3399"/>
                </a:solidFill>
              </a:rPr>
              <a:t>、运算器的功能与组成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运算器的功能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accent2"/>
                </a:solidFill>
              </a:rPr>
              <a:t>    指令功能示例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指令功能特点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4" name="Text Box 198"/>
          <p:cNvSpPr txBox="1">
            <a:spLocks noChangeArrowheads="1"/>
          </p:cNvSpPr>
          <p:nvPr/>
        </p:nvSpPr>
        <p:spPr bwMode="auto">
          <a:xfrm>
            <a:off x="179388" y="37504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 smtClean="0"/>
              <a:t>三、</a:t>
            </a:r>
            <a:r>
              <a:rPr lang="zh-CN" altLang="en-US" sz="2400" dirty="0"/>
              <a:t>运算器</a:t>
            </a:r>
            <a:r>
              <a:rPr lang="zh-CN" altLang="en-US" sz="2400" dirty="0" smtClean="0"/>
              <a:t>的组成及结构</a:t>
            </a:r>
            <a:endParaRPr lang="zh-CN" altLang="en-US" sz="2400" dirty="0"/>
          </a:p>
        </p:txBody>
      </p:sp>
      <p:sp>
        <p:nvSpPr>
          <p:cNvPr id="5" name="Text Box 199"/>
          <p:cNvSpPr txBox="1">
            <a:spLocks noChangeArrowheads="1"/>
          </p:cNvSpPr>
          <p:nvPr/>
        </p:nvSpPr>
        <p:spPr bwMode="auto">
          <a:xfrm>
            <a:off x="2627784" y="1340768"/>
            <a:ext cx="6336704" cy="977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实现</a:t>
            </a:r>
            <a:r>
              <a:rPr lang="en-US" altLang="zh-CN" dirty="0" smtClean="0">
                <a:solidFill>
                  <a:schemeClr val="tx1"/>
                </a:solidFill>
              </a:rPr>
              <a:t>ISA</a:t>
            </a:r>
            <a:r>
              <a:rPr lang="zh-CN" altLang="en-US" dirty="0" smtClean="0">
                <a:solidFill>
                  <a:schemeClr val="tx1"/>
                </a:solidFill>
              </a:rPr>
              <a:t>中</a:t>
            </a:r>
            <a:r>
              <a:rPr lang="zh-CN" altLang="en-US" u="sng" dirty="0">
                <a:solidFill>
                  <a:schemeClr val="tx1"/>
                </a:solidFill>
              </a:rPr>
              <a:t>各</a:t>
            </a:r>
            <a:r>
              <a:rPr lang="zh-CN" altLang="en-US" u="sng" dirty="0" smtClean="0">
                <a:solidFill>
                  <a:schemeClr val="tx1"/>
                </a:solidFill>
              </a:rPr>
              <a:t>指令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zh-CN" altLang="en-US" u="sng" dirty="0" smtClean="0">
                <a:solidFill>
                  <a:schemeClr val="tx1"/>
                </a:solidFill>
              </a:rPr>
              <a:t>约定功能</a:t>
            </a:r>
            <a:r>
              <a:rPr lang="zh-CN" altLang="en-US" dirty="0" smtClean="0">
                <a:solidFill>
                  <a:schemeClr val="tx1"/>
                </a:solidFill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←组成是逻辑实现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 子功能包括</a:t>
            </a:r>
            <a:r>
              <a:rPr lang="zh-CN" altLang="en-US" sz="2200" dirty="0">
                <a:solidFill>
                  <a:srgbClr val="990099"/>
                </a:solidFill>
              </a:rPr>
              <a:t>取操作数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dirty="0">
                <a:solidFill>
                  <a:srgbClr val="990099"/>
                </a:solidFill>
              </a:rPr>
              <a:t>运算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dirty="0">
                <a:solidFill>
                  <a:srgbClr val="990099"/>
                </a:solidFill>
              </a:rPr>
              <a:t>写结果</a:t>
            </a:r>
            <a:r>
              <a:rPr lang="en-US" altLang="zh-CN" sz="1800" dirty="0">
                <a:solidFill>
                  <a:srgbClr val="990099"/>
                </a:solidFill>
              </a:rPr>
              <a:t>(</a:t>
            </a:r>
            <a:r>
              <a:rPr lang="zh-CN" altLang="en-US" sz="1800" dirty="0">
                <a:solidFill>
                  <a:srgbClr val="990099"/>
                </a:solidFill>
              </a:rPr>
              <a:t>含标志</a:t>
            </a:r>
            <a:r>
              <a:rPr lang="en-US" altLang="zh-CN" sz="1800" dirty="0" smtClean="0">
                <a:solidFill>
                  <a:srgbClr val="990099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259633" y="2276872"/>
          <a:ext cx="7632847" cy="21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  <a:gridCol w="1872207"/>
                <a:gridCol w="2592288"/>
                <a:gridCol w="2160240"/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助记符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标志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ZF/CF/OF/SF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的产生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说明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ADD/SUB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Rd±Rs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运算产生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表示寄存器；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M[a]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a#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存储单元；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Imm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表示立即数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；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600"/>
                        </a:spcBef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顺序型指令的下条指令地址为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PC+1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Rd⊕M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CF/OF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，其余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运算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SHL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Rd&lt;&lt;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运算产生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latin typeface="+mn-ea"/>
                          <a:ea typeface="+mn-ea"/>
                        </a:rPr>
                        <a:t>MUL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Rs,Rd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CF/OF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＝运算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，其余任意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JNZ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ZF=0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否则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PC+1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不改变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 Box 199"/>
          <p:cNvSpPr txBox="1">
            <a:spLocks noChangeArrowheads="1"/>
          </p:cNvSpPr>
          <p:nvPr/>
        </p:nvSpPr>
        <p:spPr bwMode="auto">
          <a:xfrm>
            <a:off x="2771800" y="4437112"/>
            <a:ext cx="6192813" cy="2042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操作数常放在</a:t>
            </a:r>
            <a:r>
              <a:rPr lang="en-US" altLang="zh-CN" sz="2200" u="sng" dirty="0" smtClean="0">
                <a:solidFill>
                  <a:srgbClr val="990099"/>
                </a:solidFill>
              </a:rPr>
              <a:t>REG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、</a:t>
            </a:r>
            <a:r>
              <a:rPr lang="en-US" altLang="zh-CN" sz="2200" u="sng" dirty="0" smtClean="0">
                <a:solidFill>
                  <a:srgbClr val="990099"/>
                </a:solidFill>
              </a:rPr>
              <a:t>MEM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及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指令字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立即数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中</a:t>
            </a:r>
            <a:r>
              <a:rPr lang="zh-CN" altLang="en-US" sz="2200" dirty="0" smtClean="0">
                <a:solidFill>
                  <a:schemeClr val="tx1"/>
                </a:solidFill>
              </a:rPr>
              <a:t>；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不同指令的运算功能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不同时</a:t>
            </a:r>
            <a:r>
              <a:rPr lang="zh-CN" altLang="en-US" sz="2200" dirty="0" smtClean="0">
                <a:solidFill>
                  <a:schemeClr val="tx1"/>
                </a:solidFill>
              </a:rPr>
              <a:t>使用； </a:t>
            </a:r>
            <a:r>
              <a:rPr lang="zh-CN" altLang="en-US" sz="1800" dirty="0" smtClean="0">
                <a:solidFill>
                  <a:schemeClr val="tx1"/>
                </a:solidFill>
              </a:rPr>
              <a:t>←指令串行执行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不同指令产生的</a:t>
            </a:r>
            <a:r>
              <a:rPr lang="zh-CN" altLang="en-US" sz="2200" u="sng" dirty="0" smtClean="0">
                <a:solidFill>
                  <a:srgbClr val="990099"/>
                </a:solidFill>
                <a:sym typeface="+mn-ea"/>
              </a:rPr>
              <a:t>标志不同</a:t>
            </a:r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；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    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←操作特性不同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指令产生的标志</a:t>
            </a:r>
            <a:r>
              <a:rPr lang="zh-CN" altLang="en-US" sz="2200" u="sng" dirty="0" smtClean="0">
                <a:solidFill>
                  <a:srgbClr val="990099"/>
                </a:solidFill>
                <a:sym typeface="+mn-ea"/>
              </a:rPr>
              <a:t>需保存</a:t>
            </a:r>
            <a:r>
              <a:rPr lang="zh-CN" altLang="en-US" sz="2200" dirty="0" smtClean="0">
                <a:solidFill>
                  <a:schemeClr val="tx1"/>
                </a:solidFill>
                <a:sym typeface="+mn-ea"/>
              </a:rPr>
              <a:t>使用   </a:t>
            </a:r>
            <a:r>
              <a:rPr lang="en-US" altLang="zh-CN" sz="2200" dirty="0" smtClean="0">
                <a:solidFill>
                  <a:schemeClr val="tx1"/>
                </a:solidFill>
                <a:sym typeface="+mn-ea"/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←供后续指令用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                                  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JNZ</a:t>
            </a:r>
            <a:r>
              <a:rPr lang="zh-CN" altLang="en-US" sz="1600" dirty="0" smtClean="0">
                <a:solidFill>
                  <a:schemeClr val="tx1"/>
                </a:solidFill>
                <a:sym typeface="+mn-ea"/>
              </a:rPr>
              <a:t>需使用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ZF→</a:t>
            </a:r>
            <a:r>
              <a:rPr lang="en-US" altLang="zh-CN" sz="1600" b="0" dirty="0" smtClean="0">
                <a:solidFill>
                  <a:schemeClr val="tx1"/>
                </a:solidFill>
                <a:sym typeface="+mn-ea"/>
              </a:rPr>
              <a:t>┘</a:t>
            </a:r>
            <a:endParaRPr lang="en-US" altLang="zh-CN" sz="1600" b="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AutoShape 29"/>
          <p:cNvSpPr/>
          <p:nvPr/>
        </p:nvSpPr>
        <p:spPr bwMode="auto">
          <a:xfrm>
            <a:off x="179388" y="4968612"/>
            <a:ext cx="2016000" cy="288000"/>
          </a:xfrm>
          <a:prstGeom prst="borderCallout2">
            <a:avLst>
              <a:gd name="adj1" fmla="val -1511"/>
              <a:gd name="adj2" fmla="val 12422"/>
              <a:gd name="adj3" fmla="val -493983"/>
              <a:gd name="adj4" fmla="val 12870"/>
              <a:gd name="adj5" fmla="val -755601"/>
              <a:gd name="adj6" fmla="val 5145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</a:rPr>
              <a:t>实例：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R0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R0</a:t>
            </a:r>
            <a:r>
              <a:rPr lang="zh-CN" altLang="en-US" sz="1800" dirty="0" smtClean="0">
                <a:solidFill>
                  <a:schemeClr val="tx1"/>
                </a:solidFill>
              </a:rPr>
              <a:t>－</a:t>
            </a:r>
            <a:r>
              <a:rPr lang="en-US" altLang="zh-CN" sz="1800" dirty="0" smtClean="0">
                <a:solidFill>
                  <a:schemeClr val="tx1"/>
                </a:solidFill>
              </a:rPr>
              <a:t>R1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Group 975"/>
          <p:cNvGraphicFramePr>
            <a:graphicFrameLocks noGrp="1"/>
          </p:cNvGraphicFramePr>
          <p:nvPr/>
        </p:nvGraphicFramePr>
        <p:xfrm>
          <a:off x="7380312" y="1268760"/>
          <a:ext cx="1440160" cy="2007648"/>
        </p:xfrm>
        <a:graphic>
          <a:graphicData uri="http://schemas.openxmlformats.org/drawingml/2006/table">
            <a:tbl>
              <a:tblPr/>
              <a:tblGrid>
                <a:gridCol w="1440160"/>
              </a:tblGrid>
              <a:tr h="310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、移位器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5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乘除法器等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FPU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＋门电路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575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MMX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SSE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199"/>
          <p:cNvSpPr txBox="1">
            <a:spLocks noChangeArrowheads="1"/>
          </p:cNvSpPr>
          <p:nvPr/>
        </p:nvSpPr>
        <p:spPr bwMode="auto">
          <a:xfrm>
            <a:off x="179513" y="332656"/>
            <a:ext cx="5976664" cy="5669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rgbClr val="C00000"/>
                </a:solidFill>
              </a:rPr>
              <a:t> *</a:t>
            </a:r>
            <a:r>
              <a:rPr lang="zh-CN" altLang="en-US" dirty="0">
                <a:solidFill>
                  <a:srgbClr val="C00000"/>
                </a:solidFill>
              </a:rPr>
              <a:t>运算器的部件组成</a:t>
            </a:r>
            <a:r>
              <a:rPr lang="zh-CN" altLang="en-US" dirty="0" smtClean="0">
                <a:solidFill>
                  <a:srgbClr val="C00000"/>
                </a:solidFill>
              </a:rPr>
              <a:t>：  </a:t>
            </a:r>
            <a:r>
              <a:rPr lang="en-US" altLang="zh-CN" sz="2000" dirty="0" smtClean="0">
                <a:solidFill>
                  <a:schemeClr val="tx1"/>
                </a:solidFill>
              </a:rPr>
              <a:t>—</a:t>
            </a:r>
            <a:r>
              <a:rPr lang="zh-CN" altLang="en-US" sz="2000" dirty="0" smtClean="0">
                <a:solidFill>
                  <a:schemeClr val="tx1"/>
                </a:solidFill>
              </a:rPr>
              <a:t>基于</a:t>
            </a:r>
            <a:r>
              <a:rPr lang="en-US" altLang="zh-CN" sz="2000" dirty="0" smtClean="0">
                <a:solidFill>
                  <a:schemeClr val="tx1"/>
                </a:solidFill>
              </a:rPr>
              <a:t>ISA</a:t>
            </a:r>
            <a:r>
              <a:rPr lang="zh-CN" altLang="en-US" sz="2000" dirty="0" smtClean="0">
                <a:solidFill>
                  <a:schemeClr val="tx1"/>
                </a:solidFill>
              </a:rPr>
              <a:t>需求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运算</a:t>
            </a:r>
            <a:r>
              <a:rPr lang="zh-CN" altLang="en-US" dirty="0">
                <a:solidFill>
                  <a:schemeClr val="accent2"/>
                </a:solidFill>
              </a:rPr>
              <a:t>部件</a:t>
            </a:r>
            <a:r>
              <a:rPr lang="en-US" altLang="zh-CN" dirty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存放</a:t>
            </a:r>
            <a:r>
              <a:rPr lang="zh-CN" altLang="en-US" dirty="0">
                <a:solidFill>
                  <a:schemeClr val="accent2"/>
                </a:solidFill>
              </a:rPr>
              <a:t>部件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*运算器的部件互连：  </a:t>
            </a:r>
            <a:r>
              <a:rPr lang="en-US" altLang="zh-CN" sz="2000" dirty="0">
                <a:solidFill>
                  <a:schemeClr val="tx1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基于</a:t>
            </a:r>
            <a:r>
              <a:rPr lang="en-US" altLang="zh-CN" sz="2000" dirty="0">
                <a:solidFill>
                  <a:schemeClr val="tx1"/>
                </a:solidFill>
              </a:rPr>
              <a:t>ISA</a:t>
            </a:r>
            <a:r>
              <a:rPr lang="zh-CN" altLang="en-US" sz="2000" dirty="0" smtClean="0">
                <a:solidFill>
                  <a:schemeClr val="tx1"/>
                </a:solidFill>
              </a:rPr>
              <a:t>需求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部件引脚连接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部件互连结构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6" name="Group 975"/>
          <p:cNvGraphicFramePr>
            <a:graphicFrameLocks noGrp="1"/>
          </p:cNvGraphicFramePr>
          <p:nvPr/>
        </p:nvGraphicFramePr>
        <p:xfrm>
          <a:off x="1302648" y="1291048"/>
          <a:ext cx="7517824" cy="1980216"/>
        </p:xfrm>
        <a:graphic>
          <a:graphicData uri="http://schemas.openxmlformats.org/drawingml/2006/table">
            <a:tbl>
              <a:tblPr/>
              <a:tblGrid>
                <a:gridCol w="648072"/>
                <a:gridCol w="864096"/>
                <a:gridCol w="1541160"/>
                <a:gridCol w="1368152"/>
                <a:gridCol w="1656184"/>
                <a:gridCol w="1440160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表示格式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运算方法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运算类型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运算部件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整数</a:t>
                      </a:r>
                      <a:endParaRPr kumimoji="1" lang="zh-CN" altLang="en-US" sz="1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减、移位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实数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88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非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位向量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按位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非等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24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字符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算术＋逻辑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≤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≠等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1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其他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向量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饱和加减等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199"/>
          <p:cNvSpPr txBox="1">
            <a:spLocks noChangeArrowheads="1"/>
          </p:cNvSpPr>
          <p:nvPr/>
        </p:nvSpPr>
        <p:spPr bwMode="auto">
          <a:xfrm>
            <a:off x="2340000" y="764704"/>
            <a:ext cx="6552728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有多种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运算方法不同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，每种含</a:t>
            </a:r>
            <a:r>
              <a:rPr lang="zh-CN" altLang="en-US" u="sng" dirty="0" smtClean="0">
                <a:solidFill>
                  <a:schemeClr val="tx1"/>
                </a:solidFill>
              </a:rPr>
              <a:t>多种</a:t>
            </a:r>
            <a:r>
              <a:rPr lang="zh-CN" altLang="en-US" dirty="0" smtClean="0">
                <a:solidFill>
                  <a:schemeClr val="tx1"/>
                </a:solidFill>
              </a:rPr>
              <a:t>功能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复用</a:t>
            </a:r>
            <a:r>
              <a:rPr lang="zh-CN" altLang="en-US" sz="1800" dirty="0" smtClean="0">
                <a:solidFill>
                  <a:schemeClr val="tx1"/>
                </a:solidFill>
              </a:rPr>
              <a:t>元器件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8" name="Text Box 199"/>
          <p:cNvSpPr txBox="1">
            <a:spLocks noChangeArrowheads="1"/>
          </p:cNvSpPr>
          <p:nvPr/>
        </p:nvSpPr>
        <p:spPr bwMode="auto">
          <a:xfrm>
            <a:off x="2411760" y="3528000"/>
            <a:ext cx="662473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寄存器组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存放数据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地址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、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按地址访问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状态寄存器</a:t>
            </a:r>
            <a:r>
              <a:rPr lang="en-US" altLang="zh-CN" dirty="0" smtClean="0">
                <a:solidFill>
                  <a:schemeClr val="tx1"/>
                </a:solidFill>
              </a:rPr>
              <a:t>PSR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存放标志等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←可</a:t>
            </a:r>
            <a:r>
              <a:rPr lang="zh-CN" altLang="en-US" sz="1800" dirty="0">
                <a:solidFill>
                  <a:schemeClr val="tx1"/>
                </a:solidFill>
              </a:rPr>
              <a:t>能</a:t>
            </a:r>
            <a:r>
              <a:rPr lang="zh-CN" altLang="en-US" sz="1800" dirty="0" smtClean="0">
                <a:solidFill>
                  <a:schemeClr val="tx1"/>
                </a:solidFill>
              </a:rPr>
              <a:t>写入部分标志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4" name="Text Box 199"/>
          <p:cNvSpPr txBox="1">
            <a:spLocks noChangeArrowheads="1"/>
          </p:cNvSpPr>
          <p:nvPr/>
        </p:nvSpPr>
        <p:spPr bwMode="auto">
          <a:xfrm>
            <a:off x="2987824" y="4932000"/>
            <a:ext cx="597666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汇总各指令的需求，增设连接电路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有总线结构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 smtClean="0">
                <a:solidFill>
                  <a:schemeClr val="tx1"/>
                </a:solidFill>
              </a:rPr>
              <a:t>专用结构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类 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稍后讨论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5" name="AutoShape 29"/>
          <p:cNvSpPr/>
          <p:nvPr>
            <p:custDataLst>
              <p:tags r:id="rId1"/>
            </p:custDataLst>
          </p:nvPr>
        </p:nvSpPr>
        <p:spPr bwMode="auto">
          <a:xfrm>
            <a:off x="3924000" y="3356982"/>
            <a:ext cx="2952000" cy="288000"/>
          </a:xfrm>
          <a:prstGeom prst="borderCallout2">
            <a:avLst>
              <a:gd name="adj1" fmla="val 50362"/>
              <a:gd name="adj2" fmla="val 100417"/>
              <a:gd name="adj3" fmla="val 50362"/>
              <a:gd name="adj4" fmla="val 110420"/>
              <a:gd name="adj5" fmla="val -253247"/>
              <a:gd name="adj6" fmla="val 12066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</a:pPr>
            <a:r>
              <a:rPr lang="zh-CN" sz="1800" b="1" dirty="0" smtClean="0">
                <a:solidFill>
                  <a:schemeClr val="tx1"/>
                </a:solidFill>
              </a:rPr>
              <a:t>算术运算基于逻辑运算实现</a:t>
            </a:r>
            <a:endParaRPr lang="zh-CN" sz="1800" b="1" dirty="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251765" y="6093370"/>
            <a:ext cx="2628000" cy="252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zh-CN" sz="1600" b="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PSR—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  <a:sym typeface="+mn-ea"/>
              </a:rPr>
              <a:t>Program Status Register</a:t>
            </a:r>
            <a:endParaRPr lang="en-US" altLang="zh-CN" sz="1600" b="0" dirty="0" smtClean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4" grpId="0" bldLvl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0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1" name="Text Box 199"/>
          <p:cNvSpPr txBox="1">
            <a:spLocks noChangeArrowheads="1"/>
          </p:cNvSpPr>
          <p:nvPr/>
        </p:nvSpPr>
        <p:spPr bwMode="auto">
          <a:xfrm>
            <a:off x="179512" y="332656"/>
            <a:ext cx="3528391" cy="4477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、运算器的部件设计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*设计步骤：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</a:t>
            </a:r>
            <a:r>
              <a:rPr lang="en-US" altLang="zh-CN" dirty="0" smtClean="0">
                <a:solidFill>
                  <a:srgbClr val="C00000"/>
                </a:solidFill>
              </a:rPr>
              <a:t>ALU</a:t>
            </a:r>
            <a:r>
              <a:rPr lang="zh-CN" altLang="en-US" dirty="0" smtClean="0">
                <a:solidFill>
                  <a:srgbClr val="C00000"/>
                </a:solidFill>
              </a:rPr>
              <a:t>设计示例：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功能表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逻辑函数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内部逻辑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62" name="Text Box 222"/>
          <p:cNvSpPr txBox="1">
            <a:spLocks noChangeArrowheads="1"/>
          </p:cNvSpPr>
          <p:nvPr/>
        </p:nvSpPr>
        <p:spPr bwMode="auto">
          <a:xfrm>
            <a:off x="1979713" y="778241"/>
            <a:ext cx="716428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u="sng" dirty="0">
                <a:solidFill>
                  <a:schemeClr val="tx1"/>
                </a:solidFill>
              </a:rPr>
              <a:t>组织</a:t>
            </a:r>
            <a:r>
              <a:rPr lang="zh-CN" altLang="en-US" dirty="0">
                <a:solidFill>
                  <a:schemeClr val="tx1"/>
                </a:solidFill>
              </a:rPr>
              <a:t>各部件</a:t>
            </a:r>
            <a:r>
              <a:rPr lang="zh-CN" altLang="en-US" dirty="0" smtClean="0">
                <a:solidFill>
                  <a:schemeClr val="tx1"/>
                </a:solidFill>
              </a:rPr>
              <a:t>功能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分类合并</a:t>
            </a:r>
            <a:r>
              <a:rPr lang="zh-CN" altLang="en-US" sz="1800" dirty="0" smtClean="0">
                <a:solidFill>
                  <a:schemeClr val="tx1"/>
                </a:solidFill>
              </a:rPr>
              <a:t>所有</a:t>
            </a:r>
            <a:r>
              <a:rPr lang="zh-CN" altLang="en-US" sz="1800" dirty="0" smtClean="0">
                <a:solidFill>
                  <a:schemeClr val="tx1"/>
                </a:solidFill>
              </a:rPr>
              <a:t>运算</a:t>
            </a:r>
            <a:r>
              <a:rPr lang="en-US" altLang="zh-CN" sz="1800" dirty="0" smtClean="0">
                <a:solidFill>
                  <a:schemeClr val="tx1"/>
                </a:solidFill>
              </a:rPr>
              <a:t>&amp;</a:t>
            </a:r>
            <a:r>
              <a:rPr lang="zh-CN" altLang="en-US" sz="1800" dirty="0" smtClean="0">
                <a:solidFill>
                  <a:schemeClr val="tx1"/>
                </a:solidFill>
              </a:rPr>
              <a:t>操作需求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， </a:t>
            </a:r>
            <a:r>
              <a:rPr lang="zh-CN" altLang="en-US" sz="1800" dirty="0" smtClean="0">
                <a:solidFill>
                  <a:schemeClr val="tx1"/>
                </a:solidFill>
              </a:rPr>
              <a:t>←复用器件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u="sng" dirty="0" smtClean="0">
                <a:solidFill>
                  <a:schemeClr val="tx1"/>
                </a:solidFill>
              </a:rPr>
              <a:t>设计</a:t>
            </a:r>
            <a:r>
              <a:rPr lang="zh-CN" altLang="en-US" dirty="0" smtClean="0">
                <a:solidFill>
                  <a:schemeClr val="tx1"/>
                </a:solidFill>
              </a:rPr>
              <a:t>各部件电路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3" name="Text Box 1015"/>
          <p:cNvSpPr txBox="1">
            <a:spLocks noChangeArrowheads="1"/>
          </p:cNvSpPr>
          <p:nvPr/>
        </p:nvSpPr>
        <p:spPr bwMode="auto">
          <a:xfrm>
            <a:off x="2195736" y="4281626"/>
            <a:ext cx="6552728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</a:rPr>
              <a:t>个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位加减法器级联，用</a:t>
            </a:r>
            <a:r>
              <a:rPr lang="en-US" altLang="zh-CN" sz="2200" dirty="0" smtClean="0">
                <a:solidFill>
                  <a:schemeClr val="tx1"/>
                </a:solidFill>
              </a:rPr>
              <a:t>op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控制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out</a:t>
            </a:r>
            <a:r>
              <a:rPr lang="zh-CN" altLang="en-US" sz="2200" dirty="0" smtClean="0">
                <a:solidFill>
                  <a:schemeClr val="tx1"/>
                </a:solidFill>
              </a:rPr>
              <a:t>及形成标志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64" name="Text Box 1015"/>
          <p:cNvSpPr txBox="1">
            <a:spLocks noChangeArrowheads="1"/>
          </p:cNvSpPr>
          <p:nvPr/>
        </p:nvSpPr>
        <p:spPr bwMode="auto">
          <a:xfrm>
            <a:off x="5292080" y="4869160"/>
            <a:ext cx="3744416" cy="133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标志形成逻辑：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ZF=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lt"/>
                <a:ea typeface="+mn-ea"/>
              </a:rPr>
              <a:t>~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(F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+…+F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</a:rPr>
              <a:t>: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~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15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+…+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OF=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(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: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(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15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</a:rPr>
              <a:t>14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  <a:sym typeface="Symbol" panose="05050102010706020507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SF=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F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7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: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F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15</a:t>
            </a:r>
            <a:endParaRPr lang="en-US" altLang="zh-CN" sz="18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5" name="Text Box 199"/>
          <p:cNvSpPr txBox="1">
            <a:spLocks noChangeArrowheads="1"/>
          </p:cNvSpPr>
          <p:nvPr/>
        </p:nvSpPr>
        <p:spPr bwMode="auto">
          <a:xfrm>
            <a:off x="755576" y="2132856"/>
            <a:ext cx="8208912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rgbClr val="990099"/>
                </a:solidFill>
              </a:rPr>
              <a:t>例</a:t>
            </a:r>
            <a:r>
              <a:rPr lang="en-US" altLang="zh-CN" sz="2200" dirty="0" smtClean="0">
                <a:solidFill>
                  <a:srgbClr val="990099"/>
                </a:solidFill>
              </a:rPr>
              <a:t>1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zh-CN" sz="2200" dirty="0" smtClean="0">
                <a:solidFill>
                  <a:schemeClr val="tx1"/>
                </a:solidFill>
              </a:rPr>
              <a:t>设计</a:t>
            </a:r>
            <a:r>
              <a:rPr lang="zh-CN" altLang="en-US" sz="2200" dirty="0" smtClean="0">
                <a:solidFill>
                  <a:schemeClr val="tx1"/>
                </a:solidFill>
              </a:rPr>
              <a:t>支持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位及</a:t>
            </a:r>
            <a:r>
              <a:rPr lang="en-US" altLang="zh-CN" sz="2200" dirty="0" smtClean="0">
                <a:solidFill>
                  <a:schemeClr val="tx1"/>
                </a:solidFill>
              </a:rPr>
              <a:t>16</a:t>
            </a:r>
            <a:r>
              <a:rPr lang="zh-CN" altLang="en-US" sz="2200" dirty="0" smtClean="0">
                <a:solidFill>
                  <a:schemeClr val="tx1"/>
                </a:solidFill>
              </a:rPr>
              <a:t>位加法</a:t>
            </a:r>
            <a:r>
              <a:rPr lang="zh-CN" altLang="en-US" sz="2200" dirty="0">
                <a:solidFill>
                  <a:schemeClr val="tx1"/>
                </a:solidFill>
              </a:rPr>
              <a:t>及减法的</a:t>
            </a:r>
            <a:r>
              <a:rPr lang="en-US" altLang="zh-CN" sz="2200" dirty="0" smtClean="0">
                <a:solidFill>
                  <a:schemeClr val="tx1"/>
                </a:solidFill>
              </a:rPr>
              <a:t>ALU</a:t>
            </a:r>
            <a:r>
              <a:rPr lang="zh-CN" altLang="en-US" sz="2200" dirty="0" smtClean="0">
                <a:solidFill>
                  <a:schemeClr val="tx1"/>
                </a:solidFill>
              </a:rPr>
              <a:t>，产生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C</a:t>
            </a:r>
            <a:r>
              <a:rPr lang="en-US" altLang="zh-CN" baseline="-18000" dirty="0" err="1" smtClean="0">
                <a:solidFill>
                  <a:schemeClr val="tx1"/>
                </a:solidFill>
              </a:rPr>
              <a:t>out</a:t>
            </a:r>
            <a:r>
              <a:rPr lang="zh-CN" altLang="en-US" sz="2200" dirty="0" smtClean="0">
                <a:solidFill>
                  <a:schemeClr val="tx1"/>
                </a:solidFill>
              </a:rPr>
              <a:t>及</a:t>
            </a:r>
            <a:r>
              <a:rPr lang="en-US" altLang="zh-CN" sz="2200" dirty="0" smtClean="0">
                <a:solidFill>
                  <a:schemeClr val="tx1"/>
                </a:solidFill>
              </a:rPr>
              <a:t>ZF/OF/SF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200" dirty="0" smtClean="0">
                <a:solidFill>
                  <a:schemeClr val="tx1"/>
                </a:solidFill>
              </a:rPr>
              <a:t>输入为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A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ea"/>
              </a:rPr>
              <a:t>15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及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B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ea"/>
              </a:rPr>
              <a:t>15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op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ea"/>
                <a:ea typeface="+mn-ea"/>
              </a:rPr>
              <a:t>1-0</a:t>
            </a:r>
            <a:r>
              <a:rPr lang="zh-CN" altLang="en-US" sz="2200" dirty="0" smtClean="0">
                <a:solidFill>
                  <a:schemeClr val="tx1"/>
                </a:solidFill>
              </a:rPr>
              <a:t>，输出为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baseline="-18000" dirty="0" smtClean="0">
                <a:solidFill>
                  <a:schemeClr val="tx1"/>
                </a:solidFill>
                <a:latin typeface="+mn-ea"/>
              </a:rPr>
              <a:t>15</a:t>
            </a:r>
            <a:r>
              <a:rPr lang="en-US" altLang="zh-CN" sz="2000" baseline="-180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2000" baseline="-18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 err="1" smtClean="0">
                <a:solidFill>
                  <a:schemeClr val="tx1"/>
                </a:solidFill>
              </a:rPr>
              <a:t>out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及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个</a:t>
            </a:r>
            <a:r>
              <a:rPr lang="zh-CN" altLang="en-US" sz="2200" dirty="0" smtClean="0">
                <a:solidFill>
                  <a:schemeClr val="tx1"/>
                </a:solidFill>
              </a:rPr>
              <a:t>标志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66" name="Text Box 1015"/>
          <p:cNvSpPr txBox="1">
            <a:spLocks noChangeArrowheads="1"/>
          </p:cNvSpPr>
          <p:nvPr/>
        </p:nvSpPr>
        <p:spPr bwMode="auto">
          <a:xfrm>
            <a:off x="4572344" y="1340768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dirty="0" smtClean="0">
                <a:solidFill>
                  <a:srgbClr val="0070C0"/>
                </a:solidFill>
              </a:rPr>
              <a:t>组合逻辑</a:t>
            </a:r>
            <a:r>
              <a:rPr lang="zh-CN" altLang="en-US" sz="1800" dirty="0" smtClean="0">
                <a:solidFill>
                  <a:schemeClr val="tx1"/>
                </a:solidFill>
              </a:rPr>
              <a:t>电路设计的步骤？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67" name="Text Box 1015"/>
          <p:cNvSpPr txBox="1">
            <a:spLocks noChangeArrowheads="1"/>
          </p:cNvSpPr>
          <p:nvPr/>
        </p:nvSpPr>
        <p:spPr bwMode="auto">
          <a:xfrm>
            <a:off x="4572504" y="1620000"/>
            <a:ext cx="3960000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600" dirty="0" smtClean="0">
                <a:solidFill>
                  <a:schemeClr val="tx1"/>
                </a:solidFill>
              </a:rPr>
              <a:t>①</a:t>
            </a:r>
            <a:r>
              <a:rPr lang="zh-CN" sz="1600" dirty="0" smtClean="0">
                <a:solidFill>
                  <a:schemeClr val="tx1"/>
                </a:solidFill>
              </a:rPr>
              <a:t>逻辑抽象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真值表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r>
              <a:rPr lang="zh-CN" altLang="en-US" sz="1600" dirty="0" smtClean="0">
                <a:solidFill>
                  <a:schemeClr val="tx1"/>
                </a:solidFill>
              </a:rPr>
              <a:t> ②逻辑化简</a:t>
            </a:r>
            <a:r>
              <a:rPr lang="en-US" altLang="zh-CN" sz="1600" dirty="0" smtClean="0">
                <a:solidFill>
                  <a:schemeClr val="tx1"/>
                </a:solidFill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</a:rPr>
              <a:t>表达式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r>
              <a:rPr lang="zh-CN" altLang="en-US" sz="1600" dirty="0" smtClean="0">
                <a:solidFill>
                  <a:schemeClr val="tx1"/>
                </a:solidFill>
              </a:rPr>
              <a:t> </a:t>
            </a:r>
            <a:endParaRPr lang="zh-CN" altLang="en-US" sz="1600" dirty="0" smtClean="0">
              <a:solidFill>
                <a:schemeClr val="tx1"/>
              </a:solidFill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</a:rPr>
              <a:t>③电路</a:t>
            </a:r>
            <a:r>
              <a:rPr lang="zh-CN" altLang="en-US" sz="1600" dirty="0">
                <a:solidFill>
                  <a:schemeClr val="tx1"/>
                </a:solidFill>
              </a:rPr>
              <a:t>设计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内部逻辑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2626772" y="3051816"/>
          <a:ext cx="6120680" cy="1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1080120"/>
                <a:gridCol w="1080120"/>
                <a:gridCol w="1440160"/>
                <a:gridCol w="1440160"/>
              </a:tblGrid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0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ZF/OF/SF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位结果形成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位结果形成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9" name="组合 68"/>
          <p:cNvGrpSpPr/>
          <p:nvPr/>
        </p:nvGrpSpPr>
        <p:grpSpPr>
          <a:xfrm>
            <a:off x="561364" y="4725144"/>
            <a:ext cx="4658708" cy="1728192"/>
            <a:chOff x="417348" y="2420888"/>
            <a:chExt cx="4658708" cy="1728192"/>
          </a:xfrm>
        </p:grpSpPr>
        <p:sp>
          <p:nvSpPr>
            <p:cNvPr id="70" name="Rectangle 403"/>
            <p:cNvSpPr>
              <a:spLocks noChangeArrowheads="1"/>
            </p:cNvSpPr>
            <p:nvPr/>
          </p:nvSpPr>
          <p:spPr bwMode="auto">
            <a:xfrm>
              <a:off x="899216" y="2709072"/>
              <a:ext cx="3672000" cy="11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191"/>
            <p:cNvSpPr>
              <a:spLocks noChangeShapeType="1"/>
            </p:cNvSpPr>
            <p:nvPr/>
          </p:nvSpPr>
          <p:spPr bwMode="auto">
            <a:xfrm flipH="1">
              <a:off x="755664" y="3429000"/>
              <a:ext cx="215936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408"/>
            <p:cNvSpPr txBox="1">
              <a:spLocks noChangeArrowheads="1"/>
            </p:cNvSpPr>
            <p:nvPr/>
          </p:nvSpPr>
          <p:spPr bwMode="auto">
            <a:xfrm>
              <a:off x="467576" y="3357016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SF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73" name="Text Box 408"/>
            <p:cNvSpPr txBox="1">
              <a:spLocks noChangeArrowheads="1"/>
            </p:cNvSpPr>
            <p:nvPr/>
          </p:nvSpPr>
          <p:spPr bwMode="auto">
            <a:xfrm>
              <a:off x="4716056" y="263691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74" name="Line 430"/>
            <p:cNvSpPr>
              <a:spLocks noChangeShapeType="1"/>
            </p:cNvSpPr>
            <p:nvPr/>
          </p:nvSpPr>
          <p:spPr bwMode="auto">
            <a:xfrm flipH="1" flipV="1">
              <a:off x="4572040" y="2780904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75" name="Text Box 408"/>
            <p:cNvSpPr txBox="1">
              <a:spLocks noChangeArrowheads="1"/>
            </p:cNvSpPr>
            <p:nvPr/>
          </p:nvSpPr>
          <p:spPr bwMode="auto">
            <a:xfrm>
              <a:off x="4716056" y="357304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76" name="Line 191"/>
            <p:cNvSpPr>
              <a:spLocks noChangeShapeType="1"/>
            </p:cNvSpPr>
            <p:nvPr/>
          </p:nvSpPr>
          <p:spPr bwMode="auto">
            <a:xfrm flipH="1">
              <a:off x="755664" y="3212976"/>
              <a:ext cx="79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99"/>
            <p:cNvSpPr>
              <a:spLocks noChangeShapeType="1"/>
            </p:cNvSpPr>
            <p:nvPr/>
          </p:nvSpPr>
          <p:spPr bwMode="auto">
            <a:xfrm>
              <a:off x="3779984" y="3573104"/>
              <a:ext cx="0" cy="36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99"/>
            <p:cNvSpPr>
              <a:spLocks noChangeShapeType="1"/>
            </p:cNvSpPr>
            <p:nvPr/>
          </p:nvSpPr>
          <p:spPr bwMode="auto">
            <a:xfrm>
              <a:off x="3419872" y="2636984"/>
              <a:ext cx="0" cy="64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99"/>
            <p:cNvSpPr>
              <a:spLocks noChangeShapeType="1"/>
            </p:cNvSpPr>
            <p:nvPr/>
          </p:nvSpPr>
          <p:spPr bwMode="auto">
            <a:xfrm>
              <a:off x="3779952" y="2636944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99"/>
            <p:cNvSpPr>
              <a:spLocks noChangeShapeType="1"/>
            </p:cNvSpPr>
            <p:nvPr/>
          </p:nvSpPr>
          <p:spPr bwMode="auto">
            <a:xfrm>
              <a:off x="2411816" y="2636944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99"/>
            <p:cNvSpPr>
              <a:spLocks noChangeShapeType="1"/>
            </p:cNvSpPr>
            <p:nvPr/>
          </p:nvSpPr>
          <p:spPr bwMode="auto">
            <a:xfrm>
              <a:off x="2051776" y="2636984"/>
              <a:ext cx="0" cy="64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408"/>
            <p:cNvSpPr txBox="1">
              <a:spLocks noChangeArrowheads="1"/>
            </p:cNvSpPr>
            <p:nvPr/>
          </p:nvSpPr>
          <p:spPr bwMode="auto">
            <a:xfrm>
              <a:off x="3419944" y="393308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>
              <a:off x="2411760" y="3573016"/>
              <a:ext cx="0" cy="36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91"/>
            <p:cNvSpPr>
              <a:spLocks noChangeShapeType="1"/>
            </p:cNvSpPr>
            <p:nvPr/>
          </p:nvSpPr>
          <p:spPr bwMode="auto">
            <a:xfrm flipH="1">
              <a:off x="755664" y="3573016"/>
              <a:ext cx="215936" cy="88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91"/>
            <p:cNvSpPr>
              <a:spLocks noChangeShapeType="1"/>
            </p:cNvSpPr>
            <p:nvPr/>
          </p:nvSpPr>
          <p:spPr bwMode="auto">
            <a:xfrm flipH="1" flipV="1">
              <a:off x="755664" y="3717032"/>
              <a:ext cx="215936" cy="8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408"/>
            <p:cNvSpPr txBox="1">
              <a:spLocks noChangeArrowheads="1"/>
            </p:cNvSpPr>
            <p:nvPr/>
          </p:nvSpPr>
          <p:spPr bwMode="auto">
            <a:xfrm>
              <a:off x="1619744" y="2420912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8" name="Text Box 408"/>
            <p:cNvSpPr txBox="1">
              <a:spLocks noChangeArrowheads="1"/>
            </p:cNvSpPr>
            <p:nvPr/>
          </p:nvSpPr>
          <p:spPr bwMode="auto">
            <a:xfrm>
              <a:off x="2267816" y="2420888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9" name="Text Box 408"/>
            <p:cNvSpPr txBox="1">
              <a:spLocks noChangeArrowheads="1"/>
            </p:cNvSpPr>
            <p:nvPr/>
          </p:nvSpPr>
          <p:spPr bwMode="auto">
            <a:xfrm>
              <a:off x="417348" y="3108334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0" name="Line 430"/>
            <p:cNvSpPr>
              <a:spLocks noChangeShapeType="1"/>
            </p:cNvSpPr>
            <p:nvPr/>
          </p:nvSpPr>
          <p:spPr bwMode="auto">
            <a:xfrm flipH="1" flipV="1">
              <a:off x="4572040" y="3717032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91" name="Text Box 408"/>
            <p:cNvSpPr txBox="1">
              <a:spLocks noChangeArrowheads="1"/>
            </p:cNvSpPr>
            <p:nvPr/>
          </p:nvSpPr>
          <p:spPr bwMode="auto">
            <a:xfrm>
              <a:off x="2987896" y="2420912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2" name="Text Box 408"/>
            <p:cNvSpPr txBox="1">
              <a:spLocks noChangeArrowheads="1"/>
            </p:cNvSpPr>
            <p:nvPr/>
          </p:nvSpPr>
          <p:spPr bwMode="auto">
            <a:xfrm>
              <a:off x="3563960" y="2420888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3" name="Text Box 408"/>
            <p:cNvSpPr txBox="1">
              <a:spLocks noChangeArrowheads="1"/>
            </p:cNvSpPr>
            <p:nvPr/>
          </p:nvSpPr>
          <p:spPr bwMode="auto">
            <a:xfrm>
              <a:off x="2123728" y="3933056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835720" y="5085160"/>
            <a:ext cx="2880376" cy="792112"/>
            <a:chOff x="1691704" y="2780904"/>
            <a:chExt cx="2880376" cy="792112"/>
          </a:xfrm>
        </p:grpSpPr>
        <p:sp>
          <p:nvSpPr>
            <p:cNvPr id="96" name="Text Box 184"/>
            <p:cNvSpPr txBox="1">
              <a:spLocks noChangeArrowheads="1"/>
            </p:cNvSpPr>
            <p:nvPr/>
          </p:nvSpPr>
          <p:spPr bwMode="auto">
            <a:xfrm>
              <a:off x="1907824" y="3285016"/>
              <a:ext cx="1080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位加法器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7" name="Line 191"/>
            <p:cNvSpPr>
              <a:spLocks noChangeShapeType="1"/>
            </p:cNvSpPr>
            <p:nvPr/>
          </p:nvSpPr>
          <p:spPr bwMode="auto">
            <a:xfrm flipH="1">
              <a:off x="2987856" y="3429000"/>
              <a:ext cx="288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191"/>
            <p:cNvSpPr>
              <a:spLocks noChangeShapeType="1"/>
            </p:cNvSpPr>
            <p:nvPr/>
          </p:nvSpPr>
          <p:spPr bwMode="auto">
            <a:xfrm flipH="1">
              <a:off x="1691704" y="3429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184"/>
            <p:cNvSpPr txBox="1">
              <a:spLocks noChangeArrowheads="1"/>
            </p:cNvSpPr>
            <p:nvPr/>
          </p:nvSpPr>
          <p:spPr bwMode="auto">
            <a:xfrm>
              <a:off x="3275976" y="3285016"/>
              <a:ext cx="1080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位加法器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0" name="Line 191"/>
            <p:cNvSpPr>
              <a:spLocks noChangeShapeType="1"/>
            </p:cNvSpPr>
            <p:nvPr/>
          </p:nvSpPr>
          <p:spPr bwMode="auto">
            <a:xfrm flipH="1">
              <a:off x="4355976" y="3429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99"/>
            <p:cNvSpPr>
              <a:spLocks noChangeShapeType="1"/>
            </p:cNvSpPr>
            <p:nvPr/>
          </p:nvSpPr>
          <p:spPr bwMode="auto">
            <a:xfrm>
              <a:off x="2843864" y="2780944"/>
              <a:ext cx="0" cy="144000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01"/>
            <p:cNvSpPr>
              <a:spLocks noChangeShapeType="1"/>
            </p:cNvSpPr>
            <p:nvPr/>
          </p:nvSpPr>
          <p:spPr bwMode="auto">
            <a:xfrm flipH="1" flipV="1">
              <a:off x="2844080" y="2780904"/>
              <a:ext cx="1728000" cy="4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01"/>
            <p:cNvSpPr>
              <a:spLocks noChangeShapeType="1"/>
            </p:cNvSpPr>
            <p:nvPr/>
          </p:nvSpPr>
          <p:spPr bwMode="auto">
            <a:xfrm flipH="1">
              <a:off x="4499992" y="2780944"/>
              <a:ext cx="24" cy="64805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184"/>
            <p:cNvSpPr txBox="1">
              <a:spLocks noChangeArrowheads="1"/>
            </p:cNvSpPr>
            <p:nvPr/>
          </p:nvSpPr>
          <p:spPr bwMode="auto">
            <a:xfrm>
              <a:off x="2267800" y="2924968"/>
              <a:ext cx="72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异或门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0" name="Line 199"/>
            <p:cNvSpPr>
              <a:spLocks noChangeShapeType="1"/>
            </p:cNvSpPr>
            <p:nvPr/>
          </p:nvSpPr>
          <p:spPr bwMode="auto">
            <a:xfrm>
              <a:off x="2699848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99"/>
            <p:cNvSpPr>
              <a:spLocks noChangeShapeType="1"/>
            </p:cNvSpPr>
            <p:nvPr/>
          </p:nvSpPr>
          <p:spPr bwMode="auto">
            <a:xfrm>
              <a:off x="4211672" y="2780920"/>
              <a:ext cx="0" cy="144000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184"/>
            <p:cNvSpPr txBox="1">
              <a:spLocks noChangeArrowheads="1"/>
            </p:cNvSpPr>
            <p:nvPr/>
          </p:nvSpPr>
          <p:spPr bwMode="auto">
            <a:xfrm>
              <a:off x="3635608" y="2924944"/>
              <a:ext cx="72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异或门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995648" y="314096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15672" y="5301272"/>
            <a:ext cx="3600344" cy="791976"/>
            <a:chOff x="1115672" y="5301272"/>
            <a:chExt cx="3600344" cy="791976"/>
          </a:xfrm>
        </p:grpSpPr>
        <p:sp>
          <p:nvSpPr>
            <p:cNvPr id="56" name="Text Box 193"/>
            <p:cNvSpPr txBox="1">
              <a:spLocks noChangeArrowheads="1"/>
            </p:cNvSpPr>
            <p:nvPr/>
          </p:nvSpPr>
          <p:spPr bwMode="auto">
            <a:xfrm>
              <a:off x="1115672" y="5661248"/>
              <a:ext cx="504000" cy="432000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标志形成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7" name="流程图: 手动操作 56"/>
            <p:cNvSpPr/>
            <p:nvPr/>
          </p:nvSpPr>
          <p:spPr bwMode="auto">
            <a:xfrm rot="5400000">
              <a:off x="1475696" y="5517272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chemeClr val="tx1"/>
                  </a:solidFill>
                </a:rPr>
                <a:t>1</a:t>
              </a: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sz="1200" dirty="0">
                  <a:solidFill>
                    <a:schemeClr val="tx1"/>
                  </a:solidFill>
                </a:rPr>
                <a:t>0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Line 191"/>
            <p:cNvSpPr>
              <a:spLocks noChangeShapeType="1"/>
            </p:cNvSpPr>
            <p:nvPr/>
          </p:nvSpPr>
          <p:spPr bwMode="auto">
            <a:xfrm flipH="1">
              <a:off x="1835856" y="5481280"/>
              <a:ext cx="14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91"/>
            <p:cNvSpPr>
              <a:spLocks noChangeShapeType="1"/>
            </p:cNvSpPr>
            <p:nvPr/>
          </p:nvSpPr>
          <p:spPr bwMode="auto">
            <a:xfrm flipV="1">
              <a:off x="3275856" y="5481256"/>
              <a:ext cx="72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430"/>
            <p:cNvSpPr>
              <a:spLocks noChangeShapeType="1"/>
            </p:cNvSpPr>
            <p:nvPr/>
          </p:nvSpPr>
          <p:spPr bwMode="auto">
            <a:xfrm flipV="1">
              <a:off x="1763408" y="5805280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86" name="Line 201"/>
            <p:cNvSpPr>
              <a:spLocks noChangeShapeType="1"/>
            </p:cNvSpPr>
            <p:nvPr/>
          </p:nvSpPr>
          <p:spPr bwMode="auto">
            <a:xfrm flipH="1">
              <a:off x="1620016" y="6021288"/>
              <a:ext cx="309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 bldLvl="0" animBg="1"/>
      <p:bldP spid="67" grpId="0" bldLvl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179512" y="1196752"/>
            <a:ext cx="3564680" cy="2846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①加法器输出函数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4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加法器内部逻辑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②</a:t>
            </a:r>
            <a:r>
              <a:rPr lang="en-US" altLang="zh-CN" sz="2200" dirty="0" smtClean="0">
                <a:solidFill>
                  <a:schemeClr val="accent2"/>
                </a:solidFill>
              </a:rPr>
              <a:t>ALU</a:t>
            </a:r>
            <a:r>
              <a:rPr lang="zh-CN" altLang="en-US" sz="2200" dirty="0" smtClean="0">
                <a:solidFill>
                  <a:schemeClr val="accent2"/>
                </a:solidFill>
              </a:rPr>
              <a:t>输出函数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 smtClean="0">
                <a:solidFill>
                  <a:schemeClr val="accent2"/>
                </a:solidFill>
              </a:rPr>
              <a:t>      ALU</a:t>
            </a:r>
            <a:r>
              <a:rPr lang="zh-CN" altLang="en-US" sz="2200" dirty="0" smtClean="0">
                <a:solidFill>
                  <a:schemeClr val="accent2"/>
                </a:solidFill>
              </a:rPr>
              <a:t>内部逻辑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34" name="Text Box 1015"/>
          <p:cNvSpPr txBox="1">
            <a:spLocks noChangeArrowheads="1"/>
          </p:cNvSpPr>
          <p:nvPr/>
        </p:nvSpPr>
        <p:spPr bwMode="auto">
          <a:xfrm>
            <a:off x="2879725" y="1842770"/>
            <a:ext cx="6163945" cy="2465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逻辑运算</a:t>
            </a:r>
            <a:r>
              <a:rPr lang="zh-CN" altLang="en-US" sz="2200" dirty="0" smtClean="0">
                <a:solidFill>
                  <a:schemeClr val="tx1"/>
                </a:solidFill>
              </a:rPr>
              <a:t>复用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加法运算</a:t>
            </a:r>
            <a:r>
              <a:rPr lang="zh-CN" altLang="en-US" sz="2200" dirty="0" smtClean="0">
                <a:solidFill>
                  <a:schemeClr val="tx1"/>
                </a:solidFill>
              </a:rPr>
              <a:t>结果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u="sng" spc="-50" dirty="0" smtClean="0">
                <a:solidFill>
                  <a:schemeClr val="tx1"/>
                </a:solidFill>
                <a:sym typeface="+mn-ea"/>
              </a:rPr>
              <a:t>逻辑运算</a:t>
            </a:r>
            <a:r>
              <a:rPr lang="zh-CN" altLang="en-US" sz="2200" spc="-50" dirty="0">
                <a:solidFill>
                  <a:schemeClr val="tx1"/>
                </a:solidFill>
                <a:sym typeface="+mn-ea"/>
              </a:rPr>
              <a:t>复用</a:t>
            </a:r>
            <a:r>
              <a:rPr lang="zh-CN" altLang="en-US" sz="2200" spc="-50" dirty="0" smtClean="0">
                <a:solidFill>
                  <a:schemeClr val="tx1"/>
                </a:solidFill>
                <a:sym typeface="+mn-ea"/>
              </a:rPr>
              <a:t>加法器，</a:t>
            </a:r>
            <a:r>
              <a:rPr lang="zh-CN" altLang="en-US" sz="2200" u="sng" spc="-50" dirty="0" smtClean="0">
                <a:solidFill>
                  <a:schemeClr val="tx1"/>
                </a:solidFill>
                <a:sym typeface="+mn-ea"/>
              </a:rPr>
              <a:t>加减</a:t>
            </a:r>
            <a:r>
              <a:rPr lang="zh-CN" altLang="en-US" sz="2200" u="sng" spc="-50" dirty="0" smtClean="0">
                <a:solidFill>
                  <a:schemeClr val="tx1"/>
                </a:solidFill>
              </a:rPr>
              <a:t>运算</a:t>
            </a:r>
            <a:r>
              <a:rPr lang="zh-CN" altLang="en-US" sz="2200" spc="-50" dirty="0" smtClean="0">
                <a:solidFill>
                  <a:schemeClr val="tx1"/>
                </a:solidFill>
              </a:rPr>
              <a:t>增加数据源</a:t>
            </a:r>
            <a:endParaRPr lang="en-US" altLang="zh-CN" sz="2200" spc="-5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spc="-50" dirty="0" smtClean="0">
                <a:solidFill>
                  <a:schemeClr val="tx1"/>
                </a:solidFill>
              </a:rPr>
              <a:t> 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                                           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600" spc="-50" dirty="0">
                <a:solidFill>
                  <a:schemeClr val="tx1"/>
                </a:solidFill>
              </a:rPr>
              <a:t>入端为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B/1)                 </a:t>
            </a:r>
            <a:endParaRPr lang="zh-CN" altLang="en-US" sz="2000" spc="-50" dirty="0">
              <a:solidFill>
                <a:schemeClr val="tx1"/>
              </a:solidFill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324287" y="4068000"/>
            <a:ext cx="3960704" cy="2232232"/>
            <a:chOff x="683608" y="3501008"/>
            <a:chExt cx="3960704" cy="2232232"/>
          </a:xfrm>
        </p:grpSpPr>
        <p:sp>
          <p:nvSpPr>
            <p:cNvPr id="189" name="Rectangle 403"/>
            <p:cNvSpPr>
              <a:spLocks noChangeArrowheads="1"/>
            </p:cNvSpPr>
            <p:nvPr/>
          </p:nvSpPr>
          <p:spPr bwMode="auto">
            <a:xfrm>
              <a:off x="1187936" y="3861024"/>
              <a:ext cx="2952328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Rectangle 403"/>
            <p:cNvSpPr>
              <a:spLocks noChangeArrowheads="1"/>
            </p:cNvSpPr>
            <p:nvPr/>
          </p:nvSpPr>
          <p:spPr bwMode="auto">
            <a:xfrm>
              <a:off x="1259944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420"/>
            <p:cNvSpPr>
              <a:spLocks noChangeShapeType="1"/>
            </p:cNvSpPr>
            <p:nvPr/>
          </p:nvSpPr>
          <p:spPr bwMode="auto">
            <a:xfrm flipV="1">
              <a:off x="205203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420"/>
            <p:cNvSpPr>
              <a:spLocks noChangeShapeType="1"/>
            </p:cNvSpPr>
            <p:nvPr/>
          </p:nvSpPr>
          <p:spPr bwMode="auto">
            <a:xfrm flipV="1">
              <a:off x="226805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430"/>
            <p:cNvSpPr>
              <a:spLocks noChangeShapeType="1"/>
            </p:cNvSpPr>
            <p:nvPr/>
          </p:nvSpPr>
          <p:spPr bwMode="auto">
            <a:xfrm flipH="1" flipV="1">
              <a:off x="1187936" y="4437088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94" name="Line 420"/>
            <p:cNvSpPr>
              <a:spLocks noChangeShapeType="1"/>
            </p:cNvSpPr>
            <p:nvPr/>
          </p:nvSpPr>
          <p:spPr bwMode="auto">
            <a:xfrm flipV="1">
              <a:off x="1979752" y="522920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Rectangle 403"/>
            <p:cNvSpPr>
              <a:spLocks noChangeArrowheads="1"/>
            </p:cNvSpPr>
            <p:nvPr/>
          </p:nvSpPr>
          <p:spPr bwMode="auto">
            <a:xfrm>
              <a:off x="2844120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Line 420"/>
            <p:cNvSpPr>
              <a:spLocks noChangeShapeType="1"/>
            </p:cNvSpPr>
            <p:nvPr/>
          </p:nvSpPr>
          <p:spPr bwMode="auto">
            <a:xfrm flipV="1">
              <a:off x="363627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426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420"/>
            <p:cNvSpPr>
              <a:spLocks noChangeShapeType="1"/>
            </p:cNvSpPr>
            <p:nvPr/>
          </p:nvSpPr>
          <p:spPr bwMode="auto">
            <a:xfrm flipV="1">
              <a:off x="385229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420"/>
            <p:cNvSpPr>
              <a:spLocks noChangeShapeType="1"/>
            </p:cNvSpPr>
            <p:nvPr/>
          </p:nvSpPr>
          <p:spPr bwMode="auto">
            <a:xfrm flipV="1">
              <a:off x="3563888" y="522916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430"/>
            <p:cNvSpPr>
              <a:spLocks noChangeShapeType="1"/>
            </p:cNvSpPr>
            <p:nvPr/>
          </p:nvSpPr>
          <p:spPr bwMode="auto">
            <a:xfrm flipH="1" flipV="1">
              <a:off x="2484080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1" name="Line 430"/>
            <p:cNvSpPr>
              <a:spLocks noChangeShapeType="1"/>
            </p:cNvSpPr>
            <p:nvPr/>
          </p:nvSpPr>
          <p:spPr bwMode="auto">
            <a:xfrm flipH="1" flipV="1">
              <a:off x="2772112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2" name="Text Box 408"/>
            <p:cNvSpPr txBox="1">
              <a:spLocks noChangeArrowheads="1"/>
            </p:cNvSpPr>
            <p:nvPr/>
          </p:nvSpPr>
          <p:spPr bwMode="auto">
            <a:xfrm>
              <a:off x="2556112" y="429307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03" name="Line 430"/>
            <p:cNvSpPr>
              <a:spLocks noChangeShapeType="1"/>
            </p:cNvSpPr>
            <p:nvPr/>
          </p:nvSpPr>
          <p:spPr bwMode="auto">
            <a:xfrm flipH="1" flipV="1">
              <a:off x="414028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4" name="Line 430"/>
            <p:cNvSpPr>
              <a:spLocks noChangeShapeType="1"/>
            </p:cNvSpPr>
            <p:nvPr/>
          </p:nvSpPr>
          <p:spPr bwMode="auto">
            <a:xfrm flipH="1" flipV="1">
              <a:off x="104392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5" name="Line 420"/>
            <p:cNvSpPr>
              <a:spLocks noChangeShapeType="1"/>
            </p:cNvSpPr>
            <p:nvPr/>
          </p:nvSpPr>
          <p:spPr bwMode="auto">
            <a:xfrm>
              <a:off x="20520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420"/>
            <p:cNvSpPr>
              <a:spLocks noChangeShapeType="1"/>
            </p:cNvSpPr>
            <p:nvPr/>
          </p:nvSpPr>
          <p:spPr bwMode="auto">
            <a:xfrm>
              <a:off x="2268056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420"/>
            <p:cNvSpPr>
              <a:spLocks noChangeShapeType="1"/>
            </p:cNvSpPr>
            <p:nvPr/>
          </p:nvSpPr>
          <p:spPr bwMode="auto">
            <a:xfrm>
              <a:off x="3636208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420"/>
            <p:cNvSpPr>
              <a:spLocks noChangeShapeType="1"/>
            </p:cNvSpPr>
            <p:nvPr/>
          </p:nvSpPr>
          <p:spPr bwMode="auto">
            <a:xfrm>
              <a:off x="38522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420"/>
            <p:cNvSpPr>
              <a:spLocks noChangeShapeType="1"/>
            </p:cNvSpPr>
            <p:nvPr/>
          </p:nvSpPr>
          <p:spPr bwMode="auto">
            <a:xfrm>
              <a:off x="1979776" y="53732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420"/>
            <p:cNvSpPr>
              <a:spLocks noChangeShapeType="1"/>
            </p:cNvSpPr>
            <p:nvPr/>
          </p:nvSpPr>
          <p:spPr bwMode="auto">
            <a:xfrm>
              <a:off x="3563888" y="537319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430"/>
            <p:cNvSpPr>
              <a:spLocks noChangeShapeType="1"/>
            </p:cNvSpPr>
            <p:nvPr/>
          </p:nvSpPr>
          <p:spPr bwMode="auto">
            <a:xfrm flipH="1" flipV="1">
              <a:off x="4140280" y="4941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12" name="Text Box 408"/>
            <p:cNvSpPr txBox="1">
              <a:spLocks noChangeArrowheads="1"/>
            </p:cNvSpPr>
            <p:nvPr/>
          </p:nvSpPr>
          <p:spPr bwMode="auto">
            <a:xfrm>
              <a:off x="4284280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3" name="Text Box 408"/>
            <p:cNvSpPr txBox="1">
              <a:spLocks noChangeArrowheads="1"/>
            </p:cNvSpPr>
            <p:nvPr/>
          </p:nvSpPr>
          <p:spPr bwMode="auto">
            <a:xfrm>
              <a:off x="683608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4" name="Text Box 408"/>
            <p:cNvSpPr txBox="1">
              <a:spLocks noChangeArrowheads="1"/>
            </p:cNvSpPr>
            <p:nvPr/>
          </p:nvSpPr>
          <p:spPr bwMode="auto">
            <a:xfrm>
              <a:off x="3492192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5" name="Text Box 408"/>
            <p:cNvSpPr txBox="1">
              <a:spLocks noChangeArrowheads="1"/>
            </p:cNvSpPr>
            <p:nvPr/>
          </p:nvSpPr>
          <p:spPr bwMode="auto">
            <a:xfrm>
              <a:off x="1908016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6" name="Text Box 408"/>
            <p:cNvSpPr txBox="1">
              <a:spLocks noChangeArrowheads="1"/>
            </p:cNvSpPr>
            <p:nvPr/>
          </p:nvSpPr>
          <p:spPr bwMode="auto">
            <a:xfrm>
              <a:off x="1907768" y="551724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7" name="Text Box 408"/>
            <p:cNvSpPr txBox="1">
              <a:spLocks noChangeArrowheads="1"/>
            </p:cNvSpPr>
            <p:nvPr/>
          </p:nvSpPr>
          <p:spPr bwMode="auto">
            <a:xfrm>
              <a:off x="3491904" y="551723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8" name="Text Box 408"/>
            <p:cNvSpPr txBox="1">
              <a:spLocks noChangeArrowheads="1"/>
            </p:cNvSpPr>
            <p:nvPr/>
          </p:nvSpPr>
          <p:spPr bwMode="auto">
            <a:xfrm>
              <a:off x="4284312" y="4797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9" name="Text Box 408"/>
            <p:cNvSpPr txBox="1">
              <a:spLocks noChangeArrowheads="1"/>
            </p:cNvSpPr>
            <p:nvPr/>
          </p:nvSpPr>
          <p:spPr bwMode="auto">
            <a:xfrm>
              <a:off x="2555816" y="35730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20" name="Text Box 408"/>
            <p:cNvSpPr txBox="1">
              <a:spLocks noChangeArrowheads="1"/>
            </p:cNvSpPr>
            <p:nvPr/>
          </p:nvSpPr>
          <p:spPr bwMode="auto">
            <a:xfrm>
              <a:off x="2555840" y="53732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21" name="Text Box 408"/>
            <p:cNvSpPr txBox="1">
              <a:spLocks noChangeArrowheads="1"/>
            </p:cNvSpPr>
            <p:nvPr/>
          </p:nvSpPr>
          <p:spPr bwMode="auto">
            <a:xfrm>
              <a:off x="4284008" y="5013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22" name="Line 430"/>
            <p:cNvSpPr>
              <a:spLocks noChangeShapeType="1"/>
            </p:cNvSpPr>
            <p:nvPr/>
          </p:nvSpPr>
          <p:spPr bwMode="auto">
            <a:xfrm flipH="1" flipV="1">
              <a:off x="4139992" y="5157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2" y="332656"/>
            <a:ext cx="878497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rgbClr val="990099"/>
                </a:solidFill>
              </a:rPr>
              <a:t>    例</a:t>
            </a:r>
            <a:r>
              <a:rPr lang="en-US" altLang="zh-CN" sz="2200" dirty="0" smtClean="0">
                <a:solidFill>
                  <a:srgbClr val="990099"/>
                </a:solidFill>
              </a:rPr>
              <a:t>2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zh-CN" sz="2200" dirty="0">
                <a:solidFill>
                  <a:srgbClr val="0070C0"/>
                </a:solidFill>
              </a:rPr>
              <a:t>设计</a:t>
            </a:r>
            <a:r>
              <a:rPr lang="zh-CN" altLang="zh-CN" sz="2200" dirty="0">
                <a:solidFill>
                  <a:schemeClr val="tx1"/>
                </a:solidFill>
              </a:rPr>
              <a:t>支持</a:t>
            </a:r>
            <a:r>
              <a:rPr lang="en-US" altLang="zh-CN" sz="2200" dirty="0">
                <a:solidFill>
                  <a:schemeClr val="tx1"/>
                </a:solidFill>
              </a:rPr>
              <a:t>A&amp;B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zh-CN" sz="2200" dirty="0">
                <a:solidFill>
                  <a:schemeClr val="tx1"/>
                </a:solidFill>
              </a:rPr>
              <a:t>⊕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位加法器；</a:t>
            </a:r>
            <a:r>
              <a:rPr lang="zh-CN" altLang="zh-CN" sz="2200" dirty="0" smtClean="0">
                <a:solidFill>
                  <a:schemeClr val="tx1"/>
                </a:solidFill>
              </a:rPr>
              <a:t>基于</a:t>
            </a:r>
            <a:r>
              <a:rPr lang="zh-CN" altLang="zh-CN" sz="2200" u="sng" dirty="0" smtClean="0">
                <a:solidFill>
                  <a:schemeClr val="tx1"/>
                </a:solidFill>
                <a:sym typeface="+mn-ea"/>
              </a:rPr>
              <a:t>所设计加法</a:t>
            </a:r>
            <a:r>
              <a:rPr lang="zh-CN" altLang="en-US" sz="2200" u="sng" dirty="0" smtClean="0">
                <a:solidFill>
                  <a:schemeClr val="tx1"/>
                </a:solidFill>
                <a:sym typeface="+mn-ea"/>
              </a:rPr>
              <a:t>器</a:t>
            </a:r>
            <a:r>
              <a:rPr lang="zh-CN" altLang="zh-CN" sz="2200" dirty="0" smtClean="0">
                <a:solidFill>
                  <a:schemeClr val="tx1"/>
                </a:solidFill>
              </a:rPr>
              <a:t>，</a:t>
            </a:r>
            <a:r>
              <a:rPr lang="zh-CN" altLang="zh-CN" sz="2200" dirty="0" smtClean="0">
                <a:solidFill>
                  <a:srgbClr val="0070C0"/>
                </a:solidFill>
              </a:rPr>
              <a:t>设计</a:t>
            </a:r>
            <a:r>
              <a:rPr lang="zh-CN" altLang="en-US" sz="2200" dirty="0" smtClean="0">
                <a:solidFill>
                  <a:schemeClr val="tx1"/>
                </a:solidFill>
              </a:rPr>
              <a:t>支持</a:t>
            </a:r>
            <a:r>
              <a:rPr lang="en-US" altLang="zh-CN" sz="2200" dirty="0" smtClean="0">
                <a:solidFill>
                  <a:schemeClr val="tx1"/>
                </a:solidFill>
              </a:rPr>
              <a:t>A+B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A-B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A+1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A-1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A&amp;B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zh-CN" sz="2200" dirty="0">
                <a:solidFill>
                  <a:schemeClr val="tx1"/>
                </a:solidFill>
              </a:rPr>
              <a:t>⊕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en-US" altLang="zh-CN" sz="2200" dirty="0" smtClean="0">
                <a:solidFill>
                  <a:schemeClr val="tx1"/>
                </a:solidFill>
              </a:rPr>
              <a:t>ALU</a:t>
            </a:r>
            <a:r>
              <a:rPr lang="zh-CN" altLang="en-US" sz="2200" dirty="0" smtClean="0">
                <a:solidFill>
                  <a:schemeClr val="tx1"/>
                </a:solidFill>
              </a:rPr>
              <a:t>，产生</a:t>
            </a:r>
            <a:r>
              <a:rPr lang="en-US" altLang="zh-CN" sz="2200" dirty="0" err="1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out</a:t>
            </a:r>
            <a:r>
              <a:rPr lang="zh-CN" altLang="en-US" sz="2200" dirty="0">
                <a:solidFill>
                  <a:schemeClr val="tx1"/>
                </a:solidFill>
              </a:rPr>
              <a:t>及</a:t>
            </a:r>
            <a:r>
              <a:rPr lang="en-US" altLang="zh-CN" sz="2200" dirty="0">
                <a:solidFill>
                  <a:schemeClr val="tx1"/>
                </a:solidFill>
              </a:rPr>
              <a:t>ZF/OF/SF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35" name="Text Box 1015"/>
          <p:cNvSpPr txBox="1">
            <a:spLocks noChangeArrowheads="1"/>
          </p:cNvSpPr>
          <p:nvPr/>
        </p:nvSpPr>
        <p:spPr bwMode="auto">
          <a:xfrm>
            <a:off x="6444000" y="5976000"/>
            <a:ext cx="2196000" cy="46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 err="1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 err="1">
                <a:solidFill>
                  <a:schemeClr val="tx1"/>
                </a:solidFill>
              </a:rPr>
              <a:t>out</a:t>
            </a:r>
            <a:r>
              <a:rPr lang="en-US" altLang="zh-CN" sz="1600" dirty="0">
                <a:solidFill>
                  <a:schemeClr val="tx1"/>
                </a:solidFill>
              </a:rPr>
              <a:t>=C7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  <a:sym typeface="Symbol" panose="05050102010706020507"/>
              </a:rPr>
              <a:t>OF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=(</a:t>
            </a:r>
            <a:r>
              <a:rPr lang="en-US" altLang="zh-CN" sz="1600" dirty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>
                <a:solidFill>
                  <a:schemeClr val="tx1"/>
                </a:solidFill>
              </a:rPr>
              <a:t>7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1600" dirty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>
                <a:solidFill>
                  <a:schemeClr val="tx1"/>
                </a:solidFill>
              </a:rPr>
              <a:t>6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)</a:t>
            </a:r>
            <a:r>
              <a:rPr lang="zh-CN" altLang="en-US" sz="1600" dirty="0" smtClean="0">
                <a:solidFill>
                  <a:schemeClr val="tx1"/>
                </a:solidFill>
                <a:sym typeface="Symbol" panose="05050102010706020507"/>
              </a:rPr>
              <a:t>，</a:t>
            </a:r>
            <a:endParaRPr lang="zh-CN" altLang="en-US" sz="1600" dirty="0" smtClean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 smtClean="0">
                <a:solidFill>
                  <a:schemeClr val="tx1"/>
                </a:solidFill>
                <a:sym typeface="Symbol" panose="05050102010706020507"/>
              </a:rPr>
              <a:t>SF=F</a:t>
            </a:r>
            <a:r>
              <a:rPr lang="en-US" altLang="zh-CN" sz="1600" baseline="-18000" dirty="0" smtClean="0">
                <a:solidFill>
                  <a:schemeClr val="tx1"/>
                </a:solidFill>
                <a:sym typeface="Symbol" panose="05050102010706020507"/>
              </a:rPr>
              <a:t>7</a:t>
            </a:r>
            <a:r>
              <a:rPr lang="zh-CN" altLang="en-US" sz="1600" dirty="0" smtClean="0">
                <a:solidFill>
                  <a:schemeClr val="tx1"/>
                </a:solidFill>
                <a:sym typeface="Symbol" panose="05050102010706020507"/>
              </a:rPr>
              <a:t>，</a:t>
            </a:r>
            <a:r>
              <a:rPr lang="en-US" altLang="zh-CN" sz="1600" dirty="0" smtClean="0">
                <a:solidFill>
                  <a:schemeClr val="tx1"/>
                </a:solidFill>
              </a:rPr>
              <a:t>ZF=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600" dirty="0" smtClean="0">
                <a:solidFill>
                  <a:schemeClr val="tx1"/>
                </a:solidFill>
              </a:rPr>
              <a:t>(F</a:t>
            </a:r>
            <a:r>
              <a:rPr lang="en-US" altLang="zh-CN" sz="1600" baseline="-18000" dirty="0">
                <a:solidFill>
                  <a:schemeClr val="tx1"/>
                </a:solidFill>
              </a:rPr>
              <a:t>7</a:t>
            </a:r>
            <a:r>
              <a:rPr lang="en-US" altLang="zh-CN" sz="1600" dirty="0" smtClean="0">
                <a:solidFill>
                  <a:schemeClr val="tx1"/>
                </a:solidFill>
              </a:rPr>
              <a:t>+…+F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 smtClean="0">
                <a:solidFill>
                  <a:schemeClr val="tx1"/>
                </a:solidFill>
              </a:rPr>
              <a:t>)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223" name="表格 222"/>
          <p:cNvGraphicFramePr>
            <a:graphicFrameLocks noGrp="1"/>
          </p:cNvGraphicFramePr>
          <p:nvPr/>
        </p:nvGraphicFramePr>
        <p:xfrm>
          <a:off x="3059832" y="2376000"/>
          <a:ext cx="4968552" cy="12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B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加法器最高位进位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ZF/OF/SF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按运算结果形成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116902" y="4716000"/>
            <a:ext cx="2663681" cy="864128"/>
            <a:chOff x="1476223" y="4221032"/>
            <a:chExt cx="2663681" cy="864128"/>
          </a:xfrm>
        </p:grpSpPr>
        <p:sp>
          <p:nvSpPr>
            <p:cNvPr id="138" name="Line 420"/>
            <p:cNvSpPr>
              <a:spLocks noChangeShapeType="1"/>
            </p:cNvSpPr>
            <p:nvPr/>
          </p:nvSpPr>
          <p:spPr bwMode="auto">
            <a:xfrm>
              <a:off x="161998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420"/>
            <p:cNvSpPr>
              <a:spLocks noChangeShapeType="1"/>
            </p:cNvSpPr>
            <p:nvPr/>
          </p:nvSpPr>
          <p:spPr bwMode="auto">
            <a:xfrm>
              <a:off x="190801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420"/>
            <p:cNvSpPr>
              <a:spLocks noChangeShapeType="1"/>
            </p:cNvSpPr>
            <p:nvPr/>
          </p:nvSpPr>
          <p:spPr bwMode="auto">
            <a:xfrm>
              <a:off x="320422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20"/>
            <p:cNvSpPr>
              <a:spLocks noChangeShapeType="1"/>
            </p:cNvSpPr>
            <p:nvPr/>
          </p:nvSpPr>
          <p:spPr bwMode="auto">
            <a:xfrm>
              <a:off x="349225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430"/>
            <p:cNvSpPr>
              <a:spLocks noChangeShapeType="1"/>
            </p:cNvSpPr>
            <p:nvPr/>
          </p:nvSpPr>
          <p:spPr bwMode="auto">
            <a:xfrm flipH="1" flipV="1">
              <a:off x="1979752" y="5013152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0" name="流程图: 手动操作 259"/>
            <p:cNvSpPr/>
            <p:nvPr/>
          </p:nvSpPr>
          <p:spPr bwMode="auto">
            <a:xfrm>
              <a:off x="1476223" y="494116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4" name="Line 430"/>
            <p:cNvSpPr>
              <a:spLocks noChangeShapeType="1"/>
            </p:cNvSpPr>
            <p:nvPr/>
          </p:nvSpPr>
          <p:spPr bwMode="auto">
            <a:xfrm flipH="1" flipV="1">
              <a:off x="3563904" y="5013128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8" name="流程图: 手动操作 267"/>
            <p:cNvSpPr/>
            <p:nvPr/>
          </p:nvSpPr>
          <p:spPr bwMode="auto">
            <a:xfrm>
              <a:off x="3060375" y="494113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9" name="AutoShape 40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972755" y="4572000"/>
            <a:ext cx="2807916" cy="1224120"/>
            <a:chOff x="1332076" y="4365080"/>
            <a:chExt cx="2807916" cy="1224120"/>
          </a:xfrm>
        </p:grpSpPr>
        <p:sp>
          <p:nvSpPr>
            <p:cNvPr id="145" name="Line 426"/>
            <p:cNvSpPr>
              <a:spLocks noChangeShapeType="1"/>
            </p:cNvSpPr>
            <p:nvPr/>
          </p:nvSpPr>
          <p:spPr bwMode="auto">
            <a:xfrm flipH="1" flipV="1">
              <a:off x="1836008" y="4797128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427"/>
            <p:cNvSpPr txBox="1">
              <a:spLocks noChangeArrowheads="1"/>
            </p:cNvSpPr>
            <p:nvPr/>
          </p:nvSpPr>
          <p:spPr bwMode="auto">
            <a:xfrm>
              <a:off x="198002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47" name="Line 420"/>
            <p:cNvSpPr>
              <a:spLocks noChangeShapeType="1"/>
            </p:cNvSpPr>
            <p:nvPr/>
          </p:nvSpPr>
          <p:spPr bwMode="auto">
            <a:xfrm flipV="1">
              <a:off x="212404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420"/>
            <p:cNvSpPr>
              <a:spLocks noChangeShapeType="1"/>
            </p:cNvSpPr>
            <p:nvPr/>
          </p:nvSpPr>
          <p:spPr bwMode="auto">
            <a:xfrm>
              <a:off x="234006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427"/>
            <p:cNvSpPr txBox="1">
              <a:spLocks noChangeArrowheads="1"/>
            </p:cNvSpPr>
            <p:nvPr/>
          </p:nvSpPr>
          <p:spPr bwMode="auto">
            <a:xfrm>
              <a:off x="205203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150" name="Text Box 418"/>
            <p:cNvSpPr txBox="1">
              <a:spLocks noChangeArrowheads="1"/>
            </p:cNvSpPr>
            <p:nvPr/>
          </p:nvSpPr>
          <p:spPr bwMode="auto">
            <a:xfrm>
              <a:off x="133207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 Box 421"/>
            <p:cNvSpPr txBox="1">
              <a:spLocks noChangeArrowheads="1"/>
            </p:cNvSpPr>
            <p:nvPr/>
          </p:nvSpPr>
          <p:spPr bwMode="auto">
            <a:xfrm>
              <a:off x="169154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52" name="Line 430"/>
            <p:cNvSpPr>
              <a:spLocks noChangeShapeType="1"/>
            </p:cNvSpPr>
            <p:nvPr/>
          </p:nvSpPr>
          <p:spPr bwMode="auto">
            <a:xfrm flipH="1" flipV="1">
              <a:off x="154911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3" name="Text Box 434"/>
            <p:cNvSpPr txBox="1">
              <a:spLocks noChangeArrowheads="1"/>
            </p:cNvSpPr>
            <p:nvPr/>
          </p:nvSpPr>
          <p:spPr bwMode="auto">
            <a:xfrm>
              <a:off x="169199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54" name="Line 435"/>
            <p:cNvSpPr>
              <a:spLocks noChangeShapeType="1"/>
            </p:cNvSpPr>
            <p:nvPr/>
          </p:nvSpPr>
          <p:spPr bwMode="auto">
            <a:xfrm flipH="1" flipV="1">
              <a:off x="183600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5" name="Line 435"/>
            <p:cNvSpPr>
              <a:spLocks noChangeShapeType="1"/>
            </p:cNvSpPr>
            <p:nvPr/>
          </p:nvSpPr>
          <p:spPr bwMode="auto">
            <a:xfrm flipH="1" flipV="1">
              <a:off x="183600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6" name="Line 435"/>
            <p:cNvSpPr>
              <a:spLocks noChangeShapeType="1"/>
            </p:cNvSpPr>
            <p:nvPr/>
          </p:nvSpPr>
          <p:spPr bwMode="auto">
            <a:xfrm flipH="1" flipV="1">
              <a:off x="183600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7" name="Line 430"/>
            <p:cNvSpPr>
              <a:spLocks noChangeShapeType="1"/>
            </p:cNvSpPr>
            <p:nvPr/>
          </p:nvSpPr>
          <p:spPr bwMode="auto">
            <a:xfrm flipH="1" flipV="1">
              <a:off x="154797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8" name="Line 420"/>
            <p:cNvSpPr>
              <a:spLocks noChangeShapeType="1"/>
            </p:cNvSpPr>
            <p:nvPr/>
          </p:nvSpPr>
          <p:spPr bwMode="auto">
            <a:xfrm flipV="1">
              <a:off x="2196048" y="508518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 Box 427"/>
            <p:cNvSpPr txBox="1">
              <a:spLocks noChangeArrowheads="1"/>
            </p:cNvSpPr>
            <p:nvPr/>
          </p:nvSpPr>
          <p:spPr bwMode="auto">
            <a:xfrm>
              <a:off x="356426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62" name="Line 420"/>
            <p:cNvSpPr>
              <a:spLocks noChangeShapeType="1"/>
            </p:cNvSpPr>
            <p:nvPr/>
          </p:nvSpPr>
          <p:spPr bwMode="auto">
            <a:xfrm flipV="1">
              <a:off x="370828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20"/>
            <p:cNvSpPr>
              <a:spLocks noChangeShapeType="1"/>
            </p:cNvSpPr>
            <p:nvPr/>
          </p:nvSpPr>
          <p:spPr bwMode="auto">
            <a:xfrm>
              <a:off x="392430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Box 427"/>
            <p:cNvSpPr txBox="1">
              <a:spLocks noChangeArrowheads="1"/>
            </p:cNvSpPr>
            <p:nvPr/>
          </p:nvSpPr>
          <p:spPr bwMode="auto">
            <a:xfrm>
              <a:off x="363627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165" name="Text Box 418"/>
            <p:cNvSpPr txBox="1">
              <a:spLocks noChangeArrowheads="1"/>
            </p:cNvSpPr>
            <p:nvPr/>
          </p:nvSpPr>
          <p:spPr bwMode="auto">
            <a:xfrm>
              <a:off x="291631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66" name="Text Box 421"/>
            <p:cNvSpPr txBox="1">
              <a:spLocks noChangeArrowheads="1"/>
            </p:cNvSpPr>
            <p:nvPr/>
          </p:nvSpPr>
          <p:spPr bwMode="auto">
            <a:xfrm>
              <a:off x="327578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7" name="Line 430"/>
            <p:cNvSpPr>
              <a:spLocks noChangeShapeType="1"/>
            </p:cNvSpPr>
            <p:nvPr/>
          </p:nvSpPr>
          <p:spPr bwMode="auto">
            <a:xfrm flipH="1" flipV="1">
              <a:off x="313335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68" name="Text Box 434"/>
            <p:cNvSpPr txBox="1">
              <a:spLocks noChangeArrowheads="1"/>
            </p:cNvSpPr>
            <p:nvPr/>
          </p:nvSpPr>
          <p:spPr bwMode="auto">
            <a:xfrm>
              <a:off x="327623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69" name="Line 435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0" name="Line 435"/>
            <p:cNvSpPr>
              <a:spLocks noChangeShapeType="1"/>
            </p:cNvSpPr>
            <p:nvPr/>
          </p:nvSpPr>
          <p:spPr bwMode="auto">
            <a:xfrm flipH="1" flipV="1">
              <a:off x="342024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1" name="Line 435"/>
            <p:cNvSpPr>
              <a:spLocks noChangeShapeType="1"/>
            </p:cNvSpPr>
            <p:nvPr/>
          </p:nvSpPr>
          <p:spPr bwMode="auto">
            <a:xfrm flipH="1" flipV="1">
              <a:off x="342024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2" name="Line 430"/>
            <p:cNvSpPr>
              <a:spLocks noChangeShapeType="1"/>
            </p:cNvSpPr>
            <p:nvPr/>
          </p:nvSpPr>
          <p:spPr bwMode="auto">
            <a:xfrm flipH="1" flipV="1">
              <a:off x="313221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3" name="Line 430"/>
            <p:cNvSpPr>
              <a:spLocks noChangeShapeType="1"/>
            </p:cNvSpPr>
            <p:nvPr/>
          </p:nvSpPr>
          <p:spPr bwMode="auto">
            <a:xfrm flipH="1" flipV="1">
              <a:off x="2844192" y="479712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4" name="Line 420"/>
            <p:cNvSpPr>
              <a:spLocks noChangeShapeType="1"/>
            </p:cNvSpPr>
            <p:nvPr/>
          </p:nvSpPr>
          <p:spPr bwMode="auto">
            <a:xfrm flipV="1">
              <a:off x="3780288" y="5085184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420"/>
            <p:cNvSpPr>
              <a:spLocks noChangeShapeType="1"/>
            </p:cNvSpPr>
            <p:nvPr/>
          </p:nvSpPr>
          <p:spPr bwMode="auto">
            <a:xfrm flipV="1">
              <a:off x="3780200" y="5085160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流程图: 手动操作 158"/>
            <p:cNvSpPr/>
            <p:nvPr/>
          </p:nvSpPr>
          <p:spPr bwMode="auto">
            <a:xfrm>
              <a:off x="1691792" y="544520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0" name="Line 420"/>
            <p:cNvSpPr>
              <a:spLocks noChangeShapeType="1"/>
            </p:cNvSpPr>
            <p:nvPr/>
          </p:nvSpPr>
          <p:spPr bwMode="auto">
            <a:xfrm flipV="1">
              <a:off x="1763728" y="5373184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430"/>
            <p:cNvSpPr>
              <a:spLocks noChangeShapeType="1"/>
            </p:cNvSpPr>
            <p:nvPr/>
          </p:nvSpPr>
          <p:spPr bwMode="auto">
            <a:xfrm flipH="1" flipV="1">
              <a:off x="2195840" y="551720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6" name="流程图: 手动操作 175"/>
            <p:cNvSpPr/>
            <p:nvPr/>
          </p:nvSpPr>
          <p:spPr bwMode="auto">
            <a:xfrm>
              <a:off x="3275944" y="544517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7" name="Line 420"/>
            <p:cNvSpPr>
              <a:spLocks noChangeShapeType="1"/>
            </p:cNvSpPr>
            <p:nvPr/>
          </p:nvSpPr>
          <p:spPr bwMode="auto">
            <a:xfrm flipV="1">
              <a:off x="3347880" y="5373160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430"/>
            <p:cNvSpPr>
              <a:spLocks noChangeShapeType="1"/>
            </p:cNvSpPr>
            <p:nvPr/>
          </p:nvSpPr>
          <p:spPr bwMode="auto">
            <a:xfrm flipH="1" flipV="1">
              <a:off x="3779992" y="5517184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4500751" y="3996000"/>
            <a:ext cx="3672368" cy="2232248"/>
            <a:chOff x="4644008" y="2924968"/>
            <a:chExt cx="3672368" cy="2232248"/>
          </a:xfrm>
        </p:grpSpPr>
        <p:sp>
          <p:nvSpPr>
            <p:cNvPr id="179" name="Rectangle 403"/>
            <p:cNvSpPr>
              <a:spLocks noChangeArrowheads="1"/>
            </p:cNvSpPr>
            <p:nvPr/>
          </p:nvSpPr>
          <p:spPr bwMode="auto">
            <a:xfrm>
              <a:off x="5148328" y="3284984"/>
              <a:ext cx="2664000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Line 191"/>
            <p:cNvSpPr>
              <a:spLocks noChangeShapeType="1"/>
            </p:cNvSpPr>
            <p:nvPr/>
          </p:nvSpPr>
          <p:spPr bwMode="auto">
            <a:xfrm flipH="1">
              <a:off x="5004072" y="3573040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91"/>
            <p:cNvSpPr>
              <a:spLocks noChangeShapeType="1"/>
            </p:cNvSpPr>
            <p:nvPr/>
          </p:nvSpPr>
          <p:spPr bwMode="auto">
            <a:xfrm flipH="1">
              <a:off x="5004072" y="4509096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99"/>
            <p:cNvSpPr>
              <a:spLocks noChangeShapeType="1"/>
            </p:cNvSpPr>
            <p:nvPr/>
          </p:nvSpPr>
          <p:spPr bwMode="auto">
            <a:xfrm>
              <a:off x="6300192" y="4725192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99"/>
            <p:cNvSpPr>
              <a:spLocks noChangeShapeType="1"/>
            </p:cNvSpPr>
            <p:nvPr/>
          </p:nvSpPr>
          <p:spPr bwMode="auto">
            <a:xfrm>
              <a:off x="630019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99"/>
            <p:cNvSpPr>
              <a:spLocks noChangeShapeType="1"/>
            </p:cNvSpPr>
            <p:nvPr/>
          </p:nvSpPr>
          <p:spPr bwMode="auto">
            <a:xfrm>
              <a:off x="594015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91"/>
            <p:cNvSpPr>
              <a:spLocks noChangeShapeType="1"/>
            </p:cNvSpPr>
            <p:nvPr/>
          </p:nvSpPr>
          <p:spPr bwMode="auto">
            <a:xfrm flipH="1">
              <a:off x="5004072" y="4005088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91"/>
            <p:cNvSpPr>
              <a:spLocks noChangeShapeType="1"/>
            </p:cNvSpPr>
            <p:nvPr/>
          </p:nvSpPr>
          <p:spPr bwMode="auto">
            <a:xfrm flipH="1">
              <a:off x="5004072" y="4221112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408"/>
            <p:cNvSpPr txBox="1">
              <a:spLocks noChangeArrowheads="1"/>
            </p:cNvSpPr>
            <p:nvPr/>
          </p:nvSpPr>
          <p:spPr bwMode="auto">
            <a:xfrm>
              <a:off x="4716048" y="3429024"/>
              <a:ext cx="288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SF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62" name="Text Box 408"/>
            <p:cNvSpPr txBox="1">
              <a:spLocks noChangeArrowheads="1"/>
            </p:cNvSpPr>
            <p:nvPr/>
          </p:nvSpPr>
          <p:spPr bwMode="auto">
            <a:xfrm>
              <a:off x="4644008" y="436508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63" name="Text Box 408"/>
            <p:cNvSpPr txBox="1">
              <a:spLocks noChangeArrowheads="1"/>
            </p:cNvSpPr>
            <p:nvPr/>
          </p:nvSpPr>
          <p:spPr bwMode="auto">
            <a:xfrm>
              <a:off x="5868232" y="2924968"/>
              <a:ext cx="57594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5" name="Text Box 408"/>
            <p:cNvSpPr txBox="1">
              <a:spLocks noChangeArrowheads="1"/>
            </p:cNvSpPr>
            <p:nvPr/>
          </p:nvSpPr>
          <p:spPr bwMode="auto">
            <a:xfrm>
              <a:off x="6156208" y="4941216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6" name="Text Box 408"/>
            <p:cNvSpPr txBox="1">
              <a:spLocks noChangeArrowheads="1"/>
            </p:cNvSpPr>
            <p:nvPr/>
          </p:nvSpPr>
          <p:spPr bwMode="auto">
            <a:xfrm>
              <a:off x="7956336" y="3861024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67" name="Line 430"/>
            <p:cNvSpPr>
              <a:spLocks noChangeShapeType="1"/>
            </p:cNvSpPr>
            <p:nvPr/>
          </p:nvSpPr>
          <p:spPr bwMode="auto">
            <a:xfrm flipH="1" flipV="1">
              <a:off x="7812320" y="400504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0" name="Text Box 408"/>
            <p:cNvSpPr txBox="1">
              <a:spLocks noChangeArrowheads="1"/>
            </p:cNvSpPr>
            <p:nvPr/>
          </p:nvSpPr>
          <p:spPr bwMode="auto">
            <a:xfrm>
              <a:off x="7956376" y="3429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71" name="Line 430"/>
            <p:cNvSpPr>
              <a:spLocks noChangeShapeType="1"/>
            </p:cNvSpPr>
            <p:nvPr/>
          </p:nvSpPr>
          <p:spPr bwMode="auto">
            <a:xfrm flipH="1" flipV="1">
              <a:off x="7812360" y="3573016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2" name="Text Box 408"/>
            <p:cNvSpPr txBox="1">
              <a:spLocks noChangeArrowheads="1"/>
            </p:cNvSpPr>
            <p:nvPr/>
          </p:nvSpPr>
          <p:spPr bwMode="auto">
            <a:xfrm>
              <a:off x="7956376" y="450916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2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73" name="Line 430"/>
            <p:cNvSpPr>
              <a:spLocks noChangeShapeType="1"/>
            </p:cNvSpPr>
            <p:nvPr/>
          </p:nvSpPr>
          <p:spPr bwMode="auto">
            <a:xfrm flipH="1" flipV="1">
              <a:off x="7812360" y="465316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6805087" y="5652000"/>
            <a:ext cx="720000" cy="144000"/>
            <a:chOff x="6948344" y="4797272"/>
            <a:chExt cx="720000" cy="144000"/>
          </a:xfrm>
        </p:grpSpPr>
        <p:sp>
          <p:nvSpPr>
            <p:cNvPr id="275" name="Line 201"/>
            <p:cNvSpPr>
              <a:spLocks noChangeShapeType="1"/>
            </p:cNvSpPr>
            <p:nvPr/>
          </p:nvSpPr>
          <p:spPr bwMode="auto">
            <a:xfrm flipH="1">
              <a:off x="6948344" y="4869264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Text Box 434"/>
            <p:cNvSpPr txBox="1">
              <a:spLocks noChangeArrowheads="1"/>
            </p:cNvSpPr>
            <p:nvPr/>
          </p:nvSpPr>
          <p:spPr bwMode="auto">
            <a:xfrm>
              <a:off x="7524344" y="4797272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77" name="椭圆 276"/>
            <p:cNvSpPr/>
            <p:nvPr/>
          </p:nvSpPr>
          <p:spPr bwMode="auto">
            <a:xfrm>
              <a:off x="7452320" y="482770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6012919" y="4356000"/>
            <a:ext cx="1481082" cy="360000"/>
            <a:chOff x="6187230" y="3285008"/>
            <a:chExt cx="1481082" cy="360000"/>
          </a:xfrm>
        </p:grpSpPr>
        <p:sp>
          <p:nvSpPr>
            <p:cNvPr id="279" name="Line 199"/>
            <p:cNvSpPr>
              <a:spLocks noChangeShapeType="1"/>
            </p:cNvSpPr>
            <p:nvPr/>
          </p:nvSpPr>
          <p:spPr bwMode="auto">
            <a:xfrm>
              <a:off x="6331246" y="328501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流程图: 手动操作 279"/>
            <p:cNvSpPr/>
            <p:nvPr/>
          </p:nvSpPr>
          <p:spPr bwMode="auto">
            <a:xfrm>
              <a:off x="6187230" y="3501008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1" name="Line 199"/>
            <p:cNvSpPr>
              <a:spLocks noChangeShapeType="1"/>
            </p:cNvSpPr>
            <p:nvPr/>
          </p:nvSpPr>
          <p:spPr bwMode="auto">
            <a:xfrm>
              <a:off x="6588224" y="3357008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Text Box 408"/>
            <p:cNvSpPr txBox="1">
              <a:spLocks noChangeArrowheads="1"/>
            </p:cNvSpPr>
            <p:nvPr/>
          </p:nvSpPr>
          <p:spPr bwMode="auto">
            <a:xfrm>
              <a:off x="6876256" y="3285008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199"/>
            <p:cNvSpPr>
              <a:spLocks noChangeShapeType="1"/>
            </p:cNvSpPr>
            <p:nvPr/>
          </p:nvSpPr>
          <p:spPr bwMode="auto">
            <a:xfrm flipH="1" flipV="1">
              <a:off x="6588224" y="3356968"/>
              <a:ext cx="288032" cy="2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430"/>
            <p:cNvSpPr>
              <a:spLocks noChangeShapeType="1"/>
            </p:cNvSpPr>
            <p:nvPr/>
          </p:nvSpPr>
          <p:spPr bwMode="auto">
            <a:xfrm flipH="1" flipV="1">
              <a:off x="6696312" y="3573016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6124365" y="4716000"/>
            <a:ext cx="1040682" cy="719960"/>
            <a:chOff x="6555654" y="4509176"/>
            <a:chExt cx="1040682" cy="719960"/>
          </a:xfrm>
        </p:grpSpPr>
        <p:sp>
          <p:nvSpPr>
            <p:cNvPr id="286" name="流程图: 手动操作 285"/>
            <p:cNvSpPr/>
            <p:nvPr/>
          </p:nvSpPr>
          <p:spPr bwMode="auto">
            <a:xfrm>
              <a:off x="6555654" y="4797144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" name="Line 199"/>
            <p:cNvSpPr>
              <a:spLocks noChangeShapeType="1"/>
            </p:cNvSpPr>
            <p:nvPr/>
          </p:nvSpPr>
          <p:spPr bwMode="auto">
            <a:xfrm>
              <a:off x="6732240" y="4509176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椭圆 287"/>
            <p:cNvSpPr/>
            <p:nvPr/>
          </p:nvSpPr>
          <p:spPr bwMode="auto">
            <a:xfrm>
              <a:off x="6948264" y="472515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Line 199"/>
            <p:cNvSpPr>
              <a:spLocks noChangeShapeType="1"/>
            </p:cNvSpPr>
            <p:nvPr/>
          </p:nvSpPr>
          <p:spPr bwMode="auto">
            <a:xfrm>
              <a:off x="6984339" y="4581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420"/>
            <p:cNvSpPr>
              <a:spLocks noChangeShapeType="1"/>
            </p:cNvSpPr>
            <p:nvPr/>
          </p:nvSpPr>
          <p:spPr bwMode="auto">
            <a:xfrm flipV="1">
              <a:off x="6732239" y="4581128"/>
              <a:ext cx="25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430"/>
            <p:cNvSpPr>
              <a:spLocks noChangeShapeType="1"/>
            </p:cNvSpPr>
            <p:nvPr/>
          </p:nvSpPr>
          <p:spPr bwMode="auto">
            <a:xfrm flipH="1" flipV="1">
              <a:off x="7056336" y="4869136"/>
              <a:ext cx="5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92" name="Line 191"/>
            <p:cNvSpPr>
              <a:spLocks noChangeShapeType="1"/>
            </p:cNvSpPr>
            <p:nvPr/>
          </p:nvSpPr>
          <p:spPr bwMode="auto">
            <a:xfrm flipH="1">
              <a:off x="7236296" y="4869136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9" name="组合 298"/>
          <p:cNvGrpSpPr/>
          <p:nvPr/>
        </p:nvGrpSpPr>
        <p:grpSpPr>
          <a:xfrm>
            <a:off x="5148815" y="4364774"/>
            <a:ext cx="2520296" cy="1475952"/>
            <a:chOff x="5580104" y="4221264"/>
            <a:chExt cx="2520296" cy="1475952"/>
          </a:xfrm>
        </p:grpSpPr>
        <p:sp>
          <p:nvSpPr>
            <p:cNvPr id="300" name="Text Box 184"/>
            <p:cNvSpPr txBox="1">
              <a:spLocks noChangeArrowheads="1"/>
            </p:cNvSpPr>
            <p:nvPr/>
          </p:nvSpPr>
          <p:spPr bwMode="auto">
            <a:xfrm>
              <a:off x="6012160" y="5229128"/>
              <a:ext cx="1008000" cy="43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位</a:t>
              </a:r>
              <a:r>
                <a:rPr lang="zh-CN" altLang="en-US" sz="1600" dirty="0">
                  <a:solidFill>
                    <a:schemeClr val="tx1"/>
                  </a:solidFill>
                </a:rPr>
                <a:t>加法器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1" name="Text Box 193"/>
            <p:cNvSpPr txBox="1">
              <a:spLocks noChangeArrowheads="1"/>
            </p:cNvSpPr>
            <p:nvPr/>
          </p:nvSpPr>
          <p:spPr bwMode="auto">
            <a:xfrm>
              <a:off x="5580104" y="4293152"/>
              <a:ext cx="288000" cy="936000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标志形成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2" name="Line 191"/>
            <p:cNvSpPr>
              <a:spLocks noChangeShapeType="1"/>
            </p:cNvSpPr>
            <p:nvPr/>
          </p:nvSpPr>
          <p:spPr bwMode="auto">
            <a:xfrm flipH="1">
              <a:off x="7020272" y="5301136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199"/>
            <p:cNvSpPr>
              <a:spLocks noChangeShapeType="1"/>
            </p:cNvSpPr>
            <p:nvPr/>
          </p:nvSpPr>
          <p:spPr bwMode="auto">
            <a:xfrm>
              <a:off x="6876256" y="501316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199"/>
            <p:cNvSpPr>
              <a:spLocks noChangeShapeType="1"/>
            </p:cNvSpPr>
            <p:nvPr/>
          </p:nvSpPr>
          <p:spPr bwMode="auto">
            <a:xfrm>
              <a:off x="6228184" y="4221264"/>
              <a:ext cx="0" cy="10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201"/>
            <p:cNvSpPr>
              <a:spLocks noChangeShapeType="1"/>
            </p:cNvSpPr>
            <p:nvPr/>
          </p:nvSpPr>
          <p:spPr bwMode="auto">
            <a:xfrm flipH="1">
              <a:off x="7952215" y="558924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Text Box 434"/>
            <p:cNvSpPr txBox="1">
              <a:spLocks noChangeArrowheads="1"/>
            </p:cNvSpPr>
            <p:nvPr/>
          </p:nvSpPr>
          <p:spPr bwMode="auto">
            <a:xfrm>
              <a:off x="7380288" y="4401216"/>
              <a:ext cx="652216" cy="129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260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  控制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  逻辑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07" name="Line 201"/>
            <p:cNvSpPr>
              <a:spLocks noChangeShapeType="1"/>
            </p:cNvSpPr>
            <p:nvPr/>
          </p:nvSpPr>
          <p:spPr bwMode="auto">
            <a:xfrm flipH="1">
              <a:off x="7884368" y="4509072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201"/>
            <p:cNvSpPr>
              <a:spLocks noChangeShapeType="1"/>
            </p:cNvSpPr>
            <p:nvPr/>
          </p:nvSpPr>
          <p:spPr bwMode="auto">
            <a:xfrm flipH="1">
              <a:off x="7596400" y="4941096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01"/>
            <p:cNvSpPr>
              <a:spLocks noChangeShapeType="1"/>
            </p:cNvSpPr>
            <p:nvPr/>
          </p:nvSpPr>
          <p:spPr bwMode="auto">
            <a:xfrm flipH="1">
              <a:off x="7020272" y="5589240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201"/>
            <p:cNvSpPr>
              <a:spLocks noChangeShapeType="1"/>
            </p:cNvSpPr>
            <p:nvPr/>
          </p:nvSpPr>
          <p:spPr bwMode="auto">
            <a:xfrm flipH="1">
              <a:off x="7020272" y="5445224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AutoShape 62">
            <a:hlinkClick r:id="rId2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93" name="组合 292"/>
          <p:cNvGrpSpPr/>
          <p:nvPr/>
        </p:nvGrpSpPr>
        <p:grpSpPr>
          <a:xfrm>
            <a:off x="6805103" y="5004000"/>
            <a:ext cx="648000" cy="720016"/>
            <a:chOff x="7236392" y="4869160"/>
            <a:chExt cx="648000" cy="720016"/>
          </a:xfrm>
        </p:grpSpPr>
        <p:sp>
          <p:nvSpPr>
            <p:cNvPr id="294" name="Text Box 434"/>
            <p:cNvSpPr txBox="1">
              <a:spLocks noChangeArrowheads="1"/>
            </p:cNvSpPr>
            <p:nvPr/>
          </p:nvSpPr>
          <p:spPr bwMode="auto">
            <a:xfrm>
              <a:off x="7452336" y="4869160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95" name="Line 191"/>
            <p:cNvSpPr>
              <a:spLocks noChangeShapeType="1"/>
            </p:cNvSpPr>
            <p:nvPr/>
          </p:nvSpPr>
          <p:spPr bwMode="auto">
            <a:xfrm flipH="1">
              <a:off x="7668344" y="5013176"/>
              <a:ext cx="0" cy="57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01"/>
            <p:cNvSpPr>
              <a:spLocks noChangeShapeType="1"/>
            </p:cNvSpPr>
            <p:nvPr/>
          </p:nvSpPr>
          <p:spPr bwMode="auto">
            <a:xfrm flipH="1">
              <a:off x="7596344" y="5013176"/>
              <a:ext cx="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201"/>
            <p:cNvSpPr>
              <a:spLocks noChangeShapeType="1"/>
            </p:cNvSpPr>
            <p:nvPr/>
          </p:nvSpPr>
          <p:spPr bwMode="auto">
            <a:xfrm flipH="1">
              <a:off x="7236392" y="5445224"/>
              <a:ext cx="64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191"/>
            <p:cNvSpPr>
              <a:spLocks noChangeShapeType="1"/>
            </p:cNvSpPr>
            <p:nvPr/>
          </p:nvSpPr>
          <p:spPr bwMode="auto">
            <a:xfrm flipH="1">
              <a:off x="7884368" y="4941064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501792" y="1271796"/>
          <a:ext cx="2428240" cy="61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770"/>
                <a:gridCol w="576064"/>
                <a:gridCol w="576064"/>
                <a:gridCol w="576064"/>
              </a:tblGrid>
              <a:tr h="292100"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309880">
                <a:tc>
                  <a:txBody>
                    <a:bodyPr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Symbol" panose="05050102010706020507"/>
                        </a:rPr>
                        <a:t>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AutoShape 29"/>
          <p:cNvSpPr/>
          <p:nvPr/>
        </p:nvSpPr>
        <p:spPr bwMode="auto">
          <a:xfrm>
            <a:off x="3961320" y="6227807"/>
            <a:ext cx="2052000" cy="252000"/>
          </a:xfrm>
          <a:prstGeom prst="borderCallout2">
            <a:avLst>
              <a:gd name="adj1" fmla="val 52017"/>
              <a:gd name="adj2" fmla="val 100026"/>
              <a:gd name="adj3" fmla="val 54032"/>
              <a:gd name="adj4" fmla="val 113925"/>
              <a:gd name="adj5" fmla="val -448171"/>
              <a:gd name="adj6" fmla="val 14435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990099"/>
                </a:solidFill>
              </a:rPr>
              <a:t>思考：</a:t>
            </a:r>
            <a:r>
              <a:rPr lang="zh-CN" sz="1600" b="1" dirty="0" smtClean="0">
                <a:solidFill>
                  <a:schemeClr val="tx1"/>
                </a:solidFill>
              </a:rPr>
              <a:t>如何</a:t>
            </a:r>
            <a:r>
              <a:rPr lang="zh-CN" sz="1600" b="1" dirty="0" smtClean="0">
                <a:solidFill>
                  <a:schemeClr val="tx1"/>
                </a:solidFill>
              </a:rPr>
              <a:t>避免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A&amp;</a:t>
            </a:r>
            <a:r>
              <a:rPr lang="en-US" altLang="zh-CN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B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？</a:t>
            </a:r>
            <a:endParaRPr lang="zh-CN" altLang="en-US" sz="16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122" grpId="0" bldLvl="0" animBg="1"/>
      <p:bldP spid="122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2" y="3816000"/>
            <a:ext cx="5328591" cy="22082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accent2"/>
                </a:solidFill>
              </a:rPr>
              <a:t>    移位功能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控制信号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zh-CN" altLang="en-US" sz="2200" dirty="0">
                <a:solidFill>
                  <a:schemeClr val="tx1"/>
                </a:solidFill>
              </a:rPr>
              <a:t>←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en-US" altLang="zh-CN" sz="2200" dirty="0">
                <a:solidFill>
                  <a:schemeClr val="tx1"/>
                </a:solidFill>
              </a:rPr>
              <a:t>-Ra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tx1"/>
                </a:solidFill>
              </a:rPr>
              <a:t>              指令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zh-CN" altLang="en-US" sz="2200" dirty="0">
                <a:solidFill>
                  <a:schemeClr val="tx1"/>
                </a:solidFill>
              </a:rPr>
              <a:t>←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</a:rPr>
              <a:t>Rb+Ra</a:t>
            </a:r>
            <a:r>
              <a:rPr lang="en-US" altLang="zh-CN" sz="2200" dirty="0">
                <a:solidFill>
                  <a:schemeClr val="tx1"/>
                </a:solidFill>
              </a:rPr>
              <a:t>)&gt;&gt;</a:t>
            </a:r>
            <a:r>
              <a:rPr lang="en-US" altLang="zh-CN" sz="2200" baseline="-18000" dirty="0">
                <a:solidFill>
                  <a:schemeClr val="tx1"/>
                </a:solidFill>
              </a:rPr>
              <a:t>L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乘法支持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4" name="Text Box 199"/>
          <p:cNvSpPr txBox="1">
            <a:spLocks noChangeArrowheads="1"/>
          </p:cNvSpPr>
          <p:nvPr/>
        </p:nvSpPr>
        <p:spPr bwMode="auto">
          <a:xfrm>
            <a:off x="179512" y="332656"/>
            <a:ext cx="8712968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rgbClr val="990099"/>
                </a:solidFill>
              </a:rPr>
              <a:t>    例</a:t>
            </a:r>
            <a:r>
              <a:rPr lang="en-US" altLang="zh-CN" sz="2200" dirty="0">
                <a:solidFill>
                  <a:srgbClr val="990099"/>
                </a:solidFill>
              </a:rPr>
              <a:t>3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</a:rPr>
              <a:t>分析运算器</a:t>
            </a:r>
            <a:r>
              <a:rPr lang="en-US" altLang="zh-CN" sz="2200" dirty="0" smtClean="0">
                <a:solidFill>
                  <a:schemeClr val="tx1"/>
                </a:solidFill>
              </a:rPr>
              <a:t>29C101</a:t>
            </a:r>
            <a:r>
              <a:rPr lang="zh-CN" altLang="en-US" sz="2200" dirty="0" smtClean="0">
                <a:solidFill>
                  <a:schemeClr val="tx1"/>
                </a:solidFill>
              </a:rPr>
              <a:t>的移位功能，写出实现指令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zh-CN" altLang="en-US" sz="2200" dirty="0" smtClean="0">
                <a:solidFill>
                  <a:schemeClr val="tx1"/>
                </a:solidFill>
              </a:rPr>
              <a:t>←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en-US" altLang="zh-CN" sz="2200" dirty="0" smtClean="0">
                <a:solidFill>
                  <a:schemeClr val="tx1"/>
                </a:solidFill>
              </a:rPr>
              <a:t>-Ra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zh-CN" altLang="en-US" sz="2200" dirty="0" smtClean="0">
                <a:solidFill>
                  <a:schemeClr val="tx1"/>
                </a:solidFill>
              </a:rPr>
              <a:t>←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Ra+Rb</a:t>
            </a:r>
            <a:r>
              <a:rPr lang="en-US" altLang="zh-CN" sz="2200" dirty="0" smtClean="0">
                <a:solidFill>
                  <a:schemeClr val="tx1"/>
                </a:solidFill>
              </a:rPr>
              <a:t>)&gt;&gt;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L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功能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zh-CN" altLang="en-US" sz="2200" dirty="0" smtClean="0">
                <a:solidFill>
                  <a:schemeClr val="tx1"/>
                </a:solidFill>
              </a:rPr>
              <a:t>控制信号，说明其如何支持乘法运算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/>
        </p:nvSpPr>
        <p:spPr bwMode="auto">
          <a:xfrm>
            <a:off x="2195830" y="3816000"/>
            <a:ext cx="6945630" cy="24974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左移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F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&lt;&lt;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1[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移入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  <a:sym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]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右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移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Q&gt;&gt;1[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移入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  <a:sym typeface="+mn-ea"/>
              </a:rPr>
              <a:t>n-1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]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、直通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</a:rPr>
              <a:t>个移位器</a:t>
            </a:r>
            <a:r>
              <a:rPr lang="zh-CN" altLang="en-US" sz="2200" dirty="0" smtClean="0">
                <a:solidFill>
                  <a:srgbClr val="990099"/>
                </a:solidFill>
              </a:rPr>
              <a:t>可</a:t>
            </a:r>
            <a:r>
              <a:rPr lang="zh-CN" altLang="en-US" sz="2200" dirty="0" smtClean="0">
                <a:solidFill>
                  <a:schemeClr val="tx1"/>
                </a:solidFill>
              </a:rPr>
              <a:t>级联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             011 </a:t>
            </a:r>
            <a:r>
              <a:rPr lang="en-US" altLang="zh-CN" sz="2200" u="sng" dirty="0" smtClean="0">
                <a:solidFill>
                  <a:schemeClr val="tx1"/>
                </a:solidFill>
              </a:rPr>
              <a:t>001</a:t>
            </a:r>
            <a:r>
              <a:rPr lang="en-US" altLang="zh-CN" sz="2200" dirty="0" smtClean="0">
                <a:solidFill>
                  <a:schemeClr val="tx1"/>
                </a:solidFill>
              </a:rPr>
              <a:t> 001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                   101 </a:t>
            </a:r>
            <a:r>
              <a:rPr lang="en-US" altLang="zh-CN" sz="2200" u="sng" dirty="0">
                <a:solidFill>
                  <a:schemeClr val="tx1"/>
                </a:solidFill>
              </a:rPr>
              <a:t>000</a:t>
            </a:r>
            <a:r>
              <a:rPr lang="en-US" altLang="zh-CN" sz="2200" dirty="0">
                <a:solidFill>
                  <a:schemeClr val="tx1"/>
                </a:solidFill>
              </a:rPr>
              <a:t> 001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R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每次</a:t>
            </a:r>
            <a:r>
              <a:rPr lang="zh-CN" altLang="en-US" sz="2200" dirty="0">
                <a:solidFill>
                  <a:schemeClr val="tx1"/>
                </a:solidFill>
              </a:rPr>
              <a:t>乘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位，</a:t>
            </a:r>
            <a:r>
              <a:rPr lang="zh-CN" altLang="en-US" sz="2200" dirty="0">
                <a:solidFill>
                  <a:schemeClr val="tx1"/>
                </a:solidFill>
              </a:rPr>
              <a:t>外部循环</a:t>
            </a:r>
            <a:r>
              <a:rPr lang="zh-CN" altLang="en-US" sz="2200" dirty="0" smtClean="0">
                <a:solidFill>
                  <a:schemeClr val="tx1"/>
                </a:solidFill>
              </a:rPr>
              <a:t>实现</a:t>
            </a:r>
            <a:r>
              <a:rPr lang="en-US" altLang="zh-CN" sz="2200" dirty="0" smtClean="0">
                <a:solidFill>
                  <a:schemeClr val="tx1"/>
                </a:solidFill>
              </a:rPr>
              <a:t>n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zh-CN" altLang="en-US" sz="2200" dirty="0" smtClean="0">
                <a:solidFill>
                  <a:schemeClr val="tx1"/>
                </a:solidFill>
              </a:rPr>
              <a:t>乘法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Q</a:t>
            </a:r>
            <a:r>
              <a:rPr lang="zh-CN" altLang="en-US" sz="1800" dirty="0">
                <a:solidFill>
                  <a:schemeClr val="tx1"/>
                </a:solidFill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zh-CN" altLang="en-US" sz="180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</a:rPr>
              <a:t>GPR[b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F/2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Q/2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zh-CN" altLang="en-US" sz="1800" dirty="0">
                <a:solidFill>
                  <a:schemeClr val="tx1"/>
                </a:solidFill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cxnSp>
        <p:nvCxnSpPr>
          <p:cNvPr id="86" name="直接连接符 85"/>
          <p:cNvCxnSpPr/>
          <p:nvPr/>
        </p:nvCxnSpPr>
        <p:spPr bwMode="auto">
          <a:xfrm>
            <a:off x="7638408" y="3130082"/>
            <a:ext cx="10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03" name="表格 202"/>
          <p:cNvGraphicFramePr>
            <a:graphicFrameLocks noGrp="1"/>
          </p:cNvGraphicFramePr>
          <p:nvPr/>
        </p:nvGraphicFramePr>
        <p:xfrm>
          <a:off x="5292080" y="1412776"/>
          <a:ext cx="3496104" cy="24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759800"/>
                <a:gridCol w="504056"/>
                <a:gridCol w="432048"/>
                <a:gridCol w="97400"/>
                <a:gridCol w="550672"/>
                <a:gridCol w="97400"/>
                <a:gridCol w="262640"/>
                <a:gridCol w="288032"/>
              </a:tblGrid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 marL="36000" marR="36000" marT="18000" marB="18000"/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GPR[b]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ALU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R+S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S-R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R-S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⊙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4" name="AutoShape 4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1" name="AutoShape 29"/>
          <p:cNvSpPr/>
          <p:nvPr/>
        </p:nvSpPr>
        <p:spPr bwMode="auto">
          <a:xfrm>
            <a:off x="7740352" y="1080000"/>
            <a:ext cx="1152000" cy="252000"/>
          </a:xfrm>
          <a:prstGeom prst="borderCallout2">
            <a:avLst>
              <a:gd name="adj1" fmla="val 54051"/>
              <a:gd name="adj2" fmla="val -1185"/>
              <a:gd name="adj3" fmla="val 53705"/>
              <a:gd name="adj4" fmla="val -12454"/>
              <a:gd name="adj5" fmla="val 468240"/>
              <a:gd name="adj6" fmla="val -12543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不写寄存器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73" name="AutoShape 29"/>
          <p:cNvSpPr/>
          <p:nvPr/>
        </p:nvSpPr>
        <p:spPr bwMode="auto">
          <a:xfrm>
            <a:off x="107504" y="2996952"/>
            <a:ext cx="792000" cy="252000"/>
          </a:xfrm>
          <a:prstGeom prst="borderCallout2">
            <a:avLst>
              <a:gd name="adj1" fmla="val 3239"/>
              <a:gd name="adj2" fmla="val 72616"/>
              <a:gd name="adj3" fmla="val -53285"/>
              <a:gd name="adj4" fmla="val 73948"/>
              <a:gd name="adj5" fmla="val -110749"/>
              <a:gd name="adj6" fmla="val 9254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</a:rPr>
              <a:t>C</a:t>
            </a:r>
            <a:r>
              <a:rPr lang="zh-CN" altLang="en-US" sz="1600" dirty="0" smtClean="0">
                <a:solidFill>
                  <a:schemeClr val="tx1"/>
                </a:solidFill>
              </a:rPr>
              <a:t>即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 err="1" smtClean="0">
                <a:solidFill>
                  <a:schemeClr val="tx1"/>
                </a:solidFill>
              </a:rPr>
              <a:t>out</a:t>
            </a:r>
            <a:endParaRPr lang="en-US" altLang="zh-CN" sz="1600" b="1" baseline="-18000" dirty="0" smtClean="0">
              <a:solidFill>
                <a:schemeClr val="tx1"/>
              </a:solidFill>
            </a:endParaRPr>
          </a:p>
        </p:txBody>
      </p:sp>
      <p:sp>
        <p:nvSpPr>
          <p:cNvPr id="122" name="AutoShape 29"/>
          <p:cNvSpPr/>
          <p:nvPr/>
        </p:nvSpPr>
        <p:spPr bwMode="auto">
          <a:xfrm>
            <a:off x="6444368" y="4797152"/>
            <a:ext cx="2160000" cy="288000"/>
          </a:xfrm>
          <a:prstGeom prst="borderCallout2">
            <a:avLst>
              <a:gd name="adj1" fmla="val 49263"/>
              <a:gd name="adj2" fmla="val -164"/>
              <a:gd name="adj3" fmla="val 51468"/>
              <a:gd name="adj4" fmla="val -13100"/>
              <a:gd name="adj5" fmla="val 159065"/>
              <a:gd name="adj6" fmla="val -8115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改为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&gt;&gt;</a:t>
            </a:r>
            <a:r>
              <a:rPr lang="en-US" altLang="zh-CN" sz="1800" b="1" baseline="-18000" dirty="0" smtClean="0">
                <a:solidFill>
                  <a:schemeClr val="tx1"/>
                </a:solidFill>
              </a:rPr>
              <a:t>A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呢？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359464" y="1268760"/>
            <a:ext cx="4752528" cy="2592288"/>
            <a:chOff x="539552" y="1268760"/>
            <a:chExt cx="4752528" cy="2592288"/>
          </a:xfrm>
        </p:grpSpPr>
        <p:sp>
          <p:nvSpPr>
            <p:cNvPr id="124" name="Rectangle 293"/>
            <p:cNvSpPr>
              <a:spLocks noChangeArrowheads="1"/>
            </p:cNvSpPr>
            <p:nvPr/>
          </p:nvSpPr>
          <p:spPr bwMode="auto">
            <a:xfrm>
              <a:off x="1476008" y="1268760"/>
              <a:ext cx="3096000" cy="2520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25" name="Text Box 254"/>
            <p:cNvSpPr txBox="1">
              <a:spLocks noChangeArrowheads="1"/>
            </p:cNvSpPr>
            <p:nvPr/>
          </p:nvSpPr>
          <p:spPr bwMode="auto">
            <a:xfrm>
              <a:off x="2195648" y="3356992"/>
              <a:ext cx="72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Text Box 255"/>
            <p:cNvSpPr txBox="1">
              <a:spLocks noChangeArrowheads="1"/>
            </p:cNvSpPr>
            <p:nvPr/>
          </p:nvSpPr>
          <p:spPr bwMode="auto">
            <a:xfrm>
              <a:off x="3563992" y="1340824"/>
              <a:ext cx="936000" cy="504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寄存器组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GPRs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27" name="Text Box 256"/>
            <p:cNvSpPr txBox="1">
              <a:spLocks noChangeArrowheads="1"/>
            </p:cNvSpPr>
            <p:nvPr/>
          </p:nvSpPr>
          <p:spPr bwMode="auto">
            <a:xfrm>
              <a:off x="1691632" y="1628848"/>
              <a:ext cx="86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锁存器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8" name="Text Box 264"/>
            <p:cNvSpPr txBox="1">
              <a:spLocks noChangeArrowheads="1"/>
            </p:cNvSpPr>
            <p:nvPr/>
          </p:nvSpPr>
          <p:spPr bwMode="auto">
            <a:xfrm rot="5400000">
              <a:off x="1629562" y="2456896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lang="en-US" altLang="zh-CN" sz="14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29" name="AutoShape 266"/>
            <p:cNvSpPr>
              <a:spLocks noChangeArrowheads="1"/>
            </p:cNvSpPr>
            <p:nvPr/>
          </p:nvSpPr>
          <p:spPr bwMode="auto">
            <a:xfrm>
              <a:off x="1835696" y="2423090"/>
              <a:ext cx="1440000" cy="288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36000" rIns="36000" bIns="36000" anchor="ctr">
              <a:noAutofit/>
            </a:bodyPr>
            <a:lstStyle/>
            <a:p>
              <a:pPr algn="ctr"/>
              <a:r>
                <a:rPr lang="en-US" altLang="zh-CN" sz="1800" dirty="0" smtClean="0">
                  <a:solidFill>
                    <a:schemeClr val="tx1"/>
                  </a:solidFill>
                </a:rPr>
                <a:t>ALU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0" name="Text Box 268"/>
            <p:cNvSpPr txBox="1">
              <a:spLocks noChangeArrowheads="1"/>
            </p:cNvSpPr>
            <p:nvPr/>
          </p:nvSpPr>
          <p:spPr bwMode="auto">
            <a:xfrm>
              <a:off x="1835696" y="2058646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31" name="Text Box 271"/>
            <p:cNvSpPr txBox="1">
              <a:spLocks noChangeArrowheads="1"/>
            </p:cNvSpPr>
            <p:nvPr/>
          </p:nvSpPr>
          <p:spPr bwMode="auto">
            <a:xfrm>
              <a:off x="2627640" y="1627955"/>
              <a:ext cx="86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锁存器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2" name="Text Box 297"/>
            <p:cNvSpPr txBox="1">
              <a:spLocks noChangeArrowheads="1"/>
            </p:cNvSpPr>
            <p:nvPr/>
          </p:nvSpPr>
          <p:spPr bwMode="auto">
            <a:xfrm>
              <a:off x="755648" y="1770961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输入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D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>
              <a:off x="2267744" y="1843955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>
              <a:off x="2267744" y="141277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5" name="Text Box 268"/>
            <p:cNvSpPr txBox="1">
              <a:spLocks noChangeArrowheads="1"/>
            </p:cNvSpPr>
            <p:nvPr/>
          </p:nvSpPr>
          <p:spPr bwMode="auto">
            <a:xfrm>
              <a:off x="2771800" y="2058646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箭头连接符 135"/>
            <p:cNvCxnSpPr/>
            <p:nvPr/>
          </p:nvCxnSpPr>
          <p:spPr bwMode="auto">
            <a:xfrm flipH="1">
              <a:off x="3059824" y="1484760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7" name="直接箭头连接符 136"/>
            <p:cNvCxnSpPr/>
            <p:nvPr/>
          </p:nvCxnSpPr>
          <p:spPr bwMode="auto">
            <a:xfrm flipH="1" flipV="1">
              <a:off x="1331616" y="2495098"/>
              <a:ext cx="57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03"/>
            <p:cNvCxnSpPr/>
            <p:nvPr/>
          </p:nvCxnSpPr>
          <p:spPr bwMode="auto">
            <a:xfrm>
              <a:off x="2552436" y="3573016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H="1" flipV="1">
              <a:off x="1331632" y="2636912"/>
              <a:ext cx="72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0" name="Text Box 254"/>
            <p:cNvSpPr txBox="1">
              <a:spLocks noChangeArrowheads="1"/>
            </p:cNvSpPr>
            <p:nvPr/>
          </p:nvSpPr>
          <p:spPr bwMode="auto">
            <a:xfrm>
              <a:off x="3275712" y="3359170"/>
              <a:ext cx="86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寄存器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41" name="直接箭头连接符 140"/>
            <p:cNvCxnSpPr/>
            <p:nvPr/>
          </p:nvCxnSpPr>
          <p:spPr bwMode="auto">
            <a:xfrm>
              <a:off x="3059832" y="184484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2" name="直接箭头连接符 155"/>
            <p:cNvCxnSpPr/>
            <p:nvPr/>
          </p:nvCxnSpPr>
          <p:spPr bwMode="auto">
            <a:xfrm flipV="1">
              <a:off x="2627784" y="220488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>
              <a:off x="1979712" y="1898848"/>
              <a:ext cx="0" cy="16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4" name="直接箭头连接符 51"/>
            <p:cNvCxnSpPr/>
            <p:nvPr/>
          </p:nvCxnSpPr>
          <p:spPr bwMode="auto">
            <a:xfrm>
              <a:off x="1403712" y="1898394"/>
              <a:ext cx="57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2051728" y="224309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2915816" y="19168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箭头连接符 51"/>
            <p:cNvCxnSpPr/>
            <p:nvPr/>
          </p:nvCxnSpPr>
          <p:spPr bwMode="auto">
            <a:xfrm>
              <a:off x="2267832" y="1916832"/>
              <a:ext cx="64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 flipH="1" flipV="1">
              <a:off x="2411760" y="220486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9" name="直接箭头连接符 155"/>
            <p:cNvCxnSpPr/>
            <p:nvPr/>
          </p:nvCxnSpPr>
          <p:spPr bwMode="auto">
            <a:xfrm flipH="1">
              <a:off x="2628016" y="2276872"/>
              <a:ext cx="20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3203848" y="19168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51"/>
            <p:cNvCxnSpPr/>
            <p:nvPr/>
          </p:nvCxnSpPr>
          <p:spPr bwMode="auto">
            <a:xfrm flipH="1" flipV="1">
              <a:off x="3203848" y="1916832"/>
              <a:ext cx="115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52" name="直接箭头连接符 151"/>
            <p:cNvCxnSpPr/>
            <p:nvPr/>
          </p:nvCxnSpPr>
          <p:spPr bwMode="auto">
            <a:xfrm>
              <a:off x="3059832" y="224309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3" name="直接箭头连接符 152"/>
            <p:cNvCxnSpPr/>
            <p:nvPr/>
          </p:nvCxnSpPr>
          <p:spPr bwMode="auto">
            <a:xfrm flipH="1" flipV="1">
              <a:off x="3347864" y="2204864"/>
              <a:ext cx="136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54" name="Text Box 254"/>
            <p:cNvSpPr txBox="1">
              <a:spLocks noChangeArrowheads="1"/>
            </p:cNvSpPr>
            <p:nvPr/>
          </p:nvSpPr>
          <p:spPr bwMode="auto">
            <a:xfrm>
              <a:off x="3347784" y="2996952"/>
              <a:ext cx="72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55" name="直接箭头连接符 154"/>
            <p:cNvCxnSpPr/>
            <p:nvPr/>
          </p:nvCxnSpPr>
          <p:spPr bwMode="auto">
            <a:xfrm>
              <a:off x="3203848" y="3287161"/>
              <a:ext cx="151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3707760" y="321296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3707904" y="3575194"/>
              <a:ext cx="0" cy="7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8" name="直接箭头连接符 51"/>
            <p:cNvCxnSpPr/>
            <p:nvPr/>
          </p:nvCxnSpPr>
          <p:spPr bwMode="auto">
            <a:xfrm>
              <a:off x="3707904" y="3647202"/>
              <a:ext cx="64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59" name="直接箭头连接符 51"/>
            <p:cNvCxnSpPr/>
            <p:nvPr/>
          </p:nvCxnSpPr>
          <p:spPr bwMode="auto">
            <a:xfrm flipH="1">
              <a:off x="2051632" y="2996952"/>
              <a:ext cx="50415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60" name="直接箭头连接符 51"/>
            <p:cNvCxnSpPr/>
            <p:nvPr/>
          </p:nvCxnSpPr>
          <p:spPr bwMode="auto">
            <a:xfrm>
              <a:off x="2555904" y="2780928"/>
              <a:ext cx="10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61" name="直接箭头连接符 51"/>
            <p:cNvCxnSpPr/>
            <p:nvPr/>
          </p:nvCxnSpPr>
          <p:spPr bwMode="auto">
            <a:xfrm flipV="1">
              <a:off x="4355896" y="1917056"/>
              <a:ext cx="0" cy="172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 flipH="1" flipV="1">
              <a:off x="2051696" y="2780928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163" name="Text Box 268"/>
            <p:cNvSpPr txBox="1">
              <a:spLocks noChangeArrowheads="1"/>
            </p:cNvSpPr>
            <p:nvPr/>
          </p:nvSpPr>
          <p:spPr bwMode="auto">
            <a:xfrm>
              <a:off x="1691656" y="2708920"/>
              <a:ext cx="36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 smtClean="0">
                  <a:solidFill>
                    <a:schemeClr val="tx1"/>
                  </a:solidFill>
                </a:rPr>
                <a:t>Zero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64" name="直接箭头连接符 163"/>
            <p:cNvCxnSpPr/>
            <p:nvPr/>
          </p:nvCxnSpPr>
          <p:spPr bwMode="auto">
            <a:xfrm flipH="1" flipV="1">
              <a:off x="1331536" y="2780928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5" name="直接箭头连接符 164"/>
            <p:cNvCxnSpPr/>
            <p:nvPr/>
          </p:nvCxnSpPr>
          <p:spPr bwMode="auto">
            <a:xfrm flipH="1" flipV="1">
              <a:off x="2915648" y="3429000"/>
              <a:ext cx="216000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6" name="直接箭头连接符 165"/>
            <p:cNvCxnSpPr/>
            <p:nvPr/>
          </p:nvCxnSpPr>
          <p:spPr bwMode="auto">
            <a:xfrm flipH="1" flipV="1">
              <a:off x="4067800" y="3067348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7" name="直接箭头连接符 155"/>
            <p:cNvCxnSpPr/>
            <p:nvPr/>
          </p:nvCxnSpPr>
          <p:spPr bwMode="auto">
            <a:xfrm flipV="1">
              <a:off x="2987824" y="2855154"/>
              <a:ext cx="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8" name="直接箭头连接符 155"/>
            <p:cNvCxnSpPr/>
            <p:nvPr/>
          </p:nvCxnSpPr>
          <p:spPr bwMode="auto">
            <a:xfrm flipH="1">
              <a:off x="2988032" y="2852936"/>
              <a:ext cx="172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9" name="Text Box 408"/>
            <p:cNvSpPr txBox="1">
              <a:spLocks noChangeArrowheads="1"/>
            </p:cNvSpPr>
            <p:nvPr/>
          </p:nvSpPr>
          <p:spPr bwMode="auto">
            <a:xfrm>
              <a:off x="4716080" y="2132888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2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70" name="直接箭头连接符 169"/>
            <p:cNvCxnSpPr/>
            <p:nvPr/>
          </p:nvCxnSpPr>
          <p:spPr bwMode="auto">
            <a:xfrm flipH="1" flipV="1">
              <a:off x="3222024" y="2495106"/>
              <a:ext cx="149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1" name="Text Box 408"/>
            <p:cNvSpPr txBox="1">
              <a:spLocks noChangeArrowheads="1"/>
            </p:cNvSpPr>
            <p:nvPr/>
          </p:nvSpPr>
          <p:spPr bwMode="auto">
            <a:xfrm>
              <a:off x="4716136" y="2384904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3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72" name="Text Box 408"/>
            <p:cNvSpPr txBox="1">
              <a:spLocks noChangeArrowheads="1"/>
            </p:cNvSpPr>
            <p:nvPr/>
          </p:nvSpPr>
          <p:spPr bwMode="auto">
            <a:xfrm>
              <a:off x="4716080" y="2852960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6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73" name="直接箭头连接符 172"/>
            <p:cNvCxnSpPr/>
            <p:nvPr/>
          </p:nvCxnSpPr>
          <p:spPr bwMode="auto">
            <a:xfrm flipH="1">
              <a:off x="4067800" y="3140936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74" name="直接箭头连接符 173"/>
            <p:cNvCxnSpPr/>
            <p:nvPr/>
          </p:nvCxnSpPr>
          <p:spPr bwMode="auto">
            <a:xfrm>
              <a:off x="1331640" y="3500969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75" name="直接箭头连接符 174"/>
            <p:cNvCxnSpPr/>
            <p:nvPr/>
          </p:nvCxnSpPr>
          <p:spPr bwMode="auto">
            <a:xfrm flipH="1">
              <a:off x="1331640" y="3645024"/>
              <a:ext cx="1728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6" name="直接箭头连接符 155"/>
            <p:cNvCxnSpPr/>
            <p:nvPr/>
          </p:nvCxnSpPr>
          <p:spPr bwMode="auto">
            <a:xfrm flipV="1">
              <a:off x="2915648" y="3501008"/>
              <a:ext cx="14408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cxnSp>
          <p:nvCxnSpPr>
            <p:cNvPr id="177" name="直接箭头连接符 155"/>
            <p:cNvCxnSpPr/>
            <p:nvPr/>
          </p:nvCxnSpPr>
          <p:spPr bwMode="auto">
            <a:xfrm>
              <a:off x="3059664" y="3501008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8" name="直接箭头连接符 155"/>
            <p:cNvCxnSpPr/>
            <p:nvPr/>
          </p:nvCxnSpPr>
          <p:spPr bwMode="auto">
            <a:xfrm>
              <a:off x="3203848" y="3140944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55"/>
            <p:cNvCxnSpPr/>
            <p:nvPr/>
          </p:nvCxnSpPr>
          <p:spPr bwMode="auto">
            <a:xfrm flipH="1">
              <a:off x="3203920" y="3140968"/>
              <a:ext cx="1438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cxnSp>
          <p:nvCxnSpPr>
            <p:cNvPr id="180" name="直接箭头连接符 155"/>
            <p:cNvCxnSpPr/>
            <p:nvPr/>
          </p:nvCxnSpPr>
          <p:spPr bwMode="auto">
            <a:xfrm>
              <a:off x="4283824" y="2999146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55"/>
            <p:cNvCxnSpPr/>
            <p:nvPr/>
          </p:nvCxnSpPr>
          <p:spPr bwMode="auto">
            <a:xfrm flipV="1">
              <a:off x="4283824" y="2999138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2" name="Text Box 408"/>
            <p:cNvSpPr txBox="1">
              <a:spLocks noChangeArrowheads="1"/>
            </p:cNvSpPr>
            <p:nvPr/>
          </p:nvSpPr>
          <p:spPr bwMode="auto">
            <a:xfrm>
              <a:off x="4716080" y="3071178"/>
              <a:ext cx="360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3" name="Text Box 408"/>
            <p:cNvSpPr txBox="1">
              <a:spLocks noChangeArrowheads="1"/>
            </p:cNvSpPr>
            <p:nvPr/>
          </p:nvSpPr>
          <p:spPr bwMode="auto">
            <a:xfrm>
              <a:off x="971576" y="3357032"/>
              <a:ext cx="360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 bwMode="auto">
            <a:xfrm flipH="1">
              <a:off x="3060016" y="2639114"/>
              <a:ext cx="165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5" name="Text Box 408"/>
            <p:cNvSpPr txBox="1">
              <a:spLocks noChangeArrowheads="1"/>
            </p:cNvSpPr>
            <p:nvPr/>
          </p:nvSpPr>
          <p:spPr bwMode="auto">
            <a:xfrm>
              <a:off x="4716096" y="256713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86" name="Text Box 297"/>
            <p:cNvSpPr txBox="1">
              <a:spLocks noChangeArrowheads="1"/>
            </p:cNvSpPr>
            <p:nvPr/>
          </p:nvSpPr>
          <p:spPr bwMode="auto">
            <a:xfrm>
              <a:off x="1871696" y="224088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R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Text Box 297"/>
            <p:cNvSpPr txBox="1">
              <a:spLocks noChangeArrowheads="1"/>
            </p:cNvSpPr>
            <p:nvPr/>
          </p:nvSpPr>
          <p:spPr bwMode="auto">
            <a:xfrm>
              <a:off x="2915816" y="224088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 Box 297"/>
            <p:cNvSpPr txBox="1">
              <a:spLocks noChangeArrowheads="1"/>
            </p:cNvSpPr>
            <p:nvPr/>
          </p:nvSpPr>
          <p:spPr bwMode="auto">
            <a:xfrm>
              <a:off x="2555776" y="2816952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F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89" name="直接箭头连接符 188"/>
            <p:cNvCxnSpPr/>
            <p:nvPr/>
          </p:nvCxnSpPr>
          <p:spPr bwMode="auto">
            <a:xfrm>
              <a:off x="2555752" y="2711130"/>
              <a:ext cx="0" cy="64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0" name="直接箭头连接符 51"/>
            <p:cNvCxnSpPr/>
            <p:nvPr/>
          </p:nvCxnSpPr>
          <p:spPr bwMode="auto">
            <a:xfrm flipV="1">
              <a:off x="4427840" y="1844824"/>
              <a:ext cx="0" cy="187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3923784" y="278310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2" name="直接箭头连接符 51"/>
            <p:cNvCxnSpPr/>
            <p:nvPr/>
          </p:nvCxnSpPr>
          <p:spPr bwMode="auto">
            <a:xfrm flipH="1" flipV="1">
              <a:off x="3923832" y="2780928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 bwMode="auto">
            <a:xfrm>
              <a:off x="3635752" y="278310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4" name="Text Box 297"/>
            <p:cNvSpPr txBox="1">
              <a:spLocks noChangeArrowheads="1"/>
            </p:cNvSpPr>
            <p:nvPr/>
          </p:nvSpPr>
          <p:spPr bwMode="auto">
            <a:xfrm>
              <a:off x="1727680" y="332100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Y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Text Box 268"/>
            <p:cNvSpPr txBox="1">
              <a:spLocks noChangeArrowheads="1"/>
            </p:cNvSpPr>
            <p:nvPr/>
          </p:nvSpPr>
          <p:spPr bwMode="auto">
            <a:xfrm>
              <a:off x="1691704" y="3140968"/>
              <a:ext cx="43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96" name="直接箭头连接符 51"/>
            <p:cNvCxnSpPr/>
            <p:nvPr/>
          </p:nvCxnSpPr>
          <p:spPr bwMode="auto">
            <a:xfrm>
              <a:off x="2555992" y="3717032"/>
              <a:ext cx="187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97" name="直接箭头连接符 51"/>
            <p:cNvCxnSpPr/>
            <p:nvPr/>
          </p:nvCxnSpPr>
          <p:spPr bwMode="auto">
            <a:xfrm>
              <a:off x="2051632" y="299695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198" name="直接箭头连接符 103"/>
            <p:cNvCxnSpPr/>
            <p:nvPr/>
          </p:nvCxnSpPr>
          <p:spPr bwMode="auto">
            <a:xfrm>
              <a:off x="1907704" y="3321048"/>
              <a:ext cx="0" cy="54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箭头连接符 198"/>
            <p:cNvCxnSpPr/>
            <p:nvPr/>
          </p:nvCxnSpPr>
          <p:spPr bwMode="auto">
            <a:xfrm flipH="1" flipV="1">
              <a:off x="2123704" y="3212976"/>
              <a:ext cx="864000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0" name="直接箭头连接符 155"/>
            <p:cNvCxnSpPr/>
            <p:nvPr/>
          </p:nvCxnSpPr>
          <p:spPr bwMode="auto">
            <a:xfrm flipV="1">
              <a:off x="3131840" y="2924944"/>
              <a:ext cx="0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155"/>
            <p:cNvCxnSpPr/>
            <p:nvPr/>
          </p:nvCxnSpPr>
          <p:spPr bwMode="auto">
            <a:xfrm flipH="1">
              <a:off x="3132024" y="2924944"/>
              <a:ext cx="158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51"/>
            <p:cNvCxnSpPr/>
            <p:nvPr/>
          </p:nvCxnSpPr>
          <p:spPr bwMode="auto">
            <a:xfrm flipH="1" flipV="1">
              <a:off x="3059832" y="1484784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05" name="直接箭头连接符 51"/>
            <p:cNvCxnSpPr/>
            <p:nvPr/>
          </p:nvCxnSpPr>
          <p:spPr bwMode="auto">
            <a:xfrm flipH="1" flipV="1">
              <a:off x="2267904" y="1412776"/>
              <a:ext cx="129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 flipH="1">
              <a:off x="4499824" y="141277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 flipH="1">
              <a:off x="4499992" y="155679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09" name="Text Box 408"/>
            <p:cNvSpPr txBox="1">
              <a:spLocks noChangeArrowheads="1"/>
            </p:cNvSpPr>
            <p:nvPr/>
          </p:nvSpPr>
          <p:spPr bwMode="auto">
            <a:xfrm>
              <a:off x="4716016" y="1340768"/>
              <a:ext cx="14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274" name="直接箭头连接符 103"/>
            <p:cNvCxnSpPr/>
            <p:nvPr/>
          </p:nvCxnSpPr>
          <p:spPr bwMode="auto">
            <a:xfrm>
              <a:off x="1763664" y="299695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5" name="直接箭头连接符 51"/>
            <p:cNvCxnSpPr/>
            <p:nvPr/>
          </p:nvCxnSpPr>
          <p:spPr bwMode="auto">
            <a:xfrm>
              <a:off x="1547640" y="2996952"/>
              <a:ext cx="21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76" name="直接箭头连接符 51"/>
            <p:cNvCxnSpPr/>
            <p:nvPr/>
          </p:nvCxnSpPr>
          <p:spPr bwMode="auto">
            <a:xfrm>
              <a:off x="1547664" y="1952992"/>
              <a:ext cx="0" cy="10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77" name="直接箭头连接符 51"/>
            <p:cNvCxnSpPr/>
            <p:nvPr/>
          </p:nvCxnSpPr>
          <p:spPr bwMode="auto">
            <a:xfrm flipH="1" flipV="1">
              <a:off x="1547664" y="1952680"/>
              <a:ext cx="72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sp>
          <p:nvSpPr>
            <p:cNvPr id="278" name="Text Box 408"/>
            <p:cNvSpPr txBox="1">
              <a:spLocks noChangeArrowheads="1"/>
            </p:cNvSpPr>
            <p:nvPr/>
          </p:nvSpPr>
          <p:spPr bwMode="auto">
            <a:xfrm>
              <a:off x="539552" y="2492928"/>
              <a:ext cx="792064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S/Z/C/V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6" name="AutoShape 29"/>
          <p:cNvSpPr/>
          <p:nvPr>
            <p:custDataLst>
              <p:tags r:id="rId1"/>
            </p:custDataLst>
          </p:nvPr>
        </p:nvSpPr>
        <p:spPr bwMode="auto">
          <a:xfrm>
            <a:off x="7596000" y="5616000"/>
            <a:ext cx="1440000" cy="252000"/>
          </a:xfrm>
          <a:prstGeom prst="borderCallout2">
            <a:avLst>
              <a:gd name="adj1" fmla="val 48461"/>
              <a:gd name="adj2" fmla="val -1147"/>
              <a:gd name="adj3" fmla="val 45437"/>
              <a:gd name="adj4" fmla="val -16449"/>
              <a:gd name="adj5" fmla="val 152278"/>
              <a:gd name="adj6" fmla="val -243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有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无符号乘法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bldLvl="0" animBg="1"/>
      <p:bldP spid="6" grpId="0" bldLvl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4932040" y="2033424"/>
          <a:ext cx="4032448" cy="2043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/>
                <a:gridCol w="432048"/>
                <a:gridCol w="432048"/>
                <a:gridCol w="504056"/>
                <a:gridCol w="504056"/>
                <a:gridCol w="432048"/>
                <a:gridCol w="432048"/>
                <a:gridCol w="432048"/>
                <a:gridCol w="432048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C#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C#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Vu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" name="Text Box 199"/>
          <p:cNvSpPr txBox="1">
            <a:spLocks noChangeArrowheads="1"/>
          </p:cNvSpPr>
          <p:nvPr/>
        </p:nvSpPr>
        <p:spPr bwMode="auto">
          <a:xfrm>
            <a:off x="179511" y="332656"/>
            <a:ext cx="4824561" cy="44396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、运算器的部件互连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*部件的引脚连接：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以</a:t>
            </a:r>
            <a:r>
              <a:rPr lang="en-US" altLang="zh-CN" sz="1800" dirty="0" smtClean="0">
                <a:solidFill>
                  <a:schemeClr val="tx1"/>
                </a:solidFill>
              </a:rPr>
              <a:t>29C101</a:t>
            </a:r>
            <a:r>
              <a:rPr lang="zh-CN" altLang="en-US" sz="1800" dirty="0" smtClean="0">
                <a:solidFill>
                  <a:schemeClr val="tx1"/>
                </a:solidFill>
              </a:rPr>
              <a:t>为例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连接</a:t>
            </a:r>
            <a:r>
              <a:rPr lang="zh-CN" altLang="en-US" dirty="0" smtClean="0">
                <a:solidFill>
                  <a:schemeClr val="accent2"/>
                </a:solidFill>
              </a:rPr>
              <a:t>需求示例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基于指令功能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chemeClr val="accent2"/>
                </a:solidFill>
              </a:rPr>
              <a:t>    连接</a:t>
            </a:r>
            <a:r>
              <a:rPr lang="zh-CN" altLang="en-US" dirty="0" smtClean="0">
                <a:solidFill>
                  <a:schemeClr val="accent2"/>
                </a:solidFill>
              </a:rPr>
              <a:t>电路示例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68" name="AutoShape 2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AutoShape 4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2483768" y="4731320"/>
          <a:ext cx="1008112" cy="12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504056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zh-CN" sz="1600" b="1" kern="1200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3635896" y="4731320"/>
          <a:ext cx="2376264" cy="96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504056"/>
                <a:gridCol w="360040"/>
                <a:gridCol w="504056"/>
                <a:gridCol w="504056"/>
              </a:tblGrid>
              <a:tr h="126014"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左移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右移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014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n-1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2601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01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6228184" y="4725144"/>
          <a:ext cx="2376264" cy="144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432048"/>
                <a:gridCol w="432048"/>
                <a:gridCol w="504056"/>
                <a:gridCol w="504056"/>
              </a:tblGrid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ZF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C#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Vu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8" name="Text Box 1015"/>
          <p:cNvSpPr txBox="1">
            <a:spLocks noChangeArrowheads="1"/>
          </p:cNvSpPr>
          <p:nvPr/>
        </p:nvSpPr>
        <p:spPr bwMode="auto">
          <a:xfrm>
            <a:off x="3042817" y="4149080"/>
            <a:ext cx="5489623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用电路实现数据源，用选择器连接引脚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25" name="表格 124"/>
          <p:cNvGraphicFramePr>
            <a:graphicFrameLocks noGrp="1"/>
          </p:cNvGraphicFramePr>
          <p:nvPr/>
        </p:nvGraphicFramePr>
        <p:xfrm>
          <a:off x="539552" y="1772816"/>
          <a:ext cx="4392488" cy="229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1584176"/>
                <a:gridCol w="1872208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助记符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指令功能例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指令保存的标志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加法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运算产生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减法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带进位加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带借位减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异或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Rd⊕Rs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CF/OF=0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，其余产生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无符号乘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Rs,Rd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latin typeface="+mn-ea"/>
                          <a:ea typeface="+mn-ea"/>
                        </a:rPr>
                        <a:t>产生</a:t>
                      </a:r>
                      <a:r>
                        <a:rPr lang="en-US" altLang="zh-CN" sz="1600" b="1" dirty="0" smtClean="0"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600" b="1" dirty="0" smtClean="0">
                          <a:latin typeface="+mn-ea"/>
                          <a:ea typeface="+mn-ea"/>
                        </a:rPr>
                        <a:t>，其余任意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latin typeface="+mn-ea"/>
                          <a:ea typeface="+mn-ea"/>
                        </a:rPr>
                        <a:t>有符号乘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Rs,Rd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latin typeface="+mn-ea"/>
                          <a:ea typeface="+mn-ea"/>
                        </a:rPr>
                        <a:t>无符号除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Rs,Rd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Rd/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latin typeface="+mn-ea"/>
                          <a:ea typeface="+mn-ea"/>
                        </a:rPr>
                        <a:t>均任意</a:t>
                      </a:r>
                      <a:endParaRPr lang="zh-CN" altLang="en-US" sz="1600" b="1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6" name="Text Box 1015"/>
          <p:cNvSpPr txBox="1">
            <a:spLocks noChangeArrowheads="1"/>
          </p:cNvSpPr>
          <p:nvPr/>
        </p:nvSpPr>
        <p:spPr bwMode="auto">
          <a:xfrm>
            <a:off x="251736" y="4725240"/>
            <a:ext cx="1944000" cy="86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思考：</a:t>
            </a:r>
            <a:r>
              <a:rPr lang="zh-CN" altLang="en-US" sz="1800" dirty="0" smtClean="0">
                <a:solidFill>
                  <a:schemeClr val="tx1"/>
                </a:solidFill>
              </a:rPr>
              <a:t>为何左移及右移连接的控制信号可相同？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5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4932040" y="1772816"/>
          <a:ext cx="4032448" cy="229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/>
                <a:gridCol w="432048"/>
                <a:gridCol w="432048"/>
                <a:gridCol w="504056"/>
                <a:gridCol w="504056"/>
                <a:gridCol w="432048"/>
                <a:gridCol w="432048"/>
                <a:gridCol w="432048"/>
                <a:gridCol w="432048"/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600" b="1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n-1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92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32040" y="476672"/>
            <a:ext cx="3960440" cy="1152128"/>
            <a:chOff x="4932040" y="476672"/>
            <a:chExt cx="3960440" cy="1152128"/>
          </a:xfrm>
        </p:grpSpPr>
        <p:sp>
          <p:nvSpPr>
            <p:cNvPr id="52" name="Text Box 253"/>
            <p:cNvSpPr txBox="1">
              <a:spLocks noChangeArrowheads="1"/>
            </p:cNvSpPr>
            <p:nvPr/>
          </p:nvSpPr>
          <p:spPr bwMode="auto">
            <a:xfrm>
              <a:off x="4932040" y="690947"/>
              <a:ext cx="504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PSR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接箭头连接符 54"/>
            <p:cNvCxnSpPr/>
            <p:nvPr/>
          </p:nvCxnSpPr>
          <p:spPr bwMode="auto">
            <a:xfrm>
              <a:off x="6938799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57" name="Text Box 253"/>
            <p:cNvSpPr txBox="1">
              <a:spLocks noChangeArrowheads="1"/>
            </p:cNvSpPr>
            <p:nvPr/>
          </p:nvSpPr>
          <p:spPr bwMode="auto">
            <a:xfrm>
              <a:off x="6660176" y="764792"/>
              <a:ext cx="792000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运算器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29C101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直接箭头连接符 57"/>
            <p:cNvCxnSpPr/>
            <p:nvPr/>
          </p:nvCxnSpPr>
          <p:spPr bwMode="auto">
            <a:xfrm flipH="1">
              <a:off x="7442863" y="834955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9" name="Text Box 254"/>
            <p:cNvSpPr txBox="1">
              <a:spLocks noChangeArrowheads="1"/>
            </p:cNvSpPr>
            <p:nvPr/>
          </p:nvSpPr>
          <p:spPr bwMode="auto">
            <a:xfrm>
              <a:off x="7658863" y="690979"/>
              <a:ext cx="86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Text Box 254"/>
            <p:cNvSpPr txBox="1">
              <a:spLocks noChangeArrowheads="1"/>
            </p:cNvSpPr>
            <p:nvPr/>
          </p:nvSpPr>
          <p:spPr bwMode="auto">
            <a:xfrm>
              <a:off x="7658927" y="1052736"/>
              <a:ext cx="1008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1" name="Text Box 254"/>
            <p:cNvSpPr txBox="1">
              <a:spLocks noChangeArrowheads="1"/>
            </p:cNvSpPr>
            <p:nvPr/>
          </p:nvSpPr>
          <p:spPr bwMode="auto">
            <a:xfrm>
              <a:off x="5724072" y="690947"/>
              <a:ext cx="72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源选择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2" name="Text Box 254"/>
            <p:cNvSpPr txBox="1">
              <a:spLocks noChangeArrowheads="1"/>
            </p:cNvSpPr>
            <p:nvPr/>
          </p:nvSpPr>
          <p:spPr bwMode="auto">
            <a:xfrm>
              <a:off x="5220208" y="1050987"/>
              <a:ext cx="122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63" name="直接箭头连接符 62"/>
            <p:cNvCxnSpPr/>
            <p:nvPr/>
          </p:nvCxnSpPr>
          <p:spPr bwMode="auto">
            <a:xfrm flipH="1">
              <a:off x="6444144" y="834963"/>
              <a:ext cx="216000" cy="8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>
              <a:off x="6444144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>
              <a:off x="7442799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 flipH="1" flipV="1">
              <a:off x="5436040" y="834963"/>
              <a:ext cx="288000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V="1">
              <a:off x="6866311" y="1268760"/>
              <a:ext cx="424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箭头连接符 68"/>
            <p:cNvCxnSpPr/>
            <p:nvPr/>
          </p:nvCxnSpPr>
          <p:spPr bwMode="auto">
            <a:xfrm flipV="1">
              <a:off x="7226351" y="1268760"/>
              <a:ext cx="424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7154823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V="1">
              <a:off x="8018935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6" name="Text Box 408"/>
            <p:cNvSpPr txBox="1">
              <a:spLocks noChangeArrowheads="1"/>
            </p:cNvSpPr>
            <p:nvPr/>
          </p:nvSpPr>
          <p:spPr bwMode="auto">
            <a:xfrm>
              <a:off x="8090943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dirty="0" smtClean="0">
                <a:solidFill>
                  <a:srgbClr val="FF3399"/>
                </a:solidFill>
              </a:endParaRPr>
            </a:p>
          </p:txBody>
        </p:sp>
        <p:cxnSp>
          <p:nvCxnSpPr>
            <p:cNvPr id="107" name="直接箭头连接符 106"/>
            <p:cNvCxnSpPr/>
            <p:nvPr/>
          </p:nvCxnSpPr>
          <p:spPr bwMode="auto">
            <a:xfrm flipV="1">
              <a:off x="6011640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8" name="Text Box 408"/>
            <p:cNvSpPr txBox="1">
              <a:spLocks noChangeArrowheads="1"/>
            </p:cNvSpPr>
            <p:nvPr/>
          </p:nvSpPr>
          <p:spPr bwMode="auto">
            <a:xfrm>
              <a:off x="6084112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 bwMode="auto">
            <a:xfrm>
              <a:off x="8018935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0" name="Text Box 408"/>
            <p:cNvSpPr txBox="1">
              <a:spLocks noChangeArrowheads="1"/>
            </p:cNvSpPr>
            <p:nvPr/>
          </p:nvSpPr>
          <p:spPr bwMode="auto">
            <a:xfrm>
              <a:off x="8090943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SCI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1" name="直接箭头连接符 110"/>
            <p:cNvCxnSpPr/>
            <p:nvPr/>
          </p:nvCxnSpPr>
          <p:spPr bwMode="auto">
            <a:xfrm>
              <a:off x="6155328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2" name="Text Box 408"/>
            <p:cNvSpPr txBox="1">
              <a:spLocks noChangeArrowheads="1"/>
            </p:cNvSpPr>
            <p:nvPr/>
          </p:nvSpPr>
          <p:spPr bwMode="auto">
            <a:xfrm>
              <a:off x="6228224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SFS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 bwMode="auto">
            <a:xfrm flipH="1">
              <a:off x="8523015" y="836712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4" name="直接箭头连接符 113"/>
            <p:cNvCxnSpPr/>
            <p:nvPr/>
          </p:nvCxnSpPr>
          <p:spPr bwMode="auto">
            <a:xfrm flipH="1">
              <a:off x="8676480" y="1124744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5004072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6" name="Text Box 408"/>
            <p:cNvSpPr txBox="1">
              <a:spLocks noChangeArrowheads="1"/>
            </p:cNvSpPr>
            <p:nvPr/>
          </p:nvSpPr>
          <p:spPr bwMode="auto">
            <a:xfrm>
              <a:off x="6794783" y="476704"/>
              <a:ext cx="50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 Box 408"/>
            <p:cNvSpPr txBox="1">
              <a:spLocks noChangeArrowheads="1"/>
            </p:cNvSpPr>
            <p:nvPr/>
          </p:nvSpPr>
          <p:spPr bwMode="auto">
            <a:xfrm>
              <a:off x="6794807" y="1484800"/>
              <a:ext cx="72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D 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19" name="直接箭头连接符 118"/>
            <p:cNvCxnSpPr/>
            <p:nvPr/>
          </p:nvCxnSpPr>
          <p:spPr bwMode="auto">
            <a:xfrm>
              <a:off x="6012160" y="476704"/>
              <a:ext cx="0" cy="215992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 flipH="1">
              <a:off x="8676480" y="1268760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箭头连接符 120"/>
            <p:cNvCxnSpPr/>
            <p:nvPr/>
          </p:nvCxnSpPr>
          <p:spPr bwMode="auto">
            <a:xfrm>
              <a:off x="5004072" y="126876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>
              <a:off x="6444208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flipH="1">
              <a:off x="7452320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5868144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 flipV="1">
              <a:off x="5184040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箭头连接符 71"/>
            <p:cNvCxnSpPr/>
            <p:nvPr/>
          </p:nvCxnSpPr>
          <p:spPr bwMode="auto">
            <a:xfrm>
              <a:off x="5184040" y="548696"/>
              <a:ext cx="684104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>
              <a:off x="5004048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99" name="Text Box 199"/>
          <p:cNvSpPr txBox="1">
            <a:spLocks noChangeArrowheads="1"/>
          </p:cNvSpPr>
          <p:nvPr/>
        </p:nvSpPr>
        <p:spPr bwMode="auto">
          <a:xfrm>
            <a:off x="179512" y="332656"/>
            <a:ext cx="4536504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rgbClr val="990099"/>
                </a:solidFill>
              </a:rPr>
              <a:t>     例</a:t>
            </a:r>
            <a:r>
              <a:rPr lang="en-US" altLang="zh-CN" dirty="0" smtClean="0">
                <a:solidFill>
                  <a:srgbClr val="990099"/>
                </a:solidFill>
              </a:rPr>
              <a:t>4</a:t>
            </a:r>
            <a:r>
              <a:rPr lang="zh-CN" altLang="en-US" dirty="0" smtClean="0">
                <a:solidFill>
                  <a:srgbClr val="990099"/>
                </a:solidFill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</a:rPr>
              <a:t>29C101</a:t>
            </a:r>
            <a:r>
              <a:rPr lang="zh-CN" altLang="en-US" dirty="0" smtClean="0">
                <a:solidFill>
                  <a:schemeClr val="tx1"/>
                </a:solidFill>
              </a:rPr>
              <a:t>引脚连接的</a:t>
            </a:r>
            <a:r>
              <a:rPr lang="zh-CN" altLang="en-US" dirty="0">
                <a:solidFill>
                  <a:schemeClr val="tx1"/>
                </a:solidFill>
              </a:rPr>
              <a:t>控制</a:t>
            </a:r>
            <a:r>
              <a:rPr lang="zh-CN" altLang="en-US" dirty="0" smtClean="0">
                <a:solidFill>
                  <a:schemeClr val="tx1"/>
                </a:solidFill>
              </a:rPr>
              <a:t>逻辑如下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同上页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，写出实现表中指令功能的控制信号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aphicFrame>
        <p:nvGraphicFramePr>
          <p:cNvPr id="100" name="表格 99"/>
          <p:cNvGraphicFramePr>
            <a:graphicFrameLocks noGrp="1"/>
          </p:cNvGraphicFramePr>
          <p:nvPr/>
        </p:nvGraphicFramePr>
        <p:xfrm>
          <a:off x="899592" y="4653136"/>
          <a:ext cx="7848872" cy="108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/>
                <a:gridCol w="648072"/>
                <a:gridCol w="679303"/>
                <a:gridCol w="544833"/>
                <a:gridCol w="648072"/>
                <a:gridCol w="648072"/>
                <a:gridCol w="648072"/>
                <a:gridCol w="576064"/>
                <a:gridCol w="504056"/>
              </a:tblGrid>
              <a:tr h="3600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指令            控制信号</a:t>
                      </a:r>
                      <a:endParaRPr lang="zh-CN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en-US" altLang="zh-CN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SSH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R2-R1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Z/C/V/S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⊕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Z/0/0/S</a:t>
                      </a: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表格 100"/>
          <p:cNvGraphicFramePr>
            <a:graphicFrameLocks noGrp="1"/>
          </p:cNvGraphicFramePr>
          <p:nvPr/>
        </p:nvGraphicFramePr>
        <p:xfrm>
          <a:off x="1043608" y="1844824"/>
          <a:ext cx="3496104" cy="21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759800"/>
                <a:gridCol w="504056"/>
                <a:gridCol w="432048"/>
                <a:gridCol w="97400"/>
                <a:gridCol w="550672"/>
                <a:gridCol w="97400"/>
                <a:gridCol w="262640"/>
                <a:gridCol w="288032"/>
              </a:tblGrid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 marL="36000" marR="36000" marT="18000" marB="18000"/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GPR[b]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ALU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R+S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S-R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R-S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⊙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7" name="Text Box 408"/>
          <p:cNvSpPr txBox="1">
            <a:spLocks noChangeArrowheads="1"/>
          </p:cNvSpPr>
          <p:nvPr/>
        </p:nvSpPr>
        <p:spPr bwMode="auto">
          <a:xfrm>
            <a:off x="3851920" y="5013176"/>
            <a:ext cx="4896544" cy="72008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4000" tIns="10800" rIns="18000" bIns="10800" anchor="t" anchorCtr="0"/>
          <a:lstStyle/>
          <a:p>
            <a:r>
              <a:rPr lang="en-US" altLang="zh-CN" sz="1800" dirty="0" smtClean="0">
                <a:solidFill>
                  <a:schemeClr val="tx1"/>
                </a:solidFill>
              </a:rPr>
              <a:t>0010  0001  001  011  001   001   01   /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1800" dirty="0" smtClean="0">
                <a:solidFill>
                  <a:schemeClr val="tx1"/>
                </a:solidFill>
              </a:rPr>
              <a:t>0010  0001  010  </a:t>
            </a:r>
            <a:r>
              <a:rPr lang="en-US" altLang="zh-CN" sz="1800" dirty="0">
                <a:solidFill>
                  <a:schemeClr val="tx1"/>
                </a:solidFill>
              </a:rPr>
              <a:t>011  </a:t>
            </a:r>
            <a:r>
              <a:rPr lang="en-US" altLang="zh-CN" sz="1800" dirty="0" smtClean="0">
                <a:solidFill>
                  <a:schemeClr val="tx1"/>
                </a:solidFill>
              </a:rPr>
              <a:t>110   </a:t>
            </a:r>
            <a:r>
              <a:rPr lang="en-US" altLang="zh-CN" sz="1800" dirty="0">
                <a:solidFill>
                  <a:schemeClr val="tx1"/>
                </a:solidFill>
              </a:rPr>
              <a:t>001   00  </a:t>
            </a:r>
            <a:r>
              <a:rPr lang="en-US" altLang="zh-CN" sz="1800" dirty="0" smtClean="0">
                <a:solidFill>
                  <a:schemeClr val="tx1"/>
                </a:solidFill>
              </a:rPr>
              <a:t> /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12" name="AutoShape 2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788024" y="1844824"/>
          <a:ext cx="1008112" cy="12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504056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zh-CN" sz="1600" b="1" kern="1200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012160" y="1869856"/>
          <a:ext cx="2376264" cy="96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504056"/>
                <a:gridCol w="360040"/>
                <a:gridCol w="504056"/>
                <a:gridCol w="504056"/>
              </a:tblGrid>
              <a:tr h="126014"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左移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右移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014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n-1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2601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01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012160" y="2996952"/>
          <a:ext cx="2376264" cy="144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  <a:gridCol w="432048"/>
                <a:gridCol w="432048"/>
                <a:gridCol w="504056"/>
                <a:gridCol w="504056"/>
              </a:tblGrid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ZF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C#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Vu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4932040" y="476672"/>
            <a:ext cx="3960440" cy="1152128"/>
            <a:chOff x="4932040" y="476672"/>
            <a:chExt cx="3960440" cy="1152128"/>
          </a:xfrm>
        </p:grpSpPr>
        <p:sp>
          <p:nvSpPr>
            <p:cNvPr id="88" name="Text Box 253"/>
            <p:cNvSpPr txBox="1">
              <a:spLocks noChangeArrowheads="1"/>
            </p:cNvSpPr>
            <p:nvPr/>
          </p:nvSpPr>
          <p:spPr bwMode="auto">
            <a:xfrm>
              <a:off x="4932040" y="690947"/>
              <a:ext cx="504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PSR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>
              <a:off x="6938799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90" name="Text Box 253"/>
            <p:cNvSpPr txBox="1">
              <a:spLocks noChangeArrowheads="1"/>
            </p:cNvSpPr>
            <p:nvPr/>
          </p:nvSpPr>
          <p:spPr bwMode="auto">
            <a:xfrm>
              <a:off x="6660176" y="764792"/>
              <a:ext cx="792000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运算器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29C101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 flipH="1">
              <a:off x="7442863" y="834955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2" name="Text Box 254"/>
            <p:cNvSpPr txBox="1">
              <a:spLocks noChangeArrowheads="1"/>
            </p:cNvSpPr>
            <p:nvPr/>
          </p:nvSpPr>
          <p:spPr bwMode="auto">
            <a:xfrm>
              <a:off x="7658863" y="690979"/>
              <a:ext cx="86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3" name="Text Box 254"/>
            <p:cNvSpPr txBox="1">
              <a:spLocks noChangeArrowheads="1"/>
            </p:cNvSpPr>
            <p:nvPr/>
          </p:nvSpPr>
          <p:spPr bwMode="auto">
            <a:xfrm>
              <a:off x="7658927" y="1052736"/>
              <a:ext cx="1008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4" name="Text Box 254"/>
            <p:cNvSpPr txBox="1">
              <a:spLocks noChangeArrowheads="1"/>
            </p:cNvSpPr>
            <p:nvPr/>
          </p:nvSpPr>
          <p:spPr bwMode="auto">
            <a:xfrm>
              <a:off x="5724072" y="690947"/>
              <a:ext cx="72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源选择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5" name="Text Box 254"/>
            <p:cNvSpPr txBox="1">
              <a:spLocks noChangeArrowheads="1"/>
            </p:cNvSpPr>
            <p:nvPr/>
          </p:nvSpPr>
          <p:spPr bwMode="auto">
            <a:xfrm>
              <a:off x="5220208" y="1050987"/>
              <a:ext cx="122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 flipH="1">
              <a:off x="6444144" y="834963"/>
              <a:ext cx="216000" cy="8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6444144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 flipH="1">
              <a:off x="7442799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 flipH="1" flipV="1">
              <a:off x="5436040" y="834963"/>
              <a:ext cx="288000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 flipV="1">
              <a:off x="6866311" y="1268760"/>
              <a:ext cx="424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 flipV="1">
              <a:off x="7226351" y="1268760"/>
              <a:ext cx="424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7154823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8018935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8" name="Text Box 408"/>
            <p:cNvSpPr txBox="1">
              <a:spLocks noChangeArrowheads="1"/>
            </p:cNvSpPr>
            <p:nvPr/>
          </p:nvSpPr>
          <p:spPr bwMode="auto">
            <a:xfrm>
              <a:off x="8090943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dirty="0" smtClean="0">
                <a:solidFill>
                  <a:srgbClr val="FF3399"/>
                </a:solidFill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 bwMode="auto">
            <a:xfrm flipV="1">
              <a:off x="6011640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0" name="Text Box 408"/>
            <p:cNvSpPr txBox="1">
              <a:spLocks noChangeArrowheads="1"/>
            </p:cNvSpPr>
            <p:nvPr/>
          </p:nvSpPr>
          <p:spPr bwMode="auto">
            <a:xfrm>
              <a:off x="6084112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1" name="直接箭头连接符 110"/>
            <p:cNvCxnSpPr/>
            <p:nvPr/>
          </p:nvCxnSpPr>
          <p:spPr bwMode="auto">
            <a:xfrm>
              <a:off x="8018935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2" name="Text Box 408"/>
            <p:cNvSpPr txBox="1">
              <a:spLocks noChangeArrowheads="1"/>
            </p:cNvSpPr>
            <p:nvPr/>
          </p:nvSpPr>
          <p:spPr bwMode="auto">
            <a:xfrm>
              <a:off x="8090943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SCI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 bwMode="auto">
            <a:xfrm>
              <a:off x="6155328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4" name="Text Box 408"/>
            <p:cNvSpPr txBox="1">
              <a:spLocks noChangeArrowheads="1"/>
            </p:cNvSpPr>
            <p:nvPr/>
          </p:nvSpPr>
          <p:spPr bwMode="auto">
            <a:xfrm>
              <a:off x="6228224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SFS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 bwMode="auto">
            <a:xfrm flipH="1">
              <a:off x="8523015" y="836712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 flipH="1">
              <a:off x="8676480" y="1124744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5004072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8" name="Text Box 408"/>
            <p:cNvSpPr txBox="1">
              <a:spLocks noChangeArrowheads="1"/>
            </p:cNvSpPr>
            <p:nvPr/>
          </p:nvSpPr>
          <p:spPr bwMode="auto">
            <a:xfrm>
              <a:off x="6794783" y="476704"/>
              <a:ext cx="50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19" name="Text Box 408"/>
            <p:cNvSpPr txBox="1">
              <a:spLocks noChangeArrowheads="1"/>
            </p:cNvSpPr>
            <p:nvPr/>
          </p:nvSpPr>
          <p:spPr bwMode="auto">
            <a:xfrm>
              <a:off x="6794807" y="1484800"/>
              <a:ext cx="72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D 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 bwMode="auto">
            <a:xfrm>
              <a:off x="6012160" y="476704"/>
              <a:ext cx="0" cy="215992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箭头连接符 120"/>
            <p:cNvCxnSpPr/>
            <p:nvPr/>
          </p:nvCxnSpPr>
          <p:spPr bwMode="auto">
            <a:xfrm flipH="1">
              <a:off x="8676480" y="1268760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>
              <a:off x="5004072" y="126876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6444208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flipH="1">
              <a:off x="7452320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5868144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 flipV="1">
              <a:off x="5184040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5184040" y="548696"/>
              <a:ext cx="684104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 bwMode="auto">
            <a:xfrm>
              <a:off x="5004048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0"/>
          <p:cNvSpPr txBox="1">
            <a:spLocks noChangeArrowheads="1"/>
          </p:cNvSpPr>
          <p:nvPr/>
        </p:nvSpPr>
        <p:spPr bwMode="auto">
          <a:xfrm>
            <a:off x="179389" y="355458"/>
            <a:ext cx="554425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部件的互连结构：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总线结构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sp>
        <p:nvSpPr>
          <p:cNvPr id="81" name="Text Box 200"/>
          <p:cNvSpPr txBox="1">
            <a:spLocks noChangeArrowheads="1"/>
          </p:cNvSpPr>
          <p:nvPr/>
        </p:nvSpPr>
        <p:spPr bwMode="auto">
          <a:xfrm>
            <a:off x="2339752" y="829161"/>
            <a:ext cx="6624736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部件出端设置</a:t>
            </a:r>
            <a:r>
              <a:rPr lang="zh-CN" altLang="en-US" u="sng" dirty="0" smtClean="0">
                <a:solidFill>
                  <a:srgbClr val="990099"/>
                </a:solidFill>
              </a:rPr>
              <a:t>三态门</a:t>
            </a:r>
            <a:r>
              <a:rPr lang="zh-CN" altLang="en-US" dirty="0">
                <a:solidFill>
                  <a:schemeClr val="tx1"/>
                </a:solidFill>
              </a:rPr>
              <a:t>，部件</a:t>
            </a:r>
            <a:r>
              <a:rPr lang="zh-CN" altLang="en-US" dirty="0" smtClean="0">
                <a:solidFill>
                  <a:schemeClr val="tx1"/>
                </a:solidFill>
              </a:rPr>
              <a:t>入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出端设置</a:t>
            </a:r>
            <a:r>
              <a:rPr lang="zh-CN" altLang="en-US" u="sng" dirty="0" smtClean="0">
                <a:solidFill>
                  <a:srgbClr val="990099"/>
                </a:solidFill>
              </a:rPr>
              <a:t>暂存器</a:t>
            </a:r>
            <a:endParaRPr lang="en-US" altLang="zh-CN" u="sng" dirty="0" smtClean="0">
              <a:solidFill>
                <a:srgbClr val="990099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(</a:t>
            </a:r>
            <a:r>
              <a:rPr lang="zh-CN" altLang="en-US" sz="1800" dirty="0" smtClean="0">
                <a:solidFill>
                  <a:schemeClr val="tx1"/>
                </a:solidFill>
              </a:rPr>
              <a:t>避免总线上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信号冲突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避免端口间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信号干扰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8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1" name="AutoShape 62">
            <a:hlinkClick r:id="rId2" action="ppaction://hlinkpres?slideindex=18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6219459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467543" y="4520590"/>
          <a:ext cx="8496945" cy="189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5"/>
                <a:gridCol w="1944216"/>
                <a:gridCol w="360040"/>
                <a:gridCol w="360040"/>
                <a:gridCol w="432048"/>
                <a:gridCol w="504056"/>
                <a:gridCol w="360040"/>
                <a:gridCol w="504056"/>
                <a:gridCol w="360040"/>
                <a:gridCol w="576064"/>
                <a:gridCol w="576064"/>
                <a:gridCol w="648072"/>
                <a:gridCol w="576064"/>
              </a:tblGrid>
              <a:tr h="2880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实现步骤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Aout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L3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L4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Sout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RegWr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Rout</a:t>
                      </a: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9373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R0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⊕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7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7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211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R3&gt;&gt;</a:t>
                      </a:r>
                      <a:r>
                        <a:rPr lang="en-US" altLang="zh-CN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R4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211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211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6" name="Text Box 286"/>
          <p:cNvSpPr txBox="1">
            <a:spLocks noChangeArrowheads="1"/>
          </p:cNvSpPr>
          <p:nvPr/>
        </p:nvSpPr>
        <p:spPr bwMode="auto">
          <a:xfrm>
            <a:off x="1763689" y="4797152"/>
            <a:ext cx="7128792" cy="158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36000" tIns="10800" rIns="18000" bIns="10800" anchor="t" anchorCtr="0"/>
          <a:lstStyle/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⑴取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R0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→暂存器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*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endParaRPr lang="en-US" altLang="zh-CN" sz="1800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⑵取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→暂存器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0  </a:t>
            </a:r>
            <a:r>
              <a:rPr lang="en-US" altLang="zh-CN" sz="1800" dirty="0" smtClean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 smtClean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endParaRPr lang="en-US" altLang="zh-CN" sz="1800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⑶运算、结果→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R2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0  0  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</a:rPr>
              <a:t>11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en-US" altLang="zh-CN" sz="14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 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endParaRPr lang="en-US" altLang="zh-CN" sz="1800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⑴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取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R3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→暂存器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endParaRPr lang="en-US" altLang="zh-CN" sz="1800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⑵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取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R4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、运算    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</a:rPr>
              <a:t>10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endParaRPr lang="en-US" altLang="zh-CN" sz="1800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7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⑶结果→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R5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1800" spc="3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 </a:t>
            </a:r>
            <a:r>
              <a:rPr lang="en-US" altLang="zh-CN" sz="1800" dirty="0" smtClean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endParaRPr lang="zh-CN" altLang="en-US" sz="1800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117" name="Text Box 200"/>
          <p:cNvSpPr txBox="1">
            <a:spLocks noChangeArrowheads="1"/>
          </p:cNvSpPr>
          <p:nvPr/>
        </p:nvSpPr>
        <p:spPr bwMode="auto">
          <a:xfrm>
            <a:off x="179389" y="4005064"/>
            <a:ext cx="8785099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rgbClr val="990099"/>
                </a:solidFill>
              </a:rPr>
              <a:t>       例</a:t>
            </a:r>
            <a:r>
              <a:rPr lang="en-US" altLang="zh-CN" sz="2200" dirty="0" smtClean="0">
                <a:solidFill>
                  <a:srgbClr val="990099"/>
                </a:solidFill>
              </a:rPr>
              <a:t>5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</a:rPr>
              <a:t>基于上述互连通路，给出</a:t>
            </a:r>
            <a:r>
              <a:rPr lang="zh-CN" altLang="en-US" sz="2200" dirty="0" smtClean="0">
                <a:solidFill>
                  <a:schemeClr val="tx1"/>
                </a:solidFill>
              </a:rPr>
              <a:t>实现下列指令功能</a:t>
            </a:r>
            <a:r>
              <a:rPr lang="zh-CN" altLang="en-US" sz="2200" dirty="0" smtClean="0">
                <a:solidFill>
                  <a:schemeClr val="tx1"/>
                </a:solidFill>
              </a:rPr>
              <a:t>的控制信号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196" name="Text Box 1015"/>
          <p:cNvSpPr txBox="1">
            <a:spLocks noChangeArrowheads="1"/>
          </p:cNvSpPr>
          <p:nvPr/>
        </p:nvSpPr>
        <p:spPr bwMode="auto">
          <a:xfrm>
            <a:off x="1331640" y="3356992"/>
            <a:ext cx="55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思考①：</a:t>
            </a:r>
            <a:r>
              <a:rPr lang="zh-CN" altLang="en-US" sz="1800" dirty="0" smtClean="0">
                <a:solidFill>
                  <a:schemeClr val="tx1"/>
                </a:solidFill>
              </a:rPr>
              <a:t>组合逻辑电路最多有几个端口的</a:t>
            </a:r>
            <a:r>
              <a:rPr lang="zh-CN" altLang="en-US" sz="1800" dirty="0" smtClean="0">
                <a:solidFill>
                  <a:schemeClr val="tx1"/>
                </a:solidFill>
              </a:rPr>
              <a:t>信号不暂存？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323" name="Text Box 1015"/>
          <p:cNvSpPr txBox="1">
            <a:spLocks noChangeArrowheads="1"/>
          </p:cNvSpPr>
          <p:nvPr/>
        </p:nvSpPr>
        <p:spPr bwMode="auto">
          <a:xfrm>
            <a:off x="6984000" y="3356992"/>
            <a:ext cx="43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1</a:t>
            </a:r>
            <a:r>
              <a:rPr lang="zh-CN" altLang="en-US" sz="1600" dirty="0" smtClean="0">
                <a:solidFill>
                  <a:schemeClr val="tx1"/>
                </a:solidFill>
              </a:rPr>
              <a:t>个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324" name="AutoShape 4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29"/>
          <p:cNvSpPr/>
          <p:nvPr/>
        </p:nvSpPr>
        <p:spPr bwMode="auto">
          <a:xfrm>
            <a:off x="6228184" y="548680"/>
            <a:ext cx="1512000" cy="252000"/>
          </a:xfrm>
          <a:prstGeom prst="borderCallout2">
            <a:avLst>
              <a:gd name="adj1" fmla="val 44980"/>
              <a:gd name="adj2" fmla="val 99105"/>
              <a:gd name="adj3" fmla="val 44634"/>
              <a:gd name="adj4" fmla="val 115050"/>
              <a:gd name="adj5" fmla="val 160385"/>
              <a:gd name="adj6" fmla="val 126863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锁存器或触发器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1187624" y="1700808"/>
            <a:ext cx="7344648" cy="1512168"/>
            <a:chOff x="1187624" y="1700808"/>
            <a:chExt cx="7344648" cy="1512168"/>
          </a:xfrm>
        </p:grpSpPr>
        <p:sp>
          <p:nvSpPr>
            <p:cNvPr id="147" name="Text Box 286"/>
            <p:cNvSpPr txBox="1">
              <a:spLocks noChangeArrowheads="1"/>
            </p:cNvSpPr>
            <p:nvPr/>
          </p:nvSpPr>
          <p:spPr bwMode="auto">
            <a:xfrm>
              <a:off x="7020272" y="1700808"/>
              <a:ext cx="1512000" cy="151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1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opA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—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1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 00/01/10/11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1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为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+/-/&amp;/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⊕</a:t>
              </a:r>
              <a:endPara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101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opS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—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1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 00/10/11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为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1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 &lt;&lt;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L</a:t>
              </a:r>
              <a:r>
                <a:rPr lang="en-US" altLang="zh-CN" sz="1600" baseline="-180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A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8" name="Text Box 256"/>
            <p:cNvSpPr txBox="1">
              <a:spLocks noChangeArrowheads="1"/>
            </p:cNvSpPr>
            <p:nvPr/>
          </p:nvSpPr>
          <p:spPr bwMode="auto">
            <a:xfrm>
              <a:off x="1187624" y="2204841"/>
              <a:ext cx="72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9" name="Text Box 256"/>
            <p:cNvSpPr txBox="1">
              <a:spLocks noChangeArrowheads="1"/>
            </p:cNvSpPr>
            <p:nvPr/>
          </p:nvSpPr>
          <p:spPr bwMode="auto">
            <a:xfrm>
              <a:off x="1979632" y="2204841"/>
              <a:ext cx="72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0" name="AutoShape 266"/>
            <p:cNvSpPr>
              <a:spLocks noChangeArrowheads="1"/>
            </p:cNvSpPr>
            <p:nvPr/>
          </p:nvSpPr>
          <p:spPr bwMode="auto">
            <a:xfrm>
              <a:off x="1403688" y="2564880"/>
              <a:ext cx="1080000" cy="288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18000" rIns="36000" bIns="18000" anchor="ctr">
              <a:noAutofit/>
            </a:bodyPr>
            <a:lstStyle/>
            <a:p>
              <a:pPr algn="ctr"/>
              <a:r>
                <a:rPr lang="en-US" altLang="zh-CN" sz="2000" dirty="0" smtClean="0">
                  <a:solidFill>
                    <a:schemeClr val="tx1"/>
                  </a:solidFill>
                </a:rPr>
                <a:t>ALU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51" name="直接箭头连接符 150"/>
            <p:cNvCxnSpPr/>
            <p:nvPr/>
          </p:nvCxnSpPr>
          <p:spPr bwMode="auto">
            <a:xfrm>
              <a:off x="1548002" y="2420841"/>
              <a:ext cx="4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/>
          </p:nvCxnSpPr>
          <p:spPr bwMode="auto">
            <a:xfrm flipH="1">
              <a:off x="2339842" y="2420841"/>
              <a:ext cx="208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2"/>
            <p:cNvCxnSpPr/>
            <p:nvPr/>
          </p:nvCxnSpPr>
          <p:spPr bwMode="auto">
            <a:xfrm>
              <a:off x="1908074" y="2852912"/>
              <a:ext cx="936000" cy="144000"/>
            </a:xfrm>
            <a:prstGeom prst="bentConnector3">
              <a:avLst>
                <a:gd name="adj1" fmla="val -825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1188304" y="1988817"/>
              <a:ext cx="5688000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>
              <a:off x="1547664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2339424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 flipV="1">
              <a:off x="2843728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8" name="Text Box 255"/>
            <p:cNvSpPr txBox="1">
              <a:spLocks noChangeArrowheads="1"/>
            </p:cNvSpPr>
            <p:nvPr/>
          </p:nvSpPr>
          <p:spPr bwMode="auto">
            <a:xfrm>
              <a:off x="5796128" y="2204840"/>
              <a:ext cx="612000" cy="64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寄存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器组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9" name="Text Box 255"/>
            <p:cNvSpPr txBox="1">
              <a:spLocks noChangeArrowheads="1"/>
            </p:cNvSpPr>
            <p:nvPr/>
          </p:nvSpPr>
          <p:spPr bwMode="auto">
            <a:xfrm>
              <a:off x="3347968" y="2564880"/>
              <a:ext cx="936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移位器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60" name="等腰三角形 159"/>
            <p:cNvSpPr/>
            <p:nvPr/>
          </p:nvSpPr>
          <p:spPr bwMode="auto">
            <a:xfrm>
              <a:off x="2771720" y="2204841"/>
              <a:ext cx="144000" cy="216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1" name="直接箭头连接符 12"/>
            <p:cNvCxnSpPr/>
            <p:nvPr/>
          </p:nvCxnSpPr>
          <p:spPr bwMode="auto">
            <a:xfrm flipV="1">
              <a:off x="2843728" y="2420865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 flipH="1">
              <a:off x="3563968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3" name="直接箭头连接符 12"/>
            <p:cNvCxnSpPr/>
            <p:nvPr/>
          </p:nvCxnSpPr>
          <p:spPr bwMode="auto">
            <a:xfrm rot="16200000" flipH="1">
              <a:off x="4211840" y="2492912"/>
              <a:ext cx="144000" cy="864000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/>
          </p:nvCxnSpPr>
          <p:spPr bwMode="auto">
            <a:xfrm flipH="1">
              <a:off x="6084192" y="1988816"/>
              <a:ext cx="36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5" name="直接箭头连接符 12"/>
            <p:cNvCxnSpPr/>
            <p:nvPr/>
          </p:nvCxnSpPr>
          <p:spPr bwMode="auto">
            <a:xfrm rot="16200000" flipH="1">
              <a:off x="6264192" y="2672952"/>
              <a:ext cx="144000" cy="504000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6" name="直接箭头连接符 165"/>
            <p:cNvCxnSpPr/>
            <p:nvPr/>
          </p:nvCxnSpPr>
          <p:spPr bwMode="auto">
            <a:xfrm>
              <a:off x="5652064" y="2564817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7" name="直接箭头连接符 166"/>
            <p:cNvCxnSpPr/>
            <p:nvPr/>
          </p:nvCxnSpPr>
          <p:spPr bwMode="auto">
            <a:xfrm>
              <a:off x="5364168" y="2276848"/>
              <a:ext cx="43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8" name="Text Box 286"/>
            <p:cNvSpPr txBox="1">
              <a:spLocks noChangeArrowheads="1"/>
            </p:cNvSpPr>
            <p:nvPr/>
          </p:nvSpPr>
          <p:spPr bwMode="auto">
            <a:xfrm>
              <a:off x="5148064" y="1700816"/>
              <a:ext cx="136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内部数据总线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9" name="Text Box 256"/>
            <p:cNvSpPr txBox="1">
              <a:spLocks noChangeArrowheads="1"/>
            </p:cNvSpPr>
            <p:nvPr/>
          </p:nvSpPr>
          <p:spPr bwMode="auto">
            <a:xfrm>
              <a:off x="4355976" y="2564880"/>
              <a:ext cx="72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70" name="直接箭头连接符 12"/>
            <p:cNvCxnSpPr/>
            <p:nvPr/>
          </p:nvCxnSpPr>
          <p:spPr bwMode="auto">
            <a:xfrm flipV="1">
              <a:off x="4715560" y="2780904"/>
              <a:ext cx="456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70"/>
            <p:cNvCxnSpPr/>
            <p:nvPr/>
          </p:nvCxnSpPr>
          <p:spPr bwMode="auto">
            <a:xfrm>
              <a:off x="1332018" y="1916808"/>
              <a:ext cx="0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2" name="直接箭头连接符 171"/>
            <p:cNvCxnSpPr/>
            <p:nvPr/>
          </p:nvCxnSpPr>
          <p:spPr bwMode="auto">
            <a:xfrm flipV="1">
              <a:off x="1331640" y="2708896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 flipV="1">
              <a:off x="4716040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4" name="等腰三角形 173"/>
            <p:cNvSpPr/>
            <p:nvPr/>
          </p:nvSpPr>
          <p:spPr bwMode="auto">
            <a:xfrm>
              <a:off x="4644024" y="2204841"/>
              <a:ext cx="144000" cy="216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75" name="直接箭头连接符 12"/>
            <p:cNvCxnSpPr/>
            <p:nvPr/>
          </p:nvCxnSpPr>
          <p:spPr bwMode="auto">
            <a:xfrm flipV="1">
              <a:off x="4716040" y="2420929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6" name="Text Box 256"/>
            <p:cNvSpPr txBox="1">
              <a:spLocks noChangeArrowheads="1"/>
            </p:cNvSpPr>
            <p:nvPr/>
          </p:nvSpPr>
          <p:spPr bwMode="auto">
            <a:xfrm>
              <a:off x="3203928" y="2204841"/>
              <a:ext cx="72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77" name="直接箭头连接符 176"/>
            <p:cNvCxnSpPr/>
            <p:nvPr/>
          </p:nvCxnSpPr>
          <p:spPr bwMode="auto">
            <a:xfrm>
              <a:off x="3563968" y="2420889"/>
              <a:ext cx="4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177"/>
            <p:cNvCxnSpPr/>
            <p:nvPr/>
          </p:nvCxnSpPr>
          <p:spPr bwMode="auto">
            <a:xfrm>
              <a:off x="4067944" y="1988817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9" name="直接箭头连接符 178"/>
            <p:cNvCxnSpPr/>
            <p:nvPr/>
          </p:nvCxnSpPr>
          <p:spPr bwMode="auto">
            <a:xfrm flipH="1" flipV="1">
              <a:off x="2886019" y="2348857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0" name="直接箭头连接符 179"/>
            <p:cNvCxnSpPr/>
            <p:nvPr/>
          </p:nvCxnSpPr>
          <p:spPr bwMode="auto">
            <a:xfrm flipV="1">
              <a:off x="6588312" y="1988817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1" name="等腰三角形 180"/>
            <p:cNvSpPr/>
            <p:nvPr/>
          </p:nvSpPr>
          <p:spPr bwMode="auto">
            <a:xfrm>
              <a:off x="6516296" y="2204841"/>
              <a:ext cx="144000" cy="216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82" name="直接箭头连接符 12"/>
            <p:cNvCxnSpPr/>
            <p:nvPr/>
          </p:nvCxnSpPr>
          <p:spPr bwMode="auto">
            <a:xfrm flipV="1">
              <a:off x="6588312" y="2420929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/>
            <p:cNvCxnSpPr/>
            <p:nvPr/>
          </p:nvCxnSpPr>
          <p:spPr bwMode="auto">
            <a:xfrm>
              <a:off x="2196034" y="1916808"/>
              <a:ext cx="0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4" name="直接箭头连接符 183"/>
            <p:cNvCxnSpPr/>
            <p:nvPr/>
          </p:nvCxnSpPr>
          <p:spPr bwMode="auto">
            <a:xfrm>
              <a:off x="3347864" y="1916808"/>
              <a:ext cx="0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5" name="直接箭头连接符 184"/>
            <p:cNvCxnSpPr/>
            <p:nvPr/>
          </p:nvCxnSpPr>
          <p:spPr bwMode="auto">
            <a:xfrm>
              <a:off x="4499992" y="1916824"/>
              <a:ext cx="0" cy="64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6" name="直接箭头连接符 185"/>
            <p:cNvCxnSpPr/>
            <p:nvPr/>
          </p:nvCxnSpPr>
          <p:spPr bwMode="auto">
            <a:xfrm flipV="1">
              <a:off x="3059752" y="2348857"/>
              <a:ext cx="0" cy="68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7" name="直接箭头连接符 186"/>
            <p:cNvCxnSpPr/>
            <p:nvPr/>
          </p:nvCxnSpPr>
          <p:spPr bwMode="auto">
            <a:xfrm flipH="1" flipV="1">
              <a:off x="4752072" y="2348857"/>
              <a:ext cx="39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8" name="直接箭头连接符 187"/>
            <p:cNvCxnSpPr/>
            <p:nvPr/>
          </p:nvCxnSpPr>
          <p:spPr bwMode="auto">
            <a:xfrm flipV="1">
              <a:off x="5148064" y="2348857"/>
              <a:ext cx="0" cy="68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 bwMode="auto">
            <a:xfrm flipV="1">
              <a:off x="1331640" y="2708896"/>
              <a:ext cx="0" cy="32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 flipV="1">
              <a:off x="3635816" y="2852912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 flipV="1">
              <a:off x="6012184" y="2852936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92" name="直接箭头连接符 191"/>
            <p:cNvCxnSpPr/>
            <p:nvPr/>
          </p:nvCxnSpPr>
          <p:spPr bwMode="auto">
            <a:xfrm flipH="1" flipV="1">
              <a:off x="6624328" y="2348857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 bwMode="auto">
            <a:xfrm flipV="1">
              <a:off x="6798061" y="2348857"/>
              <a:ext cx="0" cy="68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4" name="Text Box 286"/>
            <p:cNvSpPr txBox="1">
              <a:spLocks noChangeArrowheads="1"/>
            </p:cNvSpPr>
            <p:nvPr/>
          </p:nvSpPr>
          <p:spPr bwMode="auto">
            <a:xfrm>
              <a:off x="1187624" y="2996952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</a:rPr>
                <a:t>o</a:t>
              </a:r>
              <a:r>
                <a:rPr lang="en-US" altLang="zh-CN" sz="1600" dirty="0" err="1" smtClean="0">
                  <a:solidFill>
                    <a:srgbClr val="FF3399"/>
                  </a:solidFill>
                </a:rPr>
                <a:t>pA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95" name="Text Box 286"/>
            <p:cNvSpPr txBox="1">
              <a:spLocks noChangeArrowheads="1"/>
            </p:cNvSpPr>
            <p:nvPr/>
          </p:nvSpPr>
          <p:spPr bwMode="auto">
            <a:xfrm>
              <a:off x="3419840" y="2996952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opS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97" name="Text Box 286"/>
            <p:cNvSpPr txBox="1">
              <a:spLocks noChangeArrowheads="1"/>
            </p:cNvSpPr>
            <p:nvPr/>
          </p:nvSpPr>
          <p:spPr bwMode="auto">
            <a:xfrm>
              <a:off x="5868240" y="2996976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RegWr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98" name="Text Box 286"/>
            <p:cNvSpPr txBox="1">
              <a:spLocks noChangeArrowheads="1"/>
            </p:cNvSpPr>
            <p:nvPr/>
          </p:nvSpPr>
          <p:spPr bwMode="auto">
            <a:xfrm>
              <a:off x="4788024" y="2996976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Sout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99" name="Text Box 286"/>
            <p:cNvSpPr txBox="1">
              <a:spLocks noChangeArrowheads="1"/>
            </p:cNvSpPr>
            <p:nvPr/>
          </p:nvSpPr>
          <p:spPr bwMode="auto">
            <a:xfrm>
              <a:off x="6516296" y="299695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Rout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0" name="Text Box 286"/>
            <p:cNvSpPr txBox="1">
              <a:spLocks noChangeArrowheads="1"/>
            </p:cNvSpPr>
            <p:nvPr/>
          </p:nvSpPr>
          <p:spPr bwMode="auto">
            <a:xfrm>
              <a:off x="2771720" y="299695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Aout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1" name="Text Box 286"/>
            <p:cNvSpPr txBox="1">
              <a:spLocks noChangeArrowheads="1"/>
            </p:cNvSpPr>
            <p:nvPr/>
          </p:nvSpPr>
          <p:spPr bwMode="auto">
            <a:xfrm>
              <a:off x="1188002" y="1700808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L1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2" name="Text Box 286"/>
            <p:cNvSpPr txBox="1">
              <a:spLocks noChangeArrowheads="1"/>
            </p:cNvSpPr>
            <p:nvPr/>
          </p:nvSpPr>
          <p:spPr bwMode="auto">
            <a:xfrm>
              <a:off x="2052018" y="1700808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L2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3" name="Text Box 286"/>
            <p:cNvSpPr txBox="1">
              <a:spLocks noChangeArrowheads="1"/>
            </p:cNvSpPr>
            <p:nvPr/>
          </p:nvSpPr>
          <p:spPr bwMode="auto">
            <a:xfrm>
              <a:off x="3203880" y="1700808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L3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4" name="Text Box 286"/>
            <p:cNvSpPr txBox="1">
              <a:spLocks noChangeArrowheads="1"/>
            </p:cNvSpPr>
            <p:nvPr/>
          </p:nvSpPr>
          <p:spPr bwMode="auto">
            <a:xfrm>
              <a:off x="4356008" y="1700808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L4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205" name="流程图: 手动操作 204"/>
            <p:cNvSpPr/>
            <p:nvPr/>
          </p:nvSpPr>
          <p:spPr bwMode="auto">
            <a:xfrm rot="16200000">
              <a:off x="5328144" y="2528881"/>
              <a:ext cx="504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1" lang="en-US" altLang="zh-CN" sz="1200" b="1" i="0" u="none" strike="noStrike" cap="none" normalizeH="0" baseline="-18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6" name="直接箭头连接符 205"/>
            <p:cNvCxnSpPr/>
            <p:nvPr/>
          </p:nvCxnSpPr>
          <p:spPr bwMode="auto">
            <a:xfrm>
              <a:off x="5364120" y="2492928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>
              <a:off x="5364120" y="2708865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 flipV="1">
              <a:off x="5580128" y="281696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9" name="Text Box 286"/>
            <p:cNvSpPr txBox="1">
              <a:spLocks noChangeArrowheads="1"/>
            </p:cNvSpPr>
            <p:nvPr/>
          </p:nvSpPr>
          <p:spPr bwMode="auto">
            <a:xfrm>
              <a:off x="5364144" y="299695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Rsel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</p:grpSp>
      <p:sp>
        <p:nvSpPr>
          <p:cNvPr id="210" name="Text Box 1015"/>
          <p:cNvSpPr txBox="1">
            <a:spLocks noChangeArrowheads="1"/>
          </p:cNvSpPr>
          <p:nvPr/>
        </p:nvSpPr>
        <p:spPr bwMode="auto">
          <a:xfrm>
            <a:off x="1331640" y="3717032"/>
            <a:ext cx="46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思考②：</a:t>
            </a:r>
            <a:r>
              <a:rPr lang="zh-CN" altLang="en-US" sz="1800" dirty="0" smtClean="0">
                <a:solidFill>
                  <a:schemeClr val="tx1"/>
                </a:solidFill>
              </a:rPr>
              <a:t>为何寄存器组的端口信号都不暂存？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211" name="Text Box 1015"/>
          <p:cNvSpPr txBox="1">
            <a:spLocks noChangeArrowheads="1"/>
          </p:cNvSpPr>
          <p:nvPr/>
        </p:nvSpPr>
        <p:spPr bwMode="auto">
          <a:xfrm>
            <a:off x="6012208" y="3717032"/>
            <a:ext cx="280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600" dirty="0" smtClean="0">
                <a:solidFill>
                  <a:schemeClr val="tx1"/>
                </a:solidFill>
              </a:rPr>
              <a:t>仅需处理</a:t>
            </a:r>
            <a:r>
              <a:rPr lang="zh-CN" altLang="en-US" sz="1600" dirty="0" smtClean="0">
                <a:solidFill>
                  <a:srgbClr val="0070C0"/>
                </a:solidFill>
              </a:rPr>
              <a:t>同时</a:t>
            </a:r>
            <a:r>
              <a:rPr lang="zh-CN" altLang="en-US" sz="1600" dirty="0" smtClean="0">
                <a:solidFill>
                  <a:srgbClr val="0070C0"/>
                </a:solidFill>
              </a:rPr>
              <a:t>使用的</a:t>
            </a: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r>
              <a:rPr lang="zh-CN" altLang="en-US" sz="1600" dirty="0" smtClean="0">
                <a:solidFill>
                  <a:schemeClr val="tx1"/>
                </a:solidFill>
              </a:rPr>
              <a:t>信号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79" name="AutoShape 29"/>
          <p:cNvSpPr/>
          <p:nvPr/>
        </p:nvSpPr>
        <p:spPr bwMode="auto">
          <a:xfrm>
            <a:off x="179512" y="3501008"/>
            <a:ext cx="936000" cy="720000"/>
          </a:xfrm>
          <a:prstGeom prst="borderCallout2">
            <a:avLst>
              <a:gd name="adj1" fmla="val 101601"/>
              <a:gd name="adj2" fmla="val 64916"/>
              <a:gd name="adj3" fmla="val 123127"/>
              <a:gd name="adj4" fmla="val 64169"/>
              <a:gd name="adj5" fmla="val 155093"/>
              <a:gd name="adj6" fmla="val 19267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每步结果需保存在暂存器中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75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75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75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75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75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75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117" grpId="0"/>
      <p:bldP spid="196" grpId="0" bldLvl="0" animBg="1"/>
      <p:bldP spid="323" grpId="0" bldLvl="0" animBg="1"/>
      <p:bldP spid="76" grpId="0" animBg="1"/>
      <p:bldP spid="210" grpId="0" animBg="1"/>
      <p:bldP spid="211" grpId="0"/>
      <p:bldP spid="7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0"/>
          <p:cNvSpPr txBox="1">
            <a:spLocks noChangeArrowheads="1"/>
          </p:cNvSpPr>
          <p:nvPr/>
        </p:nvSpPr>
        <p:spPr bwMode="auto">
          <a:xfrm>
            <a:off x="179389" y="332656"/>
            <a:ext cx="259241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专用结构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63944" y="980720"/>
            <a:ext cx="6552496" cy="1296152"/>
            <a:chOff x="899592" y="2276864"/>
            <a:chExt cx="6552496" cy="1296152"/>
          </a:xfrm>
        </p:grpSpPr>
        <p:sp>
          <p:nvSpPr>
            <p:cNvPr id="5" name="AutoShape 266"/>
            <p:cNvSpPr>
              <a:spLocks noChangeArrowheads="1"/>
            </p:cNvSpPr>
            <p:nvPr/>
          </p:nvSpPr>
          <p:spPr bwMode="auto">
            <a:xfrm rot="16200000">
              <a:off x="2879832" y="2600968"/>
              <a:ext cx="720000" cy="360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18000" rIns="36000" bIns="180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2000" dirty="0" smtClean="0">
                  <a:solidFill>
                    <a:schemeClr val="tx1"/>
                  </a:solidFill>
                </a:rPr>
                <a:t>ALU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 bwMode="auto">
            <a:xfrm flipV="1">
              <a:off x="3419872" y="2780927"/>
              <a:ext cx="216000" cy="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" name="Text Box 255"/>
            <p:cNvSpPr txBox="1">
              <a:spLocks noChangeArrowheads="1"/>
            </p:cNvSpPr>
            <p:nvPr/>
          </p:nvSpPr>
          <p:spPr bwMode="auto">
            <a:xfrm>
              <a:off x="1549204" y="2420952"/>
              <a:ext cx="1003436" cy="576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寄存器组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Text Box 255"/>
            <p:cNvSpPr txBox="1">
              <a:spLocks noChangeArrowheads="1"/>
            </p:cNvSpPr>
            <p:nvPr/>
          </p:nvSpPr>
          <p:spPr bwMode="auto">
            <a:xfrm>
              <a:off x="4140016" y="2464391"/>
              <a:ext cx="864000" cy="576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桶形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chemeClr val="tx1"/>
                  </a:solidFill>
                </a:rPr>
                <a:t>移位器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>
              <a:off x="2552640" y="2564904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286"/>
            <p:cNvSpPr txBox="1">
              <a:spLocks noChangeArrowheads="1"/>
            </p:cNvSpPr>
            <p:nvPr/>
          </p:nvSpPr>
          <p:spPr bwMode="auto">
            <a:xfrm>
              <a:off x="2987824" y="3357016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</a:rPr>
                <a:t>o</a:t>
              </a:r>
              <a:r>
                <a:rPr lang="en-US" altLang="zh-CN" sz="1600" dirty="0" err="1" smtClean="0">
                  <a:solidFill>
                    <a:srgbClr val="FF3399"/>
                  </a:solidFill>
                </a:rPr>
                <a:t>pA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1" name="Text Box 286"/>
            <p:cNvSpPr txBox="1">
              <a:spLocks noChangeArrowheads="1"/>
            </p:cNvSpPr>
            <p:nvPr/>
          </p:nvSpPr>
          <p:spPr bwMode="auto">
            <a:xfrm>
              <a:off x="4283936" y="3357016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opS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12" name="Text Box 286"/>
            <p:cNvSpPr txBox="1">
              <a:spLocks noChangeArrowheads="1"/>
            </p:cNvSpPr>
            <p:nvPr/>
          </p:nvSpPr>
          <p:spPr bwMode="auto">
            <a:xfrm>
              <a:off x="1547664" y="3357016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RegWr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 bwMode="auto">
            <a:xfrm flipV="1">
              <a:off x="1633828" y="2996952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2552640" y="2924944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直接箭头连接符 184"/>
            <p:cNvCxnSpPr/>
            <p:nvPr/>
          </p:nvCxnSpPr>
          <p:spPr bwMode="auto">
            <a:xfrm rot="5400000" flipH="1" flipV="1">
              <a:off x="3851920" y="2933433"/>
              <a:ext cx="288000" cy="288000"/>
            </a:xfrm>
            <a:prstGeom prst="bentConnector3">
              <a:avLst>
                <a:gd name="adj1" fmla="val 10007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/>
            <p:cNvCxnSpPr/>
            <p:nvPr/>
          </p:nvCxnSpPr>
          <p:spPr bwMode="auto">
            <a:xfrm flipH="1" flipV="1">
              <a:off x="3203660" y="3069000"/>
              <a:ext cx="188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 flipV="1">
              <a:off x="1837236" y="2996952"/>
              <a:ext cx="19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 flipV="1">
              <a:off x="2349102" y="2996952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 flipV="1">
              <a:off x="2485308" y="2996952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1333180" y="2636912"/>
              <a:ext cx="2160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179"/>
            <p:cNvCxnSpPr/>
            <p:nvPr/>
          </p:nvCxnSpPr>
          <p:spPr bwMode="auto">
            <a:xfrm rot="10800000">
              <a:off x="899608" y="2276864"/>
              <a:ext cx="2736000" cy="504000"/>
            </a:xfrm>
            <a:prstGeom prst="bentConnector3">
              <a:avLst>
                <a:gd name="adj1" fmla="val -134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" name="直接箭头连接符 235"/>
            <p:cNvCxnSpPr/>
            <p:nvPr/>
          </p:nvCxnSpPr>
          <p:spPr bwMode="auto">
            <a:xfrm rot="16200000" flipH="1">
              <a:off x="899592" y="2276894"/>
              <a:ext cx="216000" cy="216000"/>
            </a:xfrm>
            <a:prstGeom prst="bentConnector3">
              <a:avLst>
                <a:gd name="adj1" fmla="val 10007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 flipV="1">
              <a:off x="1205240" y="2852935"/>
              <a:ext cx="0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" name="流程图: 手动操作 23"/>
            <p:cNvSpPr/>
            <p:nvPr/>
          </p:nvSpPr>
          <p:spPr bwMode="auto">
            <a:xfrm rot="16200000">
              <a:off x="935640" y="2514965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5" name="直接箭头连接符 235"/>
            <p:cNvCxnSpPr/>
            <p:nvPr/>
          </p:nvCxnSpPr>
          <p:spPr bwMode="auto">
            <a:xfrm rot="5400000" flipH="1" flipV="1">
              <a:off x="755592" y="2925008"/>
              <a:ext cx="504000" cy="216000"/>
            </a:xfrm>
            <a:prstGeom prst="bentConnector3">
              <a:avLst>
                <a:gd name="adj1" fmla="val 10027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2771800" y="2924944"/>
              <a:ext cx="0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 flipV="1">
              <a:off x="2772008" y="3212976"/>
              <a:ext cx="10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/>
          </p:nvCxnSpPr>
          <p:spPr bwMode="auto">
            <a:xfrm flipH="1" flipV="1">
              <a:off x="4499772" y="3033000"/>
              <a:ext cx="188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5004016" y="2780899"/>
              <a:ext cx="216000" cy="2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5220072" y="2780928"/>
              <a:ext cx="1540" cy="50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30"/>
            <p:cNvCxnSpPr/>
            <p:nvPr/>
          </p:nvCxnSpPr>
          <p:spPr bwMode="auto">
            <a:xfrm>
              <a:off x="899592" y="3284984"/>
              <a:ext cx="432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" name="直接箭头连接符 31"/>
            <p:cNvCxnSpPr/>
            <p:nvPr/>
          </p:nvCxnSpPr>
          <p:spPr bwMode="auto">
            <a:xfrm flipV="1">
              <a:off x="2771800" y="2348904"/>
              <a:ext cx="208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 bwMode="auto">
            <a:xfrm flipV="1">
              <a:off x="2771800" y="2348880"/>
              <a:ext cx="10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接箭头连接符 184"/>
            <p:cNvCxnSpPr/>
            <p:nvPr/>
          </p:nvCxnSpPr>
          <p:spPr bwMode="auto">
            <a:xfrm rot="16200000" flipH="1">
              <a:off x="3851895" y="2348919"/>
              <a:ext cx="288018" cy="287968"/>
            </a:xfrm>
            <a:prstGeom prst="bentConnector3">
              <a:avLst>
                <a:gd name="adj1" fmla="val 100709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Text Box 286"/>
            <p:cNvSpPr txBox="1">
              <a:spLocks noChangeArrowheads="1"/>
            </p:cNvSpPr>
            <p:nvPr/>
          </p:nvSpPr>
          <p:spPr bwMode="auto">
            <a:xfrm>
              <a:off x="971656" y="335699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</a:rPr>
                <a:t>DSel</a:t>
              </a:r>
              <a:endParaRPr lang="zh-CN" altLang="en-US" sz="1600" dirty="0">
                <a:solidFill>
                  <a:srgbClr val="FF3399"/>
                </a:solidFill>
              </a:endParaRPr>
            </a:p>
          </p:txBody>
        </p:sp>
        <p:sp>
          <p:nvSpPr>
            <p:cNvPr id="36" name="Text Box 286"/>
            <p:cNvSpPr txBox="1">
              <a:spLocks noChangeArrowheads="1"/>
            </p:cNvSpPr>
            <p:nvPr/>
          </p:nvSpPr>
          <p:spPr bwMode="auto">
            <a:xfrm>
              <a:off x="5364088" y="2276872"/>
              <a:ext cx="2088000" cy="1080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5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opA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—00/01/10/11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  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为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+/-/&amp;/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⊕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opS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—00/10/11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    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为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&lt;&lt;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L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A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 Box 200"/>
          <p:cNvSpPr txBox="1">
            <a:spLocks noChangeArrowheads="1"/>
          </p:cNvSpPr>
          <p:nvPr/>
        </p:nvSpPr>
        <p:spPr bwMode="auto">
          <a:xfrm>
            <a:off x="2376264" y="332656"/>
            <a:ext cx="644420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部件入端设置</a:t>
            </a:r>
            <a:r>
              <a:rPr lang="zh-CN" altLang="en-US" u="sng" dirty="0" smtClean="0">
                <a:solidFill>
                  <a:srgbClr val="990099"/>
                </a:solidFill>
              </a:rPr>
              <a:t>选择器</a:t>
            </a:r>
            <a:r>
              <a:rPr lang="zh-CN" altLang="en-US" dirty="0" smtClean="0">
                <a:solidFill>
                  <a:schemeClr val="tx1"/>
                </a:solidFill>
              </a:rPr>
              <a:t>    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←性能好、控制复杂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38" name="Text Box 200"/>
          <p:cNvSpPr txBox="1">
            <a:spLocks noChangeArrowheads="1"/>
          </p:cNvSpPr>
          <p:nvPr/>
        </p:nvSpPr>
        <p:spPr bwMode="auto">
          <a:xfrm>
            <a:off x="179389" y="2276872"/>
            <a:ext cx="8785099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rgbClr val="990099"/>
                </a:solidFill>
              </a:rPr>
              <a:t>       例</a:t>
            </a:r>
            <a:r>
              <a:rPr lang="en-US" altLang="zh-CN" sz="2200" dirty="0" smtClean="0">
                <a:solidFill>
                  <a:srgbClr val="990099"/>
                </a:solidFill>
              </a:rPr>
              <a:t>6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</a:rPr>
              <a:t>基于上述互连通路，给出实现表中指令功能的控制信号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1644352" y="2780928"/>
          <a:ext cx="6240016" cy="15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/>
                <a:gridCol w="735856"/>
                <a:gridCol w="776312"/>
                <a:gridCol w="792088"/>
                <a:gridCol w="720080"/>
                <a:gridCol w="1775520"/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DSel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RegWr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说明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93736"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R0+R1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R0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R3&lt;&lt;R4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11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R3&gt;&gt;</a:t>
                      </a:r>
                      <a:r>
                        <a:rPr lang="en-US" altLang="zh-CN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R4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Text Box 286"/>
          <p:cNvSpPr txBox="1">
            <a:spLocks noChangeArrowheads="1"/>
          </p:cNvSpPr>
          <p:nvPr/>
        </p:nvSpPr>
        <p:spPr bwMode="auto">
          <a:xfrm>
            <a:off x="3347864" y="3108528"/>
            <a:ext cx="4536504" cy="122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1     1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00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   **</a:t>
            </a:r>
            <a:endParaRPr lang="en-US" altLang="zh-CN" sz="18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1     1      11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   **</a:t>
            </a:r>
            <a:endParaRPr lang="en-US" altLang="zh-CN" sz="18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0     1      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**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    00</a:t>
            </a:r>
            <a:endParaRPr lang="en-US" altLang="zh-CN" sz="18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0     1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</a:rPr>
              <a:t>      **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</a:rPr>
              <a:t>10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 Box 343"/>
          <p:cNvSpPr txBox="1">
            <a:spLocks noChangeArrowheads="1"/>
          </p:cNvSpPr>
          <p:nvPr/>
        </p:nvSpPr>
        <p:spPr bwMode="auto">
          <a:xfrm>
            <a:off x="791213" y="6025346"/>
            <a:ext cx="52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 smtClean="0"/>
              <a:t>作业</a:t>
            </a:r>
            <a:r>
              <a:rPr lang="en-US" altLang="zh-CN" sz="2000" dirty="0" smtClean="0"/>
              <a:t>2-4</a:t>
            </a:r>
            <a:r>
              <a:rPr lang="zh-CN" altLang="en-US" sz="2000" dirty="0" smtClean="0"/>
              <a:t>：</a:t>
            </a:r>
            <a:r>
              <a:rPr lang="en-US" altLang="zh-CN" sz="2000" dirty="0" smtClean="0">
                <a:solidFill>
                  <a:schemeClr val="tx1"/>
                </a:solidFill>
              </a:rPr>
              <a:t>P87</a:t>
            </a:r>
            <a:r>
              <a:rPr lang="zh-CN" altLang="en-US" sz="2000" dirty="0" smtClean="0">
                <a:solidFill>
                  <a:schemeClr val="tx1"/>
                </a:solidFill>
              </a:rPr>
              <a:t>起</a:t>
            </a:r>
            <a:r>
              <a:rPr lang="en-US" altLang="zh-CN" sz="2000" dirty="0" smtClean="0">
                <a:solidFill>
                  <a:schemeClr val="tx1"/>
                </a:solidFill>
              </a:rPr>
              <a:t>—30(1)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31(1)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34(1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36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42" name="Text Box 200"/>
          <p:cNvSpPr txBox="1">
            <a:spLocks noChangeArrowheads="1"/>
          </p:cNvSpPr>
          <p:nvPr/>
        </p:nvSpPr>
        <p:spPr bwMode="auto">
          <a:xfrm>
            <a:off x="179512" y="4437112"/>
            <a:ext cx="4032826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影响指令性能的因素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43" name="Text Box 200"/>
          <p:cNvSpPr txBox="1">
            <a:spLocks noChangeArrowheads="1"/>
          </p:cNvSpPr>
          <p:nvPr/>
        </p:nvSpPr>
        <p:spPr bwMode="auto">
          <a:xfrm>
            <a:off x="1259632" y="4869160"/>
            <a:ext cx="532859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部件设计影响操作时延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位乘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快速乘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en-US" altLang="zh-CN" sz="2200" dirty="0" smtClean="0">
                <a:solidFill>
                  <a:schemeClr val="tx1"/>
                </a:solidFill>
              </a:rPr>
              <a:t>,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互连结构影响实现过程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性能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步骤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44" name="AutoShape 2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7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75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75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75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1" grpId="0" bldLvl="0" animBg="1"/>
      <p:bldP spid="42" grpId="0"/>
      <p:bldP spid="43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9"/>
          <p:cNvSpPr txBox="1">
            <a:spLocks noChangeArrowheads="1"/>
          </p:cNvSpPr>
          <p:nvPr/>
        </p:nvSpPr>
        <p:spPr bwMode="auto">
          <a:xfrm>
            <a:off x="179388" y="476672"/>
            <a:ext cx="8785225" cy="10926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※</a:t>
            </a:r>
            <a:r>
              <a:rPr lang="zh-CN" altLang="en-US" dirty="0" smtClean="0">
                <a:solidFill>
                  <a:srgbClr val="C00000"/>
                </a:solidFill>
              </a:rPr>
              <a:t>附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zh-CN" altLang="en-US" dirty="0" smtClean="0">
                <a:solidFill>
                  <a:srgbClr val="C00000"/>
                </a:solidFill>
              </a:rPr>
              <a:t>：模</a:t>
            </a:r>
            <a:r>
              <a:rPr lang="en-US" altLang="zh-CN" dirty="0" smtClean="0">
                <a:solidFill>
                  <a:srgbClr val="C00000"/>
                </a:solidFill>
              </a:rPr>
              <a:t>2</a:t>
            </a:r>
            <a:r>
              <a:rPr lang="zh-CN" altLang="en-US" dirty="0" smtClean="0">
                <a:solidFill>
                  <a:srgbClr val="C00000"/>
                </a:solidFill>
              </a:rPr>
              <a:t>乘法、除法</a:t>
            </a:r>
            <a:endParaRPr lang="zh-CN" altLang="en-US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     </a:t>
            </a:r>
            <a:r>
              <a:rPr lang="zh-CN" altLang="en-US" dirty="0" smtClean="0">
                <a:solidFill>
                  <a:schemeClr val="accent2"/>
                </a:solidFill>
              </a:rPr>
              <a:t>模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zh-CN" altLang="en-US" dirty="0" smtClean="0">
                <a:solidFill>
                  <a:schemeClr val="accent2"/>
                </a:solidFill>
              </a:rPr>
              <a:t>乘法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部分积求和采用</a:t>
            </a:r>
            <a:r>
              <a:rPr lang="zh-CN" altLang="en-US" u="sng" dirty="0" smtClean="0">
                <a:solidFill>
                  <a:srgbClr val="990099"/>
                </a:solidFill>
              </a:rPr>
              <a:t>模</a:t>
            </a:r>
            <a:r>
              <a:rPr lang="en-US" altLang="zh-CN" u="sng" dirty="0">
                <a:solidFill>
                  <a:srgbClr val="990099"/>
                </a:solidFill>
              </a:rPr>
              <a:t>2</a:t>
            </a:r>
            <a:r>
              <a:rPr lang="zh-CN" altLang="en-US" u="sng" dirty="0" smtClean="0">
                <a:solidFill>
                  <a:srgbClr val="990099"/>
                </a:solidFill>
              </a:rPr>
              <a:t>加法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无进位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求得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Text Box 210"/>
          <p:cNvSpPr txBox="1">
            <a:spLocks noChangeArrowheads="1"/>
          </p:cNvSpPr>
          <p:nvPr/>
        </p:nvSpPr>
        <p:spPr bwMode="auto">
          <a:xfrm>
            <a:off x="179388" y="1484784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模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zh-CN" altLang="en-US" dirty="0" smtClean="0">
                <a:solidFill>
                  <a:schemeClr val="accent2"/>
                </a:solidFill>
              </a:rPr>
              <a:t>除法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u="sng" dirty="0" smtClean="0">
                <a:solidFill>
                  <a:schemeClr val="tx1"/>
                </a:solidFill>
              </a:rPr>
              <a:t>位商</a:t>
            </a:r>
            <a:r>
              <a:rPr lang="zh-CN" altLang="en-US" dirty="0" smtClean="0">
                <a:solidFill>
                  <a:schemeClr val="tx1"/>
                </a:solidFill>
              </a:rPr>
              <a:t>为部分</a:t>
            </a:r>
            <a:r>
              <a:rPr lang="zh-CN" altLang="en-US" dirty="0">
                <a:solidFill>
                  <a:schemeClr val="tx1"/>
                </a:solidFill>
              </a:rPr>
              <a:t>余数的</a:t>
            </a:r>
            <a:r>
              <a:rPr lang="zh-CN" altLang="en-US" dirty="0" smtClean="0">
                <a:solidFill>
                  <a:schemeClr val="tx1"/>
                </a:solidFill>
              </a:rPr>
              <a:t>首位，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              </a:t>
            </a:r>
            <a:r>
              <a:rPr lang="zh-CN" altLang="en-US" u="sng" dirty="0" smtClean="0">
                <a:solidFill>
                  <a:schemeClr val="tx1"/>
                </a:solidFill>
              </a:rPr>
              <a:t>余数</a:t>
            </a:r>
            <a:r>
              <a:rPr lang="zh-CN" altLang="en-US" dirty="0" smtClean="0">
                <a:solidFill>
                  <a:schemeClr val="tx1"/>
                </a:solidFill>
              </a:rPr>
              <a:t>采用模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减法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即模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加法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求得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Text Box 212"/>
          <p:cNvSpPr txBox="1">
            <a:spLocks noChangeArrowheads="1"/>
          </p:cNvSpPr>
          <p:nvPr/>
        </p:nvSpPr>
        <p:spPr bwMode="auto">
          <a:xfrm>
            <a:off x="1187624" y="2696096"/>
            <a:ext cx="2232248" cy="2389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1 0 1 0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  <a:latin typeface="+mn-ea"/>
                <a:ea typeface="+mn-ea"/>
              </a:rPr>
              <a:t>×      </a:t>
            </a:r>
            <a:r>
              <a:rPr lang="en-US" altLang="zh-CN" u="sng" dirty="0">
                <a:solidFill>
                  <a:schemeClr val="tx1"/>
                </a:solidFill>
                <a:latin typeface="+mn-ea"/>
                <a:ea typeface="+mn-ea"/>
              </a:rPr>
              <a:t>1 </a:t>
            </a:r>
            <a:r>
              <a:rPr lang="en-US" altLang="zh-CN" u="sng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u="sng" dirty="0">
                <a:solidFill>
                  <a:schemeClr val="tx1"/>
                </a:solidFill>
                <a:latin typeface="+mn-ea"/>
                <a:ea typeface="+mn-ea"/>
              </a:rPr>
              <a:t> 1</a:t>
            </a:r>
            <a:endParaRPr lang="en-US" altLang="zh-CN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1 0 1 0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dirty="0">
                <a:solidFill>
                  <a:srgbClr val="990099"/>
                </a:solidFill>
                <a:latin typeface="+mn-ea"/>
                <a:ea typeface="+mn-ea"/>
              </a:rPr>
              <a:t>0 0 0 0</a:t>
            </a:r>
            <a:endParaRPr lang="en-US" altLang="zh-CN" dirty="0">
              <a:solidFill>
                <a:srgbClr val="990099"/>
              </a:solidFill>
              <a:latin typeface="+mn-ea"/>
              <a:ea typeface="+mn-ea"/>
            </a:endParaRPr>
          </a:p>
          <a:p>
            <a:pPr marL="457200" indent="-45720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u="sng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u="sng" dirty="0">
                <a:solidFill>
                  <a:schemeClr val="tx1"/>
                </a:solidFill>
                <a:latin typeface="+mn-ea"/>
                <a:ea typeface="+mn-ea"/>
              </a:rPr>
              <a:t>1 0 1 0  </a:t>
            </a:r>
            <a:r>
              <a:rPr lang="zh-CN" altLang="en-US" sz="2000" b="0" u="sng" dirty="0">
                <a:solidFill>
                  <a:schemeClr val="tx1"/>
                </a:solidFill>
                <a:latin typeface="+mn-ea"/>
                <a:ea typeface="+mn-ea"/>
              </a:rPr>
              <a:t>＿</a:t>
            </a:r>
            <a:endParaRPr lang="zh-CN" altLang="en-US" b="0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1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0 0 1 0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355505" y="2492896"/>
            <a:ext cx="4392959" cy="2664296"/>
            <a:chOff x="4355505" y="2420888"/>
            <a:chExt cx="4392959" cy="2664296"/>
          </a:xfrm>
        </p:grpSpPr>
        <p:sp>
          <p:nvSpPr>
            <p:cNvPr id="7" name="Text Box 219"/>
            <p:cNvSpPr txBox="1">
              <a:spLocks noChangeArrowheads="1"/>
            </p:cNvSpPr>
            <p:nvPr/>
          </p:nvSpPr>
          <p:spPr bwMode="auto">
            <a:xfrm>
              <a:off x="4355505" y="2420888"/>
              <a:ext cx="4392959" cy="26642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100000"/>
                </a:lnSpc>
              </a:pPr>
              <a:r>
                <a:rPr lang="en-US" altLang="zh-CN" dirty="0">
                  <a:latin typeface="+mn-ea"/>
                  <a:ea typeface="+mn-ea"/>
                </a:rPr>
                <a:t>          </a:t>
              </a:r>
              <a:r>
                <a:rPr lang="en-US" altLang="zh-CN" dirty="0" smtClean="0">
                  <a:latin typeface="+mn-ea"/>
                  <a:ea typeface="+mn-ea"/>
                </a:rPr>
                <a:t> </a:t>
              </a:r>
              <a:r>
                <a:rPr lang="en-US" altLang="zh-CN" dirty="0">
                  <a:latin typeface="+mn-ea"/>
                  <a:ea typeface="+mn-ea"/>
                </a:rPr>
                <a:t>1 </a:t>
              </a:r>
              <a:r>
                <a:rPr lang="en-US" altLang="zh-CN" dirty="0">
                  <a:solidFill>
                    <a:schemeClr val="accent2"/>
                  </a:solidFill>
                  <a:latin typeface="+mn-ea"/>
                  <a:ea typeface="+mn-ea"/>
                </a:rPr>
                <a:t>0</a:t>
              </a:r>
              <a:r>
                <a:rPr lang="en-US" altLang="zh-CN" dirty="0">
                  <a:latin typeface="+mn-ea"/>
                  <a:ea typeface="+mn-ea"/>
                </a:rPr>
                <a:t> </a:t>
              </a:r>
              <a:r>
                <a:rPr lang="en-US" altLang="zh-CN" dirty="0" smtClean="0">
                  <a:latin typeface="+mn-ea"/>
                  <a:ea typeface="+mn-ea"/>
                </a:rPr>
                <a:t>1   </a:t>
              </a:r>
              <a:r>
                <a:rPr lang="zh-CN" altLang="en-US" sz="2000" dirty="0" smtClean="0">
                  <a:solidFill>
                    <a:schemeClr val="tx1"/>
                  </a:solidFill>
                  <a:latin typeface="+mn-ea"/>
                  <a:ea typeface="+mn-ea"/>
                </a:rPr>
                <a:t>←商无意义</a:t>
              </a:r>
              <a:endParaRPr lang="en-US" altLang="zh-CN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100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1 0 1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dirty="0">
                  <a:latin typeface="+mn-ea"/>
                  <a:ea typeface="+mn-ea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0 0 0 0</a:t>
              </a:r>
              <a:endParaRPr lang="en-US" altLang="zh-CN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u="sng" dirty="0">
                  <a:solidFill>
                    <a:schemeClr val="tx1"/>
                  </a:solidFill>
                  <a:latin typeface="+mn-ea"/>
                  <a:ea typeface="+mn-ea"/>
                </a:rPr>
                <a:t>1 0 1</a:t>
              </a:r>
              <a:endParaRPr lang="en-US" altLang="zh-CN" u="sng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   </a:t>
              </a:r>
              <a:r>
                <a:rPr lang="en-US" altLang="zh-CN" dirty="0">
                  <a:solidFill>
                    <a:schemeClr val="accent2"/>
                  </a:solidFill>
                  <a:latin typeface="+mn-ea"/>
                  <a:ea typeface="+mn-ea"/>
                </a:rPr>
                <a:t>0</a:t>
              </a: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1 0</a:t>
              </a:r>
              <a:endParaRPr lang="en-US" altLang="zh-CN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   </a:t>
              </a:r>
              <a:r>
                <a:rPr lang="en-US" altLang="zh-CN" u="sng" dirty="0">
                  <a:solidFill>
                    <a:srgbClr val="990099"/>
                  </a:solidFill>
                  <a:latin typeface="+mn-ea"/>
                  <a:ea typeface="+mn-ea"/>
                </a:rPr>
                <a:t>0 0 0</a:t>
              </a:r>
              <a:endParaRPr lang="en-US" altLang="zh-CN" u="sng" dirty="0">
                <a:solidFill>
                  <a:srgbClr val="990099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     </a:t>
              </a:r>
              <a:r>
                <a:rPr lang="en-US" altLang="zh-CN" dirty="0">
                  <a:latin typeface="+mn-ea"/>
                  <a:ea typeface="+mn-ea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0 0</a:t>
              </a:r>
              <a:endParaRPr lang="en-US" altLang="zh-CN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      </a:t>
              </a:r>
              <a:r>
                <a:rPr lang="en-US" altLang="zh-CN" u="sng" dirty="0">
                  <a:solidFill>
                    <a:schemeClr val="tx1"/>
                  </a:solidFill>
                  <a:latin typeface="+mn-ea"/>
                  <a:ea typeface="+mn-ea"/>
                </a:rPr>
                <a:t>1 0 1</a:t>
              </a:r>
              <a:endParaRPr lang="en-US" altLang="zh-CN" u="sng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marL="457200" indent="-457200">
                <a:lnSpc>
                  <a:spcPct val="85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dirty="0" smtClean="0">
                  <a:solidFill>
                    <a:schemeClr val="tx1"/>
                  </a:solidFill>
                  <a:latin typeface="+mn-ea"/>
                  <a:ea typeface="+mn-ea"/>
                </a:rPr>
                <a:t>          </a:t>
              </a:r>
              <a:r>
                <a:rPr lang="en-US" altLang="zh-CN" dirty="0">
                  <a:solidFill>
                    <a:schemeClr val="tx1"/>
                  </a:solidFill>
                  <a:latin typeface="+mn-ea"/>
                  <a:ea typeface="+mn-ea"/>
                </a:rPr>
                <a:t>0 1  </a:t>
              </a:r>
              <a:r>
                <a:rPr lang="en-US" altLang="zh-CN" sz="2000" dirty="0" smtClean="0">
                  <a:solidFill>
                    <a:srgbClr val="990099"/>
                  </a:solidFill>
                  <a:latin typeface="+mn-ea"/>
                  <a:ea typeface="+mn-ea"/>
                </a:rPr>
                <a:t>……</a:t>
              </a:r>
              <a:r>
                <a:rPr lang="zh-CN" altLang="en-US" sz="2000" dirty="0" smtClean="0">
                  <a:solidFill>
                    <a:srgbClr val="990099"/>
                  </a:solidFill>
                  <a:latin typeface="+mn-ea"/>
                  <a:ea typeface="+mn-ea"/>
                </a:rPr>
                <a:t>余数</a:t>
              </a:r>
              <a:endParaRPr lang="en-US" altLang="zh-CN" sz="20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8" name="Line 220"/>
            <p:cNvSpPr>
              <a:spLocks noChangeShapeType="1"/>
            </p:cNvSpPr>
            <p:nvPr/>
          </p:nvSpPr>
          <p:spPr bwMode="auto">
            <a:xfrm>
              <a:off x="5371454" y="2853630"/>
              <a:ext cx="15048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21"/>
            <p:cNvSpPr/>
            <p:nvPr/>
          </p:nvSpPr>
          <p:spPr bwMode="auto">
            <a:xfrm>
              <a:off x="5292080" y="2853630"/>
              <a:ext cx="79375" cy="287338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3" y="114"/>
                </a:cxn>
                <a:cxn ang="0">
                  <a:pos x="0" y="181"/>
                </a:cxn>
              </a:cxnLst>
              <a:rect l="0" t="0" r="r" b="b"/>
              <a:pathLst>
                <a:path w="50" h="181">
                  <a:moveTo>
                    <a:pt x="45" y="0"/>
                  </a:moveTo>
                  <a:cubicBezTo>
                    <a:pt x="45" y="19"/>
                    <a:pt x="50" y="84"/>
                    <a:pt x="43" y="114"/>
                  </a:cubicBezTo>
                  <a:cubicBezTo>
                    <a:pt x="36" y="144"/>
                    <a:pt x="9" y="167"/>
                    <a:pt x="0" y="18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AutoShape 3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987824" y="6453188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84*6"/>
  <p:tag name="TABLE_ENDDRAG_RECT" val="87*228*584*6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IMING" val="|1.2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TIMING" val="|5.6|6.8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TABLE_ENDDRAG_ORIGIN_RECT" val="612*78"/>
  <p:tag name="TABLE_ENDDRAG_RECT" val="76*342*612*78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TIMING" val="|0.4|1.5|-1.4|0"/>
</p:tagLst>
</file>

<file path=ppt/tags/tag149.xml><?xml version="1.0" encoding="utf-8"?>
<p:tagLst xmlns:p="http://schemas.openxmlformats.org/presentationml/2006/main">
  <p:tag name="TIMING" val="|0.4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COMMONDATA" val="eyJoZGlkIjoiY2ZiYjY4MjU5YzBkYmJmZjUyNGJiOWY1ZTc3NzM1MG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chemeClr val="tx1"/>
          </a:solidFill>
          <a:round/>
        </a:ln>
      </a:spPr>
      <a:bodyPr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42561</Words>
  <Application>WPS 演示</Application>
  <PresentationFormat>全屏显示(4:3)</PresentationFormat>
  <Paragraphs>6365</Paragraphs>
  <Slides>98</Slides>
  <Notes>68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98</vt:i4>
      </vt:variant>
    </vt:vector>
  </HeadingPairs>
  <TitlesOfParts>
    <vt:vector size="115" baseType="lpstr">
      <vt:lpstr>Arial</vt:lpstr>
      <vt:lpstr>宋体</vt:lpstr>
      <vt:lpstr>Wingdings</vt:lpstr>
      <vt:lpstr>Times New Roman</vt:lpstr>
      <vt:lpstr>MS Gothic</vt:lpstr>
      <vt:lpstr>黑体</vt:lpstr>
      <vt:lpstr>Symbol</vt:lpstr>
      <vt:lpstr>Arial Unicode MS</vt:lpstr>
      <vt:lpstr>微软雅黑</vt:lpstr>
      <vt:lpstr>Cambria Math</vt:lpstr>
      <vt:lpstr>方正兰亭超细黑简体</vt:lpstr>
      <vt:lpstr>+中文正文</vt:lpstr>
      <vt:lpstr>Segoe Print</vt:lpstr>
      <vt:lpstr>默认设计模板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2354</cp:revision>
</cp:coreProperties>
</file>

<file path=docProps/custom.xml><?xml version="1.0" encoding="utf-8"?>
<Properties xmlns="http://schemas.openxmlformats.org/officeDocument/2006/custom-properties"/>
</file>