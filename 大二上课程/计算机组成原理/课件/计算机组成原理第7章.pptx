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65"/>
  </p:handoutMasterIdLst>
  <p:sldIdLst>
    <p:sldId id="256" r:id="rId3"/>
    <p:sldId id="508" r:id="rId4"/>
    <p:sldId id="509" r:id="rId5"/>
    <p:sldId id="511" r:id="rId7"/>
    <p:sldId id="384" r:id="rId8"/>
    <p:sldId id="512" r:id="rId9"/>
    <p:sldId id="514" r:id="rId10"/>
    <p:sldId id="515" r:id="rId11"/>
    <p:sldId id="545" r:id="rId12"/>
    <p:sldId id="517" r:id="rId13"/>
    <p:sldId id="518" r:id="rId14"/>
    <p:sldId id="519" r:id="rId15"/>
    <p:sldId id="520" r:id="rId16"/>
    <p:sldId id="521" r:id="rId17"/>
    <p:sldId id="548" r:id="rId18"/>
    <p:sldId id="397" r:id="rId19"/>
    <p:sldId id="410" r:id="rId20"/>
    <p:sldId id="398" r:id="rId21"/>
    <p:sldId id="404" r:id="rId22"/>
    <p:sldId id="522" r:id="rId23"/>
    <p:sldId id="523" r:id="rId24"/>
    <p:sldId id="411" r:id="rId25"/>
    <p:sldId id="601" r:id="rId26"/>
    <p:sldId id="467" r:id="rId27"/>
    <p:sldId id="602" r:id="rId28"/>
    <p:sldId id="469" r:id="rId29"/>
    <p:sldId id="418" r:id="rId30"/>
    <p:sldId id="603" r:id="rId31"/>
    <p:sldId id="312" r:id="rId32"/>
    <p:sldId id="473" r:id="rId33"/>
    <p:sldId id="258" r:id="rId34"/>
    <p:sldId id="527" r:id="rId35"/>
    <p:sldId id="474" r:id="rId36"/>
    <p:sldId id="529" r:id="rId37"/>
    <p:sldId id="476" r:id="rId38"/>
    <p:sldId id="477" r:id="rId39"/>
    <p:sldId id="259" r:id="rId40"/>
    <p:sldId id="478" r:id="rId41"/>
    <p:sldId id="530" r:id="rId42"/>
    <p:sldId id="531" r:id="rId43"/>
    <p:sldId id="543" r:id="rId44"/>
    <p:sldId id="507" r:id="rId45"/>
    <p:sldId id="532" r:id="rId46"/>
    <p:sldId id="604" r:id="rId47"/>
    <p:sldId id="443" r:id="rId48"/>
    <p:sldId id="536" r:id="rId49"/>
    <p:sldId id="538" r:id="rId50"/>
    <p:sldId id="535" r:id="rId51"/>
    <p:sldId id="539" r:id="rId52"/>
    <p:sldId id="542" r:id="rId53"/>
    <p:sldId id="373" r:id="rId54"/>
    <p:sldId id="492" r:id="rId55"/>
    <p:sldId id="493" r:id="rId56"/>
    <p:sldId id="263" r:id="rId57"/>
    <p:sldId id="494" r:id="rId58"/>
    <p:sldId id="496" r:id="rId59"/>
    <p:sldId id="495" r:id="rId60"/>
    <p:sldId id="500" r:id="rId61"/>
    <p:sldId id="497" r:id="rId62"/>
    <p:sldId id="498" r:id="rId63"/>
    <p:sldId id="501" r:id="rId64"/>
  </p:sldIdLst>
  <p:sldSz cx="9144000" cy="6858000" type="screen4x3"/>
  <p:notesSz cx="6858000" cy="9144000"/>
  <p:custDataLst>
    <p:tags r:id="rId69"/>
  </p:custDataLst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289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990099"/>
    <a:srgbClr val="CCCCFF"/>
    <a:srgbClr val="FFCC99"/>
    <a:srgbClr val="99CCFF"/>
    <a:srgbClr val="CCFFFF"/>
    <a:srgbClr val="CC3300"/>
    <a:srgbClr val="FFCCFF"/>
    <a:srgbClr val="CC99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3" autoAdjust="0"/>
    <p:restoredTop sz="95159" autoAdjust="0"/>
  </p:normalViewPr>
  <p:slideViewPr>
    <p:cSldViewPr>
      <p:cViewPr>
        <p:scale>
          <a:sx n="70" d="100"/>
          <a:sy n="70" d="100"/>
        </p:scale>
        <p:origin x="-888" y="-206"/>
      </p:cViewPr>
      <p:guideLst>
        <p:guide orient="horz" pos="2256"/>
        <p:guide pos="28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9" Type="http://schemas.openxmlformats.org/officeDocument/2006/relationships/tags" Target="tags/tag751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2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202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2E4B6539-215E-4A82-B8D5-BC65B0D83AF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AF28F501-268A-4A38-8063-C71DEAA8709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响应时间指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请求从发出到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操作完成的时间，吞吐率指单位时间内完成</a:t>
            </a:r>
            <a:r>
              <a:rPr kumimoji="1" lang="en-US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I/O</a:t>
            </a:r>
            <a:r>
              <a:rPr kumimoji="1" lang="zh-CN" altLang="zh-CN" sz="1200" kern="12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操作的个数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思考①：外设响应时间。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检查：</a:t>
            </a:r>
            <a:r>
              <a:rPr lang="en-US" altLang="zh-CN" dirty="0" smtClean="0"/>
              <a:t>#</a:t>
            </a:r>
            <a:r>
              <a:rPr lang="zh-CN" altLang="en-US" dirty="0" smtClean="0"/>
              <a:t>表示低电平有效（</a:t>
            </a:r>
            <a:r>
              <a:rPr lang="en-US" altLang="zh-CN" dirty="0" smtClean="0"/>
              <a:t>P253</a:t>
            </a:r>
            <a:r>
              <a:rPr lang="zh-CN" altLang="en-US" dirty="0" smtClean="0"/>
              <a:t>第</a:t>
            </a:r>
            <a:r>
              <a:rPr lang="en-US" altLang="zh-CN" dirty="0" smtClean="0"/>
              <a:t>13</a:t>
            </a:r>
            <a:r>
              <a:rPr lang="zh-CN" altLang="en-US" dirty="0" smtClean="0"/>
              <a:t>行）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异步串行省略方法：采用不互锁应答方式省略应答线，采用帧头、帧尾信息不同省略请求线；</a:t>
            </a:r>
            <a:endParaRPr lang="en-US" altLang="zh-CN" dirty="0" smtClean="0"/>
          </a:p>
          <a:p>
            <a:r>
              <a:rPr lang="zh-CN" altLang="en-US" dirty="0" smtClean="0"/>
              <a:t>同步串行省略方法：通过帧头中同步信息产生连续跳变信号，代替</a:t>
            </a:r>
            <a:r>
              <a:rPr lang="en-US" altLang="zh-CN" dirty="0" smtClean="0"/>
              <a:t>CLK</a:t>
            </a:r>
            <a:r>
              <a:rPr lang="zh-CN" altLang="en-US" dirty="0" smtClean="0"/>
              <a:t>产生的同步时钟信号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P7-</a:t>
            </a:r>
            <a:r>
              <a:rPr lang="zh-CN" altLang="en-US" dirty="0" smtClean="0"/>
              <a:t>看目标从设备识别方法，上页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看传送方式、联络方法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P9-</a:t>
            </a:r>
            <a:r>
              <a:rPr lang="zh-CN" altLang="en-US" dirty="0" smtClean="0"/>
              <a:t>看查询</a:t>
            </a:r>
            <a:r>
              <a:rPr lang="en-US" altLang="zh-CN" dirty="0" smtClean="0"/>
              <a:t>/</a:t>
            </a:r>
            <a:r>
              <a:rPr lang="zh-CN" altLang="en-US" dirty="0" smtClean="0"/>
              <a:t>直接与传送方式的关系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放在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接口的数据端口中，总线操作只能访问到</a:t>
            </a:r>
            <a:r>
              <a:rPr lang="en-US" altLang="zh-CN" dirty="0" smtClean="0"/>
              <a:t>I/O</a:t>
            </a:r>
            <a:r>
              <a:rPr lang="zh-CN" altLang="en-US" dirty="0" smtClean="0"/>
              <a:t>端口。</a:t>
            </a:r>
            <a:r>
              <a:rPr lang="en-US" altLang="zh-CN" dirty="0" smtClean="0"/>
              <a:t>P4-</a:t>
            </a:r>
            <a:r>
              <a:rPr lang="zh-CN" altLang="en-US" dirty="0" smtClean="0"/>
              <a:t>看外设</a:t>
            </a:r>
            <a:r>
              <a:rPr lang="en-US" altLang="zh-CN" dirty="0" smtClean="0"/>
              <a:t>-</a:t>
            </a:r>
            <a:r>
              <a:rPr lang="zh-CN" altLang="en-US" dirty="0" smtClean="0"/>
              <a:t>端口的关系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看鼠标接口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配向膜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刻在电极上面的凹槽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P26-</a:t>
            </a:r>
            <a:r>
              <a:rPr lang="zh-CN" altLang="en-US" dirty="0" smtClean="0"/>
              <a:t>看扇区扇角固定，</a:t>
            </a:r>
            <a:r>
              <a:rPr lang="en-US" altLang="zh-CN" dirty="0" smtClean="0"/>
              <a:t>P27-</a:t>
            </a:r>
            <a:r>
              <a:rPr lang="zh-CN" altLang="en-US" dirty="0" smtClean="0"/>
              <a:t>看转动方式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3B39EE4F-3A0A-4CFC-882C-06BB8ED2DF1B}" type="slidenum">
              <a:rPr lang="en-US" altLang="zh-CN"/>
            </a:fld>
            <a:endParaRPr lang="en-US" altLang="zh-CN"/>
          </a:p>
        </p:txBody>
      </p:sp>
      <p:sp>
        <p:nvSpPr>
          <p:cNvPr id="119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I/O</a:t>
            </a:r>
            <a:r>
              <a:rPr lang="zh-CN" altLang="en-US"/>
              <a:t>接口仅中转信息，永远不会主动产生信息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看功能需求，</a:t>
            </a:r>
            <a:r>
              <a:rPr lang="en-US" altLang="zh-CN" dirty="0" smtClean="0"/>
              <a:t>P7-</a:t>
            </a:r>
            <a:r>
              <a:rPr lang="zh-CN" altLang="en-US" dirty="0" smtClean="0"/>
              <a:t>看设置设备选择电路的原因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否，无条件传送设备传送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个数据</a:t>
            </a:r>
            <a:r>
              <a:rPr lang="en-US" altLang="zh-CN" dirty="0" smtClean="0"/>
              <a:t>/</a:t>
            </a:r>
            <a:r>
              <a:rPr lang="zh-CN" altLang="en-US" dirty="0" smtClean="0"/>
              <a:t>次、无联络信号线，串行传输时不同位间须进行定时，有联络信号，无法连接；</a:t>
            </a:r>
            <a:endParaRPr lang="en-US" altLang="zh-CN" dirty="0" smtClean="0"/>
          </a:p>
          <a:p>
            <a:r>
              <a:rPr lang="zh-CN" altLang="en-US" dirty="0" smtClean="0"/>
              <a:t>      是，所连设备为条件传送设备，而启动设备的命令需暂存在控制</a:t>
            </a:r>
            <a:r>
              <a:rPr lang="zh-CN" altLang="en-US" dirty="0" smtClean="0"/>
              <a:t>口中。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P11-</a:t>
            </a:r>
            <a:r>
              <a:rPr lang="zh-CN" altLang="en-US" dirty="0" smtClean="0"/>
              <a:t>看程序查询方式基本思想，</a:t>
            </a:r>
            <a:r>
              <a:rPr lang="en-US" altLang="zh-CN" dirty="0" smtClean="0"/>
              <a:t>P30-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接口的端口类型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I/O</a:t>
            </a:r>
            <a:r>
              <a:rPr lang="zh-CN" altLang="en-US" dirty="0" smtClean="0"/>
              <a:t>接口组成，</a:t>
            </a:r>
            <a:r>
              <a:rPr lang="en-US" altLang="zh-CN" dirty="0" smtClean="0"/>
              <a:t>P32-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C</a:t>
            </a:r>
            <a:r>
              <a:rPr lang="zh-CN" altLang="en-US" dirty="0" smtClean="0"/>
              <a:t>语言的</a:t>
            </a:r>
            <a:r>
              <a:rPr lang="en-US" altLang="zh-CN" dirty="0" smtClean="0"/>
              <a:t>I/O</a:t>
            </a:r>
            <a:r>
              <a:rPr lang="zh-CN" altLang="en-US" dirty="0" smtClean="0"/>
              <a:t>函数格式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CF9ED8A3-DA9A-47EF-8F65-033EE057B889}" type="slidenum">
              <a:rPr lang="en-US" altLang="zh-CN"/>
            </a:fld>
            <a:endParaRPr lang="en-US" altLang="zh-CN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/>
              <a:t>INTR—</a:t>
            </a:r>
            <a:r>
              <a:rPr lang="zh-CN" altLang="en-US" dirty="0" smtClean="0"/>
              <a:t>大多是</a:t>
            </a:r>
            <a:r>
              <a:rPr lang="en-US" altLang="zh-CN" dirty="0" smtClean="0"/>
              <a:t>I/O</a:t>
            </a:r>
            <a:r>
              <a:rPr lang="zh-CN" altLang="en-US" dirty="0" smtClean="0"/>
              <a:t>中断，时钟中断是非</a:t>
            </a:r>
            <a:r>
              <a:rPr lang="en-US" altLang="zh-CN" dirty="0" smtClean="0"/>
              <a:t>I/O</a:t>
            </a:r>
            <a:r>
              <a:rPr lang="zh-CN" altLang="en-US" dirty="0" smtClean="0"/>
              <a:t>中断</a:t>
            </a:r>
            <a:endParaRPr lang="en-US" altLang="zh-CN" dirty="0" smtClean="0"/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/>
              <a:t>多重中断只在向量中断时才发生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上页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-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看向量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非向量方式的事件类型识别方法</a:t>
            </a:r>
            <a:endParaRPr kumimoji="1" lang="en-US" altLang="zh-CN" sz="1200" b="0" kern="1200" dirty="0" smtClean="0">
              <a:solidFill>
                <a:schemeClr val="tx1"/>
              </a:solidFill>
              <a:latin typeface="+mn-ea"/>
              <a:ea typeface="宋体" panose="02010600030101010101" pitchFamily="2" charset="-122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场景：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在看书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某段差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字看完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)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，听到有人喊：</a:t>
            </a:r>
            <a:r>
              <a:rPr lang="en-US" altLang="zh-CN" sz="1200" b="0" dirty="0" smtClean="0"/>
              <a:t>“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A,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帮个忙</a:t>
            </a:r>
            <a:r>
              <a:rPr lang="en-US" altLang="zh-CN" sz="1200" b="0" dirty="0" smtClean="0"/>
              <a:t>”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、</a:t>
            </a:r>
            <a:r>
              <a:rPr lang="en-US" altLang="zh-CN" sz="1200" b="0" dirty="0" smtClean="0"/>
              <a:t>“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A,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老师找</a:t>
            </a:r>
            <a:r>
              <a:rPr lang="en-US" altLang="zh-CN" sz="1200" b="0" dirty="0" smtClean="0"/>
              <a:t>”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会怎么做？若同时要打喷嚏，</a:t>
            </a:r>
            <a:r>
              <a:rPr kumimoji="1" lang="en-US" altLang="zh-CN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1200" b="0" kern="1200" dirty="0" smtClean="0">
                <a:solidFill>
                  <a:schemeClr val="tx1"/>
                </a:solidFill>
                <a:latin typeface="+mn-ea"/>
                <a:ea typeface="宋体" panose="02010600030101010101" pitchFamily="2" charset="-122"/>
                <a:cs typeface="+mn-cs"/>
              </a:rPr>
              <a:t>会怎么做？</a:t>
            </a:r>
            <a:endParaRPr kumimoji="1" lang="en-US" altLang="zh-CN" sz="1200" b="0" kern="1200" dirty="0" smtClean="0">
              <a:solidFill>
                <a:schemeClr val="tx1"/>
              </a:solidFill>
              <a:latin typeface="+mn-e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P39-</a:t>
            </a:r>
            <a:r>
              <a:rPr lang="zh-CN" altLang="en-US" dirty="0" smtClean="0"/>
              <a:t>看提供中断类型号的需求（向量中断时需要），</a:t>
            </a:r>
            <a:r>
              <a:rPr lang="en-US" altLang="zh-CN" dirty="0" smtClean="0"/>
              <a:t>P35-</a:t>
            </a:r>
            <a:r>
              <a:rPr lang="zh-CN" altLang="en-US" dirty="0" smtClean="0"/>
              <a:t>看查询接口结构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P44-</a:t>
            </a:r>
            <a:r>
              <a:rPr lang="zh-CN" altLang="en-US" dirty="0" smtClean="0"/>
              <a:t>看串行判优需设置</a:t>
            </a:r>
            <a:r>
              <a:rPr lang="en-US" altLang="zh-CN" dirty="0" smtClean="0"/>
              <a:t>INTA#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P49-</a:t>
            </a:r>
            <a:r>
              <a:rPr lang="zh-CN" altLang="en-US" dirty="0" smtClean="0"/>
              <a:t>看后援寄存器堆与栈的区别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P42-</a:t>
            </a:r>
            <a:r>
              <a:rPr lang="zh-CN" altLang="en-US" dirty="0" smtClean="0"/>
              <a:t>看如何修改中断屏蔽字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P13-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DMA</a:t>
            </a:r>
            <a:r>
              <a:rPr lang="zh-CN" altLang="en-US" dirty="0" smtClean="0"/>
              <a:t>方式基本思想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4AA0030A-E5B3-4BF6-917E-C42A3F788BDD}" type="slidenum">
              <a:rPr lang="en-US" altLang="zh-CN"/>
            </a:fld>
            <a:endParaRPr lang="en-US" altLang="zh-CN"/>
          </a:p>
        </p:txBody>
      </p:sp>
      <p:sp>
        <p:nvSpPr>
          <p:cNvPr id="387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87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思考：传送准备时通知</a:t>
            </a:r>
            <a:r>
              <a:rPr lang="en-US" altLang="zh-CN" dirty="0"/>
              <a:t>DMA</a:t>
            </a:r>
            <a:r>
              <a:rPr lang="zh-CN" altLang="en-US" dirty="0" smtClean="0"/>
              <a:t>接口，</a:t>
            </a:r>
            <a:r>
              <a:rPr lang="en-US" altLang="zh-CN" dirty="0" smtClean="0"/>
              <a:t>P49-</a:t>
            </a:r>
            <a:r>
              <a:rPr lang="zh-CN" altLang="en-US" dirty="0" smtClean="0"/>
              <a:t>看思考的结果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上页</a:t>
            </a:r>
            <a:r>
              <a:rPr lang="en-US" altLang="zh-CN" dirty="0" smtClean="0"/>
              <a:t>-</a:t>
            </a:r>
            <a:r>
              <a:rPr lang="zh-CN" altLang="en-US" dirty="0" smtClean="0"/>
              <a:t>看</a:t>
            </a:r>
            <a:r>
              <a:rPr lang="en-US" altLang="zh-CN" dirty="0" smtClean="0"/>
              <a:t>MAC</a:t>
            </a:r>
            <a:r>
              <a:rPr lang="zh-CN" altLang="en-US" dirty="0" smtClean="0"/>
              <a:t>、</a:t>
            </a:r>
            <a:r>
              <a:rPr lang="en-US" altLang="zh-CN" dirty="0" smtClean="0"/>
              <a:t>WC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P54-</a:t>
            </a:r>
            <a:r>
              <a:rPr lang="zh-CN" altLang="en-US" dirty="0" smtClean="0"/>
              <a:t>看周期挪用方式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P55-</a:t>
            </a:r>
            <a:r>
              <a:rPr lang="zh-CN" altLang="en-US" dirty="0" smtClean="0"/>
              <a:t>预处理操作的变化，</a:t>
            </a:r>
            <a:r>
              <a:rPr lang="en-US" altLang="zh-CN" dirty="0" smtClean="0"/>
              <a:t>P56-</a:t>
            </a:r>
            <a:r>
              <a:rPr lang="zh-CN" altLang="en-US" dirty="0" smtClean="0"/>
              <a:t>看数据传送操作的变化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28F501-268A-4A38-8063-C71DEAA87094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7C6862-A99F-4BF7-80D1-C0F02647252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34150B-C5E0-4AB8-A867-07E4F49CA59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ED96AE-80B3-4773-80E4-CB34FBEA0A4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F8BEB8-428B-4267-AB1F-86E3A50339B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B2C319-D382-4C48-AAFA-6F2FA8CC829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B3F6BA-030E-4581-9EFB-7CFE8F87730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</p:spPr>
        <p:txBody>
          <a:bodyPr lIns="18000" tIns="10800" rIns="18000" bIns="10800" anchor="ctr" anchorCtr="0"/>
          <a:lstStyle>
            <a:lvl1pPr algn="ctr">
              <a:defRPr sz="1600"/>
            </a:lvl1pPr>
          </a:lstStyle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8" name="灯片编号占位符 3"/>
          <p:cNvSpPr txBox="1"/>
          <p:nvPr userDrawn="1"/>
        </p:nvSpPr>
        <p:spPr bwMode="auto">
          <a:xfrm>
            <a:off x="0" y="6453336"/>
            <a:ext cx="1187624" cy="360040"/>
          </a:xfrm>
          <a:prstGeom prst="rect">
            <a:avLst/>
          </a:prstGeom>
          <a:blipFill dpi="0" rotWithShape="1">
            <a:blip r:embed="rId2">
              <a:alphaModFix amt="70000"/>
            </a:blip>
            <a:srcRect/>
            <a:tile tx="0" ty="0" sx="100000" sy="100000" flip="none" algn="tl"/>
          </a:blipFill>
          <a:ln w="9525">
            <a:noFill/>
            <a:miter lim="800000"/>
          </a:ln>
          <a:effectLst/>
        </p:spPr>
        <p:txBody>
          <a:bodyPr vert="horz" wrap="square" lIns="18000" tIns="10800" rIns="18000" bIns="10800" numCol="1" anchor="ctr" anchorCtr="0" compatLnSpc="1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16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SEU.CSE.RGL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MS Gothic" panose="020B0609070205080204" pitchFamily="49" charset="-128"/>
              <a:ea typeface="MS Gothic" panose="020B0609070205080204" pitchFamily="49" charset="-128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48217-B177-4C4F-A12A-E56325AC5A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D91E3-76FA-42E8-87FE-BEA5ED71C0E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973717-EC35-4BF0-881D-4E659AD1BA9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41B90A-EC7E-4FC4-BEB2-9EA433C5D8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37FB261-CD5A-4067-B1EE-6F5F88DB559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slide" Target="slide49.xml"/><Relationship Id="rId5" Type="http://schemas.openxmlformats.org/officeDocument/2006/relationships/slide" Target="slide37.xml"/><Relationship Id="rId4" Type="http://schemas.openxmlformats.org/officeDocument/2006/relationships/slide" Target="slide33.xml"/><Relationship Id="rId3" Type="http://schemas.openxmlformats.org/officeDocument/2006/relationships/slide" Target="slide29.xml"/><Relationship Id="rId2" Type="http://schemas.openxmlformats.org/officeDocument/2006/relationships/slide" Target="slide1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slide" Target="slide9.xml"/><Relationship Id="rId1" Type="http://schemas.openxmlformats.org/officeDocument/2006/relationships/slide" Target="slide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slide" Target="slide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slide" Target="slide8.xml"/><Relationship Id="rId1" Type="http://schemas.openxmlformats.org/officeDocument/2006/relationships/slide" Target="slide3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99" Type="http://schemas.openxmlformats.org/officeDocument/2006/relationships/tags" Target="../tags/tag104.xml"/><Relationship Id="rId98" Type="http://schemas.openxmlformats.org/officeDocument/2006/relationships/tags" Target="../tags/tag103.xml"/><Relationship Id="rId97" Type="http://schemas.openxmlformats.org/officeDocument/2006/relationships/tags" Target="../tags/tag102.xml"/><Relationship Id="rId96" Type="http://schemas.openxmlformats.org/officeDocument/2006/relationships/tags" Target="../tags/tag101.xml"/><Relationship Id="rId95" Type="http://schemas.openxmlformats.org/officeDocument/2006/relationships/tags" Target="../tags/tag100.xml"/><Relationship Id="rId94" Type="http://schemas.openxmlformats.org/officeDocument/2006/relationships/tags" Target="../tags/tag99.xml"/><Relationship Id="rId93" Type="http://schemas.openxmlformats.org/officeDocument/2006/relationships/tags" Target="../tags/tag98.xml"/><Relationship Id="rId92" Type="http://schemas.openxmlformats.org/officeDocument/2006/relationships/tags" Target="../tags/tag97.xml"/><Relationship Id="rId91" Type="http://schemas.openxmlformats.org/officeDocument/2006/relationships/tags" Target="../tags/tag96.xml"/><Relationship Id="rId90" Type="http://schemas.openxmlformats.org/officeDocument/2006/relationships/tags" Target="../tags/tag95.xml"/><Relationship Id="rId9" Type="http://schemas.openxmlformats.org/officeDocument/2006/relationships/tags" Target="../tags/tag14.xml"/><Relationship Id="rId89" Type="http://schemas.openxmlformats.org/officeDocument/2006/relationships/tags" Target="../tags/tag94.xml"/><Relationship Id="rId88" Type="http://schemas.openxmlformats.org/officeDocument/2006/relationships/tags" Target="../tags/tag93.xml"/><Relationship Id="rId87" Type="http://schemas.openxmlformats.org/officeDocument/2006/relationships/tags" Target="../tags/tag92.xml"/><Relationship Id="rId86" Type="http://schemas.openxmlformats.org/officeDocument/2006/relationships/tags" Target="../tags/tag91.xml"/><Relationship Id="rId85" Type="http://schemas.openxmlformats.org/officeDocument/2006/relationships/tags" Target="../tags/tag90.xml"/><Relationship Id="rId84" Type="http://schemas.openxmlformats.org/officeDocument/2006/relationships/tags" Target="../tags/tag89.xml"/><Relationship Id="rId83" Type="http://schemas.openxmlformats.org/officeDocument/2006/relationships/tags" Target="../tags/tag88.xml"/><Relationship Id="rId82" Type="http://schemas.openxmlformats.org/officeDocument/2006/relationships/tags" Target="../tags/tag87.xml"/><Relationship Id="rId81" Type="http://schemas.openxmlformats.org/officeDocument/2006/relationships/tags" Target="../tags/tag86.xml"/><Relationship Id="rId80" Type="http://schemas.openxmlformats.org/officeDocument/2006/relationships/tags" Target="../tags/tag85.xml"/><Relationship Id="rId8" Type="http://schemas.openxmlformats.org/officeDocument/2006/relationships/tags" Target="../tags/tag13.xml"/><Relationship Id="rId79" Type="http://schemas.openxmlformats.org/officeDocument/2006/relationships/tags" Target="../tags/tag84.xml"/><Relationship Id="rId78" Type="http://schemas.openxmlformats.org/officeDocument/2006/relationships/tags" Target="../tags/tag83.xml"/><Relationship Id="rId77" Type="http://schemas.openxmlformats.org/officeDocument/2006/relationships/tags" Target="../tags/tag82.xml"/><Relationship Id="rId76" Type="http://schemas.openxmlformats.org/officeDocument/2006/relationships/tags" Target="../tags/tag81.xml"/><Relationship Id="rId75" Type="http://schemas.openxmlformats.org/officeDocument/2006/relationships/tags" Target="../tags/tag80.xml"/><Relationship Id="rId74" Type="http://schemas.openxmlformats.org/officeDocument/2006/relationships/tags" Target="../tags/tag79.xml"/><Relationship Id="rId73" Type="http://schemas.openxmlformats.org/officeDocument/2006/relationships/tags" Target="../tags/tag78.xml"/><Relationship Id="rId72" Type="http://schemas.openxmlformats.org/officeDocument/2006/relationships/tags" Target="../tags/tag77.xml"/><Relationship Id="rId71" Type="http://schemas.openxmlformats.org/officeDocument/2006/relationships/tags" Target="../tags/tag76.xml"/><Relationship Id="rId70" Type="http://schemas.openxmlformats.org/officeDocument/2006/relationships/tags" Target="../tags/tag75.xml"/><Relationship Id="rId7" Type="http://schemas.openxmlformats.org/officeDocument/2006/relationships/tags" Target="../tags/tag12.xml"/><Relationship Id="rId69" Type="http://schemas.openxmlformats.org/officeDocument/2006/relationships/tags" Target="../tags/tag74.xml"/><Relationship Id="rId68" Type="http://schemas.openxmlformats.org/officeDocument/2006/relationships/tags" Target="../tags/tag73.xml"/><Relationship Id="rId67" Type="http://schemas.openxmlformats.org/officeDocument/2006/relationships/tags" Target="../tags/tag72.xml"/><Relationship Id="rId66" Type="http://schemas.openxmlformats.org/officeDocument/2006/relationships/tags" Target="../tags/tag71.xml"/><Relationship Id="rId65" Type="http://schemas.openxmlformats.org/officeDocument/2006/relationships/tags" Target="../tags/tag70.xml"/><Relationship Id="rId64" Type="http://schemas.openxmlformats.org/officeDocument/2006/relationships/tags" Target="../tags/tag69.xml"/><Relationship Id="rId63" Type="http://schemas.openxmlformats.org/officeDocument/2006/relationships/tags" Target="../tags/tag68.xml"/><Relationship Id="rId62" Type="http://schemas.openxmlformats.org/officeDocument/2006/relationships/tags" Target="../tags/tag67.xml"/><Relationship Id="rId61" Type="http://schemas.openxmlformats.org/officeDocument/2006/relationships/tags" Target="../tags/tag66.xml"/><Relationship Id="rId60" Type="http://schemas.openxmlformats.org/officeDocument/2006/relationships/tags" Target="../tags/tag65.xml"/><Relationship Id="rId6" Type="http://schemas.openxmlformats.org/officeDocument/2006/relationships/tags" Target="../tags/tag11.xml"/><Relationship Id="rId59" Type="http://schemas.openxmlformats.org/officeDocument/2006/relationships/tags" Target="../tags/tag64.xml"/><Relationship Id="rId58" Type="http://schemas.openxmlformats.org/officeDocument/2006/relationships/tags" Target="../tags/tag63.xml"/><Relationship Id="rId57" Type="http://schemas.openxmlformats.org/officeDocument/2006/relationships/tags" Target="../tags/tag62.xml"/><Relationship Id="rId56" Type="http://schemas.openxmlformats.org/officeDocument/2006/relationships/tags" Target="../tags/tag61.xml"/><Relationship Id="rId55" Type="http://schemas.openxmlformats.org/officeDocument/2006/relationships/tags" Target="../tags/tag60.xml"/><Relationship Id="rId54" Type="http://schemas.openxmlformats.org/officeDocument/2006/relationships/tags" Target="../tags/tag59.xml"/><Relationship Id="rId53" Type="http://schemas.openxmlformats.org/officeDocument/2006/relationships/tags" Target="../tags/tag58.xml"/><Relationship Id="rId52" Type="http://schemas.openxmlformats.org/officeDocument/2006/relationships/tags" Target="../tags/tag57.xml"/><Relationship Id="rId51" Type="http://schemas.openxmlformats.org/officeDocument/2006/relationships/tags" Target="../tags/tag56.xml"/><Relationship Id="rId50" Type="http://schemas.openxmlformats.org/officeDocument/2006/relationships/tags" Target="../tags/tag55.xml"/><Relationship Id="rId5" Type="http://schemas.openxmlformats.org/officeDocument/2006/relationships/tags" Target="../tags/tag10.xml"/><Relationship Id="rId49" Type="http://schemas.openxmlformats.org/officeDocument/2006/relationships/tags" Target="../tags/tag54.xml"/><Relationship Id="rId48" Type="http://schemas.openxmlformats.org/officeDocument/2006/relationships/tags" Target="../tags/tag53.xml"/><Relationship Id="rId47" Type="http://schemas.openxmlformats.org/officeDocument/2006/relationships/tags" Target="../tags/tag52.xml"/><Relationship Id="rId46" Type="http://schemas.openxmlformats.org/officeDocument/2006/relationships/tags" Target="../tags/tag51.xml"/><Relationship Id="rId45" Type="http://schemas.openxmlformats.org/officeDocument/2006/relationships/tags" Target="../tags/tag50.xml"/><Relationship Id="rId44" Type="http://schemas.openxmlformats.org/officeDocument/2006/relationships/tags" Target="../tags/tag49.xml"/><Relationship Id="rId43" Type="http://schemas.openxmlformats.org/officeDocument/2006/relationships/tags" Target="../tags/tag48.xml"/><Relationship Id="rId42" Type="http://schemas.openxmlformats.org/officeDocument/2006/relationships/tags" Target="../tags/tag47.xml"/><Relationship Id="rId41" Type="http://schemas.openxmlformats.org/officeDocument/2006/relationships/tags" Target="../tags/tag46.xml"/><Relationship Id="rId40" Type="http://schemas.openxmlformats.org/officeDocument/2006/relationships/tags" Target="../tags/tag45.xml"/><Relationship Id="rId4" Type="http://schemas.openxmlformats.org/officeDocument/2006/relationships/tags" Target="../tags/tag9.xml"/><Relationship Id="rId39" Type="http://schemas.openxmlformats.org/officeDocument/2006/relationships/tags" Target="../tags/tag44.xml"/><Relationship Id="rId38" Type="http://schemas.openxmlformats.org/officeDocument/2006/relationships/tags" Target="../tags/tag43.xml"/><Relationship Id="rId37" Type="http://schemas.openxmlformats.org/officeDocument/2006/relationships/tags" Target="../tags/tag42.xml"/><Relationship Id="rId36" Type="http://schemas.openxmlformats.org/officeDocument/2006/relationships/tags" Target="../tags/tag41.xml"/><Relationship Id="rId35" Type="http://schemas.openxmlformats.org/officeDocument/2006/relationships/tags" Target="../tags/tag40.xml"/><Relationship Id="rId34" Type="http://schemas.openxmlformats.org/officeDocument/2006/relationships/tags" Target="../tags/tag39.xml"/><Relationship Id="rId33" Type="http://schemas.openxmlformats.org/officeDocument/2006/relationships/tags" Target="../tags/tag38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4" Type="http://schemas.openxmlformats.org/officeDocument/2006/relationships/slideLayout" Target="../slideLayouts/slideLayout7.xml"/><Relationship Id="rId133" Type="http://schemas.openxmlformats.org/officeDocument/2006/relationships/tags" Target="../tags/tag138.xml"/><Relationship Id="rId132" Type="http://schemas.openxmlformats.org/officeDocument/2006/relationships/tags" Target="../tags/tag137.xml"/><Relationship Id="rId131" Type="http://schemas.openxmlformats.org/officeDocument/2006/relationships/tags" Target="../tags/tag136.xml"/><Relationship Id="rId130" Type="http://schemas.openxmlformats.org/officeDocument/2006/relationships/tags" Target="../tags/tag135.xml"/><Relationship Id="rId13" Type="http://schemas.openxmlformats.org/officeDocument/2006/relationships/tags" Target="../tags/tag18.xml"/><Relationship Id="rId129" Type="http://schemas.openxmlformats.org/officeDocument/2006/relationships/tags" Target="../tags/tag134.xml"/><Relationship Id="rId128" Type="http://schemas.openxmlformats.org/officeDocument/2006/relationships/tags" Target="../tags/tag133.xml"/><Relationship Id="rId127" Type="http://schemas.openxmlformats.org/officeDocument/2006/relationships/tags" Target="../tags/tag132.xml"/><Relationship Id="rId126" Type="http://schemas.openxmlformats.org/officeDocument/2006/relationships/tags" Target="../tags/tag131.xml"/><Relationship Id="rId125" Type="http://schemas.openxmlformats.org/officeDocument/2006/relationships/tags" Target="../tags/tag130.xml"/><Relationship Id="rId124" Type="http://schemas.openxmlformats.org/officeDocument/2006/relationships/tags" Target="../tags/tag129.xml"/><Relationship Id="rId123" Type="http://schemas.openxmlformats.org/officeDocument/2006/relationships/tags" Target="../tags/tag128.xml"/><Relationship Id="rId122" Type="http://schemas.openxmlformats.org/officeDocument/2006/relationships/tags" Target="../tags/tag127.xml"/><Relationship Id="rId121" Type="http://schemas.openxmlformats.org/officeDocument/2006/relationships/tags" Target="../tags/tag126.xml"/><Relationship Id="rId120" Type="http://schemas.openxmlformats.org/officeDocument/2006/relationships/tags" Target="../tags/tag125.xml"/><Relationship Id="rId12" Type="http://schemas.openxmlformats.org/officeDocument/2006/relationships/tags" Target="../tags/tag17.xml"/><Relationship Id="rId119" Type="http://schemas.openxmlformats.org/officeDocument/2006/relationships/tags" Target="../tags/tag124.xml"/><Relationship Id="rId118" Type="http://schemas.openxmlformats.org/officeDocument/2006/relationships/tags" Target="../tags/tag123.xml"/><Relationship Id="rId117" Type="http://schemas.openxmlformats.org/officeDocument/2006/relationships/tags" Target="../tags/tag122.xml"/><Relationship Id="rId116" Type="http://schemas.openxmlformats.org/officeDocument/2006/relationships/tags" Target="../tags/tag121.xml"/><Relationship Id="rId115" Type="http://schemas.openxmlformats.org/officeDocument/2006/relationships/tags" Target="../tags/tag120.xml"/><Relationship Id="rId114" Type="http://schemas.openxmlformats.org/officeDocument/2006/relationships/tags" Target="../tags/tag119.xml"/><Relationship Id="rId113" Type="http://schemas.openxmlformats.org/officeDocument/2006/relationships/tags" Target="../tags/tag118.xml"/><Relationship Id="rId112" Type="http://schemas.openxmlformats.org/officeDocument/2006/relationships/tags" Target="../tags/tag117.xml"/><Relationship Id="rId111" Type="http://schemas.openxmlformats.org/officeDocument/2006/relationships/tags" Target="../tags/tag116.xml"/><Relationship Id="rId110" Type="http://schemas.openxmlformats.org/officeDocument/2006/relationships/tags" Target="../tags/tag115.xml"/><Relationship Id="rId11" Type="http://schemas.openxmlformats.org/officeDocument/2006/relationships/tags" Target="../tags/tag16.xml"/><Relationship Id="rId109" Type="http://schemas.openxmlformats.org/officeDocument/2006/relationships/tags" Target="../tags/tag114.xml"/><Relationship Id="rId108" Type="http://schemas.openxmlformats.org/officeDocument/2006/relationships/tags" Target="../tags/tag113.xml"/><Relationship Id="rId107" Type="http://schemas.openxmlformats.org/officeDocument/2006/relationships/tags" Target="../tags/tag112.xml"/><Relationship Id="rId106" Type="http://schemas.openxmlformats.org/officeDocument/2006/relationships/tags" Target="../tags/tag111.xml"/><Relationship Id="rId105" Type="http://schemas.openxmlformats.org/officeDocument/2006/relationships/tags" Target="../tags/tag110.xml"/><Relationship Id="rId104" Type="http://schemas.openxmlformats.org/officeDocument/2006/relationships/tags" Target="../tags/tag109.xml"/><Relationship Id="rId103" Type="http://schemas.openxmlformats.org/officeDocument/2006/relationships/tags" Target="../tags/tag108.xml"/><Relationship Id="rId102" Type="http://schemas.openxmlformats.org/officeDocument/2006/relationships/tags" Target="../tags/tag107.xml"/><Relationship Id="rId101" Type="http://schemas.openxmlformats.org/officeDocument/2006/relationships/tags" Target="../tags/tag106.xml"/><Relationship Id="rId100" Type="http://schemas.openxmlformats.org/officeDocument/2006/relationships/tags" Target="../tags/tag105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2" Type="http://schemas.openxmlformats.org/officeDocument/2006/relationships/notesSlide" Target="../notesSlides/notesSlide12.xml"/><Relationship Id="rId51" Type="http://schemas.openxmlformats.org/officeDocument/2006/relationships/slideLayout" Target="../slideLayouts/slideLayout7.xml"/><Relationship Id="rId50" Type="http://schemas.openxmlformats.org/officeDocument/2006/relationships/tags" Target="../tags/tag188.xml"/><Relationship Id="rId5" Type="http://schemas.openxmlformats.org/officeDocument/2006/relationships/tags" Target="../tags/tag143.xml"/><Relationship Id="rId49" Type="http://schemas.openxmlformats.org/officeDocument/2006/relationships/tags" Target="../tags/tag187.xml"/><Relationship Id="rId48" Type="http://schemas.openxmlformats.org/officeDocument/2006/relationships/tags" Target="../tags/tag186.xml"/><Relationship Id="rId47" Type="http://schemas.openxmlformats.org/officeDocument/2006/relationships/tags" Target="../tags/tag185.xml"/><Relationship Id="rId46" Type="http://schemas.openxmlformats.org/officeDocument/2006/relationships/tags" Target="../tags/tag184.xml"/><Relationship Id="rId45" Type="http://schemas.openxmlformats.org/officeDocument/2006/relationships/tags" Target="../tags/tag183.xml"/><Relationship Id="rId44" Type="http://schemas.openxmlformats.org/officeDocument/2006/relationships/tags" Target="../tags/tag182.xml"/><Relationship Id="rId43" Type="http://schemas.openxmlformats.org/officeDocument/2006/relationships/tags" Target="../tags/tag181.xml"/><Relationship Id="rId42" Type="http://schemas.openxmlformats.org/officeDocument/2006/relationships/tags" Target="../tags/tag180.xml"/><Relationship Id="rId41" Type="http://schemas.openxmlformats.org/officeDocument/2006/relationships/tags" Target="../tags/tag179.xml"/><Relationship Id="rId40" Type="http://schemas.openxmlformats.org/officeDocument/2006/relationships/tags" Target="../tags/tag178.xml"/><Relationship Id="rId4" Type="http://schemas.openxmlformats.org/officeDocument/2006/relationships/tags" Target="../tags/tag142.xml"/><Relationship Id="rId39" Type="http://schemas.openxmlformats.org/officeDocument/2006/relationships/tags" Target="../tags/tag177.xml"/><Relationship Id="rId38" Type="http://schemas.openxmlformats.org/officeDocument/2006/relationships/tags" Target="../tags/tag176.xml"/><Relationship Id="rId37" Type="http://schemas.openxmlformats.org/officeDocument/2006/relationships/tags" Target="../tags/tag175.xml"/><Relationship Id="rId36" Type="http://schemas.openxmlformats.org/officeDocument/2006/relationships/tags" Target="../tags/tag174.xml"/><Relationship Id="rId35" Type="http://schemas.openxmlformats.org/officeDocument/2006/relationships/tags" Target="../tags/tag173.xml"/><Relationship Id="rId34" Type="http://schemas.openxmlformats.org/officeDocument/2006/relationships/tags" Target="../tags/tag172.xml"/><Relationship Id="rId33" Type="http://schemas.openxmlformats.org/officeDocument/2006/relationships/tags" Target="../tags/tag171.xml"/><Relationship Id="rId32" Type="http://schemas.openxmlformats.org/officeDocument/2006/relationships/tags" Target="../tags/tag170.xml"/><Relationship Id="rId31" Type="http://schemas.openxmlformats.org/officeDocument/2006/relationships/tags" Target="../tags/tag169.xml"/><Relationship Id="rId30" Type="http://schemas.openxmlformats.org/officeDocument/2006/relationships/tags" Target="../tags/tag168.xml"/><Relationship Id="rId3" Type="http://schemas.openxmlformats.org/officeDocument/2006/relationships/tags" Target="../tags/tag141.xml"/><Relationship Id="rId29" Type="http://schemas.openxmlformats.org/officeDocument/2006/relationships/tags" Target="../tags/tag167.xml"/><Relationship Id="rId28" Type="http://schemas.openxmlformats.org/officeDocument/2006/relationships/tags" Target="../tags/tag166.xml"/><Relationship Id="rId27" Type="http://schemas.openxmlformats.org/officeDocument/2006/relationships/tags" Target="../tags/tag165.xml"/><Relationship Id="rId26" Type="http://schemas.openxmlformats.org/officeDocument/2006/relationships/tags" Target="../tags/tag164.xml"/><Relationship Id="rId25" Type="http://schemas.openxmlformats.org/officeDocument/2006/relationships/tags" Target="../tags/tag163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tags" Target="../tags/tag203.xml"/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9" Type="http://schemas.openxmlformats.org/officeDocument/2006/relationships/slideLayout" Target="../slideLayouts/slideLayout7.xml"/><Relationship Id="rId48" Type="http://schemas.openxmlformats.org/officeDocument/2006/relationships/tags" Target="../tags/tag243.xml"/><Relationship Id="rId47" Type="http://schemas.openxmlformats.org/officeDocument/2006/relationships/slide" Target="slide2.xml"/><Relationship Id="rId46" Type="http://schemas.openxmlformats.org/officeDocument/2006/relationships/tags" Target="../tags/tag242.xml"/><Relationship Id="rId45" Type="http://schemas.openxmlformats.org/officeDocument/2006/relationships/tags" Target="../tags/tag241.xml"/><Relationship Id="rId44" Type="http://schemas.openxmlformats.org/officeDocument/2006/relationships/tags" Target="../tags/tag240.xml"/><Relationship Id="rId43" Type="http://schemas.openxmlformats.org/officeDocument/2006/relationships/tags" Target="../tags/tag239.xml"/><Relationship Id="rId42" Type="http://schemas.openxmlformats.org/officeDocument/2006/relationships/tags" Target="../tags/tag238.xml"/><Relationship Id="rId41" Type="http://schemas.openxmlformats.org/officeDocument/2006/relationships/tags" Target="../tags/tag237.xml"/><Relationship Id="rId40" Type="http://schemas.openxmlformats.org/officeDocument/2006/relationships/tags" Target="../tags/tag236.xml"/><Relationship Id="rId4" Type="http://schemas.openxmlformats.org/officeDocument/2006/relationships/tags" Target="../tags/tag200.xml"/><Relationship Id="rId39" Type="http://schemas.openxmlformats.org/officeDocument/2006/relationships/tags" Target="../tags/tag235.xml"/><Relationship Id="rId38" Type="http://schemas.openxmlformats.org/officeDocument/2006/relationships/tags" Target="../tags/tag234.xml"/><Relationship Id="rId37" Type="http://schemas.openxmlformats.org/officeDocument/2006/relationships/tags" Target="../tags/tag233.xml"/><Relationship Id="rId36" Type="http://schemas.openxmlformats.org/officeDocument/2006/relationships/tags" Target="../tags/tag232.xml"/><Relationship Id="rId35" Type="http://schemas.openxmlformats.org/officeDocument/2006/relationships/tags" Target="../tags/tag231.xml"/><Relationship Id="rId34" Type="http://schemas.openxmlformats.org/officeDocument/2006/relationships/tags" Target="../tags/tag230.xml"/><Relationship Id="rId33" Type="http://schemas.openxmlformats.org/officeDocument/2006/relationships/tags" Target="../tags/tag229.xml"/><Relationship Id="rId32" Type="http://schemas.openxmlformats.org/officeDocument/2006/relationships/tags" Target="../tags/tag228.xml"/><Relationship Id="rId31" Type="http://schemas.openxmlformats.org/officeDocument/2006/relationships/tags" Target="../tags/tag227.xml"/><Relationship Id="rId30" Type="http://schemas.openxmlformats.org/officeDocument/2006/relationships/tags" Target="../tags/tag226.xml"/><Relationship Id="rId3" Type="http://schemas.openxmlformats.org/officeDocument/2006/relationships/tags" Target="../tags/tag199.xml"/><Relationship Id="rId29" Type="http://schemas.openxmlformats.org/officeDocument/2006/relationships/tags" Target="../tags/tag225.xml"/><Relationship Id="rId28" Type="http://schemas.openxmlformats.org/officeDocument/2006/relationships/tags" Target="../tags/tag224.xml"/><Relationship Id="rId27" Type="http://schemas.openxmlformats.org/officeDocument/2006/relationships/tags" Target="../tags/tag223.xml"/><Relationship Id="rId26" Type="http://schemas.openxmlformats.org/officeDocument/2006/relationships/tags" Target="../tags/tag222.xml"/><Relationship Id="rId25" Type="http://schemas.openxmlformats.org/officeDocument/2006/relationships/tags" Target="../tags/tag221.xml"/><Relationship Id="rId24" Type="http://schemas.openxmlformats.org/officeDocument/2006/relationships/tags" Target="../tags/tag220.xml"/><Relationship Id="rId23" Type="http://schemas.openxmlformats.org/officeDocument/2006/relationships/tags" Target="../tags/tag219.xml"/><Relationship Id="rId22" Type="http://schemas.openxmlformats.org/officeDocument/2006/relationships/tags" Target="../tags/tag218.xml"/><Relationship Id="rId21" Type="http://schemas.openxmlformats.org/officeDocument/2006/relationships/tags" Target="../tags/tag217.xml"/><Relationship Id="rId20" Type="http://schemas.openxmlformats.org/officeDocument/2006/relationships/tags" Target="../tags/tag216.xml"/><Relationship Id="rId2" Type="http://schemas.openxmlformats.org/officeDocument/2006/relationships/tags" Target="../tags/tag198.xml"/><Relationship Id="rId19" Type="http://schemas.openxmlformats.org/officeDocument/2006/relationships/tags" Target="../tags/tag215.xml"/><Relationship Id="rId18" Type="http://schemas.openxmlformats.org/officeDocument/2006/relationships/tags" Target="../tags/tag214.xml"/><Relationship Id="rId17" Type="http://schemas.openxmlformats.org/officeDocument/2006/relationships/tags" Target="../tags/tag213.xml"/><Relationship Id="rId16" Type="http://schemas.openxmlformats.org/officeDocument/2006/relationships/tags" Target="../tags/tag212.xml"/><Relationship Id="rId15" Type="http://schemas.openxmlformats.org/officeDocument/2006/relationships/tags" Target="../tags/tag211.xml"/><Relationship Id="rId14" Type="http://schemas.openxmlformats.org/officeDocument/2006/relationships/tags" Target="../tags/tag210.xml"/><Relationship Id="rId13" Type="http://schemas.openxmlformats.org/officeDocument/2006/relationships/tags" Target="../tags/tag209.xml"/><Relationship Id="rId12" Type="http://schemas.openxmlformats.org/officeDocument/2006/relationships/tags" Target="../tags/tag208.xml"/><Relationship Id="rId11" Type="http://schemas.openxmlformats.org/officeDocument/2006/relationships/tags" Target="../tags/tag207.xml"/><Relationship Id="rId10" Type="http://schemas.openxmlformats.org/officeDocument/2006/relationships/tags" Target="../tags/tag206.xml"/><Relationship Id="rId1" Type="http://schemas.openxmlformats.org/officeDocument/2006/relationships/tags" Target="../tags/tag19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slide" Target="slide33.xml"/><Relationship Id="rId2" Type="http://schemas.openxmlformats.org/officeDocument/2006/relationships/slide" Target="slide7.xml"/><Relationship Id="rId1" Type="http://schemas.openxmlformats.org/officeDocument/2006/relationships/slide" Target="slide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slide" Target="slide3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0.xml"/><Relationship Id="rId1" Type="http://schemas.openxmlformats.org/officeDocument/2006/relationships/slide" Target="slide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3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7.xml"/><Relationship Id="rId2" Type="http://schemas.openxmlformats.org/officeDocument/2006/relationships/slide" Target="slide2.xml"/><Relationship Id="rId1" Type="http://schemas.openxmlformats.org/officeDocument/2006/relationships/slide" Target="slide3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hyperlink" Target="&#35745;&#31639;&#26426;&#32452;&#25104;&#21407;&#29702;&#31532;5&#31456;.pptx#-1,81,PowerPoint%20&#28436;&#31034;&#25991;&#31295;" TargetMode="External"/><Relationship Id="rId2" Type="http://schemas.openxmlformats.org/officeDocument/2006/relationships/hyperlink" Target="&#35745;&#31639;&#26426;&#32452;&#25104;&#21407;&#29702;&#31532;5&#31456;.pptx#-1,83,PowerPoint%20&#28436;&#31034;&#25991;&#31295;" TargetMode="External"/><Relationship Id="rId1" Type="http://schemas.openxmlformats.org/officeDocument/2006/relationships/hyperlink" Target="&#35745;&#31639;&#26426;&#32452;&#25104;&#21407;&#29702;&#31532;5&#31456;.pptx#-1,79,PowerPoint%20&#28436;&#31034;&#25991;&#31295;" TargetMode="External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5745;&#31639;&#26426;&#32452;&#25104;&#21407;&#29702;&#31532;5&#31456;.pptx#-1,84,PowerPoint%20&#28436;&#31034;&#25991;&#31295;" TargetMode="External"/><Relationship Id="rId1" Type="http://schemas.openxmlformats.org/officeDocument/2006/relationships/slide" Target="slide4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7.xml"/><Relationship Id="rId2" Type="http://schemas.openxmlformats.org/officeDocument/2006/relationships/slide" Target="slide39.xml"/><Relationship Id="rId1" Type="http://schemas.openxmlformats.org/officeDocument/2006/relationships/slide" Target="slide35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1" Type="http://schemas.openxmlformats.org/officeDocument/2006/relationships/slideLayout" Target="../slideLayouts/slideLayout7.xml"/><Relationship Id="rId60" Type="http://schemas.openxmlformats.org/officeDocument/2006/relationships/tags" Target="../tags/tag301.xml"/><Relationship Id="rId6" Type="http://schemas.openxmlformats.org/officeDocument/2006/relationships/tags" Target="../tags/tag249.xml"/><Relationship Id="rId59" Type="http://schemas.openxmlformats.org/officeDocument/2006/relationships/slide" Target="slide46.xml"/><Relationship Id="rId58" Type="http://schemas.openxmlformats.org/officeDocument/2006/relationships/tags" Target="../tags/tag300.xml"/><Relationship Id="rId57" Type="http://schemas.openxmlformats.org/officeDocument/2006/relationships/slide" Target="slide48.xml"/><Relationship Id="rId56" Type="http://schemas.openxmlformats.org/officeDocument/2006/relationships/tags" Target="../tags/tag299.xml"/><Relationship Id="rId55" Type="http://schemas.openxmlformats.org/officeDocument/2006/relationships/tags" Target="../tags/tag298.xml"/><Relationship Id="rId54" Type="http://schemas.openxmlformats.org/officeDocument/2006/relationships/tags" Target="../tags/tag297.xml"/><Relationship Id="rId53" Type="http://schemas.openxmlformats.org/officeDocument/2006/relationships/tags" Target="../tags/tag296.xml"/><Relationship Id="rId52" Type="http://schemas.openxmlformats.org/officeDocument/2006/relationships/tags" Target="../tags/tag295.xml"/><Relationship Id="rId51" Type="http://schemas.openxmlformats.org/officeDocument/2006/relationships/tags" Target="../tags/tag294.xml"/><Relationship Id="rId50" Type="http://schemas.openxmlformats.org/officeDocument/2006/relationships/tags" Target="../tags/tag293.xml"/><Relationship Id="rId5" Type="http://schemas.openxmlformats.org/officeDocument/2006/relationships/tags" Target="../tags/tag248.xml"/><Relationship Id="rId49" Type="http://schemas.openxmlformats.org/officeDocument/2006/relationships/tags" Target="../tags/tag292.xml"/><Relationship Id="rId48" Type="http://schemas.openxmlformats.org/officeDocument/2006/relationships/tags" Target="../tags/tag291.xml"/><Relationship Id="rId47" Type="http://schemas.openxmlformats.org/officeDocument/2006/relationships/tags" Target="../tags/tag290.xml"/><Relationship Id="rId46" Type="http://schemas.openxmlformats.org/officeDocument/2006/relationships/tags" Target="../tags/tag289.xml"/><Relationship Id="rId45" Type="http://schemas.openxmlformats.org/officeDocument/2006/relationships/tags" Target="../tags/tag288.xml"/><Relationship Id="rId44" Type="http://schemas.openxmlformats.org/officeDocument/2006/relationships/tags" Target="../tags/tag287.xml"/><Relationship Id="rId43" Type="http://schemas.openxmlformats.org/officeDocument/2006/relationships/tags" Target="../tags/tag286.xml"/><Relationship Id="rId42" Type="http://schemas.openxmlformats.org/officeDocument/2006/relationships/tags" Target="../tags/tag285.xml"/><Relationship Id="rId41" Type="http://schemas.openxmlformats.org/officeDocument/2006/relationships/tags" Target="../tags/tag284.xml"/><Relationship Id="rId40" Type="http://schemas.openxmlformats.org/officeDocument/2006/relationships/tags" Target="../tags/tag283.xml"/><Relationship Id="rId4" Type="http://schemas.openxmlformats.org/officeDocument/2006/relationships/tags" Target="../tags/tag247.xml"/><Relationship Id="rId39" Type="http://schemas.openxmlformats.org/officeDocument/2006/relationships/tags" Target="../tags/tag282.xml"/><Relationship Id="rId38" Type="http://schemas.openxmlformats.org/officeDocument/2006/relationships/tags" Target="../tags/tag281.xml"/><Relationship Id="rId37" Type="http://schemas.openxmlformats.org/officeDocument/2006/relationships/tags" Target="../tags/tag280.xml"/><Relationship Id="rId36" Type="http://schemas.openxmlformats.org/officeDocument/2006/relationships/tags" Target="../tags/tag279.xml"/><Relationship Id="rId35" Type="http://schemas.openxmlformats.org/officeDocument/2006/relationships/tags" Target="../tags/tag278.xml"/><Relationship Id="rId34" Type="http://schemas.openxmlformats.org/officeDocument/2006/relationships/tags" Target="../tags/tag277.xml"/><Relationship Id="rId33" Type="http://schemas.openxmlformats.org/officeDocument/2006/relationships/tags" Target="../tags/tag276.xml"/><Relationship Id="rId32" Type="http://schemas.openxmlformats.org/officeDocument/2006/relationships/tags" Target="../tags/tag275.xml"/><Relationship Id="rId31" Type="http://schemas.openxmlformats.org/officeDocument/2006/relationships/tags" Target="../tags/tag274.xml"/><Relationship Id="rId30" Type="http://schemas.openxmlformats.org/officeDocument/2006/relationships/tags" Target="../tags/tag273.xml"/><Relationship Id="rId3" Type="http://schemas.openxmlformats.org/officeDocument/2006/relationships/tags" Target="../tags/tag246.xml"/><Relationship Id="rId29" Type="http://schemas.openxmlformats.org/officeDocument/2006/relationships/tags" Target="../tags/tag272.xml"/><Relationship Id="rId28" Type="http://schemas.openxmlformats.org/officeDocument/2006/relationships/tags" Target="../tags/tag271.xml"/><Relationship Id="rId27" Type="http://schemas.openxmlformats.org/officeDocument/2006/relationships/tags" Target="../tags/tag270.xml"/><Relationship Id="rId26" Type="http://schemas.openxmlformats.org/officeDocument/2006/relationships/tags" Target="../tags/tag269.xml"/><Relationship Id="rId25" Type="http://schemas.openxmlformats.org/officeDocument/2006/relationships/tags" Target="../tags/tag268.xml"/><Relationship Id="rId24" Type="http://schemas.openxmlformats.org/officeDocument/2006/relationships/tags" Target="../tags/tag267.xml"/><Relationship Id="rId23" Type="http://schemas.openxmlformats.org/officeDocument/2006/relationships/tags" Target="../tags/tag266.xml"/><Relationship Id="rId22" Type="http://schemas.openxmlformats.org/officeDocument/2006/relationships/tags" Target="../tags/tag265.xml"/><Relationship Id="rId21" Type="http://schemas.openxmlformats.org/officeDocument/2006/relationships/tags" Target="../tags/tag264.xml"/><Relationship Id="rId20" Type="http://schemas.openxmlformats.org/officeDocument/2006/relationships/tags" Target="../tags/tag263.xml"/><Relationship Id="rId2" Type="http://schemas.openxmlformats.org/officeDocument/2006/relationships/tags" Target="../tags/tag245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tags" Target="../tags/tag244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8" Type="http://schemas.openxmlformats.org/officeDocument/2006/relationships/notesSlide" Target="../notesSlides/notesSlide28.xml"/><Relationship Id="rId57" Type="http://schemas.openxmlformats.org/officeDocument/2006/relationships/slideLayout" Target="../slideLayouts/slideLayout7.xml"/><Relationship Id="rId56" Type="http://schemas.openxmlformats.org/officeDocument/2006/relationships/tags" Target="../tags/tag357.xml"/><Relationship Id="rId55" Type="http://schemas.openxmlformats.org/officeDocument/2006/relationships/tags" Target="../tags/tag356.xml"/><Relationship Id="rId54" Type="http://schemas.openxmlformats.org/officeDocument/2006/relationships/tags" Target="../tags/tag355.xml"/><Relationship Id="rId53" Type="http://schemas.openxmlformats.org/officeDocument/2006/relationships/tags" Target="../tags/tag354.xml"/><Relationship Id="rId52" Type="http://schemas.openxmlformats.org/officeDocument/2006/relationships/tags" Target="../tags/tag353.xml"/><Relationship Id="rId51" Type="http://schemas.openxmlformats.org/officeDocument/2006/relationships/tags" Target="../tags/tag352.xml"/><Relationship Id="rId50" Type="http://schemas.openxmlformats.org/officeDocument/2006/relationships/tags" Target="../tags/tag351.xml"/><Relationship Id="rId5" Type="http://schemas.openxmlformats.org/officeDocument/2006/relationships/tags" Target="../tags/tag306.xml"/><Relationship Id="rId49" Type="http://schemas.openxmlformats.org/officeDocument/2006/relationships/tags" Target="../tags/tag350.xml"/><Relationship Id="rId48" Type="http://schemas.openxmlformats.org/officeDocument/2006/relationships/tags" Target="../tags/tag349.xml"/><Relationship Id="rId47" Type="http://schemas.openxmlformats.org/officeDocument/2006/relationships/tags" Target="../tags/tag348.xml"/><Relationship Id="rId46" Type="http://schemas.openxmlformats.org/officeDocument/2006/relationships/tags" Target="../tags/tag347.xml"/><Relationship Id="rId45" Type="http://schemas.openxmlformats.org/officeDocument/2006/relationships/tags" Target="../tags/tag346.xml"/><Relationship Id="rId44" Type="http://schemas.openxmlformats.org/officeDocument/2006/relationships/tags" Target="../tags/tag345.xml"/><Relationship Id="rId43" Type="http://schemas.openxmlformats.org/officeDocument/2006/relationships/tags" Target="../tags/tag344.xml"/><Relationship Id="rId42" Type="http://schemas.openxmlformats.org/officeDocument/2006/relationships/tags" Target="../tags/tag343.xml"/><Relationship Id="rId41" Type="http://schemas.openxmlformats.org/officeDocument/2006/relationships/tags" Target="../tags/tag342.xml"/><Relationship Id="rId40" Type="http://schemas.openxmlformats.org/officeDocument/2006/relationships/tags" Target="../tags/tag341.xml"/><Relationship Id="rId4" Type="http://schemas.openxmlformats.org/officeDocument/2006/relationships/tags" Target="../tags/tag305.xml"/><Relationship Id="rId39" Type="http://schemas.openxmlformats.org/officeDocument/2006/relationships/tags" Target="../tags/tag340.xml"/><Relationship Id="rId38" Type="http://schemas.openxmlformats.org/officeDocument/2006/relationships/tags" Target="../tags/tag339.xml"/><Relationship Id="rId37" Type="http://schemas.openxmlformats.org/officeDocument/2006/relationships/tags" Target="../tags/tag338.xml"/><Relationship Id="rId36" Type="http://schemas.openxmlformats.org/officeDocument/2006/relationships/tags" Target="../tags/tag337.xml"/><Relationship Id="rId35" Type="http://schemas.openxmlformats.org/officeDocument/2006/relationships/tags" Target="../tags/tag336.xml"/><Relationship Id="rId34" Type="http://schemas.openxmlformats.org/officeDocument/2006/relationships/tags" Target="../tags/tag335.xml"/><Relationship Id="rId33" Type="http://schemas.openxmlformats.org/officeDocument/2006/relationships/tags" Target="../tags/tag334.xml"/><Relationship Id="rId32" Type="http://schemas.openxmlformats.org/officeDocument/2006/relationships/tags" Target="../tags/tag333.xml"/><Relationship Id="rId31" Type="http://schemas.openxmlformats.org/officeDocument/2006/relationships/tags" Target="../tags/tag332.xml"/><Relationship Id="rId30" Type="http://schemas.openxmlformats.org/officeDocument/2006/relationships/tags" Target="../tags/tag331.xml"/><Relationship Id="rId3" Type="http://schemas.openxmlformats.org/officeDocument/2006/relationships/tags" Target="../tags/tag304.xml"/><Relationship Id="rId29" Type="http://schemas.openxmlformats.org/officeDocument/2006/relationships/tags" Target="../tags/tag330.xml"/><Relationship Id="rId28" Type="http://schemas.openxmlformats.org/officeDocument/2006/relationships/tags" Target="../tags/tag329.xml"/><Relationship Id="rId27" Type="http://schemas.openxmlformats.org/officeDocument/2006/relationships/tags" Target="../tags/tag328.xml"/><Relationship Id="rId26" Type="http://schemas.openxmlformats.org/officeDocument/2006/relationships/tags" Target="../tags/tag327.xml"/><Relationship Id="rId25" Type="http://schemas.openxmlformats.org/officeDocument/2006/relationships/tags" Target="../tags/tag326.xml"/><Relationship Id="rId24" Type="http://schemas.openxmlformats.org/officeDocument/2006/relationships/tags" Target="../tags/tag325.xml"/><Relationship Id="rId23" Type="http://schemas.openxmlformats.org/officeDocument/2006/relationships/tags" Target="../tags/tag324.xml"/><Relationship Id="rId22" Type="http://schemas.openxmlformats.org/officeDocument/2006/relationships/tags" Target="../tags/tag323.xml"/><Relationship Id="rId21" Type="http://schemas.openxmlformats.org/officeDocument/2006/relationships/tags" Target="../tags/tag322.xml"/><Relationship Id="rId20" Type="http://schemas.openxmlformats.org/officeDocument/2006/relationships/tags" Target="../tags/tag321.xml"/><Relationship Id="rId2" Type="http://schemas.openxmlformats.org/officeDocument/2006/relationships/tags" Target="../tags/tag303.xml"/><Relationship Id="rId19" Type="http://schemas.openxmlformats.org/officeDocument/2006/relationships/tags" Target="../tags/tag320.xml"/><Relationship Id="rId18" Type="http://schemas.openxmlformats.org/officeDocument/2006/relationships/tags" Target="../tags/tag319.xml"/><Relationship Id="rId17" Type="http://schemas.openxmlformats.org/officeDocument/2006/relationships/tags" Target="../tags/tag318.xml"/><Relationship Id="rId16" Type="http://schemas.openxmlformats.org/officeDocument/2006/relationships/tags" Target="../tags/tag317.xml"/><Relationship Id="rId15" Type="http://schemas.openxmlformats.org/officeDocument/2006/relationships/tags" Target="../tags/tag316.xml"/><Relationship Id="rId14" Type="http://schemas.openxmlformats.org/officeDocument/2006/relationships/tags" Target="../tags/tag315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tags" Target="../tags/tag302.xml"/></Relationships>
</file>

<file path=ppt/slides/_rels/slide46.xml.rels><?xml version="1.0" encoding="UTF-8" standalone="yes"?>
<Relationships xmlns="http://schemas.openxmlformats.org/package/2006/relationships"><Relationship Id="rId99" Type="http://schemas.openxmlformats.org/officeDocument/2006/relationships/tags" Target="../tags/tag455.xml"/><Relationship Id="rId98" Type="http://schemas.openxmlformats.org/officeDocument/2006/relationships/tags" Target="../tags/tag454.xml"/><Relationship Id="rId97" Type="http://schemas.openxmlformats.org/officeDocument/2006/relationships/tags" Target="../tags/tag453.xml"/><Relationship Id="rId96" Type="http://schemas.openxmlformats.org/officeDocument/2006/relationships/tags" Target="../tags/tag452.xml"/><Relationship Id="rId95" Type="http://schemas.openxmlformats.org/officeDocument/2006/relationships/tags" Target="../tags/tag451.xml"/><Relationship Id="rId94" Type="http://schemas.openxmlformats.org/officeDocument/2006/relationships/tags" Target="../tags/tag450.xml"/><Relationship Id="rId93" Type="http://schemas.openxmlformats.org/officeDocument/2006/relationships/tags" Target="../tags/tag449.xml"/><Relationship Id="rId92" Type="http://schemas.openxmlformats.org/officeDocument/2006/relationships/tags" Target="../tags/tag448.xml"/><Relationship Id="rId91" Type="http://schemas.openxmlformats.org/officeDocument/2006/relationships/tags" Target="../tags/tag447.xml"/><Relationship Id="rId90" Type="http://schemas.openxmlformats.org/officeDocument/2006/relationships/tags" Target="../tags/tag446.xml"/><Relationship Id="rId9" Type="http://schemas.openxmlformats.org/officeDocument/2006/relationships/tags" Target="../tags/tag365.xml"/><Relationship Id="rId89" Type="http://schemas.openxmlformats.org/officeDocument/2006/relationships/tags" Target="../tags/tag445.xml"/><Relationship Id="rId88" Type="http://schemas.openxmlformats.org/officeDocument/2006/relationships/tags" Target="../tags/tag444.xml"/><Relationship Id="rId87" Type="http://schemas.openxmlformats.org/officeDocument/2006/relationships/tags" Target="../tags/tag443.xml"/><Relationship Id="rId86" Type="http://schemas.openxmlformats.org/officeDocument/2006/relationships/tags" Target="../tags/tag442.xml"/><Relationship Id="rId85" Type="http://schemas.openxmlformats.org/officeDocument/2006/relationships/tags" Target="../tags/tag441.xml"/><Relationship Id="rId84" Type="http://schemas.openxmlformats.org/officeDocument/2006/relationships/tags" Target="../tags/tag440.xml"/><Relationship Id="rId83" Type="http://schemas.openxmlformats.org/officeDocument/2006/relationships/tags" Target="../tags/tag439.xml"/><Relationship Id="rId82" Type="http://schemas.openxmlformats.org/officeDocument/2006/relationships/tags" Target="../tags/tag438.xml"/><Relationship Id="rId81" Type="http://schemas.openxmlformats.org/officeDocument/2006/relationships/tags" Target="../tags/tag437.xml"/><Relationship Id="rId80" Type="http://schemas.openxmlformats.org/officeDocument/2006/relationships/tags" Target="../tags/tag436.xml"/><Relationship Id="rId8" Type="http://schemas.openxmlformats.org/officeDocument/2006/relationships/tags" Target="../tags/tag364.xml"/><Relationship Id="rId79" Type="http://schemas.openxmlformats.org/officeDocument/2006/relationships/tags" Target="../tags/tag435.xml"/><Relationship Id="rId78" Type="http://schemas.openxmlformats.org/officeDocument/2006/relationships/tags" Target="../tags/tag434.xml"/><Relationship Id="rId77" Type="http://schemas.openxmlformats.org/officeDocument/2006/relationships/tags" Target="../tags/tag433.xml"/><Relationship Id="rId76" Type="http://schemas.openxmlformats.org/officeDocument/2006/relationships/tags" Target="../tags/tag432.xml"/><Relationship Id="rId75" Type="http://schemas.openxmlformats.org/officeDocument/2006/relationships/tags" Target="../tags/tag431.xml"/><Relationship Id="rId74" Type="http://schemas.openxmlformats.org/officeDocument/2006/relationships/tags" Target="../tags/tag430.xml"/><Relationship Id="rId73" Type="http://schemas.openxmlformats.org/officeDocument/2006/relationships/tags" Target="../tags/tag429.xml"/><Relationship Id="rId72" Type="http://schemas.openxmlformats.org/officeDocument/2006/relationships/tags" Target="../tags/tag428.xml"/><Relationship Id="rId71" Type="http://schemas.openxmlformats.org/officeDocument/2006/relationships/tags" Target="../tags/tag427.xml"/><Relationship Id="rId70" Type="http://schemas.openxmlformats.org/officeDocument/2006/relationships/tags" Target="../tags/tag426.xml"/><Relationship Id="rId7" Type="http://schemas.openxmlformats.org/officeDocument/2006/relationships/tags" Target="../tags/tag363.xml"/><Relationship Id="rId69" Type="http://schemas.openxmlformats.org/officeDocument/2006/relationships/tags" Target="../tags/tag425.xml"/><Relationship Id="rId68" Type="http://schemas.openxmlformats.org/officeDocument/2006/relationships/tags" Target="../tags/tag424.xml"/><Relationship Id="rId67" Type="http://schemas.openxmlformats.org/officeDocument/2006/relationships/tags" Target="../tags/tag423.xml"/><Relationship Id="rId66" Type="http://schemas.openxmlformats.org/officeDocument/2006/relationships/tags" Target="../tags/tag422.xml"/><Relationship Id="rId65" Type="http://schemas.openxmlformats.org/officeDocument/2006/relationships/tags" Target="../tags/tag421.xml"/><Relationship Id="rId64" Type="http://schemas.openxmlformats.org/officeDocument/2006/relationships/tags" Target="../tags/tag420.xml"/><Relationship Id="rId63" Type="http://schemas.openxmlformats.org/officeDocument/2006/relationships/tags" Target="../tags/tag419.xml"/><Relationship Id="rId62" Type="http://schemas.openxmlformats.org/officeDocument/2006/relationships/tags" Target="../tags/tag418.xml"/><Relationship Id="rId61" Type="http://schemas.openxmlformats.org/officeDocument/2006/relationships/tags" Target="../tags/tag417.xml"/><Relationship Id="rId60" Type="http://schemas.openxmlformats.org/officeDocument/2006/relationships/tags" Target="../tags/tag416.xml"/><Relationship Id="rId6" Type="http://schemas.openxmlformats.org/officeDocument/2006/relationships/tags" Target="../tags/tag362.xml"/><Relationship Id="rId59" Type="http://schemas.openxmlformats.org/officeDocument/2006/relationships/tags" Target="../tags/tag415.xml"/><Relationship Id="rId58" Type="http://schemas.openxmlformats.org/officeDocument/2006/relationships/tags" Target="../tags/tag414.xml"/><Relationship Id="rId57" Type="http://schemas.openxmlformats.org/officeDocument/2006/relationships/tags" Target="../tags/tag413.xml"/><Relationship Id="rId56" Type="http://schemas.openxmlformats.org/officeDocument/2006/relationships/tags" Target="../tags/tag412.xml"/><Relationship Id="rId55" Type="http://schemas.openxmlformats.org/officeDocument/2006/relationships/tags" Target="../tags/tag411.xml"/><Relationship Id="rId54" Type="http://schemas.openxmlformats.org/officeDocument/2006/relationships/tags" Target="../tags/tag410.xml"/><Relationship Id="rId53" Type="http://schemas.openxmlformats.org/officeDocument/2006/relationships/tags" Target="../tags/tag409.xml"/><Relationship Id="rId52" Type="http://schemas.openxmlformats.org/officeDocument/2006/relationships/tags" Target="../tags/tag408.xml"/><Relationship Id="rId51" Type="http://schemas.openxmlformats.org/officeDocument/2006/relationships/tags" Target="../tags/tag407.xml"/><Relationship Id="rId50" Type="http://schemas.openxmlformats.org/officeDocument/2006/relationships/tags" Target="../tags/tag406.xml"/><Relationship Id="rId5" Type="http://schemas.openxmlformats.org/officeDocument/2006/relationships/tags" Target="../tags/tag361.xml"/><Relationship Id="rId49" Type="http://schemas.openxmlformats.org/officeDocument/2006/relationships/tags" Target="../tags/tag405.xml"/><Relationship Id="rId48" Type="http://schemas.openxmlformats.org/officeDocument/2006/relationships/tags" Target="../tags/tag404.xml"/><Relationship Id="rId47" Type="http://schemas.openxmlformats.org/officeDocument/2006/relationships/tags" Target="../tags/tag403.xml"/><Relationship Id="rId46" Type="http://schemas.openxmlformats.org/officeDocument/2006/relationships/tags" Target="../tags/tag402.xml"/><Relationship Id="rId45" Type="http://schemas.openxmlformats.org/officeDocument/2006/relationships/tags" Target="../tags/tag401.xml"/><Relationship Id="rId44" Type="http://schemas.openxmlformats.org/officeDocument/2006/relationships/tags" Target="../tags/tag400.xml"/><Relationship Id="rId43" Type="http://schemas.openxmlformats.org/officeDocument/2006/relationships/tags" Target="../tags/tag399.xml"/><Relationship Id="rId42" Type="http://schemas.openxmlformats.org/officeDocument/2006/relationships/tags" Target="../tags/tag398.xml"/><Relationship Id="rId41" Type="http://schemas.openxmlformats.org/officeDocument/2006/relationships/tags" Target="../tags/tag397.xml"/><Relationship Id="rId40" Type="http://schemas.openxmlformats.org/officeDocument/2006/relationships/tags" Target="../tags/tag396.xml"/><Relationship Id="rId4" Type="http://schemas.openxmlformats.org/officeDocument/2006/relationships/tags" Target="../tags/tag360.xml"/><Relationship Id="rId39" Type="http://schemas.openxmlformats.org/officeDocument/2006/relationships/tags" Target="../tags/tag395.xml"/><Relationship Id="rId38" Type="http://schemas.openxmlformats.org/officeDocument/2006/relationships/tags" Target="../tags/tag394.xml"/><Relationship Id="rId37" Type="http://schemas.openxmlformats.org/officeDocument/2006/relationships/tags" Target="../tags/tag393.xml"/><Relationship Id="rId36" Type="http://schemas.openxmlformats.org/officeDocument/2006/relationships/tags" Target="../tags/tag392.xml"/><Relationship Id="rId35" Type="http://schemas.openxmlformats.org/officeDocument/2006/relationships/tags" Target="../tags/tag391.xml"/><Relationship Id="rId34" Type="http://schemas.openxmlformats.org/officeDocument/2006/relationships/tags" Target="../tags/tag390.xml"/><Relationship Id="rId33" Type="http://schemas.openxmlformats.org/officeDocument/2006/relationships/tags" Target="../tags/tag389.xml"/><Relationship Id="rId32" Type="http://schemas.openxmlformats.org/officeDocument/2006/relationships/tags" Target="../tags/tag388.xml"/><Relationship Id="rId31" Type="http://schemas.openxmlformats.org/officeDocument/2006/relationships/tags" Target="../tags/tag387.xml"/><Relationship Id="rId30" Type="http://schemas.openxmlformats.org/officeDocument/2006/relationships/tags" Target="../tags/tag386.xml"/><Relationship Id="rId3" Type="http://schemas.openxmlformats.org/officeDocument/2006/relationships/tags" Target="../tags/tag359.xml"/><Relationship Id="rId29" Type="http://schemas.openxmlformats.org/officeDocument/2006/relationships/tags" Target="../tags/tag385.xml"/><Relationship Id="rId28" Type="http://schemas.openxmlformats.org/officeDocument/2006/relationships/tags" Target="../tags/tag384.xml"/><Relationship Id="rId27" Type="http://schemas.openxmlformats.org/officeDocument/2006/relationships/tags" Target="../tags/tag383.xml"/><Relationship Id="rId26" Type="http://schemas.openxmlformats.org/officeDocument/2006/relationships/tags" Target="../tags/tag382.xml"/><Relationship Id="rId25" Type="http://schemas.openxmlformats.org/officeDocument/2006/relationships/tags" Target="../tags/tag381.xml"/><Relationship Id="rId24" Type="http://schemas.openxmlformats.org/officeDocument/2006/relationships/tags" Target="../tags/tag380.xml"/><Relationship Id="rId23" Type="http://schemas.openxmlformats.org/officeDocument/2006/relationships/tags" Target="../tags/tag379.xml"/><Relationship Id="rId22" Type="http://schemas.openxmlformats.org/officeDocument/2006/relationships/tags" Target="../tags/tag378.xml"/><Relationship Id="rId21" Type="http://schemas.openxmlformats.org/officeDocument/2006/relationships/tags" Target="../tags/tag377.xml"/><Relationship Id="rId20" Type="http://schemas.openxmlformats.org/officeDocument/2006/relationships/tags" Target="../tags/tag376.xml"/><Relationship Id="rId2" Type="http://schemas.openxmlformats.org/officeDocument/2006/relationships/tags" Target="../tags/tag358.xml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4" Type="http://schemas.openxmlformats.org/officeDocument/2006/relationships/notesSlide" Target="../notesSlides/notesSlide29.xml"/><Relationship Id="rId103" Type="http://schemas.openxmlformats.org/officeDocument/2006/relationships/slideLayout" Target="../slideLayouts/slideLayout7.xml"/><Relationship Id="rId102" Type="http://schemas.openxmlformats.org/officeDocument/2006/relationships/tags" Target="../tags/tag458.xml"/><Relationship Id="rId101" Type="http://schemas.openxmlformats.org/officeDocument/2006/relationships/tags" Target="../tags/tag457.xml"/><Relationship Id="rId100" Type="http://schemas.openxmlformats.org/officeDocument/2006/relationships/tags" Target="../tags/tag456.xml"/><Relationship Id="rId10" Type="http://schemas.openxmlformats.org/officeDocument/2006/relationships/tags" Target="../tags/tag366.xml"/><Relationship Id="rId1" Type="http://schemas.openxmlformats.org/officeDocument/2006/relationships/slide" Target="slide1.xml"/></Relationships>
</file>

<file path=ppt/slides/_rels/slide47.xml.rels><?xml version="1.0" encoding="UTF-8" standalone="yes"?>
<Relationships xmlns="http://schemas.openxmlformats.org/package/2006/relationships"><Relationship Id="rId99" Type="http://schemas.openxmlformats.org/officeDocument/2006/relationships/tags" Target="../tags/tag557.xml"/><Relationship Id="rId98" Type="http://schemas.openxmlformats.org/officeDocument/2006/relationships/tags" Target="../tags/tag556.xml"/><Relationship Id="rId97" Type="http://schemas.openxmlformats.org/officeDocument/2006/relationships/tags" Target="../tags/tag555.xml"/><Relationship Id="rId96" Type="http://schemas.openxmlformats.org/officeDocument/2006/relationships/tags" Target="../tags/tag554.xml"/><Relationship Id="rId95" Type="http://schemas.openxmlformats.org/officeDocument/2006/relationships/tags" Target="../tags/tag553.xml"/><Relationship Id="rId94" Type="http://schemas.openxmlformats.org/officeDocument/2006/relationships/tags" Target="../tags/tag552.xml"/><Relationship Id="rId93" Type="http://schemas.openxmlformats.org/officeDocument/2006/relationships/tags" Target="../tags/tag551.xml"/><Relationship Id="rId92" Type="http://schemas.openxmlformats.org/officeDocument/2006/relationships/tags" Target="../tags/tag550.xml"/><Relationship Id="rId91" Type="http://schemas.openxmlformats.org/officeDocument/2006/relationships/tags" Target="../tags/tag549.xml"/><Relationship Id="rId90" Type="http://schemas.openxmlformats.org/officeDocument/2006/relationships/tags" Target="../tags/tag548.xml"/><Relationship Id="rId9" Type="http://schemas.openxmlformats.org/officeDocument/2006/relationships/tags" Target="../tags/tag467.xml"/><Relationship Id="rId89" Type="http://schemas.openxmlformats.org/officeDocument/2006/relationships/tags" Target="../tags/tag547.xml"/><Relationship Id="rId88" Type="http://schemas.openxmlformats.org/officeDocument/2006/relationships/tags" Target="../tags/tag546.xml"/><Relationship Id="rId87" Type="http://schemas.openxmlformats.org/officeDocument/2006/relationships/tags" Target="../tags/tag545.xml"/><Relationship Id="rId86" Type="http://schemas.openxmlformats.org/officeDocument/2006/relationships/tags" Target="../tags/tag544.xml"/><Relationship Id="rId85" Type="http://schemas.openxmlformats.org/officeDocument/2006/relationships/tags" Target="../tags/tag543.xml"/><Relationship Id="rId84" Type="http://schemas.openxmlformats.org/officeDocument/2006/relationships/tags" Target="../tags/tag542.xml"/><Relationship Id="rId83" Type="http://schemas.openxmlformats.org/officeDocument/2006/relationships/tags" Target="../tags/tag541.xml"/><Relationship Id="rId82" Type="http://schemas.openxmlformats.org/officeDocument/2006/relationships/tags" Target="../tags/tag540.xml"/><Relationship Id="rId81" Type="http://schemas.openxmlformats.org/officeDocument/2006/relationships/tags" Target="../tags/tag539.xml"/><Relationship Id="rId80" Type="http://schemas.openxmlformats.org/officeDocument/2006/relationships/tags" Target="../tags/tag538.xml"/><Relationship Id="rId8" Type="http://schemas.openxmlformats.org/officeDocument/2006/relationships/tags" Target="../tags/tag466.xml"/><Relationship Id="rId79" Type="http://schemas.openxmlformats.org/officeDocument/2006/relationships/tags" Target="../tags/tag537.xml"/><Relationship Id="rId78" Type="http://schemas.openxmlformats.org/officeDocument/2006/relationships/tags" Target="../tags/tag536.xml"/><Relationship Id="rId77" Type="http://schemas.openxmlformats.org/officeDocument/2006/relationships/tags" Target="../tags/tag535.xml"/><Relationship Id="rId76" Type="http://schemas.openxmlformats.org/officeDocument/2006/relationships/tags" Target="../tags/tag534.xml"/><Relationship Id="rId75" Type="http://schemas.openxmlformats.org/officeDocument/2006/relationships/tags" Target="../tags/tag533.xml"/><Relationship Id="rId74" Type="http://schemas.openxmlformats.org/officeDocument/2006/relationships/tags" Target="../tags/tag532.xml"/><Relationship Id="rId73" Type="http://schemas.openxmlformats.org/officeDocument/2006/relationships/tags" Target="../tags/tag531.xml"/><Relationship Id="rId72" Type="http://schemas.openxmlformats.org/officeDocument/2006/relationships/tags" Target="../tags/tag530.xml"/><Relationship Id="rId71" Type="http://schemas.openxmlformats.org/officeDocument/2006/relationships/tags" Target="../tags/tag529.xml"/><Relationship Id="rId70" Type="http://schemas.openxmlformats.org/officeDocument/2006/relationships/tags" Target="../tags/tag528.xml"/><Relationship Id="rId7" Type="http://schemas.openxmlformats.org/officeDocument/2006/relationships/tags" Target="../tags/tag465.xml"/><Relationship Id="rId69" Type="http://schemas.openxmlformats.org/officeDocument/2006/relationships/tags" Target="../tags/tag527.xml"/><Relationship Id="rId68" Type="http://schemas.openxmlformats.org/officeDocument/2006/relationships/tags" Target="../tags/tag526.xml"/><Relationship Id="rId67" Type="http://schemas.openxmlformats.org/officeDocument/2006/relationships/tags" Target="../tags/tag525.xml"/><Relationship Id="rId66" Type="http://schemas.openxmlformats.org/officeDocument/2006/relationships/tags" Target="../tags/tag524.xml"/><Relationship Id="rId65" Type="http://schemas.openxmlformats.org/officeDocument/2006/relationships/tags" Target="../tags/tag523.xml"/><Relationship Id="rId64" Type="http://schemas.openxmlformats.org/officeDocument/2006/relationships/tags" Target="../tags/tag522.xml"/><Relationship Id="rId63" Type="http://schemas.openxmlformats.org/officeDocument/2006/relationships/tags" Target="../tags/tag521.xml"/><Relationship Id="rId62" Type="http://schemas.openxmlformats.org/officeDocument/2006/relationships/tags" Target="../tags/tag520.xml"/><Relationship Id="rId61" Type="http://schemas.openxmlformats.org/officeDocument/2006/relationships/tags" Target="../tags/tag519.xml"/><Relationship Id="rId60" Type="http://schemas.openxmlformats.org/officeDocument/2006/relationships/tags" Target="../tags/tag518.xml"/><Relationship Id="rId6" Type="http://schemas.openxmlformats.org/officeDocument/2006/relationships/tags" Target="../tags/tag464.xml"/><Relationship Id="rId59" Type="http://schemas.openxmlformats.org/officeDocument/2006/relationships/tags" Target="../tags/tag517.xml"/><Relationship Id="rId58" Type="http://schemas.openxmlformats.org/officeDocument/2006/relationships/tags" Target="../tags/tag516.xml"/><Relationship Id="rId57" Type="http://schemas.openxmlformats.org/officeDocument/2006/relationships/tags" Target="../tags/tag515.xml"/><Relationship Id="rId56" Type="http://schemas.openxmlformats.org/officeDocument/2006/relationships/tags" Target="../tags/tag514.xml"/><Relationship Id="rId55" Type="http://schemas.openxmlformats.org/officeDocument/2006/relationships/tags" Target="../tags/tag513.xml"/><Relationship Id="rId54" Type="http://schemas.openxmlformats.org/officeDocument/2006/relationships/tags" Target="../tags/tag512.xml"/><Relationship Id="rId53" Type="http://schemas.openxmlformats.org/officeDocument/2006/relationships/tags" Target="../tags/tag511.xml"/><Relationship Id="rId52" Type="http://schemas.openxmlformats.org/officeDocument/2006/relationships/tags" Target="../tags/tag510.xml"/><Relationship Id="rId51" Type="http://schemas.openxmlformats.org/officeDocument/2006/relationships/tags" Target="../tags/tag509.xml"/><Relationship Id="rId50" Type="http://schemas.openxmlformats.org/officeDocument/2006/relationships/tags" Target="../tags/tag508.xml"/><Relationship Id="rId5" Type="http://schemas.openxmlformats.org/officeDocument/2006/relationships/tags" Target="../tags/tag463.xml"/><Relationship Id="rId49" Type="http://schemas.openxmlformats.org/officeDocument/2006/relationships/tags" Target="../tags/tag507.xml"/><Relationship Id="rId48" Type="http://schemas.openxmlformats.org/officeDocument/2006/relationships/tags" Target="../tags/tag506.xml"/><Relationship Id="rId47" Type="http://schemas.openxmlformats.org/officeDocument/2006/relationships/tags" Target="../tags/tag505.xml"/><Relationship Id="rId46" Type="http://schemas.openxmlformats.org/officeDocument/2006/relationships/tags" Target="../tags/tag504.xml"/><Relationship Id="rId45" Type="http://schemas.openxmlformats.org/officeDocument/2006/relationships/tags" Target="../tags/tag503.xml"/><Relationship Id="rId44" Type="http://schemas.openxmlformats.org/officeDocument/2006/relationships/tags" Target="../tags/tag502.xml"/><Relationship Id="rId43" Type="http://schemas.openxmlformats.org/officeDocument/2006/relationships/tags" Target="../tags/tag501.xml"/><Relationship Id="rId42" Type="http://schemas.openxmlformats.org/officeDocument/2006/relationships/tags" Target="../tags/tag500.xml"/><Relationship Id="rId41" Type="http://schemas.openxmlformats.org/officeDocument/2006/relationships/tags" Target="../tags/tag499.xml"/><Relationship Id="rId40" Type="http://schemas.openxmlformats.org/officeDocument/2006/relationships/tags" Target="../tags/tag498.xml"/><Relationship Id="rId4" Type="http://schemas.openxmlformats.org/officeDocument/2006/relationships/tags" Target="../tags/tag462.xml"/><Relationship Id="rId39" Type="http://schemas.openxmlformats.org/officeDocument/2006/relationships/tags" Target="../tags/tag497.xml"/><Relationship Id="rId38" Type="http://schemas.openxmlformats.org/officeDocument/2006/relationships/tags" Target="../tags/tag496.xml"/><Relationship Id="rId37" Type="http://schemas.openxmlformats.org/officeDocument/2006/relationships/tags" Target="../tags/tag495.xml"/><Relationship Id="rId36" Type="http://schemas.openxmlformats.org/officeDocument/2006/relationships/tags" Target="../tags/tag494.xml"/><Relationship Id="rId35" Type="http://schemas.openxmlformats.org/officeDocument/2006/relationships/tags" Target="../tags/tag493.xml"/><Relationship Id="rId34" Type="http://schemas.openxmlformats.org/officeDocument/2006/relationships/tags" Target="../tags/tag492.xml"/><Relationship Id="rId33" Type="http://schemas.openxmlformats.org/officeDocument/2006/relationships/tags" Target="../tags/tag491.xml"/><Relationship Id="rId32" Type="http://schemas.openxmlformats.org/officeDocument/2006/relationships/tags" Target="../tags/tag490.xml"/><Relationship Id="rId31" Type="http://schemas.openxmlformats.org/officeDocument/2006/relationships/tags" Target="../tags/tag489.xml"/><Relationship Id="rId30" Type="http://schemas.openxmlformats.org/officeDocument/2006/relationships/tags" Target="../tags/tag488.xml"/><Relationship Id="rId3" Type="http://schemas.openxmlformats.org/officeDocument/2006/relationships/tags" Target="../tags/tag461.xml"/><Relationship Id="rId29" Type="http://schemas.openxmlformats.org/officeDocument/2006/relationships/tags" Target="../tags/tag487.xml"/><Relationship Id="rId28" Type="http://schemas.openxmlformats.org/officeDocument/2006/relationships/tags" Target="../tags/tag486.xml"/><Relationship Id="rId27" Type="http://schemas.openxmlformats.org/officeDocument/2006/relationships/tags" Target="../tags/tag485.xml"/><Relationship Id="rId26" Type="http://schemas.openxmlformats.org/officeDocument/2006/relationships/tags" Target="../tags/tag484.xml"/><Relationship Id="rId25" Type="http://schemas.openxmlformats.org/officeDocument/2006/relationships/tags" Target="../tags/tag483.xml"/><Relationship Id="rId24" Type="http://schemas.openxmlformats.org/officeDocument/2006/relationships/tags" Target="../tags/tag482.xml"/><Relationship Id="rId23" Type="http://schemas.openxmlformats.org/officeDocument/2006/relationships/tags" Target="../tags/tag481.xml"/><Relationship Id="rId22" Type="http://schemas.openxmlformats.org/officeDocument/2006/relationships/tags" Target="../tags/tag480.xml"/><Relationship Id="rId21" Type="http://schemas.openxmlformats.org/officeDocument/2006/relationships/tags" Target="../tags/tag479.xml"/><Relationship Id="rId20" Type="http://schemas.openxmlformats.org/officeDocument/2006/relationships/tags" Target="../tags/tag478.xml"/><Relationship Id="rId2" Type="http://schemas.openxmlformats.org/officeDocument/2006/relationships/tags" Target="../tags/tag460.xml"/><Relationship Id="rId19" Type="http://schemas.openxmlformats.org/officeDocument/2006/relationships/tags" Target="../tags/tag477.xml"/><Relationship Id="rId18" Type="http://schemas.openxmlformats.org/officeDocument/2006/relationships/tags" Target="../tags/tag476.xml"/><Relationship Id="rId17" Type="http://schemas.openxmlformats.org/officeDocument/2006/relationships/tags" Target="../tags/tag475.xml"/><Relationship Id="rId16" Type="http://schemas.openxmlformats.org/officeDocument/2006/relationships/tags" Target="../tags/tag474.xml"/><Relationship Id="rId15" Type="http://schemas.openxmlformats.org/officeDocument/2006/relationships/tags" Target="../tags/tag473.xml"/><Relationship Id="rId14" Type="http://schemas.openxmlformats.org/officeDocument/2006/relationships/tags" Target="../tags/tag472.xml"/><Relationship Id="rId13" Type="http://schemas.openxmlformats.org/officeDocument/2006/relationships/tags" Target="../tags/tag471.xml"/><Relationship Id="rId12" Type="http://schemas.openxmlformats.org/officeDocument/2006/relationships/tags" Target="../tags/tag470.xml"/><Relationship Id="rId11" Type="http://schemas.openxmlformats.org/officeDocument/2006/relationships/tags" Target="../tags/tag469.xml"/><Relationship Id="rId109" Type="http://schemas.openxmlformats.org/officeDocument/2006/relationships/notesSlide" Target="../notesSlides/notesSlide30.xml"/><Relationship Id="rId108" Type="http://schemas.openxmlformats.org/officeDocument/2006/relationships/slideLayout" Target="../slideLayouts/slideLayout7.xml"/><Relationship Id="rId107" Type="http://schemas.openxmlformats.org/officeDocument/2006/relationships/tags" Target="../tags/tag565.xml"/><Relationship Id="rId106" Type="http://schemas.openxmlformats.org/officeDocument/2006/relationships/tags" Target="../tags/tag564.xml"/><Relationship Id="rId105" Type="http://schemas.openxmlformats.org/officeDocument/2006/relationships/tags" Target="../tags/tag563.xml"/><Relationship Id="rId104" Type="http://schemas.openxmlformats.org/officeDocument/2006/relationships/tags" Target="../tags/tag562.xml"/><Relationship Id="rId103" Type="http://schemas.openxmlformats.org/officeDocument/2006/relationships/tags" Target="../tags/tag561.xml"/><Relationship Id="rId102" Type="http://schemas.openxmlformats.org/officeDocument/2006/relationships/tags" Target="../tags/tag560.xml"/><Relationship Id="rId101" Type="http://schemas.openxmlformats.org/officeDocument/2006/relationships/tags" Target="../tags/tag559.xml"/><Relationship Id="rId100" Type="http://schemas.openxmlformats.org/officeDocument/2006/relationships/tags" Target="../tags/tag558.xml"/><Relationship Id="rId10" Type="http://schemas.openxmlformats.org/officeDocument/2006/relationships/tags" Target="../tags/tag468.xml"/><Relationship Id="rId1" Type="http://schemas.openxmlformats.org/officeDocument/2006/relationships/tags" Target="../tags/tag459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573.xml"/><Relationship Id="rId8" Type="http://schemas.openxmlformats.org/officeDocument/2006/relationships/tags" Target="../tags/tag572.xml"/><Relationship Id="rId7" Type="http://schemas.openxmlformats.org/officeDocument/2006/relationships/tags" Target="../tags/tag571.xml"/><Relationship Id="rId6" Type="http://schemas.openxmlformats.org/officeDocument/2006/relationships/tags" Target="../tags/tag570.xml"/><Relationship Id="rId5" Type="http://schemas.openxmlformats.org/officeDocument/2006/relationships/tags" Target="../tags/tag569.xml"/><Relationship Id="rId40" Type="http://schemas.openxmlformats.org/officeDocument/2006/relationships/notesSlide" Target="../notesSlides/notesSlide31.xml"/><Relationship Id="rId4" Type="http://schemas.openxmlformats.org/officeDocument/2006/relationships/tags" Target="../tags/tag568.xml"/><Relationship Id="rId39" Type="http://schemas.openxmlformats.org/officeDocument/2006/relationships/slideLayout" Target="../slideLayouts/slideLayout7.xml"/><Relationship Id="rId38" Type="http://schemas.openxmlformats.org/officeDocument/2006/relationships/tags" Target="../tags/tag602.xml"/><Relationship Id="rId37" Type="http://schemas.openxmlformats.org/officeDocument/2006/relationships/tags" Target="../tags/tag601.xml"/><Relationship Id="rId36" Type="http://schemas.openxmlformats.org/officeDocument/2006/relationships/tags" Target="../tags/tag600.xml"/><Relationship Id="rId35" Type="http://schemas.openxmlformats.org/officeDocument/2006/relationships/tags" Target="../tags/tag599.xml"/><Relationship Id="rId34" Type="http://schemas.openxmlformats.org/officeDocument/2006/relationships/tags" Target="../tags/tag598.xml"/><Relationship Id="rId33" Type="http://schemas.openxmlformats.org/officeDocument/2006/relationships/tags" Target="../tags/tag597.xml"/><Relationship Id="rId32" Type="http://schemas.openxmlformats.org/officeDocument/2006/relationships/tags" Target="../tags/tag596.xml"/><Relationship Id="rId31" Type="http://schemas.openxmlformats.org/officeDocument/2006/relationships/tags" Target="../tags/tag595.xml"/><Relationship Id="rId30" Type="http://schemas.openxmlformats.org/officeDocument/2006/relationships/tags" Target="../tags/tag594.xml"/><Relationship Id="rId3" Type="http://schemas.openxmlformats.org/officeDocument/2006/relationships/tags" Target="../tags/tag567.xml"/><Relationship Id="rId29" Type="http://schemas.openxmlformats.org/officeDocument/2006/relationships/tags" Target="../tags/tag593.xml"/><Relationship Id="rId28" Type="http://schemas.openxmlformats.org/officeDocument/2006/relationships/tags" Target="../tags/tag592.xml"/><Relationship Id="rId27" Type="http://schemas.openxmlformats.org/officeDocument/2006/relationships/tags" Target="../tags/tag591.xml"/><Relationship Id="rId26" Type="http://schemas.openxmlformats.org/officeDocument/2006/relationships/tags" Target="../tags/tag590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tags" Target="../tags/tag566.xml"/><Relationship Id="rId19" Type="http://schemas.openxmlformats.org/officeDocument/2006/relationships/tags" Target="../tags/tag583.xml"/><Relationship Id="rId18" Type="http://schemas.openxmlformats.org/officeDocument/2006/relationships/tags" Target="../tags/tag582.xml"/><Relationship Id="rId17" Type="http://schemas.openxmlformats.org/officeDocument/2006/relationships/tags" Target="../tags/tag581.xml"/><Relationship Id="rId16" Type="http://schemas.openxmlformats.org/officeDocument/2006/relationships/tags" Target="../tags/tag580.xml"/><Relationship Id="rId15" Type="http://schemas.openxmlformats.org/officeDocument/2006/relationships/tags" Target="../tags/tag579.xml"/><Relationship Id="rId14" Type="http://schemas.openxmlformats.org/officeDocument/2006/relationships/tags" Target="../tags/tag578.xml"/><Relationship Id="rId13" Type="http://schemas.openxmlformats.org/officeDocument/2006/relationships/tags" Target="../tags/tag577.xml"/><Relationship Id="rId12" Type="http://schemas.openxmlformats.org/officeDocument/2006/relationships/tags" Target="../tags/tag576.xml"/><Relationship Id="rId11" Type="http://schemas.openxmlformats.org/officeDocument/2006/relationships/tags" Target="../tags/tag575.xml"/><Relationship Id="rId10" Type="http://schemas.openxmlformats.org/officeDocument/2006/relationships/tags" Target="../tags/tag574.xml"/><Relationship Id="rId1" Type="http://schemas.openxmlformats.org/officeDocument/2006/relationships/slide" Target="slide2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slide" Target="slide53.xml"/><Relationship Id="rId1" Type="http://schemas.openxmlformats.org/officeDocument/2006/relationships/slide" Target="slide13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613.xml"/><Relationship Id="rId8" Type="http://schemas.openxmlformats.org/officeDocument/2006/relationships/tags" Target="../tags/tag612.xml"/><Relationship Id="rId7" Type="http://schemas.openxmlformats.org/officeDocument/2006/relationships/tags" Target="../tags/tag611.xml"/><Relationship Id="rId63" Type="http://schemas.openxmlformats.org/officeDocument/2006/relationships/slideLayout" Target="../slideLayouts/slideLayout7.xml"/><Relationship Id="rId62" Type="http://schemas.openxmlformats.org/officeDocument/2006/relationships/tags" Target="../tags/tag666.xml"/><Relationship Id="rId61" Type="http://schemas.openxmlformats.org/officeDocument/2006/relationships/tags" Target="../tags/tag665.xml"/><Relationship Id="rId60" Type="http://schemas.openxmlformats.org/officeDocument/2006/relationships/tags" Target="../tags/tag664.xml"/><Relationship Id="rId6" Type="http://schemas.openxmlformats.org/officeDocument/2006/relationships/tags" Target="../tags/tag610.xml"/><Relationship Id="rId59" Type="http://schemas.openxmlformats.org/officeDocument/2006/relationships/tags" Target="../tags/tag663.xml"/><Relationship Id="rId58" Type="http://schemas.openxmlformats.org/officeDocument/2006/relationships/tags" Target="../tags/tag662.xml"/><Relationship Id="rId57" Type="http://schemas.openxmlformats.org/officeDocument/2006/relationships/tags" Target="../tags/tag661.xml"/><Relationship Id="rId56" Type="http://schemas.openxmlformats.org/officeDocument/2006/relationships/tags" Target="../tags/tag660.xml"/><Relationship Id="rId55" Type="http://schemas.openxmlformats.org/officeDocument/2006/relationships/tags" Target="../tags/tag659.xml"/><Relationship Id="rId54" Type="http://schemas.openxmlformats.org/officeDocument/2006/relationships/tags" Target="../tags/tag658.xml"/><Relationship Id="rId53" Type="http://schemas.openxmlformats.org/officeDocument/2006/relationships/tags" Target="../tags/tag657.xml"/><Relationship Id="rId52" Type="http://schemas.openxmlformats.org/officeDocument/2006/relationships/tags" Target="../tags/tag656.xml"/><Relationship Id="rId51" Type="http://schemas.openxmlformats.org/officeDocument/2006/relationships/tags" Target="../tags/tag655.xml"/><Relationship Id="rId50" Type="http://schemas.openxmlformats.org/officeDocument/2006/relationships/tags" Target="../tags/tag654.xml"/><Relationship Id="rId5" Type="http://schemas.openxmlformats.org/officeDocument/2006/relationships/tags" Target="../tags/tag609.xml"/><Relationship Id="rId49" Type="http://schemas.openxmlformats.org/officeDocument/2006/relationships/tags" Target="../tags/tag653.xml"/><Relationship Id="rId48" Type="http://schemas.openxmlformats.org/officeDocument/2006/relationships/tags" Target="../tags/tag652.xml"/><Relationship Id="rId47" Type="http://schemas.openxmlformats.org/officeDocument/2006/relationships/tags" Target="../tags/tag651.xml"/><Relationship Id="rId46" Type="http://schemas.openxmlformats.org/officeDocument/2006/relationships/tags" Target="../tags/tag650.xml"/><Relationship Id="rId45" Type="http://schemas.openxmlformats.org/officeDocument/2006/relationships/tags" Target="../tags/tag649.xml"/><Relationship Id="rId44" Type="http://schemas.openxmlformats.org/officeDocument/2006/relationships/tags" Target="../tags/tag648.xml"/><Relationship Id="rId43" Type="http://schemas.openxmlformats.org/officeDocument/2006/relationships/tags" Target="../tags/tag647.xml"/><Relationship Id="rId42" Type="http://schemas.openxmlformats.org/officeDocument/2006/relationships/tags" Target="../tags/tag646.xml"/><Relationship Id="rId41" Type="http://schemas.openxmlformats.org/officeDocument/2006/relationships/tags" Target="../tags/tag645.xml"/><Relationship Id="rId40" Type="http://schemas.openxmlformats.org/officeDocument/2006/relationships/tags" Target="../tags/tag644.xml"/><Relationship Id="rId4" Type="http://schemas.openxmlformats.org/officeDocument/2006/relationships/tags" Target="../tags/tag608.xml"/><Relationship Id="rId39" Type="http://schemas.openxmlformats.org/officeDocument/2006/relationships/tags" Target="../tags/tag643.xml"/><Relationship Id="rId38" Type="http://schemas.openxmlformats.org/officeDocument/2006/relationships/tags" Target="../tags/tag642.xml"/><Relationship Id="rId37" Type="http://schemas.openxmlformats.org/officeDocument/2006/relationships/tags" Target="../tags/tag641.xml"/><Relationship Id="rId36" Type="http://schemas.openxmlformats.org/officeDocument/2006/relationships/tags" Target="../tags/tag640.xml"/><Relationship Id="rId35" Type="http://schemas.openxmlformats.org/officeDocument/2006/relationships/tags" Target="../tags/tag639.xml"/><Relationship Id="rId34" Type="http://schemas.openxmlformats.org/officeDocument/2006/relationships/tags" Target="../tags/tag638.xml"/><Relationship Id="rId33" Type="http://schemas.openxmlformats.org/officeDocument/2006/relationships/tags" Target="../tags/tag637.xml"/><Relationship Id="rId32" Type="http://schemas.openxmlformats.org/officeDocument/2006/relationships/tags" Target="../tags/tag636.xml"/><Relationship Id="rId31" Type="http://schemas.openxmlformats.org/officeDocument/2006/relationships/tags" Target="../tags/tag635.xml"/><Relationship Id="rId30" Type="http://schemas.openxmlformats.org/officeDocument/2006/relationships/tags" Target="../tags/tag634.xml"/><Relationship Id="rId3" Type="http://schemas.openxmlformats.org/officeDocument/2006/relationships/tags" Target="../tags/tag607.xml"/><Relationship Id="rId29" Type="http://schemas.openxmlformats.org/officeDocument/2006/relationships/tags" Target="../tags/tag633.xml"/><Relationship Id="rId28" Type="http://schemas.openxmlformats.org/officeDocument/2006/relationships/tags" Target="../tags/tag632.xml"/><Relationship Id="rId27" Type="http://schemas.openxmlformats.org/officeDocument/2006/relationships/tags" Target="../tags/tag631.xml"/><Relationship Id="rId26" Type="http://schemas.openxmlformats.org/officeDocument/2006/relationships/tags" Target="../tags/tag630.xml"/><Relationship Id="rId25" Type="http://schemas.openxmlformats.org/officeDocument/2006/relationships/tags" Target="../tags/tag629.xml"/><Relationship Id="rId24" Type="http://schemas.openxmlformats.org/officeDocument/2006/relationships/tags" Target="../tags/tag628.xml"/><Relationship Id="rId23" Type="http://schemas.openxmlformats.org/officeDocument/2006/relationships/tags" Target="../tags/tag627.xml"/><Relationship Id="rId22" Type="http://schemas.openxmlformats.org/officeDocument/2006/relationships/tags" Target="../tags/tag626.xml"/><Relationship Id="rId21" Type="http://schemas.openxmlformats.org/officeDocument/2006/relationships/tags" Target="../tags/tag625.xml"/><Relationship Id="rId20" Type="http://schemas.openxmlformats.org/officeDocument/2006/relationships/tags" Target="../tags/tag624.xml"/><Relationship Id="rId2" Type="http://schemas.openxmlformats.org/officeDocument/2006/relationships/tags" Target="../tags/tag606.xml"/><Relationship Id="rId19" Type="http://schemas.openxmlformats.org/officeDocument/2006/relationships/tags" Target="../tags/tag623.xml"/><Relationship Id="rId18" Type="http://schemas.openxmlformats.org/officeDocument/2006/relationships/tags" Target="../tags/tag622.xml"/><Relationship Id="rId17" Type="http://schemas.openxmlformats.org/officeDocument/2006/relationships/tags" Target="../tags/tag621.xml"/><Relationship Id="rId16" Type="http://schemas.openxmlformats.org/officeDocument/2006/relationships/tags" Target="../tags/tag620.xml"/><Relationship Id="rId15" Type="http://schemas.openxmlformats.org/officeDocument/2006/relationships/tags" Target="../tags/tag619.xml"/><Relationship Id="rId14" Type="http://schemas.openxmlformats.org/officeDocument/2006/relationships/tags" Target="../tags/tag618.xml"/><Relationship Id="rId13" Type="http://schemas.openxmlformats.org/officeDocument/2006/relationships/tags" Target="../tags/tag617.xml"/><Relationship Id="rId12" Type="http://schemas.openxmlformats.org/officeDocument/2006/relationships/tags" Target="../tags/tag616.xml"/><Relationship Id="rId11" Type="http://schemas.openxmlformats.org/officeDocument/2006/relationships/tags" Target="../tags/tag615.xml"/><Relationship Id="rId10" Type="http://schemas.openxmlformats.org/officeDocument/2006/relationships/tags" Target="../tags/tag614.xml"/><Relationship Id="rId1" Type="http://schemas.openxmlformats.org/officeDocument/2006/relationships/tags" Target="../tags/tag60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slide" Target="slide49.xml"/></Relationships>
</file>

<file path=ppt/slides/_rels/slide54.xml.rels><?xml version="1.0" encoding="UTF-8" standalone="yes"?>
<Relationships xmlns="http://schemas.openxmlformats.org/package/2006/relationships"><Relationship Id="rId9" Type="http://schemas.openxmlformats.org/officeDocument/2006/relationships/tags" Target="../tags/tag674.xml"/><Relationship Id="rId86" Type="http://schemas.openxmlformats.org/officeDocument/2006/relationships/notesSlide" Target="../notesSlides/notesSlide34.xml"/><Relationship Id="rId85" Type="http://schemas.openxmlformats.org/officeDocument/2006/relationships/slideLayout" Target="../slideLayouts/slideLayout7.xml"/><Relationship Id="rId84" Type="http://schemas.openxmlformats.org/officeDocument/2006/relationships/tags" Target="../tags/tag749.xml"/><Relationship Id="rId83" Type="http://schemas.openxmlformats.org/officeDocument/2006/relationships/tags" Target="../tags/tag748.xml"/><Relationship Id="rId82" Type="http://schemas.openxmlformats.org/officeDocument/2006/relationships/tags" Target="../tags/tag747.xml"/><Relationship Id="rId81" Type="http://schemas.openxmlformats.org/officeDocument/2006/relationships/tags" Target="../tags/tag746.xml"/><Relationship Id="rId80" Type="http://schemas.openxmlformats.org/officeDocument/2006/relationships/tags" Target="../tags/tag745.xml"/><Relationship Id="rId8" Type="http://schemas.openxmlformats.org/officeDocument/2006/relationships/tags" Target="../tags/tag673.xml"/><Relationship Id="rId79" Type="http://schemas.openxmlformats.org/officeDocument/2006/relationships/tags" Target="../tags/tag744.xml"/><Relationship Id="rId78" Type="http://schemas.openxmlformats.org/officeDocument/2006/relationships/tags" Target="../tags/tag743.xml"/><Relationship Id="rId77" Type="http://schemas.openxmlformats.org/officeDocument/2006/relationships/tags" Target="../tags/tag742.xml"/><Relationship Id="rId76" Type="http://schemas.openxmlformats.org/officeDocument/2006/relationships/tags" Target="../tags/tag741.xml"/><Relationship Id="rId75" Type="http://schemas.openxmlformats.org/officeDocument/2006/relationships/tags" Target="../tags/tag740.xml"/><Relationship Id="rId74" Type="http://schemas.openxmlformats.org/officeDocument/2006/relationships/tags" Target="../tags/tag739.xml"/><Relationship Id="rId73" Type="http://schemas.openxmlformats.org/officeDocument/2006/relationships/tags" Target="../tags/tag738.xml"/><Relationship Id="rId72" Type="http://schemas.openxmlformats.org/officeDocument/2006/relationships/tags" Target="../tags/tag737.xml"/><Relationship Id="rId71" Type="http://schemas.openxmlformats.org/officeDocument/2006/relationships/tags" Target="../tags/tag736.xml"/><Relationship Id="rId70" Type="http://schemas.openxmlformats.org/officeDocument/2006/relationships/tags" Target="../tags/tag735.xml"/><Relationship Id="rId7" Type="http://schemas.openxmlformats.org/officeDocument/2006/relationships/tags" Target="../tags/tag672.xml"/><Relationship Id="rId69" Type="http://schemas.openxmlformats.org/officeDocument/2006/relationships/tags" Target="../tags/tag734.xml"/><Relationship Id="rId68" Type="http://schemas.openxmlformats.org/officeDocument/2006/relationships/tags" Target="../tags/tag733.xml"/><Relationship Id="rId67" Type="http://schemas.openxmlformats.org/officeDocument/2006/relationships/tags" Target="../tags/tag732.xml"/><Relationship Id="rId66" Type="http://schemas.openxmlformats.org/officeDocument/2006/relationships/tags" Target="../tags/tag731.xml"/><Relationship Id="rId65" Type="http://schemas.openxmlformats.org/officeDocument/2006/relationships/tags" Target="../tags/tag730.xml"/><Relationship Id="rId64" Type="http://schemas.openxmlformats.org/officeDocument/2006/relationships/tags" Target="../tags/tag729.xml"/><Relationship Id="rId63" Type="http://schemas.openxmlformats.org/officeDocument/2006/relationships/tags" Target="../tags/tag728.xml"/><Relationship Id="rId62" Type="http://schemas.openxmlformats.org/officeDocument/2006/relationships/tags" Target="../tags/tag727.xml"/><Relationship Id="rId61" Type="http://schemas.openxmlformats.org/officeDocument/2006/relationships/tags" Target="../tags/tag726.xml"/><Relationship Id="rId60" Type="http://schemas.openxmlformats.org/officeDocument/2006/relationships/tags" Target="../tags/tag725.xml"/><Relationship Id="rId6" Type="http://schemas.openxmlformats.org/officeDocument/2006/relationships/tags" Target="../tags/tag671.xml"/><Relationship Id="rId59" Type="http://schemas.openxmlformats.org/officeDocument/2006/relationships/tags" Target="../tags/tag724.xml"/><Relationship Id="rId58" Type="http://schemas.openxmlformats.org/officeDocument/2006/relationships/tags" Target="../tags/tag723.xml"/><Relationship Id="rId57" Type="http://schemas.openxmlformats.org/officeDocument/2006/relationships/tags" Target="../tags/tag722.xml"/><Relationship Id="rId56" Type="http://schemas.openxmlformats.org/officeDocument/2006/relationships/tags" Target="../tags/tag721.xml"/><Relationship Id="rId55" Type="http://schemas.openxmlformats.org/officeDocument/2006/relationships/tags" Target="../tags/tag720.xml"/><Relationship Id="rId54" Type="http://schemas.openxmlformats.org/officeDocument/2006/relationships/tags" Target="../tags/tag719.xml"/><Relationship Id="rId53" Type="http://schemas.openxmlformats.org/officeDocument/2006/relationships/tags" Target="../tags/tag718.xml"/><Relationship Id="rId52" Type="http://schemas.openxmlformats.org/officeDocument/2006/relationships/tags" Target="../tags/tag717.xml"/><Relationship Id="rId51" Type="http://schemas.openxmlformats.org/officeDocument/2006/relationships/tags" Target="../tags/tag716.xml"/><Relationship Id="rId50" Type="http://schemas.openxmlformats.org/officeDocument/2006/relationships/tags" Target="../tags/tag715.xml"/><Relationship Id="rId5" Type="http://schemas.openxmlformats.org/officeDocument/2006/relationships/tags" Target="../tags/tag670.xml"/><Relationship Id="rId49" Type="http://schemas.openxmlformats.org/officeDocument/2006/relationships/tags" Target="../tags/tag714.xml"/><Relationship Id="rId48" Type="http://schemas.openxmlformats.org/officeDocument/2006/relationships/tags" Target="../tags/tag713.xml"/><Relationship Id="rId47" Type="http://schemas.openxmlformats.org/officeDocument/2006/relationships/tags" Target="../tags/tag712.xml"/><Relationship Id="rId46" Type="http://schemas.openxmlformats.org/officeDocument/2006/relationships/tags" Target="../tags/tag711.xml"/><Relationship Id="rId45" Type="http://schemas.openxmlformats.org/officeDocument/2006/relationships/tags" Target="../tags/tag710.xml"/><Relationship Id="rId44" Type="http://schemas.openxmlformats.org/officeDocument/2006/relationships/tags" Target="../tags/tag709.xml"/><Relationship Id="rId43" Type="http://schemas.openxmlformats.org/officeDocument/2006/relationships/tags" Target="../tags/tag708.xml"/><Relationship Id="rId42" Type="http://schemas.openxmlformats.org/officeDocument/2006/relationships/tags" Target="../tags/tag707.xml"/><Relationship Id="rId41" Type="http://schemas.openxmlformats.org/officeDocument/2006/relationships/tags" Target="../tags/tag706.xml"/><Relationship Id="rId40" Type="http://schemas.openxmlformats.org/officeDocument/2006/relationships/tags" Target="../tags/tag705.xml"/><Relationship Id="rId4" Type="http://schemas.openxmlformats.org/officeDocument/2006/relationships/tags" Target="../tags/tag669.xml"/><Relationship Id="rId39" Type="http://schemas.openxmlformats.org/officeDocument/2006/relationships/tags" Target="../tags/tag704.xml"/><Relationship Id="rId38" Type="http://schemas.openxmlformats.org/officeDocument/2006/relationships/tags" Target="../tags/tag703.xml"/><Relationship Id="rId37" Type="http://schemas.openxmlformats.org/officeDocument/2006/relationships/tags" Target="../tags/tag702.xml"/><Relationship Id="rId36" Type="http://schemas.openxmlformats.org/officeDocument/2006/relationships/tags" Target="../tags/tag701.xml"/><Relationship Id="rId35" Type="http://schemas.openxmlformats.org/officeDocument/2006/relationships/tags" Target="../tags/tag700.xml"/><Relationship Id="rId34" Type="http://schemas.openxmlformats.org/officeDocument/2006/relationships/tags" Target="../tags/tag699.xml"/><Relationship Id="rId33" Type="http://schemas.openxmlformats.org/officeDocument/2006/relationships/tags" Target="../tags/tag698.xml"/><Relationship Id="rId32" Type="http://schemas.openxmlformats.org/officeDocument/2006/relationships/tags" Target="../tags/tag697.xml"/><Relationship Id="rId31" Type="http://schemas.openxmlformats.org/officeDocument/2006/relationships/tags" Target="../tags/tag696.xml"/><Relationship Id="rId30" Type="http://schemas.openxmlformats.org/officeDocument/2006/relationships/tags" Target="../tags/tag695.xml"/><Relationship Id="rId3" Type="http://schemas.openxmlformats.org/officeDocument/2006/relationships/tags" Target="../tags/tag668.xml"/><Relationship Id="rId29" Type="http://schemas.openxmlformats.org/officeDocument/2006/relationships/tags" Target="../tags/tag694.xml"/><Relationship Id="rId28" Type="http://schemas.openxmlformats.org/officeDocument/2006/relationships/tags" Target="../tags/tag693.xml"/><Relationship Id="rId27" Type="http://schemas.openxmlformats.org/officeDocument/2006/relationships/tags" Target="../tags/tag692.xml"/><Relationship Id="rId26" Type="http://schemas.openxmlformats.org/officeDocument/2006/relationships/tags" Target="../tags/tag691.xml"/><Relationship Id="rId25" Type="http://schemas.openxmlformats.org/officeDocument/2006/relationships/tags" Target="../tags/tag690.xml"/><Relationship Id="rId24" Type="http://schemas.openxmlformats.org/officeDocument/2006/relationships/tags" Target="../tags/tag689.xml"/><Relationship Id="rId23" Type="http://schemas.openxmlformats.org/officeDocument/2006/relationships/tags" Target="../tags/tag688.xml"/><Relationship Id="rId22" Type="http://schemas.openxmlformats.org/officeDocument/2006/relationships/tags" Target="../tags/tag687.xml"/><Relationship Id="rId21" Type="http://schemas.openxmlformats.org/officeDocument/2006/relationships/tags" Target="../tags/tag686.xml"/><Relationship Id="rId20" Type="http://schemas.openxmlformats.org/officeDocument/2006/relationships/tags" Target="../tags/tag685.xml"/><Relationship Id="rId2" Type="http://schemas.openxmlformats.org/officeDocument/2006/relationships/tags" Target="../tags/tag667.xml"/><Relationship Id="rId19" Type="http://schemas.openxmlformats.org/officeDocument/2006/relationships/tags" Target="../tags/tag684.xml"/><Relationship Id="rId18" Type="http://schemas.openxmlformats.org/officeDocument/2006/relationships/tags" Target="../tags/tag683.xml"/><Relationship Id="rId17" Type="http://schemas.openxmlformats.org/officeDocument/2006/relationships/tags" Target="../tags/tag682.xml"/><Relationship Id="rId16" Type="http://schemas.openxmlformats.org/officeDocument/2006/relationships/tags" Target="../tags/tag681.xml"/><Relationship Id="rId15" Type="http://schemas.openxmlformats.org/officeDocument/2006/relationships/tags" Target="../tags/tag680.xml"/><Relationship Id="rId14" Type="http://schemas.openxmlformats.org/officeDocument/2006/relationships/tags" Target="../tags/tag679.xml"/><Relationship Id="rId13" Type="http://schemas.openxmlformats.org/officeDocument/2006/relationships/tags" Target="../tags/tag678.xml"/><Relationship Id="rId12" Type="http://schemas.openxmlformats.org/officeDocument/2006/relationships/tags" Target="../tags/tag677.xml"/><Relationship Id="rId11" Type="http://schemas.openxmlformats.org/officeDocument/2006/relationships/tags" Target="../tags/tag676.xml"/><Relationship Id="rId10" Type="http://schemas.openxmlformats.org/officeDocument/2006/relationships/tags" Target="../tags/tag675.xml"/><Relationship Id="rId1" Type="http://schemas.openxmlformats.org/officeDocument/2006/relationships/slide" Target="slide5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9.xml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7.xml"/><Relationship Id="rId2" Type="http://schemas.openxmlformats.org/officeDocument/2006/relationships/slide" Target="slide54.xml"/><Relationship Id="rId1" Type="http://schemas.openxmlformats.org/officeDocument/2006/relationships/slide" Target="slide5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0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slide" Target="slide56.xml"/><Relationship Id="rId1" Type="http://schemas.openxmlformats.org/officeDocument/2006/relationships/slide" Target="slide5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7.xml"/><Relationship Id="rId1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1258888" y="2595563"/>
            <a:ext cx="6697662" cy="822341"/>
          </a:xfrm>
          <a:prstGeom prst="rect">
            <a:avLst/>
          </a:prstGeom>
          <a:solidFill>
            <a:srgbClr val="CC99FF"/>
          </a:solidFill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4400" b="1" dirty="0">
                <a:latin typeface="黑体" panose="02010609060101010101" pitchFamily="2" charset="-122"/>
                <a:ea typeface="黑体" panose="02010609060101010101" pitchFamily="2" charset="-122"/>
              </a:rPr>
              <a:t>第七章  输入输出系统 </a:t>
            </a:r>
            <a:endParaRPr lang="zh-CN" altLang="en-US" sz="4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08"/>
          <p:cNvSpPr txBox="1">
            <a:spLocks noChangeArrowheads="1"/>
          </p:cNvSpPr>
          <p:nvPr/>
        </p:nvSpPr>
        <p:spPr bwMode="auto">
          <a:xfrm>
            <a:off x="142844" y="427449"/>
            <a:ext cx="8821644" cy="59785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lang="en-US" altLang="zh-CN" b="1" u="none" dirty="0" smtClean="0">
                <a:solidFill>
                  <a:srgbClr val="FF3399"/>
                </a:solidFill>
                <a:latin typeface="+mn-ea"/>
                <a:ea typeface="+mn-ea"/>
              </a:rPr>
              <a:t> ※</a:t>
            </a:r>
            <a:r>
              <a:rPr lang="zh-CN" altLang="en-US" b="1" u="none" dirty="0" smtClean="0">
                <a:solidFill>
                  <a:srgbClr val="FF3399"/>
                </a:solidFill>
                <a:latin typeface="+mn-ea"/>
                <a:ea typeface="+mn-ea"/>
              </a:rPr>
              <a:t>主要内容</a:t>
            </a:r>
            <a:endParaRPr lang="en-US" altLang="zh-CN" b="1" u="none" dirty="0" smtClean="0">
              <a:solidFill>
                <a:srgbClr val="FF33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   ⑴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系统概述</a:t>
            </a:r>
            <a:endParaRPr lang="en-US" altLang="zh-CN" sz="2200" b="1" u="none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      I/O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系统的组成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硬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+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软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，主机与外设的联系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连接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编址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识别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联络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)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，</a:t>
            </a:r>
            <a:endParaRPr lang="en-US" altLang="zh-CN" sz="2200" b="1" u="none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latin typeface="+mn-ea"/>
                <a:ea typeface="+mn-ea"/>
              </a:rPr>
              <a:t>     </a:t>
            </a:r>
            <a:r>
              <a:rPr lang="en-US" altLang="zh-CN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的传送控制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(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查询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zh-CN" altLang="en-US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中断</a:t>
            </a:r>
            <a:r>
              <a:rPr lang="en-US" altLang="zh-CN" sz="1800" b="1" u="none" dirty="0" smtClean="0">
                <a:solidFill>
                  <a:schemeClr val="tx1"/>
                </a:solidFill>
                <a:latin typeface="+mn-ea"/>
                <a:ea typeface="+mn-ea"/>
              </a:rPr>
              <a:t>/</a:t>
            </a:r>
            <a:r>
              <a:rPr lang="en-US" altLang="zh-CN" sz="1800" b="1" dirty="0" smtClean="0">
                <a:latin typeface="+mn-ea"/>
                <a:ea typeface="+mn-ea"/>
              </a:rPr>
              <a:t>DMA</a:t>
            </a:r>
            <a:r>
              <a:rPr lang="zh-CN" altLang="en-US" sz="1800" b="1" dirty="0" smtClean="0">
                <a:latin typeface="+mn-ea"/>
                <a:ea typeface="+mn-ea"/>
              </a:rPr>
              <a:t>，直接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endParaRPr lang="en-US" altLang="zh-CN" sz="2200" b="1" u="none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   ⑵外部设备</a:t>
            </a:r>
            <a:r>
              <a:rPr lang="en-US" altLang="zh-CN" sz="2000" b="1" spc="-50" dirty="0">
                <a:latin typeface="+mn-ea"/>
              </a:rPr>
              <a:t>(</a:t>
            </a:r>
            <a:r>
              <a:rPr lang="zh-CN" altLang="en-US" sz="2000" b="1" spc="-50" dirty="0">
                <a:latin typeface="+mn-ea"/>
              </a:rPr>
              <a:t>△</a:t>
            </a:r>
            <a:r>
              <a:rPr lang="en-US" altLang="zh-CN" sz="2000" b="1" spc="-50" dirty="0">
                <a:latin typeface="+mn-ea"/>
              </a:rPr>
              <a:t>)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latin typeface="+mn-ea"/>
                <a:ea typeface="+mn-ea"/>
              </a:rPr>
              <a:t> 输入</a:t>
            </a:r>
            <a:r>
              <a:rPr lang="en-US" altLang="zh-CN" sz="2200" b="1" dirty="0" smtClean="0">
                <a:latin typeface="+mn-ea"/>
                <a:ea typeface="+mn-ea"/>
              </a:rPr>
              <a:t>/</a:t>
            </a:r>
            <a:r>
              <a:rPr lang="zh-CN" altLang="en-US" sz="2200" b="1" dirty="0" smtClean="0">
                <a:latin typeface="+mn-ea"/>
                <a:ea typeface="+mn-ea"/>
              </a:rPr>
              <a:t>输出</a:t>
            </a:r>
            <a:r>
              <a:rPr lang="en-US" altLang="zh-CN" sz="2200" b="1" dirty="0" smtClean="0">
                <a:latin typeface="+mn-ea"/>
                <a:ea typeface="+mn-ea"/>
              </a:rPr>
              <a:t>/</a:t>
            </a:r>
            <a:r>
              <a:rPr lang="zh-CN" altLang="en-US" sz="2200" b="1" u="sng" dirty="0" smtClean="0">
                <a:latin typeface="+mn-ea"/>
                <a:ea typeface="+mn-ea"/>
              </a:rPr>
              <a:t>存储</a:t>
            </a:r>
            <a:r>
              <a:rPr lang="zh-CN" altLang="en-US" sz="2200" b="1" dirty="0" smtClean="0">
                <a:latin typeface="+mn-ea"/>
                <a:ea typeface="+mn-ea"/>
              </a:rPr>
              <a:t>设备的组成、工作原理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   ⑶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接口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   功能，组成</a:t>
            </a:r>
            <a:r>
              <a:rPr lang="zh-CN" altLang="en-US" sz="2200" b="1" dirty="0">
                <a:latin typeface="+mn-ea"/>
              </a:rPr>
              <a:t>及工作原理</a:t>
            </a:r>
            <a:r>
              <a:rPr lang="zh-CN" altLang="en-US" sz="2200" b="1" u="none" dirty="0" smtClean="0">
                <a:solidFill>
                  <a:schemeClr val="tx1"/>
                </a:solidFill>
                <a:latin typeface="+mn-ea"/>
                <a:ea typeface="+mn-ea"/>
              </a:rPr>
              <a:t>，访问方法</a:t>
            </a:r>
            <a:endParaRPr lang="en-US" altLang="zh-CN" sz="2200" b="1" u="none" dirty="0" smtClean="0">
              <a:solidFill>
                <a:schemeClr val="tx1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⑷程序直接控制</a:t>
            </a:r>
            <a:r>
              <a:rPr lang="en-US" altLang="zh-CN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u="none" dirty="0" smtClean="0">
                <a:solidFill>
                  <a:srgbClr val="C00000"/>
                </a:solidFill>
                <a:latin typeface="+mn-ea"/>
                <a:ea typeface="+mn-ea"/>
              </a:rPr>
              <a:t>方式</a:t>
            </a:r>
            <a:endParaRPr lang="en-US" altLang="zh-CN" sz="2200" b="1" u="none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dirty="0" smtClean="0">
                <a:latin typeface="+mn-ea"/>
                <a:ea typeface="+mn-ea"/>
              </a:rPr>
              <a:t>      </a:t>
            </a:r>
            <a:r>
              <a:rPr lang="zh-CN" altLang="en-US" sz="2200" b="1" u="none" spc="-100" dirty="0" smtClean="0">
                <a:latin typeface="+mn-ea"/>
                <a:ea typeface="+mn-ea"/>
              </a:rPr>
              <a:t>查询</a:t>
            </a:r>
            <a:r>
              <a:rPr lang="zh-CN" altLang="en-US" sz="2200" b="1" spc="-100" dirty="0" smtClean="0">
                <a:latin typeface="+mn-ea"/>
                <a:ea typeface="+mn-ea"/>
              </a:rPr>
              <a:t>方式、直接</a:t>
            </a:r>
            <a:r>
              <a:rPr lang="zh-CN" altLang="en-US" sz="2200" b="1" spc="-100" dirty="0">
                <a:latin typeface="+mn-ea"/>
                <a:ea typeface="+mn-ea"/>
              </a:rPr>
              <a:t>传送方式的</a:t>
            </a:r>
            <a:r>
              <a:rPr lang="en-US" altLang="zh-CN" sz="2200" b="1" u="none" spc="-100" dirty="0" smtClean="0">
                <a:latin typeface="+mn-ea"/>
                <a:ea typeface="+mn-ea"/>
              </a:rPr>
              <a:t>I/O</a:t>
            </a:r>
            <a:r>
              <a:rPr lang="zh-CN" altLang="en-US" sz="2200" b="1" u="none" spc="-100" dirty="0" smtClean="0">
                <a:latin typeface="+mn-ea"/>
                <a:ea typeface="+mn-ea"/>
              </a:rPr>
              <a:t>控制流程、接口组织</a:t>
            </a:r>
            <a:endParaRPr lang="en-US" altLang="zh-CN" sz="2200" b="1" u="none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>
                <a:solidFill>
                  <a:srgbClr val="C00000"/>
                </a:solidFill>
                <a:latin typeface="+mn-ea"/>
                <a:ea typeface="+mn-ea"/>
              </a:rPr>
              <a:t> </a:t>
            </a:r>
            <a:r>
              <a:rPr lang="en-US" altLang="zh-CN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  </a:t>
            </a:r>
            <a:r>
              <a:rPr lang="zh-CN" altLang="en-US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⑸程序中断</a:t>
            </a:r>
            <a:r>
              <a:rPr lang="en-US" altLang="zh-CN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I/O</a:t>
            </a:r>
            <a:r>
              <a:rPr lang="zh-CN" altLang="en-US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方式 </a:t>
            </a:r>
            <a:endParaRPr lang="en-US" altLang="zh-CN" sz="2200" b="1" spc="-50" dirty="0" smtClean="0">
              <a:solidFill>
                <a:srgbClr val="C00000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spc="-50" dirty="0" smtClean="0">
                <a:latin typeface="+mn-ea"/>
                <a:ea typeface="+mn-ea"/>
              </a:rPr>
              <a:t>      </a:t>
            </a:r>
            <a:r>
              <a:rPr lang="zh-CN" altLang="en-US" sz="2200" b="1" spc="-100" dirty="0" smtClean="0">
                <a:latin typeface="+mn-ea"/>
                <a:ea typeface="+mn-ea"/>
              </a:rPr>
              <a:t>中断过程细化，接口组织，中断源识别</a:t>
            </a:r>
            <a:r>
              <a:rPr lang="zh-CN" altLang="en-US" sz="2200" b="1" spc="-100" dirty="0">
                <a:latin typeface="+mn-ea"/>
                <a:ea typeface="+mn-ea"/>
              </a:rPr>
              <a:t>方法</a:t>
            </a:r>
            <a:r>
              <a:rPr lang="zh-CN" altLang="en-US" sz="2200" b="1" spc="-100" dirty="0" smtClean="0">
                <a:latin typeface="+mn-ea"/>
                <a:ea typeface="+mn-ea"/>
              </a:rPr>
              <a:t>，中断系统结构</a:t>
            </a:r>
            <a:r>
              <a:rPr lang="en-US" altLang="zh-CN" sz="1800" b="1" spc="-100" dirty="0" smtClean="0">
                <a:latin typeface="+mn-ea"/>
                <a:ea typeface="+mn-ea"/>
              </a:rPr>
              <a:t>(</a:t>
            </a:r>
            <a:r>
              <a:rPr lang="zh-CN" altLang="en-US" sz="1800" b="1" spc="-100" dirty="0">
                <a:latin typeface="+mn-ea"/>
              </a:rPr>
              <a:t>△</a:t>
            </a:r>
            <a:r>
              <a:rPr lang="en-US" altLang="zh-CN" sz="1800" b="1" spc="-100" dirty="0" smtClean="0">
                <a:latin typeface="+mn-ea"/>
                <a:ea typeface="+mn-ea"/>
              </a:rPr>
              <a:t>)</a:t>
            </a:r>
            <a:endParaRPr lang="en-US" altLang="zh-CN" sz="2200" b="1" spc="-10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   </a:t>
            </a:r>
            <a:r>
              <a:rPr lang="zh-CN" altLang="en-US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⑹</a:t>
            </a:r>
            <a:r>
              <a:rPr lang="en-US" altLang="zh-CN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DMA</a:t>
            </a:r>
            <a:r>
              <a:rPr lang="zh-CN" altLang="en-US" sz="2200" b="1" spc="-50" dirty="0" smtClean="0">
                <a:solidFill>
                  <a:srgbClr val="C00000"/>
                </a:solidFill>
                <a:latin typeface="+mn-ea"/>
                <a:ea typeface="+mn-ea"/>
              </a:rPr>
              <a:t>方式 </a:t>
            </a:r>
            <a:r>
              <a:rPr lang="en-US" altLang="zh-CN" sz="2000" b="1" spc="-50" dirty="0" smtClean="0">
                <a:latin typeface="+mn-ea"/>
                <a:ea typeface="+mn-ea"/>
              </a:rPr>
              <a:t>(</a:t>
            </a:r>
            <a:r>
              <a:rPr lang="zh-CN" altLang="en-US" sz="2000" b="1" spc="-50" dirty="0" smtClean="0">
                <a:latin typeface="+mn-ea"/>
                <a:ea typeface="+mn-ea"/>
              </a:rPr>
              <a:t>◇</a:t>
            </a:r>
            <a:r>
              <a:rPr lang="en-US" altLang="zh-CN" sz="2000" b="1" spc="-50" dirty="0" smtClean="0">
                <a:latin typeface="+mn-ea"/>
                <a:ea typeface="+mn-ea"/>
              </a:rPr>
              <a:t>)</a:t>
            </a:r>
            <a:endParaRPr lang="en-US" altLang="zh-CN" sz="2000" b="1" spc="-50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sz="2200" b="1" u="none" spc="-50" dirty="0">
                <a:latin typeface="+mn-ea"/>
                <a:ea typeface="+mn-ea"/>
              </a:rPr>
              <a:t> </a:t>
            </a:r>
            <a:r>
              <a:rPr lang="en-US" altLang="zh-CN" sz="2200" b="1" u="none" spc="-50" dirty="0" smtClean="0">
                <a:latin typeface="+mn-ea"/>
                <a:ea typeface="+mn-ea"/>
              </a:rPr>
              <a:t>     </a:t>
            </a:r>
            <a:r>
              <a:rPr lang="zh-CN" altLang="en-US" sz="2200" b="1" u="none" spc="-50" dirty="0" smtClean="0">
                <a:latin typeface="+mn-ea"/>
                <a:ea typeface="+mn-ea"/>
              </a:rPr>
              <a:t>传送方式分类，接口基本结构，传送过程，接口的组织</a:t>
            </a:r>
            <a:r>
              <a:rPr lang="en-US" altLang="zh-CN" sz="1800" b="1" spc="-50" dirty="0" smtClean="0">
                <a:latin typeface="+mn-ea"/>
              </a:rPr>
              <a:t>(</a:t>
            </a:r>
            <a:r>
              <a:rPr lang="en-US" altLang="zh-CN" sz="1800" b="1" dirty="0" smtClean="0">
                <a:latin typeface="+mn-ea"/>
              </a:rPr>
              <a:t>×</a:t>
            </a:r>
            <a:r>
              <a:rPr lang="en-US" altLang="zh-CN" sz="1800" b="1" spc="-50" dirty="0" smtClean="0">
                <a:latin typeface="+mn-ea"/>
              </a:rPr>
              <a:t>)</a:t>
            </a:r>
            <a:endParaRPr lang="en-US" altLang="zh-CN" sz="1800" b="1" spc="-50" dirty="0" smtClean="0"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spc="-50" dirty="0">
                <a:solidFill>
                  <a:srgbClr val="FF3399"/>
                </a:solidFill>
                <a:latin typeface="+mn-ea"/>
              </a:rPr>
              <a:t> </a:t>
            </a:r>
            <a:r>
              <a:rPr lang="en-US" altLang="zh-CN" b="1" spc="-50" dirty="0" smtClean="0">
                <a:solidFill>
                  <a:srgbClr val="FF3399"/>
                </a:solidFill>
                <a:latin typeface="+mn-ea"/>
              </a:rPr>
              <a:t>※</a:t>
            </a:r>
            <a:r>
              <a:rPr lang="zh-CN" altLang="en-US" b="1" spc="-50" dirty="0" smtClean="0">
                <a:solidFill>
                  <a:srgbClr val="FF3399"/>
                </a:solidFill>
                <a:latin typeface="+mn-ea"/>
              </a:rPr>
              <a:t>总体要求：</a:t>
            </a:r>
            <a:r>
              <a:rPr lang="zh-CN" altLang="en-US" sz="2200" b="1" u="sng" spc="-150" dirty="0">
                <a:solidFill>
                  <a:schemeClr val="accent2"/>
                </a:solidFill>
                <a:latin typeface="宋体" panose="02010600030101010101" pitchFamily="2" charset="-122"/>
              </a:rPr>
              <a:t>掌握</a:t>
            </a:r>
            <a:r>
              <a:rPr lang="en-US" altLang="zh-CN" sz="2200" b="1" spc="-150" dirty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的软硬件</a:t>
            </a:r>
            <a:r>
              <a:rPr lang="zh-CN" altLang="en-US" sz="2200" b="1" spc="-150" dirty="0" smtClean="0">
                <a:latin typeface="宋体" panose="02010600030101010101" pitchFamily="2" charset="-122"/>
              </a:rPr>
              <a:t>协同，</a:t>
            </a:r>
            <a:r>
              <a:rPr lang="zh-CN" altLang="en-US" sz="2200" b="1" u="sng" spc="-150" dirty="0">
                <a:solidFill>
                  <a:schemeClr val="accent2"/>
                </a:solidFill>
                <a:latin typeface="宋体" panose="02010600030101010101" pitchFamily="2" charset="-122"/>
              </a:rPr>
              <a:t>理解</a:t>
            </a:r>
            <a:r>
              <a:rPr lang="zh-CN" altLang="en-US" sz="2200" b="1" spc="-150" dirty="0" smtClean="0">
                <a:latin typeface="宋体" panose="02010600030101010101" pitchFamily="2" charset="-122"/>
              </a:rPr>
              <a:t>各种</a:t>
            </a:r>
            <a:r>
              <a:rPr lang="en-US" altLang="zh-CN" sz="2200" b="1" spc="-150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spc="-150" dirty="0">
                <a:latin typeface="宋体" panose="02010600030101010101" pitchFamily="2" charset="-122"/>
              </a:rPr>
              <a:t>方式的接口组成</a:t>
            </a:r>
            <a:endParaRPr lang="en-US" altLang="zh-CN" sz="2200" b="1" spc="-50" dirty="0">
              <a:solidFill>
                <a:srgbClr val="FF3399"/>
              </a:solidFill>
              <a:latin typeface="+mn-ea"/>
            </a:endParaRPr>
          </a:p>
        </p:txBody>
      </p:sp>
      <p:sp>
        <p:nvSpPr>
          <p:cNvPr id="4" name="左大括号 3"/>
          <p:cNvSpPr/>
          <p:nvPr/>
        </p:nvSpPr>
        <p:spPr bwMode="auto">
          <a:xfrm>
            <a:off x="519232" y="3429000"/>
            <a:ext cx="92328" cy="1800200"/>
          </a:xfrm>
          <a:prstGeom prst="leftBrace">
            <a:avLst>
              <a:gd name="adj1" fmla="val 38568"/>
              <a:gd name="adj2" fmla="val 50000"/>
            </a:avLst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AutoShape 45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1124744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AutoShape 452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2349575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AutoShape 452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278092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AutoShape 452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3134" y="321297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AutoShape 452">
            <a:hlinkClick r:id="rId5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2440" y="4221782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AutoShape 452">
            <a:hlinkClick r:id="rId6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8532440" y="5013176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§7.1  I/O</a:t>
            </a:r>
            <a:r>
              <a:rPr lang="zh-CN" altLang="en-US" sz="2800" b="1" dirty="0">
                <a:latin typeface="宋体" panose="02010600030101010101" pitchFamily="2" charset="-122"/>
              </a:rPr>
              <a:t>系统概述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179512" y="137154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</a:t>
            </a:r>
            <a:r>
              <a:rPr lang="en-US" altLang="zh-CN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系统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的组成</a:t>
            </a:r>
            <a:endParaRPr lang="zh-CN" altLang="en-US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7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>
                <a:latin typeface="+mn-ea"/>
              </a:rPr>
              <a:t>系统的</a:t>
            </a:r>
            <a:r>
              <a:rPr lang="zh-CN" altLang="en-US" sz="2200" b="1" dirty="0" smtClean="0">
                <a:latin typeface="+mn-ea"/>
              </a:rPr>
              <a:t>组成，主机</a:t>
            </a:r>
            <a:r>
              <a:rPr lang="zh-CN" altLang="en-US" sz="2200" b="1" dirty="0">
                <a:latin typeface="+mn-ea"/>
              </a:rPr>
              <a:t>与外设的</a:t>
            </a:r>
            <a:r>
              <a:rPr lang="zh-CN" altLang="en-US" sz="2200" b="1" dirty="0" smtClean="0">
                <a:latin typeface="+mn-ea"/>
              </a:rPr>
              <a:t>联系，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>
                <a:latin typeface="+mn-ea"/>
              </a:rPr>
              <a:t>的传送控制</a:t>
            </a:r>
            <a:endParaRPr lang="en-US" altLang="zh-CN" sz="2200" b="1" dirty="0" smtClean="0">
              <a:latin typeface="+mn-ea"/>
              <a:ea typeface="+mn-ea"/>
            </a:endParaRPr>
          </a:p>
        </p:txBody>
      </p:sp>
      <p:sp>
        <p:nvSpPr>
          <p:cNvPr id="5" name="Text Box 12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1871345"/>
            <a:ext cx="3753485" cy="323024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系统的功能：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系统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的组成：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硬件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软件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系统的性能：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" name="Text Box 12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160000" y="1872000"/>
            <a:ext cx="6900545" cy="4038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实现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主机</a:t>
            </a:r>
            <a:r>
              <a:rPr lang="en-US" altLang="zh-CN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外设间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信息交换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又称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I/O)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←外设的</a:t>
            </a:r>
            <a:r>
              <a:rPr lang="zh-CN" sz="1800" b="1" dirty="0" smtClean="0">
                <a:latin typeface="宋体" panose="02010600030101010101" pitchFamily="2" charset="-122"/>
                <a:sym typeface="+mn-ea"/>
              </a:rPr>
              <a:t>信息应放在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</a:t>
            </a:r>
            <a:r>
              <a:rPr lang="zh-CN" sz="1800" b="1" dirty="0" smtClean="0">
                <a:latin typeface="宋体" panose="02010600030101010101" pitchFamily="2" charset="-122"/>
              </a:rPr>
              <a:t>中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由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实现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latin typeface="宋体" panose="02010600030101010101" pitchFamily="2" charset="-122"/>
              </a:rPr>
              <a:t>硬件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连接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＋软件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传送控制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何时传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如何传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外设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总线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，传送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控制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部件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可选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]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       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设备互连所需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sz="1800" b="1" dirty="0" smtClean="0">
                <a:latin typeface="宋体" panose="02010600030101010101" pitchFamily="2" charset="-122"/>
                <a:sym typeface="+mn-ea"/>
              </a:rPr>
              <a:t>优化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I/O</a:t>
            </a:r>
            <a:r>
              <a:rPr lang="zh-CN" sz="1800" b="1" dirty="0" smtClean="0">
                <a:latin typeface="宋体" panose="02010600030101010101" pitchFamily="2" charset="-122"/>
                <a:sym typeface="+mn-ea"/>
              </a:rPr>
              <a:t>性能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所需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实现主机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外设的工作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协调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、传送</a:t>
            </a:r>
            <a:r>
              <a:rPr lang="zh-CN" altLang="en-US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组织</a:t>
            </a:r>
            <a:r>
              <a:rPr lang="en-US" altLang="zh-CN" b="1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驱动程序</a:t>
            </a:r>
            <a:endParaRPr lang="zh-CN" altLang="en-US" b="1" dirty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                        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何时传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如何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传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响应时间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吞吐率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en-US" altLang="zh-CN" b="1" dirty="0">
                <a:latin typeface="宋体" panose="02010600030101010101" pitchFamily="2" charset="-122"/>
              </a:rPr>
              <a:t>      </a:t>
            </a:r>
            <a:r>
              <a:rPr lang="zh-CN" altLang="en-US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不同任务的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选择不同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如：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事务处理关注前者，多媒体应用关注后者</a:t>
            </a:r>
            <a:endParaRPr lang="zh-CN" altLang="en-US" sz="1800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开销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软件所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占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时间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  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应尽量</a:t>
            </a:r>
            <a:r>
              <a:rPr lang="zh-CN" altLang="en-US" sz="1800" b="1" u="sng" dirty="0">
                <a:latin typeface="宋体" panose="02010600030101010101" pitchFamily="2" charset="-122"/>
                <a:sym typeface="+mn-ea"/>
              </a:rPr>
              <a:t>不影响</a:t>
            </a:r>
            <a:r>
              <a:rPr lang="en-US" altLang="zh-CN" sz="1800" b="1" u="sng" dirty="0">
                <a:latin typeface="宋体" panose="02010600030101010101" pitchFamily="2" charset="-122"/>
                <a:sym typeface="+mn-ea"/>
              </a:rPr>
              <a:t>CPU</a:t>
            </a:r>
            <a:endParaRPr lang="en-US" altLang="zh-CN" sz="1800" b="1" u="sng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6"/>
          <p:cNvSpPr txBox="1">
            <a:spLocks noChangeArrowheads="1"/>
          </p:cNvSpPr>
          <p:nvPr/>
        </p:nvSpPr>
        <p:spPr bwMode="auto">
          <a:xfrm>
            <a:off x="152400" y="857349"/>
            <a:ext cx="8812213" cy="471789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、外设的连接方式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*连接方式：</a:t>
            </a:r>
            <a:r>
              <a:rPr lang="zh-CN" altLang="en-US" b="1" dirty="0" smtClean="0">
                <a:latin typeface="宋体" panose="02010600030101010101" pitchFamily="2" charset="-122"/>
              </a:rPr>
              <a:t>常为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总线</a:t>
            </a:r>
            <a:r>
              <a:rPr lang="zh-CN" altLang="en-US" b="1" dirty="0" smtClean="0">
                <a:latin typeface="宋体" panose="02010600030101010101" pitchFamily="2" charset="-122"/>
              </a:rPr>
              <a:t>方式，需使用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latin typeface="宋体" panose="02010600030101010101" pitchFamily="2" charset="-122"/>
              </a:rPr>
              <a:t>连接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 </a:t>
            </a:r>
            <a:r>
              <a:rPr lang="zh-CN" altLang="en-US" sz="1800" b="1" dirty="0" smtClean="0">
                <a:latin typeface="+mn-ea"/>
                <a:ea typeface="+mn-ea"/>
              </a:rPr>
              <a:t>                                                </a:t>
            </a:r>
            <a:r>
              <a:rPr lang="zh-CN" altLang="en-US" sz="1800" dirty="0" smtClean="0">
                <a:latin typeface="+mn-ea"/>
                <a:ea typeface="+mn-ea"/>
              </a:rPr>
              <a:t>├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←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+mn-ea"/>
                <a:ea typeface="+mn-ea"/>
              </a:rPr>
              <a:t>解决</a:t>
            </a:r>
            <a:r>
              <a:rPr lang="zh-CN" altLang="en-US" sz="1800" b="1" dirty="0" smtClean="0"/>
              <a:t>速度</a:t>
            </a:r>
            <a:r>
              <a:rPr lang="en-US" altLang="zh-CN" sz="1800" b="1" dirty="0" smtClean="0"/>
              <a:t>/</a:t>
            </a:r>
            <a:r>
              <a:rPr lang="zh-CN" altLang="en-US" sz="1800" b="1" dirty="0" smtClean="0"/>
              <a:t>电平等差异</a:t>
            </a:r>
            <a:endParaRPr lang="en-US" altLang="zh-CN" sz="1800" b="1" dirty="0" smtClean="0"/>
          </a:p>
          <a:p>
            <a:pPr algn="l">
              <a:lnSpc>
                <a:spcPct val="114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        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sz="1800" b="1" dirty="0" smtClean="0"/>
              <a:t>数据</a:t>
            </a:r>
            <a:r>
              <a:rPr lang="en-US" altLang="zh-CN" sz="1800" b="1" dirty="0"/>
              <a:t>/</a:t>
            </a:r>
            <a:r>
              <a:rPr lang="zh-CN" altLang="en-US" sz="1800" b="1" dirty="0"/>
              <a:t>状态</a:t>
            </a:r>
            <a:r>
              <a:rPr lang="en-US" altLang="zh-CN" sz="1800" b="1" dirty="0"/>
              <a:t>/</a:t>
            </a:r>
            <a:r>
              <a:rPr lang="zh-CN" altLang="en-US" sz="1800" b="1" dirty="0" smtClean="0"/>
              <a:t>命令</a:t>
            </a:r>
            <a:endParaRPr lang="en-US" altLang="zh-CN" sz="1800" b="1" dirty="0" smtClean="0"/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800"/>
              </a:spcBef>
            </a:pPr>
            <a:r>
              <a:rPr lang="zh-CN" altLang="en-US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的过程：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+mn-ea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+mn-ea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指令格式的组织：</a:t>
            </a:r>
            <a:endParaRPr lang="en-US" altLang="zh-CN" b="1" dirty="0" smtClean="0">
              <a:solidFill>
                <a:srgbClr val="C00000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</a:rPr>
              <a:t>功能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+mn-ea"/>
              </a:rPr>
              <a:t>格式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25"/>
          <p:cNvSpPr txBox="1">
            <a:spLocks noChangeArrowheads="1"/>
          </p:cNvSpPr>
          <p:nvPr/>
        </p:nvSpPr>
        <p:spPr bwMode="auto">
          <a:xfrm>
            <a:off x="179388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二、外设与主机的联系</a:t>
            </a:r>
            <a:endParaRPr lang="zh-CN" altLang="en-US" dirty="0"/>
          </a:p>
        </p:txBody>
      </p:sp>
      <p:grpSp>
        <p:nvGrpSpPr>
          <p:cNvPr id="40" name="组合 39"/>
          <p:cNvGrpSpPr/>
          <p:nvPr/>
        </p:nvGrpSpPr>
        <p:grpSpPr>
          <a:xfrm>
            <a:off x="827584" y="1844824"/>
            <a:ext cx="4896296" cy="936104"/>
            <a:chOff x="539800" y="2420888"/>
            <a:chExt cx="4896296" cy="936104"/>
          </a:xfrm>
        </p:grpSpPr>
        <p:sp>
          <p:nvSpPr>
            <p:cNvPr id="41" name="Text Box 72"/>
            <p:cNvSpPr txBox="1">
              <a:spLocks noChangeArrowheads="1"/>
            </p:cNvSpPr>
            <p:nvPr/>
          </p:nvSpPr>
          <p:spPr bwMode="auto">
            <a:xfrm>
              <a:off x="2411760" y="2420888"/>
              <a:ext cx="3024336" cy="5736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72"/>
            <p:cNvSpPr txBox="1">
              <a:spLocks noChangeArrowheads="1"/>
            </p:cNvSpPr>
            <p:nvPr/>
          </p:nvSpPr>
          <p:spPr bwMode="auto">
            <a:xfrm>
              <a:off x="539800" y="2420888"/>
              <a:ext cx="1727944" cy="86409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72"/>
            <p:cNvSpPr txBox="1">
              <a:spLocks noChangeArrowheads="1"/>
            </p:cNvSpPr>
            <p:nvPr/>
          </p:nvSpPr>
          <p:spPr bwMode="auto">
            <a:xfrm>
              <a:off x="611808" y="2636019"/>
              <a:ext cx="648072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74"/>
            <p:cNvSpPr txBox="1">
              <a:spLocks noChangeArrowheads="1"/>
            </p:cNvSpPr>
            <p:nvPr/>
          </p:nvSpPr>
          <p:spPr bwMode="auto">
            <a:xfrm>
              <a:off x="1475656" y="2636019"/>
              <a:ext cx="719832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6" name="Text Box 75"/>
            <p:cNvSpPr txBox="1">
              <a:spLocks noChangeArrowheads="1"/>
            </p:cNvSpPr>
            <p:nvPr/>
          </p:nvSpPr>
          <p:spPr bwMode="auto">
            <a:xfrm>
              <a:off x="2483768" y="2636912"/>
              <a:ext cx="1080120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79"/>
            <p:cNvSpPr txBox="1">
              <a:spLocks noChangeArrowheads="1"/>
            </p:cNvSpPr>
            <p:nvPr/>
          </p:nvSpPr>
          <p:spPr bwMode="auto">
            <a:xfrm>
              <a:off x="3528367" y="2925192"/>
              <a:ext cx="683593" cy="4318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b="1" dirty="0"/>
                <a:t>…</a:t>
              </a:r>
              <a:endParaRPr lang="en-US" altLang="zh-CN" b="1" dirty="0"/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3563888" y="2492896"/>
              <a:ext cx="648072" cy="28803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/>
                <a:t>总线</a:t>
              </a:r>
              <a:endParaRPr lang="zh-CN" altLang="en-US" sz="1800" b="1" dirty="0"/>
            </a:p>
          </p:txBody>
        </p:sp>
        <p:sp>
          <p:nvSpPr>
            <p:cNvPr id="50" name="Text Box 81"/>
            <p:cNvSpPr txBox="1">
              <a:spLocks noChangeArrowheads="1"/>
            </p:cNvSpPr>
            <p:nvPr/>
          </p:nvSpPr>
          <p:spPr bwMode="auto">
            <a:xfrm>
              <a:off x="2482354" y="3071242"/>
              <a:ext cx="108153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1" name="Text Box 83"/>
            <p:cNvSpPr txBox="1">
              <a:spLocks noChangeArrowheads="1"/>
            </p:cNvSpPr>
            <p:nvPr/>
          </p:nvSpPr>
          <p:spPr bwMode="auto">
            <a:xfrm>
              <a:off x="4211960" y="2639194"/>
              <a:ext cx="1151954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85"/>
            <p:cNvSpPr txBox="1">
              <a:spLocks noChangeArrowheads="1"/>
            </p:cNvSpPr>
            <p:nvPr/>
          </p:nvSpPr>
          <p:spPr bwMode="auto">
            <a:xfrm>
              <a:off x="4211960" y="3071242"/>
              <a:ext cx="115195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3" name="直接连接符 52"/>
            <p:cNvCxnSpPr>
              <a:stCxn id="44" idx="0"/>
            </p:cNvCxnSpPr>
            <p:nvPr/>
          </p:nvCxnSpPr>
          <p:spPr bwMode="auto">
            <a:xfrm flipV="1">
              <a:off x="935844" y="2492896"/>
              <a:ext cx="0" cy="14312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>
              <a:stCxn id="45" idx="0"/>
            </p:cNvCxnSpPr>
            <p:nvPr/>
          </p:nvCxnSpPr>
          <p:spPr bwMode="auto">
            <a:xfrm flipV="1">
              <a:off x="1835572" y="2492896"/>
              <a:ext cx="0" cy="14312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直接连接符 54"/>
            <p:cNvCxnSpPr/>
            <p:nvPr/>
          </p:nvCxnSpPr>
          <p:spPr bwMode="auto">
            <a:xfrm>
              <a:off x="611808" y="2492896"/>
              <a:ext cx="4752106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直接连接符 55"/>
            <p:cNvCxnSpPr>
              <a:endCxn id="46" idx="0"/>
            </p:cNvCxnSpPr>
            <p:nvPr/>
          </p:nvCxnSpPr>
          <p:spPr bwMode="auto">
            <a:xfrm>
              <a:off x="3023121" y="2492896"/>
              <a:ext cx="707" cy="144016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直接连接符 56"/>
            <p:cNvCxnSpPr>
              <a:endCxn id="51" idx="0"/>
            </p:cNvCxnSpPr>
            <p:nvPr/>
          </p:nvCxnSpPr>
          <p:spPr bwMode="auto">
            <a:xfrm>
              <a:off x="4787937" y="2492896"/>
              <a:ext cx="0" cy="14629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直接连接符 57"/>
            <p:cNvCxnSpPr>
              <a:stCxn id="46" idx="2"/>
              <a:endCxn id="50" idx="0"/>
            </p:cNvCxnSpPr>
            <p:nvPr/>
          </p:nvCxnSpPr>
          <p:spPr bwMode="auto">
            <a:xfrm flipH="1">
              <a:off x="3023121" y="2917900"/>
              <a:ext cx="707" cy="153342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直接连接符 58"/>
            <p:cNvCxnSpPr>
              <a:stCxn id="51" idx="2"/>
              <a:endCxn id="52" idx="0"/>
            </p:cNvCxnSpPr>
            <p:nvPr/>
          </p:nvCxnSpPr>
          <p:spPr bwMode="auto">
            <a:xfrm>
              <a:off x="4787937" y="2926532"/>
              <a:ext cx="0" cy="14471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" name="Text Box 80"/>
            <p:cNvSpPr txBox="1">
              <a:spLocks noChangeArrowheads="1"/>
            </p:cNvSpPr>
            <p:nvPr/>
          </p:nvSpPr>
          <p:spPr bwMode="auto">
            <a:xfrm>
              <a:off x="1115666" y="2961059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/>
                <a:t>主机</a:t>
              </a:r>
              <a:endParaRPr lang="zh-CN" altLang="en-US" sz="1800" b="1" dirty="0"/>
            </a:p>
          </p:txBody>
        </p:sp>
      </p:grpSp>
      <p:sp>
        <p:nvSpPr>
          <p:cNvPr id="62" name="AutoShape 12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6"/>
          <p:cNvSpPr txBox="1">
            <a:spLocks noChangeArrowheads="1"/>
          </p:cNvSpPr>
          <p:nvPr/>
        </p:nvSpPr>
        <p:spPr bwMode="auto">
          <a:xfrm>
            <a:off x="2195736" y="3150260"/>
            <a:ext cx="6795988" cy="105310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 tIns="82800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⑴主机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总线操作</a:t>
            </a:r>
            <a:r>
              <a:rPr lang="en-US" altLang="zh-CN" b="1" dirty="0" smtClean="0">
                <a:latin typeface="宋体" panose="02010600030101010101" pitchFamily="2" charset="-122"/>
              </a:rPr>
              <a:t>,</a:t>
            </a:r>
            <a:r>
              <a:rPr lang="zh-CN" altLang="en-US" b="1" dirty="0" smtClean="0">
                <a:latin typeface="宋体" panose="02010600030101010101" pitchFamily="2" charset="-122"/>
              </a:rPr>
              <a:t>接口用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寄存器</a:t>
            </a:r>
            <a:r>
              <a:rPr lang="zh-CN" altLang="en-US" b="1" dirty="0" smtClean="0">
                <a:latin typeface="宋体" panose="02010600030101010101" pitchFamily="2" charset="-122"/>
              </a:rPr>
              <a:t>暂存信息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⑵接口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通信操作</a:t>
            </a:r>
            <a:r>
              <a:rPr lang="en-US" altLang="zh-CN" b="1" dirty="0" smtClean="0">
                <a:latin typeface="宋体" panose="02010600030101010101" pitchFamily="2" charset="-122"/>
              </a:rPr>
              <a:t>,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自动</a:t>
            </a:r>
            <a:r>
              <a:rPr lang="zh-CN" altLang="en-US" b="1" dirty="0" smtClean="0">
                <a:latin typeface="宋体" panose="02010600030101010101" pitchFamily="2" charset="-122"/>
              </a:rPr>
              <a:t>实现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外设就绪时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876256" y="2374031"/>
            <a:ext cx="1800325" cy="842265"/>
            <a:chOff x="7020272" y="2456892"/>
            <a:chExt cx="1800325" cy="842265"/>
          </a:xfrm>
        </p:grpSpPr>
        <p:cxnSp>
          <p:nvCxnSpPr>
            <p:cNvPr id="43" name="直接箭头连接符 42"/>
            <p:cNvCxnSpPr/>
            <p:nvPr/>
          </p:nvCxnSpPr>
          <p:spPr bwMode="auto">
            <a:xfrm flipH="1">
              <a:off x="7308304" y="2564904"/>
              <a:ext cx="360040" cy="734253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/>
            </a:ln>
          </p:spPr>
        </p:cxnSp>
        <p:sp>
          <p:nvSpPr>
            <p:cNvPr id="66" name="左大括号 65"/>
            <p:cNvSpPr/>
            <p:nvPr/>
          </p:nvSpPr>
          <p:spPr bwMode="auto">
            <a:xfrm rot="16200000">
              <a:off x="7686346" y="1790818"/>
              <a:ext cx="108012" cy="1440160"/>
            </a:xfrm>
            <a:prstGeom prst="leftBrace">
              <a:avLst>
                <a:gd name="adj1" fmla="val 25970"/>
                <a:gd name="adj2" fmla="val 47783"/>
              </a:avLst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9"/>
            <p:cNvSpPr txBox="1">
              <a:spLocks noChangeArrowheads="1"/>
            </p:cNvSpPr>
            <p:nvPr/>
          </p:nvSpPr>
          <p:spPr bwMode="auto">
            <a:xfrm>
              <a:off x="7452320" y="2936491"/>
              <a:ext cx="1368277" cy="28733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0070C0"/>
                  </a:solidFill>
                  <a:latin typeface="宋体" panose="02010600030101010101" pitchFamily="2" charset="-122"/>
                </a:rPr>
                <a:t>多个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寄存器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2195736" y="5517827"/>
            <a:ext cx="5031484" cy="287437"/>
            <a:chOff x="1259632" y="5877272"/>
            <a:chExt cx="5031484" cy="287437"/>
          </a:xfrm>
        </p:grpSpPr>
        <p:sp>
          <p:nvSpPr>
            <p:cNvPr id="80" name="Text Box 8"/>
            <p:cNvSpPr txBox="1">
              <a:spLocks noChangeArrowheads="1"/>
            </p:cNvSpPr>
            <p:nvPr/>
          </p:nvSpPr>
          <p:spPr bwMode="auto">
            <a:xfrm>
              <a:off x="2978748" y="5877371"/>
              <a:ext cx="802131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10"/>
            <p:cNvSpPr txBox="1">
              <a:spLocks noChangeArrowheads="1"/>
            </p:cNvSpPr>
            <p:nvPr/>
          </p:nvSpPr>
          <p:spPr bwMode="auto">
            <a:xfrm>
              <a:off x="3780880" y="5877371"/>
              <a:ext cx="1438523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端口地址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11"/>
            <p:cNvSpPr txBox="1">
              <a:spLocks noChangeArrowheads="1"/>
            </p:cNvSpPr>
            <p:nvPr/>
          </p:nvSpPr>
          <p:spPr bwMode="auto">
            <a:xfrm>
              <a:off x="5219404" y="5877371"/>
              <a:ext cx="1071712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信息内容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1259632" y="5877272"/>
              <a:ext cx="1719116" cy="28733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20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指令格式：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1" name="线形标注 2 60"/>
          <p:cNvSpPr/>
          <p:nvPr/>
        </p:nvSpPr>
        <p:spPr bwMode="auto">
          <a:xfrm>
            <a:off x="6444208" y="4158372"/>
            <a:ext cx="2236093" cy="289967"/>
          </a:xfrm>
          <a:prstGeom prst="borderCallout2">
            <a:avLst>
              <a:gd name="adj1" fmla="val 55521"/>
              <a:gd name="adj2" fmla="val -311"/>
              <a:gd name="adj3" fmla="val 57773"/>
              <a:gd name="adj4" fmla="val -7976"/>
              <a:gd name="adj5" fmla="val -160229"/>
              <a:gd name="adj6" fmla="val -5028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CPU</a:t>
            </a:r>
            <a:r>
              <a:rPr lang="zh-CN" altLang="en-US" sz="1600" b="1" dirty="0" smtClean="0">
                <a:latin typeface="+mn-ea"/>
                <a:ea typeface="+mn-ea"/>
              </a:rPr>
              <a:t>发起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执行</a:t>
            </a:r>
            <a:r>
              <a:rPr lang="en-US" altLang="zh-CN" sz="1600" b="1" dirty="0" smtClean="0">
                <a:latin typeface="+mn-ea"/>
                <a:ea typeface="+mn-ea"/>
              </a:rPr>
              <a:t>I/O</a:t>
            </a:r>
            <a:r>
              <a:rPr lang="zh-CN" altLang="en-US" sz="1600" b="1" dirty="0" smtClean="0">
                <a:latin typeface="+mn-ea"/>
                <a:ea typeface="+mn-ea"/>
              </a:rPr>
              <a:t>指令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63" name="Text Box 6"/>
          <p:cNvSpPr txBox="1">
            <a:spLocks noChangeArrowheads="1"/>
          </p:cNvSpPr>
          <p:nvPr/>
        </p:nvSpPr>
        <p:spPr bwMode="auto">
          <a:xfrm>
            <a:off x="1763689" y="4293096"/>
            <a:ext cx="6696744" cy="12306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┌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←又</a:t>
            </a:r>
            <a:r>
              <a:rPr lang="zh-CN" altLang="en-US" sz="1800" b="1" dirty="0">
                <a:latin typeface="宋体" panose="02010600030101010101" pitchFamily="2" charset="-122"/>
              </a:rPr>
              <a:t>称</a:t>
            </a:r>
            <a:r>
              <a: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端口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中</a:t>
            </a:r>
            <a:r>
              <a:rPr lang="en-US" altLang="zh-CN" b="1" dirty="0" smtClean="0">
                <a:latin typeface="宋体" panose="02010600030101010101" pitchFamily="2" charset="-122"/>
              </a:rPr>
              <a:t>GPR</a:t>
            </a:r>
            <a:r>
              <a:rPr lang="zh-CN" altLang="en-US" b="1" dirty="0" smtClean="0">
                <a:latin typeface="宋体" panose="02010600030101010101" pitchFamily="2" charset="-122"/>
              </a:rPr>
              <a:t>～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接口中寄存器</a:t>
            </a:r>
            <a:r>
              <a:rPr lang="zh-CN" altLang="en-US" b="1" dirty="0" smtClean="0">
                <a:latin typeface="宋体" panose="02010600030101010101" pitchFamily="2" charset="-122"/>
              </a:rPr>
              <a:t>间传送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操作码</a:t>
            </a:r>
            <a:r>
              <a:rPr lang="zh-CN" altLang="en-US" b="1" dirty="0" smtClean="0">
                <a:latin typeface="宋体" panose="02010600030101010101" pitchFamily="2" charset="-122"/>
              </a:rPr>
              <a:t>有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种</a:t>
            </a:r>
            <a:r>
              <a:rPr lang="zh-CN" b="1" dirty="0" smtClean="0">
                <a:latin typeface="宋体" panose="02010600030101010101" pitchFamily="2" charset="-122"/>
              </a:rPr>
              <a:t>，各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端口用地址标识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47" name="线形标注 2 46"/>
          <p:cNvSpPr/>
          <p:nvPr/>
        </p:nvSpPr>
        <p:spPr bwMode="auto">
          <a:xfrm>
            <a:off x="7164288" y="5092958"/>
            <a:ext cx="1800324" cy="289967"/>
          </a:xfrm>
          <a:prstGeom prst="borderCallout2">
            <a:avLst>
              <a:gd name="adj1" fmla="val 50973"/>
              <a:gd name="adj2" fmla="val -663"/>
              <a:gd name="adj3" fmla="val 51508"/>
              <a:gd name="adj4" fmla="val -12975"/>
              <a:gd name="adj5" fmla="val 142473"/>
              <a:gd name="adj6" fmla="val -1800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ctr">
              <a:lnSpc>
                <a:spcPct val="105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GPRs</a:t>
            </a:r>
            <a:r>
              <a:rPr lang="zh-CN" altLang="en-US" sz="1600" b="1" dirty="0" smtClean="0">
                <a:latin typeface="+mn-ea"/>
                <a:ea typeface="+mn-ea"/>
              </a:rPr>
              <a:t>编号或立即数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68" name="Text Box 200"/>
          <p:cNvSpPr txBox="1">
            <a:spLocks noChangeArrowheads="1"/>
          </p:cNvSpPr>
          <p:nvPr/>
        </p:nvSpPr>
        <p:spPr bwMode="auto">
          <a:xfrm>
            <a:off x="1116330" y="2924810"/>
            <a:ext cx="5559425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/>
          <a:p>
            <a:pPr algn="l" eaLnBrk="0" hangingPunct="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思考①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1800" b="1" dirty="0" smtClean="0">
                <a:latin typeface="+mn-ea"/>
                <a:ea typeface="+mn-ea"/>
              </a:rPr>
              <a:t>若接口不用</a:t>
            </a:r>
            <a:r>
              <a:rPr lang="en-US" altLang="zh-CN" sz="1800" b="1" dirty="0" smtClean="0">
                <a:latin typeface="+mn-ea"/>
                <a:ea typeface="+mn-ea"/>
              </a:rPr>
              <a:t>REG</a:t>
            </a:r>
            <a:r>
              <a:rPr lang="zh-CN" altLang="en-US" sz="1800" b="1" dirty="0" smtClean="0">
                <a:latin typeface="+mn-ea"/>
                <a:ea typeface="+mn-ea"/>
              </a:rPr>
              <a:t>暂存，</a:t>
            </a:r>
            <a:r>
              <a:rPr lang="zh-CN" altLang="en-US" sz="1800" b="1" dirty="0">
                <a:latin typeface="+mn-ea"/>
                <a:ea typeface="+mn-ea"/>
              </a:rPr>
              <a:t>一次</a:t>
            </a:r>
            <a:r>
              <a:rPr lang="en-US" altLang="zh-CN" sz="1800" b="1" dirty="0" smtClean="0"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latin typeface="+mn-ea"/>
                <a:ea typeface="+mn-ea"/>
              </a:rPr>
              <a:t>所需</a:t>
            </a:r>
            <a:r>
              <a:rPr lang="en-US" altLang="zh-CN" sz="1800" b="1" dirty="0" smtClean="0">
                <a:latin typeface="+mn-ea"/>
                <a:ea typeface="+mn-ea"/>
              </a:rPr>
              <a:t>CPU</a:t>
            </a:r>
            <a:r>
              <a:rPr lang="zh-CN" altLang="en-US" sz="1800" b="1" dirty="0">
                <a:latin typeface="+mn-ea"/>
                <a:ea typeface="+mn-ea"/>
              </a:rPr>
              <a:t>时间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99820" y="5993765"/>
            <a:ext cx="6192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p>
            <a:pPr algn="l" eaLnBrk="0" hangingPunct="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思考②：</a:t>
            </a:r>
            <a:r>
              <a:rPr lang="en-US" sz="1800" b="1" dirty="0" smtClean="0">
                <a:latin typeface="+mn-ea"/>
                <a:ea typeface="+mn-ea"/>
              </a:rPr>
              <a:t>CPU</a:t>
            </a:r>
            <a:r>
              <a:rPr lang="zh-CN" altLang="en-US" sz="1800" b="1" dirty="0" smtClean="0">
                <a:latin typeface="+mn-ea"/>
                <a:ea typeface="+mn-ea"/>
              </a:rPr>
              <a:t>外部访问对象有</a:t>
            </a:r>
            <a:r>
              <a:rPr lang="en-US" altLang="zh-CN" sz="1800" b="1" dirty="0" smtClean="0">
                <a:latin typeface="+mn-ea"/>
                <a:ea typeface="+mn-ea"/>
              </a:rPr>
              <a:t>MEM</a:t>
            </a:r>
            <a:r>
              <a:rPr lang="zh-CN" altLang="en-US" sz="1800" b="1" dirty="0" smtClean="0">
                <a:latin typeface="+mn-ea"/>
                <a:ea typeface="+mn-ea"/>
              </a:rPr>
              <a:t>单元、</a:t>
            </a:r>
            <a:r>
              <a:rPr lang="en-US" altLang="zh-CN" sz="1800" b="1" dirty="0" smtClean="0"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latin typeface="+mn-ea"/>
                <a:ea typeface="+mn-ea"/>
              </a:rPr>
              <a:t>端口，如何区分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3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ldLvl="0"/>
      <p:bldP spid="61" grpId="0" animBg="1"/>
      <p:bldP spid="61" grpId="1" animBg="1"/>
      <p:bldP spid="47" grpId="0" bldLvl="0" animBg="1"/>
      <p:bldP spid="68" grpId="0" bldLvl="0" animBg="1"/>
      <p:bldP spid="5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6"/>
          <p:cNvSpPr txBox="1">
            <a:spLocks noChangeArrowheads="1"/>
          </p:cNvSpPr>
          <p:nvPr/>
        </p:nvSpPr>
        <p:spPr bwMode="auto">
          <a:xfrm>
            <a:off x="179512" y="2209854"/>
            <a:ext cx="4248547" cy="3857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*硬件连接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4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事务的识别</a:t>
            </a:r>
            <a:r>
              <a:rPr lang="en-US" altLang="zh-CN" b="1" dirty="0" smtClean="0">
                <a:solidFill>
                  <a:schemeClr val="accent2"/>
                </a:solidFill>
                <a:latin typeface="+mn-ea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软件访问：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zh-CN" altLang="en-US" b="1" dirty="0" smtClean="0">
              <a:latin typeface="+mn-ea"/>
              <a:ea typeface="+mn-ea"/>
            </a:endParaRPr>
          </a:p>
        </p:txBody>
      </p:sp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9A8B11-A3D3-4984-A5B9-EDD907E07DC8}" type="slidenum">
              <a:rPr lang="en-US" altLang="zh-CN"/>
            </a:fld>
            <a:endParaRPr lang="en-US" altLang="zh-CN"/>
          </a:p>
        </p:txBody>
      </p:sp>
      <p:sp>
        <p:nvSpPr>
          <p:cNvPr id="207993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Text Box 39"/>
          <p:cNvSpPr txBox="1">
            <a:spLocks noChangeArrowheads="1"/>
          </p:cNvSpPr>
          <p:nvPr/>
        </p:nvSpPr>
        <p:spPr bwMode="auto">
          <a:xfrm>
            <a:off x="152400" y="332656"/>
            <a:ext cx="8914962" cy="1015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、外设的编址方式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实质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总线上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端口的编址方式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←主存单元、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端口的</a:t>
            </a:r>
            <a:r>
              <a:rPr lang="zh-CN" altLang="en-US" sz="1800" b="1" u="sng" dirty="0">
                <a:latin typeface="宋体" panose="02010600030101010101" pitchFamily="2" charset="-122"/>
              </a:rPr>
              <a:t>区分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方法 </a:t>
            </a:r>
            <a:endParaRPr lang="en-US" altLang="zh-CN" sz="1600" b="1" u="sng" dirty="0">
              <a:latin typeface="宋体" panose="02010600030101010101" pitchFamily="2" charset="-122"/>
            </a:endParaRPr>
          </a:p>
        </p:txBody>
      </p:sp>
      <p:sp>
        <p:nvSpPr>
          <p:cNvPr id="6" name="Text Box 40"/>
          <p:cNvSpPr txBox="1">
            <a:spLocks noChangeArrowheads="1"/>
          </p:cNvSpPr>
          <p:nvPr/>
        </p:nvSpPr>
        <p:spPr bwMode="auto">
          <a:xfrm>
            <a:off x="179512" y="1276311"/>
            <a:ext cx="8812213" cy="1015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(1)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统一编址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方式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存储器映像方式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即主存单元、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端口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共用一个</a:t>
            </a:r>
            <a:r>
              <a:rPr lang="zh-CN" altLang="en-US" b="1" dirty="0" smtClean="0">
                <a:latin typeface="宋体" panose="02010600030101010101" pitchFamily="2" charset="-122"/>
              </a:rPr>
              <a:t>地址空间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41"/>
          <p:cNvSpPr txBox="1">
            <a:spLocks noChangeArrowheads="1"/>
          </p:cNvSpPr>
          <p:nvPr/>
        </p:nvSpPr>
        <p:spPr bwMode="auto">
          <a:xfrm>
            <a:off x="1980000" y="2204720"/>
            <a:ext cx="6992620" cy="55308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总线仅含访</a:t>
            </a:r>
            <a:r>
              <a:rPr lang="zh-CN" altLang="en-US" b="1" dirty="0">
                <a:latin typeface="宋体" panose="02010600030101010101" pitchFamily="2" charset="-122"/>
              </a:rPr>
              <a:t>存控制信号</a:t>
            </a:r>
            <a:r>
              <a:rPr lang="en-US" altLang="zh-CN" sz="1800" b="1" dirty="0">
                <a:latin typeface="宋体" panose="02010600030101010101" pitchFamily="2" charset="-122"/>
              </a:rPr>
              <a:t>(MEMR#</a:t>
            </a:r>
            <a:r>
              <a:rPr lang="zh-CN" altLang="en-US" sz="1800" b="1" dirty="0">
                <a:latin typeface="宋体" panose="02010600030101010101" pitchFamily="2" charset="-122"/>
              </a:rPr>
              <a:t>及</a:t>
            </a:r>
            <a:r>
              <a:rPr lang="en-US" altLang="zh-CN" sz="1800" b="1" dirty="0">
                <a:latin typeface="宋体" panose="02010600030101010101" pitchFamily="2" charset="-122"/>
              </a:rPr>
              <a:t>MEMW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#)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不增加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总线事务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grpSp>
        <p:nvGrpSpPr>
          <p:cNvPr id="8" name="Group 73"/>
          <p:cNvGrpSpPr/>
          <p:nvPr/>
        </p:nvGrpSpPr>
        <p:grpSpPr bwMode="auto">
          <a:xfrm>
            <a:off x="1475234" y="2681238"/>
            <a:ext cx="1728788" cy="1493838"/>
            <a:chOff x="1020" y="2084"/>
            <a:chExt cx="1089" cy="941"/>
          </a:xfrm>
        </p:grpSpPr>
        <p:sp>
          <p:nvSpPr>
            <p:cNvPr id="9" name="Text Box 43"/>
            <p:cNvSpPr txBox="1">
              <a:spLocks noChangeArrowheads="1"/>
            </p:cNvSpPr>
            <p:nvPr/>
          </p:nvSpPr>
          <p:spPr bwMode="auto">
            <a:xfrm>
              <a:off x="1383" y="2527"/>
              <a:ext cx="726" cy="49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主存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主存单元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44"/>
            <p:cNvSpPr txBox="1">
              <a:spLocks noChangeArrowheads="1"/>
            </p:cNvSpPr>
            <p:nvPr/>
          </p:nvSpPr>
          <p:spPr bwMode="auto">
            <a:xfrm>
              <a:off x="1383" y="2129"/>
              <a:ext cx="726" cy="39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外设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(I/O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端口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45"/>
            <p:cNvSpPr txBox="1">
              <a:spLocks noChangeArrowheads="1"/>
            </p:cNvSpPr>
            <p:nvPr/>
          </p:nvSpPr>
          <p:spPr bwMode="auto">
            <a:xfrm>
              <a:off x="1020" y="2084"/>
              <a:ext cx="333" cy="94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/>
              <a:r>
                <a:rPr lang="en-US" altLang="zh-CN" sz="1800" b="1" i="1" dirty="0" smtClean="0">
                  <a:latin typeface="+mn-lt"/>
                </a:rPr>
                <a:t>N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-1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70000"/>
                </a:lnSpc>
              </a:pPr>
              <a:r>
                <a:rPr lang="en-US" altLang="zh-CN" sz="1800" b="1" dirty="0">
                  <a:latin typeface="Times New Roman" panose="02020603050405020304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800" b="1" i="1" dirty="0">
                  <a:latin typeface="+mn-lt"/>
                </a:rPr>
                <a:t>x</a:t>
              </a:r>
              <a:endParaRPr lang="en-US" altLang="zh-CN" sz="1800" b="1" i="1" dirty="0">
                <a:latin typeface="+mn-lt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800" b="1" i="1" dirty="0" smtClean="0">
                  <a:latin typeface="+mn-lt"/>
                </a:rPr>
                <a:t>x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-1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15000"/>
                </a:lnSpc>
              </a:pPr>
              <a:r>
                <a:rPr lang="en-US" altLang="zh-CN" sz="1800" b="1" dirty="0">
                  <a:latin typeface="Times New Roman" panose="02020603050405020304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1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1043608" y="4226421"/>
            <a:ext cx="2951807" cy="327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/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MEM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读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/MEM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写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事务的寻址范围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3" name="Text Box 67"/>
          <p:cNvSpPr txBox="1">
            <a:spLocks noChangeArrowheads="1"/>
          </p:cNvSpPr>
          <p:nvPr/>
        </p:nvSpPr>
        <p:spPr bwMode="auto">
          <a:xfrm>
            <a:off x="3274060" y="4623435"/>
            <a:ext cx="5628640" cy="41338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(MEMR#</a:t>
            </a:r>
            <a:r>
              <a:rPr lang="zh-CN" altLang="en-US" sz="2000" b="1" dirty="0" smtClean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MEMW#)</a:t>
            </a:r>
            <a:r>
              <a:rPr lang="en-US" altLang="zh-CN" sz="2000" b="1" dirty="0" smtClean="0">
                <a:latin typeface="+mn-lt"/>
              </a:rPr>
              <a:t>·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地址∈外设地址范围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)=1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时</a:t>
            </a:r>
            <a:endParaRPr lang="zh-CN" altLang="en-US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34" name="Text Box 68"/>
          <p:cNvSpPr txBox="1">
            <a:spLocks noChangeArrowheads="1"/>
          </p:cNvSpPr>
          <p:nvPr/>
        </p:nvSpPr>
        <p:spPr bwMode="auto">
          <a:xfrm>
            <a:off x="1403648" y="5076000"/>
            <a:ext cx="7272808" cy="9398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访存指令</a:t>
            </a:r>
            <a:endParaRPr lang="zh-CN" altLang="en-US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不增加</a:t>
            </a:r>
            <a:r>
              <a:rPr lang="zh-CN" altLang="en-US" b="1" dirty="0" smtClean="0">
                <a:latin typeface="宋体" panose="02010600030101010101" pitchFamily="2" charset="-122"/>
              </a:rPr>
              <a:t>总线事务，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地址译码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复杂</a:t>
            </a:r>
            <a:endParaRPr lang="zh-CN" altLang="en-US" b="1" u="sng" dirty="0">
              <a:latin typeface="宋体" panose="02010600030101010101" pitchFamily="2" charset="-122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211960" y="2897262"/>
            <a:ext cx="4248472" cy="1224136"/>
            <a:chOff x="4499992" y="2060848"/>
            <a:chExt cx="4248472" cy="1224136"/>
          </a:xfrm>
        </p:grpSpPr>
        <p:cxnSp>
          <p:nvCxnSpPr>
            <p:cNvPr id="76" name="直接连接符 75"/>
            <p:cNvCxnSpPr/>
            <p:nvPr/>
          </p:nvCxnSpPr>
          <p:spPr bwMode="auto">
            <a:xfrm>
              <a:off x="7457966" y="2348880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7" name="Text Box 49"/>
            <p:cNvSpPr txBox="1">
              <a:spLocks noChangeArrowheads="1"/>
            </p:cNvSpPr>
            <p:nvPr/>
          </p:nvSpPr>
          <p:spPr bwMode="auto">
            <a:xfrm>
              <a:off x="4499992" y="2564904"/>
              <a:ext cx="720155" cy="7200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50"/>
            <p:cNvSpPr txBox="1">
              <a:spLocks noChangeArrowheads="1"/>
            </p:cNvSpPr>
            <p:nvPr/>
          </p:nvSpPr>
          <p:spPr bwMode="auto">
            <a:xfrm>
              <a:off x="5505748" y="2564904"/>
              <a:ext cx="1298575" cy="72008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>
                  <a:latin typeface="宋体" panose="02010600030101010101" pitchFamily="2" charset="-122"/>
                </a:rPr>
                <a:t>主存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51"/>
            <p:cNvSpPr txBox="1">
              <a:spLocks noChangeArrowheads="1"/>
            </p:cNvSpPr>
            <p:nvPr/>
          </p:nvSpPr>
          <p:spPr bwMode="auto">
            <a:xfrm>
              <a:off x="7377881" y="2565276"/>
              <a:ext cx="1370583" cy="71970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接口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20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2000" b="1" dirty="0" smtClean="0">
                  <a:latin typeface="宋体" panose="02010600030101010101" pitchFamily="2" charset="-122"/>
                </a:rPr>
                <a:t>)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1" name="直接连接符 80"/>
            <p:cNvCxnSpPr/>
            <p:nvPr/>
          </p:nvCxnSpPr>
          <p:spPr bwMode="auto">
            <a:xfrm>
              <a:off x="4499992" y="2060848"/>
              <a:ext cx="4248472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" name="直接连接符 81"/>
            <p:cNvCxnSpPr/>
            <p:nvPr/>
          </p:nvCxnSpPr>
          <p:spPr bwMode="auto">
            <a:xfrm>
              <a:off x="7493970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3" name="直接连接符 82"/>
            <p:cNvCxnSpPr/>
            <p:nvPr/>
          </p:nvCxnSpPr>
          <p:spPr bwMode="auto">
            <a:xfrm>
              <a:off x="774035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84" name="直接连接符 83"/>
            <p:cNvCxnSpPr/>
            <p:nvPr/>
          </p:nvCxnSpPr>
          <p:spPr bwMode="auto">
            <a:xfrm>
              <a:off x="8028384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5" name="直接连接符 84"/>
            <p:cNvCxnSpPr/>
            <p:nvPr/>
          </p:nvCxnSpPr>
          <p:spPr bwMode="auto">
            <a:xfrm>
              <a:off x="810039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7" name="Text Box 61"/>
            <p:cNvSpPr txBox="1">
              <a:spLocks noChangeArrowheads="1"/>
            </p:cNvSpPr>
            <p:nvPr/>
          </p:nvSpPr>
          <p:spPr bwMode="auto">
            <a:xfrm>
              <a:off x="5584020" y="2222227"/>
              <a:ext cx="1004279" cy="2706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地址 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8" name="直接连接符 87"/>
            <p:cNvCxnSpPr/>
            <p:nvPr/>
          </p:nvCxnSpPr>
          <p:spPr bwMode="auto">
            <a:xfrm flipV="1">
              <a:off x="4572075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9" name="直接连接符 88"/>
            <p:cNvCxnSpPr/>
            <p:nvPr/>
          </p:nvCxnSpPr>
          <p:spPr bwMode="auto">
            <a:xfrm>
              <a:off x="4716091" y="2060848"/>
              <a:ext cx="0" cy="50442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0" name="直接连接符 89"/>
            <p:cNvCxnSpPr/>
            <p:nvPr/>
          </p:nvCxnSpPr>
          <p:spPr bwMode="auto">
            <a:xfrm flipV="1">
              <a:off x="4923731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" name="直接连接符 90"/>
            <p:cNvCxnSpPr/>
            <p:nvPr/>
          </p:nvCxnSpPr>
          <p:spPr bwMode="auto">
            <a:xfrm flipV="1">
              <a:off x="4995739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558018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3" name="直接连接符 92"/>
            <p:cNvCxnSpPr/>
            <p:nvPr/>
          </p:nvCxnSpPr>
          <p:spPr bwMode="auto">
            <a:xfrm>
              <a:off x="6084243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94" name="直接连接符 93"/>
            <p:cNvCxnSpPr/>
            <p:nvPr/>
          </p:nvCxnSpPr>
          <p:spPr bwMode="auto">
            <a:xfrm>
              <a:off x="6546649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5" name="直接连接符 94"/>
            <p:cNvCxnSpPr/>
            <p:nvPr/>
          </p:nvCxnSpPr>
          <p:spPr bwMode="auto">
            <a:xfrm>
              <a:off x="661865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6" name="Text Box 61"/>
            <p:cNvSpPr txBox="1">
              <a:spLocks noChangeArrowheads="1"/>
            </p:cNvSpPr>
            <p:nvPr/>
          </p:nvSpPr>
          <p:spPr bwMode="auto">
            <a:xfrm>
              <a:off x="6618657" y="2129148"/>
              <a:ext cx="648072" cy="3711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MEMR#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#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7" name="线形标注 2 36"/>
          <p:cNvSpPr/>
          <p:nvPr/>
        </p:nvSpPr>
        <p:spPr bwMode="auto">
          <a:xfrm>
            <a:off x="7569099" y="4219153"/>
            <a:ext cx="819325" cy="252000"/>
          </a:xfrm>
          <a:prstGeom prst="borderCallout2">
            <a:avLst>
              <a:gd name="adj1" fmla="val 48951"/>
              <a:gd name="adj2" fmla="val -2110"/>
              <a:gd name="adj3" fmla="val 46638"/>
              <a:gd name="adj4" fmla="val -17979"/>
              <a:gd name="adj5" fmla="val -385820"/>
              <a:gd name="adj6" fmla="val -35005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=log</a:t>
            </a:r>
            <a:r>
              <a:rPr lang="en-US" altLang="zh-CN" sz="1600" b="1" baseline="-24000" dirty="0" smtClean="0">
                <a:latin typeface="+mn-ea"/>
                <a:ea typeface="+mn-ea"/>
              </a:rPr>
              <a:t>2 </a:t>
            </a:r>
            <a:r>
              <a:rPr lang="en-US" altLang="zh-CN" sz="1600" b="1" i="1" dirty="0" smtClean="0">
                <a:latin typeface="+mn-lt"/>
                <a:ea typeface="+mn-ea"/>
              </a:rPr>
              <a:t>N</a:t>
            </a:r>
            <a:endParaRPr lang="zh-CN" altLang="en-US" sz="1600" b="1" i="1" dirty="0">
              <a:latin typeface="+mn-lt"/>
              <a:ea typeface="+mn-ea"/>
            </a:endParaRPr>
          </a:p>
        </p:txBody>
      </p:sp>
      <p:sp>
        <p:nvSpPr>
          <p:cNvPr id="38" name="Text Box 61"/>
          <p:cNvSpPr txBox="1">
            <a:spLocks noChangeArrowheads="1"/>
          </p:cNvSpPr>
          <p:nvPr/>
        </p:nvSpPr>
        <p:spPr bwMode="auto">
          <a:xfrm>
            <a:off x="7812360" y="2965562"/>
            <a:ext cx="648072" cy="3711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8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MEMR#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MEMW</a:t>
            </a:r>
            <a:r>
              <a:rPr lang="en-US" altLang="zh-CN" sz="1600" b="1" dirty="0">
                <a:latin typeface="宋体" panose="02010600030101010101" pitchFamily="2" charset="-122"/>
              </a:rPr>
              <a:t>#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39" name="线形标注 2 38"/>
          <p:cNvSpPr/>
          <p:nvPr/>
        </p:nvSpPr>
        <p:spPr bwMode="auto">
          <a:xfrm>
            <a:off x="4644008" y="4255928"/>
            <a:ext cx="1827436" cy="252000"/>
          </a:xfrm>
          <a:prstGeom prst="borderCallout2">
            <a:avLst>
              <a:gd name="adj1" fmla="val 53217"/>
              <a:gd name="adj2" fmla="val 99765"/>
              <a:gd name="adj3" fmla="val 53003"/>
              <a:gd name="adj4" fmla="val 107756"/>
              <a:gd name="adj5" fmla="val -359338"/>
              <a:gd name="adj6" fmla="val 119357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l">
              <a:lnSpc>
                <a:spcPct val="90000"/>
              </a:lnSpc>
            </a:pPr>
            <a:r>
              <a:rPr lang="zh-CN" altLang="en-US" sz="1600" b="1" dirty="0" smtClean="0">
                <a:latin typeface="+mn-lt"/>
                <a:ea typeface="+mn-ea"/>
              </a:rPr>
              <a:t>检查：</a:t>
            </a:r>
            <a:r>
              <a:rPr lang="en-US" altLang="zh-CN" sz="1600" b="1" dirty="0" smtClean="0">
                <a:latin typeface="+mn-lt"/>
                <a:ea typeface="+mn-ea"/>
              </a:rPr>
              <a:t> #</a:t>
            </a:r>
            <a:r>
              <a:rPr lang="zh-CN" altLang="en-US" sz="1600" b="1" dirty="0" smtClean="0">
                <a:latin typeface="+mn-lt"/>
                <a:ea typeface="+mn-ea"/>
              </a:rPr>
              <a:t>什么意思？</a:t>
            </a:r>
            <a:endParaRPr lang="zh-CN" altLang="en-US" sz="16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bldLvl="0" animBg="1"/>
      <p:bldP spid="6" grpId="0"/>
      <p:bldP spid="12" grpId="0"/>
      <p:bldP spid="33" grpId="0" bldLvl="0" animBg="1"/>
      <p:bldP spid="37" grpId="0" animBg="1"/>
      <p:bldP spid="38" grpId="0"/>
      <p:bldP spid="39" grpId="0" animBg="1"/>
      <p:bldP spid="3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Box 6"/>
          <p:cNvSpPr txBox="1">
            <a:spLocks noChangeArrowheads="1"/>
          </p:cNvSpPr>
          <p:nvPr/>
        </p:nvSpPr>
        <p:spPr bwMode="auto">
          <a:xfrm>
            <a:off x="179512" y="1333217"/>
            <a:ext cx="4248547" cy="41001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*硬件连接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事务的识别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软件访问：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※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应用：</a:t>
            </a:r>
            <a:endParaRPr lang="zh-CN" altLang="en-US" b="1" dirty="0" smtClean="0">
              <a:latin typeface="+mn-ea"/>
              <a:ea typeface="+mn-ea"/>
            </a:endParaRPr>
          </a:p>
        </p:txBody>
      </p:sp>
      <p:sp>
        <p:nvSpPr>
          <p:cNvPr id="65" name="Text Box 40"/>
          <p:cNvSpPr txBox="1">
            <a:spLocks noChangeArrowheads="1"/>
          </p:cNvSpPr>
          <p:nvPr/>
        </p:nvSpPr>
        <p:spPr bwMode="auto">
          <a:xfrm>
            <a:off x="152275" y="332656"/>
            <a:ext cx="8812213" cy="1015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(2)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独立编址方式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即主存单元、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</a:rPr>
              <a:t>端口</a:t>
            </a:r>
            <a:r>
              <a:rPr lang="zh-CN" altLang="en-US" b="1" u="sng" dirty="0">
                <a:latin typeface="宋体" panose="02010600030101010101" pitchFamily="2" charset="-122"/>
              </a:rPr>
              <a:t>都从零开始</a:t>
            </a:r>
            <a:r>
              <a:rPr lang="zh-CN" altLang="en-US" b="1" dirty="0" smtClean="0">
                <a:latin typeface="宋体" panose="02010600030101010101" pitchFamily="2" charset="-122"/>
              </a:rPr>
              <a:t>编址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使用不同的地址空间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grpSp>
        <p:nvGrpSpPr>
          <p:cNvPr id="8" name="Group 148"/>
          <p:cNvGrpSpPr/>
          <p:nvPr/>
        </p:nvGrpSpPr>
        <p:grpSpPr bwMode="auto">
          <a:xfrm>
            <a:off x="695772" y="2852936"/>
            <a:ext cx="3732212" cy="576262"/>
            <a:chOff x="249" y="2115"/>
            <a:chExt cx="2351" cy="363"/>
          </a:xfrm>
        </p:grpSpPr>
        <p:sp>
          <p:nvSpPr>
            <p:cNvPr id="9" name="Text Box 116"/>
            <p:cNvSpPr txBox="1">
              <a:spLocks noChangeArrowheads="1"/>
            </p:cNvSpPr>
            <p:nvPr/>
          </p:nvSpPr>
          <p:spPr bwMode="auto">
            <a:xfrm>
              <a:off x="249" y="2115"/>
              <a:ext cx="1171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MEM</a:t>
              </a:r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/MEM</a:t>
              </a:r>
              <a:r>
                <a:rPr lang="zh-CN" altLang="en-US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写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事务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的寻址范围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17"/>
            <p:cNvSpPr txBox="1">
              <a:spLocks noChangeArrowheads="1"/>
            </p:cNvSpPr>
            <p:nvPr/>
          </p:nvSpPr>
          <p:spPr bwMode="auto">
            <a:xfrm>
              <a:off x="1565" y="2115"/>
              <a:ext cx="1035" cy="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zh-CN" altLang="en-US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输入</a:t>
              </a:r>
              <a:r>
                <a:rPr lang="en-US" altLang="zh-CN" sz="18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输出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事务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的寻址范围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" name="Group 118"/>
          <p:cNvGrpSpPr/>
          <p:nvPr/>
        </p:nvGrpSpPr>
        <p:grpSpPr bwMode="auto">
          <a:xfrm>
            <a:off x="611312" y="1837273"/>
            <a:ext cx="3602037" cy="976312"/>
            <a:chOff x="249" y="1454"/>
            <a:chExt cx="2269" cy="615"/>
          </a:xfrm>
        </p:grpSpPr>
        <p:sp>
          <p:nvSpPr>
            <p:cNvPr id="12" name="Text Box 119"/>
            <p:cNvSpPr txBox="1">
              <a:spLocks noChangeArrowheads="1"/>
            </p:cNvSpPr>
            <p:nvPr/>
          </p:nvSpPr>
          <p:spPr bwMode="auto">
            <a:xfrm>
              <a:off x="249" y="1454"/>
              <a:ext cx="263" cy="61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i="1" dirty="0" smtClean="0">
                  <a:latin typeface="+mn-lt"/>
                </a:rPr>
                <a:t>x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-1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40000"/>
                </a:lnSpc>
              </a:pPr>
              <a:r>
                <a:rPr lang="en-US" altLang="zh-CN" sz="1800" b="1" dirty="0">
                  <a:latin typeface="Times New Roman" panose="02020603050405020304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4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20"/>
            <p:cNvSpPr txBox="1">
              <a:spLocks noChangeArrowheads="1"/>
            </p:cNvSpPr>
            <p:nvPr/>
          </p:nvSpPr>
          <p:spPr bwMode="auto">
            <a:xfrm>
              <a:off x="567" y="1480"/>
              <a:ext cx="726" cy="58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>
                  <a:latin typeface="宋体" panose="02010600030101010101" pitchFamily="2" charset="-122"/>
                </a:rPr>
                <a:t>主存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21"/>
            <p:cNvSpPr txBox="1">
              <a:spLocks noChangeArrowheads="1"/>
            </p:cNvSpPr>
            <p:nvPr/>
          </p:nvSpPr>
          <p:spPr bwMode="auto">
            <a:xfrm>
              <a:off x="1474" y="1616"/>
              <a:ext cx="286" cy="4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80000"/>
                </a:lnSpc>
              </a:pPr>
              <a:r>
                <a:rPr lang="en-US" altLang="zh-CN" sz="1800" b="1" i="1" dirty="0" smtClean="0">
                  <a:latin typeface="+mn-lt"/>
                </a:rPr>
                <a:t>y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-1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r>
                <a:rPr lang="en-US" altLang="zh-CN" sz="1800" b="1" dirty="0">
                  <a:latin typeface="Times New Roman" panose="02020603050405020304"/>
                </a:rPr>
                <a:t>…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1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122"/>
            <p:cNvSpPr txBox="1">
              <a:spLocks noChangeArrowheads="1"/>
            </p:cNvSpPr>
            <p:nvPr/>
          </p:nvSpPr>
          <p:spPr bwMode="auto">
            <a:xfrm>
              <a:off x="1792" y="1616"/>
              <a:ext cx="726" cy="45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外设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16" name="Text Box 144"/>
          <p:cNvSpPr txBox="1">
            <a:spLocks noChangeArrowheads="1"/>
          </p:cNvSpPr>
          <p:nvPr/>
        </p:nvSpPr>
        <p:spPr bwMode="auto">
          <a:xfrm>
            <a:off x="2127885" y="1333500"/>
            <a:ext cx="6594475" cy="55308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总线增设</a:t>
            </a:r>
            <a:r>
              <a:rPr lang="en-US" altLang="zh-CN" b="1" dirty="0" smtClean="0">
                <a:latin typeface="宋体" panose="02010600030101010101" pitchFamily="2" charset="-122"/>
              </a:rPr>
              <a:t>IOR</a:t>
            </a:r>
            <a:r>
              <a:rPr lang="en-US" altLang="zh-CN" b="1" dirty="0">
                <a:latin typeface="宋体" panose="02010600030101010101" pitchFamily="2" charset="-122"/>
              </a:rPr>
              <a:t>#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IOW#</a:t>
            </a:r>
            <a:r>
              <a:rPr lang="zh-CN" altLang="en-US" b="1" dirty="0" smtClean="0">
                <a:latin typeface="宋体" panose="02010600030101010101" pitchFamily="2" charset="-122"/>
              </a:rPr>
              <a:t>信号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增加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800" b="1" dirty="0">
                <a:solidFill>
                  <a:srgbClr val="FF3399"/>
                </a:solidFill>
                <a:latin typeface="宋体" panose="02010600030101010101" pitchFamily="2" charset="-122"/>
              </a:rPr>
              <a:t>种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</a:t>
            </a:r>
            <a:r>
              <a:rPr lang="zh-CN" altLang="en-US" sz="1800" b="1" dirty="0">
                <a:latin typeface="宋体" panose="02010600030101010101" pitchFamily="2" charset="-122"/>
              </a:rPr>
              <a:t>事务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42" name="Text Box 67"/>
          <p:cNvSpPr txBox="1">
            <a:spLocks noChangeArrowheads="1"/>
          </p:cNvSpPr>
          <p:nvPr/>
        </p:nvSpPr>
        <p:spPr bwMode="auto">
          <a:xfrm>
            <a:off x="3130550" y="3500755"/>
            <a:ext cx="5826760" cy="51562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(IOR#</a:t>
            </a:r>
            <a:r>
              <a:rPr lang="zh-CN" altLang="en-US" b="1" dirty="0" smtClean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b="1" dirty="0" smtClean="0">
                <a:latin typeface="宋体" panose="02010600030101010101" pitchFamily="2" charset="-122"/>
              </a:rPr>
              <a:t>IOW#)=1</a:t>
            </a:r>
            <a:r>
              <a:rPr lang="zh-CN" altLang="en-US" b="1" dirty="0" smtClean="0">
                <a:latin typeface="宋体" panose="02010600030101010101" pitchFamily="2" charset="-122"/>
              </a:rPr>
              <a:t>时     </a:t>
            </a: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MRMR#</a:t>
            </a:r>
            <a:r>
              <a:rPr lang="zh-CN" altLang="en-US" sz="1800" b="1" dirty="0" smtClean="0">
                <a:latin typeface="宋体" panose="02010600030101010101" pitchFamily="2" charset="-122"/>
                <a:sym typeface="Symbol" panose="05050102010706020507"/>
              </a:rPr>
              <a:t>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MEMW#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0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43" name="Text Box 147"/>
          <p:cNvSpPr txBox="1">
            <a:spLocks noChangeArrowheads="1"/>
          </p:cNvSpPr>
          <p:nvPr/>
        </p:nvSpPr>
        <p:spPr bwMode="auto">
          <a:xfrm>
            <a:off x="1403648" y="3933056"/>
            <a:ext cx="7344940" cy="10147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   I/O</a:t>
            </a:r>
            <a:r>
              <a:rPr lang="zh-CN" altLang="en-US" b="1" dirty="0">
                <a:latin typeface="宋体" panose="02010600030101010101" pitchFamily="2" charset="-122"/>
              </a:rPr>
              <a:t>指令</a:t>
            </a:r>
            <a:endParaRPr lang="zh-CN" altLang="en-US" b="1" u="sng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u="sng" dirty="0">
                <a:latin typeface="宋体" panose="02010600030101010101" pitchFamily="2" charset="-122"/>
              </a:rPr>
              <a:t>增设</a:t>
            </a:r>
            <a:r>
              <a:rPr lang="en-US" altLang="zh-CN" b="1" dirty="0"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latin typeface="宋体" panose="02010600030101010101" pitchFamily="2" charset="-122"/>
              </a:rPr>
              <a:t>种总线</a:t>
            </a:r>
            <a:r>
              <a:rPr lang="zh-CN" altLang="en-US" b="1" dirty="0" smtClean="0">
                <a:latin typeface="宋体" panose="02010600030101010101" pitchFamily="2" charset="-122"/>
              </a:rPr>
              <a:t>事务，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地址</a:t>
            </a:r>
            <a:r>
              <a:rPr lang="zh-CN" altLang="en-US" b="1" dirty="0">
                <a:latin typeface="宋体" panose="02010600030101010101" pitchFamily="2" charset="-122"/>
              </a:rPr>
              <a:t>译码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简单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644008" y="1980842"/>
            <a:ext cx="4104456" cy="1224136"/>
            <a:chOff x="4499992" y="2060848"/>
            <a:chExt cx="4104456" cy="1224136"/>
          </a:xfrm>
        </p:grpSpPr>
        <p:cxnSp>
          <p:nvCxnSpPr>
            <p:cNvPr id="45" name="直接连接符 44"/>
            <p:cNvCxnSpPr/>
            <p:nvPr/>
          </p:nvCxnSpPr>
          <p:spPr bwMode="auto">
            <a:xfrm>
              <a:off x="7457966" y="2348880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4499992" y="2564904"/>
              <a:ext cx="720155" cy="7200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50"/>
            <p:cNvSpPr txBox="1">
              <a:spLocks noChangeArrowheads="1"/>
            </p:cNvSpPr>
            <p:nvPr/>
          </p:nvSpPr>
          <p:spPr bwMode="auto">
            <a:xfrm>
              <a:off x="5505748" y="2564904"/>
              <a:ext cx="1298575" cy="72008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 dirty="0">
                  <a:latin typeface="宋体" panose="02010600030101010101" pitchFamily="2" charset="-122"/>
                </a:rPr>
                <a:t>主存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51"/>
            <p:cNvSpPr txBox="1">
              <a:spLocks noChangeArrowheads="1"/>
            </p:cNvSpPr>
            <p:nvPr/>
          </p:nvSpPr>
          <p:spPr bwMode="auto">
            <a:xfrm>
              <a:off x="7377881" y="2565276"/>
              <a:ext cx="1226567" cy="71970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接口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20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20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2000" b="1" dirty="0" smtClean="0">
                  <a:latin typeface="宋体" panose="02010600030101010101" pitchFamily="2" charset="-122"/>
                </a:rPr>
                <a:t>)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9" name="直接连接符 48"/>
            <p:cNvCxnSpPr/>
            <p:nvPr/>
          </p:nvCxnSpPr>
          <p:spPr bwMode="auto">
            <a:xfrm>
              <a:off x="4499992" y="2060848"/>
              <a:ext cx="4104456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直接连接符 49"/>
            <p:cNvCxnSpPr/>
            <p:nvPr/>
          </p:nvCxnSpPr>
          <p:spPr bwMode="auto">
            <a:xfrm>
              <a:off x="7493970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直接连接符 50"/>
            <p:cNvCxnSpPr/>
            <p:nvPr/>
          </p:nvCxnSpPr>
          <p:spPr bwMode="auto">
            <a:xfrm>
              <a:off x="774035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2" name="直接连接符 51"/>
            <p:cNvCxnSpPr/>
            <p:nvPr/>
          </p:nvCxnSpPr>
          <p:spPr bwMode="auto">
            <a:xfrm>
              <a:off x="8028384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8100392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" name="Text Box 61"/>
            <p:cNvSpPr txBox="1">
              <a:spLocks noChangeArrowheads="1"/>
            </p:cNvSpPr>
            <p:nvPr/>
          </p:nvSpPr>
          <p:spPr bwMode="auto">
            <a:xfrm>
              <a:off x="5584020" y="2222227"/>
              <a:ext cx="1004279" cy="27066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地址 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/>
            <p:nvPr/>
          </p:nvCxnSpPr>
          <p:spPr bwMode="auto">
            <a:xfrm flipV="1">
              <a:off x="4572075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直接连接符 56"/>
            <p:cNvCxnSpPr/>
            <p:nvPr/>
          </p:nvCxnSpPr>
          <p:spPr bwMode="auto">
            <a:xfrm>
              <a:off x="4716091" y="2060848"/>
              <a:ext cx="0" cy="50442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58" name="直接连接符 57"/>
            <p:cNvCxnSpPr/>
            <p:nvPr/>
          </p:nvCxnSpPr>
          <p:spPr bwMode="auto">
            <a:xfrm flipV="1">
              <a:off x="4923731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直接连接符 58"/>
            <p:cNvCxnSpPr/>
            <p:nvPr/>
          </p:nvCxnSpPr>
          <p:spPr bwMode="auto">
            <a:xfrm flipV="1">
              <a:off x="4995739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直接连接符 59"/>
            <p:cNvCxnSpPr/>
            <p:nvPr/>
          </p:nvCxnSpPr>
          <p:spPr bwMode="auto">
            <a:xfrm>
              <a:off x="558018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直接连接符 60"/>
            <p:cNvCxnSpPr/>
            <p:nvPr/>
          </p:nvCxnSpPr>
          <p:spPr bwMode="auto">
            <a:xfrm>
              <a:off x="6084243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" name="直接连接符 61"/>
            <p:cNvCxnSpPr/>
            <p:nvPr/>
          </p:nvCxnSpPr>
          <p:spPr bwMode="auto">
            <a:xfrm>
              <a:off x="6546649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3" name="直接连接符 62"/>
            <p:cNvCxnSpPr/>
            <p:nvPr/>
          </p:nvCxnSpPr>
          <p:spPr bwMode="auto">
            <a:xfrm>
              <a:off x="6618657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" name="Text Box 61"/>
            <p:cNvSpPr txBox="1">
              <a:spLocks noChangeArrowheads="1"/>
            </p:cNvSpPr>
            <p:nvPr/>
          </p:nvSpPr>
          <p:spPr bwMode="auto">
            <a:xfrm>
              <a:off x="6618657" y="2129148"/>
              <a:ext cx="648072" cy="37116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MEMR#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#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6" name="直接连接符 65"/>
            <p:cNvCxnSpPr/>
            <p:nvPr/>
          </p:nvCxnSpPr>
          <p:spPr bwMode="auto">
            <a:xfrm flipV="1">
              <a:off x="5076131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直接连接符 66"/>
            <p:cNvCxnSpPr/>
            <p:nvPr/>
          </p:nvCxnSpPr>
          <p:spPr bwMode="auto">
            <a:xfrm flipV="1">
              <a:off x="5148139" y="2060848"/>
              <a:ext cx="0" cy="5040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68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Text Box 147"/>
          <p:cNvSpPr txBox="1">
            <a:spLocks noChangeArrowheads="1"/>
          </p:cNvSpPr>
          <p:nvPr/>
        </p:nvSpPr>
        <p:spPr bwMode="auto">
          <a:xfrm>
            <a:off x="1543050" y="4867910"/>
            <a:ext cx="7420610" cy="10147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RISC ISA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采用</a:t>
            </a:r>
            <a:r>
              <a:rPr lang="zh-CN" altLang="en-US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统一编址方式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CISC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架构</a:t>
            </a:r>
            <a:r>
              <a:rPr lang="zh-CN" altLang="en-US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反之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硬件连接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可无关于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软件访问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BIU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可实现转换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效率不同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72" name="Text Box 61"/>
          <p:cNvSpPr txBox="1">
            <a:spLocks noChangeArrowheads="1"/>
          </p:cNvSpPr>
          <p:nvPr/>
        </p:nvSpPr>
        <p:spPr bwMode="auto">
          <a:xfrm>
            <a:off x="8244408" y="2051524"/>
            <a:ext cx="504056" cy="371166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10800" rIns="18000" bIns="10800" anchor="ctr" anchorCtr="0"/>
          <a:lstStyle/>
          <a:p>
            <a:pPr>
              <a:lnSpc>
                <a:spcPct val="8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IOR#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IOW</a:t>
            </a:r>
            <a:r>
              <a:rPr lang="en-US" altLang="zh-CN" sz="1600" b="1" dirty="0">
                <a:latin typeface="宋体" panose="02010600030101010101" pitchFamily="2" charset="-122"/>
              </a:rPr>
              <a:t>#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70" name="线形标注 2 69"/>
          <p:cNvSpPr/>
          <p:nvPr/>
        </p:nvSpPr>
        <p:spPr bwMode="auto">
          <a:xfrm>
            <a:off x="8001147" y="3284984"/>
            <a:ext cx="819325" cy="252000"/>
          </a:xfrm>
          <a:prstGeom prst="borderCallout2">
            <a:avLst>
              <a:gd name="adj1" fmla="val 48951"/>
              <a:gd name="adj2" fmla="val -2110"/>
              <a:gd name="adj3" fmla="val 46638"/>
              <a:gd name="adj4" fmla="val -17979"/>
              <a:gd name="adj5" fmla="val -368542"/>
              <a:gd name="adj6" fmla="val -3633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90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=log</a:t>
            </a:r>
            <a:r>
              <a:rPr lang="en-US" altLang="zh-CN" sz="1600" b="1" baseline="-24000" dirty="0" smtClean="0">
                <a:latin typeface="+mn-ea"/>
                <a:ea typeface="+mn-ea"/>
              </a:rPr>
              <a:t>2 </a:t>
            </a:r>
            <a:r>
              <a:rPr lang="en-US" altLang="zh-CN" sz="1600" b="1" i="1" dirty="0" smtClean="0">
                <a:latin typeface="+mn-lt"/>
                <a:ea typeface="+mn-ea"/>
              </a:rPr>
              <a:t>y</a:t>
            </a:r>
            <a:endParaRPr lang="zh-CN" altLang="en-US" sz="1600" b="1" i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ldLvl="0" animBg="1"/>
      <p:bldP spid="42" grpId="0" bldLvl="0" animBg="1"/>
      <p:bldP spid="69" grpId="0" bldLvl="0" animBg="1"/>
      <p:bldP spid="72" grpId="0"/>
      <p:bldP spid="7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259631" y="4293096"/>
            <a:ext cx="7272809" cy="2016224"/>
            <a:chOff x="1259631" y="4293096"/>
            <a:chExt cx="7272809" cy="2016224"/>
          </a:xfrm>
        </p:grpSpPr>
        <p:sp>
          <p:nvSpPr>
            <p:cNvPr id="112" name="Rectangle 130"/>
            <p:cNvSpPr>
              <a:spLocks noChangeArrowheads="1"/>
            </p:cNvSpPr>
            <p:nvPr/>
          </p:nvSpPr>
          <p:spPr bwMode="auto">
            <a:xfrm>
              <a:off x="2051719" y="5013176"/>
              <a:ext cx="4320482" cy="129614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" name="Text Box 49"/>
            <p:cNvSpPr txBox="1">
              <a:spLocks noChangeArrowheads="1"/>
            </p:cNvSpPr>
            <p:nvPr/>
          </p:nvSpPr>
          <p:spPr bwMode="auto">
            <a:xfrm>
              <a:off x="1259632" y="5006901"/>
              <a:ext cx="648072" cy="101438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50"/>
            <p:cNvSpPr txBox="1">
              <a:spLocks noChangeArrowheads="1"/>
            </p:cNvSpPr>
            <p:nvPr/>
          </p:nvSpPr>
          <p:spPr bwMode="auto">
            <a:xfrm>
              <a:off x="7236295" y="4992127"/>
              <a:ext cx="504058" cy="122413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2000" b="1" dirty="0" smtClean="0">
                  <a:latin typeface="宋体" panose="02010600030101010101" pitchFamily="2" charset="-122"/>
                </a:rPr>
                <a:t>主 存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6" name="直接连接符 115"/>
            <p:cNvCxnSpPr/>
            <p:nvPr/>
          </p:nvCxnSpPr>
          <p:spPr bwMode="auto">
            <a:xfrm>
              <a:off x="1259631" y="4725144"/>
              <a:ext cx="6804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Text Box 61"/>
            <p:cNvSpPr txBox="1">
              <a:spLocks noChangeArrowheads="1"/>
            </p:cNvSpPr>
            <p:nvPr/>
          </p:nvSpPr>
          <p:spPr bwMode="auto">
            <a:xfrm>
              <a:off x="3203847" y="4786626"/>
              <a:ext cx="1265785" cy="22654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IOR#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  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 IOW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#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9" name="直接连接符 118"/>
            <p:cNvCxnSpPr/>
            <p:nvPr/>
          </p:nvCxnSpPr>
          <p:spPr bwMode="auto">
            <a:xfrm flipV="1">
              <a:off x="1331565" y="4443015"/>
              <a:ext cx="0" cy="569789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0" name="直接连接符 119"/>
            <p:cNvCxnSpPr/>
            <p:nvPr/>
          </p:nvCxnSpPr>
          <p:spPr bwMode="auto">
            <a:xfrm>
              <a:off x="1475581" y="4587031"/>
              <a:ext cx="0" cy="426145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1" name="直接连接符 120"/>
            <p:cNvCxnSpPr/>
            <p:nvPr/>
          </p:nvCxnSpPr>
          <p:spPr bwMode="auto">
            <a:xfrm flipV="1">
              <a:off x="1611288" y="4731047"/>
              <a:ext cx="0" cy="281757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2" name="直接连接符 121"/>
            <p:cNvCxnSpPr/>
            <p:nvPr/>
          </p:nvCxnSpPr>
          <p:spPr bwMode="auto">
            <a:xfrm flipV="1">
              <a:off x="1683296" y="4731047"/>
              <a:ext cx="0" cy="281757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" name="直接连接符 122"/>
            <p:cNvCxnSpPr/>
            <p:nvPr/>
          </p:nvCxnSpPr>
          <p:spPr bwMode="auto">
            <a:xfrm>
              <a:off x="7596335" y="4581128"/>
              <a:ext cx="0" cy="410999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24" name="直接连接符 58"/>
            <p:cNvCxnSpPr/>
            <p:nvPr/>
          </p:nvCxnSpPr>
          <p:spPr bwMode="auto">
            <a:xfrm rot="5400000">
              <a:off x="7498662" y="4969599"/>
              <a:ext cx="699404" cy="216025"/>
            </a:xfrm>
            <a:prstGeom prst="bentConnector3">
              <a:avLst>
                <a:gd name="adj1" fmla="val 99027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5" name="直接连接符 59"/>
            <p:cNvCxnSpPr/>
            <p:nvPr/>
          </p:nvCxnSpPr>
          <p:spPr bwMode="auto">
            <a:xfrm rot="5400000">
              <a:off x="7500234" y="4968032"/>
              <a:ext cx="768273" cy="288031"/>
            </a:xfrm>
            <a:prstGeom prst="bentConnector3">
              <a:avLst>
                <a:gd name="adj1" fmla="val 100418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6" name="Text Box 61"/>
            <p:cNvSpPr txBox="1">
              <a:spLocks noChangeArrowheads="1"/>
            </p:cNvSpPr>
            <p:nvPr/>
          </p:nvSpPr>
          <p:spPr bwMode="auto">
            <a:xfrm>
              <a:off x="7846447" y="5506106"/>
              <a:ext cx="613985" cy="44317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MEMR#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MEMW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#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7" name="直接连接符 126"/>
            <p:cNvCxnSpPr/>
            <p:nvPr/>
          </p:nvCxnSpPr>
          <p:spPr bwMode="auto">
            <a:xfrm flipV="1">
              <a:off x="1763688" y="4731047"/>
              <a:ext cx="0" cy="281757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" name="直接连接符 127"/>
            <p:cNvCxnSpPr/>
            <p:nvPr/>
          </p:nvCxnSpPr>
          <p:spPr bwMode="auto">
            <a:xfrm flipV="1">
              <a:off x="1835696" y="4731047"/>
              <a:ext cx="0" cy="281757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直接连接符 128"/>
            <p:cNvCxnSpPr/>
            <p:nvPr/>
          </p:nvCxnSpPr>
          <p:spPr bwMode="auto">
            <a:xfrm>
              <a:off x="1259631" y="4581128"/>
              <a:ext cx="6804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直接连接符 129"/>
            <p:cNvCxnSpPr/>
            <p:nvPr/>
          </p:nvCxnSpPr>
          <p:spPr bwMode="auto">
            <a:xfrm>
              <a:off x="1259631" y="4437112"/>
              <a:ext cx="680400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1" name="Text Box 115"/>
            <p:cNvSpPr txBox="1">
              <a:spLocks noChangeArrowheads="1"/>
            </p:cNvSpPr>
            <p:nvPr/>
          </p:nvSpPr>
          <p:spPr bwMode="auto">
            <a:xfrm>
              <a:off x="2123728" y="5013176"/>
              <a:ext cx="287809" cy="1224136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地址锁存器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5" name="Text Box 115"/>
            <p:cNvSpPr txBox="1">
              <a:spLocks noChangeArrowheads="1"/>
            </p:cNvSpPr>
            <p:nvPr/>
          </p:nvSpPr>
          <p:spPr bwMode="auto">
            <a:xfrm>
              <a:off x="5508103" y="5013176"/>
              <a:ext cx="576833" cy="792088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数据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缓冲器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6" name="Text Box 113"/>
            <p:cNvSpPr txBox="1">
              <a:spLocks noChangeArrowheads="1"/>
            </p:cNvSpPr>
            <p:nvPr/>
          </p:nvSpPr>
          <p:spPr bwMode="auto">
            <a:xfrm>
              <a:off x="6660231" y="4992127"/>
              <a:ext cx="398665" cy="1224136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2000" b="1" dirty="0">
                  <a:latin typeface="宋体" panose="02010600030101010101" pitchFamily="2" charset="-122"/>
                </a:rPr>
                <a:t>设备硬件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7" name="直接连接符 136"/>
            <p:cNvCxnSpPr/>
            <p:nvPr/>
          </p:nvCxnSpPr>
          <p:spPr bwMode="auto">
            <a:xfrm>
              <a:off x="6372200" y="5208151"/>
              <a:ext cx="285600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直接连接符 137"/>
            <p:cNvCxnSpPr/>
            <p:nvPr/>
          </p:nvCxnSpPr>
          <p:spPr bwMode="auto">
            <a:xfrm>
              <a:off x="6372199" y="5568191"/>
              <a:ext cx="285600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39" name="直接连接符 138"/>
            <p:cNvCxnSpPr/>
            <p:nvPr/>
          </p:nvCxnSpPr>
          <p:spPr bwMode="auto">
            <a:xfrm flipH="1">
              <a:off x="6372201" y="5892227"/>
              <a:ext cx="288030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直接连接符 139"/>
            <p:cNvCxnSpPr>
              <a:endCxn id="131" idx="0"/>
            </p:cNvCxnSpPr>
            <p:nvPr/>
          </p:nvCxnSpPr>
          <p:spPr bwMode="auto">
            <a:xfrm>
              <a:off x="2267632" y="4437112"/>
              <a:ext cx="1" cy="576064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7380311" y="4437112"/>
              <a:ext cx="0" cy="555015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5868527" y="4581128"/>
              <a:ext cx="0" cy="432048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43" name="Text Box 61"/>
            <p:cNvSpPr txBox="1">
              <a:spLocks noChangeArrowheads="1"/>
            </p:cNvSpPr>
            <p:nvPr/>
          </p:nvSpPr>
          <p:spPr bwMode="auto">
            <a:xfrm>
              <a:off x="8100392" y="4293096"/>
              <a:ext cx="432048" cy="57606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80000"/>
                </a:lnSpc>
              </a:pPr>
              <a:r>
                <a:rPr lang="en-US" altLang="zh-CN" sz="14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立方体 76"/>
            <p:cNvSpPr/>
            <p:nvPr/>
          </p:nvSpPr>
          <p:spPr bwMode="auto">
            <a:xfrm>
              <a:off x="5364088" y="5877272"/>
              <a:ext cx="936104" cy="360040"/>
            </a:xfrm>
            <a:prstGeom prst="cube">
              <a:avLst>
                <a:gd name="adj" fmla="val 1493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0" tIns="10800" rIns="0" bIns="10800" numCol="1" rtlCol="0" anchor="t" anchorCtr="0" compatLnSpc="1"/>
            <a:lstStyle/>
            <a:p>
              <a:pPr>
                <a:lnSpc>
                  <a:spcPct val="9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端口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4" name="Text Box 65"/>
          <p:cNvSpPr txBox="1">
            <a:spLocks noChangeArrowheads="1"/>
          </p:cNvSpPr>
          <p:nvPr/>
        </p:nvSpPr>
        <p:spPr bwMode="auto">
          <a:xfrm>
            <a:off x="152276" y="1238850"/>
            <a:ext cx="3684464" cy="226215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端口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地址的组成：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外设的连接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接口的标识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I/O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端口地址组成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65"/>
          <p:cNvSpPr txBox="1">
            <a:spLocks noChangeArrowheads="1"/>
          </p:cNvSpPr>
          <p:nvPr/>
        </p:nvSpPr>
        <p:spPr bwMode="auto">
          <a:xfrm>
            <a:off x="152275" y="333673"/>
            <a:ext cx="8812213" cy="101473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、外设的识别方法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主机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-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接口间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需求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spc="-100" dirty="0">
                <a:latin typeface="宋体" panose="02010600030101010101" pitchFamily="2" charset="-122"/>
              </a:rPr>
              <a:t>I/O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主动识别</a:t>
            </a:r>
            <a:r>
              <a:rPr lang="en-US" altLang="zh-CN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&amp;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总线操作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按地址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en-US" altLang="zh-CN" b="1" u="sng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635896" y="2996952"/>
            <a:ext cx="2448272" cy="288032"/>
            <a:chOff x="4355976" y="6093296"/>
            <a:chExt cx="2448272" cy="288032"/>
          </a:xfrm>
        </p:grpSpPr>
        <p:sp>
          <p:nvSpPr>
            <p:cNvPr id="8" name="Text Box 10"/>
            <p:cNvSpPr txBox="1">
              <a:spLocks noChangeArrowheads="1"/>
            </p:cNvSpPr>
            <p:nvPr/>
          </p:nvSpPr>
          <p:spPr bwMode="auto">
            <a:xfrm>
              <a:off x="4355976" y="6093296"/>
              <a:ext cx="1295475" cy="28803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2000" b="1" dirty="0">
                  <a:latin typeface="宋体" panose="02010600030101010101" pitchFamily="2" charset="-122"/>
                </a:rPr>
                <a:t>设备号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1"/>
            <p:cNvSpPr txBox="1">
              <a:spLocks noChangeArrowheads="1"/>
            </p:cNvSpPr>
            <p:nvPr/>
          </p:nvSpPr>
          <p:spPr bwMode="auto">
            <a:xfrm>
              <a:off x="5651451" y="6093296"/>
              <a:ext cx="1152797" cy="288032"/>
            </a:xfrm>
            <a:prstGeom prst="rect">
              <a:avLst/>
            </a:prstGeom>
            <a:solidFill>
              <a:schemeClr val="bg1">
                <a:lumMod val="95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2000" b="1" dirty="0" smtClean="0">
                  <a:latin typeface="宋体" panose="02010600030101010101" pitchFamily="2" charset="-122"/>
                </a:rPr>
                <a:t>内部序号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67" name="AutoShape 12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355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Text Box 65"/>
          <p:cNvSpPr txBox="1">
            <a:spLocks noChangeArrowheads="1"/>
          </p:cNvSpPr>
          <p:nvPr/>
        </p:nvSpPr>
        <p:spPr bwMode="auto">
          <a:xfrm>
            <a:off x="3131840" y="2420888"/>
            <a:ext cx="5823373" cy="92456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通过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所保存</a:t>
            </a:r>
            <a:r>
              <a:rPr lang="zh-CN" altLang="en-US" b="1" dirty="0" smtClean="0">
                <a:latin typeface="宋体" panose="02010600030101010101" pitchFamily="2" charset="-122"/>
              </a:rPr>
              <a:t>的设备号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←跳线开关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寄存器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←接口内端口地址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连续</a:t>
            </a:r>
            <a:endParaRPr lang="zh-CN" altLang="en-US" sz="1800" b="1" u="sng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AutoShape 121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15816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8" name="组合 107"/>
          <p:cNvGrpSpPr/>
          <p:nvPr/>
        </p:nvGrpSpPr>
        <p:grpSpPr>
          <a:xfrm>
            <a:off x="2843359" y="5034226"/>
            <a:ext cx="2520727" cy="1131078"/>
            <a:chOff x="2771352" y="5127283"/>
            <a:chExt cx="2520727" cy="1131078"/>
          </a:xfrm>
        </p:grpSpPr>
        <p:sp>
          <p:nvSpPr>
            <p:cNvPr id="13" name="Rectangle 130"/>
            <p:cNvSpPr>
              <a:spLocks noChangeArrowheads="1"/>
            </p:cNvSpPr>
            <p:nvPr/>
          </p:nvSpPr>
          <p:spPr bwMode="auto">
            <a:xfrm>
              <a:off x="2771352" y="5127283"/>
              <a:ext cx="2376487" cy="113107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 bwMode="auto">
            <a:xfrm>
              <a:off x="3707903" y="5229200"/>
              <a:ext cx="93610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15" name="直接连接符 14"/>
            <p:cNvCxnSpPr/>
            <p:nvPr/>
          </p:nvCxnSpPr>
          <p:spPr bwMode="auto">
            <a:xfrm>
              <a:off x="3851919" y="5323325"/>
              <a:ext cx="792088" cy="193907"/>
            </a:xfrm>
            <a:prstGeom prst="bentConnector3">
              <a:avLst>
                <a:gd name="adj1" fmla="val 36882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sp>
          <p:nvSpPr>
            <p:cNvPr id="34" name="Text Box 126"/>
            <p:cNvSpPr txBox="1">
              <a:spLocks noChangeArrowheads="1"/>
            </p:cNvSpPr>
            <p:nvPr/>
          </p:nvSpPr>
          <p:spPr bwMode="auto">
            <a:xfrm>
              <a:off x="3635895" y="5517232"/>
              <a:ext cx="307975" cy="2097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=1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5" name="Text Box 114"/>
            <p:cNvSpPr txBox="1">
              <a:spLocks noChangeArrowheads="1"/>
            </p:cNvSpPr>
            <p:nvPr/>
          </p:nvSpPr>
          <p:spPr bwMode="auto">
            <a:xfrm>
              <a:off x="3347863" y="5877272"/>
              <a:ext cx="864096" cy="28803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比较器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 bwMode="auto">
            <a:xfrm>
              <a:off x="3779911" y="5726980"/>
              <a:ext cx="0" cy="150292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" name="直接连接符 40"/>
            <p:cNvCxnSpPr/>
            <p:nvPr/>
          </p:nvCxnSpPr>
          <p:spPr bwMode="auto">
            <a:xfrm>
              <a:off x="3131839" y="5949280"/>
              <a:ext cx="21602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" name="直接连接符 41"/>
            <p:cNvCxnSpPr/>
            <p:nvPr/>
          </p:nvCxnSpPr>
          <p:spPr bwMode="auto">
            <a:xfrm>
              <a:off x="4211959" y="5949280"/>
              <a:ext cx="147158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/>
          </p:nvCxnSpPr>
          <p:spPr bwMode="auto">
            <a:xfrm>
              <a:off x="4211959" y="6093296"/>
              <a:ext cx="216024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4" name="直接连接符 43"/>
            <p:cNvCxnSpPr/>
            <p:nvPr/>
          </p:nvCxnSpPr>
          <p:spPr bwMode="auto">
            <a:xfrm>
              <a:off x="4352833" y="5301208"/>
              <a:ext cx="0" cy="648072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" name="Text Box 143"/>
            <p:cNvSpPr txBox="1">
              <a:spLocks noChangeArrowheads="1"/>
            </p:cNvSpPr>
            <p:nvPr/>
          </p:nvSpPr>
          <p:spPr bwMode="auto">
            <a:xfrm>
              <a:off x="4644007" y="5157193"/>
              <a:ext cx="216024" cy="216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连接符 45"/>
            <p:cNvCxnSpPr/>
            <p:nvPr/>
          </p:nvCxnSpPr>
          <p:spPr bwMode="auto">
            <a:xfrm>
              <a:off x="4355975" y="5301208"/>
              <a:ext cx="288032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7" name="Text Box 143"/>
            <p:cNvSpPr txBox="1">
              <a:spLocks noChangeArrowheads="1"/>
            </p:cNvSpPr>
            <p:nvPr/>
          </p:nvSpPr>
          <p:spPr bwMode="auto">
            <a:xfrm>
              <a:off x="4644007" y="5445225"/>
              <a:ext cx="216024" cy="216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 bwMode="auto">
            <a:xfrm>
              <a:off x="4355975" y="5589240"/>
              <a:ext cx="288032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sp>
          <p:nvSpPr>
            <p:cNvPr id="50" name="Text Box 61"/>
            <p:cNvSpPr txBox="1">
              <a:spLocks noChangeArrowheads="1"/>
            </p:cNvSpPr>
            <p:nvPr/>
          </p:nvSpPr>
          <p:spPr bwMode="auto">
            <a:xfrm>
              <a:off x="4397625" y="5661248"/>
              <a:ext cx="174374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+mn-lt"/>
                  <a:ea typeface="+mn-ea"/>
                </a:rPr>
                <a:t>=</a:t>
              </a:r>
              <a:endParaRPr lang="en-US" altLang="zh-CN" sz="1400" b="1" dirty="0">
                <a:latin typeface="+mn-lt"/>
                <a:ea typeface="+mn-ea"/>
              </a:endParaRP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4397625" y="5949280"/>
              <a:ext cx="174374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400" b="1" dirty="0" smtClean="0">
                  <a:latin typeface="+mn-lt"/>
                  <a:ea typeface="+mn-ea"/>
                </a:rPr>
                <a:t>≠</a:t>
              </a:r>
              <a:endParaRPr lang="en-US" altLang="zh-CN" sz="1400" b="1" dirty="0">
                <a:latin typeface="+mn-lt"/>
                <a:ea typeface="+mn-ea"/>
              </a:endParaRPr>
            </a:p>
          </p:txBody>
        </p:sp>
        <p:cxnSp>
          <p:nvCxnSpPr>
            <p:cNvPr id="52" name="直接连接符 51"/>
            <p:cNvCxnSpPr/>
            <p:nvPr/>
          </p:nvCxnSpPr>
          <p:spPr bwMode="auto">
            <a:xfrm>
              <a:off x="4860031" y="5301208"/>
              <a:ext cx="429617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直接连接符 52"/>
            <p:cNvCxnSpPr/>
            <p:nvPr/>
          </p:nvCxnSpPr>
          <p:spPr bwMode="auto">
            <a:xfrm>
              <a:off x="4860031" y="5589240"/>
              <a:ext cx="432048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" name="Text Box 61"/>
            <p:cNvSpPr txBox="1">
              <a:spLocks noChangeArrowheads="1"/>
            </p:cNvSpPr>
            <p:nvPr/>
          </p:nvSpPr>
          <p:spPr bwMode="auto">
            <a:xfrm>
              <a:off x="4645924" y="5733256"/>
              <a:ext cx="502139" cy="45937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设备选择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5" name="Text Box 112"/>
          <p:cNvSpPr txBox="1">
            <a:spLocks noChangeArrowheads="1"/>
          </p:cNvSpPr>
          <p:nvPr/>
        </p:nvSpPr>
        <p:spPr bwMode="auto">
          <a:xfrm>
            <a:off x="2915814" y="5064135"/>
            <a:ext cx="288032" cy="841979"/>
          </a:xfrm>
          <a:prstGeom prst="rect">
            <a:avLst/>
          </a:prstGeom>
          <a:solidFill>
            <a:srgbClr val="CCFFFF">
              <a:alpha val="80000"/>
            </a:srgbClr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vert="eaVert" lIns="18000" tIns="10800" rIns="18000" bIns="10800" anchor="ctr"/>
          <a:lstStyle/>
          <a:p>
            <a:r>
              <a:rPr lang="zh-CN" altLang="en-US" sz="1800" b="1" dirty="0" smtClean="0">
                <a:latin typeface="宋体" panose="02010600030101010101" pitchFamily="2" charset="-122"/>
              </a:rPr>
              <a:t>设备号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411537" y="5818096"/>
            <a:ext cx="2950118" cy="398167"/>
            <a:chOff x="2411537" y="5818096"/>
            <a:chExt cx="2950118" cy="398167"/>
          </a:xfrm>
        </p:grpSpPr>
        <p:sp>
          <p:nvSpPr>
            <p:cNvPr id="79" name="Text Box 61"/>
            <p:cNvSpPr txBox="1">
              <a:spLocks noChangeArrowheads="1"/>
            </p:cNvSpPr>
            <p:nvPr/>
          </p:nvSpPr>
          <p:spPr bwMode="auto">
            <a:xfrm>
              <a:off x="2411538" y="5818096"/>
              <a:ext cx="431822" cy="39816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80000"/>
                </a:lnSpc>
              </a:pPr>
              <a:r>
                <a:rPr lang="zh-CN" altLang="en-US" sz="1600" b="1" spc="-100" dirty="0" smtClean="0">
                  <a:latin typeface="宋体" panose="02010600030101010101" pitchFamily="2" charset="-122"/>
                </a:rPr>
                <a:t>高位低位</a:t>
              </a:r>
              <a:endParaRPr lang="en-US" altLang="zh-CN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连接符 79"/>
            <p:cNvCxnSpPr/>
            <p:nvPr/>
          </p:nvCxnSpPr>
          <p:spPr bwMode="auto">
            <a:xfrm>
              <a:off x="2411537" y="6000239"/>
              <a:ext cx="1008333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1" name="直接连接符 80"/>
            <p:cNvCxnSpPr/>
            <p:nvPr/>
          </p:nvCxnSpPr>
          <p:spPr bwMode="auto">
            <a:xfrm>
              <a:off x="2411537" y="6201023"/>
              <a:ext cx="2950118" cy="0"/>
            </a:xfrm>
            <a:prstGeom prst="line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3" name="Text Box 67"/>
          <p:cNvSpPr txBox="1">
            <a:spLocks noChangeArrowheads="1"/>
          </p:cNvSpPr>
          <p:nvPr/>
        </p:nvSpPr>
        <p:spPr bwMode="auto">
          <a:xfrm>
            <a:off x="179263" y="3811106"/>
            <a:ext cx="8785225" cy="5539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spc="-5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监视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总线状态，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时，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总线上地址与</a:t>
            </a:r>
            <a:r>
              <a:rPr lang="zh-CN" altLang="en-US" b="1" u="sng" spc="-100" dirty="0" smtClean="0">
                <a:latin typeface="宋体" panose="02010600030101010101" pitchFamily="2" charset="-122"/>
              </a:rPr>
              <a:t>设备号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sp>
        <p:nvSpPr>
          <p:cNvPr id="84" name="Text Box 6"/>
          <p:cNvSpPr txBox="1">
            <a:spLocks noChangeArrowheads="1"/>
          </p:cNvSpPr>
          <p:nvPr/>
        </p:nvSpPr>
        <p:spPr bwMode="auto">
          <a:xfrm>
            <a:off x="179437" y="3379058"/>
            <a:ext cx="878505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识别方法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以独立编址方式为例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b="1" dirty="0" smtClean="0">
              <a:latin typeface="+mn-ea"/>
              <a:ea typeface="+mn-ea"/>
            </a:endParaRPr>
          </a:p>
        </p:txBody>
      </p:sp>
      <p:sp>
        <p:nvSpPr>
          <p:cNvPr id="76" name="Text Box 65"/>
          <p:cNvSpPr txBox="1">
            <a:spLocks noChangeArrowheads="1"/>
          </p:cNvSpPr>
          <p:nvPr/>
        </p:nvSpPr>
        <p:spPr bwMode="auto">
          <a:xfrm>
            <a:off x="2699792" y="1700808"/>
            <a:ext cx="5139805" cy="8771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每个外设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设备号</a:t>
            </a:r>
            <a:r>
              <a:rPr lang="zh-CN" altLang="en-US" sz="1800" b="1" dirty="0">
                <a:latin typeface="宋体" panose="02010600030101010101" pitchFamily="2" charset="-122"/>
              </a:rPr>
              <a:t>唯一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连接</a:t>
            </a:r>
            <a:r>
              <a:rPr lang="zh-CN" altLang="en-US" b="1" dirty="0">
                <a:latin typeface="宋体" panose="02010600030101010101" pitchFamily="2" charset="-122"/>
              </a:rPr>
              <a:t>一个</a:t>
            </a:r>
            <a:r>
              <a:rPr lang="en-US" altLang="zh-CN" b="1" dirty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即外设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接口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:I/O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端口＝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1: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1:n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779911" y="4714619"/>
            <a:ext cx="144015" cy="709556"/>
            <a:chOff x="3779911" y="4714619"/>
            <a:chExt cx="144015" cy="709556"/>
          </a:xfrm>
        </p:grpSpPr>
        <p:cxnSp>
          <p:nvCxnSpPr>
            <p:cNvPr id="85" name="直接连接符 84"/>
            <p:cNvCxnSpPr/>
            <p:nvPr/>
          </p:nvCxnSpPr>
          <p:spPr bwMode="auto">
            <a:xfrm>
              <a:off x="3779911" y="4714619"/>
              <a:ext cx="1" cy="709556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6" name="直接连接符 85"/>
            <p:cNvCxnSpPr/>
            <p:nvPr/>
          </p:nvCxnSpPr>
          <p:spPr bwMode="auto">
            <a:xfrm>
              <a:off x="3923926" y="4725144"/>
              <a:ext cx="0" cy="699031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 animBg="1"/>
      <p:bldP spid="83" grpId="0" bldLvl="0"/>
      <p:bldP spid="84" grpId="0"/>
      <p:bldP spid="7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Box 4"/>
          <p:cNvSpPr txBox="1">
            <a:spLocks noChangeArrowheads="1"/>
          </p:cNvSpPr>
          <p:nvPr/>
        </p:nvSpPr>
        <p:spPr bwMode="auto">
          <a:xfrm>
            <a:off x="179705" y="332740"/>
            <a:ext cx="8573770" cy="449262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、外设的联络方式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外设间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*外设的传送方式：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无条件传送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3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简单设备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143250" indent="-3143250"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条件传送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复杂设备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*外设的联络方式：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立即响应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无条件传送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方式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异步联络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并行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同步联络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适于</a:t>
            </a:r>
            <a:r>
              <a:rPr lang="zh-CN" altLang="en-US" sz="1800" b="1" u="sng" dirty="0">
                <a:latin typeface="宋体" panose="02010600030101010101" pitchFamily="2" charset="-122"/>
              </a:rPr>
              <a:t>条件传送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串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行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4" name="AutoShape 12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" name="组合 104"/>
          <p:cNvGrpSpPr/>
          <p:nvPr/>
        </p:nvGrpSpPr>
        <p:grpSpPr>
          <a:xfrm>
            <a:off x="1403901" y="5085943"/>
            <a:ext cx="6552728" cy="1005830"/>
            <a:chOff x="1403648" y="2420888"/>
            <a:chExt cx="6552728" cy="1005830"/>
          </a:xfrm>
        </p:grpSpPr>
        <p:sp>
          <p:nvSpPr>
            <p:cNvPr id="106" name="Text Box 72"/>
            <p:cNvSpPr txBox="1">
              <a:spLocks noChangeArrowheads="1"/>
            </p:cNvSpPr>
            <p:nvPr/>
          </p:nvSpPr>
          <p:spPr bwMode="auto">
            <a:xfrm>
              <a:off x="1404144" y="2564904"/>
              <a:ext cx="1799704" cy="648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72"/>
            <p:cNvSpPr txBox="1">
              <a:spLocks noChangeArrowheads="1"/>
            </p:cNvSpPr>
            <p:nvPr/>
          </p:nvSpPr>
          <p:spPr bwMode="auto">
            <a:xfrm>
              <a:off x="1475656" y="2636019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74"/>
            <p:cNvSpPr txBox="1">
              <a:spLocks noChangeArrowheads="1"/>
            </p:cNvSpPr>
            <p:nvPr/>
          </p:nvSpPr>
          <p:spPr bwMode="auto">
            <a:xfrm>
              <a:off x="2411760" y="2636019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75"/>
            <p:cNvSpPr txBox="1">
              <a:spLocks noChangeArrowheads="1"/>
            </p:cNvSpPr>
            <p:nvPr/>
          </p:nvSpPr>
          <p:spPr bwMode="auto">
            <a:xfrm>
              <a:off x="3419872" y="2567186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i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79"/>
            <p:cNvSpPr txBox="1">
              <a:spLocks noChangeArrowheads="1"/>
            </p:cNvSpPr>
            <p:nvPr/>
          </p:nvSpPr>
          <p:spPr bwMode="auto">
            <a:xfrm>
              <a:off x="4787131" y="2933402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11" name="Text Box 80"/>
            <p:cNvSpPr txBox="1">
              <a:spLocks noChangeArrowheads="1"/>
            </p:cNvSpPr>
            <p:nvPr/>
          </p:nvSpPr>
          <p:spPr bwMode="auto">
            <a:xfrm>
              <a:off x="4644008" y="2455763"/>
              <a:ext cx="576064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  <a:endParaRPr lang="zh-CN" altLang="en-US" sz="1600" b="1" dirty="0"/>
            </a:p>
          </p:txBody>
        </p:sp>
        <p:sp>
          <p:nvSpPr>
            <p:cNvPr id="112" name="Text Box 81"/>
            <p:cNvSpPr txBox="1">
              <a:spLocks noChangeArrowheads="1"/>
            </p:cNvSpPr>
            <p:nvPr/>
          </p:nvSpPr>
          <p:spPr bwMode="auto">
            <a:xfrm>
              <a:off x="3419872" y="3140968"/>
              <a:ext cx="1152128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简单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连接符 112"/>
            <p:cNvCxnSpPr>
              <a:endCxn id="107" idx="0"/>
            </p:cNvCxnSpPr>
            <p:nvPr/>
          </p:nvCxnSpPr>
          <p:spPr bwMode="auto">
            <a:xfrm>
              <a:off x="1835696" y="2428999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/>
            <p:cNvCxnSpPr>
              <a:stCxn id="108" idx="0"/>
            </p:cNvCxnSpPr>
            <p:nvPr/>
          </p:nvCxnSpPr>
          <p:spPr bwMode="auto">
            <a:xfrm flipV="1">
              <a:off x="2771800" y="2430687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/>
          </p:nvCxnSpPr>
          <p:spPr bwMode="auto">
            <a:xfrm>
              <a:off x="1403648" y="2420888"/>
              <a:ext cx="6552728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直接连接符 115"/>
            <p:cNvCxnSpPr>
              <a:endCxn id="109" idx="0"/>
            </p:cNvCxnSpPr>
            <p:nvPr/>
          </p:nvCxnSpPr>
          <p:spPr bwMode="auto">
            <a:xfrm>
              <a:off x="3995936" y="2422302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直接连接符 116"/>
            <p:cNvCxnSpPr>
              <a:stCxn id="109" idx="2"/>
              <a:endCxn id="112" idx="0"/>
            </p:cNvCxnSpPr>
            <p:nvPr/>
          </p:nvCxnSpPr>
          <p:spPr bwMode="auto">
            <a:xfrm>
              <a:off x="3995936" y="2848174"/>
              <a:ext cx="0" cy="292794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Text Box 80"/>
            <p:cNvSpPr txBox="1">
              <a:spLocks noChangeArrowheads="1"/>
            </p:cNvSpPr>
            <p:nvPr/>
          </p:nvSpPr>
          <p:spPr bwMode="auto">
            <a:xfrm>
              <a:off x="1979712" y="2961059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主机</a:t>
              </a:r>
              <a:endParaRPr lang="zh-CN" altLang="en-US" sz="1600" b="1" dirty="0"/>
            </a:p>
          </p:txBody>
        </p:sp>
        <p:sp>
          <p:nvSpPr>
            <p:cNvPr id="119" name="Text Box 75"/>
            <p:cNvSpPr txBox="1">
              <a:spLocks noChangeArrowheads="1"/>
            </p:cNvSpPr>
            <p:nvPr/>
          </p:nvSpPr>
          <p:spPr bwMode="auto">
            <a:xfrm>
              <a:off x="5292080" y="2565772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0" name="直接连接符 119"/>
            <p:cNvCxnSpPr>
              <a:endCxn id="119" idx="0"/>
            </p:cNvCxnSpPr>
            <p:nvPr/>
          </p:nvCxnSpPr>
          <p:spPr bwMode="auto">
            <a:xfrm>
              <a:off x="5868144" y="2420888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Text Box 75"/>
            <p:cNvSpPr txBox="1">
              <a:spLocks noChangeArrowheads="1"/>
            </p:cNvSpPr>
            <p:nvPr/>
          </p:nvSpPr>
          <p:spPr bwMode="auto">
            <a:xfrm>
              <a:off x="6804248" y="2565772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连接符 121"/>
            <p:cNvCxnSpPr>
              <a:endCxn id="121" idx="0"/>
            </p:cNvCxnSpPr>
            <p:nvPr/>
          </p:nvCxnSpPr>
          <p:spPr bwMode="auto">
            <a:xfrm>
              <a:off x="7380312" y="2420888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/>
            <p:cNvCxnSpPr/>
            <p:nvPr/>
          </p:nvCxnSpPr>
          <p:spPr bwMode="auto">
            <a:xfrm>
              <a:off x="3967358" y="2924944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" name="Text Box 61"/>
            <p:cNvSpPr txBox="1">
              <a:spLocks noChangeArrowheads="1"/>
            </p:cNvSpPr>
            <p:nvPr/>
          </p:nvSpPr>
          <p:spPr bwMode="auto">
            <a:xfrm>
              <a:off x="3827645" y="2888940"/>
              <a:ext cx="168291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i="1" dirty="0" smtClean="0">
                  <a:latin typeface="+mn-lt"/>
                </a:rPr>
                <a:t>n</a:t>
              </a:r>
              <a:endParaRPr lang="en-US" altLang="zh-CN" sz="1400" b="1" i="1" dirty="0">
                <a:latin typeface="+mn-lt"/>
              </a:endParaRPr>
            </a:p>
          </p:txBody>
        </p:sp>
      </p:grpSp>
      <p:sp>
        <p:nvSpPr>
          <p:cNvPr id="126" name="Text Box 145"/>
          <p:cNvSpPr txBox="1">
            <a:spLocks noChangeArrowheads="1"/>
          </p:cNvSpPr>
          <p:nvPr/>
        </p:nvSpPr>
        <p:spPr bwMode="auto">
          <a:xfrm>
            <a:off x="2398395" y="3358515"/>
            <a:ext cx="3390900" cy="171196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u="sng" dirty="0">
                <a:latin typeface="宋体" panose="02010600030101010101" pitchFamily="2" charset="-122"/>
              </a:rPr>
              <a:t>无需</a:t>
            </a:r>
            <a:r>
              <a:rPr lang="zh-CN" altLang="en-US" b="1" dirty="0">
                <a:latin typeface="宋体" panose="02010600030101010101" pitchFamily="2" charset="-122"/>
              </a:rPr>
              <a:t>联络信号</a:t>
            </a:r>
            <a:r>
              <a:rPr lang="zh-CN" altLang="en-US" b="1" dirty="0" smtClean="0">
                <a:latin typeface="宋体" panose="02010600030101010101" pitchFamily="2" charset="-122"/>
              </a:rPr>
              <a:t>线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设置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请求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/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应答</a:t>
            </a:r>
            <a:r>
              <a:rPr lang="zh-CN" altLang="en-US" b="1" dirty="0" smtClean="0">
                <a:latin typeface="宋体" panose="02010600030101010101" pitchFamily="2" charset="-122"/>
              </a:rPr>
              <a:t>线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设置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时钟</a:t>
            </a:r>
            <a:r>
              <a:rPr lang="zh-CN" altLang="en-US" b="1" dirty="0" smtClean="0">
                <a:latin typeface="宋体" panose="02010600030101010101" pitchFamily="2" charset="-122"/>
              </a:rPr>
              <a:t>线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常省略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口头约定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5292333" y="5511815"/>
            <a:ext cx="2664296" cy="579958"/>
            <a:chOff x="5292080" y="2846760"/>
            <a:chExt cx="2664296" cy="579958"/>
          </a:xfrm>
        </p:grpSpPr>
        <p:sp>
          <p:nvSpPr>
            <p:cNvPr id="142" name="Text Box 61"/>
            <p:cNvSpPr txBox="1">
              <a:spLocks noChangeArrowheads="1"/>
            </p:cNvSpPr>
            <p:nvPr/>
          </p:nvSpPr>
          <p:spPr bwMode="auto">
            <a:xfrm>
              <a:off x="7452320" y="2852936"/>
              <a:ext cx="43204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+mn-ea"/>
                  <a:ea typeface="+mn-ea"/>
                </a:rPr>
                <a:t>CLK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130" name="Text Box 81"/>
            <p:cNvSpPr txBox="1">
              <a:spLocks noChangeArrowheads="1"/>
            </p:cNvSpPr>
            <p:nvPr/>
          </p:nvSpPr>
          <p:spPr bwMode="auto">
            <a:xfrm>
              <a:off x="5292080" y="3140968"/>
              <a:ext cx="1152128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1" name="直接连接符 130"/>
            <p:cNvCxnSpPr/>
            <p:nvPr/>
          </p:nvCxnSpPr>
          <p:spPr bwMode="auto">
            <a:xfrm>
              <a:off x="5676396" y="2846760"/>
              <a:ext cx="0" cy="294208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直接连接符 131"/>
            <p:cNvCxnSpPr/>
            <p:nvPr/>
          </p:nvCxnSpPr>
          <p:spPr bwMode="auto">
            <a:xfrm>
              <a:off x="5868144" y="2852936"/>
              <a:ext cx="0" cy="29279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连接符 132"/>
            <p:cNvCxnSpPr/>
            <p:nvPr/>
          </p:nvCxnSpPr>
          <p:spPr bwMode="auto">
            <a:xfrm flipV="1">
              <a:off x="5940152" y="2846760"/>
              <a:ext cx="0" cy="289446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" name="Text Box 81"/>
            <p:cNvSpPr txBox="1">
              <a:spLocks noChangeArrowheads="1"/>
            </p:cNvSpPr>
            <p:nvPr/>
          </p:nvSpPr>
          <p:spPr bwMode="auto">
            <a:xfrm>
              <a:off x="6804248" y="3140968"/>
              <a:ext cx="1152128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/>
          </p:nvCxnSpPr>
          <p:spPr bwMode="auto">
            <a:xfrm>
              <a:off x="7236296" y="2846760"/>
              <a:ext cx="0" cy="294208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直接连接符 135"/>
            <p:cNvCxnSpPr/>
            <p:nvPr/>
          </p:nvCxnSpPr>
          <p:spPr bwMode="auto">
            <a:xfrm>
              <a:off x="7452320" y="2852936"/>
              <a:ext cx="0" cy="292794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连接符 136"/>
            <p:cNvCxnSpPr/>
            <p:nvPr/>
          </p:nvCxnSpPr>
          <p:spPr bwMode="auto">
            <a:xfrm>
              <a:off x="5647818" y="2924944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8" name="Text Box 61"/>
            <p:cNvSpPr txBox="1">
              <a:spLocks noChangeArrowheads="1"/>
            </p:cNvSpPr>
            <p:nvPr/>
          </p:nvSpPr>
          <p:spPr bwMode="auto">
            <a:xfrm>
              <a:off x="5508104" y="2888940"/>
              <a:ext cx="168291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i="1" dirty="0" smtClean="0">
                  <a:latin typeface="+mn-lt"/>
                </a:rPr>
                <a:t>n</a:t>
              </a:r>
              <a:endParaRPr lang="en-US" altLang="zh-CN" sz="1400" b="1" i="1" dirty="0">
                <a:latin typeface="+mn-lt"/>
              </a:endParaRPr>
            </a:p>
          </p:txBody>
        </p:sp>
        <p:sp>
          <p:nvSpPr>
            <p:cNvPr id="139" name="Text Box 61"/>
            <p:cNvSpPr txBox="1">
              <a:spLocks noChangeArrowheads="1"/>
            </p:cNvSpPr>
            <p:nvPr/>
          </p:nvSpPr>
          <p:spPr bwMode="auto">
            <a:xfrm>
              <a:off x="5940152" y="2852936"/>
              <a:ext cx="79208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err="1" smtClean="0">
                  <a:latin typeface="+mn-ea"/>
                  <a:ea typeface="+mn-ea"/>
                </a:rPr>
                <a:t>Req</a:t>
              </a:r>
              <a:r>
                <a:rPr lang="en-US" altLang="zh-CN" sz="1400" b="1" dirty="0" smtClean="0">
                  <a:latin typeface="+mn-ea"/>
                  <a:ea typeface="+mn-ea"/>
                </a:rPr>
                <a:t>/</a:t>
              </a:r>
              <a:r>
                <a:rPr lang="en-US" altLang="zh-CN" sz="1400" b="1" dirty="0" err="1" smtClean="0">
                  <a:latin typeface="+mn-ea"/>
                  <a:ea typeface="+mn-ea"/>
                </a:rPr>
                <a:t>Ack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140" name="直接连接符 139"/>
            <p:cNvCxnSpPr/>
            <p:nvPr/>
          </p:nvCxnSpPr>
          <p:spPr bwMode="auto">
            <a:xfrm>
              <a:off x="7202955" y="2924944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1" name="Text Box 61"/>
            <p:cNvSpPr txBox="1">
              <a:spLocks noChangeArrowheads="1"/>
            </p:cNvSpPr>
            <p:nvPr/>
          </p:nvSpPr>
          <p:spPr bwMode="auto">
            <a:xfrm>
              <a:off x="7068005" y="2888940"/>
              <a:ext cx="168291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1</a:t>
              </a:r>
              <a:endParaRPr lang="en-US" altLang="zh-CN" sz="1400" b="1" dirty="0" smtClean="0">
                <a:latin typeface="宋体" panose="02010600030101010101" pitchFamily="2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653132" y="2998470"/>
            <a:ext cx="2214209" cy="384872"/>
            <a:chOff x="3420491" y="3706872"/>
            <a:chExt cx="2214209" cy="384872"/>
          </a:xfrm>
        </p:grpSpPr>
        <p:cxnSp>
          <p:nvCxnSpPr>
            <p:cNvPr id="57" name="直接箭头连接符 56"/>
            <p:cNvCxnSpPr/>
            <p:nvPr/>
          </p:nvCxnSpPr>
          <p:spPr bwMode="auto">
            <a:xfrm>
              <a:off x="3420491" y="4005064"/>
              <a:ext cx="172757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Text Box 136"/>
            <p:cNvSpPr txBox="1">
              <a:spLocks noChangeArrowheads="1"/>
            </p:cNvSpPr>
            <p:nvPr/>
          </p:nvSpPr>
          <p:spPr bwMode="auto">
            <a:xfrm>
              <a:off x="5148064" y="3875720"/>
              <a:ext cx="486636" cy="216024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时间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AutoShape 215"/>
            <p:cNvSpPr>
              <a:spLocks noChangeArrowheads="1"/>
            </p:cNvSpPr>
            <p:nvPr/>
          </p:nvSpPr>
          <p:spPr bwMode="auto">
            <a:xfrm>
              <a:off x="4011894" y="3717032"/>
              <a:ext cx="416090" cy="216024"/>
            </a:xfrm>
            <a:prstGeom prst="hexagon">
              <a:avLst>
                <a:gd name="adj" fmla="val 31447"/>
                <a:gd name="vf" fmla="val 115470"/>
              </a:avLst>
            </a:prstGeom>
            <a:solidFill>
              <a:srgbClr val="99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61" name="AutoShape 215"/>
            <p:cNvSpPr>
              <a:spLocks noChangeArrowheads="1"/>
            </p:cNvSpPr>
            <p:nvPr/>
          </p:nvSpPr>
          <p:spPr bwMode="auto">
            <a:xfrm>
              <a:off x="4587958" y="3717032"/>
              <a:ext cx="416090" cy="216024"/>
            </a:xfrm>
            <a:prstGeom prst="hexagon">
              <a:avLst>
                <a:gd name="adj" fmla="val 31447"/>
                <a:gd name="vf" fmla="val 115470"/>
              </a:avLst>
            </a:prstGeom>
            <a:solidFill>
              <a:srgbClr val="99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D2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62" name="直接连接符 61"/>
            <p:cNvCxnSpPr>
              <a:endCxn id="60" idx="3"/>
            </p:cNvCxnSpPr>
            <p:nvPr/>
          </p:nvCxnSpPr>
          <p:spPr bwMode="auto">
            <a:xfrm>
              <a:off x="3635896" y="3823320"/>
              <a:ext cx="375998" cy="17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>
              <a:stCxn id="60" idx="0"/>
              <a:endCxn id="61" idx="3"/>
            </p:cNvCxnSpPr>
            <p:nvPr/>
          </p:nvCxnSpPr>
          <p:spPr bwMode="auto">
            <a:xfrm>
              <a:off x="4427984" y="3825044"/>
              <a:ext cx="15997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/>
          </p:nvCxnSpPr>
          <p:spPr bwMode="auto">
            <a:xfrm>
              <a:off x="3635896" y="3706872"/>
              <a:ext cx="0" cy="3848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4139952" y="4005064"/>
              <a:ext cx="0" cy="86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arrow" w="sm" len="sm"/>
              <a:tailEnd type="none" w="sm" len="sm"/>
            </a:ln>
            <a:effectLst/>
          </p:spPr>
        </p:cxnSp>
        <p:cxnSp>
          <p:nvCxnSpPr>
            <p:cNvPr id="66" name="直接连接符 65"/>
            <p:cNvCxnSpPr/>
            <p:nvPr/>
          </p:nvCxnSpPr>
          <p:spPr bwMode="auto">
            <a:xfrm>
              <a:off x="4716016" y="4005064"/>
              <a:ext cx="0" cy="86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arrow" w="sm" len="sm"/>
              <a:tailEnd type="none" w="sm" len="sm"/>
            </a:ln>
            <a:effectLst/>
          </p:spPr>
        </p:cxnSp>
      </p:grpSp>
      <p:sp>
        <p:nvSpPr>
          <p:cNvPr id="67" name="Text Box 4"/>
          <p:cNvSpPr txBox="1">
            <a:spLocks noChangeArrowheads="1"/>
          </p:cNvSpPr>
          <p:nvPr/>
        </p:nvSpPr>
        <p:spPr bwMode="auto">
          <a:xfrm>
            <a:off x="2340000" y="1212215"/>
            <a:ext cx="6546850" cy="221488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30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b="1" spc="-30" dirty="0" smtClean="0"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b="1" u="sng" spc="-30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随时</a:t>
            </a:r>
            <a:r>
              <a:rPr lang="zh-CN" altLang="en-US" b="1" u="sng" spc="-3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b="1" spc="-30" dirty="0" smtClean="0">
                <a:latin typeface="宋体" panose="02010600030101010101" pitchFamily="2" charset="-122"/>
                <a:sym typeface="+mn-ea"/>
              </a:rPr>
              <a:t>数据；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都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b="1" u="sng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并行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传输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spc="-3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800" b="1" spc="-30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800" b="1" spc="-30" dirty="0" smtClean="0">
                <a:latin typeface="宋体" panose="02010600030101010101" pitchFamily="2" charset="-122"/>
                <a:sym typeface="+mn-ea"/>
              </a:rPr>
              <a:t>LED/</a:t>
            </a:r>
            <a:r>
              <a:rPr lang="zh-CN" altLang="en-US" sz="1800" b="1" spc="-30" dirty="0" smtClean="0">
                <a:latin typeface="宋体" panose="02010600030101010101" pitchFamily="2" charset="-122"/>
                <a:sym typeface="+mn-ea"/>
              </a:rPr>
              <a:t>开关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spc="-3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spc="-3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800" b="1" spc="-30" dirty="0" smtClean="0">
                <a:latin typeface="宋体" panose="02010600030101010101" pitchFamily="2" charset="-122"/>
                <a:sym typeface="+mn-ea"/>
              </a:rPr>
              <a:t>个数据</a:t>
            </a:r>
            <a:r>
              <a:rPr lang="en-US" altLang="zh-CN" sz="1800" b="1" spc="-3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spc="-30" dirty="0" smtClean="0">
                <a:latin typeface="宋体" panose="02010600030101010101" pitchFamily="2" charset="-122"/>
                <a:sym typeface="+mn-ea"/>
              </a:rPr>
              <a:t>次</a:t>
            </a:r>
            <a:endParaRPr lang="en-US" altLang="zh-CN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先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设备，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等到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设备</a:t>
            </a:r>
            <a:r>
              <a:rPr lang="zh-CN" altLang="en-US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才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b="1" spc="-7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b="1" spc="-70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b="1" u="sng" spc="-70" dirty="0" smtClean="0">
                <a:latin typeface="宋体" panose="02010600030101010101" pitchFamily="2" charset="-122"/>
                <a:sym typeface="+mn-ea"/>
              </a:rPr>
              <a:t>字符</a:t>
            </a:r>
            <a:r>
              <a:rPr lang="en-US" altLang="zh-CN" b="1" u="sng" spc="-7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u="sng" spc="-70" dirty="0" smtClean="0">
                <a:latin typeface="宋体" panose="02010600030101010101" pitchFamily="2" charset="-122"/>
                <a:sym typeface="+mn-ea"/>
              </a:rPr>
              <a:t>块</a:t>
            </a:r>
            <a:r>
              <a:rPr lang="zh-CN" altLang="en-US" b="1" spc="-70" dirty="0" smtClean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2000" b="1" spc="-70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2000" b="1" spc="-70" dirty="0" smtClean="0">
                <a:latin typeface="宋体" panose="02010600030101010101" pitchFamily="2" charset="-122"/>
                <a:sym typeface="+mn-ea"/>
              </a:rPr>
              <a:t>并行</a:t>
            </a:r>
            <a:r>
              <a:rPr lang="en-US" altLang="zh-CN" sz="2000" b="1" spc="-7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000" b="1" spc="-70" dirty="0" smtClean="0">
                <a:latin typeface="宋体" panose="02010600030101010101" pitchFamily="2" charset="-122"/>
                <a:sym typeface="+mn-ea"/>
              </a:rPr>
              <a:t>串行传输</a:t>
            </a:r>
            <a:r>
              <a:rPr lang="en-US" altLang="zh-CN" sz="2000" b="1" spc="-70" dirty="0" smtClean="0">
                <a:latin typeface="宋体" panose="02010600030101010101" pitchFamily="2" charset="-122"/>
                <a:sym typeface="+mn-ea"/>
              </a:rPr>
              <a:t>)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←串行用帧表示</a:t>
            </a:r>
            <a:endParaRPr lang="zh-CN" altLang="en-US" sz="1800" b="1" dirty="0" smtClean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指示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数据何时有效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spc="-70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8" name="线形标注 2 67"/>
          <p:cNvSpPr/>
          <p:nvPr/>
        </p:nvSpPr>
        <p:spPr bwMode="auto">
          <a:xfrm>
            <a:off x="4059003" y="1016760"/>
            <a:ext cx="945045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122770"/>
              <a:gd name="adj6" fmla="val -58015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algn="ctr">
              <a:lnSpc>
                <a:spcPct val="105000"/>
              </a:lnSpc>
            </a:pPr>
            <a:r>
              <a:rPr lang="zh-CN" altLang="en-US" sz="1600" b="1" dirty="0" smtClean="0">
                <a:latin typeface="+mn-lt"/>
                <a:ea typeface="+mn-ea"/>
              </a:rPr>
              <a:t>无需启动</a:t>
            </a:r>
            <a:endParaRPr lang="zh-CN" altLang="en-US" sz="1600" b="1" dirty="0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Box 88"/>
          <p:cNvSpPr txBox="1">
            <a:spLocks noChangeArrowheads="1"/>
          </p:cNvSpPr>
          <p:nvPr/>
        </p:nvSpPr>
        <p:spPr bwMode="auto">
          <a:xfrm>
            <a:off x="179388" y="334293"/>
            <a:ext cx="4896668" cy="54384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※I/O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系统的组成小结：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*外设的连接：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*I/O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的过程：</a:t>
            </a:r>
            <a:endParaRPr lang="en-US" altLang="zh-CN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*对外设编址：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编址单位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编址方法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*外设的识别：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外设标识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总线事务的目标从设备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目标识别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*与外设联络：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联络方式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*传送控制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软件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2555776" y="889178"/>
            <a:ext cx="4680272" cy="936104"/>
            <a:chOff x="755824" y="2420888"/>
            <a:chExt cx="4680272" cy="936104"/>
          </a:xfrm>
        </p:grpSpPr>
        <p:sp>
          <p:nvSpPr>
            <p:cNvPr id="40" name="Text Box 72"/>
            <p:cNvSpPr txBox="1">
              <a:spLocks noChangeArrowheads="1"/>
            </p:cNvSpPr>
            <p:nvPr/>
          </p:nvSpPr>
          <p:spPr bwMode="auto">
            <a:xfrm>
              <a:off x="2411760" y="2420888"/>
              <a:ext cx="3024336" cy="5736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3" name="Text Box 72"/>
            <p:cNvSpPr txBox="1">
              <a:spLocks noChangeArrowheads="1"/>
            </p:cNvSpPr>
            <p:nvPr/>
          </p:nvSpPr>
          <p:spPr bwMode="auto">
            <a:xfrm>
              <a:off x="755824" y="2420888"/>
              <a:ext cx="1511919" cy="79322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5" name="Text Box 72"/>
            <p:cNvSpPr txBox="1">
              <a:spLocks noChangeArrowheads="1"/>
            </p:cNvSpPr>
            <p:nvPr/>
          </p:nvSpPr>
          <p:spPr bwMode="auto">
            <a:xfrm>
              <a:off x="827832" y="2636019"/>
              <a:ext cx="576064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74"/>
            <p:cNvSpPr txBox="1">
              <a:spLocks noChangeArrowheads="1"/>
            </p:cNvSpPr>
            <p:nvPr/>
          </p:nvSpPr>
          <p:spPr bwMode="auto">
            <a:xfrm>
              <a:off x="1547912" y="2636019"/>
              <a:ext cx="647576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75"/>
            <p:cNvSpPr txBox="1">
              <a:spLocks noChangeArrowheads="1"/>
            </p:cNvSpPr>
            <p:nvPr/>
          </p:nvSpPr>
          <p:spPr bwMode="auto">
            <a:xfrm>
              <a:off x="2483768" y="2636912"/>
              <a:ext cx="1080120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79"/>
            <p:cNvSpPr txBox="1">
              <a:spLocks noChangeArrowheads="1"/>
            </p:cNvSpPr>
            <p:nvPr/>
          </p:nvSpPr>
          <p:spPr bwMode="auto">
            <a:xfrm>
              <a:off x="3528367" y="2925192"/>
              <a:ext cx="683593" cy="431800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b="1" dirty="0"/>
                <a:t>…</a:t>
              </a:r>
              <a:endParaRPr lang="en-US" altLang="zh-CN" b="1" dirty="0"/>
            </a:p>
          </p:txBody>
        </p:sp>
        <p:sp>
          <p:nvSpPr>
            <p:cNvPr id="79" name="Text Box 80"/>
            <p:cNvSpPr txBox="1">
              <a:spLocks noChangeArrowheads="1"/>
            </p:cNvSpPr>
            <p:nvPr/>
          </p:nvSpPr>
          <p:spPr bwMode="auto">
            <a:xfrm>
              <a:off x="3563888" y="2492896"/>
              <a:ext cx="648072" cy="288032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/>
                <a:t>总线</a:t>
              </a:r>
              <a:endParaRPr lang="zh-CN" altLang="en-US" sz="1800" b="1" dirty="0"/>
            </a:p>
          </p:txBody>
        </p:sp>
        <p:sp>
          <p:nvSpPr>
            <p:cNvPr id="80" name="Text Box 81"/>
            <p:cNvSpPr txBox="1">
              <a:spLocks noChangeArrowheads="1"/>
            </p:cNvSpPr>
            <p:nvPr/>
          </p:nvSpPr>
          <p:spPr bwMode="auto">
            <a:xfrm>
              <a:off x="2482354" y="3071242"/>
              <a:ext cx="108153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83"/>
            <p:cNvSpPr txBox="1">
              <a:spLocks noChangeArrowheads="1"/>
            </p:cNvSpPr>
            <p:nvPr/>
          </p:nvSpPr>
          <p:spPr bwMode="auto">
            <a:xfrm>
              <a:off x="4211960" y="2639194"/>
              <a:ext cx="1151954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85"/>
            <p:cNvSpPr txBox="1">
              <a:spLocks noChangeArrowheads="1"/>
            </p:cNvSpPr>
            <p:nvPr/>
          </p:nvSpPr>
          <p:spPr bwMode="auto">
            <a:xfrm>
              <a:off x="4211960" y="3071242"/>
              <a:ext cx="115195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3" name="直接连接符 82"/>
            <p:cNvCxnSpPr>
              <a:stCxn id="75" idx="0"/>
            </p:cNvCxnSpPr>
            <p:nvPr/>
          </p:nvCxnSpPr>
          <p:spPr bwMode="auto">
            <a:xfrm flipV="1">
              <a:off x="1115864" y="2492896"/>
              <a:ext cx="0" cy="14312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直接连接符 83"/>
            <p:cNvCxnSpPr>
              <a:stCxn id="76" idx="0"/>
            </p:cNvCxnSpPr>
            <p:nvPr/>
          </p:nvCxnSpPr>
          <p:spPr bwMode="auto">
            <a:xfrm flipV="1">
              <a:off x="1871700" y="2492897"/>
              <a:ext cx="0" cy="14312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5" name="直接连接符 84"/>
            <p:cNvCxnSpPr/>
            <p:nvPr/>
          </p:nvCxnSpPr>
          <p:spPr bwMode="auto">
            <a:xfrm>
              <a:off x="827770" y="2492896"/>
              <a:ext cx="4536144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直接连接符 85"/>
            <p:cNvCxnSpPr>
              <a:endCxn id="77" idx="0"/>
            </p:cNvCxnSpPr>
            <p:nvPr/>
          </p:nvCxnSpPr>
          <p:spPr bwMode="auto">
            <a:xfrm>
              <a:off x="3023121" y="2492896"/>
              <a:ext cx="707" cy="144016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7" name="直接连接符 86"/>
            <p:cNvCxnSpPr>
              <a:endCxn id="81" idx="0"/>
            </p:cNvCxnSpPr>
            <p:nvPr/>
          </p:nvCxnSpPr>
          <p:spPr bwMode="auto">
            <a:xfrm>
              <a:off x="4787937" y="2492896"/>
              <a:ext cx="0" cy="14629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8" name="直接连接符 87"/>
            <p:cNvCxnSpPr>
              <a:stCxn id="77" idx="2"/>
              <a:endCxn id="80" idx="0"/>
            </p:cNvCxnSpPr>
            <p:nvPr/>
          </p:nvCxnSpPr>
          <p:spPr bwMode="auto">
            <a:xfrm flipH="1">
              <a:off x="3023121" y="2917900"/>
              <a:ext cx="707" cy="153342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9" name="直接连接符 88"/>
            <p:cNvCxnSpPr>
              <a:stCxn id="81" idx="2"/>
              <a:endCxn id="82" idx="0"/>
            </p:cNvCxnSpPr>
            <p:nvPr/>
          </p:nvCxnSpPr>
          <p:spPr bwMode="auto">
            <a:xfrm>
              <a:off x="4787937" y="2926532"/>
              <a:ext cx="0" cy="144710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" name="Text Box 80"/>
            <p:cNvSpPr txBox="1">
              <a:spLocks noChangeArrowheads="1"/>
            </p:cNvSpPr>
            <p:nvPr/>
          </p:nvSpPr>
          <p:spPr bwMode="auto">
            <a:xfrm>
              <a:off x="1115666" y="2961059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/>
                <a:t>主机</a:t>
              </a:r>
              <a:endParaRPr lang="zh-CN" altLang="en-US" sz="1800" b="1" dirty="0"/>
            </a:p>
          </p:txBody>
        </p: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16164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7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33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Text Box 88"/>
          <p:cNvSpPr txBox="1">
            <a:spLocks noChangeArrowheads="1"/>
          </p:cNvSpPr>
          <p:nvPr/>
        </p:nvSpPr>
        <p:spPr bwMode="auto">
          <a:xfrm>
            <a:off x="2195736" y="1914217"/>
            <a:ext cx="6804246" cy="514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spc="-50" dirty="0">
                <a:latin typeface="宋体" panose="02010600030101010101" pitchFamily="2" charset="-122"/>
              </a:rPr>
              <a:t>总线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操作</a:t>
            </a:r>
            <a:r>
              <a:rPr lang="en-US" altLang="zh-CN" sz="1600" b="1" spc="-50" dirty="0">
                <a:latin typeface="宋体" panose="02010600030101010101" pitchFamily="2" charset="-122"/>
              </a:rPr>
              <a:t>(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主机</a:t>
            </a:r>
            <a:r>
              <a:rPr lang="en-US" altLang="zh-CN" sz="1600" b="1" spc="-50" dirty="0">
                <a:latin typeface="宋体" panose="02010600030101010101" pitchFamily="2" charset="-122"/>
              </a:rPr>
              <a:t>-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端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口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＋</a:t>
            </a:r>
            <a:r>
              <a:rPr lang="zh-CN" altLang="en-US" sz="2200" b="1" spc="-50" dirty="0">
                <a:latin typeface="宋体" panose="02010600030101010101" pitchFamily="2" charset="-122"/>
              </a:rPr>
              <a:t>通信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操作</a:t>
            </a:r>
            <a:r>
              <a:rPr lang="en-US" altLang="zh-CN" sz="1600" b="1" spc="-50" dirty="0">
                <a:latin typeface="宋体" panose="02010600030101010101" pitchFamily="2" charset="-122"/>
              </a:rPr>
              <a:t>(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端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口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-</a:t>
            </a:r>
            <a:r>
              <a:rPr lang="zh-CN" altLang="en-US" sz="1600" b="1" spc="-50" dirty="0" smtClean="0">
                <a:latin typeface="宋体" panose="02010600030101010101" pitchFamily="2" charset="-122"/>
              </a:rPr>
              <a:t>设备</a:t>
            </a:r>
            <a:r>
              <a:rPr lang="en-US" altLang="zh-CN" sz="1600" b="1" spc="-50" dirty="0" smtClean="0">
                <a:latin typeface="宋体" panose="02010600030101010101" pitchFamily="2" charset="-122"/>
              </a:rPr>
              <a:t>)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个信息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事务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64" name="线形标注 2 63"/>
          <p:cNvSpPr/>
          <p:nvPr/>
        </p:nvSpPr>
        <p:spPr bwMode="auto">
          <a:xfrm>
            <a:off x="7452321" y="1100266"/>
            <a:ext cx="1224135" cy="725016"/>
          </a:xfrm>
          <a:prstGeom prst="borderCallout2">
            <a:avLst>
              <a:gd name="adj1" fmla="val 51646"/>
              <a:gd name="adj2" fmla="val -809"/>
              <a:gd name="adj3" fmla="val 51375"/>
              <a:gd name="adj4" fmla="val -8989"/>
              <a:gd name="adj5" fmla="val 19001"/>
              <a:gd name="adj6" fmla="val -3239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r>
              <a:rPr lang="zh-CN" altLang="en-US" sz="1600" b="1" dirty="0" smtClean="0">
                <a:latin typeface="宋体" panose="02010600030101010101" pitchFamily="2" charset="-122"/>
              </a:rPr>
              <a:t>用</a:t>
            </a:r>
            <a:r>
              <a:rPr lang="en-US" altLang="zh-CN" sz="1600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6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端口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即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寄存器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暂</a:t>
            </a:r>
            <a:r>
              <a:rPr lang="zh-CN" altLang="en-US" sz="1600" b="1" dirty="0">
                <a:latin typeface="宋体" panose="02010600030101010101" pitchFamily="2" charset="-122"/>
              </a:rPr>
              <a:t>存信息</a:t>
            </a:r>
            <a:endParaRPr lang="zh-CN" altLang="en-US" sz="1600" b="1" dirty="0"/>
          </a:p>
        </p:txBody>
      </p:sp>
      <p:grpSp>
        <p:nvGrpSpPr>
          <p:cNvPr id="66" name="组合 65"/>
          <p:cNvGrpSpPr/>
          <p:nvPr/>
        </p:nvGrpSpPr>
        <p:grpSpPr>
          <a:xfrm>
            <a:off x="5076056" y="5400000"/>
            <a:ext cx="3600400" cy="287338"/>
            <a:chOff x="2987132" y="5889560"/>
            <a:chExt cx="3600400" cy="287338"/>
          </a:xfrm>
        </p:grpSpPr>
        <p:sp>
          <p:nvSpPr>
            <p:cNvPr id="67" name="Text Box 8"/>
            <p:cNvSpPr txBox="1">
              <a:spLocks noChangeArrowheads="1"/>
            </p:cNvSpPr>
            <p:nvPr/>
          </p:nvSpPr>
          <p:spPr bwMode="auto">
            <a:xfrm>
              <a:off x="2987132" y="5889560"/>
              <a:ext cx="793747" cy="287338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操作码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10"/>
            <p:cNvSpPr txBox="1">
              <a:spLocks noChangeArrowheads="1"/>
            </p:cNvSpPr>
            <p:nvPr/>
          </p:nvSpPr>
          <p:spPr bwMode="auto">
            <a:xfrm>
              <a:off x="3780881" y="5889560"/>
              <a:ext cx="1222476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端口地址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9" name="Text Box 11"/>
            <p:cNvSpPr txBox="1">
              <a:spLocks noChangeArrowheads="1"/>
            </p:cNvSpPr>
            <p:nvPr/>
          </p:nvSpPr>
          <p:spPr bwMode="auto">
            <a:xfrm>
              <a:off x="5003356" y="5889560"/>
              <a:ext cx="1584176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GPRs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号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立即数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70" name="Text Box 88"/>
          <p:cNvSpPr txBox="1">
            <a:spLocks noChangeArrowheads="1"/>
          </p:cNvSpPr>
          <p:nvPr/>
        </p:nvSpPr>
        <p:spPr bwMode="auto">
          <a:xfrm>
            <a:off x="3779912" y="2348880"/>
            <a:ext cx="5220070" cy="9014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端口的长度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←总线事务目标为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端口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统一</a:t>
            </a:r>
            <a:r>
              <a:rPr lang="en-US" altLang="zh-CN" sz="2200" b="1" dirty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独立编址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→总线事务及信号的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组织</a:t>
            </a:r>
            <a:endParaRPr lang="en-US" altLang="zh-CN" sz="2200" b="1" u="sng" dirty="0" smtClean="0">
              <a:latin typeface="宋体" panose="02010600030101010101" pitchFamily="2" charset="-122"/>
            </a:endParaRPr>
          </a:p>
        </p:txBody>
      </p:sp>
      <p:sp>
        <p:nvSpPr>
          <p:cNvPr id="71" name="Text Box 88"/>
          <p:cNvSpPr txBox="1">
            <a:spLocks noChangeArrowheads="1"/>
          </p:cNvSpPr>
          <p:nvPr/>
        </p:nvSpPr>
        <p:spPr bwMode="auto">
          <a:xfrm>
            <a:off x="3779912" y="3155053"/>
            <a:ext cx="5225482" cy="13585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各</a:t>
            </a:r>
            <a:r>
              <a:rPr lang="en-US" altLang="zh-CN" sz="2200" b="1" u="sng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u="sng" dirty="0" smtClean="0">
                <a:latin typeface="宋体" panose="02010600030101010101" pitchFamily="2" charset="-122"/>
              </a:rPr>
              <a:t>接口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保存设备号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(ID)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端口地址＝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&lt;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设备号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,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内部序号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&gt;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lang="zh-CN" altLang="en-US" sz="2200" b="1" spc="-100" dirty="0" smtClean="0">
                <a:latin typeface="宋体" panose="02010600030101010101" pitchFamily="2" charset="-122"/>
              </a:rPr>
              <a:t>各</a:t>
            </a:r>
            <a:r>
              <a:rPr lang="en-US" altLang="zh-CN" sz="2200" b="1" u="sng" spc="-100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u="sng" spc="-100" dirty="0" smtClean="0">
                <a:latin typeface="宋体" panose="02010600030101010101" pitchFamily="2" charset="-122"/>
              </a:rPr>
              <a:t>接口</a:t>
            </a:r>
            <a:r>
              <a:rPr lang="zh-CN" altLang="en-US" sz="2200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监视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总线状态、</a:t>
            </a:r>
            <a:r>
              <a:rPr lang="zh-CN" altLang="en-US" sz="2200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比较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是否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被选中</a:t>
            </a:r>
            <a:endParaRPr lang="en-US" altLang="zh-CN" sz="2200" b="1" spc="-100" dirty="0" smtClean="0">
              <a:latin typeface="宋体" panose="02010600030101010101" pitchFamily="2" charset="-122"/>
            </a:endParaRPr>
          </a:p>
        </p:txBody>
      </p:sp>
      <p:sp>
        <p:nvSpPr>
          <p:cNvPr id="72" name="Text Box 88"/>
          <p:cNvSpPr txBox="1">
            <a:spLocks noChangeArrowheads="1"/>
          </p:cNvSpPr>
          <p:nvPr/>
        </p:nvSpPr>
        <p:spPr bwMode="auto">
          <a:xfrm>
            <a:off x="3779912" y="4417570"/>
            <a:ext cx="5256584" cy="9556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无条件传送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字符型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，条件传送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字符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块型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立即响应，同步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异步联络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→联络线</a:t>
            </a:r>
            <a:r>
              <a:rPr lang="zh-CN" altLang="en-US" sz="1600" b="1" u="sng" dirty="0" smtClean="0">
                <a:latin typeface="宋体" panose="02010600030101010101" pitchFamily="2" charset="-122"/>
              </a:rPr>
              <a:t>设置</a:t>
            </a:r>
            <a:endParaRPr lang="en-US" altLang="zh-CN" sz="1800" b="1" u="sng" dirty="0" smtClean="0">
              <a:latin typeface="宋体" panose="02010600030101010101" pitchFamily="2" charset="-122"/>
            </a:endParaRPr>
          </a:p>
        </p:txBody>
      </p:sp>
      <p:cxnSp>
        <p:nvCxnSpPr>
          <p:cNvPr id="74" name="直接箭头连接符 73"/>
          <p:cNvCxnSpPr/>
          <p:nvPr/>
        </p:nvCxnSpPr>
        <p:spPr bwMode="auto">
          <a:xfrm flipH="1" flipV="1">
            <a:off x="6516216" y="4005064"/>
            <a:ext cx="432000" cy="108012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sm" len="sm"/>
            <a:tailEnd type="arrow" w="sm" len="sm"/>
          </a:ln>
        </p:spPr>
      </p:cxnSp>
      <p:sp>
        <p:nvSpPr>
          <p:cNvPr id="43" name="Text Box 200"/>
          <p:cNvSpPr txBox="1">
            <a:spLocks noChangeArrowheads="1"/>
          </p:cNvSpPr>
          <p:nvPr/>
        </p:nvSpPr>
        <p:spPr bwMode="auto">
          <a:xfrm>
            <a:off x="1115615" y="5877272"/>
            <a:ext cx="6876000" cy="324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noAutofit/>
          </a:bodyPr>
          <a:lstStyle/>
          <a:p>
            <a:pPr algn="l" eaLnBrk="0" hangingPunct="0"/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sz="1800" b="1" dirty="0" smtClean="0">
                <a:latin typeface="宋体" panose="02010600030101010101" pitchFamily="2" charset="-122"/>
              </a:rPr>
              <a:t>对于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条件</a:t>
            </a:r>
            <a:r>
              <a:rPr lang="zh-CN" altLang="en-US" sz="1800" b="1" dirty="0">
                <a:latin typeface="宋体" panose="02010600030101010101" pitchFamily="2" charset="-122"/>
              </a:rPr>
              <a:t>传送设备，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需执行多少指令才能完成依次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cxnSp>
        <p:nvCxnSpPr>
          <p:cNvPr id="51" name="直接箭头连接符 50"/>
          <p:cNvCxnSpPr/>
          <p:nvPr/>
        </p:nvCxnSpPr>
        <p:spPr bwMode="auto">
          <a:xfrm flipH="1">
            <a:off x="7722350" y="1844824"/>
            <a:ext cx="162018" cy="252000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sm" len="sm"/>
            <a:tailEnd type="arrow" w="sm" len="sm"/>
          </a:ln>
        </p:spPr>
      </p:cxnSp>
      <p:grpSp>
        <p:nvGrpSpPr>
          <p:cNvPr id="6" name="组合 5"/>
          <p:cNvGrpSpPr/>
          <p:nvPr/>
        </p:nvGrpSpPr>
        <p:grpSpPr>
          <a:xfrm>
            <a:off x="4221689" y="4833168"/>
            <a:ext cx="2510551" cy="108000"/>
            <a:chOff x="4293697" y="5567095"/>
            <a:chExt cx="2510551" cy="108000"/>
          </a:xfrm>
        </p:grpSpPr>
        <p:cxnSp>
          <p:nvCxnSpPr>
            <p:cNvPr id="46" name="直接箭头连接符 45"/>
            <p:cNvCxnSpPr/>
            <p:nvPr/>
          </p:nvCxnSpPr>
          <p:spPr bwMode="auto">
            <a:xfrm>
              <a:off x="4293697" y="5567095"/>
              <a:ext cx="21600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sm" len="sm"/>
              <a:tailEnd type="arrow" w="sm" len="sm"/>
            </a:ln>
          </p:spPr>
        </p:cxnSp>
        <p:cxnSp>
          <p:nvCxnSpPr>
            <p:cNvPr id="48" name="直接箭头连接符 47"/>
            <p:cNvCxnSpPr/>
            <p:nvPr/>
          </p:nvCxnSpPr>
          <p:spPr bwMode="auto">
            <a:xfrm flipH="1">
              <a:off x="6156176" y="5567095"/>
              <a:ext cx="648072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sm" len="sm"/>
              <a:tailEnd type="arrow" w="sm" len="sm"/>
            </a:ln>
          </p:spPr>
        </p:cxnSp>
      </p:grpSp>
      <p:sp>
        <p:nvSpPr>
          <p:cNvPr id="3" name="矩形 2"/>
          <p:cNvSpPr/>
          <p:nvPr/>
        </p:nvSpPr>
        <p:spPr>
          <a:xfrm>
            <a:off x="683568" y="2780928"/>
            <a:ext cx="1440000" cy="252000"/>
          </a:xfrm>
          <a:prstGeom prst="rect">
            <a:avLst/>
          </a:prstGeom>
        </p:spPr>
        <p:txBody>
          <a:bodyPr wrap="square" lIns="18000" tIns="10800" rIns="18000" bIns="1080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600" b="1" dirty="0">
                <a:latin typeface="宋体" panose="02010600030101010101" pitchFamily="2" charset="-122"/>
              </a:rPr>
              <a:t>I/O</a:t>
            </a:r>
            <a:r>
              <a:rPr lang="zh-CN" altLang="en-US" sz="1600" b="1" dirty="0">
                <a:latin typeface="宋体" panose="02010600030101010101" pitchFamily="2" charset="-122"/>
              </a:rPr>
              <a:t>端口编址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zh-CN" altLang="en-US" sz="1600" dirty="0"/>
          </a:p>
        </p:txBody>
      </p:sp>
      <p:sp>
        <p:nvSpPr>
          <p:cNvPr id="49" name="Text Box 88"/>
          <p:cNvSpPr txBox="1">
            <a:spLocks noChangeArrowheads="1"/>
          </p:cNvSpPr>
          <p:nvPr/>
        </p:nvSpPr>
        <p:spPr bwMode="auto">
          <a:xfrm>
            <a:off x="2771801" y="5301208"/>
            <a:ext cx="2123994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spc="-50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执行</a:t>
            </a:r>
            <a:r>
              <a:rPr lang="en-US" altLang="zh-CN" sz="2200" b="1" spc="-50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spc="-50" dirty="0" smtClean="0">
                <a:latin typeface="宋体" panose="02010600030101010101" pitchFamily="2" charset="-122"/>
              </a:rPr>
              <a:t>指令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43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61"/>
          <p:cNvSpPr txBox="1">
            <a:spLocks noChangeArrowheads="1"/>
          </p:cNvSpPr>
          <p:nvPr/>
        </p:nvSpPr>
        <p:spPr bwMode="auto">
          <a:xfrm>
            <a:off x="179389" y="4948719"/>
            <a:ext cx="303717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方式类型：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Text Box 66"/>
          <p:cNvSpPr txBox="1">
            <a:spLocks noChangeArrowheads="1"/>
          </p:cNvSpPr>
          <p:nvPr/>
        </p:nvSpPr>
        <p:spPr bwMode="auto">
          <a:xfrm>
            <a:off x="179512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en-US" altLang="zh-CN" dirty="0"/>
              <a:t>I/O</a:t>
            </a:r>
            <a:r>
              <a:rPr lang="zh-CN" altLang="en-US" dirty="0"/>
              <a:t>的传送控制方式</a:t>
            </a:r>
            <a:endParaRPr lang="zh-CN" altLang="en-US" dirty="0"/>
          </a:p>
        </p:txBody>
      </p:sp>
      <p:sp>
        <p:nvSpPr>
          <p:cNvPr id="7" name="Text Box 67"/>
          <p:cNvSpPr txBox="1">
            <a:spLocks noChangeArrowheads="1"/>
          </p:cNvSpPr>
          <p:nvPr/>
        </p:nvSpPr>
        <p:spPr bwMode="auto">
          <a:xfrm>
            <a:off x="179388" y="836712"/>
            <a:ext cx="8785225" cy="5539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+mn-ea"/>
                <a:ea typeface="+mn-ea"/>
              </a:rPr>
              <a:t>  </a:t>
            </a:r>
            <a:r>
              <a:rPr lang="zh-CN" altLang="en-US" b="1" dirty="0">
                <a:latin typeface="+mn-ea"/>
                <a:ea typeface="+mn-ea"/>
              </a:rPr>
              <a:t> </a:t>
            </a:r>
            <a:r>
              <a:rPr lang="zh-CN" altLang="en-US" b="1" dirty="0" smtClean="0">
                <a:latin typeface="+mn-ea"/>
                <a:ea typeface="+mn-ea"/>
              </a:rPr>
              <a:t> </a:t>
            </a:r>
            <a:r>
              <a:rPr lang="zh-CN" altLang="zh-CN" b="1" dirty="0" smtClean="0">
                <a:latin typeface="+mn-ea"/>
                <a:ea typeface="+mn-ea"/>
              </a:rPr>
              <a:t>指</a:t>
            </a:r>
            <a:r>
              <a:rPr lang="en-US" altLang="zh-CN" b="1" dirty="0" smtClean="0">
                <a:latin typeface="+mn-ea"/>
                <a:ea typeface="+mn-ea"/>
              </a:rPr>
              <a:t>CPU</a:t>
            </a:r>
            <a:r>
              <a:rPr lang="zh-CN" altLang="zh-CN" b="1" dirty="0" smtClean="0">
                <a:latin typeface="+mn-ea"/>
                <a:ea typeface="+mn-ea"/>
              </a:rPr>
              <a:t>对数据</a:t>
            </a:r>
            <a:r>
              <a:rPr lang="zh-CN" altLang="en-US" b="1" dirty="0" smtClean="0">
                <a:latin typeface="+mn-ea"/>
                <a:ea typeface="+mn-ea"/>
              </a:rPr>
              <a:t>传送</a:t>
            </a:r>
            <a:r>
              <a:rPr lang="zh-CN" altLang="zh-CN" b="1" dirty="0" smtClean="0">
                <a:latin typeface="+mn-ea"/>
                <a:ea typeface="+mn-ea"/>
              </a:rPr>
              <a:t>的</a:t>
            </a:r>
            <a:r>
              <a:rPr lang="zh-CN" altLang="zh-CN" b="1" dirty="0">
                <a:solidFill>
                  <a:srgbClr val="990099"/>
                </a:solidFill>
                <a:latin typeface="+mn-ea"/>
                <a:ea typeface="+mn-ea"/>
              </a:rPr>
              <a:t>管理</a:t>
            </a:r>
            <a:r>
              <a:rPr lang="zh-CN" altLang="zh-CN" b="1" dirty="0" smtClean="0">
                <a:solidFill>
                  <a:srgbClr val="990099"/>
                </a:solidFill>
                <a:latin typeface="+mn-ea"/>
                <a:ea typeface="+mn-ea"/>
              </a:rPr>
              <a:t>方式</a:t>
            </a:r>
            <a:r>
              <a:rPr lang="en-US" altLang="zh-CN" sz="1800" b="1" dirty="0" smtClean="0">
                <a:latin typeface="+mn-ea"/>
                <a:ea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</a:rPr>
              <a:t>何时传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如何传</a:t>
            </a:r>
            <a:r>
              <a:rPr lang="en-US" altLang="zh-CN" sz="1800" b="1" dirty="0" smtClean="0">
                <a:latin typeface="+mn-ea"/>
                <a:ea typeface="+mn-ea"/>
              </a:rPr>
              <a:t>)</a:t>
            </a:r>
            <a:r>
              <a:rPr lang="zh-CN" altLang="zh-CN" b="1" dirty="0" smtClean="0">
                <a:latin typeface="+mn-ea"/>
                <a:ea typeface="+mn-ea"/>
              </a:rPr>
              <a:t>，</a:t>
            </a:r>
            <a:r>
              <a:rPr lang="zh-CN" altLang="zh-CN" b="1" dirty="0">
                <a:latin typeface="+mn-ea"/>
                <a:ea typeface="+mn-ea"/>
              </a:rPr>
              <a:t>又称</a:t>
            </a:r>
            <a:r>
              <a:rPr lang="en-US" altLang="zh-CN" b="1" dirty="0">
                <a:solidFill>
                  <a:srgbClr val="990099"/>
                </a:solidFill>
                <a:latin typeface="+mn-ea"/>
                <a:ea typeface="+mn-ea"/>
              </a:rPr>
              <a:t>I/O</a:t>
            </a:r>
            <a:r>
              <a:rPr lang="zh-CN" altLang="zh-CN" b="1" dirty="0" smtClean="0">
                <a:solidFill>
                  <a:srgbClr val="990099"/>
                </a:solidFill>
                <a:latin typeface="+mn-ea"/>
                <a:ea typeface="+mn-ea"/>
              </a:rPr>
              <a:t>方式</a:t>
            </a:r>
            <a:endParaRPr lang="en-US" altLang="zh-CN" b="1" dirty="0" smtClean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9" name="Text Box 69"/>
          <p:cNvSpPr txBox="1">
            <a:spLocks noChangeArrowheads="1"/>
          </p:cNvSpPr>
          <p:nvPr/>
        </p:nvSpPr>
        <p:spPr bwMode="auto">
          <a:xfrm>
            <a:off x="179263" y="1318702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方式目标：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减少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开销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所占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时间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提高</a:t>
            </a:r>
            <a:r>
              <a:rPr lang="zh-CN" altLang="en-US" b="1" dirty="0" smtClean="0">
                <a:latin typeface="宋体" panose="02010600030101010101" pitchFamily="2" charset="-122"/>
              </a:rPr>
              <a:t>传输速率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" name="Text Box 46"/>
          <p:cNvSpPr txBox="1">
            <a:spLocks noChangeArrowheads="1"/>
          </p:cNvSpPr>
          <p:nvPr/>
        </p:nvSpPr>
        <p:spPr bwMode="auto">
          <a:xfrm>
            <a:off x="179388" y="1802151"/>
            <a:ext cx="8785225" cy="97719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方式示例：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糖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在讲台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上，</a:t>
            </a: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老师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组织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10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孩子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外设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每人吃</a:t>
            </a:r>
            <a:r>
              <a:rPr lang="en-US" altLang="zh-CN" sz="2200" b="1" dirty="0">
                <a:latin typeface="宋体" panose="02010600030101010101" pitchFamily="2" charset="-122"/>
              </a:rPr>
              <a:t>4</a:t>
            </a:r>
            <a:r>
              <a:rPr lang="zh-CN" altLang="en-US" sz="2200" b="1" dirty="0">
                <a:latin typeface="宋体" panose="02010600030101010101" pitchFamily="2" charset="-122"/>
              </a:rPr>
              <a:t>颗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糖</a:t>
            </a:r>
            <a:endParaRPr lang="zh-CN" altLang="en-US" sz="2200" dirty="0">
              <a:latin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20415" y="4344497"/>
            <a:ext cx="5819937" cy="524663"/>
            <a:chOff x="1776399" y="4509120"/>
            <a:chExt cx="5819937" cy="524663"/>
          </a:xfrm>
        </p:grpSpPr>
        <p:sp>
          <p:nvSpPr>
            <p:cNvPr id="16" name="Text Box 72"/>
            <p:cNvSpPr txBox="1">
              <a:spLocks noChangeArrowheads="1"/>
            </p:cNvSpPr>
            <p:nvPr/>
          </p:nvSpPr>
          <p:spPr bwMode="auto">
            <a:xfrm>
              <a:off x="1776399" y="4734728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Text Box 74"/>
            <p:cNvSpPr txBox="1">
              <a:spLocks noChangeArrowheads="1"/>
            </p:cNvSpPr>
            <p:nvPr/>
          </p:nvSpPr>
          <p:spPr bwMode="auto">
            <a:xfrm>
              <a:off x="2712503" y="4734728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79"/>
            <p:cNvSpPr txBox="1">
              <a:spLocks noChangeArrowheads="1"/>
            </p:cNvSpPr>
            <p:nvPr/>
          </p:nvSpPr>
          <p:spPr bwMode="auto">
            <a:xfrm>
              <a:off x="6299299" y="4754209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21" name="Text Box 80"/>
            <p:cNvSpPr txBox="1">
              <a:spLocks noChangeArrowheads="1"/>
            </p:cNvSpPr>
            <p:nvPr/>
          </p:nvSpPr>
          <p:spPr bwMode="auto">
            <a:xfrm>
              <a:off x="3491880" y="4538185"/>
              <a:ext cx="576064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  <a:endParaRPr lang="zh-CN" altLang="en-US" sz="1600" b="1" dirty="0"/>
            </a:p>
          </p:txBody>
        </p:sp>
        <p:sp>
          <p:nvSpPr>
            <p:cNvPr id="22" name="Text Box 81"/>
            <p:cNvSpPr txBox="1">
              <a:spLocks noChangeArrowheads="1"/>
            </p:cNvSpPr>
            <p:nvPr/>
          </p:nvSpPr>
          <p:spPr bwMode="auto">
            <a:xfrm>
              <a:off x="4152663" y="4737903"/>
              <a:ext cx="851385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" name="直接连接符 22"/>
            <p:cNvCxnSpPr>
              <a:endCxn id="16" idx="0"/>
            </p:cNvCxnSpPr>
            <p:nvPr/>
          </p:nvCxnSpPr>
          <p:spPr bwMode="auto">
            <a:xfrm>
              <a:off x="2136439" y="4527708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>
              <a:stCxn id="19" idx="0"/>
            </p:cNvCxnSpPr>
            <p:nvPr/>
          </p:nvCxnSpPr>
          <p:spPr bwMode="auto">
            <a:xfrm flipV="1">
              <a:off x="3072543" y="4529396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直接连接符 24"/>
            <p:cNvCxnSpPr/>
            <p:nvPr/>
          </p:nvCxnSpPr>
          <p:spPr bwMode="auto">
            <a:xfrm>
              <a:off x="1776399" y="4519597"/>
              <a:ext cx="5819937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>
              <a:endCxn id="22" idx="0"/>
            </p:cNvCxnSpPr>
            <p:nvPr/>
          </p:nvCxnSpPr>
          <p:spPr bwMode="auto">
            <a:xfrm>
              <a:off x="4578355" y="4509120"/>
              <a:ext cx="1" cy="22878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" name="Text Box 81"/>
            <p:cNvSpPr txBox="1">
              <a:spLocks noChangeArrowheads="1"/>
            </p:cNvSpPr>
            <p:nvPr/>
          </p:nvSpPr>
          <p:spPr bwMode="auto">
            <a:xfrm>
              <a:off x="5304791" y="4737903"/>
              <a:ext cx="851385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" name="直接连接符 27"/>
            <p:cNvCxnSpPr>
              <a:endCxn id="27" idx="0"/>
            </p:cNvCxnSpPr>
            <p:nvPr/>
          </p:nvCxnSpPr>
          <p:spPr bwMode="auto">
            <a:xfrm>
              <a:off x="5730483" y="4509120"/>
              <a:ext cx="1" cy="22878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" name="Text Box 81"/>
            <p:cNvSpPr txBox="1">
              <a:spLocks noChangeArrowheads="1"/>
            </p:cNvSpPr>
            <p:nvPr/>
          </p:nvSpPr>
          <p:spPr bwMode="auto">
            <a:xfrm>
              <a:off x="6744951" y="4737903"/>
              <a:ext cx="851385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n-1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" name="直接连接符 29"/>
            <p:cNvCxnSpPr>
              <a:endCxn id="29" idx="0"/>
            </p:cNvCxnSpPr>
            <p:nvPr/>
          </p:nvCxnSpPr>
          <p:spPr bwMode="auto">
            <a:xfrm>
              <a:off x="7170643" y="4509120"/>
              <a:ext cx="1" cy="22878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" name="矩形 2"/>
            <p:cNvSpPr/>
            <p:nvPr/>
          </p:nvSpPr>
          <p:spPr bwMode="auto">
            <a:xfrm>
              <a:off x="4152663" y="4743974"/>
              <a:ext cx="851385" cy="4571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3" name="矩形 32"/>
            <p:cNvSpPr/>
            <p:nvPr/>
          </p:nvSpPr>
          <p:spPr bwMode="auto">
            <a:xfrm>
              <a:off x="5304791" y="4748004"/>
              <a:ext cx="851385" cy="4571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6744951" y="4748004"/>
              <a:ext cx="851385" cy="4571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40" name="Text Box 61"/>
          <p:cNvSpPr txBox="1">
            <a:spLocks noChangeArrowheads="1"/>
          </p:cNvSpPr>
          <p:nvPr/>
        </p:nvSpPr>
        <p:spPr bwMode="auto">
          <a:xfrm>
            <a:off x="2523333" y="4941168"/>
            <a:ext cx="5139946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程序直接控制方式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程序查询</a:t>
            </a:r>
            <a:r>
              <a:rPr lang="en-US" altLang="zh-CN" sz="1800" b="1" dirty="0">
                <a:latin typeface="宋体" panose="02010600030101010101" pitchFamily="2" charset="-122"/>
              </a:rPr>
              <a:t>+</a:t>
            </a:r>
            <a:r>
              <a:rPr lang="zh-CN" altLang="en-US" sz="1800" b="1" dirty="0">
                <a:latin typeface="宋体" panose="02010600030101010101" pitchFamily="2" charset="-122"/>
              </a:rPr>
              <a:t>直接传送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程序中断方式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1" name="Text Box 61"/>
          <p:cNvSpPr txBox="1">
            <a:spLocks noChangeArrowheads="1"/>
          </p:cNvSpPr>
          <p:nvPr/>
        </p:nvSpPr>
        <p:spPr bwMode="auto">
          <a:xfrm>
            <a:off x="2523333" y="5420414"/>
            <a:ext cx="5400600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         直接</a:t>
            </a:r>
            <a:r>
              <a:rPr lang="zh-CN" altLang="en-US" b="1" dirty="0">
                <a:latin typeface="宋体" panose="02010600030101010101" pitchFamily="2" charset="-122"/>
              </a:rPr>
              <a:t>存储器</a:t>
            </a:r>
            <a:r>
              <a:rPr lang="zh-CN" altLang="en-US" b="1" dirty="0" smtClean="0">
                <a:latin typeface="宋体" panose="02010600030101010101" pitchFamily="2" charset="-122"/>
              </a:rPr>
              <a:t>访问方式、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通道</a:t>
            </a:r>
            <a:r>
              <a:rPr lang="zh-CN" altLang="en-US" b="1" dirty="0" smtClean="0">
                <a:latin typeface="宋体" panose="02010600030101010101" pitchFamily="2" charset="-122"/>
              </a:rPr>
              <a:t>方式等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8" name="线形标注 2 37"/>
          <p:cNvSpPr/>
          <p:nvPr/>
        </p:nvSpPr>
        <p:spPr bwMode="auto">
          <a:xfrm>
            <a:off x="5993321" y="5954896"/>
            <a:ext cx="2650692" cy="289967"/>
          </a:xfrm>
          <a:prstGeom prst="borderCallout2">
            <a:avLst>
              <a:gd name="adj1" fmla="val -363"/>
              <a:gd name="adj2" fmla="val 80850"/>
              <a:gd name="adj3" fmla="val -92603"/>
              <a:gd name="adj4" fmla="val 80872"/>
              <a:gd name="adj5" fmla="val -202620"/>
              <a:gd name="adj6" fmla="val 34536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不需要等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一</a:t>
            </a:r>
            <a:r>
              <a:rPr lang="zh-CN" altLang="en-US" sz="1600" b="1" dirty="0">
                <a:latin typeface="+mn-ea"/>
                <a:ea typeface="+mn-ea"/>
              </a:rPr>
              <a:t>松手就</a:t>
            </a:r>
            <a:r>
              <a:rPr lang="zh-CN" altLang="en-US" sz="1600" b="1" dirty="0" smtClean="0">
                <a:latin typeface="+mn-ea"/>
                <a:ea typeface="+mn-ea"/>
              </a:rPr>
              <a:t>吃完了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652115" y="5589239"/>
            <a:ext cx="831653" cy="648073"/>
            <a:chOff x="1796131" y="5661247"/>
            <a:chExt cx="831653" cy="648073"/>
          </a:xfrm>
        </p:grpSpPr>
        <p:sp>
          <p:nvSpPr>
            <p:cNvPr id="6" name="左大括号 5"/>
            <p:cNvSpPr/>
            <p:nvPr/>
          </p:nvSpPr>
          <p:spPr bwMode="auto">
            <a:xfrm>
              <a:off x="2555776" y="5661247"/>
              <a:ext cx="72008" cy="648073"/>
            </a:xfrm>
            <a:prstGeom prst="leftBrace">
              <a:avLst>
                <a:gd name="adj1" fmla="val 27532"/>
                <a:gd name="adj2" fmla="val 50000"/>
              </a:avLst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3" name="Text Box 80"/>
            <p:cNvSpPr txBox="1">
              <a:spLocks noChangeArrowheads="1"/>
            </p:cNvSpPr>
            <p:nvPr/>
          </p:nvSpPr>
          <p:spPr bwMode="auto">
            <a:xfrm>
              <a:off x="1796131" y="5733256"/>
              <a:ext cx="759645" cy="505346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需要硬件支持</a:t>
              </a:r>
              <a:endParaRPr lang="zh-CN" altLang="en-US" sz="1600" b="1" dirty="0"/>
            </a:p>
          </p:txBody>
        </p:sp>
      </p:grpSp>
      <p:sp>
        <p:nvSpPr>
          <p:cNvPr id="36" name="Text Box 47"/>
          <p:cNvSpPr txBox="1">
            <a:spLocks noChangeArrowheads="1"/>
          </p:cNvSpPr>
          <p:nvPr/>
        </p:nvSpPr>
        <p:spPr bwMode="auto">
          <a:xfrm>
            <a:off x="899592" y="2708920"/>
            <a:ext cx="8196263" cy="16312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①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拿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一颗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糖，</a:t>
            </a:r>
            <a:r>
              <a:rPr lang="zh-CN" altLang="en-US" sz="2000" b="1" u="sng" spc="-10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孩子，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看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着他，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等到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吃</a:t>
            </a:r>
            <a:r>
              <a:rPr lang="zh-CN" altLang="en-US" sz="2000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完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时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…(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下颗糖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spc="-100" dirty="0" smtClean="0">
                <a:latin typeface="宋体" panose="02010600030101010101" pitchFamily="2" charset="-122"/>
              </a:rPr>
              <a:t>；下个孩子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…</a:t>
            </a:r>
            <a:endParaRPr lang="en-US" altLang="zh-CN" sz="20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②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拿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一颗糖，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孩子，</a:t>
            </a:r>
            <a:r>
              <a:rPr lang="zh-CN" altLang="en-US" sz="2000" b="1" u="sng" spc="-10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00" dirty="0">
                <a:solidFill>
                  <a:srgbClr val="C00000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下颗糖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)</a:t>
            </a:r>
            <a:r>
              <a:rPr lang="zh-CN" altLang="en-US" sz="2000" b="1" spc="-100" dirty="0">
                <a:latin typeface="宋体" panose="02010600030101010101" pitchFamily="2" charset="-122"/>
              </a:rPr>
              <a:t>；下个</a:t>
            </a:r>
            <a:r>
              <a:rPr lang="zh-CN" altLang="en-US" sz="2000" b="1" spc="-100" dirty="0"/>
              <a:t>孩子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…</a:t>
            </a:r>
            <a:endParaRPr lang="zh-CN" altLang="en-US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③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告诉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孩子吃糖规则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(4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颗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u="sng" spc="-120" dirty="0">
                <a:latin typeface="宋体" panose="02010600030101010101" pitchFamily="2" charset="-122"/>
              </a:rPr>
              <a:t>自己拿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…)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2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C00000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2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下个孩子</a:t>
            </a:r>
            <a:r>
              <a:rPr lang="en-US" altLang="zh-CN" sz="2000" b="1" spc="-120" dirty="0" smtClean="0">
                <a:latin typeface="宋体" panose="02010600030101010101" pitchFamily="2" charset="-122"/>
              </a:rPr>
              <a:t>)</a:t>
            </a:r>
            <a:endParaRPr lang="en-US" altLang="zh-CN" sz="2000" b="1" spc="-12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④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写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吃糖规则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名单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/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要求，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给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班长，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改</a:t>
            </a:r>
            <a:r>
              <a:rPr lang="zh-CN" altLang="en-US" sz="2000" b="1" spc="-120" dirty="0">
                <a:solidFill>
                  <a:srgbClr val="0070C0"/>
                </a:solidFill>
                <a:latin typeface="宋体" panose="02010600030101010101" pitchFamily="2" charset="-122"/>
              </a:rPr>
              <a:t>作业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，</a:t>
            </a:r>
            <a:r>
              <a:rPr lang="zh-CN" altLang="en-US" sz="2000" b="1" u="sng" spc="-120" dirty="0">
                <a:solidFill>
                  <a:srgbClr val="FF3399"/>
                </a:solidFill>
                <a:latin typeface="宋体" panose="02010600030101010101" pitchFamily="2" charset="-122"/>
              </a:rPr>
              <a:t>听到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他</a:t>
            </a:r>
            <a:r>
              <a:rPr lang="zh-CN" altLang="en-US" sz="2000" b="1" spc="-120" dirty="0">
                <a:solidFill>
                  <a:srgbClr val="990099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时</a:t>
            </a:r>
            <a:r>
              <a:rPr lang="en-US" altLang="zh-CN" sz="2000" b="1" spc="-120" dirty="0">
                <a:latin typeface="宋体" panose="02010600030101010101" pitchFamily="2" charset="-122"/>
              </a:rPr>
              <a:t>…(</a:t>
            </a:r>
            <a:r>
              <a:rPr lang="zh-CN" altLang="en-US" sz="2000" b="1" spc="-120" dirty="0">
                <a:latin typeface="宋体" panose="02010600030101010101" pitchFamily="2" charset="-122"/>
              </a:rPr>
              <a:t>结束</a:t>
            </a:r>
            <a:r>
              <a:rPr lang="en-US" altLang="zh-CN" sz="2000" b="1" spc="-120" dirty="0" smtClean="0">
                <a:latin typeface="宋体" panose="02010600030101010101" pitchFamily="2" charset="-122"/>
              </a:rPr>
              <a:t>)</a:t>
            </a:r>
            <a:endParaRPr lang="zh-CN" altLang="en-US" sz="2000" b="1" spc="-120" dirty="0">
              <a:latin typeface="宋体" panose="02010600030101010101" pitchFamily="2" charset="-122"/>
            </a:endParaRPr>
          </a:p>
        </p:txBody>
      </p:sp>
      <p:sp>
        <p:nvSpPr>
          <p:cNvPr id="72" name="AutoShape 121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30"/>
          <p:cNvSpPr>
            <a:spLocks noChangeArrowheads="1"/>
          </p:cNvSpPr>
          <p:nvPr/>
        </p:nvSpPr>
        <p:spPr bwMode="auto">
          <a:xfrm>
            <a:off x="3203912" y="2745064"/>
            <a:ext cx="576000" cy="792000"/>
          </a:xfrm>
          <a:prstGeom prst="rect">
            <a:avLst/>
          </a:prstGeom>
          <a:solidFill>
            <a:srgbClr val="CCCCFF">
              <a:alpha val="80000"/>
            </a:srgbClr>
          </a:solidFill>
          <a:ln w="12700">
            <a:solidFill>
              <a:srgbClr val="00B0F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5"/>
          <p:cNvSpPr txBox="1">
            <a:spLocks noChangeArrowheads="1"/>
          </p:cNvSpPr>
          <p:nvPr/>
        </p:nvSpPr>
        <p:spPr bwMode="auto">
          <a:xfrm>
            <a:off x="179326" y="2167696"/>
            <a:ext cx="5832772" cy="43242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程序查询方式：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又称轮询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200" dirty="0" smtClean="0">
                <a:latin typeface="+mn-lt"/>
              </a:rPr>
              <a:t>Polling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方式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传送控制原理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直接传送方式：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控制原理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40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程序直接控制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方式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程序控制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en-US" altLang="zh-CN" b="1" dirty="0" smtClean="0">
                <a:latin typeface="宋体" panose="02010600030101010101" pitchFamily="2" charset="-122"/>
              </a:rPr>
              <a:t>CPU-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外设间、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个数据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次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←适于</a:t>
            </a:r>
            <a:r>
              <a:rPr lang="zh-CN" altLang="en-US" sz="1800" b="1" dirty="0">
                <a:latin typeface="宋体" panose="02010600030101010101" pitchFamily="2" charset="-122"/>
              </a:rPr>
              <a:t>字符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设备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执行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产生总线操作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类型：</a:t>
            </a:r>
            <a:r>
              <a:rPr lang="zh-CN" altLang="en-US" b="1" dirty="0">
                <a:latin typeface="宋体" panose="02010600030101010101" pitchFamily="2" charset="-122"/>
              </a:rPr>
              <a:t>程序</a:t>
            </a:r>
            <a:r>
              <a:rPr lang="zh-CN" altLang="en-US" b="1" dirty="0" smtClean="0">
                <a:latin typeface="宋体" panose="02010600030101010101" pitchFamily="2" charset="-122"/>
              </a:rPr>
              <a:t>查询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～条件传送设备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latin typeface="宋体" panose="02010600030101010101" pitchFamily="2" charset="-122"/>
              </a:rPr>
              <a:t>直接</a:t>
            </a:r>
            <a:r>
              <a:rPr lang="zh-CN" altLang="en-US" b="1" dirty="0" smtClean="0">
                <a:latin typeface="宋体" panose="02010600030101010101" pitchFamily="2" charset="-122"/>
              </a:rPr>
              <a:t>传送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～无条件传送设备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3059708" y="2629361"/>
            <a:ext cx="5616748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设备后，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不断地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b="1" dirty="0" smtClean="0">
                <a:latin typeface="宋体" panose="02010600030101010101" pitchFamily="2" charset="-122"/>
              </a:rPr>
              <a:t>设备</a:t>
            </a:r>
            <a:r>
              <a:rPr lang="zh-CN" altLang="en-US" b="1" dirty="0">
                <a:latin typeface="宋体" panose="02010600030101010101" pitchFamily="2" charset="-122"/>
              </a:rPr>
              <a:t>状态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设备准备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b="1" dirty="0" smtClean="0">
                <a:latin typeface="宋体" panose="02010600030101010101" pitchFamily="2" charset="-122"/>
              </a:rPr>
              <a:t>时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才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>
                <a:latin typeface="宋体" panose="02010600030101010101" pitchFamily="2" charset="-122"/>
              </a:rPr>
              <a:t>数据</a:t>
            </a:r>
            <a:endParaRPr lang="zh-CN" altLang="en-US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2267743" y="5445224"/>
            <a:ext cx="6624737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 CPU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随时</a:t>
            </a:r>
            <a:r>
              <a:rPr lang="zh-CN" altLang="en-US" b="1" dirty="0" smtClean="0">
                <a:latin typeface="宋体" panose="02010600030101010101" pitchFamily="2" charset="-122"/>
              </a:rPr>
              <a:t>可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 smtClean="0">
                <a:latin typeface="宋体" panose="02010600030101010101" pitchFamily="2" charset="-122"/>
              </a:rPr>
              <a:t>数据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启动及查询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3048000" indent="-3048000"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个指令周期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43" name="Text Box 5"/>
          <p:cNvSpPr txBox="1">
            <a:spLocks noChangeArrowheads="1"/>
          </p:cNvSpPr>
          <p:nvPr/>
        </p:nvSpPr>
        <p:spPr bwMode="auto">
          <a:xfrm>
            <a:off x="2339752" y="4437112"/>
            <a:ext cx="5544616" cy="8171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latin typeface="宋体" panose="02010600030101010101" pitchFamily="2" charset="-122"/>
              </a:rPr>
              <a:t>m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个指令周期</a:t>
            </a:r>
            <a:r>
              <a:rPr lang="en-US" altLang="zh-CN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，</a:t>
            </a:r>
            <a:r>
              <a:rPr lang="en-US" altLang="zh-CN" b="1" spc="-100" dirty="0">
                <a:latin typeface="宋体" panose="02010600030101010101" pitchFamily="2" charset="-122"/>
              </a:rPr>
              <a:t>CPU</a:t>
            </a:r>
            <a:r>
              <a:rPr lang="zh-CN" altLang="en-US" b="1" spc="-100" dirty="0">
                <a:latin typeface="宋体" panose="02010600030101010101" pitchFamily="2" charset="-122"/>
              </a:rPr>
              <a:t>与外设</a:t>
            </a:r>
            <a:r>
              <a:rPr lang="zh-CN" altLang="en-US" b="1" u="sng" spc="-100" dirty="0">
                <a:solidFill>
                  <a:srgbClr val="CC3300"/>
                </a:solidFill>
                <a:latin typeface="宋体" panose="02010600030101010101" pitchFamily="2" charset="-122"/>
              </a:rPr>
              <a:t>串行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工作</a:t>
            </a: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└─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＝开始启动→传送完成的时延</a:t>
            </a:r>
            <a:endParaRPr lang="en-US" altLang="zh-CN" sz="1600" b="1" dirty="0" smtClean="0">
              <a:latin typeface="宋体" panose="02010600030101010101" pitchFamily="2" charset="-122"/>
            </a:endParaRPr>
          </a:p>
        </p:txBody>
      </p:sp>
      <p:sp>
        <p:nvSpPr>
          <p:cNvPr id="78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1" name="组合 80"/>
          <p:cNvGrpSpPr/>
          <p:nvPr/>
        </p:nvGrpSpPr>
        <p:grpSpPr>
          <a:xfrm>
            <a:off x="1115616" y="3610184"/>
            <a:ext cx="7848872" cy="792088"/>
            <a:chOff x="1115616" y="3429000"/>
            <a:chExt cx="7848872" cy="792088"/>
          </a:xfrm>
        </p:grpSpPr>
        <p:sp>
          <p:nvSpPr>
            <p:cNvPr id="44" name="Text Box 15"/>
            <p:cNvSpPr txBox="1">
              <a:spLocks noChangeArrowheads="1"/>
            </p:cNvSpPr>
            <p:nvPr/>
          </p:nvSpPr>
          <p:spPr bwMode="auto">
            <a:xfrm>
              <a:off x="1691680" y="3429001"/>
              <a:ext cx="1584177" cy="28803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OUT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5364086" y="3429000"/>
              <a:ext cx="1728194" cy="28803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IN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=1)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17"/>
            <p:cNvSpPr txBox="1">
              <a:spLocks noChangeArrowheads="1"/>
            </p:cNvSpPr>
            <p:nvPr/>
          </p:nvSpPr>
          <p:spPr bwMode="auto">
            <a:xfrm>
              <a:off x="5005313" y="3429000"/>
              <a:ext cx="358775" cy="2880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7092280" y="3429000"/>
              <a:ext cx="1872208" cy="28803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IN/OUT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17"/>
            <p:cNvSpPr txBox="1">
              <a:spLocks noChangeArrowheads="1"/>
            </p:cNvSpPr>
            <p:nvPr/>
          </p:nvSpPr>
          <p:spPr bwMode="auto">
            <a:xfrm>
              <a:off x="1115616" y="3429000"/>
              <a:ext cx="576064" cy="2880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CPU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60" name="Text Box 107"/>
            <p:cNvSpPr txBox="1">
              <a:spLocks noChangeArrowheads="1"/>
            </p:cNvSpPr>
            <p:nvPr/>
          </p:nvSpPr>
          <p:spPr bwMode="auto">
            <a:xfrm>
              <a:off x="2627784" y="3933057"/>
              <a:ext cx="4464495" cy="288031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准备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1" name="直接箭头连接符 60"/>
            <p:cNvCxnSpPr/>
            <p:nvPr/>
          </p:nvCxnSpPr>
          <p:spPr bwMode="auto">
            <a:xfrm>
              <a:off x="2627784" y="3717032"/>
              <a:ext cx="1" cy="216025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62" name="Text Box 17"/>
            <p:cNvSpPr txBox="1">
              <a:spLocks noChangeArrowheads="1"/>
            </p:cNvSpPr>
            <p:nvPr/>
          </p:nvSpPr>
          <p:spPr bwMode="auto">
            <a:xfrm>
              <a:off x="1115616" y="3933055"/>
              <a:ext cx="1368152" cy="28803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2000" b="1" dirty="0" smtClean="0">
                  <a:latin typeface="+mn-ea"/>
                  <a:ea typeface="+mn-ea"/>
                </a:rPr>
                <a:t>外设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接口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63" name="Text Box 107"/>
            <p:cNvSpPr txBox="1">
              <a:spLocks noChangeArrowheads="1"/>
            </p:cNvSpPr>
            <p:nvPr/>
          </p:nvSpPr>
          <p:spPr bwMode="auto">
            <a:xfrm>
              <a:off x="7092281" y="3933057"/>
              <a:ext cx="1008111" cy="288031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0" name="直接箭头连接符 69"/>
            <p:cNvCxnSpPr/>
            <p:nvPr/>
          </p:nvCxnSpPr>
          <p:spPr bwMode="auto">
            <a:xfrm flipV="1">
              <a:off x="7596336" y="3717034"/>
              <a:ext cx="0" cy="216023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arrow" w="med" len="sm"/>
              <a:tailEnd type="arrow" w="med" len="sm"/>
            </a:ln>
          </p:spPr>
        </p:cxnSp>
        <p:sp>
          <p:nvSpPr>
            <p:cNvPr id="75" name="Text Box 15"/>
            <p:cNvSpPr txBox="1">
              <a:spLocks noChangeArrowheads="1"/>
            </p:cNvSpPr>
            <p:nvPr/>
          </p:nvSpPr>
          <p:spPr bwMode="auto">
            <a:xfrm>
              <a:off x="3275856" y="3429000"/>
              <a:ext cx="1728194" cy="28803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IN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=0)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78"/>
            <p:cNvCxnSpPr/>
            <p:nvPr/>
          </p:nvCxnSpPr>
          <p:spPr bwMode="auto">
            <a:xfrm flipV="1">
              <a:off x="4572000" y="3717032"/>
              <a:ext cx="0" cy="216023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80" name="直接箭头连接符 79"/>
            <p:cNvCxnSpPr/>
            <p:nvPr/>
          </p:nvCxnSpPr>
          <p:spPr bwMode="auto">
            <a:xfrm flipV="1">
              <a:off x="6660232" y="3717032"/>
              <a:ext cx="0" cy="216023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  <p:sp>
        <p:nvSpPr>
          <p:cNvPr id="23" name="AutoShape 12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10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8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3" name="AutoShape 69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5" grpId="0"/>
      <p:bldP spid="41" grpId="0"/>
      <p:bldP spid="4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 5"/>
          <p:cNvSpPr txBox="1">
            <a:spLocks noChangeArrowheads="1"/>
          </p:cNvSpPr>
          <p:nvPr/>
        </p:nvSpPr>
        <p:spPr bwMode="auto">
          <a:xfrm>
            <a:off x="179389" y="1731580"/>
            <a:ext cx="3096467" cy="36379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传送控制原理：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0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0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1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Rectangle 130"/>
          <p:cNvSpPr>
            <a:spLocks noChangeArrowheads="1"/>
          </p:cNvSpPr>
          <p:nvPr/>
        </p:nvSpPr>
        <p:spPr bwMode="auto">
          <a:xfrm>
            <a:off x="2771740" y="1880968"/>
            <a:ext cx="576000" cy="1187992"/>
          </a:xfrm>
          <a:prstGeom prst="rect">
            <a:avLst/>
          </a:prstGeom>
          <a:solidFill>
            <a:srgbClr val="CCCCFF">
              <a:alpha val="80000"/>
            </a:srgbClr>
          </a:solidFill>
          <a:ln w="12700">
            <a:solidFill>
              <a:srgbClr val="00B0F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0"/>
          <p:cNvSpPr txBox="1">
            <a:spLocks noChangeArrowheads="1"/>
          </p:cNvSpPr>
          <p:nvPr/>
        </p:nvSpPr>
        <p:spPr bwMode="auto">
          <a:xfrm>
            <a:off x="179388" y="332656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、程序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中断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方式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中断驱动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+mn-lt"/>
              </a:rPr>
              <a:t>interrupt driven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)I/O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en-US" altLang="zh-CN" b="1" dirty="0" smtClean="0">
                <a:latin typeface="宋体" panose="02010600030101010101" pitchFamily="2" charset="-122"/>
              </a:rPr>
              <a:t>CPU-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外设间、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个数据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>
                <a:latin typeface="宋体" panose="02010600030101010101" pitchFamily="2" charset="-122"/>
              </a:rPr>
              <a:t>次 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←适于</a:t>
            </a:r>
            <a:r>
              <a:rPr lang="zh-CN" altLang="en-US" sz="1800" b="1" dirty="0">
                <a:latin typeface="宋体" panose="02010600030101010101" pitchFamily="2" charset="-122"/>
              </a:rPr>
              <a:t>字符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设备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执行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指令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产生总线</a:t>
            </a:r>
            <a:r>
              <a:rPr lang="zh-CN" altLang="en-US" sz="1800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4" name="Text Box 41"/>
          <p:cNvSpPr txBox="1">
            <a:spLocks noChangeArrowheads="1"/>
          </p:cNvSpPr>
          <p:nvPr/>
        </p:nvSpPr>
        <p:spPr bwMode="auto">
          <a:xfrm>
            <a:off x="2627660" y="1735648"/>
            <a:ext cx="6192812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设备后，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>
                <a:latin typeface="宋体" panose="02010600030101010101" pitchFamily="2" charset="-122"/>
              </a:rPr>
              <a:t>现行</a:t>
            </a:r>
            <a:r>
              <a:rPr lang="zh-CN" altLang="en-US" b="1" dirty="0" smtClean="0">
                <a:latin typeface="宋体" panose="02010600030101010101" pitchFamily="2" charset="-122"/>
              </a:rPr>
              <a:t>程序；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设备准备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b="1" dirty="0" smtClean="0">
                <a:latin typeface="宋体" panose="02010600030101010101" pitchFamily="2" charset="-122"/>
              </a:rPr>
              <a:t>时，向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b="1" dirty="0" smtClean="0">
                <a:latin typeface="宋体" panose="02010600030101010101" pitchFamily="2" charset="-122"/>
              </a:rPr>
              <a:t>请求</a:t>
            </a:r>
            <a:r>
              <a:rPr lang="zh-CN" altLang="en-US" b="1" dirty="0">
                <a:latin typeface="宋体" panose="02010600030101010101" pitchFamily="2" charset="-122"/>
              </a:rPr>
              <a:t>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请求，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 smtClean="0">
                <a:latin typeface="宋体" panose="02010600030101010101" pitchFamily="2" charset="-122"/>
              </a:rPr>
              <a:t>数据、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b="1" dirty="0" smtClean="0">
                <a:latin typeface="宋体" panose="02010600030101010101" pitchFamily="2" charset="-122"/>
              </a:rPr>
              <a:t>现行程序</a:t>
            </a:r>
            <a:endParaRPr lang="zh-CN" altLang="en-US" b="1" u="sng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895051" y="4797152"/>
            <a:ext cx="6493373" cy="8171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latin typeface="宋体" panose="02010600030101010101" pitchFamily="2" charset="-122"/>
              </a:rPr>
              <a:t>k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个指令周期</a:t>
            </a:r>
            <a:r>
              <a:rPr lang="en-US" altLang="zh-CN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，</a:t>
            </a:r>
            <a:r>
              <a:rPr lang="en-US" altLang="zh-CN" b="1" spc="-100" dirty="0">
                <a:latin typeface="宋体" panose="02010600030101010101" pitchFamily="2" charset="-122"/>
              </a:rPr>
              <a:t>CPU</a:t>
            </a:r>
            <a:r>
              <a:rPr lang="zh-CN" altLang="en-US" b="1" spc="-100" dirty="0">
                <a:latin typeface="宋体" panose="02010600030101010101" pitchFamily="2" charset="-122"/>
              </a:rPr>
              <a:t>与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外设</a:t>
            </a:r>
            <a:r>
              <a:rPr lang="zh-CN" altLang="en-US" b="1" u="sng" spc="-100" dirty="0" smtClean="0">
                <a:solidFill>
                  <a:srgbClr val="CC3300"/>
                </a:solidFill>
                <a:latin typeface="宋体" panose="02010600030101010101" pitchFamily="2" charset="-122"/>
              </a:rPr>
              <a:t>部分并行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工作</a:t>
            </a: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└─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中断响应＋中断服务程序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的时延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611558" y="3212976"/>
            <a:ext cx="8280922" cy="1440160"/>
            <a:chOff x="611558" y="3140968"/>
            <a:chExt cx="8280922" cy="1440160"/>
          </a:xfrm>
        </p:grpSpPr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1331639" y="3140969"/>
              <a:ext cx="1008113" cy="50405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OUT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2339752" y="3140969"/>
              <a:ext cx="1296144" cy="50405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当前程序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6588224" y="3140968"/>
              <a:ext cx="1008112" cy="50405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IRET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返回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" name="Text Box 17"/>
            <p:cNvSpPr txBox="1">
              <a:spLocks noChangeArrowheads="1"/>
            </p:cNvSpPr>
            <p:nvPr/>
          </p:nvSpPr>
          <p:spPr bwMode="auto">
            <a:xfrm>
              <a:off x="6156176" y="3212976"/>
              <a:ext cx="358775" cy="360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2000" b="1" dirty="0">
                  <a:latin typeface="+mn-ea"/>
                  <a:ea typeface="+mn-ea"/>
                </a:rPr>
                <a:t>…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2" name="Text Box 15"/>
            <p:cNvSpPr txBox="1">
              <a:spLocks noChangeArrowheads="1"/>
            </p:cNvSpPr>
            <p:nvPr/>
          </p:nvSpPr>
          <p:spPr bwMode="auto">
            <a:xfrm>
              <a:off x="4139952" y="3140968"/>
              <a:ext cx="1008113" cy="50405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IN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数据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611560" y="3429000"/>
              <a:ext cx="54802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CPU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5" name="Rectangle 138"/>
            <p:cNvSpPr>
              <a:spLocks noChangeArrowheads="1"/>
            </p:cNvSpPr>
            <p:nvPr/>
          </p:nvSpPr>
          <p:spPr bwMode="auto">
            <a:xfrm flipH="1">
              <a:off x="3635896" y="3645024"/>
              <a:ext cx="504056" cy="303905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wrap="none" lIns="18000" tIns="10800" rIns="18000" bIns="10800" anchor="ctr"/>
            <a:lstStyle/>
            <a:p>
              <a:r>
                <a:rPr lang="zh-CN" altLang="en-US" sz="1600" b="1" dirty="0" smtClean="0"/>
                <a:t>响应</a:t>
              </a:r>
              <a:endParaRPr lang="zh-CN" altLang="en-US" sz="1600" b="1" dirty="0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5148063" y="3140968"/>
              <a:ext cx="1008113" cy="504056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OUT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命令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5"/>
            <p:cNvSpPr txBox="1">
              <a:spLocks noChangeArrowheads="1"/>
            </p:cNvSpPr>
            <p:nvPr/>
          </p:nvSpPr>
          <p:spPr bwMode="auto">
            <a:xfrm>
              <a:off x="7596336" y="3140969"/>
              <a:ext cx="1296144" cy="50405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当前程序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2)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左大括号 20"/>
            <p:cNvSpPr/>
            <p:nvPr/>
          </p:nvSpPr>
          <p:spPr bwMode="auto">
            <a:xfrm rot="16200000">
              <a:off x="5844669" y="2069122"/>
              <a:ext cx="72007" cy="3287311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" name="Text Box 17"/>
            <p:cNvSpPr txBox="1">
              <a:spLocks noChangeArrowheads="1"/>
            </p:cNvSpPr>
            <p:nvPr/>
          </p:nvSpPr>
          <p:spPr bwMode="auto">
            <a:xfrm>
              <a:off x="5076056" y="3717032"/>
              <a:ext cx="1635510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中断服务程序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23" name="左大括号 22"/>
            <p:cNvSpPr/>
            <p:nvPr/>
          </p:nvSpPr>
          <p:spPr bwMode="auto">
            <a:xfrm>
              <a:off x="1187624" y="3140968"/>
              <a:ext cx="87944" cy="864096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" name="Text Box 107"/>
            <p:cNvSpPr txBox="1">
              <a:spLocks noChangeArrowheads="1"/>
            </p:cNvSpPr>
            <p:nvPr/>
          </p:nvSpPr>
          <p:spPr bwMode="auto">
            <a:xfrm>
              <a:off x="2123728" y="4221088"/>
              <a:ext cx="1512168" cy="36004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准备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箭头连接符 26"/>
            <p:cNvCxnSpPr/>
            <p:nvPr/>
          </p:nvCxnSpPr>
          <p:spPr bwMode="auto">
            <a:xfrm flipV="1">
              <a:off x="3635896" y="3948929"/>
              <a:ext cx="0" cy="272159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29" name="直接箭头连接符 28"/>
            <p:cNvCxnSpPr/>
            <p:nvPr/>
          </p:nvCxnSpPr>
          <p:spPr bwMode="auto">
            <a:xfrm>
              <a:off x="2123728" y="3645024"/>
              <a:ext cx="0" cy="576064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>
              <a:off x="611558" y="4221088"/>
              <a:ext cx="1296145" cy="3600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2000" b="1" dirty="0" smtClean="0">
                  <a:latin typeface="+mn-ea"/>
                  <a:ea typeface="+mn-ea"/>
                </a:rPr>
                <a:t>外设</a:t>
              </a:r>
              <a:r>
                <a:rPr lang="en-US" altLang="zh-CN" sz="2000" b="1" dirty="0" smtClean="0">
                  <a:latin typeface="+mn-ea"/>
                  <a:ea typeface="+mn-ea"/>
                </a:rPr>
                <a:t>(</a:t>
              </a:r>
              <a:r>
                <a:rPr lang="zh-CN" altLang="en-US" sz="2000" b="1" dirty="0" smtClean="0">
                  <a:latin typeface="+mn-ea"/>
                  <a:ea typeface="+mn-ea"/>
                </a:rPr>
                <a:t>接口</a:t>
              </a:r>
              <a:r>
                <a:rPr lang="en-US" altLang="zh-CN" sz="2000" b="1" dirty="0" smtClean="0">
                  <a:latin typeface="+mn-ea"/>
                  <a:ea typeface="+mn-ea"/>
                </a:rPr>
                <a:t>)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33" name="Text Box 107"/>
            <p:cNvSpPr txBox="1">
              <a:spLocks noChangeArrowheads="1"/>
            </p:cNvSpPr>
            <p:nvPr/>
          </p:nvSpPr>
          <p:spPr bwMode="auto">
            <a:xfrm>
              <a:off x="4139952" y="4221088"/>
              <a:ext cx="1008111" cy="36004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" name="直接箭头连接符 33"/>
            <p:cNvCxnSpPr/>
            <p:nvPr/>
          </p:nvCxnSpPr>
          <p:spPr bwMode="auto">
            <a:xfrm>
              <a:off x="5940152" y="4005064"/>
              <a:ext cx="0" cy="216024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 w="med" len="sm"/>
            </a:ln>
          </p:spPr>
        </p:cxnSp>
        <p:sp>
          <p:nvSpPr>
            <p:cNvPr id="36" name="Text Box 107"/>
            <p:cNvSpPr txBox="1">
              <a:spLocks noChangeArrowheads="1"/>
            </p:cNvSpPr>
            <p:nvPr/>
          </p:nvSpPr>
          <p:spPr bwMode="auto">
            <a:xfrm>
              <a:off x="5940152" y="4221088"/>
              <a:ext cx="1296144" cy="36004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准备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" name="直接箭头连接符 38"/>
            <p:cNvCxnSpPr/>
            <p:nvPr/>
          </p:nvCxnSpPr>
          <p:spPr bwMode="auto">
            <a:xfrm flipH="1" flipV="1">
              <a:off x="4716016" y="4005064"/>
              <a:ext cx="1" cy="216024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  <p:sp>
        <p:nvSpPr>
          <p:cNvPr id="47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603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5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4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37" name="Text Box 200"/>
          <p:cNvSpPr txBox="1">
            <a:spLocks noChangeArrowheads="1"/>
          </p:cNvSpPr>
          <p:nvPr/>
        </p:nvSpPr>
        <p:spPr bwMode="auto">
          <a:xfrm>
            <a:off x="1043608" y="5693186"/>
            <a:ext cx="7776864" cy="40011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2000" b="1" dirty="0" smtClean="0">
                <a:latin typeface="+mn-ea"/>
                <a:ea typeface="+mn-ea"/>
              </a:rPr>
              <a:t>上图执行</a:t>
            </a:r>
            <a:r>
              <a:rPr lang="en-US" altLang="zh-CN" sz="2000" b="1" dirty="0" smtClean="0">
                <a:latin typeface="+mn-ea"/>
                <a:ea typeface="+mn-ea"/>
              </a:rPr>
              <a:t>IN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指令</a:t>
            </a:r>
            <a:r>
              <a:rPr lang="zh-CN" altLang="en-US" sz="2000" b="1" dirty="0">
                <a:latin typeface="宋体" panose="02010600030101010101" pitchFamily="2" charset="-122"/>
              </a:rPr>
              <a:t>可</a:t>
            </a:r>
            <a:r>
              <a:rPr lang="zh-CN" altLang="en-US" sz="2000" b="1" u="sng" dirty="0">
                <a:latin typeface="宋体" panose="02010600030101010101" pitchFamily="2" charset="-122"/>
              </a:rPr>
              <a:t>立即读出</a:t>
            </a:r>
            <a:r>
              <a:rPr lang="zh-CN" altLang="en-US" sz="2000" b="1" dirty="0">
                <a:latin typeface="宋体" panose="02010600030101010101" pitchFamily="2" charset="-122"/>
              </a:rPr>
              <a:t>外设数据，数据</a:t>
            </a:r>
            <a:r>
              <a:rPr lang="zh-CN" altLang="en-US" sz="2000" b="1" u="sng" dirty="0">
                <a:latin typeface="宋体" panose="02010600030101010101" pitchFamily="2" charset="-122"/>
              </a:rPr>
              <a:t>预先存放</a:t>
            </a:r>
            <a:r>
              <a:rPr lang="zh-CN" altLang="en-US" sz="2000" b="1" dirty="0">
                <a:latin typeface="宋体" panose="02010600030101010101" pitchFamily="2" charset="-122"/>
              </a:rPr>
              <a:t>在哪里？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6" grpId="0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Box 5"/>
          <p:cNvSpPr txBox="1">
            <a:spLocks noChangeArrowheads="1"/>
          </p:cNvSpPr>
          <p:nvPr/>
        </p:nvSpPr>
        <p:spPr bwMode="auto">
          <a:xfrm>
            <a:off x="179389" y="1807305"/>
            <a:ext cx="3096467" cy="4247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传送控制原理：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sz="22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6" name="Rectangle 130"/>
          <p:cNvSpPr>
            <a:spLocks noChangeArrowheads="1"/>
          </p:cNvSpPr>
          <p:nvPr/>
        </p:nvSpPr>
        <p:spPr bwMode="auto">
          <a:xfrm>
            <a:off x="1206674" y="2386981"/>
            <a:ext cx="1080120" cy="1186036"/>
          </a:xfrm>
          <a:prstGeom prst="rect">
            <a:avLst/>
          </a:prstGeom>
          <a:solidFill>
            <a:srgbClr val="CCCCFF">
              <a:alpha val="80000"/>
            </a:srgbClr>
          </a:solidFill>
          <a:ln w="12700">
            <a:solidFill>
              <a:srgbClr val="00B0F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92"/>
          <p:cNvSpPr txBox="1">
            <a:spLocks noChangeArrowheads="1"/>
          </p:cNvSpPr>
          <p:nvPr/>
        </p:nvSpPr>
        <p:spPr bwMode="auto">
          <a:xfrm>
            <a:off x="179388" y="332656"/>
            <a:ext cx="8785225" cy="18004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直接存储器存取方式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--DMA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latin typeface="+mn-lt"/>
              </a:rPr>
              <a:t>Direct Memory Access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方式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dirty="0" smtClean="0">
                <a:latin typeface="宋体" panose="02010600030101010101" pitchFamily="2" charset="-122"/>
              </a:rPr>
              <a:t>主存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外设间、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批数据</a:t>
            </a:r>
            <a:r>
              <a:rPr lang="en-US" altLang="zh-CN" b="1" dirty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次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←适于块设备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传送的实现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DMA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latin typeface="宋体" panose="02010600030101010101" pitchFamily="2" charset="-122"/>
              </a:rPr>
              <a:t>产生总线操作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└←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一种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dirty="0">
                <a:latin typeface="宋体" panose="02010600030101010101" pitchFamily="2" charset="-122"/>
              </a:rPr>
              <a:t>接口，具有总线控制功能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主设备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4" name="Text Box 93"/>
          <p:cNvSpPr txBox="1">
            <a:spLocks noChangeArrowheads="1"/>
          </p:cNvSpPr>
          <p:nvPr/>
        </p:nvSpPr>
        <p:spPr bwMode="auto">
          <a:xfrm>
            <a:off x="179388" y="2239704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     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发送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需求、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设备后，继续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 smtClean="0">
                <a:latin typeface="宋体" panose="02010600030101010101" pitchFamily="2" charset="-122"/>
              </a:rPr>
              <a:t>现行程序；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  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数据传送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(1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批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结束</a:t>
            </a:r>
            <a:r>
              <a:rPr lang="zh-CN" altLang="en-US" b="1" dirty="0" smtClean="0">
                <a:latin typeface="宋体" panose="02010600030101010101" pitchFamily="2" charset="-122"/>
              </a:rPr>
              <a:t>时向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b="1" dirty="0" smtClean="0">
                <a:latin typeface="宋体" panose="02010600030101010101" pitchFamily="2" charset="-122"/>
              </a:rPr>
              <a:t>请求；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     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请求，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b="1" dirty="0" smtClean="0">
                <a:latin typeface="宋体" panose="02010600030101010101" pitchFamily="2" charset="-122"/>
              </a:rPr>
              <a:t>结束事宜、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b="1" dirty="0">
                <a:latin typeface="宋体" panose="02010600030101010101" pitchFamily="2" charset="-122"/>
              </a:rPr>
              <a:t>现行</a:t>
            </a:r>
            <a:r>
              <a:rPr lang="zh-CN" altLang="en-US" b="1" dirty="0" smtClean="0">
                <a:latin typeface="宋体" panose="02010600030101010101" pitchFamily="2" charset="-122"/>
              </a:rPr>
              <a:t>程序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0" name="Text Box 5"/>
          <p:cNvSpPr txBox="1">
            <a:spLocks noChangeArrowheads="1"/>
          </p:cNvSpPr>
          <p:nvPr/>
        </p:nvSpPr>
        <p:spPr bwMode="auto">
          <a:xfrm>
            <a:off x="1979712" y="5445224"/>
            <a:ext cx="6840760" cy="8171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latin typeface="宋体" panose="02010600030101010101" pitchFamily="2" charset="-122"/>
              </a:rPr>
              <a:t>n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个指令周期</a:t>
            </a:r>
            <a:r>
              <a:rPr lang="en-US" altLang="zh-CN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批数据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，</a:t>
            </a:r>
            <a:r>
              <a:rPr lang="en-US" altLang="zh-CN" b="1" spc="-100" dirty="0">
                <a:latin typeface="宋体" panose="02010600030101010101" pitchFamily="2" charset="-122"/>
              </a:rPr>
              <a:t>CPU</a:t>
            </a:r>
            <a:r>
              <a:rPr lang="zh-CN" altLang="en-US" b="1" spc="-100" dirty="0">
                <a:latin typeface="宋体" panose="02010600030101010101" pitchFamily="2" charset="-122"/>
              </a:rPr>
              <a:t>与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外设</a:t>
            </a:r>
            <a:r>
              <a:rPr lang="zh-CN" altLang="en-US" b="1" u="sng" spc="-100" dirty="0" smtClean="0">
                <a:solidFill>
                  <a:srgbClr val="CC3300"/>
                </a:solidFill>
                <a:latin typeface="宋体" panose="02010600030101010101" pitchFamily="2" charset="-122"/>
              </a:rPr>
              <a:t>可并行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工作</a:t>
            </a: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95000"/>
              </a:lnSpc>
            </a:pPr>
            <a:r>
              <a:rPr lang="zh-CN" altLang="en-US" sz="1800" dirty="0" smtClean="0">
                <a:latin typeface="宋体" panose="02010600030101010101" pitchFamily="2" charset="-122"/>
              </a:rPr>
              <a:t> └─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传送准备＋结束处理＋中断响应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的时延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71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758" y="65251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2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AutoShape 121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4" name="线形标注 2 43"/>
          <p:cNvSpPr/>
          <p:nvPr/>
        </p:nvSpPr>
        <p:spPr bwMode="auto">
          <a:xfrm>
            <a:off x="6431655" y="1268760"/>
            <a:ext cx="1332000" cy="252000"/>
          </a:xfrm>
          <a:prstGeom prst="borderCallout2">
            <a:avLst>
              <a:gd name="adj1" fmla="val 55521"/>
              <a:gd name="adj2" fmla="val -311"/>
              <a:gd name="adj3" fmla="val 53928"/>
              <a:gd name="adj4" fmla="val -10094"/>
              <a:gd name="adj5" fmla="val -11910"/>
              <a:gd name="adj6" fmla="val -135643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批＝几千个</a:t>
            </a:r>
            <a:endParaRPr lang="zh-CN" altLang="en-US" sz="1600" b="1" dirty="0">
              <a:latin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79511" y="3717032"/>
            <a:ext cx="8784977" cy="1656184"/>
            <a:chOff x="179511" y="3789040"/>
            <a:chExt cx="8784977" cy="1656184"/>
          </a:xfrm>
        </p:grpSpPr>
        <p:sp>
          <p:nvSpPr>
            <p:cNvPr id="8" name="Text Box 15"/>
            <p:cNvSpPr txBox="1">
              <a:spLocks noChangeArrowheads="1"/>
            </p:cNvSpPr>
            <p:nvPr/>
          </p:nvSpPr>
          <p:spPr bwMode="auto">
            <a:xfrm>
              <a:off x="1151621" y="3789041"/>
              <a:ext cx="2052228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OUT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指令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传送准备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" name="Text Box 15"/>
            <p:cNvSpPr txBox="1">
              <a:spLocks noChangeArrowheads="1"/>
            </p:cNvSpPr>
            <p:nvPr/>
          </p:nvSpPr>
          <p:spPr bwMode="auto">
            <a:xfrm>
              <a:off x="3203848" y="3789041"/>
              <a:ext cx="2232248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1)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" name="Text Box 15"/>
            <p:cNvSpPr txBox="1">
              <a:spLocks noChangeArrowheads="1"/>
            </p:cNvSpPr>
            <p:nvPr/>
          </p:nvSpPr>
          <p:spPr bwMode="auto">
            <a:xfrm>
              <a:off x="5940152" y="3789040"/>
              <a:ext cx="1512168" cy="288032"/>
            </a:xfrm>
            <a:prstGeom prst="rect">
              <a:avLst/>
            </a:prstGeom>
            <a:solidFill>
              <a:srgbClr val="CC99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结束处理程序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7"/>
            <p:cNvSpPr txBox="1">
              <a:spLocks noChangeArrowheads="1"/>
            </p:cNvSpPr>
            <p:nvPr/>
          </p:nvSpPr>
          <p:spPr bwMode="auto">
            <a:xfrm>
              <a:off x="611560" y="3789040"/>
              <a:ext cx="540061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CPU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14" name="Rectangle 138"/>
            <p:cNvSpPr>
              <a:spLocks noChangeArrowheads="1"/>
            </p:cNvSpPr>
            <p:nvPr/>
          </p:nvSpPr>
          <p:spPr bwMode="auto">
            <a:xfrm flipH="1">
              <a:off x="5436096" y="4005063"/>
              <a:ext cx="504056" cy="216025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horz" wrap="none" lIns="18000" tIns="10800" rIns="18000" bIns="10800" anchor="ctr"/>
            <a:lstStyle/>
            <a:p>
              <a:r>
                <a:rPr lang="zh-CN" altLang="en-US" sz="1600" b="1" dirty="0" smtClean="0"/>
                <a:t>响应</a:t>
              </a:r>
              <a:endParaRPr lang="zh-CN" altLang="en-US" sz="1600" b="1" dirty="0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7452320" y="3789041"/>
              <a:ext cx="1512168" cy="2880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当前程序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续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2)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107"/>
            <p:cNvSpPr txBox="1">
              <a:spLocks noChangeArrowheads="1"/>
            </p:cNvSpPr>
            <p:nvPr/>
          </p:nvSpPr>
          <p:spPr bwMode="auto">
            <a:xfrm>
              <a:off x="2195736" y="4725144"/>
              <a:ext cx="1008112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接收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需求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/>
          </p:nvCxnSpPr>
          <p:spPr bwMode="auto">
            <a:xfrm flipV="1">
              <a:off x="5436096" y="4221088"/>
              <a:ext cx="2" cy="504056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22" name="直接箭头连接符 21"/>
            <p:cNvCxnSpPr/>
            <p:nvPr/>
          </p:nvCxnSpPr>
          <p:spPr bwMode="auto">
            <a:xfrm>
              <a:off x="2195736" y="4077072"/>
              <a:ext cx="0" cy="648072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179511" y="4725144"/>
              <a:ext cx="936105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en-US" altLang="zh-CN" sz="2000" b="1" dirty="0" smtClean="0">
                  <a:latin typeface="+mn-ea"/>
                  <a:ea typeface="+mn-ea"/>
                </a:rPr>
                <a:t>DMA</a:t>
              </a:r>
              <a:r>
                <a:rPr lang="zh-CN" altLang="en-US" sz="2000" b="1" dirty="0" smtClean="0">
                  <a:latin typeface="+mn-ea"/>
                  <a:ea typeface="+mn-ea"/>
                </a:rPr>
                <a:t>接口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24" name="Text Box 107"/>
            <p:cNvSpPr txBox="1">
              <a:spLocks noChangeArrowheads="1"/>
            </p:cNvSpPr>
            <p:nvPr/>
          </p:nvSpPr>
          <p:spPr bwMode="auto">
            <a:xfrm>
              <a:off x="2771799" y="5157192"/>
              <a:ext cx="576065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准备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107"/>
            <p:cNvSpPr txBox="1">
              <a:spLocks noChangeArrowheads="1"/>
            </p:cNvSpPr>
            <p:nvPr/>
          </p:nvSpPr>
          <p:spPr bwMode="auto">
            <a:xfrm>
              <a:off x="3203848" y="4725144"/>
              <a:ext cx="2232250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控制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107"/>
            <p:cNvSpPr txBox="1">
              <a:spLocks noChangeArrowheads="1"/>
            </p:cNvSpPr>
            <p:nvPr/>
          </p:nvSpPr>
          <p:spPr bwMode="auto">
            <a:xfrm>
              <a:off x="3347864" y="5157192"/>
              <a:ext cx="576065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07"/>
            <p:cNvSpPr txBox="1">
              <a:spLocks noChangeArrowheads="1"/>
            </p:cNvSpPr>
            <p:nvPr/>
          </p:nvSpPr>
          <p:spPr bwMode="auto">
            <a:xfrm>
              <a:off x="4283968" y="5157192"/>
              <a:ext cx="576065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准备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0" name="Text Box 107"/>
            <p:cNvSpPr txBox="1">
              <a:spLocks noChangeArrowheads="1"/>
            </p:cNvSpPr>
            <p:nvPr/>
          </p:nvSpPr>
          <p:spPr bwMode="auto">
            <a:xfrm>
              <a:off x="4860033" y="5157192"/>
              <a:ext cx="576065" cy="28803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1" name="Text Box 17"/>
            <p:cNvSpPr txBox="1">
              <a:spLocks noChangeArrowheads="1"/>
            </p:cNvSpPr>
            <p:nvPr/>
          </p:nvSpPr>
          <p:spPr bwMode="auto">
            <a:xfrm>
              <a:off x="3923928" y="5157192"/>
              <a:ext cx="358775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43" name="直接箭头连接符 42"/>
            <p:cNvCxnSpPr/>
            <p:nvPr/>
          </p:nvCxnSpPr>
          <p:spPr bwMode="auto">
            <a:xfrm>
              <a:off x="2771800" y="5013176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45" name="直接箭头连接符 44"/>
            <p:cNvCxnSpPr/>
            <p:nvPr/>
          </p:nvCxnSpPr>
          <p:spPr bwMode="auto">
            <a:xfrm flipH="1" flipV="1">
              <a:off x="3635896" y="5013176"/>
              <a:ext cx="2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46" name="Text Box 17"/>
            <p:cNvSpPr txBox="1">
              <a:spLocks noChangeArrowheads="1"/>
            </p:cNvSpPr>
            <p:nvPr/>
          </p:nvSpPr>
          <p:spPr bwMode="auto">
            <a:xfrm>
              <a:off x="539552" y="4293096"/>
              <a:ext cx="576064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2000" b="1" dirty="0" smtClean="0">
                  <a:latin typeface="+mn-ea"/>
                  <a:ea typeface="+mn-ea"/>
                </a:rPr>
                <a:t>主存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sp>
          <p:nvSpPr>
            <p:cNvPr id="47" name="Text Box 107"/>
            <p:cNvSpPr txBox="1">
              <a:spLocks noChangeArrowheads="1"/>
            </p:cNvSpPr>
            <p:nvPr/>
          </p:nvSpPr>
          <p:spPr bwMode="auto">
            <a:xfrm>
              <a:off x="3347864" y="4293096"/>
              <a:ext cx="699286" cy="28803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17"/>
            <p:cNvSpPr txBox="1">
              <a:spLocks noChangeArrowheads="1"/>
            </p:cNvSpPr>
            <p:nvPr/>
          </p:nvSpPr>
          <p:spPr bwMode="auto">
            <a:xfrm>
              <a:off x="539552" y="5157192"/>
              <a:ext cx="576064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2000" b="1" dirty="0" smtClean="0">
                  <a:latin typeface="+mn-ea"/>
                  <a:ea typeface="+mn-ea"/>
                </a:rPr>
                <a:t>外设</a:t>
              </a:r>
              <a:endParaRPr lang="en-US" altLang="zh-CN" sz="2000" b="1" dirty="0">
                <a:latin typeface="+mn-ea"/>
                <a:ea typeface="+mn-ea"/>
              </a:endParaRPr>
            </a:p>
          </p:txBody>
        </p:sp>
        <p:cxnSp>
          <p:nvCxnSpPr>
            <p:cNvPr id="55" name="直接箭头连接符 54"/>
            <p:cNvCxnSpPr/>
            <p:nvPr/>
          </p:nvCxnSpPr>
          <p:spPr bwMode="auto">
            <a:xfrm flipH="1" flipV="1">
              <a:off x="3635896" y="4581128"/>
              <a:ext cx="2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56" name="直接箭头连接符 55"/>
            <p:cNvCxnSpPr/>
            <p:nvPr/>
          </p:nvCxnSpPr>
          <p:spPr bwMode="auto">
            <a:xfrm>
              <a:off x="4283968" y="5013176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cxnSp>
          <p:nvCxnSpPr>
            <p:cNvPr id="57" name="直接箭头连接符 56"/>
            <p:cNvCxnSpPr/>
            <p:nvPr/>
          </p:nvCxnSpPr>
          <p:spPr bwMode="auto">
            <a:xfrm flipH="1" flipV="1">
              <a:off x="5096850" y="5013176"/>
              <a:ext cx="2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58" name="Text Box 107"/>
            <p:cNvSpPr txBox="1">
              <a:spLocks noChangeArrowheads="1"/>
            </p:cNvSpPr>
            <p:nvPr/>
          </p:nvSpPr>
          <p:spPr bwMode="auto">
            <a:xfrm>
              <a:off x="4664802" y="4293096"/>
              <a:ext cx="699286" cy="28803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数据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s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箭头连接符 58"/>
            <p:cNvCxnSpPr/>
            <p:nvPr/>
          </p:nvCxnSpPr>
          <p:spPr bwMode="auto">
            <a:xfrm flipH="1" flipV="1">
              <a:off x="5096850" y="4581128"/>
              <a:ext cx="2" cy="144016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  <p:sp>
          <p:nvSpPr>
            <p:cNvPr id="63" name="Text Box 17"/>
            <p:cNvSpPr txBox="1">
              <a:spLocks noChangeArrowheads="1"/>
            </p:cNvSpPr>
            <p:nvPr/>
          </p:nvSpPr>
          <p:spPr bwMode="auto">
            <a:xfrm>
              <a:off x="4076328" y="4293096"/>
              <a:ext cx="358775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66" name="左大括号 65"/>
            <p:cNvSpPr/>
            <p:nvPr/>
          </p:nvSpPr>
          <p:spPr bwMode="auto">
            <a:xfrm rot="16200000">
              <a:off x="6669344" y="3410924"/>
              <a:ext cx="72007" cy="1440160"/>
            </a:xfrm>
            <a:prstGeom prst="leftBrace">
              <a:avLst>
                <a:gd name="adj1" fmla="val 3184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7" name="Text Box 17"/>
            <p:cNvSpPr txBox="1">
              <a:spLocks noChangeArrowheads="1"/>
            </p:cNvSpPr>
            <p:nvPr/>
          </p:nvSpPr>
          <p:spPr bwMode="auto">
            <a:xfrm>
              <a:off x="6084168" y="4149080"/>
              <a:ext cx="1296144" cy="24777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r>
                <a:rPr lang="zh-CN" altLang="en-US" sz="1600" b="1" dirty="0" smtClean="0">
                  <a:latin typeface="+mn-ea"/>
                  <a:ea typeface="+mn-ea"/>
                </a:rPr>
                <a:t>中断服务程序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51" name="直接箭头连接符 50"/>
            <p:cNvCxnSpPr/>
            <p:nvPr/>
          </p:nvCxnSpPr>
          <p:spPr bwMode="auto">
            <a:xfrm>
              <a:off x="2771800" y="4077072"/>
              <a:ext cx="0" cy="648072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med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Box 5"/>
          <p:cNvSpPr txBox="1">
            <a:spLocks noChangeArrowheads="1"/>
          </p:cNvSpPr>
          <p:nvPr/>
        </p:nvSpPr>
        <p:spPr bwMode="auto">
          <a:xfrm>
            <a:off x="179387" y="1700808"/>
            <a:ext cx="4896670" cy="43658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通道方式：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en-US" altLang="zh-CN" sz="2000" b="1" dirty="0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方式的发展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通道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  <a:spcBef>
                <a:spcPts val="1500"/>
              </a:spcBef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传送控制原理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0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marL="2867025" indent="-2867025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开销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*IOP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2000" b="1" dirty="0">
                <a:latin typeface="宋体" panose="02010600030101010101" pitchFamily="2" charset="-122"/>
              </a:rPr>
              <a:t>通道方式的发展</a:t>
            </a: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4" name="Text Box 88"/>
          <p:cNvSpPr txBox="1">
            <a:spLocks noChangeArrowheads="1"/>
          </p:cNvSpPr>
          <p:nvPr/>
        </p:nvSpPr>
        <p:spPr bwMode="auto">
          <a:xfrm>
            <a:off x="179388" y="334293"/>
            <a:ext cx="8857108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4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通道及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处理机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(IOP)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方式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主存</a:t>
            </a:r>
            <a:r>
              <a:rPr lang="en-US" altLang="zh-CN" b="1" spc="-100" dirty="0">
                <a:latin typeface="宋体" panose="02010600030101010101" pitchFamily="2" charset="-122"/>
              </a:rPr>
              <a:t>-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外设间、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个</a:t>
            </a:r>
            <a:r>
              <a:rPr lang="zh-CN" altLang="en-US" b="1" spc="-100" dirty="0">
                <a:latin typeface="宋体" panose="02010600030101010101" pitchFamily="2" charset="-122"/>
              </a:rPr>
              <a:t>或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1</a:t>
            </a:r>
            <a:r>
              <a:rPr lang="zh-CN" altLang="en-US" b="1" spc="-100" dirty="0">
                <a:latin typeface="宋体" panose="02010600030101010101" pitchFamily="2" charset="-122"/>
              </a:rPr>
              <a:t>批数据</a:t>
            </a:r>
            <a:r>
              <a:rPr lang="en-US" altLang="zh-CN" b="1" spc="-100" dirty="0"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次      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←适于字符</a:t>
            </a:r>
            <a:r>
              <a:rPr lang="en-US" altLang="zh-CN" sz="1800" b="1" spc="-100" dirty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块设备</a:t>
            </a:r>
            <a:endParaRPr lang="en-US" altLang="zh-CN" sz="18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传送的实现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通道</a:t>
            </a:r>
            <a:r>
              <a:rPr lang="zh-CN" altLang="en-US" b="1" dirty="0" smtClean="0">
                <a:latin typeface="宋体" panose="02010600030101010101" pitchFamily="2" charset="-122"/>
              </a:rPr>
              <a:t>或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IOP</a:t>
            </a:r>
            <a:r>
              <a:rPr lang="zh-CN" altLang="en-US" b="1" dirty="0" smtClean="0">
                <a:latin typeface="宋体" panose="02010600030101010101" pitchFamily="2" charset="-122"/>
              </a:rPr>
              <a:t>执行程序</a:t>
            </a:r>
            <a:endParaRPr lang="en-US" altLang="zh-CN" sz="1600" b="1" spc="-100" dirty="0">
              <a:latin typeface="宋体" panose="02010600030101010101" pitchFamily="2" charset="-122"/>
            </a:endParaRPr>
          </a:p>
        </p:txBody>
      </p:sp>
      <p:sp>
        <p:nvSpPr>
          <p:cNvPr id="38" name="Text Box 93"/>
          <p:cNvSpPr txBox="1">
            <a:spLocks noChangeArrowheads="1"/>
          </p:cNvSpPr>
          <p:nvPr/>
        </p:nvSpPr>
        <p:spPr bwMode="auto">
          <a:xfrm>
            <a:off x="1763688" y="2154922"/>
            <a:ext cx="705690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spc="-130" dirty="0" smtClean="0">
                <a:latin typeface="宋体" panose="02010600030101010101" pitchFamily="2" charset="-122"/>
              </a:rPr>
              <a:t>专用处理</a:t>
            </a:r>
            <a:r>
              <a:rPr lang="zh-CN" altLang="en-US" b="1" spc="-13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器</a:t>
            </a:r>
            <a:r>
              <a:rPr lang="zh-CN" altLang="en-US" b="1" spc="-130" dirty="0" smtClean="0">
                <a:latin typeface="宋体" panose="02010600030101010101" pitchFamily="2" charset="-122"/>
              </a:rPr>
              <a:t>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实现外设的管理</a:t>
            </a:r>
            <a:r>
              <a:rPr lang="en-US" altLang="zh-CN" b="1" spc="-100" dirty="0">
                <a:latin typeface="宋体" panose="02010600030101010101" pitchFamily="2" charset="-122"/>
              </a:rPr>
              <a:t>/</a:t>
            </a:r>
            <a:r>
              <a:rPr lang="zh-CN" altLang="en-US" b="1" spc="-100" dirty="0">
                <a:latin typeface="宋体" panose="02010600030101010101" pitchFamily="2" charset="-122"/>
              </a:rPr>
              <a:t>状态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监测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传送控制</a:t>
            </a:r>
            <a:endParaRPr lang="en-US" altLang="zh-CN" b="1" spc="-100" dirty="0" smtClean="0">
              <a:latin typeface="宋体" panose="02010600030101010101" pitchFamily="2" charset="-122"/>
            </a:endParaRPr>
          </a:p>
        </p:txBody>
      </p:sp>
      <p:sp>
        <p:nvSpPr>
          <p:cNvPr id="39" name="Rectangle 130"/>
          <p:cNvSpPr>
            <a:spLocks noChangeArrowheads="1"/>
          </p:cNvSpPr>
          <p:nvPr/>
        </p:nvSpPr>
        <p:spPr bwMode="auto">
          <a:xfrm>
            <a:off x="1331639" y="3778593"/>
            <a:ext cx="648071" cy="1199743"/>
          </a:xfrm>
          <a:prstGeom prst="rect">
            <a:avLst/>
          </a:prstGeom>
          <a:solidFill>
            <a:srgbClr val="CCCCFF">
              <a:alpha val="80000"/>
            </a:srgbClr>
          </a:solidFill>
          <a:ln w="12700">
            <a:solidFill>
              <a:srgbClr val="00B0F0"/>
            </a:solidFill>
            <a:prstDash val="sysDot"/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Text Box 93"/>
          <p:cNvSpPr txBox="1">
            <a:spLocks noChangeArrowheads="1"/>
          </p:cNvSpPr>
          <p:nvPr/>
        </p:nvSpPr>
        <p:spPr bwMode="auto">
          <a:xfrm>
            <a:off x="179388" y="3645024"/>
            <a:ext cx="8857108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   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访管指令</a:t>
            </a:r>
            <a:r>
              <a:rPr lang="zh-CN" altLang="en-US" b="1" dirty="0" smtClean="0">
                <a:latin typeface="宋体" panose="02010600030101010101" pitchFamily="2" charset="-122"/>
              </a:rPr>
              <a:t>后，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>
                <a:latin typeface="宋体" panose="02010600030101010101" pitchFamily="2" charset="-122"/>
              </a:rPr>
              <a:t>现行</a:t>
            </a:r>
            <a:r>
              <a:rPr lang="zh-CN" altLang="en-US" b="1" dirty="0" smtClean="0">
                <a:latin typeface="宋体" panose="02010600030101010101" pitchFamily="2" charset="-122"/>
              </a:rPr>
              <a:t>程序；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通道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dirty="0" smtClean="0">
                <a:latin typeface="宋体" panose="02010600030101010101" pitchFamily="2" charset="-122"/>
              </a:rPr>
              <a:t>通道程序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主存中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结束</a:t>
            </a:r>
            <a:r>
              <a:rPr lang="en-US" altLang="zh-CN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异常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时向</a:t>
            </a:r>
            <a:r>
              <a:rPr lang="en-US" altLang="zh-CN" b="1" spc="-100" dirty="0">
                <a:latin typeface="宋体" panose="02010600030101010101" pitchFamily="2" charset="-122"/>
              </a:rPr>
              <a:t>CPU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请求；</a:t>
            </a: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请求，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b="1" dirty="0" smtClean="0">
                <a:latin typeface="宋体" panose="02010600030101010101" pitchFamily="2" charset="-122"/>
              </a:rPr>
              <a:t>相应状况、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b="1" dirty="0">
                <a:latin typeface="宋体" panose="02010600030101010101" pitchFamily="2" charset="-122"/>
              </a:rPr>
              <a:t>现行</a:t>
            </a:r>
            <a:r>
              <a:rPr lang="zh-CN" altLang="en-US" b="1" dirty="0" smtClean="0">
                <a:latin typeface="宋体" panose="02010600030101010101" pitchFamily="2" charset="-122"/>
              </a:rPr>
              <a:t>程序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42" name="Text Box 93"/>
          <p:cNvSpPr txBox="1">
            <a:spLocks noChangeArrowheads="1"/>
          </p:cNvSpPr>
          <p:nvPr/>
        </p:nvSpPr>
        <p:spPr bwMode="auto">
          <a:xfrm>
            <a:off x="179512" y="5899338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用专用处理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机</a:t>
            </a:r>
            <a:r>
              <a:rPr lang="zh-CN" altLang="en-US" b="1" dirty="0" smtClean="0">
                <a:latin typeface="宋体" panose="02010600030101010101" pitchFamily="2" charset="-122"/>
              </a:rPr>
              <a:t>实现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控制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←不共享主存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43" name="线形标注 2 42"/>
          <p:cNvSpPr/>
          <p:nvPr/>
        </p:nvSpPr>
        <p:spPr bwMode="auto">
          <a:xfrm>
            <a:off x="4860464" y="5589240"/>
            <a:ext cx="3888000" cy="252000"/>
          </a:xfrm>
          <a:prstGeom prst="borderCallout2">
            <a:avLst>
              <a:gd name="adj1" fmla="val 55521"/>
              <a:gd name="adj2" fmla="val -311"/>
              <a:gd name="adj3" fmla="val 57322"/>
              <a:gd name="adj4" fmla="val -2473"/>
              <a:gd name="adj5" fmla="val -569994"/>
              <a:gd name="adj6" fmla="val -36258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+mn-lt"/>
              </a:rPr>
              <a:t>调用</a:t>
            </a:r>
            <a:r>
              <a:rPr lang="zh-CN" altLang="en-US" sz="1600" b="1" dirty="0" smtClean="0">
                <a:latin typeface="+mn-ea"/>
                <a:ea typeface="+mn-ea"/>
              </a:rPr>
              <a:t>管理程序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编制通道程序、启动通道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44" name="AutoShape 69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5" name="组合 44"/>
          <p:cNvGrpSpPr/>
          <p:nvPr/>
        </p:nvGrpSpPr>
        <p:grpSpPr>
          <a:xfrm>
            <a:off x="1259632" y="2711202"/>
            <a:ext cx="7560840" cy="861814"/>
            <a:chOff x="539552" y="2780928"/>
            <a:chExt cx="7560840" cy="861814"/>
          </a:xfrm>
        </p:grpSpPr>
        <p:sp>
          <p:nvSpPr>
            <p:cNvPr id="46" name="Text Box 72"/>
            <p:cNvSpPr txBox="1">
              <a:spLocks noChangeArrowheads="1"/>
            </p:cNvSpPr>
            <p:nvPr/>
          </p:nvSpPr>
          <p:spPr bwMode="auto">
            <a:xfrm>
              <a:off x="539552" y="3006536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7" name="Text Box 74"/>
            <p:cNvSpPr txBox="1">
              <a:spLocks noChangeArrowheads="1"/>
            </p:cNvSpPr>
            <p:nvPr/>
          </p:nvSpPr>
          <p:spPr bwMode="auto">
            <a:xfrm>
              <a:off x="1475656" y="3006536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8" name="Text Box 79"/>
            <p:cNvSpPr txBox="1">
              <a:spLocks noChangeArrowheads="1"/>
            </p:cNvSpPr>
            <p:nvPr/>
          </p:nvSpPr>
          <p:spPr bwMode="auto">
            <a:xfrm>
              <a:off x="6803355" y="3026017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49" name="Text Box 80"/>
            <p:cNvSpPr txBox="1">
              <a:spLocks noChangeArrowheads="1"/>
            </p:cNvSpPr>
            <p:nvPr/>
          </p:nvSpPr>
          <p:spPr bwMode="auto">
            <a:xfrm>
              <a:off x="2255033" y="2809993"/>
              <a:ext cx="948815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系统总线</a:t>
              </a:r>
              <a:endParaRPr lang="zh-CN" altLang="en-US" sz="1600" b="1" dirty="0"/>
            </a:p>
          </p:txBody>
        </p:sp>
        <p:sp>
          <p:nvSpPr>
            <p:cNvPr id="50" name="Text Box 81"/>
            <p:cNvSpPr txBox="1">
              <a:spLocks noChangeArrowheads="1"/>
            </p:cNvSpPr>
            <p:nvPr/>
          </p:nvSpPr>
          <p:spPr bwMode="auto">
            <a:xfrm>
              <a:off x="3275857" y="3009711"/>
              <a:ext cx="792087" cy="28575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通道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1" name="直接连接符 50"/>
            <p:cNvCxnSpPr>
              <a:endCxn id="46" idx="0"/>
            </p:cNvCxnSpPr>
            <p:nvPr/>
          </p:nvCxnSpPr>
          <p:spPr bwMode="auto">
            <a:xfrm>
              <a:off x="899592" y="2799516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2" name="直接连接符 51"/>
            <p:cNvCxnSpPr>
              <a:stCxn id="47" idx="0"/>
            </p:cNvCxnSpPr>
            <p:nvPr/>
          </p:nvCxnSpPr>
          <p:spPr bwMode="auto">
            <a:xfrm flipV="1">
              <a:off x="1835696" y="2801204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连接符 52"/>
            <p:cNvCxnSpPr/>
            <p:nvPr/>
          </p:nvCxnSpPr>
          <p:spPr bwMode="auto">
            <a:xfrm flipV="1">
              <a:off x="539552" y="2780928"/>
              <a:ext cx="7560840" cy="1047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" name="直接连接符 53"/>
            <p:cNvCxnSpPr>
              <a:endCxn id="50" idx="0"/>
            </p:cNvCxnSpPr>
            <p:nvPr/>
          </p:nvCxnSpPr>
          <p:spPr bwMode="auto">
            <a:xfrm>
              <a:off x="3671901" y="2801204"/>
              <a:ext cx="0" cy="208507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5" name="Text Box 81"/>
            <p:cNvSpPr txBox="1">
              <a:spLocks noChangeArrowheads="1"/>
            </p:cNvSpPr>
            <p:nvPr/>
          </p:nvSpPr>
          <p:spPr bwMode="auto">
            <a:xfrm>
              <a:off x="5808847" y="3009711"/>
              <a:ext cx="779377" cy="28575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通道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6" name="直接连接符 55"/>
            <p:cNvCxnSpPr>
              <a:endCxn id="55" idx="0"/>
            </p:cNvCxnSpPr>
            <p:nvPr/>
          </p:nvCxnSpPr>
          <p:spPr bwMode="auto">
            <a:xfrm>
              <a:off x="6198536" y="2780928"/>
              <a:ext cx="0" cy="22878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7" name="Text Box 81"/>
            <p:cNvSpPr txBox="1">
              <a:spLocks noChangeArrowheads="1"/>
            </p:cNvSpPr>
            <p:nvPr/>
          </p:nvSpPr>
          <p:spPr bwMode="auto">
            <a:xfrm>
              <a:off x="7249007" y="3009711"/>
              <a:ext cx="851385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8" name="直接连接符 57"/>
            <p:cNvCxnSpPr>
              <a:endCxn id="57" idx="0"/>
            </p:cNvCxnSpPr>
            <p:nvPr/>
          </p:nvCxnSpPr>
          <p:spPr bwMode="auto">
            <a:xfrm>
              <a:off x="7674699" y="2780928"/>
              <a:ext cx="1" cy="22878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直接连接符 58"/>
            <p:cNvCxnSpPr/>
            <p:nvPr/>
          </p:nvCxnSpPr>
          <p:spPr bwMode="auto">
            <a:xfrm>
              <a:off x="4067944" y="3140968"/>
              <a:ext cx="1368152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" name="直接连接符 59"/>
            <p:cNvCxnSpPr>
              <a:endCxn id="61" idx="0"/>
            </p:cNvCxnSpPr>
            <p:nvPr/>
          </p:nvCxnSpPr>
          <p:spPr bwMode="auto">
            <a:xfrm>
              <a:off x="4355977" y="3140968"/>
              <a:ext cx="0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1" name="Text Box 81"/>
            <p:cNvSpPr txBox="1">
              <a:spLocks noChangeArrowheads="1"/>
            </p:cNvSpPr>
            <p:nvPr/>
          </p:nvSpPr>
          <p:spPr bwMode="auto">
            <a:xfrm>
              <a:off x="4067945" y="3356992"/>
              <a:ext cx="57606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81"/>
            <p:cNvSpPr txBox="1">
              <a:spLocks noChangeArrowheads="1"/>
            </p:cNvSpPr>
            <p:nvPr/>
          </p:nvSpPr>
          <p:spPr bwMode="auto">
            <a:xfrm>
              <a:off x="5004049" y="3356992"/>
              <a:ext cx="576064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3" name="Text Box 79"/>
            <p:cNvSpPr txBox="1">
              <a:spLocks noChangeArrowheads="1"/>
            </p:cNvSpPr>
            <p:nvPr/>
          </p:nvSpPr>
          <p:spPr bwMode="auto">
            <a:xfrm>
              <a:off x="4644008" y="3356992"/>
              <a:ext cx="360040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64" name="直接连接符 63"/>
            <p:cNvCxnSpPr>
              <a:endCxn id="62" idx="0"/>
            </p:cNvCxnSpPr>
            <p:nvPr/>
          </p:nvCxnSpPr>
          <p:spPr bwMode="auto">
            <a:xfrm>
              <a:off x="5292080" y="3140968"/>
              <a:ext cx="1" cy="21602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直接连接符 64"/>
            <p:cNvCxnSpPr/>
            <p:nvPr/>
          </p:nvCxnSpPr>
          <p:spPr bwMode="auto">
            <a:xfrm>
              <a:off x="5796136" y="3496779"/>
              <a:ext cx="1007219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直接连接符 65"/>
            <p:cNvCxnSpPr>
              <a:stCxn id="55" idx="2"/>
            </p:cNvCxnSpPr>
            <p:nvPr/>
          </p:nvCxnSpPr>
          <p:spPr bwMode="auto">
            <a:xfrm>
              <a:off x="6198536" y="3295461"/>
              <a:ext cx="0" cy="204406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直接连接符 66"/>
            <p:cNvCxnSpPr/>
            <p:nvPr/>
          </p:nvCxnSpPr>
          <p:spPr bwMode="auto">
            <a:xfrm>
              <a:off x="6012160" y="3501008"/>
              <a:ext cx="0" cy="14173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直接连接符 67"/>
            <p:cNvCxnSpPr/>
            <p:nvPr/>
          </p:nvCxnSpPr>
          <p:spPr bwMode="auto">
            <a:xfrm>
              <a:off x="6516216" y="3501008"/>
              <a:ext cx="0" cy="141734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Text Box 80"/>
            <p:cNvSpPr txBox="1">
              <a:spLocks noChangeArrowheads="1"/>
            </p:cNvSpPr>
            <p:nvPr/>
          </p:nvSpPr>
          <p:spPr bwMode="auto">
            <a:xfrm>
              <a:off x="4331101" y="2893615"/>
              <a:ext cx="936104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通道</a:t>
              </a:r>
              <a:r>
                <a:rPr lang="zh-CN" altLang="en-US" sz="1600" b="1" dirty="0" smtClean="0"/>
                <a:t>总线</a:t>
              </a:r>
              <a:endParaRPr lang="zh-CN" altLang="en-US" sz="1600" b="1" dirty="0"/>
            </a:p>
          </p:txBody>
        </p:sp>
      </p:grpSp>
      <p:sp>
        <p:nvSpPr>
          <p:cNvPr id="41" name="Text Box 5"/>
          <p:cNvSpPr txBox="1">
            <a:spLocks noChangeArrowheads="1"/>
          </p:cNvSpPr>
          <p:nvPr/>
        </p:nvSpPr>
        <p:spPr bwMode="auto">
          <a:xfrm>
            <a:off x="2267745" y="5013176"/>
            <a:ext cx="374441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比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无需实现传送准备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37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8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/>
      <p:bldP spid="39" grpId="0" animBg="1"/>
      <p:bldP spid="40" grpId="0"/>
      <p:bldP spid="42" grpId="0"/>
      <p:bldP spid="43" grpId="0" animBg="1"/>
      <p:bldP spid="43" grpId="1" animBg="1"/>
      <p:bldP spid="4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Text Box 88"/>
          <p:cNvSpPr txBox="1">
            <a:spLocks noChangeArrowheads="1"/>
          </p:cNvSpPr>
          <p:nvPr/>
        </p:nvSpPr>
        <p:spPr bwMode="auto">
          <a:xfrm>
            <a:off x="179388" y="334293"/>
            <a:ext cx="4896668" cy="481670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※I/O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方式的软件组织：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*软硬件关联：</a:t>
            </a:r>
            <a:endParaRPr lang="zh-CN" altLang="en-US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*直接传送方式的软件：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程序查询方式：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程序中断方式：  </a:t>
            </a:r>
            <a:r>
              <a:rPr lang="en-US" altLang="zh-CN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→</a:t>
            </a:r>
            <a:r>
              <a:rPr lang="en-US" altLang="zh-CN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3" name="Text Box 88"/>
          <p:cNvSpPr txBox="1">
            <a:spLocks noChangeArrowheads="1"/>
          </p:cNvSpPr>
          <p:nvPr/>
        </p:nvSpPr>
        <p:spPr bwMode="auto">
          <a:xfrm>
            <a:off x="2555776" y="825242"/>
            <a:ext cx="604867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u="sng" dirty="0">
                <a:solidFill>
                  <a:srgbClr val="000000"/>
                </a:solidFill>
                <a:latin typeface="宋体" panose="02010600030101010101" pitchFamily="2" charset="-122"/>
              </a:rPr>
              <a:t>执行</a:t>
            </a:r>
            <a:r>
              <a:rPr lang="en-US" altLang="zh-CN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指令</a:t>
            </a:r>
            <a:r>
              <a:rPr lang="zh-CN" altLang="en-US" b="1" u="sng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总线事务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→访问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端口</a:t>
            </a:r>
            <a:r>
              <a:rPr lang="en-US" altLang="zh-CN" sz="18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043608" y="2825641"/>
            <a:ext cx="3420000" cy="1172629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rIns="180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,RA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); 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 //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启动设备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do { 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st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lang="en-US" altLang="zh-CN" sz="18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inp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Stat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); 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查询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     if (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st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 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Data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,RB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/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} while (!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st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);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788024" y="2348880"/>
            <a:ext cx="4248472" cy="3083921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rIns="180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 smtClean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static void</a:t>
            </a:r>
            <a:r>
              <a:rPr lang="en-US" altLang="zh-CN" sz="1800" b="1" dirty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800" b="1" dirty="0" smtClean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interrupt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intx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1800" b="1" dirty="0" err="1" smtClean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inp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PA</a:t>
            </a:r>
            <a:r>
              <a:rPr lang="en-US" altLang="zh-CN" sz="1800" baseline="-180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Data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 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buff[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ndx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++] = 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if (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ndx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&lt;_MAX) </a:t>
            </a:r>
            <a:r>
              <a:rPr lang="en-US" altLang="zh-CN" sz="1800" b="1" dirty="0" err="1" smtClean="0">
                <a:solidFill>
                  <a:srgbClr val="99009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outp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,RA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      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void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main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     </a:t>
            </a:r>
            <a:endParaRPr lang="en-US" altLang="zh-CN" sz="18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800" b="1" dirty="0" smtClean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disable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  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/*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关中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断*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r>
              <a:rPr lang="en-US" altLang="zh-CN" sz="1800" b="1" dirty="0" err="1" smtClean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setvect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(0x08,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intx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); //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填中断向量</a:t>
            </a:r>
            <a:endParaRPr lang="zh-CN" altLang="en-US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r>
              <a:rPr lang="en-US" altLang="zh-CN" sz="1800" b="1" dirty="0" smtClean="0">
                <a:solidFill>
                  <a:srgbClr val="3333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();        /*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开中断*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 err="1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>
                <a:solidFill>
                  <a:srgbClr val="000000"/>
                </a:solidFill>
                <a:latin typeface="宋体" panose="02010600030101010101" pitchFamily="2" charset="-122"/>
              </a:rPr>
              <a:t>Ctrl</a:t>
            </a:r>
            <a:r>
              <a:rPr lang="en-US" altLang="zh-CN" sz="1800" dirty="0" err="1">
                <a:solidFill>
                  <a:srgbClr val="000000"/>
                </a:solidFill>
                <a:latin typeface="宋体" panose="02010600030101010101" pitchFamily="2" charset="-122"/>
              </a:rPr>
              <a:t>,RA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); 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 //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首次操作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  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</a:t>
            </a:r>
            <a:endParaRPr lang="en-US" altLang="zh-CN" sz="1800" dirty="0" smtClean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>
              <a:lnSpc>
                <a:spcPct val="90000"/>
              </a:lnSpc>
            </a:pP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r>
              <a:rPr lang="en-US" altLang="zh-CN" sz="18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 </a:t>
            </a:r>
            <a:endParaRPr lang="zh-CN" altLang="en-US" sz="18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7" name="Text Box 88"/>
          <p:cNvSpPr txBox="1">
            <a:spLocks noChangeArrowheads="1"/>
          </p:cNvSpPr>
          <p:nvPr/>
        </p:nvSpPr>
        <p:spPr bwMode="auto">
          <a:xfrm>
            <a:off x="971600" y="5013176"/>
            <a:ext cx="3888432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1)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预处理程序段  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指令串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sz="2000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2)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中断处理</a:t>
            </a:r>
            <a:r>
              <a:rPr lang="zh-CN" altLang="en-US" sz="2200" b="1" dirty="0" smtClean="0">
                <a:solidFill>
                  <a:srgbClr val="000000"/>
                </a:solidFill>
                <a:latin typeface="宋体" panose="02010600030101010101" pitchFamily="2" charset="-122"/>
              </a:rPr>
              <a:t>程序段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同中断方式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</a:t>
            </a:r>
            <a:endParaRPr lang="en-US" altLang="zh-CN" sz="2000" dirty="0" smtClean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43608" y="1907540"/>
            <a:ext cx="5652000" cy="341632"/>
          </a:xfrm>
          <a:prstGeom prst="rect">
            <a:avLst/>
          </a:prstGeom>
          <a:ln w="12700">
            <a:solidFill>
              <a:schemeClr val="tx1"/>
            </a:solidFill>
            <a:prstDash val="sysDash"/>
          </a:ln>
        </p:spPr>
        <p:txBody>
          <a:bodyPr wrap="square" lIns="54000" rIns="1800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zh-CN" sz="1800" b="1" dirty="0" err="1" smtClean="0">
                <a:solidFill>
                  <a:srgbClr val="9900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en-US" altLang="zh-CN" sz="1800" baseline="-180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Data</a:t>
            </a:r>
            <a:r>
              <a:rPr lang="en-US" altLang="zh-CN" sz="1800" dirty="0" err="1" smtClean="0">
                <a:solidFill>
                  <a:srgbClr val="000000"/>
                </a:solidFill>
                <a:latin typeface="宋体" panose="02010600030101010101" pitchFamily="2" charset="-122"/>
              </a:rPr>
              <a:t>,RB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);   </a:t>
            </a:r>
            <a:r>
              <a:rPr lang="en-US" altLang="zh-CN" sz="1800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PA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端口地址，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RB</a:t>
            </a:r>
            <a:r>
              <a:rPr lang="zh-CN" altLang="en-US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GPR</a:t>
            </a:r>
            <a:r>
              <a:rPr lang="zh-CN" altLang="en-US" sz="1800" dirty="0">
                <a:solidFill>
                  <a:srgbClr val="000000"/>
                </a:solidFill>
                <a:latin typeface="宋体" panose="02010600030101010101" pitchFamily="2" charset="-122"/>
              </a:rPr>
              <a:t>内容</a:t>
            </a:r>
            <a:endParaRPr lang="zh-CN" altLang="en-US" sz="18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5" grpId="0" animBg="1"/>
      <p:bldP spid="46" grpId="0" animBg="1"/>
      <p:bldP spid="47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91" name="Text Box 59"/>
          <p:cNvSpPr txBox="1">
            <a:spLocks noChangeArrowheads="1"/>
          </p:cNvSpPr>
          <p:nvPr/>
        </p:nvSpPr>
        <p:spPr bwMode="auto">
          <a:xfrm>
            <a:off x="179388" y="1268760"/>
            <a:ext cx="8785225" cy="3771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外设的分类：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按交互方式分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人</a:t>
            </a:r>
            <a:r>
              <a:rPr lang="en-US" altLang="zh-CN" b="1" dirty="0" smtClean="0"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latin typeface="宋体" panose="02010600030101010101" pitchFamily="2" charset="-122"/>
              </a:rPr>
              <a:t>机</a:t>
            </a:r>
            <a:r>
              <a:rPr lang="zh-CN" altLang="en-US" b="1" dirty="0">
                <a:latin typeface="宋体" panose="02010600030101010101" pitchFamily="2" charset="-122"/>
              </a:rPr>
              <a:t>交互、机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</a:rPr>
              <a:t>机</a:t>
            </a:r>
            <a:r>
              <a:rPr lang="zh-CN" altLang="en-US" b="1" dirty="0" smtClean="0">
                <a:latin typeface="宋体" panose="02010600030101010101" pitchFamily="2" charset="-122"/>
              </a:rPr>
              <a:t>通信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磁盘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网络等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按</a:t>
            </a:r>
            <a:r>
              <a:rPr lang="zh-CN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功能行为</a:t>
            </a:r>
            <a:r>
              <a:rPr lang="zh-CN" altLang="en-US" b="1" spc="2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输入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输出设备、存储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磁盘等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按传送批量分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字符</a:t>
            </a:r>
            <a:r>
              <a:rPr lang="zh-CN" altLang="en-US" b="1" dirty="0" smtClean="0">
                <a:latin typeface="宋体" panose="02010600030101010101" pitchFamily="2" charset="-122"/>
              </a:rPr>
              <a:t>设备、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块</a:t>
            </a:r>
            <a:r>
              <a:rPr lang="zh-CN" altLang="en-US" b="1" dirty="0" smtClean="0">
                <a:latin typeface="宋体" panose="02010600030101010101" pitchFamily="2" charset="-122"/>
              </a:rPr>
              <a:t>设备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←指</a:t>
            </a:r>
            <a:r>
              <a:rPr lang="zh-CN" altLang="en-US" sz="1800" b="1" dirty="0">
                <a:latin typeface="宋体" panose="02010600030101010101" pitchFamily="2" charset="-122"/>
              </a:rPr>
              <a:t>每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启动一次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80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外设的组成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设备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外设的连接：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465785-18F3-4DFA-AB20-FB10518DE8E9}" type="slidenum">
              <a:rPr lang="en-US" altLang="zh-CN"/>
            </a:fld>
            <a:endParaRPr lang="en-US" altLang="zh-CN"/>
          </a:p>
        </p:txBody>
      </p:sp>
      <p:sp>
        <p:nvSpPr>
          <p:cNvPr id="223236" name="Text Box 4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§7.2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外部设备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223239" name="Text Box 7"/>
          <p:cNvSpPr txBox="1">
            <a:spLocks noChangeArrowheads="1"/>
          </p:cNvSpPr>
          <p:nvPr/>
        </p:nvSpPr>
        <p:spPr bwMode="auto">
          <a:xfrm>
            <a:off x="2483768" y="3212976"/>
            <a:ext cx="6331395" cy="13049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部件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驱动器＋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]</a:t>
            </a:r>
            <a:r>
              <a:rPr lang="zh-CN" altLang="en-US" b="1" dirty="0" smtClean="0">
                <a:latin typeface="宋体" panose="02010600030101010101" pitchFamily="2" charset="-122"/>
              </a:rPr>
              <a:t>设备控制器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←启动器可缺省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通信接口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USB)</a:t>
            </a:r>
            <a:r>
              <a:rPr lang="zh-CN" altLang="en-US" b="1" dirty="0" smtClean="0">
                <a:latin typeface="宋体" panose="02010600030101010101" pitchFamily="2" charset="-122"/>
              </a:rPr>
              <a:t>  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←便于连接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←接口电路在</a:t>
            </a:r>
            <a:r>
              <a:rPr lang="zh-CN" altLang="en-US" sz="1800" b="1" dirty="0">
                <a:latin typeface="宋体" panose="02010600030101010101" pitchFamily="2" charset="-122"/>
              </a:rPr>
              <a:t>设备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控制器中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57" name="Text Box 7"/>
          <p:cNvSpPr txBox="1">
            <a:spLocks noChangeArrowheads="1"/>
          </p:cNvSpPr>
          <p:nvPr/>
        </p:nvSpPr>
        <p:spPr bwMode="auto">
          <a:xfrm>
            <a:off x="2483768" y="4459178"/>
            <a:ext cx="618738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通过总线</a:t>
            </a:r>
            <a:r>
              <a:rPr lang="en-US" altLang="zh-CN" b="1" dirty="0" smtClean="0">
                <a:latin typeface="宋体" panose="02010600030101010101" pitchFamily="2" charset="-122"/>
              </a:rPr>
              <a:t>&amp;I/O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设备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66292" y="5013176"/>
            <a:ext cx="7848872" cy="1080120"/>
            <a:chOff x="966292" y="4221088"/>
            <a:chExt cx="7848872" cy="1080120"/>
          </a:xfrm>
        </p:grpSpPr>
        <p:cxnSp>
          <p:nvCxnSpPr>
            <p:cNvPr id="33" name="直接连接符 32"/>
            <p:cNvCxnSpPr>
              <a:stCxn id="34" idx="0"/>
            </p:cNvCxnSpPr>
            <p:nvPr/>
          </p:nvCxnSpPr>
          <p:spPr bwMode="auto">
            <a:xfrm flipV="1">
              <a:off x="4031940" y="4298335"/>
              <a:ext cx="0" cy="28279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Text Box 82"/>
            <p:cNvSpPr txBox="1">
              <a:spLocks noChangeArrowheads="1"/>
            </p:cNvSpPr>
            <p:nvPr/>
          </p:nvSpPr>
          <p:spPr bwMode="auto">
            <a:xfrm>
              <a:off x="3563888" y="4581128"/>
              <a:ext cx="936104" cy="38627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6" name="Text Box 80"/>
            <p:cNvSpPr txBox="1">
              <a:spLocks noChangeArrowheads="1"/>
            </p:cNvSpPr>
            <p:nvPr/>
          </p:nvSpPr>
          <p:spPr bwMode="auto">
            <a:xfrm>
              <a:off x="3059833" y="4293096"/>
              <a:ext cx="504055" cy="282793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总线</a:t>
              </a:r>
              <a:endParaRPr lang="zh-CN" altLang="en-US" sz="1600" b="1" dirty="0"/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966292" y="4221088"/>
              <a:ext cx="7848872" cy="1080120"/>
              <a:chOff x="683568" y="3933056"/>
              <a:chExt cx="7848872" cy="1080120"/>
            </a:xfrm>
          </p:grpSpPr>
          <p:sp>
            <p:nvSpPr>
              <p:cNvPr id="73" name="Text Box 72"/>
              <p:cNvSpPr txBox="1">
                <a:spLocks noChangeArrowheads="1"/>
              </p:cNvSpPr>
              <p:nvPr/>
            </p:nvSpPr>
            <p:spPr bwMode="auto">
              <a:xfrm>
                <a:off x="755576" y="4293096"/>
                <a:ext cx="792087" cy="386274"/>
              </a:xfrm>
              <a:prstGeom prst="rect">
                <a:avLst/>
              </a:prstGeom>
              <a:solidFill>
                <a:srgbClr val="FF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en-US" altLang="zh-CN" sz="1800" b="1" dirty="0" smtClean="0">
                    <a:latin typeface="宋体" panose="02010600030101010101" pitchFamily="2" charset="-122"/>
                  </a:rPr>
                  <a:t>CPU</a:t>
                </a:r>
                <a:endParaRPr lang="en-US" altLang="zh-CN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74" name="Text Box 74"/>
              <p:cNvSpPr txBox="1">
                <a:spLocks noChangeArrowheads="1"/>
              </p:cNvSpPr>
              <p:nvPr/>
            </p:nvSpPr>
            <p:spPr bwMode="auto">
              <a:xfrm>
                <a:off x="1763688" y="4293096"/>
                <a:ext cx="864096" cy="386274"/>
              </a:xfrm>
              <a:prstGeom prst="rect">
                <a:avLst/>
              </a:prstGeom>
              <a:solidFill>
                <a:srgbClr val="99CCFF">
                  <a:alpha val="8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zh-CN" altLang="en-US" sz="1800" b="1" dirty="0" smtClean="0">
                    <a:latin typeface="宋体" panose="02010600030101010101" pitchFamily="2" charset="-122"/>
                  </a:rPr>
                  <a:t>主存</a:t>
                </a:r>
                <a:endParaRPr lang="zh-CN" altLang="en-US" sz="1800" b="1" dirty="0">
                  <a:latin typeface="宋体" panose="02010600030101010101" pitchFamily="2" charset="-122"/>
                </a:endParaRPr>
              </a:p>
            </p:txBody>
          </p:sp>
          <p:cxnSp>
            <p:nvCxnSpPr>
              <p:cNvPr id="75" name="直接连接符 74"/>
              <p:cNvCxnSpPr>
                <a:endCxn id="73" idx="0"/>
              </p:cNvCxnSpPr>
              <p:nvPr/>
            </p:nvCxnSpPr>
            <p:spPr bwMode="auto">
              <a:xfrm>
                <a:off x="1151620" y="4010303"/>
                <a:ext cx="0" cy="282793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直接连接符 75"/>
              <p:cNvCxnSpPr>
                <a:stCxn id="74" idx="0"/>
              </p:cNvCxnSpPr>
              <p:nvPr/>
            </p:nvCxnSpPr>
            <p:spPr bwMode="auto">
              <a:xfrm flipV="1">
                <a:off x="2195736" y="4015542"/>
                <a:ext cx="0" cy="277554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" name="直接连接符 76"/>
              <p:cNvCxnSpPr/>
              <p:nvPr/>
            </p:nvCxnSpPr>
            <p:spPr bwMode="auto">
              <a:xfrm>
                <a:off x="755576" y="4005064"/>
                <a:ext cx="7776864" cy="5240"/>
              </a:xfrm>
              <a:prstGeom prst="line">
                <a:avLst/>
              </a:prstGeom>
              <a:noFill/>
              <a:ln w="28575" cap="flat" cmpd="dbl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8" name="Rectangle 65"/>
              <p:cNvSpPr>
                <a:spLocks noChangeArrowheads="1"/>
              </p:cNvSpPr>
              <p:nvPr/>
            </p:nvSpPr>
            <p:spPr bwMode="auto">
              <a:xfrm>
                <a:off x="683568" y="3933056"/>
                <a:ext cx="2016224" cy="1080120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  <a:prstDash val="sysDash"/>
                <a:miter lim="800000"/>
              </a:ln>
              <a:effectLst/>
            </p:spPr>
            <p:txBody>
              <a:bodyPr wrap="none" anchor="ctr"/>
              <a:lstStyle/>
              <a:p>
                <a:pPr>
                  <a:lnSpc>
                    <a:spcPct val="90000"/>
                  </a:lnSpc>
                </a:pPr>
                <a:endParaRPr lang="en-US" altLang="zh-CN" sz="1800" b="1" dirty="0" smtClean="0">
                  <a:latin typeface="+mn-ea"/>
                  <a:ea typeface="+mn-ea"/>
                </a:endParaRPr>
              </a:p>
              <a:p>
                <a:pPr>
                  <a:lnSpc>
                    <a:spcPct val="90000"/>
                  </a:lnSpc>
                </a:pPr>
                <a:endParaRPr lang="en-US" altLang="zh-CN" sz="1800" b="1" dirty="0" smtClean="0">
                  <a:latin typeface="+mn-ea"/>
                  <a:ea typeface="+mn-ea"/>
                </a:endParaRPr>
              </a:p>
              <a:p>
                <a:pPr>
                  <a:lnSpc>
                    <a:spcPct val="90000"/>
                  </a:lnSpc>
                </a:pPr>
                <a:endParaRPr lang="en-US" altLang="zh-CN" sz="1800" b="1" dirty="0">
                  <a:latin typeface="+mn-ea"/>
                  <a:ea typeface="+mn-ea"/>
                </a:endParaRPr>
              </a:p>
              <a:p>
                <a:pPr>
                  <a:lnSpc>
                    <a:spcPct val="90000"/>
                  </a:lnSpc>
                </a:pPr>
                <a:r>
                  <a:rPr lang="zh-CN" altLang="en-US" sz="1800" b="1" dirty="0">
                    <a:latin typeface="+mn-ea"/>
                    <a:ea typeface="+mn-ea"/>
                  </a:rPr>
                  <a:t>主机</a:t>
                </a:r>
                <a:endParaRPr lang="zh-CN" altLang="en-US" sz="1800" b="1" dirty="0">
                  <a:latin typeface="+mn-ea"/>
                  <a:ea typeface="+mn-ea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4499992" y="5229200"/>
            <a:ext cx="4320480" cy="1080120"/>
            <a:chOff x="4499992" y="4293096"/>
            <a:chExt cx="4320480" cy="1080120"/>
          </a:xfrm>
        </p:grpSpPr>
        <p:sp>
          <p:nvSpPr>
            <p:cNvPr id="70" name="Rectangle 65"/>
            <p:cNvSpPr>
              <a:spLocks noChangeArrowheads="1"/>
            </p:cNvSpPr>
            <p:nvPr/>
          </p:nvSpPr>
          <p:spPr bwMode="auto">
            <a:xfrm>
              <a:off x="4926732" y="4293096"/>
              <a:ext cx="3893740" cy="108012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endParaRPr lang="en-US" altLang="zh-CN" sz="1800" b="1" dirty="0" smtClean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endParaRPr lang="en-US" altLang="zh-CN" sz="1800" b="1" dirty="0">
                <a:latin typeface="+mn-ea"/>
                <a:ea typeface="+mn-ea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+mn-ea"/>
                  <a:ea typeface="+mn-ea"/>
                </a:rPr>
                <a:t>外部设备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80" name="Text Box 82"/>
            <p:cNvSpPr txBox="1">
              <a:spLocks noChangeArrowheads="1"/>
            </p:cNvSpPr>
            <p:nvPr/>
          </p:nvSpPr>
          <p:spPr bwMode="auto">
            <a:xfrm>
              <a:off x="6367462" y="4365104"/>
              <a:ext cx="863600" cy="6477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设备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驱动器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84"/>
            <p:cNvSpPr txBox="1">
              <a:spLocks noChangeArrowheads="1"/>
            </p:cNvSpPr>
            <p:nvPr/>
          </p:nvSpPr>
          <p:spPr bwMode="auto">
            <a:xfrm>
              <a:off x="7591027" y="4365104"/>
              <a:ext cx="1080121" cy="64770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机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电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光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磁部件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2" name="直接箭头连接符 81"/>
            <p:cNvCxnSpPr/>
            <p:nvPr/>
          </p:nvCxnSpPr>
          <p:spPr bwMode="auto">
            <a:xfrm>
              <a:off x="7231062" y="4581128"/>
              <a:ext cx="359965" cy="1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3" name="直接箭头连接符 82"/>
            <p:cNvCxnSpPr/>
            <p:nvPr/>
          </p:nvCxnSpPr>
          <p:spPr bwMode="auto">
            <a:xfrm>
              <a:off x="6006851" y="4653136"/>
              <a:ext cx="36061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cxnSp>
          <p:nvCxnSpPr>
            <p:cNvPr id="84" name="直接箭头连接符 83"/>
            <p:cNvCxnSpPr/>
            <p:nvPr/>
          </p:nvCxnSpPr>
          <p:spPr bwMode="auto">
            <a:xfrm flipH="1">
              <a:off x="7231063" y="4797152"/>
              <a:ext cx="359964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38" name="直接箭头连接符 37"/>
            <p:cNvCxnSpPr/>
            <p:nvPr/>
          </p:nvCxnSpPr>
          <p:spPr bwMode="auto">
            <a:xfrm>
              <a:off x="4499992" y="4663614"/>
              <a:ext cx="57132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sp>
          <p:nvSpPr>
            <p:cNvPr id="40" name="Text Box 82"/>
            <p:cNvSpPr txBox="1">
              <a:spLocks noChangeArrowheads="1"/>
            </p:cNvSpPr>
            <p:nvPr/>
          </p:nvSpPr>
          <p:spPr bwMode="auto">
            <a:xfrm>
              <a:off x="5070747" y="4365476"/>
              <a:ext cx="936104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设备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控制器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27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 smtClean="0">
                <a:latin typeface="+mn-ea"/>
              </a:rPr>
              <a:t>设备</a:t>
            </a:r>
            <a:r>
              <a:rPr lang="en-US" altLang="zh-CN" sz="1800" b="1" dirty="0">
                <a:latin typeface="+mn-ea"/>
              </a:rPr>
              <a:t>(×)</a:t>
            </a:r>
            <a:r>
              <a:rPr lang="zh-CN" altLang="en-US" sz="2200" b="1" dirty="0" smtClean="0">
                <a:latin typeface="+mn-ea"/>
              </a:rPr>
              <a:t>、存储设备</a:t>
            </a:r>
            <a:r>
              <a:rPr lang="en-US" altLang="zh-CN" sz="2000" b="1" dirty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◇</a:t>
            </a:r>
            <a:r>
              <a:rPr lang="en-US" altLang="zh-CN" sz="2000" b="1" dirty="0" smtClean="0">
                <a:latin typeface="+mn-ea"/>
              </a:rPr>
              <a:t>)</a:t>
            </a:r>
            <a:r>
              <a:rPr lang="zh-CN" altLang="en-US" sz="2200" b="1" dirty="0" smtClean="0">
                <a:latin typeface="+mn-ea"/>
              </a:rPr>
              <a:t>的组成、工作原理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3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3291" grpId="0" bldLvl="0" animBg="1"/>
      <p:bldP spid="223239" grpId="0" bldLvl="0" animBg="1"/>
      <p:bldP spid="57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7E04E-161E-4756-B324-28ED002E2368}" type="slidenum">
              <a:rPr lang="en-US" altLang="zh-CN"/>
            </a:fld>
            <a:endParaRPr lang="en-US" altLang="zh-CN"/>
          </a:p>
        </p:txBody>
      </p:sp>
      <p:sp>
        <p:nvSpPr>
          <p:cNvPr id="236548" name="Text Box 4"/>
          <p:cNvSpPr txBox="1">
            <a:spLocks noChangeArrowheads="1"/>
          </p:cNvSpPr>
          <p:nvPr/>
        </p:nvSpPr>
        <p:spPr bwMode="auto">
          <a:xfrm>
            <a:off x="179263" y="348378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输入设备                    </a:t>
            </a:r>
            <a:r>
              <a:rPr lang="en-US" altLang="zh-CN" sz="2000" b="1" dirty="0" smtClean="0">
                <a:latin typeface="+mn-ea"/>
                <a:ea typeface="+mn-ea"/>
              </a:rPr>
              <a:t>(</a:t>
            </a:r>
            <a:r>
              <a:rPr lang="zh-CN" altLang="en-US" sz="2000" b="1" dirty="0" smtClean="0">
                <a:latin typeface="+mn-ea"/>
                <a:ea typeface="+mn-ea"/>
              </a:rPr>
              <a:t>不考，了解</a:t>
            </a:r>
            <a:r>
              <a:rPr lang="en-US" altLang="zh-CN" sz="2000" b="1" dirty="0" smtClean="0">
                <a:latin typeface="+mn-ea"/>
                <a:ea typeface="+mn-ea"/>
              </a:rPr>
              <a:t>)</a:t>
            </a:r>
            <a:endParaRPr lang="zh-CN" altLang="en-US" sz="2800" b="1" dirty="0">
              <a:latin typeface="+mn-ea"/>
              <a:ea typeface="+mn-ea"/>
            </a:endParaRPr>
          </a:p>
        </p:txBody>
      </p:sp>
      <p:sp>
        <p:nvSpPr>
          <p:cNvPr id="236550" name="Text Box 6"/>
          <p:cNvSpPr txBox="1">
            <a:spLocks noChangeArrowheads="1"/>
          </p:cNvSpPr>
          <p:nvPr/>
        </p:nvSpPr>
        <p:spPr bwMode="auto">
          <a:xfrm>
            <a:off x="179388" y="836712"/>
            <a:ext cx="8785225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键盘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字符设备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179388" y="1276311"/>
            <a:ext cx="4320482" cy="507369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非编码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键盘：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仅按键阵列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(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检测：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行线＝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0</a:t>
            </a:r>
            <a:r>
              <a:rPr lang="zh-CN" altLang="en-US" sz="1800" b="1" dirty="0">
                <a:latin typeface="宋体" panose="02010600030101010101" pitchFamily="2" charset="-122"/>
              </a:rPr>
              <a:t>、列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线＝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0/1)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37198" name="AutoShape 6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897136" y="2644459"/>
            <a:ext cx="3314824" cy="3024340"/>
            <a:chOff x="395536" y="2420889"/>
            <a:chExt cx="3314824" cy="3024340"/>
          </a:xfrm>
        </p:grpSpPr>
        <p:sp>
          <p:nvSpPr>
            <p:cNvPr id="236927" name="Rectangle 383"/>
            <p:cNvSpPr>
              <a:spLocks noChangeArrowheads="1"/>
            </p:cNvSpPr>
            <p:nvPr/>
          </p:nvSpPr>
          <p:spPr bwMode="auto">
            <a:xfrm>
              <a:off x="1262435" y="2420889"/>
              <a:ext cx="2447925" cy="2307852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928" name="Text Box 384"/>
            <p:cNvSpPr txBox="1">
              <a:spLocks noChangeArrowheads="1"/>
            </p:cNvSpPr>
            <p:nvPr/>
          </p:nvSpPr>
          <p:spPr bwMode="auto">
            <a:xfrm>
              <a:off x="683568" y="3267026"/>
              <a:ext cx="361380" cy="14601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并行输出接口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37030" name="Line 486"/>
            <p:cNvSpPr>
              <a:spLocks noChangeShapeType="1"/>
            </p:cNvSpPr>
            <p:nvPr/>
          </p:nvSpPr>
          <p:spPr bwMode="auto">
            <a:xfrm>
              <a:off x="1981573" y="3068588"/>
              <a:ext cx="6350" cy="189167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1" name="Line 487"/>
            <p:cNvSpPr>
              <a:spLocks noChangeShapeType="1"/>
            </p:cNvSpPr>
            <p:nvPr/>
          </p:nvSpPr>
          <p:spPr bwMode="auto">
            <a:xfrm flipH="1">
              <a:off x="2484810" y="3068588"/>
              <a:ext cx="1588" cy="19149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2" name="Line 488"/>
            <p:cNvSpPr>
              <a:spLocks noChangeShapeType="1"/>
            </p:cNvSpPr>
            <p:nvPr/>
          </p:nvSpPr>
          <p:spPr bwMode="auto">
            <a:xfrm>
              <a:off x="2989635" y="3068587"/>
              <a:ext cx="6350" cy="19149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3" name="Line 489"/>
            <p:cNvSpPr>
              <a:spLocks noChangeShapeType="1"/>
            </p:cNvSpPr>
            <p:nvPr/>
          </p:nvSpPr>
          <p:spPr bwMode="auto">
            <a:xfrm>
              <a:off x="3494459" y="3068588"/>
              <a:ext cx="3175" cy="19149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4" name="Line 490"/>
            <p:cNvSpPr>
              <a:spLocks noChangeShapeType="1"/>
            </p:cNvSpPr>
            <p:nvPr/>
          </p:nvSpPr>
          <p:spPr bwMode="auto">
            <a:xfrm>
              <a:off x="1548185" y="4581476"/>
              <a:ext cx="19446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35" name="Rectangle 491"/>
            <p:cNvSpPr>
              <a:spLocks noChangeArrowheads="1"/>
            </p:cNvSpPr>
            <p:nvPr/>
          </p:nvSpPr>
          <p:spPr bwMode="auto">
            <a:xfrm>
              <a:off x="1910135" y="2779663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36" name="Rectangle 492"/>
            <p:cNvSpPr>
              <a:spLocks noChangeArrowheads="1"/>
            </p:cNvSpPr>
            <p:nvPr/>
          </p:nvSpPr>
          <p:spPr bwMode="auto">
            <a:xfrm>
              <a:off x="2413373" y="2779663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37" name="Rectangle 493"/>
            <p:cNvSpPr>
              <a:spLocks noChangeArrowheads="1"/>
            </p:cNvSpPr>
            <p:nvPr/>
          </p:nvSpPr>
          <p:spPr bwMode="auto">
            <a:xfrm>
              <a:off x="2918198" y="2779663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38" name="Rectangle 494"/>
            <p:cNvSpPr>
              <a:spLocks noChangeArrowheads="1"/>
            </p:cNvSpPr>
            <p:nvPr/>
          </p:nvSpPr>
          <p:spPr bwMode="auto">
            <a:xfrm>
              <a:off x="3421435" y="2779663"/>
              <a:ext cx="144463" cy="288925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39" name="Line 495"/>
            <p:cNvSpPr>
              <a:spLocks noChangeShapeType="1"/>
            </p:cNvSpPr>
            <p:nvPr/>
          </p:nvSpPr>
          <p:spPr bwMode="auto">
            <a:xfrm flipH="1">
              <a:off x="3494460" y="2636788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0" name="Line 496"/>
            <p:cNvSpPr>
              <a:spLocks noChangeShapeType="1"/>
            </p:cNvSpPr>
            <p:nvPr/>
          </p:nvSpPr>
          <p:spPr bwMode="auto">
            <a:xfrm flipH="1">
              <a:off x="2989635" y="2636788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1" name="Line 497"/>
            <p:cNvSpPr>
              <a:spLocks noChangeShapeType="1"/>
            </p:cNvSpPr>
            <p:nvPr/>
          </p:nvSpPr>
          <p:spPr bwMode="auto">
            <a:xfrm flipH="1">
              <a:off x="2486398" y="2636788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2" name="Line 498"/>
            <p:cNvSpPr>
              <a:spLocks noChangeShapeType="1"/>
            </p:cNvSpPr>
            <p:nvPr/>
          </p:nvSpPr>
          <p:spPr bwMode="auto">
            <a:xfrm flipH="1">
              <a:off x="1981573" y="2636788"/>
              <a:ext cx="0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3" name="Line 499"/>
            <p:cNvSpPr>
              <a:spLocks noChangeShapeType="1"/>
            </p:cNvSpPr>
            <p:nvPr/>
          </p:nvSpPr>
          <p:spPr bwMode="auto">
            <a:xfrm>
              <a:off x="1837110" y="2636788"/>
              <a:ext cx="16557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4" name="Line 500"/>
            <p:cNvSpPr>
              <a:spLocks noChangeShapeType="1"/>
            </p:cNvSpPr>
            <p:nvPr/>
          </p:nvSpPr>
          <p:spPr bwMode="auto">
            <a:xfrm flipV="1">
              <a:off x="1044948" y="3500388"/>
              <a:ext cx="5032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5" name="Line 501"/>
            <p:cNvSpPr>
              <a:spLocks noChangeShapeType="1"/>
            </p:cNvSpPr>
            <p:nvPr/>
          </p:nvSpPr>
          <p:spPr bwMode="auto">
            <a:xfrm>
              <a:off x="1044948" y="3860751"/>
              <a:ext cx="5048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6" name="Line 502"/>
            <p:cNvSpPr>
              <a:spLocks noChangeShapeType="1"/>
            </p:cNvSpPr>
            <p:nvPr/>
          </p:nvSpPr>
          <p:spPr bwMode="auto">
            <a:xfrm flipV="1">
              <a:off x="1044948" y="4219526"/>
              <a:ext cx="504825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47" name="Line 503"/>
            <p:cNvSpPr>
              <a:spLocks noChangeShapeType="1"/>
            </p:cNvSpPr>
            <p:nvPr/>
          </p:nvSpPr>
          <p:spPr bwMode="auto">
            <a:xfrm>
              <a:off x="1044948" y="4581476"/>
              <a:ext cx="5032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50" name="Text Box 506"/>
            <p:cNvSpPr txBox="1">
              <a:spLocks noChangeArrowheads="1"/>
            </p:cNvSpPr>
            <p:nvPr/>
          </p:nvSpPr>
          <p:spPr bwMode="auto">
            <a:xfrm>
              <a:off x="1313235" y="2492326"/>
              <a:ext cx="452438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en-US" altLang="zh-CN" sz="1800" b="1">
                  <a:latin typeface="宋体" panose="02010600030101010101" pitchFamily="2" charset="-122"/>
                </a:rPr>
                <a:t>+5V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237051" name="Oval 507"/>
            <p:cNvSpPr>
              <a:spLocks noChangeArrowheads="1"/>
            </p:cNvSpPr>
            <p:nvPr/>
          </p:nvSpPr>
          <p:spPr bwMode="auto">
            <a:xfrm>
              <a:off x="1765673" y="259868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54" name="Oval 510"/>
            <p:cNvSpPr>
              <a:spLocks noChangeArrowheads="1"/>
            </p:cNvSpPr>
            <p:nvPr/>
          </p:nvSpPr>
          <p:spPr bwMode="auto">
            <a:xfrm>
              <a:off x="1795835" y="446400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55" name="Oval 511"/>
            <p:cNvSpPr>
              <a:spLocks noChangeArrowheads="1"/>
            </p:cNvSpPr>
            <p:nvPr/>
          </p:nvSpPr>
          <p:spPr bwMode="auto">
            <a:xfrm>
              <a:off x="1867273" y="43909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56" name="Line 512"/>
            <p:cNvSpPr>
              <a:spLocks noChangeShapeType="1"/>
            </p:cNvSpPr>
            <p:nvPr/>
          </p:nvSpPr>
          <p:spPr bwMode="auto">
            <a:xfrm flipH="1">
              <a:off x="1762498" y="4357638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57" name="Line 513"/>
            <p:cNvSpPr>
              <a:spLocks noChangeShapeType="1"/>
            </p:cNvSpPr>
            <p:nvPr/>
          </p:nvSpPr>
          <p:spPr bwMode="auto">
            <a:xfrm flipH="1" flipV="1">
              <a:off x="1764085" y="4359226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58" name="Line 514"/>
            <p:cNvSpPr>
              <a:spLocks noChangeShapeType="1"/>
            </p:cNvSpPr>
            <p:nvPr/>
          </p:nvSpPr>
          <p:spPr bwMode="auto">
            <a:xfrm flipH="1">
              <a:off x="1927598" y="434811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59" name="Line 515"/>
            <p:cNvSpPr>
              <a:spLocks noChangeShapeType="1"/>
            </p:cNvSpPr>
            <p:nvPr/>
          </p:nvSpPr>
          <p:spPr bwMode="auto">
            <a:xfrm flipH="1">
              <a:off x="1759323" y="45211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0" name="Oval 516"/>
            <p:cNvSpPr>
              <a:spLocks noChangeArrowheads="1"/>
            </p:cNvSpPr>
            <p:nvPr/>
          </p:nvSpPr>
          <p:spPr bwMode="auto">
            <a:xfrm>
              <a:off x="2302248" y="447193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61" name="Oval 517"/>
            <p:cNvSpPr>
              <a:spLocks noChangeArrowheads="1"/>
            </p:cNvSpPr>
            <p:nvPr/>
          </p:nvSpPr>
          <p:spPr bwMode="auto">
            <a:xfrm>
              <a:off x="2373685" y="43989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62" name="Line 518"/>
            <p:cNvSpPr>
              <a:spLocks noChangeShapeType="1"/>
            </p:cNvSpPr>
            <p:nvPr/>
          </p:nvSpPr>
          <p:spPr bwMode="auto">
            <a:xfrm flipH="1">
              <a:off x="2268910" y="4365576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3" name="Line 519"/>
            <p:cNvSpPr>
              <a:spLocks noChangeShapeType="1"/>
            </p:cNvSpPr>
            <p:nvPr/>
          </p:nvSpPr>
          <p:spPr bwMode="auto">
            <a:xfrm flipH="1" flipV="1">
              <a:off x="2270498" y="4367163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4" name="Line 520"/>
            <p:cNvSpPr>
              <a:spLocks noChangeShapeType="1"/>
            </p:cNvSpPr>
            <p:nvPr/>
          </p:nvSpPr>
          <p:spPr bwMode="auto">
            <a:xfrm flipH="1">
              <a:off x="2434010" y="43560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5" name="Line 521"/>
            <p:cNvSpPr>
              <a:spLocks noChangeShapeType="1"/>
            </p:cNvSpPr>
            <p:nvPr/>
          </p:nvSpPr>
          <p:spPr bwMode="auto">
            <a:xfrm flipH="1">
              <a:off x="2265735" y="45290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6" name="Oval 522"/>
            <p:cNvSpPr>
              <a:spLocks noChangeArrowheads="1"/>
            </p:cNvSpPr>
            <p:nvPr/>
          </p:nvSpPr>
          <p:spPr bwMode="auto">
            <a:xfrm>
              <a:off x="2803898" y="446400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67" name="Oval 523"/>
            <p:cNvSpPr>
              <a:spLocks noChangeArrowheads="1"/>
            </p:cNvSpPr>
            <p:nvPr/>
          </p:nvSpPr>
          <p:spPr bwMode="auto">
            <a:xfrm>
              <a:off x="2875335" y="43909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68" name="Line 524"/>
            <p:cNvSpPr>
              <a:spLocks noChangeShapeType="1"/>
            </p:cNvSpPr>
            <p:nvPr/>
          </p:nvSpPr>
          <p:spPr bwMode="auto">
            <a:xfrm flipH="1">
              <a:off x="2770560" y="4357638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69" name="Line 525"/>
            <p:cNvSpPr>
              <a:spLocks noChangeShapeType="1"/>
            </p:cNvSpPr>
            <p:nvPr/>
          </p:nvSpPr>
          <p:spPr bwMode="auto">
            <a:xfrm flipH="1" flipV="1">
              <a:off x="2772148" y="4359226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0" name="Line 526"/>
            <p:cNvSpPr>
              <a:spLocks noChangeShapeType="1"/>
            </p:cNvSpPr>
            <p:nvPr/>
          </p:nvSpPr>
          <p:spPr bwMode="auto">
            <a:xfrm flipH="1">
              <a:off x="2935660" y="434811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1" name="Line 527"/>
            <p:cNvSpPr>
              <a:spLocks noChangeShapeType="1"/>
            </p:cNvSpPr>
            <p:nvPr/>
          </p:nvSpPr>
          <p:spPr bwMode="auto">
            <a:xfrm flipH="1">
              <a:off x="2767385" y="45211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2" name="Oval 528"/>
            <p:cNvSpPr>
              <a:spLocks noChangeArrowheads="1"/>
            </p:cNvSpPr>
            <p:nvPr/>
          </p:nvSpPr>
          <p:spPr bwMode="auto">
            <a:xfrm>
              <a:off x="3310310" y="447193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73" name="Oval 529"/>
            <p:cNvSpPr>
              <a:spLocks noChangeArrowheads="1"/>
            </p:cNvSpPr>
            <p:nvPr/>
          </p:nvSpPr>
          <p:spPr bwMode="auto">
            <a:xfrm>
              <a:off x="3381748" y="43989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74" name="Line 530"/>
            <p:cNvSpPr>
              <a:spLocks noChangeShapeType="1"/>
            </p:cNvSpPr>
            <p:nvPr/>
          </p:nvSpPr>
          <p:spPr bwMode="auto">
            <a:xfrm flipH="1">
              <a:off x="3276973" y="4365576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5" name="Line 531"/>
            <p:cNvSpPr>
              <a:spLocks noChangeShapeType="1"/>
            </p:cNvSpPr>
            <p:nvPr/>
          </p:nvSpPr>
          <p:spPr bwMode="auto">
            <a:xfrm flipH="1" flipV="1">
              <a:off x="3278560" y="4367163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6" name="Line 532"/>
            <p:cNvSpPr>
              <a:spLocks noChangeShapeType="1"/>
            </p:cNvSpPr>
            <p:nvPr/>
          </p:nvSpPr>
          <p:spPr bwMode="auto">
            <a:xfrm flipH="1">
              <a:off x="3442073" y="43560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7" name="Line 533"/>
            <p:cNvSpPr>
              <a:spLocks noChangeShapeType="1"/>
            </p:cNvSpPr>
            <p:nvPr/>
          </p:nvSpPr>
          <p:spPr bwMode="auto">
            <a:xfrm flipH="1">
              <a:off x="3273798" y="45290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8" name="Line 534"/>
            <p:cNvSpPr>
              <a:spLocks noChangeShapeType="1"/>
            </p:cNvSpPr>
            <p:nvPr/>
          </p:nvSpPr>
          <p:spPr bwMode="auto">
            <a:xfrm>
              <a:off x="1548185" y="4221113"/>
              <a:ext cx="19446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79" name="Oval 535"/>
            <p:cNvSpPr>
              <a:spLocks noChangeArrowheads="1"/>
            </p:cNvSpPr>
            <p:nvPr/>
          </p:nvSpPr>
          <p:spPr bwMode="auto">
            <a:xfrm>
              <a:off x="1800598" y="410363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80" name="Oval 536"/>
            <p:cNvSpPr>
              <a:spLocks noChangeArrowheads="1"/>
            </p:cNvSpPr>
            <p:nvPr/>
          </p:nvSpPr>
          <p:spPr bwMode="auto">
            <a:xfrm>
              <a:off x="1872035" y="40306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81" name="Line 537"/>
            <p:cNvSpPr>
              <a:spLocks noChangeShapeType="1"/>
            </p:cNvSpPr>
            <p:nvPr/>
          </p:nvSpPr>
          <p:spPr bwMode="auto">
            <a:xfrm flipH="1">
              <a:off x="1767260" y="3997276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2" name="Line 538"/>
            <p:cNvSpPr>
              <a:spLocks noChangeShapeType="1"/>
            </p:cNvSpPr>
            <p:nvPr/>
          </p:nvSpPr>
          <p:spPr bwMode="auto">
            <a:xfrm flipH="1" flipV="1">
              <a:off x="1768848" y="3998863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3" name="Line 539"/>
            <p:cNvSpPr>
              <a:spLocks noChangeShapeType="1"/>
            </p:cNvSpPr>
            <p:nvPr/>
          </p:nvSpPr>
          <p:spPr bwMode="auto">
            <a:xfrm flipH="1">
              <a:off x="1932360" y="39877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4" name="Line 540"/>
            <p:cNvSpPr>
              <a:spLocks noChangeShapeType="1"/>
            </p:cNvSpPr>
            <p:nvPr/>
          </p:nvSpPr>
          <p:spPr bwMode="auto">
            <a:xfrm flipH="1">
              <a:off x="1764085" y="41607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5" name="Oval 541"/>
            <p:cNvSpPr>
              <a:spLocks noChangeArrowheads="1"/>
            </p:cNvSpPr>
            <p:nvPr/>
          </p:nvSpPr>
          <p:spPr bwMode="auto">
            <a:xfrm>
              <a:off x="2307010" y="41115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86" name="Oval 542"/>
            <p:cNvSpPr>
              <a:spLocks noChangeArrowheads="1"/>
            </p:cNvSpPr>
            <p:nvPr/>
          </p:nvSpPr>
          <p:spPr bwMode="auto">
            <a:xfrm>
              <a:off x="2378448" y="40385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87" name="Line 543"/>
            <p:cNvSpPr>
              <a:spLocks noChangeShapeType="1"/>
            </p:cNvSpPr>
            <p:nvPr/>
          </p:nvSpPr>
          <p:spPr bwMode="auto">
            <a:xfrm flipH="1">
              <a:off x="2273673" y="4005213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8" name="Line 544"/>
            <p:cNvSpPr>
              <a:spLocks noChangeShapeType="1"/>
            </p:cNvSpPr>
            <p:nvPr/>
          </p:nvSpPr>
          <p:spPr bwMode="auto">
            <a:xfrm flipH="1" flipV="1">
              <a:off x="2275260" y="4006801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89" name="Line 545"/>
            <p:cNvSpPr>
              <a:spLocks noChangeShapeType="1"/>
            </p:cNvSpPr>
            <p:nvPr/>
          </p:nvSpPr>
          <p:spPr bwMode="auto">
            <a:xfrm flipH="1">
              <a:off x="2438773" y="39956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0" name="Line 546"/>
            <p:cNvSpPr>
              <a:spLocks noChangeShapeType="1"/>
            </p:cNvSpPr>
            <p:nvPr/>
          </p:nvSpPr>
          <p:spPr bwMode="auto">
            <a:xfrm flipH="1">
              <a:off x="2270498" y="41687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1" name="Oval 547"/>
            <p:cNvSpPr>
              <a:spLocks noChangeArrowheads="1"/>
            </p:cNvSpPr>
            <p:nvPr/>
          </p:nvSpPr>
          <p:spPr bwMode="auto">
            <a:xfrm>
              <a:off x="2808660" y="410363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92" name="Oval 548"/>
            <p:cNvSpPr>
              <a:spLocks noChangeArrowheads="1"/>
            </p:cNvSpPr>
            <p:nvPr/>
          </p:nvSpPr>
          <p:spPr bwMode="auto">
            <a:xfrm>
              <a:off x="2880098" y="40306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93" name="Line 549"/>
            <p:cNvSpPr>
              <a:spLocks noChangeShapeType="1"/>
            </p:cNvSpPr>
            <p:nvPr/>
          </p:nvSpPr>
          <p:spPr bwMode="auto">
            <a:xfrm flipH="1">
              <a:off x="2775323" y="3997276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4" name="Line 550"/>
            <p:cNvSpPr>
              <a:spLocks noChangeShapeType="1"/>
            </p:cNvSpPr>
            <p:nvPr/>
          </p:nvSpPr>
          <p:spPr bwMode="auto">
            <a:xfrm flipH="1" flipV="1">
              <a:off x="2776910" y="3998863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5" name="Line 551"/>
            <p:cNvSpPr>
              <a:spLocks noChangeShapeType="1"/>
            </p:cNvSpPr>
            <p:nvPr/>
          </p:nvSpPr>
          <p:spPr bwMode="auto">
            <a:xfrm flipH="1">
              <a:off x="2940423" y="398775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6" name="Line 552"/>
            <p:cNvSpPr>
              <a:spLocks noChangeShapeType="1"/>
            </p:cNvSpPr>
            <p:nvPr/>
          </p:nvSpPr>
          <p:spPr bwMode="auto">
            <a:xfrm flipH="1">
              <a:off x="2772148" y="41607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097" name="Oval 553"/>
            <p:cNvSpPr>
              <a:spLocks noChangeArrowheads="1"/>
            </p:cNvSpPr>
            <p:nvPr/>
          </p:nvSpPr>
          <p:spPr bwMode="auto">
            <a:xfrm>
              <a:off x="3315073" y="41115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98" name="Oval 554"/>
            <p:cNvSpPr>
              <a:spLocks noChangeArrowheads="1"/>
            </p:cNvSpPr>
            <p:nvPr/>
          </p:nvSpPr>
          <p:spPr bwMode="auto">
            <a:xfrm>
              <a:off x="3386510" y="40385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099" name="Line 555"/>
            <p:cNvSpPr>
              <a:spLocks noChangeShapeType="1"/>
            </p:cNvSpPr>
            <p:nvPr/>
          </p:nvSpPr>
          <p:spPr bwMode="auto">
            <a:xfrm flipH="1">
              <a:off x="3281735" y="4005213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0" name="Line 556"/>
            <p:cNvSpPr>
              <a:spLocks noChangeShapeType="1"/>
            </p:cNvSpPr>
            <p:nvPr/>
          </p:nvSpPr>
          <p:spPr bwMode="auto">
            <a:xfrm flipH="1" flipV="1">
              <a:off x="3283323" y="4006801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1" name="Line 557"/>
            <p:cNvSpPr>
              <a:spLocks noChangeShapeType="1"/>
            </p:cNvSpPr>
            <p:nvPr/>
          </p:nvSpPr>
          <p:spPr bwMode="auto">
            <a:xfrm flipH="1">
              <a:off x="3446835" y="39956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2" name="Line 558"/>
            <p:cNvSpPr>
              <a:spLocks noChangeShapeType="1"/>
            </p:cNvSpPr>
            <p:nvPr/>
          </p:nvSpPr>
          <p:spPr bwMode="auto">
            <a:xfrm flipH="1">
              <a:off x="3278560" y="41687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3" name="Line 559"/>
            <p:cNvSpPr>
              <a:spLocks noChangeShapeType="1"/>
            </p:cNvSpPr>
            <p:nvPr/>
          </p:nvSpPr>
          <p:spPr bwMode="auto">
            <a:xfrm>
              <a:off x="1548185" y="3860751"/>
              <a:ext cx="19446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4" name="Line 560"/>
            <p:cNvSpPr>
              <a:spLocks noChangeShapeType="1"/>
            </p:cNvSpPr>
            <p:nvPr/>
          </p:nvSpPr>
          <p:spPr bwMode="auto">
            <a:xfrm>
              <a:off x="1548185" y="3500388"/>
              <a:ext cx="19446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5" name="Oval 561"/>
            <p:cNvSpPr>
              <a:spLocks noChangeArrowheads="1"/>
            </p:cNvSpPr>
            <p:nvPr/>
          </p:nvSpPr>
          <p:spPr bwMode="auto">
            <a:xfrm>
              <a:off x="1800598" y="37432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06" name="Oval 562"/>
            <p:cNvSpPr>
              <a:spLocks noChangeArrowheads="1"/>
            </p:cNvSpPr>
            <p:nvPr/>
          </p:nvSpPr>
          <p:spPr bwMode="auto">
            <a:xfrm>
              <a:off x="1872035" y="36702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07" name="Line 563"/>
            <p:cNvSpPr>
              <a:spLocks noChangeShapeType="1"/>
            </p:cNvSpPr>
            <p:nvPr/>
          </p:nvSpPr>
          <p:spPr bwMode="auto">
            <a:xfrm flipH="1">
              <a:off x="1767260" y="3636913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8" name="Line 564"/>
            <p:cNvSpPr>
              <a:spLocks noChangeShapeType="1"/>
            </p:cNvSpPr>
            <p:nvPr/>
          </p:nvSpPr>
          <p:spPr bwMode="auto">
            <a:xfrm flipH="1" flipV="1">
              <a:off x="1768848" y="3638501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09" name="Line 565"/>
            <p:cNvSpPr>
              <a:spLocks noChangeShapeType="1"/>
            </p:cNvSpPr>
            <p:nvPr/>
          </p:nvSpPr>
          <p:spPr bwMode="auto">
            <a:xfrm flipH="1">
              <a:off x="1932360" y="36273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0" name="Line 566"/>
            <p:cNvSpPr>
              <a:spLocks noChangeShapeType="1"/>
            </p:cNvSpPr>
            <p:nvPr/>
          </p:nvSpPr>
          <p:spPr bwMode="auto">
            <a:xfrm flipH="1">
              <a:off x="1764085" y="38004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1" name="Oval 567"/>
            <p:cNvSpPr>
              <a:spLocks noChangeArrowheads="1"/>
            </p:cNvSpPr>
            <p:nvPr/>
          </p:nvSpPr>
          <p:spPr bwMode="auto">
            <a:xfrm>
              <a:off x="2307010" y="37512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12" name="Oval 568"/>
            <p:cNvSpPr>
              <a:spLocks noChangeArrowheads="1"/>
            </p:cNvSpPr>
            <p:nvPr/>
          </p:nvSpPr>
          <p:spPr bwMode="auto">
            <a:xfrm>
              <a:off x="2378448" y="367818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13" name="Line 569"/>
            <p:cNvSpPr>
              <a:spLocks noChangeShapeType="1"/>
            </p:cNvSpPr>
            <p:nvPr/>
          </p:nvSpPr>
          <p:spPr bwMode="auto">
            <a:xfrm flipH="1">
              <a:off x="2273673" y="3644851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4" name="Line 570"/>
            <p:cNvSpPr>
              <a:spLocks noChangeShapeType="1"/>
            </p:cNvSpPr>
            <p:nvPr/>
          </p:nvSpPr>
          <p:spPr bwMode="auto">
            <a:xfrm flipH="1" flipV="1">
              <a:off x="2275260" y="3646438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5" name="Line 571"/>
            <p:cNvSpPr>
              <a:spLocks noChangeShapeType="1"/>
            </p:cNvSpPr>
            <p:nvPr/>
          </p:nvSpPr>
          <p:spPr bwMode="auto">
            <a:xfrm flipH="1">
              <a:off x="2438773" y="36353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6" name="Line 572"/>
            <p:cNvSpPr>
              <a:spLocks noChangeShapeType="1"/>
            </p:cNvSpPr>
            <p:nvPr/>
          </p:nvSpPr>
          <p:spPr bwMode="auto">
            <a:xfrm flipH="1">
              <a:off x="2270498" y="38083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17" name="Oval 573"/>
            <p:cNvSpPr>
              <a:spLocks noChangeArrowheads="1"/>
            </p:cNvSpPr>
            <p:nvPr/>
          </p:nvSpPr>
          <p:spPr bwMode="auto">
            <a:xfrm>
              <a:off x="2808660" y="374327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18" name="Oval 574"/>
            <p:cNvSpPr>
              <a:spLocks noChangeArrowheads="1"/>
            </p:cNvSpPr>
            <p:nvPr/>
          </p:nvSpPr>
          <p:spPr bwMode="auto">
            <a:xfrm>
              <a:off x="2880098" y="36702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19" name="Line 575"/>
            <p:cNvSpPr>
              <a:spLocks noChangeShapeType="1"/>
            </p:cNvSpPr>
            <p:nvPr/>
          </p:nvSpPr>
          <p:spPr bwMode="auto">
            <a:xfrm flipH="1">
              <a:off x="2775323" y="3636913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0" name="Line 576"/>
            <p:cNvSpPr>
              <a:spLocks noChangeShapeType="1"/>
            </p:cNvSpPr>
            <p:nvPr/>
          </p:nvSpPr>
          <p:spPr bwMode="auto">
            <a:xfrm flipH="1" flipV="1">
              <a:off x="2776910" y="3638501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1" name="Line 577"/>
            <p:cNvSpPr>
              <a:spLocks noChangeShapeType="1"/>
            </p:cNvSpPr>
            <p:nvPr/>
          </p:nvSpPr>
          <p:spPr bwMode="auto">
            <a:xfrm flipH="1">
              <a:off x="2940423" y="3627388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2" name="Line 578"/>
            <p:cNvSpPr>
              <a:spLocks noChangeShapeType="1"/>
            </p:cNvSpPr>
            <p:nvPr/>
          </p:nvSpPr>
          <p:spPr bwMode="auto">
            <a:xfrm flipH="1">
              <a:off x="2772148" y="38004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3" name="Oval 579"/>
            <p:cNvSpPr>
              <a:spLocks noChangeArrowheads="1"/>
            </p:cNvSpPr>
            <p:nvPr/>
          </p:nvSpPr>
          <p:spPr bwMode="auto">
            <a:xfrm>
              <a:off x="3315073" y="37512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24" name="Oval 580"/>
            <p:cNvSpPr>
              <a:spLocks noChangeArrowheads="1"/>
            </p:cNvSpPr>
            <p:nvPr/>
          </p:nvSpPr>
          <p:spPr bwMode="auto">
            <a:xfrm>
              <a:off x="3386510" y="367818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25" name="Line 581"/>
            <p:cNvSpPr>
              <a:spLocks noChangeShapeType="1"/>
            </p:cNvSpPr>
            <p:nvPr/>
          </p:nvSpPr>
          <p:spPr bwMode="auto">
            <a:xfrm flipH="1">
              <a:off x="3281735" y="3644851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6" name="Line 582"/>
            <p:cNvSpPr>
              <a:spLocks noChangeShapeType="1"/>
            </p:cNvSpPr>
            <p:nvPr/>
          </p:nvSpPr>
          <p:spPr bwMode="auto">
            <a:xfrm flipH="1" flipV="1">
              <a:off x="3283323" y="3646438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7" name="Line 583"/>
            <p:cNvSpPr>
              <a:spLocks noChangeShapeType="1"/>
            </p:cNvSpPr>
            <p:nvPr/>
          </p:nvSpPr>
          <p:spPr bwMode="auto">
            <a:xfrm flipH="1">
              <a:off x="3446835" y="36353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8" name="Line 584"/>
            <p:cNvSpPr>
              <a:spLocks noChangeShapeType="1"/>
            </p:cNvSpPr>
            <p:nvPr/>
          </p:nvSpPr>
          <p:spPr bwMode="auto">
            <a:xfrm flipH="1">
              <a:off x="3278560" y="38083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29" name="Oval 585"/>
            <p:cNvSpPr>
              <a:spLocks noChangeArrowheads="1"/>
            </p:cNvSpPr>
            <p:nvPr/>
          </p:nvSpPr>
          <p:spPr bwMode="auto">
            <a:xfrm>
              <a:off x="1805360" y="33829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30" name="Oval 586"/>
            <p:cNvSpPr>
              <a:spLocks noChangeArrowheads="1"/>
            </p:cNvSpPr>
            <p:nvPr/>
          </p:nvSpPr>
          <p:spPr bwMode="auto">
            <a:xfrm>
              <a:off x="1876798" y="330988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31" name="Line 587"/>
            <p:cNvSpPr>
              <a:spLocks noChangeShapeType="1"/>
            </p:cNvSpPr>
            <p:nvPr/>
          </p:nvSpPr>
          <p:spPr bwMode="auto">
            <a:xfrm flipH="1">
              <a:off x="1772023" y="3276551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2" name="Line 588"/>
            <p:cNvSpPr>
              <a:spLocks noChangeShapeType="1"/>
            </p:cNvSpPr>
            <p:nvPr/>
          </p:nvSpPr>
          <p:spPr bwMode="auto">
            <a:xfrm flipH="1" flipV="1">
              <a:off x="1773610" y="3278138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3" name="Line 589"/>
            <p:cNvSpPr>
              <a:spLocks noChangeShapeType="1"/>
            </p:cNvSpPr>
            <p:nvPr/>
          </p:nvSpPr>
          <p:spPr bwMode="auto">
            <a:xfrm flipH="1">
              <a:off x="1937123" y="32670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4" name="Line 590"/>
            <p:cNvSpPr>
              <a:spLocks noChangeShapeType="1"/>
            </p:cNvSpPr>
            <p:nvPr/>
          </p:nvSpPr>
          <p:spPr bwMode="auto">
            <a:xfrm flipH="1">
              <a:off x="1768848" y="34400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5" name="Oval 591"/>
            <p:cNvSpPr>
              <a:spLocks noChangeArrowheads="1"/>
            </p:cNvSpPr>
            <p:nvPr/>
          </p:nvSpPr>
          <p:spPr bwMode="auto">
            <a:xfrm>
              <a:off x="2311773" y="33908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36" name="Oval 592"/>
            <p:cNvSpPr>
              <a:spLocks noChangeArrowheads="1"/>
            </p:cNvSpPr>
            <p:nvPr/>
          </p:nvSpPr>
          <p:spPr bwMode="auto">
            <a:xfrm>
              <a:off x="2383210" y="331782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37" name="Line 593"/>
            <p:cNvSpPr>
              <a:spLocks noChangeShapeType="1"/>
            </p:cNvSpPr>
            <p:nvPr/>
          </p:nvSpPr>
          <p:spPr bwMode="auto">
            <a:xfrm flipH="1">
              <a:off x="2278435" y="3284488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8" name="Line 594"/>
            <p:cNvSpPr>
              <a:spLocks noChangeShapeType="1"/>
            </p:cNvSpPr>
            <p:nvPr/>
          </p:nvSpPr>
          <p:spPr bwMode="auto">
            <a:xfrm flipH="1" flipV="1">
              <a:off x="2280023" y="3286076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39" name="Line 595"/>
            <p:cNvSpPr>
              <a:spLocks noChangeShapeType="1"/>
            </p:cNvSpPr>
            <p:nvPr/>
          </p:nvSpPr>
          <p:spPr bwMode="auto">
            <a:xfrm flipH="1">
              <a:off x="2443535" y="32749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0" name="Line 596"/>
            <p:cNvSpPr>
              <a:spLocks noChangeShapeType="1"/>
            </p:cNvSpPr>
            <p:nvPr/>
          </p:nvSpPr>
          <p:spPr bwMode="auto">
            <a:xfrm flipH="1">
              <a:off x="2275260" y="344800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1" name="Oval 597"/>
            <p:cNvSpPr>
              <a:spLocks noChangeArrowheads="1"/>
            </p:cNvSpPr>
            <p:nvPr/>
          </p:nvSpPr>
          <p:spPr bwMode="auto">
            <a:xfrm>
              <a:off x="2813423" y="3382913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42" name="Oval 598"/>
            <p:cNvSpPr>
              <a:spLocks noChangeArrowheads="1"/>
            </p:cNvSpPr>
            <p:nvPr/>
          </p:nvSpPr>
          <p:spPr bwMode="auto">
            <a:xfrm>
              <a:off x="2884860" y="3309888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43" name="Line 599"/>
            <p:cNvSpPr>
              <a:spLocks noChangeShapeType="1"/>
            </p:cNvSpPr>
            <p:nvPr/>
          </p:nvSpPr>
          <p:spPr bwMode="auto">
            <a:xfrm flipH="1">
              <a:off x="2780085" y="3276551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4" name="Line 600"/>
            <p:cNvSpPr>
              <a:spLocks noChangeShapeType="1"/>
            </p:cNvSpPr>
            <p:nvPr/>
          </p:nvSpPr>
          <p:spPr bwMode="auto">
            <a:xfrm flipH="1" flipV="1">
              <a:off x="2781673" y="3278138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5" name="Line 601"/>
            <p:cNvSpPr>
              <a:spLocks noChangeShapeType="1"/>
            </p:cNvSpPr>
            <p:nvPr/>
          </p:nvSpPr>
          <p:spPr bwMode="auto">
            <a:xfrm flipH="1">
              <a:off x="2945185" y="3267026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6" name="Line 602"/>
            <p:cNvSpPr>
              <a:spLocks noChangeShapeType="1"/>
            </p:cNvSpPr>
            <p:nvPr/>
          </p:nvSpPr>
          <p:spPr bwMode="auto">
            <a:xfrm flipH="1">
              <a:off x="2776910" y="34400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47" name="Oval 603"/>
            <p:cNvSpPr>
              <a:spLocks noChangeArrowheads="1"/>
            </p:cNvSpPr>
            <p:nvPr/>
          </p:nvSpPr>
          <p:spPr bwMode="auto">
            <a:xfrm>
              <a:off x="3319835" y="3390851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48" name="Oval 604"/>
            <p:cNvSpPr>
              <a:spLocks noChangeArrowheads="1"/>
            </p:cNvSpPr>
            <p:nvPr/>
          </p:nvSpPr>
          <p:spPr bwMode="auto">
            <a:xfrm>
              <a:off x="3391273" y="3317826"/>
              <a:ext cx="71438" cy="73025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7149" name="Line 605"/>
            <p:cNvSpPr>
              <a:spLocks noChangeShapeType="1"/>
            </p:cNvSpPr>
            <p:nvPr/>
          </p:nvSpPr>
          <p:spPr bwMode="auto">
            <a:xfrm flipH="1">
              <a:off x="3286498" y="3284488"/>
              <a:ext cx="104775" cy="1063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0" name="Line 606"/>
            <p:cNvSpPr>
              <a:spLocks noChangeShapeType="1"/>
            </p:cNvSpPr>
            <p:nvPr/>
          </p:nvSpPr>
          <p:spPr bwMode="auto">
            <a:xfrm flipH="1" flipV="1">
              <a:off x="3288085" y="3286076"/>
              <a:ext cx="49213" cy="476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1" name="Line 607"/>
            <p:cNvSpPr>
              <a:spLocks noChangeShapeType="1"/>
            </p:cNvSpPr>
            <p:nvPr/>
          </p:nvSpPr>
          <p:spPr bwMode="auto">
            <a:xfrm flipH="1">
              <a:off x="3451598" y="3274963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152" name="Line 608"/>
            <p:cNvSpPr>
              <a:spLocks noChangeShapeType="1"/>
            </p:cNvSpPr>
            <p:nvPr/>
          </p:nvSpPr>
          <p:spPr bwMode="auto">
            <a:xfrm flipH="1">
              <a:off x="3283323" y="3448001"/>
              <a:ext cx="50800" cy="5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Text Box 384"/>
            <p:cNvSpPr txBox="1">
              <a:spLocks noChangeArrowheads="1"/>
            </p:cNvSpPr>
            <p:nvPr/>
          </p:nvSpPr>
          <p:spPr bwMode="auto">
            <a:xfrm>
              <a:off x="1848693" y="4960267"/>
              <a:ext cx="1787203" cy="34094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并行输入接口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" name="直接箭头连接符 2"/>
            <p:cNvCxnSpPr>
              <a:endCxn id="236928" idx="1"/>
            </p:cNvCxnSpPr>
            <p:nvPr/>
          </p:nvCxnSpPr>
          <p:spPr bwMode="auto">
            <a:xfrm>
              <a:off x="395536" y="3995688"/>
              <a:ext cx="288032" cy="1402"/>
            </a:xfrm>
            <a:prstGeom prst="straightConnector1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80" name="直接箭头连接符 179"/>
            <p:cNvCxnSpPr>
              <a:stCxn id="177" idx="2"/>
            </p:cNvCxnSpPr>
            <p:nvPr/>
          </p:nvCxnSpPr>
          <p:spPr bwMode="auto">
            <a:xfrm rot="5400000">
              <a:off x="1496906" y="4199839"/>
              <a:ext cx="144021" cy="2346759"/>
            </a:xfrm>
            <a:prstGeom prst="bentConnector2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184" name="Text Box 7"/>
          <p:cNvSpPr txBox="1">
            <a:spLocks noChangeArrowheads="1"/>
          </p:cNvSpPr>
          <p:nvPr/>
        </p:nvSpPr>
        <p:spPr bwMode="auto">
          <a:xfrm>
            <a:off x="2555776" y="5740807"/>
            <a:ext cx="597666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软件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键盘扫描程序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实现</a:t>
            </a:r>
            <a:r>
              <a:rPr lang="zh-CN" altLang="en-US" b="1" dirty="0">
                <a:latin typeface="宋体" panose="02010600030101010101" pitchFamily="2" charset="-122"/>
              </a:rPr>
              <a:t>按键</a:t>
            </a:r>
            <a:r>
              <a:rPr lang="zh-CN" altLang="en-US" b="1" dirty="0" smtClean="0">
                <a:latin typeface="宋体" panose="02010600030101010101" pitchFamily="2" charset="-122"/>
              </a:rPr>
              <a:t>检测、编码</a:t>
            </a:r>
            <a:r>
              <a:rPr lang="zh-CN" altLang="en-US" b="1" dirty="0">
                <a:latin typeface="宋体" panose="02010600030101010101" pitchFamily="2" charset="-122"/>
              </a:rPr>
              <a:t>转换</a:t>
            </a:r>
            <a:endParaRPr lang="zh-CN" altLang="en-US" b="1" dirty="0"/>
          </a:p>
        </p:txBody>
      </p:sp>
      <p:grpSp>
        <p:nvGrpSpPr>
          <p:cNvPr id="185" name="组合 184"/>
          <p:cNvGrpSpPr/>
          <p:nvPr/>
        </p:nvGrpSpPr>
        <p:grpSpPr>
          <a:xfrm>
            <a:off x="4571878" y="1780367"/>
            <a:ext cx="4248594" cy="3888432"/>
            <a:chOff x="3059832" y="1556792"/>
            <a:chExt cx="4248594" cy="3888432"/>
          </a:xfrm>
        </p:grpSpPr>
        <p:sp>
          <p:nvSpPr>
            <p:cNvPr id="186" name="Text Box 611"/>
            <p:cNvSpPr txBox="1">
              <a:spLocks noChangeArrowheads="1"/>
            </p:cNvSpPr>
            <p:nvPr/>
          </p:nvSpPr>
          <p:spPr bwMode="auto">
            <a:xfrm>
              <a:off x="3203847" y="3140968"/>
              <a:ext cx="2016225" cy="288032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行号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i←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0,L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←1110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613"/>
            <p:cNvSpPr txBox="1">
              <a:spLocks noChangeArrowheads="1"/>
            </p:cNvSpPr>
            <p:nvPr/>
          </p:nvSpPr>
          <p:spPr bwMode="auto">
            <a:xfrm>
              <a:off x="3995489" y="2930177"/>
              <a:ext cx="144463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AutoShape 614"/>
            <p:cNvSpPr>
              <a:spLocks noChangeArrowheads="1"/>
            </p:cNvSpPr>
            <p:nvPr/>
          </p:nvSpPr>
          <p:spPr bwMode="auto">
            <a:xfrm>
              <a:off x="3347864" y="2644427"/>
              <a:ext cx="1727200" cy="285750"/>
            </a:xfrm>
            <a:prstGeom prst="diamond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C=1111?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9" name="Text Box 615"/>
            <p:cNvSpPr txBox="1">
              <a:spLocks noChangeArrowheads="1"/>
            </p:cNvSpPr>
            <p:nvPr/>
          </p:nvSpPr>
          <p:spPr bwMode="auto">
            <a:xfrm>
              <a:off x="3203848" y="1777652"/>
              <a:ext cx="2016919" cy="28319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输出行线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L(L=0000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0" name="Text Box 618"/>
            <p:cNvSpPr txBox="1">
              <a:spLocks noChangeArrowheads="1"/>
            </p:cNvSpPr>
            <p:nvPr/>
          </p:nvSpPr>
          <p:spPr bwMode="auto">
            <a:xfrm>
              <a:off x="3203848" y="2204864"/>
              <a:ext cx="2016919" cy="28575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输入列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1" name="Text Box 623"/>
            <p:cNvSpPr txBox="1">
              <a:spLocks noChangeArrowheads="1"/>
            </p:cNvSpPr>
            <p:nvPr/>
          </p:nvSpPr>
          <p:spPr bwMode="auto">
            <a:xfrm>
              <a:off x="5724129" y="3827884"/>
              <a:ext cx="1295400" cy="576263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36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 err="1">
                  <a:latin typeface="宋体" panose="02010600030101010101" pitchFamily="2" charset="-122"/>
                </a:rPr>
                <a:t>i←i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L←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L&lt;&lt;</a:t>
              </a:r>
              <a:r>
                <a:rPr lang="zh-CN" altLang="en-US" sz="1800" b="1" baseline="-14000" dirty="0" smtClean="0">
                  <a:latin typeface="宋体" panose="02010600030101010101" pitchFamily="2" charset="-122"/>
                </a:rPr>
                <a:t>循环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2" name="Text Box 624"/>
            <p:cNvSpPr txBox="1">
              <a:spLocks noChangeArrowheads="1"/>
            </p:cNvSpPr>
            <p:nvPr/>
          </p:nvSpPr>
          <p:spPr bwMode="auto">
            <a:xfrm>
              <a:off x="3203848" y="5015458"/>
              <a:ext cx="2518122" cy="285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键号</a:t>
              </a:r>
              <a:r>
                <a:rPr lang="en-US" altLang="zh-CN" sz="1800" b="1" dirty="0" err="1">
                  <a:latin typeface="宋体" panose="02010600030101010101" pitchFamily="2" charset="-122"/>
                </a:rPr>
                <a:t>k←i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*4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＋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C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对应列号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3" name="AutoShape 630"/>
            <p:cNvSpPr>
              <a:spLocks noChangeArrowheads="1"/>
            </p:cNvSpPr>
            <p:nvPr/>
          </p:nvSpPr>
          <p:spPr bwMode="auto">
            <a:xfrm>
              <a:off x="5724128" y="4578771"/>
              <a:ext cx="1295400" cy="288925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 err="1" smtClean="0">
                  <a:latin typeface="+mn-ea"/>
                  <a:ea typeface="+mn-ea"/>
                </a:rPr>
                <a:t>i</a:t>
              </a:r>
              <a:r>
                <a:rPr lang="zh-CN" altLang="en-US" sz="1800" b="1" dirty="0" smtClean="0">
                  <a:latin typeface="+mn-ea"/>
                  <a:ea typeface="+mn-ea"/>
                </a:rPr>
                <a:t>＞</a:t>
              </a:r>
              <a:r>
                <a:rPr lang="en-US" altLang="zh-CN" sz="1800" b="1" dirty="0" smtClean="0">
                  <a:latin typeface="+mn-ea"/>
                  <a:ea typeface="+mn-ea"/>
                </a:rPr>
                <a:t>3?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94" name="Text Box 634"/>
            <p:cNvSpPr txBox="1">
              <a:spLocks noChangeArrowheads="1"/>
            </p:cNvSpPr>
            <p:nvPr/>
          </p:nvSpPr>
          <p:spPr bwMode="auto">
            <a:xfrm>
              <a:off x="6182717" y="4869284"/>
              <a:ext cx="117475" cy="2143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Y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195" name="Text Box 635"/>
            <p:cNvSpPr txBox="1">
              <a:spLocks noChangeArrowheads="1"/>
            </p:cNvSpPr>
            <p:nvPr/>
          </p:nvSpPr>
          <p:spPr bwMode="auto">
            <a:xfrm>
              <a:off x="3203848" y="2566640"/>
              <a:ext cx="144463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6" name="Text Box 636"/>
            <p:cNvSpPr txBox="1">
              <a:spLocks noChangeArrowheads="1"/>
            </p:cNvSpPr>
            <p:nvPr/>
          </p:nvSpPr>
          <p:spPr bwMode="auto">
            <a:xfrm>
              <a:off x="6981428" y="4548609"/>
              <a:ext cx="144018" cy="17462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7" name="Text Box 639"/>
            <p:cNvSpPr txBox="1">
              <a:spLocks noChangeArrowheads="1"/>
            </p:cNvSpPr>
            <p:nvPr/>
          </p:nvSpPr>
          <p:spPr bwMode="auto">
            <a:xfrm>
              <a:off x="3565574" y="3647306"/>
              <a:ext cx="1296988" cy="288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输出行线</a:t>
              </a:r>
              <a:r>
                <a:rPr lang="en-US" altLang="zh-CN" sz="1800" b="1">
                  <a:latin typeface="宋体" panose="02010600030101010101" pitchFamily="2" charset="-122"/>
                </a:rPr>
                <a:t>L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198" name="Text Box 641"/>
            <p:cNvSpPr txBox="1">
              <a:spLocks noChangeArrowheads="1"/>
            </p:cNvSpPr>
            <p:nvPr/>
          </p:nvSpPr>
          <p:spPr bwMode="auto">
            <a:xfrm>
              <a:off x="3565574" y="4079354"/>
              <a:ext cx="1296988" cy="2857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输入列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线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9" name="AutoShape 650"/>
            <p:cNvSpPr>
              <a:spLocks noChangeArrowheads="1"/>
            </p:cNvSpPr>
            <p:nvPr/>
          </p:nvSpPr>
          <p:spPr bwMode="auto">
            <a:xfrm>
              <a:off x="3350468" y="4511402"/>
              <a:ext cx="1727200" cy="285750"/>
            </a:xfrm>
            <a:prstGeom prst="diamond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0" tIns="0" rIns="0" bIns="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C=1111?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200" name="直接箭头连接符 199"/>
            <p:cNvCxnSpPr>
              <a:stCxn id="189" idx="2"/>
              <a:endCxn id="190" idx="0"/>
            </p:cNvCxnSpPr>
            <p:nvPr/>
          </p:nvCxnSpPr>
          <p:spPr bwMode="auto">
            <a:xfrm>
              <a:off x="4212308" y="2060848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1" name="直接箭头连接符 200"/>
            <p:cNvCxnSpPr/>
            <p:nvPr/>
          </p:nvCxnSpPr>
          <p:spPr bwMode="auto">
            <a:xfrm>
              <a:off x="4211464" y="1556792"/>
              <a:ext cx="496" cy="2160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2" name="直接箭头连接符 201"/>
            <p:cNvCxnSpPr>
              <a:stCxn id="190" idx="2"/>
              <a:endCxn id="188" idx="0"/>
            </p:cNvCxnSpPr>
            <p:nvPr/>
          </p:nvCxnSpPr>
          <p:spPr bwMode="auto">
            <a:xfrm flipH="1">
              <a:off x="4211464" y="2490614"/>
              <a:ext cx="844" cy="15381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3" name="直接箭头连接符 202"/>
            <p:cNvCxnSpPr>
              <a:stCxn id="188" idx="2"/>
              <a:endCxn id="186" idx="0"/>
            </p:cNvCxnSpPr>
            <p:nvPr/>
          </p:nvCxnSpPr>
          <p:spPr bwMode="auto">
            <a:xfrm>
              <a:off x="4211464" y="2930177"/>
              <a:ext cx="496" cy="21079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4" name="直接箭头连接符 203"/>
            <p:cNvCxnSpPr/>
            <p:nvPr/>
          </p:nvCxnSpPr>
          <p:spPr bwMode="auto">
            <a:xfrm>
              <a:off x="3059832" y="1631602"/>
              <a:ext cx="115163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5" name="直接箭头连接符 106"/>
            <p:cNvCxnSpPr>
              <a:stCxn id="188" idx="1"/>
            </p:cNvCxnSpPr>
            <p:nvPr/>
          </p:nvCxnSpPr>
          <p:spPr bwMode="auto">
            <a:xfrm rot="10800000">
              <a:off x="3059832" y="1631602"/>
              <a:ext cx="288032" cy="1155700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6" name="直接箭头连接符 106"/>
            <p:cNvCxnSpPr>
              <a:stCxn id="199" idx="3"/>
            </p:cNvCxnSpPr>
            <p:nvPr/>
          </p:nvCxnSpPr>
          <p:spPr bwMode="auto">
            <a:xfrm flipV="1">
              <a:off x="5077668" y="3647306"/>
              <a:ext cx="1294160" cy="1006971"/>
            </a:xfrm>
            <a:prstGeom prst="bentConnector3">
              <a:avLst>
                <a:gd name="adj1" fmla="val 1997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直接箭头连接符 206"/>
            <p:cNvCxnSpPr>
              <a:stCxn id="186" idx="2"/>
              <a:endCxn id="197" idx="0"/>
            </p:cNvCxnSpPr>
            <p:nvPr/>
          </p:nvCxnSpPr>
          <p:spPr bwMode="auto">
            <a:xfrm>
              <a:off x="4211960" y="3429000"/>
              <a:ext cx="2108" cy="21830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8" name="直接箭头连接符 207"/>
            <p:cNvCxnSpPr>
              <a:stCxn id="197" idx="2"/>
              <a:endCxn id="198" idx="0"/>
            </p:cNvCxnSpPr>
            <p:nvPr/>
          </p:nvCxnSpPr>
          <p:spPr bwMode="auto">
            <a:xfrm>
              <a:off x="4214068" y="3936231"/>
              <a:ext cx="0" cy="14312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9" name="直接箭头连接符 208"/>
            <p:cNvCxnSpPr>
              <a:stCxn id="198" idx="2"/>
              <a:endCxn id="199" idx="0"/>
            </p:cNvCxnSpPr>
            <p:nvPr/>
          </p:nvCxnSpPr>
          <p:spPr bwMode="auto">
            <a:xfrm>
              <a:off x="4214068" y="4365104"/>
              <a:ext cx="0" cy="14629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0" name="直接箭头连接符 209"/>
            <p:cNvCxnSpPr>
              <a:stCxn id="199" idx="2"/>
            </p:cNvCxnSpPr>
            <p:nvPr/>
          </p:nvCxnSpPr>
          <p:spPr bwMode="auto">
            <a:xfrm flipH="1">
              <a:off x="4213225" y="4797152"/>
              <a:ext cx="843" cy="21830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11" name="Text Box 635"/>
            <p:cNvSpPr txBox="1">
              <a:spLocks noChangeArrowheads="1"/>
            </p:cNvSpPr>
            <p:nvPr/>
          </p:nvSpPr>
          <p:spPr bwMode="auto">
            <a:xfrm>
              <a:off x="3995936" y="4797276"/>
              <a:ext cx="144463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箭头连接符 211"/>
            <p:cNvCxnSpPr/>
            <p:nvPr/>
          </p:nvCxnSpPr>
          <p:spPr bwMode="auto">
            <a:xfrm>
              <a:off x="4214069" y="5301208"/>
              <a:ext cx="1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3" name="直接箭头连接符 212"/>
            <p:cNvCxnSpPr>
              <a:endCxn id="191" idx="0"/>
            </p:cNvCxnSpPr>
            <p:nvPr/>
          </p:nvCxnSpPr>
          <p:spPr bwMode="auto">
            <a:xfrm>
              <a:off x="6371828" y="3645024"/>
              <a:ext cx="1" cy="1828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4" name="直接箭头连接符 213"/>
            <p:cNvCxnSpPr>
              <a:stCxn id="191" idx="2"/>
              <a:endCxn id="193" idx="0"/>
            </p:cNvCxnSpPr>
            <p:nvPr/>
          </p:nvCxnSpPr>
          <p:spPr bwMode="auto">
            <a:xfrm flipH="1">
              <a:off x="6371828" y="4404147"/>
              <a:ext cx="1" cy="1746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5" name="直接箭头连接符 214"/>
            <p:cNvCxnSpPr>
              <a:stCxn id="193" idx="2"/>
            </p:cNvCxnSpPr>
            <p:nvPr/>
          </p:nvCxnSpPr>
          <p:spPr bwMode="auto">
            <a:xfrm>
              <a:off x="6371828" y="4867696"/>
              <a:ext cx="248" cy="21748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6" name="直接箭头连接符 215"/>
            <p:cNvCxnSpPr/>
            <p:nvPr/>
          </p:nvCxnSpPr>
          <p:spPr bwMode="auto">
            <a:xfrm flipH="1">
              <a:off x="4214070" y="3510335"/>
              <a:ext cx="294947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7" name="直接箭头连接符 106"/>
            <p:cNvCxnSpPr>
              <a:stCxn id="193" idx="3"/>
            </p:cNvCxnSpPr>
            <p:nvPr/>
          </p:nvCxnSpPr>
          <p:spPr bwMode="auto">
            <a:xfrm flipV="1">
              <a:off x="7019528" y="3510335"/>
              <a:ext cx="144017" cy="1212899"/>
            </a:xfrm>
            <a:prstGeom prst="bentConnector2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直接箭头连接符 217"/>
            <p:cNvCxnSpPr/>
            <p:nvPr/>
          </p:nvCxnSpPr>
          <p:spPr bwMode="auto">
            <a:xfrm flipH="1" flipV="1">
              <a:off x="4214070" y="1631603"/>
              <a:ext cx="3094356" cy="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9" name="直接箭头连接符 106"/>
            <p:cNvCxnSpPr/>
            <p:nvPr/>
          </p:nvCxnSpPr>
          <p:spPr bwMode="auto">
            <a:xfrm rot="5400000" flipH="1" flipV="1">
              <a:off x="5113461" y="2890222"/>
              <a:ext cx="3453580" cy="936347"/>
            </a:xfrm>
            <a:prstGeom prst="bentConnector3">
              <a:avLst>
                <a:gd name="adj1" fmla="val -85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0" name="Text Box 634"/>
            <p:cNvSpPr txBox="1">
              <a:spLocks noChangeArrowheads="1"/>
            </p:cNvSpPr>
            <p:nvPr/>
          </p:nvSpPr>
          <p:spPr bwMode="auto">
            <a:xfrm>
              <a:off x="5076056" y="4437112"/>
              <a:ext cx="117475" cy="2143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0" grpId="0" bldLvl="0" animBg="1"/>
      <p:bldP spid="236551" grpId="0"/>
      <p:bldP spid="18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Box 6"/>
          <p:cNvSpPr txBox="1">
            <a:spLocks noChangeArrowheads="1"/>
          </p:cNvSpPr>
          <p:nvPr/>
        </p:nvSpPr>
        <p:spPr bwMode="auto">
          <a:xfrm>
            <a:off x="179512" y="4399944"/>
            <a:ext cx="4248547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工作原理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键盘接口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41EDE-438A-467D-AD24-4544B049ED6A}" type="slidenum">
              <a:rPr lang="en-US" altLang="zh-CN"/>
            </a:fld>
            <a:endParaRPr lang="en-US" altLang="zh-CN"/>
          </a:p>
        </p:txBody>
      </p:sp>
      <p:sp>
        <p:nvSpPr>
          <p:cNvPr id="224497" name="Text Box 241"/>
          <p:cNvSpPr txBox="1">
            <a:spLocks noChangeArrowheads="1"/>
          </p:cNvSpPr>
          <p:nvPr/>
        </p:nvSpPr>
        <p:spPr bwMode="auto">
          <a:xfrm>
            <a:off x="179388" y="332656"/>
            <a:ext cx="8785225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编码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键盘：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基本组成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按键阵列、计数器、译码器、</a:t>
            </a:r>
            <a:r>
              <a:rPr lang="en-US" altLang="zh-CN" b="1" dirty="0" smtClean="0">
                <a:latin typeface="宋体" panose="02010600030101010101" pitchFamily="2" charset="-122"/>
              </a:rPr>
              <a:t>ROM</a:t>
            </a:r>
            <a:r>
              <a:rPr lang="zh-CN" altLang="en-US" b="1" dirty="0" smtClean="0">
                <a:latin typeface="宋体" panose="02010600030101010101" pitchFamily="2" charset="-122"/>
              </a:rPr>
              <a:t>、单稳电路等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        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循环扫描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定位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编码转换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)(</a:t>
            </a:r>
            <a:r>
              <a:rPr lang="zh-CN" altLang="en-US" sz="1800" b="1" dirty="0">
                <a:latin typeface="宋体" panose="02010600030101010101" pitchFamily="2" charset="-122"/>
              </a:rPr>
              <a:t>时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延控制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224706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4450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2" name="组合 71"/>
          <p:cNvGrpSpPr/>
          <p:nvPr/>
        </p:nvGrpSpPr>
        <p:grpSpPr>
          <a:xfrm>
            <a:off x="1907704" y="1700808"/>
            <a:ext cx="5328592" cy="2664296"/>
            <a:chOff x="1403648" y="2852936"/>
            <a:chExt cx="5328592" cy="2664296"/>
          </a:xfrm>
        </p:grpSpPr>
        <p:sp>
          <p:nvSpPr>
            <p:cNvPr id="74" name="Rectangle 358"/>
            <p:cNvSpPr>
              <a:spLocks noChangeArrowheads="1"/>
            </p:cNvSpPr>
            <p:nvPr/>
          </p:nvSpPr>
          <p:spPr bwMode="auto">
            <a:xfrm>
              <a:off x="1403648" y="2852936"/>
              <a:ext cx="4248472" cy="2664296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Text Box 360"/>
            <p:cNvSpPr txBox="1">
              <a:spLocks noChangeArrowheads="1"/>
            </p:cNvSpPr>
            <p:nvPr/>
          </p:nvSpPr>
          <p:spPr bwMode="auto">
            <a:xfrm>
              <a:off x="6372200" y="3789040"/>
              <a:ext cx="360040" cy="115212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键盘接口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6" name="Text Box 378"/>
            <p:cNvSpPr txBox="1">
              <a:spLocks noChangeArrowheads="1"/>
            </p:cNvSpPr>
            <p:nvPr/>
          </p:nvSpPr>
          <p:spPr bwMode="auto">
            <a:xfrm>
              <a:off x="2897039" y="4005064"/>
              <a:ext cx="1025674" cy="792088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4×4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键盘阵列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379"/>
            <p:cNvSpPr txBox="1">
              <a:spLocks noChangeArrowheads="1"/>
            </p:cNvSpPr>
            <p:nvPr/>
          </p:nvSpPr>
          <p:spPr bwMode="auto">
            <a:xfrm>
              <a:off x="4138613" y="4005064"/>
              <a:ext cx="360363" cy="7920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>
                  <a:latin typeface="宋体" panose="02010600030101010101" pitchFamily="2" charset="-122"/>
                </a:rPr>
                <a:t>译码器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78" name="Text Box 380"/>
            <p:cNvSpPr txBox="1">
              <a:spLocks noChangeArrowheads="1"/>
            </p:cNvSpPr>
            <p:nvPr/>
          </p:nvSpPr>
          <p:spPr bwMode="auto">
            <a:xfrm>
              <a:off x="2897039" y="3573710"/>
              <a:ext cx="1028104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译码器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9" name="Text Box 390"/>
            <p:cNvSpPr txBox="1">
              <a:spLocks noChangeArrowheads="1"/>
            </p:cNvSpPr>
            <p:nvPr/>
          </p:nvSpPr>
          <p:spPr bwMode="auto">
            <a:xfrm>
              <a:off x="2897039" y="4941168"/>
              <a:ext cx="1025674" cy="28485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单稳电路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0" name="Text Box 391"/>
            <p:cNvSpPr txBox="1">
              <a:spLocks noChangeArrowheads="1"/>
            </p:cNvSpPr>
            <p:nvPr/>
          </p:nvSpPr>
          <p:spPr bwMode="auto">
            <a:xfrm>
              <a:off x="1547664" y="2924745"/>
              <a:ext cx="1152128" cy="576263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4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位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计数器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CNT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393"/>
            <p:cNvSpPr txBox="1">
              <a:spLocks noChangeArrowheads="1"/>
            </p:cNvSpPr>
            <p:nvPr/>
          </p:nvSpPr>
          <p:spPr bwMode="auto">
            <a:xfrm>
              <a:off x="4716016" y="2924745"/>
              <a:ext cx="815974" cy="576263"/>
            </a:xfrm>
            <a:prstGeom prst="rect">
              <a:avLst/>
            </a:prstGeom>
            <a:solidFill>
              <a:srgbClr val="99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b" anchorCtr="0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 smtClean="0">
                  <a:latin typeface="宋体" panose="02010600030101010101" pitchFamily="2" charset="-122"/>
                </a:rPr>
                <a:t>ROM</a:t>
              </a:r>
              <a:endParaRPr lang="en-US" altLang="zh-CN" sz="2000" b="1" dirty="0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 CS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2" name="Text Box 401"/>
            <p:cNvSpPr txBox="1">
              <a:spLocks noChangeArrowheads="1"/>
            </p:cNvSpPr>
            <p:nvPr/>
          </p:nvSpPr>
          <p:spPr bwMode="auto">
            <a:xfrm>
              <a:off x="1979389" y="4149081"/>
              <a:ext cx="360363" cy="122413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时钟发生器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83" name="Line 418"/>
            <p:cNvSpPr>
              <a:spLocks noChangeShapeType="1"/>
            </p:cNvSpPr>
            <p:nvPr/>
          </p:nvSpPr>
          <p:spPr bwMode="auto">
            <a:xfrm>
              <a:off x="4860032" y="3253254"/>
              <a:ext cx="21590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Text Box 428"/>
            <p:cNvSpPr txBox="1">
              <a:spLocks noChangeArrowheads="1"/>
            </p:cNvSpPr>
            <p:nvPr/>
          </p:nvSpPr>
          <p:spPr bwMode="auto">
            <a:xfrm>
              <a:off x="2051968" y="3717032"/>
              <a:ext cx="503808" cy="21602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&amp;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85" name="Text Box 433"/>
            <p:cNvSpPr txBox="1">
              <a:spLocks noChangeArrowheads="1"/>
            </p:cNvSpPr>
            <p:nvPr/>
          </p:nvSpPr>
          <p:spPr bwMode="auto">
            <a:xfrm>
              <a:off x="5148064" y="3789040"/>
              <a:ext cx="360362" cy="11525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传送电路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86" name="Oval 460"/>
            <p:cNvSpPr>
              <a:spLocks noChangeArrowheads="1"/>
            </p:cNvSpPr>
            <p:nvPr/>
          </p:nvSpPr>
          <p:spPr bwMode="auto">
            <a:xfrm>
              <a:off x="4894506" y="3501578"/>
              <a:ext cx="71438" cy="7143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7" name="直接箭头连接符 86"/>
            <p:cNvCxnSpPr/>
            <p:nvPr/>
          </p:nvCxnSpPr>
          <p:spPr bwMode="auto">
            <a:xfrm flipH="1">
              <a:off x="3922713" y="4149080"/>
              <a:ext cx="2159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8" name="直接箭头连接符 87"/>
            <p:cNvCxnSpPr/>
            <p:nvPr/>
          </p:nvCxnSpPr>
          <p:spPr bwMode="auto">
            <a:xfrm flipH="1">
              <a:off x="3923928" y="4301480"/>
              <a:ext cx="2159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9" name="直接箭头连接符 88"/>
            <p:cNvCxnSpPr/>
            <p:nvPr/>
          </p:nvCxnSpPr>
          <p:spPr bwMode="auto">
            <a:xfrm flipH="1">
              <a:off x="3923928" y="4437112"/>
              <a:ext cx="2159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0" name="直接箭头连接符 89"/>
            <p:cNvCxnSpPr/>
            <p:nvPr/>
          </p:nvCxnSpPr>
          <p:spPr bwMode="auto">
            <a:xfrm flipH="1">
              <a:off x="3925143" y="4589512"/>
              <a:ext cx="2159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1" name="直接连接符 90"/>
            <p:cNvCxnSpPr/>
            <p:nvPr/>
          </p:nvCxnSpPr>
          <p:spPr bwMode="auto">
            <a:xfrm>
              <a:off x="2483768" y="5370041"/>
              <a:ext cx="2448272" cy="0"/>
            </a:xfrm>
            <a:prstGeom prst="line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直接箭头连接符 91"/>
            <p:cNvCxnSpPr/>
            <p:nvPr/>
          </p:nvCxnSpPr>
          <p:spPr bwMode="auto">
            <a:xfrm>
              <a:off x="3059832" y="3861048"/>
              <a:ext cx="0" cy="14084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3" name="直接箭头连接符 92"/>
            <p:cNvCxnSpPr/>
            <p:nvPr/>
          </p:nvCxnSpPr>
          <p:spPr bwMode="auto">
            <a:xfrm>
              <a:off x="3275856" y="3861048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4" name="直接箭头连接符 93"/>
            <p:cNvCxnSpPr/>
            <p:nvPr/>
          </p:nvCxnSpPr>
          <p:spPr bwMode="auto">
            <a:xfrm>
              <a:off x="3491880" y="3861048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5" name="直接箭头连接符 94"/>
            <p:cNvCxnSpPr/>
            <p:nvPr/>
          </p:nvCxnSpPr>
          <p:spPr bwMode="auto">
            <a:xfrm>
              <a:off x="3707904" y="3861048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6" name="直接箭头连接符 95"/>
            <p:cNvCxnSpPr>
              <a:stCxn id="76" idx="2"/>
              <a:endCxn id="79" idx="0"/>
            </p:cNvCxnSpPr>
            <p:nvPr/>
          </p:nvCxnSpPr>
          <p:spPr bwMode="auto">
            <a:xfrm>
              <a:off x="3409876" y="4797152"/>
              <a:ext cx="0" cy="14401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7" name="直接箭头连接符 96"/>
            <p:cNvCxnSpPr>
              <a:stCxn id="79" idx="2"/>
            </p:cNvCxnSpPr>
            <p:nvPr/>
          </p:nvCxnSpPr>
          <p:spPr bwMode="auto">
            <a:xfrm>
              <a:off x="3409876" y="5226025"/>
              <a:ext cx="0" cy="147191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8" name="直接箭头连接符 97"/>
            <p:cNvCxnSpPr>
              <a:stCxn id="82" idx="0"/>
            </p:cNvCxnSpPr>
            <p:nvPr/>
          </p:nvCxnSpPr>
          <p:spPr bwMode="auto">
            <a:xfrm flipH="1" flipV="1">
              <a:off x="2159570" y="3931468"/>
              <a:ext cx="1" cy="21761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9" name="直接箭头连接符 98"/>
            <p:cNvCxnSpPr/>
            <p:nvPr/>
          </p:nvCxnSpPr>
          <p:spPr bwMode="auto">
            <a:xfrm flipV="1">
              <a:off x="2483768" y="3933056"/>
              <a:ext cx="0" cy="1440161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0" name="直接箭头连接符 99"/>
            <p:cNvCxnSpPr/>
            <p:nvPr/>
          </p:nvCxnSpPr>
          <p:spPr bwMode="auto">
            <a:xfrm flipH="1" flipV="1">
              <a:off x="2311970" y="3499419"/>
              <a:ext cx="1" cy="21761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1" name="直接箭头连接符 100"/>
            <p:cNvCxnSpPr/>
            <p:nvPr/>
          </p:nvCxnSpPr>
          <p:spPr bwMode="auto">
            <a:xfrm>
              <a:off x="2699792" y="3384529"/>
              <a:ext cx="20162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2" name="直接箭头连接符 101"/>
            <p:cNvCxnSpPr/>
            <p:nvPr/>
          </p:nvCxnSpPr>
          <p:spPr bwMode="auto">
            <a:xfrm>
              <a:off x="2699792" y="3284984"/>
              <a:ext cx="20162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3" name="直接箭头连接符 102"/>
            <p:cNvCxnSpPr/>
            <p:nvPr/>
          </p:nvCxnSpPr>
          <p:spPr bwMode="auto">
            <a:xfrm>
              <a:off x="2699792" y="3140968"/>
              <a:ext cx="20162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2699792" y="3041423"/>
              <a:ext cx="201622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5" name="直接箭头连接符 104"/>
            <p:cNvCxnSpPr/>
            <p:nvPr/>
          </p:nvCxnSpPr>
          <p:spPr bwMode="auto">
            <a:xfrm>
              <a:off x="3347864" y="3041423"/>
              <a:ext cx="0" cy="53228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6" name="直接箭头连接符 105"/>
            <p:cNvCxnSpPr/>
            <p:nvPr/>
          </p:nvCxnSpPr>
          <p:spPr bwMode="auto">
            <a:xfrm>
              <a:off x="3491880" y="3140968"/>
              <a:ext cx="0" cy="43274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7" name="直接箭头连接符 106"/>
            <p:cNvCxnSpPr/>
            <p:nvPr/>
          </p:nvCxnSpPr>
          <p:spPr bwMode="auto">
            <a:xfrm>
              <a:off x="4211960" y="3284984"/>
              <a:ext cx="0" cy="71690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8" name="直接箭头连接符 107"/>
            <p:cNvCxnSpPr/>
            <p:nvPr/>
          </p:nvCxnSpPr>
          <p:spPr bwMode="auto">
            <a:xfrm>
              <a:off x="4355976" y="3384529"/>
              <a:ext cx="0" cy="6173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9" name="直接箭头连接符 330"/>
            <p:cNvCxnSpPr/>
            <p:nvPr/>
          </p:nvCxnSpPr>
          <p:spPr bwMode="auto">
            <a:xfrm rot="5400000">
              <a:off x="1279624" y="4565278"/>
              <a:ext cx="1364010" cy="395882"/>
            </a:xfrm>
            <a:prstGeom prst="bentConnector3">
              <a:avLst>
                <a:gd name="adj1" fmla="val 7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/>
            </a:ln>
          </p:spPr>
        </p:cxnSp>
        <p:cxnSp>
          <p:nvCxnSpPr>
            <p:cNvPr id="110" name="直接连接符 109"/>
            <p:cNvCxnSpPr/>
            <p:nvPr/>
          </p:nvCxnSpPr>
          <p:spPr bwMode="auto">
            <a:xfrm>
              <a:off x="1763688" y="5445224"/>
              <a:ext cx="3672408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直接箭头连接符 110"/>
            <p:cNvCxnSpPr/>
            <p:nvPr/>
          </p:nvCxnSpPr>
          <p:spPr bwMode="auto">
            <a:xfrm flipV="1">
              <a:off x="4932040" y="3573017"/>
              <a:ext cx="0" cy="180020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2" name="直接箭头连接符 111"/>
            <p:cNvCxnSpPr>
              <a:endCxn id="85" idx="0"/>
            </p:cNvCxnSpPr>
            <p:nvPr/>
          </p:nvCxnSpPr>
          <p:spPr bwMode="auto">
            <a:xfrm>
              <a:off x="5328245" y="3501578"/>
              <a:ext cx="0" cy="28746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3" name="直接箭头连接符 112"/>
            <p:cNvCxnSpPr/>
            <p:nvPr/>
          </p:nvCxnSpPr>
          <p:spPr bwMode="auto">
            <a:xfrm flipV="1">
              <a:off x="5436096" y="4941565"/>
              <a:ext cx="0" cy="50365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4" name="直接箭头连接符 347"/>
            <p:cNvCxnSpPr/>
            <p:nvPr/>
          </p:nvCxnSpPr>
          <p:spPr bwMode="auto">
            <a:xfrm flipV="1">
              <a:off x="4932040" y="4943328"/>
              <a:ext cx="288032" cy="213865"/>
            </a:xfrm>
            <a:prstGeom prst="bentConnector3">
              <a:avLst>
                <a:gd name="adj1" fmla="val 99604"/>
              </a:avLst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15" name="直接箭头连接符 114"/>
            <p:cNvCxnSpPr/>
            <p:nvPr/>
          </p:nvCxnSpPr>
          <p:spPr bwMode="auto">
            <a:xfrm>
              <a:off x="5508426" y="4149080"/>
              <a:ext cx="863774" cy="1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6" name="直接箭头连接符 115"/>
            <p:cNvCxnSpPr/>
            <p:nvPr/>
          </p:nvCxnSpPr>
          <p:spPr bwMode="auto">
            <a:xfrm>
              <a:off x="5508426" y="4589512"/>
              <a:ext cx="86377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17" name="Text Box 178"/>
            <p:cNvSpPr txBox="1">
              <a:spLocks noChangeArrowheads="1"/>
            </p:cNvSpPr>
            <p:nvPr/>
          </p:nvSpPr>
          <p:spPr bwMode="auto">
            <a:xfrm>
              <a:off x="5722168" y="3947527"/>
              <a:ext cx="506016" cy="2015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latin typeface="+mn-lt"/>
                </a:rPr>
                <a:t>Data</a:t>
              </a:r>
              <a:endParaRPr lang="zh-CN" altLang="en-US" sz="1800" dirty="0">
                <a:latin typeface="+mn-lt"/>
              </a:endParaRPr>
            </a:p>
          </p:txBody>
        </p:sp>
        <p:sp>
          <p:nvSpPr>
            <p:cNvPr id="118" name="Text Box 178"/>
            <p:cNvSpPr txBox="1">
              <a:spLocks noChangeArrowheads="1"/>
            </p:cNvSpPr>
            <p:nvPr/>
          </p:nvSpPr>
          <p:spPr bwMode="auto">
            <a:xfrm>
              <a:off x="5652120" y="4379575"/>
              <a:ext cx="648072" cy="2015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dirty="0" smtClean="0">
                  <a:latin typeface="+mn-lt"/>
                </a:rPr>
                <a:t>Clock</a:t>
              </a:r>
              <a:endParaRPr lang="zh-CN" altLang="en-US" sz="1800" dirty="0">
                <a:latin typeface="+mn-lt"/>
              </a:endParaRPr>
            </a:p>
          </p:txBody>
        </p:sp>
      </p:grpSp>
      <p:sp>
        <p:nvSpPr>
          <p:cNvPr id="119" name="Text Box 241"/>
          <p:cNvSpPr txBox="1">
            <a:spLocks noChangeArrowheads="1"/>
          </p:cNvSpPr>
          <p:nvPr/>
        </p:nvSpPr>
        <p:spPr bwMode="auto">
          <a:xfrm>
            <a:off x="2555775" y="4401803"/>
            <a:ext cx="6408837" cy="140346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单稳电路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输出有效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有键按下时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→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暂停</a:t>
            </a:r>
            <a:r>
              <a:rPr lang="en-US" altLang="zh-CN" b="1" dirty="0">
                <a:latin typeface="宋体" panose="02010600030101010101" pitchFamily="2" charset="-122"/>
              </a:rPr>
              <a:t>CNT</a:t>
            </a:r>
            <a:r>
              <a:rPr lang="zh-CN" altLang="en-US" b="1" dirty="0">
                <a:latin typeface="宋体" panose="02010600030101010101" pitchFamily="2" charset="-122"/>
              </a:rPr>
              <a:t>、读</a:t>
            </a:r>
            <a:r>
              <a:rPr lang="en-US" altLang="zh-CN" b="1" dirty="0">
                <a:latin typeface="宋体" panose="02010600030101010101" pitchFamily="2" charset="-122"/>
              </a:rPr>
              <a:t>ROM</a:t>
            </a:r>
            <a:r>
              <a:rPr lang="zh-CN" altLang="en-US" b="1" dirty="0" smtClean="0">
                <a:latin typeface="宋体" panose="02010600030101010101" pitchFamily="2" charset="-122"/>
              </a:rPr>
              <a:t>、启动传送</a:t>
            </a:r>
            <a:r>
              <a:rPr lang="zh-CN" altLang="en-US" b="1" dirty="0">
                <a:latin typeface="宋体" panose="02010600030101010101" pitchFamily="2" charset="-122"/>
              </a:rPr>
              <a:t>电路</a:t>
            </a:r>
            <a:r>
              <a:rPr lang="zh-CN" altLang="en-US" b="1" dirty="0" smtClean="0">
                <a:latin typeface="宋体" panose="02010600030101010101" pitchFamily="2" charset="-122"/>
              </a:rPr>
              <a:t>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单稳电路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输出无效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一定延时后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→恢复扫描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21" name="Text Box 241"/>
          <p:cNvSpPr txBox="1">
            <a:spLocks noChangeArrowheads="1"/>
          </p:cNvSpPr>
          <p:nvPr/>
        </p:nvSpPr>
        <p:spPr bwMode="auto">
          <a:xfrm>
            <a:off x="2555776" y="5733256"/>
            <a:ext cx="6408836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USB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Vcc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 err="1" smtClean="0">
                <a:latin typeface="宋体" panose="02010600030101010101" pitchFamily="2" charset="-122"/>
                <a:sym typeface="+mn-ea"/>
              </a:rPr>
              <a:t>Gnd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D+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/D-)</a:t>
            </a:r>
            <a:r>
              <a:rPr lang="zh-CN" altLang="en-US" b="1" dirty="0" smtClean="0">
                <a:latin typeface="宋体" panose="02010600030101010101" pitchFamily="2" charset="-122"/>
              </a:rPr>
              <a:t>或</a:t>
            </a:r>
            <a:r>
              <a:rPr lang="en-US" altLang="zh-CN" b="1" dirty="0" smtClean="0">
                <a:latin typeface="宋体" panose="02010600030101010101" pitchFamily="2" charset="-122"/>
              </a:rPr>
              <a:t>PS/2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Vcc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Gnd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Clock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/Data)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23" name="线形标注 2 122"/>
          <p:cNvSpPr/>
          <p:nvPr/>
        </p:nvSpPr>
        <p:spPr bwMode="auto">
          <a:xfrm>
            <a:off x="6737151" y="1844824"/>
            <a:ext cx="1867297" cy="581507"/>
          </a:xfrm>
          <a:prstGeom prst="borderCallout2">
            <a:avLst>
              <a:gd name="adj1" fmla="val 51383"/>
              <a:gd name="adj2" fmla="val -311"/>
              <a:gd name="adj3" fmla="val 52121"/>
              <a:gd name="adj4" fmla="val -7995"/>
              <a:gd name="adj5" fmla="val 159684"/>
              <a:gd name="adj6" fmla="val -41102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105000"/>
              </a:lnSpc>
            </a:pPr>
            <a:r>
              <a:rPr lang="zh-CN" altLang="en-US" sz="1800" b="1" dirty="0" smtClean="0">
                <a:latin typeface="+mn-lt"/>
              </a:rPr>
              <a:t>常增设缓冲器</a:t>
            </a:r>
            <a:endParaRPr lang="en-US" altLang="zh-CN" sz="1800" b="1" dirty="0" smtClean="0">
              <a:latin typeface="+mn-lt"/>
            </a:endParaRPr>
          </a:p>
          <a:p>
            <a:pPr>
              <a:lnSpc>
                <a:spcPct val="105000"/>
              </a:lnSpc>
            </a:pP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</a:rPr>
              <a:t>传送</a:t>
            </a:r>
            <a:r>
              <a:rPr lang="en-US" altLang="zh-CN" sz="1600" b="1" dirty="0" smtClean="0">
                <a:latin typeface="+mn-ea"/>
                <a:ea typeface="+mn-ea"/>
              </a:rPr>
              <a:t>-</a:t>
            </a:r>
            <a:r>
              <a:rPr lang="zh-CN" altLang="en-US" sz="1600" b="1" dirty="0" smtClean="0">
                <a:latin typeface="+mn-ea"/>
                <a:ea typeface="+mn-ea"/>
              </a:rPr>
              <a:t>扫描可并行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54" name="AutoShape 6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/>
      <p:bldP spid="121" grpId="0" bldLvl="0" animBg="1"/>
      <p:bldP spid="1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737B9-C83D-4AFE-9E36-2B4C25FB3AEB}" type="slidenum">
              <a:rPr lang="en-US" altLang="zh-CN"/>
            </a:fld>
            <a:endParaRPr lang="en-US" altLang="zh-CN"/>
          </a:p>
        </p:txBody>
      </p:sp>
      <p:sp>
        <p:nvSpPr>
          <p:cNvPr id="227330" name="Text Box 2"/>
          <p:cNvSpPr txBox="1">
            <a:spLocks noChangeArrowheads="1"/>
          </p:cNvSpPr>
          <p:nvPr/>
        </p:nvSpPr>
        <p:spPr bwMode="auto">
          <a:xfrm>
            <a:off x="179388" y="332656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鼠标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字符设备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*种类：</a:t>
            </a:r>
            <a:r>
              <a:rPr lang="zh-CN" altLang="en-US" b="1" dirty="0" smtClean="0">
                <a:latin typeface="宋体" panose="02010600030101010101" pitchFamily="2" charset="-122"/>
              </a:rPr>
              <a:t>机械式、光电式、触摸式等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27331" name="Text Box 3"/>
          <p:cNvSpPr txBox="1">
            <a:spLocks noChangeArrowheads="1"/>
          </p:cNvSpPr>
          <p:nvPr/>
        </p:nvSpPr>
        <p:spPr bwMode="auto">
          <a:xfrm>
            <a:off x="179388" y="1268760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机械式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鼠标组成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原理：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27479" name="Text Box 151"/>
          <p:cNvSpPr txBox="1">
            <a:spLocks noChangeArrowheads="1"/>
          </p:cNvSpPr>
          <p:nvPr/>
        </p:nvSpPr>
        <p:spPr bwMode="auto">
          <a:xfrm>
            <a:off x="179388" y="4463423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光电式鼠标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组成原理：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/>
              <a:t>用</a:t>
            </a:r>
            <a:r>
              <a:rPr lang="zh-CN" altLang="en-US" b="1" u="sng" dirty="0">
                <a:solidFill>
                  <a:srgbClr val="990099"/>
                </a:solidFill>
              </a:rPr>
              <a:t>带网格反射板</a:t>
            </a:r>
            <a:r>
              <a:rPr lang="zh-CN" altLang="en-US" b="1" dirty="0"/>
              <a:t>代替滚球、光栅</a:t>
            </a:r>
            <a:r>
              <a:rPr lang="zh-CN" altLang="en-US" b="1" dirty="0" smtClean="0"/>
              <a:t>盘</a:t>
            </a:r>
            <a:endParaRPr lang="en-US" altLang="zh-CN" b="1" dirty="0" smtClean="0"/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第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27562" name="Text Box 234"/>
          <p:cNvSpPr txBox="1">
            <a:spLocks noChangeArrowheads="1"/>
          </p:cNvSpPr>
          <p:nvPr/>
        </p:nvSpPr>
        <p:spPr bwMode="auto">
          <a:xfrm>
            <a:off x="179388" y="1700808"/>
            <a:ext cx="8785225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鼠标</a:t>
            </a:r>
            <a:r>
              <a:rPr lang="zh-CN" altLang="en-US" b="1" dirty="0">
                <a:latin typeface="宋体" panose="02010600030101010101" pitchFamily="2" charset="-122"/>
              </a:rPr>
              <a:t>移动→滚球滚动→滚轴</a:t>
            </a:r>
            <a:r>
              <a:rPr lang="zh-CN" altLang="en-US" b="1" dirty="0" smtClean="0">
                <a:latin typeface="宋体" panose="02010600030101010101" pitchFamily="2" charset="-122"/>
              </a:rPr>
              <a:t>转动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栅</a:t>
            </a:r>
            <a:r>
              <a:rPr lang="zh-CN" altLang="en-US" sz="2000" b="1" dirty="0">
                <a:latin typeface="宋体" panose="02010600030101010101" pitchFamily="2" charset="-122"/>
              </a:rPr>
              <a:t>盘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转动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→</a:t>
            </a:r>
            <a:r>
              <a:rPr lang="zh-CN" altLang="en-US" b="1" dirty="0">
                <a:latin typeface="宋体" panose="02010600030101010101" pitchFamily="2" charset="-122"/>
              </a:rPr>
              <a:t>计数器变化</a:t>
            </a:r>
            <a:endParaRPr lang="zh-CN" altLang="en-US" b="1" dirty="0"/>
          </a:p>
        </p:txBody>
      </p:sp>
      <p:sp>
        <p:nvSpPr>
          <p:cNvPr id="227565" name="Text Box 237"/>
          <p:cNvSpPr txBox="1">
            <a:spLocks noChangeArrowheads="1"/>
          </p:cNvSpPr>
          <p:nvPr/>
        </p:nvSpPr>
        <p:spPr bwMode="auto">
          <a:xfrm>
            <a:off x="2051719" y="5364687"/>
            <a:ext cx="6912893" cy="5492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鼠标移动→图像变化</a:t>
            </a:r>
            <a:r>
              <a:rPr lang="zh-CN" altLang="en-US" b="1" dirty="0" smtClean="0">
                <a:latin typeface="宋体" panose="02010600030101010101" pitchFamily="2" charset="-122"/>
              </a:rPr>
              <a:t>→分析图像</a:t>
            </a:r>
            <a:r>
              <a:rPr lang="zh-CN" altLang="en-US" b="1" dirty="0">
                <a:latin typeface="宋体" panose="02010600030101010101" pitchFamily="2" charset="-122"/>
              </a:rPr>
              <a:t>→计数器变化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251520" y="2277094"/>
            <a:ext cx="4681165" cy="2232026"/>
            <a:chOff x="-180602" y="2220897"/>
            <a:chExt cx="4681165" cy="2232026"/>
          </a:xfrm>
        </p:grpSpPr>
        <p:sp>
          <p:nvSpPr>
            <p:cNvPr id="227496" name="Rectangle 168"/>
            <p:cNvSpPr>
              <a:spLocks noChangeArrowheads="1"/>
            </p:cNvSpPr>
            <p:nvPr/>
          </p:nvSpPr>
          <p:spPr bwMode="auto">
            <a:xfrm>
              <a:off x="971526" y="2220897"/>
              <a:ext cx="3313137" cy="216058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497" name="Oval 169"/>
            <p:cNvSpPr>
              <a:spLocks noChangeArrowheads="1"/>
            </p:cNvSpPr>
            <p:nvPr/>
          </p:nvSpPr>
          <p:spPr bwMode="auto">
            <a:xfrm>
              <a:off x="2555875" y="3660760"/>
              <a:ext cx="863600" cy="792163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r>
                <a:rPr lang="zh-CN" altLang="en-US" sz="2000" b="1" dirty="0" smtClean="0"/>
                <a:t>滚球</a:t>
              </a:r>
              <a:endParaRPr lang="zh-CN" altLang="en-US" b="1" dirty="0"/>
            </a:p>
          </p:txBody>
        </p:sp>
        <p:sp>
          <p:nvSpPr>
            <p:cNvPr id="227498" name="Rectangle 170"/>
            <p:cNvSpPr>
              <a:spLocks noChangeArrowheads="1"/>
            </p:cNvSpPr>
            <p:nvPr/>
          </p:nvSpPr>
          <p:spPr bwMode="auto">
            <a:xfrm>
              <a:off x="2484438" y="3660760"/>
              <a:ext cx="71438" cy="57785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499" name="Rectangle 171"/>
            <p:cNvSpPr>
              <a:spLocks noChangeArrowheads="1"/>
            </p:cNvSpPr>
            <p:nvPr/>
          </p:nvSpPr>
          <p:spPr bwMode="auto">
            <a:xfrm>
              <a:off x="2843213" y="3589322"/>
              <a:ext cx="649288" cy="73025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00" name="Rectangle 172" descr="宽上对角线"/>
            <p:cNvSpPr>
              <a:spLocks noChangeArrowheads="1"/>
            </p:cNvSpPr>
            <p:nvPr/>
          </p:nvSpPr>
          <p:spPr bwMode="auto">
            <a:xfrm>
              <a:off x="3492500" y="3303572"/>
              <a:ext cx="71438" cy="64611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01" name="Rectangle 173" descr="宽上对角线"/>
            <p:cNvSpPr>
              <a:spLocks noChangeArrowheads="1"/>
            </p:cNvSpPr>
            <p:nvPr/>
          </p:nvSpPr>
          <p:spPr bwMode="auto">
            <a:xfrm>
              <a:off x="2268538" y="3587735"/>
              <a:ext cx="503238" cy="74613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02" name="Line 174"/>
            <p:cNvSpPr>
              <a:spLocks noChangeShapeType="1"/>
            </p:cNvSpPr>
            <p:nvPr/>
          </p:nvSpPr>
          <p:spPr bwMode="auto">
            <a:xfrm>
              <a:off x="2339975" y="3444860"/>
              <a:ext cx="0" cy="43180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03" name="Line 175"/>
            <p:cNvSpPr>
              <a:spLocks noChangeShapeType="1"/>
            </p:cNvSpPr>
            <p:nvPr/>
          </p:nvSpPr>
          <p:spPr bwMode="auto">
            <a:xfrm flipH="1" flipV="1">
              <a:off x="3276600" y="3371835"/>
              <a:ext cx="431800" cy="158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04" name="Text Box 176"/>
            <p:cNvSpPr txBox="1">
              <a:spLocks noChangeArrowheads="1"/>
            </p:cNvSpPr>
            <p:nvPr/>
          </p:nvSpPr>
          <p:spPr bwMode="auto">
            <a:xfrm>
              <a:off x="3706813" y="3230547"/>
              <a:ext cx="433388" cy="288925"/>
            </a:xfrm>
            <a:prstGeom prst="rect">
              <a:avLst/>
            </a:prstGeom>
            <a:solidFill>
              <a:srgbClr val="FF3300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LED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05" name="Line 177"/>
            <p:cNvSpPr>
              <a:spLocks noChangeShapeType="1"/>
            </p:cNvSpPr>
            <p:nvPr/>
          </p:nvSpPr>
          <p:spPr bwMode="auto">
            <a:xfrm flipV="1">
              <a:off x="899518" y="4019534"/>
              <a:ext cx="1080095" cy="180181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tailEnd type="arrow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06" name="Text Box 178"/>
            <p:cNvSpPr txBox="1">
              <a:spLocks noChangeArrowheads="1"/>
            </p:cNvSpPr>
            <p:nvPr/>
          </p:nvSpPr>
          <p:spPr bwMode="auto">
            <a:xfrm>
              <a:off x="-180602" y="4019535"/>
              <a:ext cx="108012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光电传感器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7507" name="Line 179"/>
            <p:cNvSpPr>
              <a:spLocks noChangeShapeType="1"/>
            </p:cNvSpPr>
            <p:nvPr/>
          </p:nvSpPr>
          <p:spPr bwMode="auto">
            <a:xfrm flipV="1">
              <a:off x="755502" y="3619827"/>
              <a:ext cx="1441376" cy="1123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tailEnd type="arrow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08" name="Text Box 180"/>
            <p:cNvSpPr txBox="1">
              <a:spLocks noChangeArrowheads="1"/>
            </p:cNvSpPr>
            <p:nvPr/>
          </p:nvSpPr>
          <p:spPr bwMode="auto">
            <a:xfrm>
              <a:off x="35422" y="3587735"/>
              <a:ext cx="720080" cy="288925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光栅盘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7509" name="Text Box 181"/>
            <p:cNvSpPr txBox="1">
              <a:spLocks noChangeArrowheads="1"/>
            </p:cNvSpPr>
            <p:nvPr/>
          </p:nvSpPr>
          <p:spPr bwMode="auto">
            <a:xfrm>
              <a:off x="2915221" y="2795572"/>
              <a:ext cx="936625" cy="29051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Y</a:t>
              </a:r>
              <a:r>
                <a:rPr lang="zh-CN" altLang="en-US" sz="1800" b="1">
                  <a:latin typeface="宋体" panose="02010600030101010101" pitchFamily="2" charset="-122"/>
                </a:rPr>
                <a:t>计数器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27510" name="Line 182"/>
            <p:cNvSpPr>
              <a:spLocks noChangeShapeType="1"/>
            </p:cNvSpPr>
            <p:nvPr/>
          </p:nvSpPr>
          <p:spPr bwMode="auto">
            <a:xfrm flipH="1" flipV="1">
              <a:off x="3132138" y="3084497"/>
              <a:ext cx="0" cy="14605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1" name="Text Box 183"/>
            <p:cNvSpPr txBox="1">
              <a:spLocks noChangeArrowheads="1"/>
            </p:cNvSpPr>
            <p:nvPr/>
          </p:nvSpPr>
          <p:spPr bwMode="auto">
            <a:xfrm>
              <a:off x="1835721" y="2795572"/>
              <a:ext cx="936625" cy="29051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X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计数器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12" name="Line 184"/>
            <p:cNvSpPr>
              <a:spLocks noChangeShapeType="1"/>
            </p:cNvSpPr>
            <p:nvPr/>
          </p:nvSpPr>
          <p:spPr bwMode="auto">
            <a:xfrm flipH="1" flipV="1">
              <a:off x="2049463" y="3084497"/>
              <a:ext cx="1588" cy="79216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3" name="Rectangle 185"/>
            <p:cNvSpPr>
              <a:spLocks noChangeArrowheads="1"/>
            </p:cNvSpPr>
            <p:nvPr/>
          </p:nvSpPr>
          <p:spPr bwMode="auto">
            <a:xfrm rot="1500000">
              <a:off x="3392489" y="4129072"/>
              <a:ext cx="73025" cy="14287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14" name="Line 186"/>
            <p:cNvSpPr>
              <a:spLocks noChangeShapeType="1"/>
            </p:cNvSpPr>
            <p:nvPr/>
          </p:nvSpPr>
          <p:spPr bwMode="auto">
            <a:xfrm flipH="1">
              <a:off x="3438525" y="4235435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5" name="Line 187"/>
            <p:cNvSpPr>
              <a:spLocks noChangeShapeType="1"/>
            </p:cNvSpPr>
            <p:nvPr/>
          </p:nvSpPr>
          <p:spPr bwMode="auto">
            <a:xfrm flipH="1">
              <a:off x="3511550" y="4235435"/>
              <a:ext cx="71438" cy="714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6" name="Line 188"/>
            <p:cNvSpPr>
              <a:spLocks noChangeShapeType="1"/>
            </p:cNvSpPr>
            <p:nvPr/>
          </p:nvSpPr>
          <p:spPr bwMode="auto">
            <a:xfrm flipH="1">
              <a:off x="3511550" y="4306872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7" name="Line 189"/>
            <p:cNvSpPr>
              <a:spLocks noChangeShapeType="1"/>
            </p:cNvSpPr>
            <p:nvPr/>
          </p:nvSpPr>
          <p:spPr bwMode="auto">
            <a:xfrm flipH="1">
              <a:off x="3584575" y="4306872"/>
              <a:ext cx="71438" cy="71438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8" name="Line 190"/>
            <p:cNvSpPr>
              <a:spLocks noChangeShapeType="1"/>
            </p:cNvSpPr>
            <p:nvPr/>
          </p:nvSpPr>
          <p:spPr bwMode="auto">
            <a:xfrm flipH="1">
              <a:off x="3582988" y="4379897"/>
              <a:ext cx="144463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19" name="Line 191"/>
            <p:cNvSpPr>
              <a:spLocks noChangeShapeType="1"/>
            </p:cNvSpPr>
            <p:nvPr/>
          </p:nvSpPr>
          <p:spPr bwMode="auto">
            <a:xfrm flipH="1" flipV="1">
              <a:off x="2266702" y="2651110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20" name="Line 192"/>
            <p:cNvSpPr>
              <a:spLocks noChangeShapeType="1"/>
            </p:cNvSpPr>
            <p:nvPr/>
          </p:nvSpPr>
          <p:spPr bwMode="auto">
            <a:xfrm flipH="1" flipV="1">
              <a:off x="3347790" y="2651110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21" name="Text Box 193"/>
            <p:cNvSpPr txBox="1">
              <a:spLocks noChangeArrowheads="1"/>
            </p:cNvSpPr>
            <p:nvPr/>
          </p:nvSpPr>
          <p:spPr bwMode="auto">
            <a:xfrm>
              <a:off x="2122488" y="2362185"/>
              <a:ext cx="1729358" cy="2905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22" name="Line 194"/>
            <p:cNvSpPr>
              <a:spLocks noChangeShapeType="1"/>
            </p:cNvSpPr>
            <p:nvPr/>
          </p:nvSpPr>
          <p:spPr bwMode="auto">
            <a:xfrm>
              <a:off x="3851846" y="2436797"/>
              <a:ext cx="64871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23" name="Line 195"/>
            <p:cNvSpPr>
              <a:spLocks noChangeShapeType="1"/>
            </p:cNvSpPr>
            <p:nvPr/>
          </p:nvSpPr>
          <p:spPr bwMode="auto">
            <a:xfrm>
              <a:off x="3851846" y="2581260"/>
              <a:ext cx="64871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24" name="Text Box 196"/>
            <p:cNvSpPr txBox="1">
              <a:spLocks noChangeArrowheads="1"/>
            </p:cNvSpPr>
            <p:nvPr/>
          </p:nvSpPr>
          <p:spPr bwMode="auto">
            <a:xfrm>
              <a:off x="1074737" y="2365360"/>
              <a:ext cx="615978" cy="865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按键检测电路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27525" name="Text Box 197"/>
            <p:cNvSpPr txBox="1">
              <a:spLocks noChangeArrowheads="1"/>
            </p:cNvSpPr>
            <p:nvPr/>
          </p:nvSpPr>
          <p:spPr bwMode="auto">
            <a:xfrm>
              <a:off x="2122488" y="3155935"/>
              <a:ext cx="433388" cy="288925"/>
            </a:xfrm>
            <a:prstGeom prst="rect">
              <a:avLst/>
            </a:prstGeom>
            <a:solidFill>
              <a:srgbClr val="FF3300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LED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227526" name="Rectangle 198"/>
            <p:cNvSpPr>
              <a:spLocks noChangeArrowheads="1"/>
            </p:cNvSpPr>
            <p:nvPr/>
          </p:nvSpPr>
          <p:spPr bwMode="auto">
            <a:xfrm>
              <a:off x="2843213" y="3230547"/>
              <a:ext cx="433388" cy="287338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7" name="Rectangle 199"/>
            <p:cNvSpPr>
              <a:spLocks noChangeArrowheads="1"/>
            </p:cNvSpPr>
            <p:nvPr/>
          </p:nvSpPr>
          <p:spPr bwMode="auto">
            <a:xfrm>
              <a:off x="1979613" y="3876660"/>
              <a:ext cx="433388" cy="287338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28" name="Line 200"/>
            <p:cNvSpPr>
              <a:spLocks noChangeShapeType="1"/>
            </p:cNvSpPr>
            <p:nvPr/>
          </p:nvSpPr>
          <p:spPr bwMode="auto">
            <a:xfrm flipV="1">
              <a:off x="1690713" y="2509822"/>
              <a:ext cx="43177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29" name="Line 201"/>
            <p:cNvSpPr>
              <a:spLocks noChangeShapeType="1"/>
            </p:cNvSpPr>
            <p:nvPr/>
          </p:nvSpPr>
          <p:spPr bwMode="auto">
            <a:xfrm>
              <a:off x="971526" y="2220897"/>
              <a:ext cx="331313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30" name="Line 202"/>
            <p:cNvSpPr>
              <a:spLocks noChangeShapeType="1"/>
            </p:cNvSpPr>
            <p:nvPr/>
          </p:nvSpPr>
          <p:spPr bwMode="auto">
            <a:xfrm>
              <a:off x="4286250" y="2220897"/>
              <a:ext cx="0" cy="2160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31" name="Line 203"/>
            <p:cNvSpPr>
              <a:spLocks noChangeShapeType="1"/>
            </p:cNvSpPr>
            <p:nvPr/>
          </p:nvSpPr>
          <p:spPr bwMode="auto">
            <a:xfrm>
              <a:off x="3248025" y="4381485"/>
              <a:ext cx="10366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32" name="Line 204"/>
            <p:cNvSpPr>
              <a:spLocks noChangeShapeType="1"/>
            </p:cNvSpPr>
            <p:nvPr/>
          </p:nvSpPr>
          <p:spPr bwMode="auto">
            <a:xfrm flipH="1">
              <a:off x="971525" y="4381485"/>
              <a:ext cx="1757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33" name="Line 205"/>
            <p:cNvSpPr>
              <a:spLocks noChangeShapeType="1"/>
            </p:cNvSpPr>
            <p:nvPr/>
          </p:nvSpPr>
          <p:spPr bwMode="auto">
            <a:xfrm>
              <a:off x="971526" y="2220897"/>
              <a:ext cx="0" cy="21574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 bwMode="auto">
            <a:xfrm>
              <a:off x="931860" y="2428868"/>
              <a:ext cx="142876" cy="28575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7" name="矩形 76"/>
            <p:cNvSpPr/>
            <p:nvPr/>
          </p:nvSpPr>
          <p:spPr bwMode="auto">
            <a:xfrm>
              <a:off x="931860" y="2857496"/>
              <a:ext cx="142876" cy="28575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5317768" y="2277094"/>
            <a:ext cx="3502704" cy="2230438"/>
            <a:chOff x="4885646" y="2220897"/>
            <a:chExt cx="3502704" cy="2230438"/>
          </a:xfrm>
        </p:grpSpPr>
        <p:sp>
          <p:nvSpPr>
            <p:cNvPr id="227535" name="Rectangle 207"/>
            <p:cNvSpPr>
              <a:spLocks noChangeArrowheads="1"/>
            </p:cNvSpPr>
            <p:nvPr/>
          </p:nvSpPr>
          <p:spPr bwMode="auto">
            <a:xfrm>
              <a:off x="4932363" y="2220897"/>
              <a:ext cx="3240087" cy="216058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36" name="Text Box 208"/>
            <p:cNvSpPr txBox="1">
              <a:spLocks noChangeArrowheads="1"/>
            </p:cNvSpPr>
            <p:nvPr/>
          </p:nvSpPr>
          <p:spPr bwMode="auto">
            <a:xfrm>
              <a:off x="7091363" y="2795572"/>
              <a:ext cx="936625" cy="29051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Y</a:t>
              </a:r>
              <a:r>
                <a:rPr lang="zh-CN" altLang="en-US" sz="1800" b="1">
                  <a:latin typeface="宋体" panose="02010600030101010101" pitchFamily="2" charset="-122"/>
                </a:rPr>
                <a:t>计数器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27537" name="Text Box 209"/>
            <p:cNvSpPr txBox="1">
              <a:spLocks noChangeArrowheads="1"/>
            </p:cNvSpPr>
            <p:nvPr/>
          </p:nvSpPr>
          <p:spPr bwMode="auto">
            <a:xfrm>
              <a:off x="5938838" y="2795572"/>
              <a:ext cx="935037" cy="290513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X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计数器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38" name="Line 210"/>
            <p:cNvSpPr>
              <a:spLocks noChangeShapeType="1"/>
            </p:cNvSpPr>
            <p:nvPr/>
          </p:nvSpPr>
          <p:spPr bwMode="auto">
            <a:xfrm flipH="1" flipV="1">
              <a:off x="6443663" y="2651110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39" name="Line 211"/>
            <p:cNvSpPr>
              <a:spLocks noChangeShapeType="1"/>
            </p:cNvSpPr>
            <p:nvPr/>
          </p:nvSpPr>
          <p:spPr bwMode="auto">
            <a:xfrm flipH="1" flipV="1">
              <a:off x="7596188" y="2651110"/>
              <a:ext cx="0" cy="1444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0" name="Text Box 212"/>
            <p:cNvSpPr txBox="1">
              <a:spLocks noChangeArrowheads="1"/>
            </p:cNvSpPr>
            <p:nvPr/>
          </p:nvSpPr>
          <p:spPr bwMode="auto">
            <a:xfrm>
              <a:off x="5938838" y="2362185"/>
              <a:ext cx="2089150" cy="29051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传送电路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41" name="Line 213"/>
            <p:cNvSpPr>
              <a:spLocks noChangeShapeType="1"/>
            </p:cNvSpPr>
            <p:nvPr/>
          </p:nvSpPr>
          <p:spPr bwMode="auto">
            <a:xfrm flipV="1">
              <a:off x="8027988" y="2436797"/>
              <a:ext cx="3603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2" name="Line 214"/>
            <p:cNvSpPr>
              <a:spLocks noChangeShapeType="1"/>
            </p:cNvSpPr>
            <p:nvPr/>
          </p:nvSpPr>
          <p:spPr bwMode="auto">
            <a:xfrm>
              <a:off x="8027988" y="2579672"/>
              <a:ext cx="360362" cy="15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3" name="Text Box 215"/>
            <p:cNvSpPr txBox="1">
              <a:spLocks noChangeArrowheads="1"/>
            </p:cNvSpPr>
            <p:nvPr/>
          </p:nvSpPr>
          <p:spPr bwMode="auto">
            <a:xfrm>
              <a:off x="5028522" y="2363772"/>
              <a:ext cx="622978" cy="86518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按键检测电路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27544" name="Line 216"/>
            <p:cNvSpPr>
              <a:spLocks noChangeShapeType="1"/>
            </p:cNvSpPr>
            <p:nvPr/>
          </p:nvSpPr>
          <p:spPr bwMode="auto">
            <a:xfrm flipV="1">
              <a:off x="5653088" y="2508234"/>
              <a:ext cx="287337" cy="158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5" name="Text Box 217"/>
            <p:cNvSpPr txBox="1">
              <a:spLocks noChangeArrowheads="1"/>
            </p:cNvSpPr>
            <p:nvPr/>
          </p:nvSpPr>
          <p:spPr bwMode="auto">
            <a:xfrm>
              <a:off x="6114930" y="3298810"/>
              <a:ext cx="1697355" cy="36195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信号处理器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DSP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46" name="Line 218"/>
            <p:cNvSpPr>
              <a:spLocks noChangeShapeType="1"/>
            </p:cNvSpPr>
            <p:nvPr/>
          </p:nvSpPr>
          <p:spPr bwMode="auto">
            <a:xfrm flipH="1" flipV="1">
              <a:off x="6443663" y="3084497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7" name="Line 219"/>
            <p:cNvSpPr>
              <a:spLocks noChangeShapeType="1"/>
            </p:cNvSpPr>
            <p:nvPr/>
          </p:nvSpPr>
          <p:spPr bwMode="auto">
            <a:xfrm flipH="1" flipV="1">
              <a:off x="7596188" y="3084497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48" name="Text Box 220"/>
            <p:cNvSpPr txBox="1">
              <a:spLocks noChangeArrowheads="1"/>
            </p:cNvSpPr>
            <p:nvPr/>
          </p:nvSpPr>
          <p:spPr bwMode="auto">
            <a:xfrm>
              <a:off x="6227763" y="3660760"/>
              <a:ext cx="1512887" cy="3603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微型光学镜头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49" name="Text Box 221"/>
            <p:cNvSpPr txBox="1">
              <a:spLocks noChangeArrowheads="1"/>
            </p:cNvSpPr>
            <p:nvPr/>
          </p:nvSpPr>
          <p:spPr bwMode="auto">
            <a:xfrm rot="960000">
              <a:off x="5580063" y="3948097"/>
              <a:ext cx="504825" cy="288925"/>
            </a:xfrm>
            <a:prstGeom prst="rect">
              <a:avLst/>
            </a:prstGeom>
            <a:solidFill>
              <a:srgbClr val="FF3300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LED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7550" name="Oval 222"/>
            <p:cNvSpPr>
              <a:spLocks noChangeArrowheads="1"/>
            </p:cNvSpPr>
            <p:nvPr/>
          </p:nvSpPr>
          <p:spPr bwMode="auto">
            <a:xfrm>
              <a:off x="6588125" y="4308460"/>
              <a:ext cx="792162" cy="14287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7551" name="Line 223"/>
            <p:cNvSpPr>
              <a:spLocks noChangeShapeType="1"/>
            </p:cNvSpPr>
            <p:nvPr/>
          </p:nvSpPr>
          <p:spPr bwMode="auto">
            <a:xfrm>
              <a:off x="4932363" y="2220897"/>
              <a:ext cx="32400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2" name="Line 224"/>
            <p:cNvSpPr>
              <a:spLocks noChangeShapeType="1"/>
            </p:cNvSpPr>
            <p:nvPr/>
          </p:nvSpPr>
          <p:spPr bwMode="auto">
            <a:xfrm>
              <a:off x="8172450" y="2220897"/>
              <a:ext cx="0" cy="2160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3" name="Line 225"/>
            <p:cNvSpPr>
              <a:spLocks noChangeShapeType="1"/>
            </p:cNvSpPr>
            <p:nvPr/>
          </p:nvSpPr>
          <p:spPr bwMode="auto">
            <a:xfrm>
              <a:off x="7380288" y="4379897"/>
              <a:ext cx="792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4" name="Line 226"/>
            <p:cNvSpPr>
              <a:spLocks noChangeShapeType="1"/>
            </p:cNvSpPr>
            <p:nvPr/>
          </p:nvSpPr>
          <p:spPr bwMode="auto">
            <a:xfrm flipH="1">
              <a:off x="4932363" y="4379897"/>
              <a:ext cx="16557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5" name="Line 227"/>
            <p:cNvSpPr>
              <a:spLocks noChangeShapeType="1"/>
            </p:cNvSpPr>
            <p:nvPr/>
          </p:nvSpPr>
          <p:spPr bwMode="auto">
            <a:xfrm>
              <a:off x="4932363" y="2220897"/>
              <a:ext cx="0" cy="2160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6" name="Line 228"/>
            <p:cNvSpPr>
              <a:spLocks noChangeShapeType="1"/>
            </p:cNvSpPr>
            <p:nvPr/>
          </p:nvSpPr>
          <p:spPr bwMode="auto">
            <a:xfrm flipH="1" flipV="1">
              <a:off x="6877050" y="4021122"/>
              <a:ext cx="0" cy="3571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7" name="Line 229"/>
            <p:cNvSpPr>
              <a:spLocks noChangeShapeType="1"/>
            </p:cNvSpPr>
            <p:nvPr/>
          </p:nvSpPr>
          <p:spPr bwMode="auto">
            <a:xfrm flipH="1" flipV="1">
              <a:off x="7308850" y="4021122"/>
              <a:ext cx="0" cy="3571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8" name="Line 230"/>
            <p:cNvSpPr>
              <a:spLocks noChangeShapeType="1"/>
            </p:cNvSpPr>
            <p:nvPr/>
          </p:nvSpPr>
          <p:spPr bwMode="auto">
            <a:xfrm flipH="1" flipV="1">
              <a:off x="7092950" y="4021122"/>
              <a:ext cx="0" cy="3571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59" name="Line 231"/>
            <p:cNvSpPr>
              <a:spLocks noChangeShapeType="1"/>
            </p:cNvSpPr>
            <p:nvPr/>
          </p:nvSpPr>
          <p:spPr bwMode="auto">
            <a:xfrm flipH="1" flipV="1">
              <a:off x="6659563" y="4021122"/>
              <a:ext cx="0" cy="3571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560" name="Line 232"/>
            <p:cNvSpPr>
              <a:spLocks noChangeShapeType="1"/>
            </p:cNvSpPr>
            <p:nvPr/>
          </p:nvSpPr>
          <p:spPr bwMode="auto">
            <a:xfrm>
              <a:off x="6084888" y="4090972"/>
              <a:ext cx="431800" cy="14446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 bwMode="auto">
            <a:xfrm>
              <a:off x="4885646" y="2428868"/>
              <a:ext cx="142876" cy="28575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0" name="矩形 79"/>
            <p:cNvSpPr/>
            <p:nvPr/>
          </p:nvSpPr>
          <p:spPr bwMode="auto">
            <a:xfrm>
              <a:off x="4885646" y="2857496"/>
              <a:ext cx="142876" cy="285752"/>
            </a:xfrm>
            <a:prstGeom prst="rect">
              <a:avLst/>
            </a:prstGeom>
            <a:solidFill>
              <a:schemeClr val="bg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82" name="Text Box 241"/>
          <p:cNvSpPr txBox="1">
            <a:spLocks noChangeArrowheads="1"/>
          </p:cNvSpPr>
          <p:nvPr/>
        </p:nvSpPr>
        <p:spPr bwMode="auto">
          <a:xfrm>
            <a:off x="179512" y="5818801"/>
            <a:ext cx="878510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*鼠标接口：</a:t>
            </a:r>
            <a:r>
              <a:rPr lang="zh-CN" altLang="en-US" b="1" dirty="0" smtClean="0">
                <a:latin typeface="宋体" panose="02010600030101010101" pitchFamily="2" charset="-122"/>
              </a:rPr>
              <a:t>与键盘相同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83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7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2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27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331" grpId="0"/>
      <p:bldP spid="227479" grpId="0"/>
      <p:bldP spid="227562" grpId="0"/>
      <p:bldP spid="227565" grpId="0"/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271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179388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二、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输出设备                    </a:t>
            </a:r>
            <a:r>
              <a:rPr lang="en-US" altLang="zh-CN" sz="2000" b="1" dirty="0" smtClean="0">
                <a:latin typeface="+mn-ea"/>
              </a:rPr>
              <a:t>(</a:t>
            </a:r>
            <a:r>
              <a:rPr lang="zh-CN" altLang="en-US" sz="2000" b="1" dirty="0" smtClean="0">
                <a:latin typeface="+mn-ea"/>
              </a:rPr>
              <a:t>不考，了解</a:t>
            </a:r>
            <a:r>
              <a:rPr lang="en-US" altLang="zh-CN" sz="2000" b="1" dirty="0" smtClean="0">
                <a:latin typeface="+mn-ea"/>
              </a:rPr>
              <a:t>)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79512" y="836712"/>
            <a:ext cx="878522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显示器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块设备</a:t>
            </a:r>
            <a:endParaRPr lang="zh-CN" altLang="en-US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种类：</a:t>
            </a:r>
            <a:r>
              <a:rPr lang="zh-CN" altLang="en-US" b="1" dirty="0">
                <a:latin typeface="宋体" panose="02010600030101010101" pitchFamily="2" charset="-122"/>
              </a:rPr>
              <a:t>阴极射线管</a:t>
            </a:r>
            <a:r>
              <a:rPr lang="en-US" altLang="zh-CN" b="1" dirty="0">
                <a:latin typeface="宋体" panose="02010600030101010101" pitchFamily="2" charset="-122"/>
              </a:rPr>
              <a:t>(CRT)</a:t>
            </a:r>
            <a:r>
              <a:rPr lang="zh-CN" altLang="en-US" b="1" dirty="0">
                <a:latin typeface="宋体" panose="02010600030101010101" pitchFamily="2" charset="-122"/>
              </a:rPr>
              <a:t>、液晶</a:t>
            </a:r>
            <a:r>
              <a:rPr lang="en-US" altLang="zh-CN" b="1" dirty="0">
                <a:latin typeface="宋体" panose="02010600030101010101" pitchFamily="2" charset="-122"/>
              </a:rPr>
              <a:t>(LCD)</a:t>
            </a:r>
            <a:r>
              <a:rPr lang="zh-CN" altLang="en-US" b="1" dirty="0">
                <a:latin typeface="宋体" panose="02010600030101010101" pitchFamily="2" charset="-122"/>
              </a:rPr>
              <a:t>、等离子</a:t>
            </a:r>
            <a:r>
              <a:rPr lang="en-US" altLang="zh-CN" b="1" dirty="0">
                <a:latin typeface="宋体" panose="02010600030101010101" pitchFamily="2" charset="-122"/>
              </a:rPr>
              <a:t>(PDP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技术指标：</a:t>
            </a:r>
            <a:r>
              <a:rPr lang="zh-CN" altLang="en-US" b="1" dirty="0">
                <a:latin typeface="宋体" panose="02010600030101010101" pitchFamily="2" charset="-122"/>
              </a:rPr>
              <a:t>分辨率、灰度级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彩色包含颜色、亮度、饱和度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9388" y="2232000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液晶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材料：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物理特性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棒状长分子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结构</a:t>
            </a:r>
            <a:r>
              <a:rPr lang="zh-CN" altLang="en-US" b="1" dirty="0" smtClean="0">
                <a:latin typeface="宋体" panose="02010600030101010101" pitchFamily="2" charset="-122"/>
              </a:rPr>
              <a:t>，沿长轴方向平行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排列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晶</a:t>
            </a:r>
            <a:r>
              <a:rPr lang="zh-CN" altLang="en-US" sz="1800" b="1" dirty="0">
                <a:latin typeface="宋体" panose="02010600030101010101" pitchFamily="2" charset="-122"/>
              </a:rPr>
              <a:t>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光学特性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旋光性、</a:t>
            </a:r>
            <a:r>
              <a:rPr lang="zh-CN" altLang="en-US" b="1" dirty="0">
                <a:latin typeface="宋体" panose="02010600030101010101" pitchFamily="2" charset="-122"/>
              </a:rPr>
              <a:t>透光</a:t>
            </a:r>
            <a:r>
              <a:rPr lang="zh-CN" altLang="en-US" b="1" dirty="0" smtClean="0">
                <a:latin typeface="宋体" panose="02010600030101010101" pitchFamily="2" charset="-122"/>
              </a:rPr>
              <a:t>性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249" name="组合 248"/>
          <p:cNvGrpSpPr/>
          <p:nvPr/>
        </p:nvGrpSpPr>
        <p:grpSpPr>
          <a:xfrm>
            <a:off x="4716016" y="3212976"/>
            <a:ext cx="4248596" cy="1944216"/>
            <a:chOff x="4716016" y="3140968"/>
            <a:chExt cx="4248596" cy="1944216"/>
          </a:xfrm>
        </p:grpSpPr>
        <p:sp>
          <p:nvSpPr>
            <p:cNvPr id="382" name="Text Box 481"/>
            <p:cNvSpPr txBox="1">
              <a:spLocks noChangeArrowheads="1"/>
            </p:cNvSpPr>
            <p:nvPr/>
          </p:nvSpPr>
          <p:spPr bwMode="auto">
            <a:xfrm>
              <a:off x="5796135" y="4421994"/>
              <a:ext cx="3168477" cy="66319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115000"/>
                </a:lnSpc>
              </a:pPr>
              <a:r>
                <a:rPr lang="zh-CN" altLang="en-US" sz="1800" b="1" dirty="0" smtClean="0"/>
                <a:t>分子排列方向</a:t>
              </a:r>
              <a:r>
                <a:rPr lang="zh-CN" altLang="en-US" sz="1800" b="1" dirty="0" smtClean="0">
                  <a:solidFill>
                    <a:srgbClr val="FF3399"/>
                  </a:solidFill>
                </a:rPr>
                <a:t>倾向</a:t>
              </a:r>
              <a:r>
                <a:rPr lang="zh-CN" altLang="en-US" sz="1800" b="1" dirty="0" smtClean="0"/>
                <a:t>于</a:t>
              </a:r>
              <a:r>
                <a:rPr lang="zh-CN" altLang="en-US" sz="1800" b="1" dirty="0" smtClean="0">
                  <a:solidFill>
                    <a:schemeClr val="accent2"/>
                  </a:solidFill>
                </a:rPr>
                <a:t>电场方向</a:t>
              </a:r>
              <a:endParaRPr lang="en-US" altLang="zh-CN" sz="1800" b="1" dirty="0" smtClean="0">
                <a:solidFill>
                  <a:schemeClr val="accent2"/>
                </a:solidFill>
              </a:endParaRPr>
            </a:p>
            <a:p>
              <a:pPr>
                <a:lnSpc>
                  <a:spcPct val="115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(</a:t>
              </a:r>
              <a:r>
                <a:rPr lang="zh-CN" altLang="en-US" sz="1800" b="1" dirty="0" smtClean="0">
                  <a:latin typeface="+mn-ea"/>
                  <a:ea typeface="+mn-ea"/>
                </a:rPr>
                <a:t>倾向</a:t>
              </a:r>
              <a:r>
                <a:rPr lang="zh-CN" altLang="en-US" sz="1800" b="1" dirty="0" smtClean="0">
                  <a:solidFill>
                    <a:srgbClr val="FF3399"/>
                  </a:solidFill>
                  <a:latin typeface="+mn-ea"/>
                  <a:ea typeface="+mn-ea"/>
                </a:rPr>
                <a:t>角度</a:t>
              </a:r>
              <a:r>
                <a:rPr lang="zh-CN" altLang="en-US" sz="1800" b="1" dirty="0" smtClean="0">
                  <a:latin typeface="+mn-ea"/>
                  <a:ea typeface="+mn-ea"/>
                </a:rPr>
                <a:t>受</a:t>
              </a:r>
              <a:r>
                <a:rPr lang="en-US" altLang="zh-CN" sz="1800" b="1" dirty="0" smtClean="0">
                  <a:solidFill>
                    <a:schemeClr val="accent2"/>
                  </a:solidFill>
                  <a:latin typeface="+mn-ea"/>
                  <a:ea typeface="+mn-ea"/>
                </a:rPr>
                <a:t>U</a:t>
              </a:r>
              <a:r>
                <a:rPr lang="en-US" altLang="zh-CN" sz="1800" b="1" baseline="-18000" dirty="0" smtClean="0">
                  <a:solidFill>
                    <a:schemeClr val="accent2"/>
                  </a:solidFill>
                  <a:latin typeface="+mn-ea"/>
                  <a:ea typeface="+mn-ea"/>
                </a:rPr>
                <a:t>+</a:t>
              </a:r>
              <a:r>
                <a:rPr lang="zh-CN" altLang="en-US" sz="1800" b="1" dirty="0" smtClean="0">
                  <a:solidFill>
                    <a:schemeClr val="accent2"/>
                  </a:solidFill>
                  <a:latin typeface="+mn-ea"/>
                  <a:ea typeface="+mn-ea"/>
                </a:rPr>
                <a:t>值</a:t>
              </a:r>
              <a:r>
                <a:rPr lang="zh-CN" altLang="en-US" sz="1800" b="1" dirty="0" smtClean="0">
                  <a:latin typeface="+mn-ea"/>
                  <a:ea typeface="+mn-ea"/>
                </a:rPr>
                <a:t>影响</a:t>
              </a:r>
              <a:r>
                <a:rPr lang="en-US" altLang="zh-CN" sz="1800" b="1" dirty="0" smtClean="0">
                  <a:latin typeface="+mn-ea"/>
                  <a:ea typeface="+mn-ea"/>
                </a:rPr>
                <a:t>)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383" name="直接连接符 382"/>
            <p:cNvCxnSpPr/>
            <p:nvPr/>
          </p:nvCxnSpPr>
          <p:spPr bwMode="auto">
            <a:xfrm flipV="1">
              <a:off x="6084168" y="3887940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直接连接符 399"/>
            <p:cNvCxnSpPr/>
            <p:nvPr/>
          </p:nvCxnSpPr>
          <p:spPr bwMode="auto">
            <a:xfrm flipV="1">
              <a:off x="4716016" y="3290186"/>
              <a:ext cx="4104456" cy="1332498"/>
            </a:xfrm>
            <a:prstGeom prst="line">
              <a:avLst/>
            </a:prstGeom>
            <a:noFill/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1" name="任意多边形 400"/>
            <p:cNvSpPr/>
            <p:nvPr/>
          </p:nvSpPr>
          <p:spPr bwMode="auto">
            <a:xfrm>
              <a:off x="4848527" y="4246038"/>
              <a:ext cx="587188" cy="463771"/>
            </a:xfrm>
            <a:custGeom>
              <a:avLst/>
              <a:gdLst>
                <a:gd name="connsiteX0" fmla="*/ 0 w 587188"/>
                <a:gd name="connsiteY0" fmla="*/ 322822 h 463771"/>
                <a:gd name="connsiteX1" fmla="*/ 89647 w 587188"/>
                <a:gd name="connsiteY1" fmla="*/ 125598 h 463771"/>
                <a:gd name="connsiteX2" fmla="*/ 170329 w 587188"/>
                <a:gd name="connsiteY2" fmla="*/ 92 h 463771"/>
                <a:gd name="connsiteX3" fmla="*/ 259976 w 587188"/>
                <a:gd name="connsiteY3" fmla="*/ 107669 h 463771"/>
                <a:gd name="connsiteX4" fmla="*/ 304800 w 587188"/>
                <a:gd name="connsiteY4" fmla="*/ 242139 h 463771"/>
                <a:gd name="connsiteX5" fmla="*/ 358588 w 587188"/>
                <a:gd name="connsiteY5" fmla="*/ 381092 h 463771"/>
                <a:gd name="connsiteX6" fmla="*/ 425823 w 587188"/>
                <a:gd name="connsiteY6" fmla="*/ 461774 h 463771"/>
                <a:gd name="connsiteX7" fmla="*/ 528917 w 587188"/>
                <a:gd name="connsiteY7" fmla="*/ 300410 h 463771"/>
                <a:gd name="connsiteX8" fmla="*/ 587188 w 587188"/>
                <a:gd name="connsiteY8" fmla="*/ 143527 h 46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7188" h="463771">
                  <a:moveTo>
                    <a:pt x="0" y="322822"/>
                  </a:moveTo>
                  <a:cubicBezTo>
                    <a:pt x="30629" y="251104"/>
                    <a:pt x="61259" y="179386"/>
                    <a:pt x="89647" y="125598"/>
                  </a:cubicBezTo>
                  <a:cubicBezTo>
                    <a:pt x="118035" y="71810"/>
                    <a:pt x="141941" y="3080"/>
                    <a:pt x="170329" y="92"/>
                  </a:cubicBezTo>
                  <a:cubicBezTo>
                    <a:pt x="198717" y="-2896"/>
                    <a:pt x="237564" y="67328"/>
                    <a:pt x="259976" y="107669"/>
                  </a:cubicBezTo>
                  <a:cubicBezTo>
                    <a:pt x="282388" y="148010"/>
                    <a:pt x="288365" y="196568"/>
                    <a:pt x="304800" y="242139"/>
                  </a:cubicBezTo>
                  <a:cubicBezTo>
                    <a:pt x="321235" y="287710"/>
                    <a:pt x="338418" y="344486"/>
                    <a:pt x="358588" y="381092"/>
                  </a:cubicBezTo>
                  <a:cubicBezTo>
                    <a:pt x="378758" y="417698"/>
                    <a:pt x="397435" y="475221"/>
                    <a:pt x="425823" y="461774"/>
                  </a:cubicBezTo>
                  <a:cubicBezTo>
                    <a:pt x="454211" y="448327"/>
                    <a:pt x="502023" y="353451"/>
                    <a:pt x="528917" y="300410"/>
                  </a:cubicBezTo>
                  <a:cubicBezTo>
                    <a:pt x="555811" y="247369"/>
                    <a:pt x="571499" y="195448"/>
                    <a:pt x="587188" y="143527"/>
                  </a:cubicBezTo>
                </a:path>
              </a:pathLst>
            </a:cu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02" name="直接连接符 401"/>
            <p:cNvCxnSpPr/>
            <p:nvPr/>
          </p:nvCxnSpPr>
          <p:spPr bwMode="auto">
            <a:xfrm>
              <a:off x="4954900" y="4352586"/>
              <a:ext cx="0" cy="19747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直接连接符 402"/>
            <p:cNvCxnSpPr/>
            <p:nvPr/>
          </p:nvCxnSpPr>
          <p:spPr bwMode="auto">
            <a:xfrm>
              <a:off x="5004048" y="4255024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直接连接符 403"/>
            <p:cNvCxnSpPr/>
            <p:nvPr/>
          </p:nvCxnSpPr>
          <p:spPr bwMode="auto">
            <a:xfrm>
              <a:off x="5053196" y="4266912"/>
              <a:ext cx="907" cy="24901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直接连接符 404"/>
            <p:cNvCxnSpPr/>
            <p:nvPr/>
          </p:nvCxnSpPr>
          <p:spPr bwMode="auto">
            <a:xfrm>
              <a:off x="4912990" y="4440462"/>
              <a:ext cx="0" cy="12053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直接连接符 405"/>
            <p:cNvCxnSpPr/>
            <p:nvPr/>
          </p:nvCxnSpPr>
          <p:spPr bwMode="auto">
            <a:xfrm flipH="1">
              <a:off x="5102344" y="4342272"/>
              <a:ext cx="1" cy="15845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7" name="直接连接符 406"/>
            <p:cNvCxnSpPr/>
            <p:nvPr/>
          </p:nvCxnSpPr>
          <p:spPr bwMode="auto">
            <a:xfrm>
              <a:off x="4879082" y="4508766"/>
              <a:ext cx="0" cy="6026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直接连接符 407"/>
            <p:cNvCxnSpPr/>
            <p:nvPr/>
          </p:nvCxnSpPr>
          <p:spPr bwMode="auto">
            <a:xfrm>
              <a:off x="5311130" y="4433640"/>
              <a:ext cx="0" cy="23106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9" name="直接连接符 408"/>
            <p:cNvCxnSpPr/>
            <p:nvPr/>
          </p:nvCxnSpPr>
          <p:spPr bwMode="auto">
            <a:xfrm>
              <a:off x="5265791" y="4433640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直接连接符 409"/>
            <p:cNvCxnSpPr/>
            <p:nvPr/>
          </p:nvCxnSpPr>
          <p:spPr bwMode="auto">
            <a:xfrm>
              <a:off x="5223882" y="4456500"/>
              <a:ext cx="0" cy="20428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1" name="直接连接符 410"/>
            <p:cNvCxnSpPr/>
            <p:nvPr/>
          </p:nvCxnSpPr>
          <p:spPr bwMode="auto">
            <a:xfrm>
              <a:off x="5398378" y="4391420"/>
              <a:ext cx="0" cy="9783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2" name="直接连接符 411"/>
            <p:cNvCxnSpPr/>
            <p:nvPr/>
          </p:nvCxnSpPr>
          <p:spPr bwMode="auto">
            <a:xfrm>
              <a:off x="5352657" y="4421501"/>
              <a:ext cx="1" cy="177525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3" name="直接连接符 412"/>
            <p:cNvCxnSpPr/>
            <p:nvPr/>
          </p:nvCxnSpPr>
          <p:spPr bwMode="auto">
            <a:xfrm>
              <a:off x="5178259" y="4477923"/>
              <a:ext cx="7611" cy="116189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8" name="Text Box 449"/>
            <p:cNvSpPr txBox="1">
              <a:spLocks noChangeArrowheads="1"/>
            </p:cNvSpPr>
            <p:nvPr/>
          </p:nvSpPr>
          <p:spPr bwMode="auto">
            <a:xfrm>
              <a:off x="4875205" y="3979179"/>
              <a:ext cx="416875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Y</a:t>
              </a:r>
              <a:r>
                <a:rPr lang="zh-CN" altLang="en-US" sz="1600" b="1" dirty="0" smtClean="0"/>
                <a:t>轴</a:t>
              </a:r>
              <a:endParaRPr lang="zh-CN" altLang="en-US" sz="1600" b="1" dirty="0"/>
            </a:p>
          </p:txBody>
        </p:sp>
        <p:sp>
          <p:nvSpPr>
            <p:cNvPr id="429" name="Text Box 449"/>
            <p:cNvSpPr txBox="1">
              <a:spLocks noChangeArrowheads="1"/>
            </p:cNvSpPr>
            <p:nvPr/>
          </p:nvSpPr>
          <p:spPr bwMode="auto">
            <a:xfrm>
              <a:off x="8187573" y="3714270"/>
              <a:ext cx="416875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Y</a:t>
              </a:r>
              <a:r>
                <a:rPr lang="zh-CN" altLang="en-US" sz="1600" b="1" dirty="0" smtClean="0"/>
                <a:t>轴</a:t>
              </a:r>
              <a:endParaRPr lang="zh-CN" altLang="en-US" sz="1600" b="1" dirty="0"/>
            </a:p>
          </p:txBody>
        </p:sp>
        <p:sp>
          <p:nvSpPr>
            <p:cNvPr id="432" name="任意多边形 431"/>
            <p:cNvSpPr/>
            <p:nvPr/>
          </p:nvSpPr>
          <p:spPr bwMode="auto">
            <a:xfrm>
              <a:off x="8028384" y="3212976"/>
              <a:ext cx="587188" cy="463771"/>
            </a:xfrm>
            <a:custGeom>
              <a:avLst/>
              <a:gdLst>
                <a:gd name="connsiteX0" fmla="*/ 0 w 587188"/>
                <a:gd name="connsiteY0" fmla="*/ 322822 h 463771"/>
                <a:gd name="connsiteX1" fmla="*/ 89647 w 587188"/>
                <a:gd name="connsiteY1" fmla="*/ 125598 h 463771"/>
                <a:gd name="connsiteX2" fmla="*/ 170329 w 587188"/>
                <a:gd name="connsiteY2" fmla="*/ 92 h 463771"/>
                <a:gd name="connsiteX3" fmla="*/ 259976 w 587188"/>
                <a:gd name="connsiteY3" fmla="*/ 107669 h 463771"/>
                <a:gd name="connsiteX4" fmla="*/ 304800 w 587188"/>
                <a:gd name="connsiteY4" fmla="*/ 242139 h 463771"/>
                <a:gd name="connsiteX5" fmla="*/ 358588 w 587188"/>
                <a:gd name="connsiteY5" fmla="*/ 381092 h 463771"/>
                <a:gd name="connsiteX6" fmla="*/ 425823 w 587188"/>
                <a:gd name="connsiteY6" fmla="*/ 461774 h 463771"/>
                <a:gd name="connsiteX7" fmla="*/ 528917 w 587188"/>
                <a:gd name="connsiteY7" fmla="*/ 300410 h 463771"/>
                <a:gd name="connsiteX8" fmla="*/ 587188 w 587188"/>
                <a:gd name="connsiteY8" fmla="*/ 143527 h 46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7188" h="463771">
                  <a:moveTo>
                    <a:pt x="0" y="322822"/>
                  </a:moveTo>
                  <a:cubicBezTo>
                    <a:pt x="30629" y="251104"/>
                    <a:pt x="61259" y="179386"/>
                    <a:pt x="89647" y="125598"/>
                  </a:cubicBezTo>
                  <a:cubicBezTo>
                    <a:pt x="118035" y="71810"/>
                    <a:pt x="141941" y="3080"/>
                    <a:pt x="170329" y="92"/>
                  </a:cubicBezTo>
                  <a:cubicBezTo>
                    <a:pt x="198717" y="-2896"/>
                    <a:pt x="237564" y="67328"/>
                    <a:pt x="259976" y="107669"/>
                  </a:cubicBezTo>
                  <a:cubicBezTo>
                    <a:pt x="282388" y="148010"/>
                    <a:pt x="288365" y="196568"/>
                    <a:pt x="304800" y="242139"/>
                  </a:cubicBezTo>
                  <a:cubicBezTo>
                    <a:pt x="321235" y="287710"/>
                    <a:pt x="338418" y="344486"/>
                    <a:pt x="358588" y="381092"/>
                  </a:cubicBezTo>
                  <a:cubicBezTo>
                    <a:pt x="378758" y="417698"/>
                    <a:pt x="397435" y="475221"/>
                    <a:pt x="425823" y="461774"/>
                  </a:cubicBezTo>
                  <a:cubicBezTo>
                    <a:pt x="454211" y="448327"/>
                    <a:pt x="502023" y="353451"/>
                    <a:pt x="528917" y="300410"/>
                  </a:cubicBezTo>
                  <a:cubicBezTo>
                    <a:pt x="555811" y="247369"/>
                    <a:pt x="571499" y="195448"/>
                    <a:pt x="587188" y="143527"/>
                  </a:cubicBezTo>
                </a:path>
              </a:pathLst>
            </a:custGeom>
            <a:noFill/>
            <a:ln w="158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433" name="直接连接符 432"/>
            <p:cNvCxnSpPr/>
            <p:nvPr/>
          </p:nvCxnSpPr>
          <p:spPr bwMode="auto">
            <a:xfrm>
              <a:off x="8134757" y="3319524"/>
              <a:ext cx="0" cy="197470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4" name="直接连接符 433"/>
            <p:cNvCxnSpPr/>
            <p:nvPr/>
          </p:nvCxnSpPr>
          <p:spPr bwMode="auto">
            <a:xfrm>
              <a:off x="8183905" y="3221962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5" name="直接连接符 434"/>
            <p:cNvCxnSpPr/>
            <p:nvPr/>
          </p:nvCxnSpPr>
          <p:spPr bwMode="auto">
            <a:xfrm>
              <a:off x="8233053" y="3233850"/>
              <a:ext cx="907" cy="24901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6" name="直接连接符 435"/>
            <p:cNvCxnSpPr/>
            <p:nvPr/>
          </p:nvCxnSpPr>
          <p:spPr bwMode="auto">
            <a:xfrm>
              <a:off x="8092847" y="3407400"/>
              <a:ext cx="0" cy="120536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直接连接符 436"/>
            <p:cNvCxnSpPr/>
            <p:nvPr/>
          </p:nvCxnSpPr>
          <p:spPr bwMode="auto">
            <a:xfrm flipH="1">
              <a:off x="8282201" y="3309210"/>
              <a:ext cx="1" cy="15845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8" name="直接连接符 437"/>
            <p:cNvCxnSpPr/>
            <p:nvPr/>
          </p:nvCxnSpPr>
          <p:spPr bwMode="auto">
            <a:xfrm>
              <a:off x="8058939" y="3475704"/>
              <a:ext cx="0" cy="6026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9" name="直接连接符 438"/>
            <p:cNvCxnSpPr/>
            <p:nvPr/>
          </p:nvCxnSpPr>
          <p:spPr bwMode="auto">
            <a:xfrm>
              <a:off x="8490987" y="3400578"/>
              <a:ext cx="0" cy="23106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0" name="直接连接符 439"/>
            <p:cNvCxnSpPr/>
            <p:nvPr/>
          </p:nvCxnSpPr>
          <p:spPr bwMode="auto">
            <a:xfrm>
              <a:off x="8445648" y="3400578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1" name="直接连接符 440"/>
            <p:cNvCxnSpPr/>
            <p:nvPr/>
          </p:nvCxnSpPr>
          <p:spPr bwMode="auto">
            <a:xfrm>
              <a:off x="8403739" y="3423438"/>
              <a:ext cx="0" cy="204284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直接连接符 441"/>
            <p:cNvCxnSpPr/>
            <p:nvPr/>
          </p:nvCxnSpPr>
          <p:spPr bwMode="auto">
            <a:xfrm>
              <a:off x="8578235" y="3358358"/>
              <a:ext cx="0" cy="97838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直接连接符 442"/>
            <p:cNvCxnSpPr/>
            <p:nvPr/>
          </p:nvCxnSpPr>
          <p:spPr bwMode="auto">
            <a:xfrm>
              <a:off x="8532514" y="3388439"/>
              <a:ext cx="1" cy="177525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4" name="直接连接符 443"/>
            <p:cNvCxnSpPr/>
            <p:nvPr/>
          </p:nvCxnSpPr>
          <p:spPr bwMode="auto">
            <a:xfrm>
              <a:off x="8358116" y="3444861"/>
              <a:ext cx="7611" cy="116189"/>
            </a:xfrm>
            <a:prstGeom prst="lin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56" name="Text Box 449"/>
            <p:cNvSpPr txBox="1">
              <a:spLocks noChangeArrowheads="1"/>
            </p:cNvSpPr>
            <p:nvPr/>
          </p:nvSpPr>
          <p:spPr bwMode="auto">
            <a:xfrm>
              <a:off x="5582537" y="3550295"/>
              <a:ext cx="285607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/>
                <a:t>U</a:t>
              </a:r>
              <a:r>
                <a:rPr lang="en-US" altLang="zh-CN" sz="1600" b="1" baseline="-18000" dirty="0" smtClean="0"/>
                <a:t>+</a:t>
              </a:r>
              <a:endParaRPr lang="zh-CN" altLang="en-US" sz="1600" b="1" baseline="-18000" dirty="0"/>
            </a:p>
          </p:txBody>
        </p:sp>
        <p:sp>
          <p:nvSpPr>
            <p:cNvPr id="240" name="平行四边形 239"/>
            <p:cNvSpPr/>
            <p:nvPr/>
          </p:nvSpPr>
          <p:spPr bwMode="auto">
            <a:xfrm rot="5400000">
              <a:off x="5544393" y="3934677"/>
              <a:ext cx="613403" cy="322130"/>
            </a:xfrm>
            <a:prstGeom prst="parallelogram">
              <a:avLst>
                <a:gd name="adj" fmla="val 48219"/>
              </a:avLst>
            </a:prstGeom>
            <a:solidFill>
              <a:srgbClr val="FFCCFF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8" name="平行四边形 457"/>
            <p:cNvSpPr/>
            <p:nvPr/>
          </p:nvSpPr>
          <p:spPr bwMode="auto">
            <a:xfrm rot="5400000">
              <a:off x="7344593" y="3358613"/>
              <a:ext cx="613403" cy="322130"/>
            </a:xfrm>
            <a:prstGeom prst="parallelogram">
              <a:avLst>
                <a:gd name="adj" fmla="val 48219"/>
              </a:avLst>
            </a:prstGeom>
            <a:solidFill>
              <a:schemeClr val="bg1">
                <a:lumMod val="85000"/>
              </a:scheme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9" name="Text Box 449"/>
            <p:cNvSpPr txBox="1">
              <a:spLocks noChangeArrowheads="1"/>
            </p:cNvSpPr>
            <p:nvPr/>
          </p:nvSpPr>
          <p:spPr bwMode="auto">
            <a:xfrm>
              <a:off x="7020272" y="3140968"/>
              <a:ext cx="429623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dirty="0" err="1" smtClean="0"/>
                <a:t>Gnd</a:t>
              </a:r>
              <a:endParaRPr lang="zh-CN" altLang="en-US" sz="1600" baseline="-18000" dirty="0"/>
            </a:p>
          </p:txBody>
        </p:sp>
        <p:cxnSp>
          <p:nvCxnSpPr>
            <p:cNvPr id="461" name="直接连接符 460"/>
            <p:cNvCxnSpPr/>
            <p:nvPr/>
          </p:nvCxnSpPr>
          <p:spPr bwMode="auto">
            <a:xfrm flipV="1">
              <a:off x="6184018" y="3940982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2" name="直接连接符 461"/>
            <p:cNvCxnSpPr/>
            <p:nvPr/>
          </p:nvCxnSpPr>
          <p:spPr bwMode="auto">
            <a:xfrm flipV="1">
              <a:off x="6480064" y="367117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3" name="直接连接符 462"/>
            <p:cNvCxnSpPr/>
            <p:nvPr/>
          </p:nvCxnSpPr>
          <p:spPr bwMode="auto">
            <a:xfrm flipV="1">
              <a:off x="6569050" y="3817928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4" name="直接连接符 463"/>
            <p:cNvCxnSpPr/>
            <p:nvPr/>
          </p:nvCxnSpPr>
          <p:spPr bwMode="auto">
            <a:xfrm flipV="1">
              <a:off x="6678752" y="3698808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5" name="直接连接符 464"/>
            <p:cNvCxnSpPr/>
            <p:nvPr/>
          </p:nvCxnSpPr>
          <p:spPr bwMode="auto">
            <a:xfrm flipV="1">
              <a:off x="6823928" y="356387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6" name="直接连接符 465"/>
            <p:cNvCxnSpPr/>
            <p:nvPr/>
          </p:nvCxnSpPr>
          <p:spPr bwMode="auto">
            <a:xfrm flipV="1">
              <a:off x="7078180" y="357446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8" name="直接连接符 467"/>
            <p:cNvCxnSpPr/>
            <p:nvPr/>
          </p:nvCxnSpPr>
          <p:spPr bwMode="auto">
            <a:xfrm flipV="1">
              <a:off x="6156176" y="4134300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9" name="直接连接符 468"/>
            <p:cNvCxnSpPr/>
            <p:nvPr/>
          </p:nvCxnSpPr>
          <p:spPr bwMode="auto">
            <a:xfrm flipV="1">
              <a:off x="6256026" y="418045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0" name="直接连接符 469"/>
            <p:cNvCxnSpPr/>
            <p:nvPr/>
          </p:nvCxnSpPr>
          <p:spPr bwMode="auto">
            <a:xfrm flipV="1">
              <a:off x="6527734" y="400506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1" name="直接连接符 470"/>
            <p:cNvCxnSpPr/>
            <p:nvPr/>
          </p:nvCxnSpPr>
          <p:spPr bwMode="auto">
            <a:xfrm flipV="1">
              <a:off x="6616066" y="4060844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2" name="直接连接符 471"/>
            <p:cNvCxnSpPr/>
            <p:nvPr/>
          </p:nvCxnSpPr>
          <p:spPr bwMode="auto">
            <a:xfrm flipV="1">
              <a:off x="6887774" y="3918276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3" name="直接连接符 472"/>
            <p:cNvCxnSpPr/>
            <p:nvPr/>
          </p:nvCxnSpPr>
          <p:spPr bwMode="auto">
            <a:xfrm flipV="1">
              <a:off x="7003948" y="4005064"/>
              <a:ext cx="160340" cy="5578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4" name="直接连接符 473"/>
            <p:cNvCxnSpPr/>
            <p:nvPr/>
          </p:nvCxnSpPr>
          <p:spPr bwMode="auto">
            <a:xfrm flipV="1">
              <a:off x="7219972" y="3790488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5" name="直接连接符 474"/>
            <p:cNvCxnSpPr/>
            <p:nvPr/>
          </p:nvCxnSpPr>
          <p:spPr bwMode="auto">
            <a:xfrm flipV="1">
              <a:off x="7309254" y="3851788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6" name="直接连接符 475"/>
            <p:cNvCxnSpPr/>
            <p:nvPr/>
          </p:nvCxnSpPr>
          <p:spPr bwMode="auto">
            <a:xfrm flipV="1">
              <a:off x="6228184" y="4278316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7" name="直接连接符 476"/>
            <p:cNvCxnSpPr/>
            <p:nvPr/>
          </p:nvCxnSpPr>
          <p:spPr bwMode="auto">
            <a:xfrm flipV="1">
              <a:off x="6616066" y="4149080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8" name="直接连接符 477"/>
            <p:cNvCxnSpPr/>
            <p:nvPr/>
          </p:nvCxnSpPr>
          <p:spPr bwMode="auto">
            <a:xfrm flipV="1">
              <a:off x="6976106" y="4062292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直接连接符 478"/>
            <p:cNvCxnSpPr/>
            <p:nvPr/>
          </p:nvCxnSpPr>
          <p:spPr bwMode="auto">
            <a:xfrm flipV="1">
              <a:off x="7380312" y="3918276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1" name="直接连接符 480"/>
            <p:cNvCxnSpPr/>
            <p:nvPr/>
          </p:nvCxnSpPr>
          <p:spPr bwMode="auto">
            <a:xfrm flipV="1">
              <a:off x="6436046" y="3809219"/>
              <a:ext cx="160340" cy="5578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2" name="直接连接符 481"/>
            <p:cNvCxnSpPr/>
            <p:nvPr/>
          </p:nvCxnSpPr>
          <p:spPr bwMode="auto">
            <a:xfrm flipV="1">
              <a:off x="6084168" y="3789040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直接连接符 482"/>
            <p:cNvCxnSpPr/>
            <p:nvPr/>
          </p:nvCxnSpPr>
          <p:spPr bwMode="auto">
            <a:xfrm flipV="1">
              <a:off x="7166885" y="3474471"/>
              <a:ext cx="160340" cy="5578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4" name="直接连接符 483"/>
            <p:cNvCxnSpPr/>
            <p:nvPr/>
          </p:nvCxnSpPr>
          <p:spPr bwMode="auto">
            <a:xfrm flipV="1">
              <a:off x="7279009" y="3613722"/>
              <a:ext cx="160340" cy="5578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8" name="直接连接符 487"/>
            <p:cNvCxnSpPr/>
            <p:nvPr/>
          </p:nvCxnSpPr>
          <p:spPr bwMode="auto">
            <a:xfrm flipV="1">
              <a:off x="6939658" y="3702252"/>
              <a:ext cx="260190" cy="8678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36" name="Text Box 4"/>
          <p:cNvSpPr txBox="1">
            <a:spLocks noChangeArrowheads="1"/>
          </p:cNvSpPr>
          <p:nvPr/>
        </p:nvSpPr>
        <p:spPr bwMode="auto">
          <a:xfrm>
            <a:off x="179512" y="5157192"/>
            <a:ext cx="8856984" cy="1396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应用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亮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灭</a:t>
            </a:r>
            <a:r>
              <a:rPr lang="zh-CN" altLang="en-US" b="1" dirty="0" smtClean="0">
                <a:latin typeface="宋体" panose="02010600030101010101" pitchFamily="2" charset="-122"/>
              </a:rPr>
              <a:t>用旋光性控制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偏光片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[X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及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Y]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＋分子排列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扭曲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平行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灰度</a:t>
            </a:r>
            <a:r>
              <a:rPr lang="zh-CN" altLang="en-US" b="1" dirty="0" smtClean="0">
                <a:latin typeface="宋体" panose="02010600030101010101" pitchFamily="2" charset="-122"/>
              </a:rPr>
              <a:t>用透光性控制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分子排列的倾向角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不同电压值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   颜色</a:t>
            </a:r>
            <a:r>
              <a:rPr lang="zh-CN" altLang="en-US" b="1" dirty="0" smtClean="0">
                <a:latin typeface="宋体" panose="02010600030101010101" pitchFamily="2" charset="-122"/>
              </a:rPr>
              <a:t>用滤光片控制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红色＋绿色＋蓝色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538" name="AutoShape 65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67544" y="3645024"/>
            <a:ext cx="4312563" cy="1469592"/>
            <a:chOff x="467544" y="3212976"/>
            <a:chExt cx="4312563" cy="1469592"/>
          </a:xfrm>
        </p:grpSpPr>
        <p:sp>
          <p:nvSpPr>
            <p:cNvPr id="117" name="Text Box 481"/>
            <p:cNvSpPr txBox="1">
              <a:spLocks noChangeArrowheads="1"/>
            </p:cNvSpPr>
            <p:nvPr/>
          </p:nvSpPr>
          <p:spPr bwMode="auto">
            <a:xfrm>
              <a:off x="1619672" y="4355066"/>
              <a:ext cx="3160435" cy="30315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>
                <a:lnSpc>
                  <a:spcPct val="115000"/>
                </a:lnSpc>
              </a:pPr>
              <a:r>
                <a:rPr lang="zh-CN" altLang="en-US" sz="1800" b="1" dirty="0" smtClean="0"/>
                <a:t>光线随</a:t>
              </a:r>
              <a:r>
                <a:rPr lang="zh-CN" altLang="en-US" sz="1800" b="1" dirty="0"/>
                <a:t>分子</a:t>
              </a:r>
              <a:r>
                <a:rPr lang="zh-CN" altLang="en-US" sz="1800" b="1" dirty="0" smtClean="0"/>
                <a:t>排列的</a:t>
              </a:r>
              <a:r>
                <a:rPr lang="zh-CN" altLang="en-US" sz="1800" b="1" dirty="0" smtClean="0">
                  <a:solidFill>
                    <a:schemeClr val="accent2"/>
                  </a:solidFill>
                </a:rPr>
                <a:t>扭曲</a:t>
              </a:r>
              <a:r>
                <a:rPr lang="zh-CN" altLang="en-US" sz="1800" b="1" dirty="0" smtClean="0"/>
                <a:t>而</a:t>
              </a:r>
              <a:r>
                <a:rPr lang="zh-CN" altLang="en-US" sz="1800" b="1" dirty="0" smtClean="0">
                  <a:solidFill>
                    <a:srgbClr val="FF3399"/>
                  </a:solidFill>
                </a:rPr>
                <a:t>旋转</a:t>
              </a:r>
              <a:endParaRPr lang="zh-CN" altLang="en-US" sz="1800" b="1" dirty="0">
                <a:solidFill>
                  <a:srgbClr val="FF3399"/>
                </a:solidFill>
              </a:endParaRPr>
            </a:p>
          </p:txBody>
        </p:sp>
        <p:cxnSp>
          <p:nvCxnSpPr>
            <p:cNvPr id="118" name="直接连接符 117"/>
            <p:cNvCxnSpPr/>
            <p:nvPr/>
          </p:nvCxnSpPr>
          <p:spPr bwMode="auto">
            <a:xfrm>
              <a:off x="1763688" y="4075535"/>
              <a:ext cx="248022" cy="26373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直接连接符 118"/>
            <p:cNvCxnSpPr/>
            <p:nvPr/>
          </p:nvCxnSpPr>
          <p:spPr bwMode="auto">
            <a:xfrm flipH="1">
              <a:off x="3406405" y="3573016"/>
              <a:ext cx="1" cy="416155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直接连接符 119"/>
            <p:cNvCxnSpPr/>
            <p:nvPr/>
          </p:nvCxnSpPr>
          <p:spPr bwMode="auto">
            <a:xfrm flipH="1">
              <a:off x="3284968" y="3619192"/>
              <a:ext cx="24416" cy="36997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直接连接符 120"/>
            <p:cNvCxnSpPr/>
            <p:nvPr/>
          </p:nvCxnSpPr>
          <p:spPr bwMode="auto">
            <a:xfrm flipH="1">
              <a:off x="3178779" y="3657811"/>
              <a:ext cx="39593" cy="33421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" name="直接连接符 121"/>
            <p:cNvCxnSpPr/>
            <p:nvPr/>
          </p:nvCxnSpPr>
          <p:spPr bwMode="auto">
            <a:xfrm flipH="1">
              <a:off x="3083050" y="3691200"/>
              <a:ext cx="49868" cy="31335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/>
            <p:cNvCxnSpPr/>
            <p:nvPr/>
          </p:nvCxnSpPr>
          <p:spPr bwMode="auto">
            <a:xfrm flipH="1">
              <a:off x="2970392" y="3744460"/>
              <a:ext cx="72036" cy="26720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直接连接符 123"/>
            <p:cNvCxnSpPr/>
            <p:nvPr/>
          </p:nvCxnSpPr>
          <p:spPr bwMode="auto">
            <a:xfrm flipH="1">
              <a:off x="2852981" y="3781136"/>
              <a:ext cx="102171" cy="24602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" name="直接连接符 124"/>
            <p:cNvCxnSpPr/>
            <p:nvPr/>
          </p:nvCxnSpPr>
          <p:spPr bwMode="auto">
            <a:xfrm flipH="1">
              <a:off x="2755670" y="3832528"/>
              <a:ext cx="92231" cy="20669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" name="直接连接符 125"/>
            <p:cNvCxnSpPr/>
            <p:nvPr/>
          </p:nvCxnSpPr>
          <p:spPr bwMode="auto">
            <a:xfrm flipH="1">
              <a:off x="2639046" y="3862108"/>
              <a:ext cx="106464" cy="18174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7" name="直接连接符 126"/>
            <p:cNvCxnSpPr/>
            <p:nvPr/>
          </p:nvCxnSpPr>
          <p:spPr bwMode="auto">
            <a:xfrm flipH="1">
              <a:off x="2541162" y="3892274"/>
              <a:ext cx="115618" cy="14103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直接连接符 127"/>
            <p:cNvCxnSpPr/>
            <p:nvPr/>
          </p:nvCxnSpPr>
          <p:spPr bwMode="auto">
            <a:xfrm>
              <a:off x="2435052" y="3960001"/>
              <a:ext cx="112713" cy="64048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直接连接符 128"/>
            <p:cNvCxnSpPr/>
            <p:nvPr/>
          </p:nvCxnSpPr>
          <p:spPr bwMode="auto">
            <a:xfrm>
              <a:off x="2340596" y="3972472"/>
              <a:ext cx="144462" cy="103154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直接连接符 129"/>
            <p:cNvCxnSpPr/>
            <p:nvPr/>
          </p:nvCxnSpPr>
          <p:spPr bwMode="auto">
            <a:xfrm>
              <a:off x="1861195" y="4059273"/>
              <a:ext cx="222882" cy="2153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直接连接符 130"/>
            <p:cNvCxnSpPr/>
            <p:nvPr/>
          </p:nvCxnSpPr>
          <p:spPr bwMode="auto">
            <a:xfrm>
              <a:off x="1949895" y="4029444"/>
              <a:ext cx="236299" cy="20800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直接连接符 131"/>
            <p:cNvCxnSpPr/>
            <p:nvPr/>
          </p:nvCxnSpPr>
          <p:spPr bwMode="auto">
            <a:xfrm>
              <a:off x="2058815" y="4016744"/>
              <a:ext cx="210343" cy="17851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直接连接符 132"/>
            <p:cNvCxnSpPr/>
            <p:nvPr/>
          </p:nvCxnSpPr>
          <p:spPr bwMode="auto">
            <a:xfrm>
              <a:off x="2151290" y="4004556"/>
              <a:ext cx="189306" cy="142141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直接连接符 133"/>
            <p:cNvCxnSpPr/>
            <p:nvPr/>
          </p:nvCxnSpPr>
          <p:spPr bwMode="auto">
            <a:xfrm>
              <a:off x="2239019" y="3989171"/>
              <a:ext cx="192858" cy="13327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5" name="任意多边形 134"/>
            <p:cNvSpPr/>
            <p:nvPr/>
          </p:nvSpPr>
          <p:spPr bwMode="auto">
            <a:xfrm>
              <a:off x="3851920" y="3212976"/>
              <a:ext cx="587188" cy="463771"/>
            </a:xfrm>
            <a:custGeom>
              <a:avLst/>
              <a:gdLst>
                <a:gd name="connsiteX0" fmla="*/ 0 w 587188"/>
                <a:gd name="connsiteY0" fmla="*/ 322822 h 463771"/>
                <a:gd name="connsiteX1" fmla="*/ 89647 w 587188"/>
                <a:gd name="connsiteY1" fmla="*/ 125598 h 463771"/>
                <a:gd name="connsiteX2" fmla="*/ 170329 w 587188"/>
                <a:gd name="connsiteY2" fmla="*/ 92 h 463771"/>
                <a:gd name="connsiteX3" fmla="*/ 259976 w 587188"/>
                <a:gd name="connsiteY3" fmla="*/ 107669 h 463771"/>
                <a:gd name="connsiteX4" fmla="*/ 304800 w 587188"/>
                <a:gd name="connsiteY4" fmla="*/ 242139 h 463771"/>
                <a:gd name="connsiteX5" fmla="*/ 358588 w 587188"/>
                <a:gd name="connsiteY5" fmla="*/ 381092 h 463771"/>
                <a:gd name="connsiteX6" fmla="*/ 425823 w 587188"/>
                <a:gd name="connsiteY6" fmla="*/ 461774 h 463771"/>
                <a:gd name="connsiteX7" fmla="*/ 528917 w 587188"/>
                <a:gd name="connsiteY7" fmla="*/ 300410 h 463771"/>
                <a:gd name="connsiteX8" fmla="*/ 587188 w 587188"/>
                <a:gd name="connsiteY8" fmla="*/ 143527 h 463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7188" h="463771">
                  <a:moveTo>
                    <a:pt x="0" y="322822"/>
                  </a:moveTo>
                  <a:cubicBezTo>
                    <a:pt x="30629" y="251104"/>
                    <a:pt x="61259" y="179386"/>
                    <a:pt x="89647" y="125598"/>
                  </a:cubicBezTo>
                  <a:cubicBezTo>
                    <a:pt x="118035" y="71810"/>
                    <a:pt x="141941" y="3080"/>
                    <a:pt x="170329" y="92"/>
                  </a:cubicBezTo>
                  <a:cubicBezTo>
                    <a:pt x="198717" y="-2896"/>
                    <a:pt x="237564" y="67328"/>
                    <a:pt x="259976" y="107669"/>
                  </a:cubicBezTo>
                  <a:cubicBezTo>
                    <a:pt x="282388" y="148010"/>
                    <a:pt x="288365" y="196568"/>
                    <a:pt x="304800" y="242139"/>
                  </a:cubicBezTo>
                  <a:cubicBezTo>
                    <a:pt x="321235" y="287710"/>
                    <a:pt x="338418" y="344486"/>
                    <a:pt x="358588" y="381092"/>
                  </a:cubicBezTo>
                  <a:cubicBezTo>
                    <a:pt x="378758" y="417698"/>
                    <a:pt x="397435" y="475221"/>
                    <a:pt x="425823" y="461774"/>
                  </a:cubicBezTo>
                  <a:cubicBezTo>
                    <a:pt x="454211" y="448327"/>
                    <a:pt x="502023" y="353451"/>
                    <a:pt x="528917" y="300410"/>
                  </a:cubicBezTo>
                  <a:cubicBezTo>
                    <a:pt x="555811" y="247369"/>
                    <a:pt x="571499" y="195448"/>
                    <a:pt x="587188" y="143527"/>
                  </a:cubicBezTo>
                </a:path>
              </a:pathLst>
            </a:cu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6" name="直接连接符 135"/>
            <p:cNvCxnSpPr/>
            <p:nvPr/>
          </p:nvCxnSpPr>
          <p:spPr bwMode="auto">
            <a:xfrm>
              <a:off x="3958293" y="3319524"/>
              <a:ext cx="0" cy="19747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直接连接符 136"/>
            <p:cNvCxnSpPr/>
            <p:nvPr/>
          </p:nvCxnSpPr>
          <p:spPr bwMode="auto">
            <a:xfrm>
              <a:off x="4007441" y="3221962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直接连接符 137"/>
            <p:cNvCxnSpPr/>
            <p:nvPr/>
          </p:nvCxnSpPr>
          <p:spPr bwMode="auto">
            <a:xfrm>
              <a:off x="4056589" y="3233850"/>
              <a:ext cx="907" cy="249016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9" name="直接连接符 138"/>
            <p:cNvCxnSpPr/>
            <p:nvPr/>
          </p:nvCxnSpPr>
          <p:spPr bwMode="auto">
            <a:xfrm>
              <a:off x="3916383" y="3407400"/>
              <a:ext cx="0" cy="120536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" name="直接连接符 139"/>
            <p:cNvCxnSpPr/>
            <p:nvPr/>
          </p:nvCxnSpPr>
          <p:spPr bwMode="auto">
            <a:xfrm flipH="1">
              <a:off x="4105737" y="3309210"/>
              <a:ext cx="1" cy="158458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直接连接符 140"/>
            <p:cNvCxnSpPr/>
            <p:nvPr/>
          </p:nvCxnSpPr>
          <p:spPr bwMode="auto">
            <a:xfrm>
              <a:off x="3882475" y="3475704"/>
              <a:ext cx="0" cy="60268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直接连接符 141"/>
            <p:cNvCxnSpPr/>
            <p:nvPr/>
          </p:nvCxnSpPr>
          <p:spPr bwMode="auto">
            <a:xfrm>
              <a:off x="4314523" y="3400578"/>
              <a:ext cx="0" cy="231068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直接连接符 142"/>
            <p:cNvCxnSpPr/>
            <p:nvPr/>
          </p:nvCxnSpPr>
          <p:spPr bwMode="auto">
            <a:xfrm>
              <a:off x="4269184" y="3405658"/>
              <a:ext cx="0" cy="27233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直接连接符 143"/>
            <p:cNvCxnSpPr/>
            <p:nvPr/>
          </p:nvCxnSpPr>
          <p:spPr bwMode="auto">
            <a:xfrm>
              <a:off x="4227275" y="3423438"/>
              <a:ext cx="0" cy="20428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直接连接符 144"/>
            <p:cNvCxnSpPr/>
            <p:nvPr/>
          </p:nvCxnSpPr>
          <p:spPr bwMode="auto">
            <a:xfrm>
              <a:off x="4401771" y="3363438"/>
              <a:ext cx="0" cy="97838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直接连接符 145"/>
            <p:cNvCxnSpPr/>
            <p:nvPr/>
          </p:nvCxnSpPr>
          <p:spPr bwMode="auto">
            <a:xfrm>
              <a:off x="4356050" y="3388439"/>
              <a:ext cx="1" cy="17752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直接连接符 146"/>
            <p:cNvCxnSpPr/>
            <p:nvPr/>
          </p:nvCxnSpPr>
          <p:spPr bwMode="auto">
            <a:xfrm>
              <a:off x="4181652" y="3444861"/>
              <a:ext cx="7611" cy="116189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直接连接符 147"/>
            <p:cNvCxnSpPr/>
            <p:nvPr/>
          </p:nvCxnSpPr>
          <p:spPr bwMode="auto">
            <a:xfrm>
              <a:off x="477604" y="4349462"/>
              <a:ext cx="292587" cy="20032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直接连接符 148"/>
            <p:cNvCxnSpPr/>
            <p:nvPr/>
          </p:nvCxnSpPr>
          <p:spPr bwMode="auto">
            <a:xfrm>
              <a:off x="521156" y="4427138"/>
              <a:ext cx="211854" cy="14621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直接连接符 149"/>
            <p:cNvCxnSpPr/>
            <p:nvPr/>
          </p:nvCxnSpPr>
          <p:spPr bwMode="auto">
            <a:xfrm>
              <a:off x="483418" y="4308336"/>
              <a:ext cx="334630" cy="23093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直接连接符 150"/>
            <p:cNvCxnSpPr/>
            <p:nvPr/>
          </p:nvCxnSpPr>
          <p:spPr bwMode="auto">
            <a:xfrm>
              <a:off x="599472" y="4334616"/>
              <a:ext cx="261813" cy="18402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直接连接符 151"/>
            <p:cNvCxnSpPr/>
            <p:nvPr/>
          </p:nvCxnSpPr>
          <p:spPr bwMode="auto">
            <a:xfrm>
              <a:off x="796215" y="4426752"/>
              <a:ext cx="89530" cy="73493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" name="Text Box 449"/>
            <p:cNvSpPr txBox="1">
              <a:spLocks noChangeArrowheads="1"/>
            </p:cNvSpPr>
            <p:nvPr/>
          </p:nvSpPr>
          <p:spPr bwMode="auto">
            <a:xfrm>
              <a:off x="698741" y="4146318"/>
              <a:ext cx="416875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X</a:t>
              </a:r>
              <a:r>
                <a:rPr lang="zh-CN" altLang="en-US" sz="1600" b="1" dirty="0" smtClean="0"/>
                <a:t>轴</a:t>
              </a:r>
              <a:endParaRPr lang="zh-CN" altLang="en-US" sz="1600" b="1" dirty="0"/>
            </a:p>
          </p:txBody>
        </p:sp>
        <p:sp>
          <p:nvSpPr>
            <p:cNvPr id="154" name="Text Box 449"/>
            <p:cNvSpPr txBox="1">
              <a:spLocks noChangeArrowheads="1"/>
            </p:cNvSpPr>
            <p:nvPr/>
          </p:nvSpPr>
          <p:spPr bwMode="auto">
            <a:xfrm>
              <a:off x="4083117" y="3719350"/>
              <a:ext cx="416875" cy="21878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/>
                <a:t>Y</a:t>
              </a:r>
              <a:r>
                <a:rPr lang="zh-CN" altLang="en-US" sz="1600" b="1" dirty="0" smtClean="0"/>
                <a:t>轴</a:t>
              </a:r>
              <a:endParaRPr lang="zh-CN" altLang="en-US" sz="1600" b="1" dirty="0"/>
            </a:p>
          </p:txBody>
        </p:sp>
        <p:sp>
          <p:nvSpPr>
            <p:cNvPr id="155" name="任意多边形 154"/>
            <p:cNvSpPr/>
            <p:nvPr/>
          </p:nvSpPr>
          <p:spPr bwMode="auto">
            <a:xfrm>
              <a:off x="467544" y="4310964"/>
              <a:ext cx="915158" cy="368277"/>
            </a:xfrm>
            <a:custGeom>
              <a:avLst/>
              <a:gdLst>
                <a:gd name="connsiteX0" fmla="*/ 216947 w 915158"/>
                <a:gd name="connsiteY0" fmla="*/ 273990 h 368277"/>
                <a:gd name="connsiteX1" fmla="*/ 51410 w 915158"/>
                <a:gd name="connsiteY1" fmla="*/ 113708 h 368277"/>
                <a:gd name="connsiteX2" fmla="*/ 11996 w 915158"/>
                <a:gd name="connsiteY2" fmla="*/ 721 h 368277"/>
                <a:gd name="connsiteX3" fmla="*/ 240596 w 915158"/>
                <a:gd name="connsiteY3" fmla="*/ 71666 h 368277"/>
                <a:gd name="connsiteX4" fmla="*/ 474451 w 915158"/>
                <a:gd name="connsiteY4" fmla="*/ 195163 h 368277"/>
                <a:gd name="connsiteX5" fmla="*/ 718816 w 915158"/>
                <a:gd name="connsiteY5" fmla="*/ 318659 h 368277"/>
                <a:gd name="connsiteX6" fmla="*/ 908003 w 915158"/>
                <a:gd name="connsiteY6" fmla="*/ 365956 h 368277"/>
                <a:gd name="connsiteX7" fmla="*/ 858078 w 915158"/>
                <a:gd name="connsiteY7" fmla="*/ 252970 h 368277"/>
                <a:gd name="connsiteX8" fmla="*/ 695168 w 915158"/>
                <a:gd name="connsiteY8" fmla="*/ 113708 h 36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15158" h="368277">
                  <a:moveTo>
                    <a:pt x="216947" y="273990"/>
                  </a:moveTo>
                  <a:cubicBezTo>
                    <a:pt x="151258" y="216621"/>
                    <a:pt x="85569" y="159253"/>
                    <a:pt x="51410" y="113708"/>
                  </a:cubicBezTo>
                  <a:cubicBezTo>
                    <a:pt x="17251" y="68163"/>
                    <a:pt x="-19535" y="7728"/>
                    <a:pt x="11996" y="721"/>
                  </a:cubicBezTo>
                  <a:cubicBezTo>
                    <a:pt x="43527" y="-6286"/>
                    <a:pt x="163520" y="39259"/>
                    <a:pt x="240596" y="71666"/>
                  </a:cubicBezTo>
                  <a:cubicBezTo>
                    <a:pt x="317672" y="104073"/>
                    <a:pt x="394748" y="153997"/>
                    <a:pt x="474451" y="195163"/>
                  </a:cubicBezTo>
                  <a:cubicBezTo>
                    <a:pt x="554154" y="236329"/>
                    <a:pt x="646558" y="290194"/>
                    <a:pt x="718816" y="318659"/>
                  </a:cubicBezTo>
                  <a:cubicBezTo>
                    <a:pt x="791074" y="347124"/>
                    <a:pt x="884793" y="376904"/>
                    <a:pt x="908003" y="365956"/>
                  </a:cubicBezTo>
                  <a:cubicBezTo>
                    <a:pt x="931213" y="355008"/>
                    <a:pt x="893551" y="295011"/>
                    <a:pt x="858078" y="252970"/>
                  </a:cubicBezTo>
                  <a:cubicBezTo>
                    <a:pt x="822606" y="210929"/>
                    <a:pt x="758887" y="162318"/>
                    <a:pt x="695168" y="113708"/>
                  </a:cubicBezTo>
                </a:path>
              </a:pathLst>
            </a:cu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56" name="直接连接符 155"/>
            <p:cNvCxnSpPr/>
            <p:nvPr/>
          </p:nvCxnSpPr>
          <p:spPr bwMode="auto">
            <a:xfrm>
              <a:off x="1043790" y="4451634"/>
              <a:ext cx="334630" cy="23093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直接连接符 156"/>
            <p:cNvCxnSpPr/>
            <p:nvPr/>
          </p:nvCxnSpPr>
          <p:spPr bwMode="auto">
            <a:xfrm>
              <a:off x="1019895" y="4473376"/>
              <a:ext cx="261813" cy="184025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直接连接符 157"/>
            <p:cNvCxnSpPr/>
            <p:nvPr/>
          </p:nvCxnSpPr>
          <p:spPr bwMode="auto">
            <a:xfrm>
              <a:off x="971566" y="4482312"/>
              <a:ext cx="211854" cy="14621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直接连接符 158"/>
            <p:cNvCxnSpPr/>
            <p:nvPr/>
          </p:nvCxnSpPr>
          <p:spPr bwMode="auto">
            <a:xfrm>
              <a:off x="1088812" y="4441418"/>
              <a:ext cx="292587" cy="20032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直接连接符 159"/>
            <p:cNvCxnSpPr/>
            <p:nvPr/>
          </p:nvCxnSpPr>
          <p:spPr bwMode="auto">
            <a:xfrm>
              <a:off x="1123966" y="4426072"/>
              <a:ext cx="211854" cy="14621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直接连接符 160"/>
            <p:cNvCxnSpPr/>
            <p:nvPr/>
          </p:nvCxnSpPr>
          <p:spPr bwMode="auto">
            <a:xfrm flipV="1">
              <a:off x="539552" y="3295266"/>
              <a:ext cx="4104456" cy="1332498"/>
            </a:xfrm>
            <a:prstGeom prst="line">
              <a:avLst/>
            </a:prstGeom>
            <a:noFill/>
            <a:ln w="254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2" name="直接箭头连接符 161"/>
            <p:cNvCxnSpPr/>
            <p:nvPr/>
          </p:nvCxnSpPr>
          <p:spPr bwMode="auto">
            <a:xfrm>
              <a:off x="1448773" y="3646274"/>
              <a:ext cx="283852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3" name="直接箭头连接符 162"/>
            <p:cNvCxnSpPr/>
            <p:nvPr/>
          </p:nvCxnSpPr>
          <p:spPr bwMode="auto">
            <a:xfrm flipV="1">
              <a:off x="1448773" y="3374917"/>
              <a:ext cx="0" cy="27135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4" name="直接箭头连接符 163"/>
            <p:cNvCxnSpPr/>
            <p:nvPr/>
          </p:nvCxnSpPr>
          <p:spPr bwMode="auto">
            <a:xfrm flipH="1">
              <a:off x="1296373" y="3646274"/>
              <a:ext cx="152400" cy="131693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65" name="Text Box 449"/>
            <p:cNvSpPr txBox="1">
              <a:spLocks noChangeArrowheads="1"/>
            </p:cNvSpPr>
            <p:nvPr/>
          </p:nvSpPr>
          <p:spPr bwMode="auto">
            <a:xfrm>
              <a:off x="1126144" y="3756562"/>
              <a:ext cx="201292" cy="18157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/>
                <a:t>Z</a:t>
              </a:r>
              <a:endParaRPr lang="zh-CN" altLang="en-US" sz="1400" b="1" dirty="0"/>
            </a:p>
          </p:txBody>
        </p:sp>
        <p:sp>
          <p:nvSpPr>
            <p:cNvPr id="166" name="Text Box 449"/>
            <p:cNvSpPr txBox="1">
              <a:spLocks noChangeArrowheads="1"/>
            </p:cNvSpPr>
            <p:nvPr/>
          </p:nvSpPr>
          <p:spPr bwMode="auto">
            <a:xfrm>
              <a:off x="1732625" y="3575334"/>
              <a:ext cx="175079" cy="18564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/>
                <a:t>X</a:t>
              </a:r>
              <a:endParaRPr lang="zh-CN" altLang="en-US" sz="1400" b="1" dirty="0"/>
            </a:p>
          </p:txBody>
        </p:sp>
        <p:sp>
          <p:nvSpPr>
            <p:cNvPr id="167" name="Text Box 449"/>
            <p:cNvSpPr txBox="1">
              <a:spLocks noChangeArrowheads="1"/>
            </p:cNvSpPr>
            <p:nvPr/>
          </p:nvSpPr>
          <p:spPr bwMode="auto">
            <a:xfrm>
              <a:off x="1348127" y="3215294"/>
              <a:ext cx="201292" cy="19036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lstStyle/>
            <a:p>
              <a:pPr>
                <a:lnSpc>
                  <a:spcPct val="90000"/>
                </a:lnSpc>
              </a:pPr>
              <a:r>
                <a:rPr lang="en-US" altLang="zh-CN" sz="1400" b="1" dirty="0" smtClean="0"/>
                <a:t>Y</a:t>
              </a:r>
              <a:endParaRPr lang="zh-CN" altLang="en-US" sz="14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/>
      <p:bldP spid="53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组合 189"/>
          <p:cNvGrpSpPr/>
          <p:nvPr/>
        </p:nvGrpSpPr>
        <p:grpSpPr>
          <a:xfrm>
            <a:off x="5796136" y="974867"/>
            <a:ext cx="2520280" cy="2093399"/>
            <a:chOff x="3779788" y="974867"/>
            <a:chExt cx="2520280" cy="2093399"/>
          </a:xfrm>
        </p:grpSpPr>
        <p:sp>
          <p:nvSpPr>
            <p:cNvPr id="191" name="Rectangle 329"/>
            <p:cNvSpPr>
              <a:spLocks noChangeArrowheads="1"/>
            </p:cNvSpPr>
            <p:nvPr/>
          </p:nvSpPr>
          <p:spPr bwMode="auto">
            <a:xfrm>
              <a:off x="4715892" y="1596555"/>
              <a:ext cx="1584176" cy="38483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2" name="Rectangle 325" descr="宽下对角线"/>
            <p:cNvSpPr>
              <a:spLocks noChangeArrowheads="1"/>
            </p:cNvSpPr>
            <p:nvPr/>
          </p:nvSpPr>
          <p:spPr bwMode="auto">
            <a:xfrm>
              <a:off x="3779788" y="974867"/>
              <a:ext cx="2520280" cy="142875"/>
            </a:xfrm>
            <a:prstGeom prst="rect">
              <a:avLst/>
            </a:prstGeom>
            <a:pattFill prst="wdDnDiag">
              <a:fgClr>
                <a:srgbClr val="99CC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3" name="Rectangle 326" descr="5%"/>
            <p:cNvSpPr>
              <a:spLocks noChangeArrowheads="1"/>
            </p:cNvSpPr>
            <p:nvPr/>
          </p:nvSpPr>
          <p:spPr bwMode="auto">
            <a:xfrm>
              <a:off x="3779788" y="1117742"/>
              <a:ext cx="2520280" cy="189887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" name="Rectangle 327" descr="实心菱形"/>
            <p:cNvSpPr>
              <a:spLocks noChangeArrowheads="1"/>
            </p:cNvSpPr>
            <p:nvPr/>
          </p:nvSpPr>
          <p:spPr bwMode="auto">
            <a:xfrm>
              <a:off x="4715892" y="1307630"/>
              <a:ext cx="1584176" cy="142875"/>
            </a:xfrm>
            <a:prstGeom prst="rect">
              <a:avLst/>
            </a:prstGeom>
            <a:pattFill prst="solidDmnd">
              <a:fgClr>
                <a:srgbClr val="CC99FF">
                  <a:alpha val="70000"/>
                </a:srgbClr>
              </a:fgClr>
              <a:bgClr>
                <a:schemeClr val="bg1">
                  <a:alpha val="70000"/>
                </a:schemeClr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7" name="Rectangle 333" descr="5%"/>
            <p:cNvSpPr>
              <a:spLocks noChangeArrowheads="1"/>
            </p:cNvSpPr>
            <p:nvPr/>
          </p:nvSpPr>
          <p:spPr bwMode="auto">
            <a:xfrm>
              <a:off x="3779788" y="2125854"/>
              <a:ext cx="2520280" cy="216272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Rectangle 334" descr="宽下对角线"/>
            <p:cNvSpPr>
              <a:spLocks noChangeArrowheads="1"/>
            </p:cNvSpPr>
            <p:nvPr/>
          </p:nvSpPr>
          <p:spPr bwMode="auto">
            <a:xfrm>
              <a:off x="3779788" y="2342126"/>
              <a:ext cx="2520280" cy="14287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9" name="Rectangle 337" descr="轮廓式菱形"/>
            <p:cNvSpPr>
              <a:spLocks noChangeArrowheads="1"/>
            </p:cNvSpPr>
            <p:nvPr/>
          </p:nvSpPr>
          <p:spPr bwMode="auto">
            <a:xfrm>
              <a:off x="3779788" y="2485001"/>
              <a:ext cx="2520280" cy="142875"/>
            </a:xfrm>
            <a:prstGeom prst="rect">
              <a:avLst/>
            </a:prstGeom>
            <a:pattFill prst="openDmnd">
              <a:fgClr>
                <a:srgbClr val="FF3399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0" name="Rectangle 346" descr="之字形"/>
            <p:cNvSpPr>
              <a:spLocks noChangeArrowheads="1"/>
            </p:cNvSpPr>
            <p:nvPr/>
          </p:nvSpPr>
          <p:spPr bwMode="auto">
            <a:xfrm>
              <a:off x="3779788" y="2627876"/>
              <a:ext cx="2520280" cy="146050"/>
            </a:xfrm>
            <a:prstGeom prst="rect">
              <a:avLst/>
            </a:prstGeom>
            <a:pattFill prst="zigZ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1" name="Text Box 380"/>
            <p:cNvSpPr txBox="1">
              <a:spLocks noChangeArrowheads="1"/>
            </p:cNvSpPr>
            <p:nvPr/>
          </p:nvSpPr>
          <p:spPr bwMode="auto">
            <a:xfrm>
              <a:off x="3780482" y="1594966"/>
              <a:ext cx="215330" cy="530887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框胶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2" name="Rectangle 400" descr="宽上对角线"/>
            <p:cNvSpPr>
              <a:spLocks noChangeArrowheads="1"/>
            </p:cNvSpPr>
            <p:nvPr/>
          </p:nvSpPr>
          <p:spPr bwMode="auto">
            <a:xfrm>
              <a:off x="4580336" y="1981391"/>
              <a:ext cx="1719732" cy="72903"/>
            </a:xfrm>
            <a:prstGeom prst="rect">
              <a:avLst/>
            </a:prstGeom>
            <a:pattFill prst="wdUpDiag">
              <a:fgClr>
                <a:srgbClr val="CC6600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3" name="Text Box 380"/>
            <p:cNvSpPr txBox="1">
              <a:spLocks noChangeArrowheads="1"/>
            </p:cNvSpPr>
            <p:nvPr/>
          </p:nvSpPr>
          <p:spPr bwMode="auto">
            <a:xfrm>
              <a:off x="4580336" y="1593483"/>
              <a:ext cx="135556" cy="387908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380"/>
            <p:cNvSpPr txBox="1">
              <a:spLocks noChangeArrowheads="1"/>
            </p:cNvSpPr>
            <p:nvPr/>
          </p:nvSpPr>
          <p:spPr bwMode="auto">
            <a:xfrm>
              <a:off x="4220220" y="1932806"/>
              <a:ext cx="207640" cy="1930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5" name="Text Box 380"/>
            <p:cNvSpPr txBox="1">
              <a:spLocks noChangeArrowheads="1"/>
            </p:cNvSpPr>
            <p:nvPr/>
          </p:nvSpPr>
          <p:spPr bwMode="auto">
            <a:xfrm>
              <a:off x="4276224" y="2017842"/>
              <a:ext cx="103820" cy="10801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6" name="Text Box 380"/>
            <p:cNvSpPr txBox="1">
              <a:spLocks noChangeArrowheads="1"/>
            </p:cNvSpPr>
            <p:nvPr/>
          </p:nvSpPr>
          <p:spPr bwMode="auto">
            <a:xfrm>
              <a:off x="4067820" y="2017842"/>
              <a:ext cx="103820" cy="10801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7" name="Text Box 380"/>
            <p:cNvSpPr txBox="1">
              <a:spLocks noChangeArrowheads="1"/>
            </p:cNvSpPr>
            <p:nvPr/>
          </p:nvSpPr>
          <p:spPr bwMode="auto">
            <a:xfrm>
              <a:off x="4252032" y="1878799"/>
              <a:ext cx="135632" cy="54007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8" name="任意多边形 227"/>
            <p:cNvSpPr/>
            <p:nvPr/>
          </p:nvSpPr>
          <p:spPr bwMode="auto">
            <a:xfrm>
              <a:off x="4117300" y="1826631"/>
              <a:ext cx="175260" cy="198269"/>
            </a:xfrm>
            <a:custGeom>
              <a:avLst/>
              <a:gdLst>
                <a:gd name="connsiteX0" fmla="*/ 175260 w 175260"/>
                <a:gd name="connsiteY0" fmla="*/ 45869 h 198269"/>
                <a:gd name="connsiteX1" fmla="*/ 91440 w 175260"/>
                <a:gd name="connsiteY1" fmla="*/ 149 h 198269"/>
                <a:gd name="connsiteX2" fmla="*/ 15240 w 175260"/>
                <a:gd name="connsiteY2" fmla="*/ 38249 h 198269"/>
                <a:gd name="connsiteX3" fmla="*/ 0 w 175260"/>
                <a:gd name="connsiteY3" fmla="*/ 198269 h 19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260" h="198269">
                  <a:moveTo>
                    <a:pt x="175260" y="45869"/>
                  </a:moveTo>
                  <a:cubicBezTo>
                    <a:pt x="146685" y="23644"/>
                    <a:pt x="118110" y="1419"/>
                    <a:pt x="91440" y="149"/>
                  </a:cubicBezTo>
                  <a:cubicBezTo>
                    <a:pt x="64770" y="-1121"/>
                    <a:pt x="30480" y="5229"/>
                    <a:pt x="15240" y="38249"/>
                  </a:cubicBezTo>
                  <a:cubicBezTo>
                    <a:pt x="0" y="71269"/>
                    <a:pt x="0" y="134769"/>
                    <a:pt x="0" y="198269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9" name="任意多边形 228"/>
            <p:cNvSpPr/>
            <p:nvPr/>
          </p:nvSpPr>
          <p:spPr bwMode="auto">
            <a:xfrm>
              <a:off x="4328134" y="1813036"/>
              <a:ext cx="190786" cy="241258"/>
            </a:xfrm>
            <a:custGeom>
              <a:avLst/>
              <a:gdLst>
                <a:gd name="connsiteX0" fmla="*/ 0 w 121920"/>
                <a:gd name="connsiteY0" fmla="*/ 59681 h 189221"/>
                <a:gd name="connsiteX1" fmla="*/ 83820 w 121920"/>
                <a:gd name="connsiteY1" fmla="*/ 6341 h 189221"/>
                <a:gd name="connsiteX2" fmla="*/ 121920 w 121920"/>
                <a:gd name="connsiteY2" fmla="*/ 189221 h 18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920" h="189221">
                  <a:moveTo>
                    <a:pt x="0" y="59681"/>
                  </a:moveTo>
                  <a:cubicBezTo>
                    <a:pt x="31750" y="22216"/>
                    <a:pt x="63500" y="-15249"/>
                    <a:pt x="83820" y="6341"/>
                  </a:cubicBezTo>
                  <a:cubicBezTo>
                    <a:pt x="104140" y="27931"/>
                    <a:pt x="113030" y="108576"/>
                    <a:pt x="121920" y="189221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0" name="Rectangle 328" descr="宽下对角线"/>
            <p:cNvSpPr>
              <a:spLocks noChangeArrowheads="1"/>
            </p:cNvSpPr>
            <p:nvPr/>
          </p:nvSpPr>
          <p:spPr bwMode="auto">
            <a:xfrm>
              <a:off x="3779788" y="1521925"/>
              <a:ext cx="2520280" cy="71560"/>
            </a:xfrm>
            <a:prstGeom prst="rect">
              <a:avLst/>
            </a:prstGeom>
            <a:pattFill prst="wdDnDiag">
              <a:fgClr>
                <a:srgbClr val="808080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1" name="Text Box 380"/>
            <p:cNvSpPr txBox="1">
              <a:spLocks noChangeArrowheads="1"/>
            </p:cNvSpPr>
            <p:nvPr/>
          </p:nvSpPr>
          <p:spPr bwMode="auto">
            <a:xfrm>
              <a:off x="3780482" y="1307630"/>
              <a:ext cx="935410" cy="14287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2" name="Rectangle 328" descr="宽下对角线"/>
            <p:cNvSpPr>
              <a:spLocks noChangeArrowheads="1"/>
            </p:cNvSpPr>
            <p:nvPr/>
          </p:nvSpPr>
          <p:spPr bwMode="auto">
            <a:xfrm>
              <a:off x="3779788" y="1454415"/>
              <a:ext cx="2520280" cy="7156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3" name="Rectangle 328" descr="宽下对角线"/>
            <p:cNvSpPr>
              <a:spLocks noChangeArrowheads="1"/>
            </p:cNvSpPr>
            <p:nvPr/>
          </p:nvSpPr>
          <p:spPr bwMode="auto">
            <a:xfrm>
              <a:off x="4499868" y="2054294"/>
              <a:ext cx="1800200" cy="71559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4" name="Line 407"/>
            <p:cNvSpPr>
              <a:spLocks noChangeShapeType="1"/>
            </p:cNvSpPr>
            <p:nvPr/>
          </p:nvSpPr>
          <p:spPr bwMode="auto">
            <a:xfrm flipV="1">
              <a:off x="5508104" y="1117742"/>
              <a:ext cx="124" cy="1413848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Line 408"/>
            <p:cNvSpPr>
              <a:spLocks noChangeShapeType="1"/>
            </p:cNvSpPr>
            <p:nvPr/>
          </p:nvSpPr>
          <p:spPr bwMode="auto">
            <a:xfrm flipV="1">
              <a:off x="6011912" y="1117742"/>
              <a:ext cx="0" cy="1413844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Line 409"/>
            <p:cNvSpPr>
              <a:spLocks noChangeShapeType="1"/>
            </p:cNvSpPr>
            <p:nvPr/>
          </p:nvSpPr>
          <p:spPr bwMode="auto">
            <a:xfrm flipH="1" flipV="1">
              <a:off x="5003799" y="1117742"/>
              <a:ext cx="0" cy="1413846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Text Box 182"/>
            <p:cNvSpPr txBox="1">
              <a:spLocks noChangeArrowheads="1"/>
            </p:cNvSpPr>
            <p:nvPr/>
          </p:nvSpPr>
          <p:spPr bwMode="auto">
            <a:xfrm>
              <a:off x="4101678" y="2780928"/>
              <a:ext cx="1838474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液晶盒加电时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38" name="AutoShape 374"/>
            <p:cNvSpPr>
              <a:spLocks noChangeArrowheads="1"/>
            </p:cNvSpPr>
            <p:nvPr/>
          </p:nvSpPr>
          <p:spPr bwMode="auto">
            <a:xfrm rot="16200000">
              <a:off x="4770869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" name="AutoShape 374"/>
            <p:cNvSpPr>
              <a:spLocks noChangeArrowheads="1"/>
            </p:cNvSpPr>
            <p:nvPr/>
          </p:nvSpPr>
          <p:spPr bwMode="auto">
            <a:xfrm rot="16200000">
              <a:off x="4938332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" name="AutoShape 374"/>
            <p:cNvSpPr>
              <a:spLocks noChangeArrowheads="1"/>
            </p:cNvSpPr>
            <p:nvPr/>
          </p:nvSpPr>
          <p:spPr bwMode="auto">
            <a:xfrm rot="16200000">
              <a:off x="5082348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1" name="AutoShape 374"/>
            <p:cNvSpPr>
              <a:spLocks noChangeArrowheads="1"/>
            </p:cNvSpPr>
            <p:nvPr/>
          </p:nvSpPr>
          <p:spPr bwMode="auto">
            <a:xfrm rot="16200000">
              <a:off x="5243133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2" name="AutoShape 374"/>
            <p:cNvSpPr>
              <a:spLocks noChangeArrowheads="1"/>
            </p:cNvSpPr>
            <p:nvPr/>
          </p:nvSpPr>
          <p:spPr bwMode="auto">
            <a:xfrm rot="16200000">
              <a:off x="5455577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3" name="AutoShape 374"/>
            <p:cNvSpPr>
              <a:spLocks noChangeArrowheads="1"/>
            </p:cNvSpPr>
            <p:nvPr/>
          </p:nvSpPr>
          <p:spPr bwMode="auto">
            <a:xfrm rot="16200000">
              <a:off x="5599592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4" name="AutoShape 374"/>
            <p:cNvSpPr>
              <a:spLocks noChangeArrowheads="1"/>
            </p:cNvSpPr>
            <p:nvPr/>
          </p:nvSpPr>
          <p:spPr bwMode="auto">
            <a:xfrm rot="16200000">
              <a:off x="5743608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" name="AutoShape 374"/>
            <p:cNvSpPr>
              <a:spLocks noChangeArrowheads="1"/>
            </p:cNvSpPr>
            <p:nvPr/>
          </p:nvSpPr>
          <p:spPr bwMode="auto">
            <a:xfrm rot="16200000">
              <a:off x="5958815" y="1753137"/>
              <a:ext cx="321697" cy="73024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7" name="Text Box 241"/>
          <p:cNvSpPr txBox="1">
            <a:spLocks noChangeArrowheads="1"/>
          </p:cNvSpPr>
          <p:nvPr/>
        </p:nvSpPr>
        <p:spPr bwMode="auto">
          <a:xfrm>
            <a:off x="179512" y="5899338"/>
            <a:ext cx="878510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*显示器接口：</a:t>
            </a:r>
            <a:r>
              <a:rPr lang="en-US" altLang="zh-CN" b="1" dirty="0" smtClean="0">
                <a:latin typeface="宋体" panose="02010600030101010101" pitchFamily="2" charset="-122"/>
              </a:rPr>
              <a:t>VGA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DVI</a:t>
            </a:r>
            <a:r>
              <a:rPr lang="zh-CN" altLang="en-US" b="1" dirty="0" smtClean="0">
                <a:latin typeface="宋体" panose="02010600030101010101" pitchFamily="2" charset="-122"/>
              </a:rPr>
              <a:t>或</a:t>
            </a:r>
            <a:r>
              <a:rPr lang="en-US" altLang="zh-CN" b="1" dirty="0" smtClean="0">
                <a:latin typeface="宋体" panose="02010600030101010101" pitchFamily="2" charset="-122"/>
              </a:rPr>
              <a:t>HDMI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93" name="Text Box 107"/>
          <p:cNvSpPr txBox="1">
            <a:spLocks noChangeArrowheads="1"/>
          </p:cNvSpPr>
          <p:nvPr/>
        </p:nvSpPr>
        <p:spPr bwMode="auto">
          <a:xfrm>
            <a:off x="179388" y="404664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液晶单元组成原理：</a:t>
            </a:r>
            <a:r>
              <a:rPr lang="zh-CN" altLang="en-US" b="1" dirty="0" smtClean="0">
                <a:latin typeface="宋体" panose="02010600030101010101" pitchFamily="2" charset="-122"/>
              </a:rPr>
              <a:t>偏光片</a:t>
            </a:r>
            <a:r>
              <a:rPr lang="en-US" altLang="zh-CN" b="1" dirty="0" smtClean="0">
                <a:latin typeface="宋体" panose="02010600030101010101" pitchFamily="2" charset="-122"/>
              </a:rPr>
              <a:t>+</a:t>
            </a:r>
            <a:r>
              <a:rPr lang="zh-CN" altLang="en-US" b="1" dirty="0" smtClean="0">
                <a:latin typeface="宋体" panose="02010600030101010101" pitchFamily="2" charset="-122"/>
              </a:rPr>
              <a:t>分子扭曲排列，用电压控制</a:t>
            </a:r>
            <a:r>
              <a:rPr lang="zh-CN" altLang="en-US" b="1" dirty="0">
                <a:latin typeface="宋体" panose="02010600030101010101" pitchFamily="2" charset="-122"/>
              </a:rPr>
              <a:t>灰度</a:t>
            </a:r>
            <a:endParaRPr lang="zh-CN" altLang="en-US" b="1" dirty="0"/>
          </a:p>
        </p:txBody>
      </p:sp>
      <p:sp>
        <p:nvSpPr>
          <p:cNvPr id="1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92" name="Text Box 460"/>
          <p:cNvSpPr txBox="1">
            <a:spLocks noChangeArrowheads="1"/>
          </p:cNvSpPr>
          <p:nvPr/>
        </p:nvSpPr>
        <p:spPr bwMode="auto">
          <a:xfrm>
            <a:off x="179388" y="3068960"/>
            <a:ext cx="896461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LCD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组成原理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每个像素点由</a:t>
            </a:r>
            <a:r>
              <a:rPr lang="en-US" altLang="zh-CN" b="1" u="sng" spc="-100" dirty="0">
                <a:latin typeface="宋体" panose="02010600030101010101" pitchFamily="2" charset="-122"/>
              </a:rPr>
              <a:t>3</a:t>
            </a:r>
            <a:r>
              <a:rPr lang="zh-CN" altLang="en-US" b="1" u="sng" spc="-100" dirty="0">
                <a:latin typeface="宋体" panose="02010600030101010101" pitchFamily="2" charset="-122"/>
              </a:rPr>
              <a:t>个</a:t>
            </a:r>
            <a:r>
              <a:rPr lang="zh-CN" altLang="en-US" b="1" u="sng" spc="-100" dirty="0" smtClean="0">
                <a:latin typeface="宋体" panose="02010600030101010101" pitchFamily="2" charset="-122"/>
              </a:rPr>
              <a:t>单元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组成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      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显示控制采用</a:t>
            </a:r>
            <a:r>
              <a:rPr lang="zh-CN" altLang="en-US" b="1" u="sng" spc="-100" dirty="0" smtClean="0">
                <a:latin typeface="宋体" panose="02010600030101010101" pitchFamily="2" charset="-122"/>
              </a:rPr>
              <a:t>行扫描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方式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共用门电极、控制各列源电极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grpSp>
        <p:nvGrpSpPr>
          <p:cNvPr id="333" name="组合 332"/>
          <p:cNvGrpSpPr/>
          <p:nvPr/>
        </p:nvGrpSpPr>
        <p:grpSpPr>
          <a:xfrm>
            <a:off x="5652120" y="1196752"/>
            <a:ext cx="2676528" cy="1846572"/>
            <a:chOff x="5711896" y="1005670"/>
            <a:chExt cx="2676528" cy="1846572"/>
          </a:xfrm>
        </p:grpSpPr>
        <p:sp>
          <p:nvSpPr>
            <p:cNvPr id="329" name="Rectangle 650" descr="轮廓式菱形"/>
            <p:cNvSpPr>
              <a:spLocks noChangeArrowheads="1"/>
            </p:cNvSpPr>
            <p:nvPr/>
          </p:nvSpPr>
          <p:spPr bwMode="auto">
            <a:xfrm>
              <a:off x="6906269" y="1288420"/>
              <a:ext cx="372486" cy="2015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4" name="Text Box 631"/>
            <p:cNvSpPr txBox="1">
              <a:spLocks noChangeArrowheads="1"/>
            </p:cNvSpPr>
            <p:nvPr/>
          </p:nvSpPr>
          <p:spPr bwMode="auto">
            <a:xfrm>
              <a:off x="6431034" y="2564904"/>
              <a:ext cx="1800227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液晶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单元组成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95" name="Rectangle 632"/>
            <p:cNvSpPr>
              <a:spLocks noChangeArrowheads="1"/>
            </p:cNvSpPr>
            <p:nvPr/>
          </p:nvSpPr>
          <p:spPr bwMode="auto">
            <a:xfrm>
              <a:off x="7091435" y="1628155"/>
              <a:ext cx="792163" cy="64928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2857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6" name="Line 633"/>
            <p:cNvSpPr>
              <a:spLocks noChangeShapeType="1"/>
            </p:cNvSpPr>
            <p:nvPr/>
          </p:nvSpPr>
          <p:spPr bwMode="auto">
            <a:xfrm>
              <a:off x="7018410" y="1340817"/>
              <a:ext cx="1444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" name="Line 634"/>
            <p:cNvSpPr>
              <a:spLocks noChangeShapeType="1"/>
            </p:cNvSpPr>
            <p:nvPr/>
          </p:nvSpPr>
          <p:spPr bwMode="auto">
            <a:xfrm>
              <a:off x="6946972" y="1412255"/>
              <a:ext cx="28733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8" name="Line 635"/>
            <p:cNvSpPr>
              <a:spLocks noChangeShapeType="1"/>
            </p:cNvSpPr>
            <p:nvPr/>
          </p:nvSpPr>
          <p:spPr bwMode="auto">
            <a:xfrm>
              <a:off x="7018410" y="1412255"/>
              <a:ext cx="0" cy="144463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9" name="Line 636"/>
            <p:cNvSpPr>
              <a:spLocks noChangeShapeType="1"/>
            </p:cNvSpPr>
            <p:nvPr/>
          </p:nvSpPr>
          <p:spPr bwMode="auto">
            <a:xfrm>
              <a:off x="7162873" y="1412255"/>
              <a:ext cx="0" cy="144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0" name="Line 637"/>
            <p:cNvSpPr>
              <a:spLocks noChangeShapeType="1"/>
            </p:cNvSpPr>
            <p:nvPr/>
          </p:nvSpPr>
          <p:spPr bwMode="auto">
            <a:xfrm>
              <a:off x="6796160" y="1556717"/>
              <a:ext cx="222250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1" name="Line 638"/>
            <p:cNvSpPr>
              <a:spLocks noChangeShapeType="1"/>
            </p:cNvSpPr>
            <p:nvPr/>
          </p:nvSpPr>
          <p:spPr bwMode="auto">
            <a:xfrm>
              <a:off x="7089848" y="1124744"/>
              <a:ext cx="2664" cy="216073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2" name="Line 639"/>
            <p:cNvSpPr>
              <a:spLocks noChangeShapeType="1"/>
            </p:cNvSpPr>
            <p:nvPr/>
          </p:nvSpPr>
          <p:spPr bwMode="auto">
            <a:xfrm>
              <a:off x="6791397" y="1005670"/>
              <a:ext cx="0" cy="1524903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3" name="Line 640"/>
            <p:cNvSpPr>
              <a:spLocks noChangeShapeType="1"/>
            </p:cNvSpPr>
            <p:nvPr/>
          </p:nvSpPr>
          <p:spPr bwMode="auto">
            <a:xfrm>
              <a:off x="6731072" y="1124744"/>
              <a:ext cx="1657352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4" name="Line 641"/>
            <p:cNvSpPr>
              <a:spLocks noChangeShapeType="1"/>
            </p:cNvSpPr>
            <p:nvPr/>
          </p:nvSpPr>
          <p:spPr bwMode="auto">
            <a:xfrm flipV="1">
              <a:off x="7091435" y="1628155"/>
              <a:ext cx="2889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5" name="Line 642"/>
            <p:cNvSpPr>
              <a:spLocks noChangeShapeType="1"/>
            </p:cNvSpPr>
            <p:nvPr/>
          </p:nvSpPr>
          <p:spPr bwMode="auto">
            <a:xfrm>
              <a:off x="7091435" y="1628155"/>
              <a:ext cx="0" cy="649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6" name="Line 643"/>
            <p:cNvSpPr>
              <a:spLocks noChangeShapeType="1"/>
            </p:cNvSpPr>
            <p:nvPr/>
          </p:nvSpPr>
          <p:spPr bwMode="auto">
            <a:xfrm>
              <a:off x="7091435" y="2277442"/>
              <a:ext cx="7921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" name="Rectangle 644"/>
            <p:cNvSpPr>
              <a:spLocks noChangeArrowheads="1"/>
            </p:cNvSpPr>
            <p:nvPr/>
          </p:nvSpPr>
          <p:spPr bwMode="auto">
            <a:xfrm>
              <a:off x="7378773" y="1269380"/>
              <a:ext cx="504826" cy="358775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2857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8" name="Line 645"/>
            <p:cNvSpPr>
              <a:spLocks noChangeShapeType="1"/>
            </p:cNvSpPr>
            <p:nvPr/>
          </p:nvSpPr>
          <p:spPr bwMode="auto">
            <a:xfrm>
              <a:off x="7380360" y="1269380"/>
              <a:ext cx="0" cy="3587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" name="Line 646"/>
            <p:cNvSpPr>
              <a:spLocks noChangeShapeType="1"/>
            </p:cNvSpPr>
            <p:nvPr/>
          </p:nvSpPr>
          <p:spPr bwMode="auto">
            <a:xfrm>
              <a:off x="7380360" y="1269380"/>
              <a:ext cx="5032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0" name="Line 647"/>
            <p:cNvSpPr>
              <a:spLocks noChangeShapeType="1"/>
            </p:cNvSpPr>
            <p:nvPr/>
          </p:nvSpPr>
          <p:spPr bwMode="auto">
            <a:xfrm>
              <a:off x="7883598" y="1269380"/>
              <a:ext cx="0" cy="10080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1" name="Line 648"/>
            <p:cNvSpPr>
              <a:spLocks noChangeShapeType="1"/>
            </p:cNvSpPr>
            <p:nvPr/>
          </p:nvSpPr>
          <p:spPr bwMode="auto">
            <a:xfrm>
              <a:off x="7162873" y="1556717"/>
              <a:ext cx="288925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2" name="Line 649"/>
            <p:cNvSpPr>
              <a:spLocks noChangeShapeType="1"/>
            </p:cNvSpPr>
            <p:nvPr/>
          </p:nvSpPr>
          <p:spPr bwMode="auto">
            <a:xfrm>
              <a:off x="6731072" y="2420888"/>
              <a:ext cx="1584327" cy="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3" name="Rectangle 650" descr="轮廓式菱形"/>
            <p:cNvSpPr>
              <a:spLocks noChangeArrowheads="1"/>
            </p:cNvSpPr>
            <p:nvPr/>
          </p:nvSpPr>
          <p:spPr bwMode="auto">
            <a:xfrm>
              <a:off x="6946972" y="2061542"/>
              <a:ext cx="144463" cy="215900"/>
            </a:xfrm>
            <a:prstGeom prst="rect">
              <a:avLst/>
            </a:prstGeom>
            <a:pattFill prst="openDmnd">
              <a:fgClr>
                <a:srgbClr val="990099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4" name="Rectangle 651" descr="轮廓式菱形"/>
            <p:cNvSpPr>
              <a:spLocks noChangeArrowheads="1"/>
            </p:cNvSpPr>
            <p:nvPr/>
          </p:nvSpPr>
          <p:spPr bwMode="auto">
            <a:xfrm>
              <a:off x="7883598" y="2061542"/>
              <a:ext cx="144463" cy="215900"/>
            </a:xfrm>
            <a:prstGeom prst="rect">
              <a:avLst/>
            </a:prstGeom>
            <a:pattFill prst="openDmnd">
              <a:fgClr>
                <a:srgbClr val="990099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5" name="Line 652"/>
            <p:cNvSpPr>
              <a:spLocks noChangeShapeType="1"/>
            </p:cNvSpPr>
            <p:nvPr/>
          </p:nvSpPr>
          <p:spPr bwMode="auto">
            <a:xfrm>
              <a:off x="8099499" y="1005670"/>
              <a:ext cx="0" cy="1524903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6" name="Line 653"/>
            <p:cNvSpPr>
              <a:spLocks noChangeShapeType="1"/>
            </p:cNvSpPr>
            <p:nvPr/>
          </p:nvSpPr>
          <p:spPr bwMode="auto">
            <a:xfrm>
              <a:off x="8099499" y="1556717"/>
              <a:ext cx="144463" cy="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" name="Line 654"/>
            <p:cNvSpPr>
              <a:spLocks noChangeShapeType="1"/>
            </p:cNvSpPr>
            <p:nvPr/>
          </p:nvSpPr>
          <p:spPr bwMode="auto">
            <a:xfrm>
              <a:off x="8303247" y="1124744"/>
              <a:ext cx="0" cy="144463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head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8" name="Text Box 655"/>
            <p:cNvSpPr txBox="1">
              <a:spLocks noChangeArrowheads="1"/>
            </p:cNvSpPr>
            <p:nvPr/>
          </p:nvSpPr>
          <p:spPr bwMode="auto">
            <a:xfrm>
              <a:off x="5791271" y="1053295"/>
              <a:ext cx="711201" cy="22701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门电极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19" name="Text Box 656"/>
            <p:cNvSpPr txBox="1">
              <a:spLocks noChangeArrowheads="1"/>
            </p:cNvSpPr>
            <p:nvPr/>
          </p:nvSpPr>
          <p:spPr bwMode="auto">
            <a:xfrm>
              <a:off x="5791271" y="1627970"/>
              <a:ext cx="711201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源电极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0" name="Line 657"/>
            <p:cNvSpPr>
              <a:spLocks noChangeShapeType="1"/>
            </p:cNvSpPr>
            <p:nvPr/>
          </p:nvSpPr>
          <p:spPr bwMode="auto">
            <a:xfrm flipV="1">
              <a:off x="6502472" y="1150133"/>
              <a:ext cx="228600" cy="17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1" name="Line 658"/>
            <p:cNvSpPr>
              <a:spLocks noChangeShapeType="1"/>
            </p:cNvSpPr>
            <p:nvPr/>
          </p:nvSpPr>
          <p:spPr bwMode="auto">
            <a:xfrm>
              <a:off x="6515172" y="1736303"/>
              <a:ext cx="241300" cy="365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2" name="Text Box 659"/>
            <p:cNvSpPr txBox="1">
              <a:spLocks noChangeArrowheads="1"/>
            </p:cNvSpPr>
            <p:nvPr/>
          </p:nvSpPr>
          <p:spPr bwMode="auto">
            <a:xfrm>
              <a:off x="5854771" y="1928008"/>
              <a:ext cx="711201" cy="2333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液晶盒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3" name="Line 660"/>
            <p:cNvSpPr>
              <a:spLocks noChangeShapeType="1"/>
            </p:cNvSpPr>
            <p:nvPr/>
          </p:nvSpPr>
          <p:spPr bwMode="auto">
            <a:xfrm flipV="1">
              <a:off x="6565972" y="1917080"/>
              <a:ext cx="669926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Line 662"/>
            <p:cNvSpPr>
              <a:spLocks noChangeShapeType="1"/>
            </p:cNvSpPr>
            <p:nvPr/>
          </p:nvSpPr>
          <p:spPr bwMode="auto">
            <a:xfrm flipV="1">
              <a:off x="6616772" y="2190130"/>
              <a:ext cx="319088" cy="15875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Text Box 663"/>
            <p:cNvSpPr txBox="1">
              <a:spLocks noChangeArrowheads="1"/>
            </p:cNvSpPr>
            <p:nvPr/>
          </p:nvSpPr>
          <p:spPr bwMode="auto">
            <a:xfrm>
              <a:off x="5711896" y="2216933"/>
              <a:ext cx="935039" cy="2159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存储电容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27" name="Text Box 656"/>
            <p:cNvSpPr txBox="1">
              <a:spLocks noChangeArrowheads="1"/>
            </p:cNvSpPr>
            <p:nvPr/>
          </p:nvSpPr>
          <p:spPr bwMode="auto">
            <a:xfrm>
              <a:off x="6037860" y="1352173"/>
              <a:ext cx="456308" cy="22860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TFT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28" name="Line 658"/>
            <p:cNvSpPr>
              <a:spLocks noChangeShapeType="1"/>
            </p:cNvSpPr>
            <p:nvPr/>
          </p:nvSpPr>
          <p:spPr bwMode="auto">
            <a:xfrm flipV="1">
              <a:off x="6503047" y="1412776"/>
              <a:ext cx="403221" cy="650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4" name="Group 678"/>
          <p:cNvGrpSpPr/>
          <p:nvPr/>
        </p:nvGrpSpPr>
        <p:grpSpPr bwMode="auto">
          <a:xfrm>
            <a:off x="1331094" y="4077072"/>
            <a:ext cx="2736850" cy="1873250"/>
            <a:chOff x="204" y="2840"/>
            <a:chExt cx="1724" cy="1180"/>
          </a:xfrm>
        </p:grpSpPr>
        <p:sp>
          <p:nvSpPr>
            <p:cNvPr id="335" name="Text Box 462"/>
            <p:cNvSpPr txBox="1">
              <a:spLocks noChangeArrowheads="1"/>
            </p:cNvSpPr>
            <p:nvPr/>
          </p:nvSpPr>
          <p:spPr bwMode="auto">
            <a:xfrm>
              <a:off x="839" y="3295"/>
              <a:ext cx="136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/>
                <a:t>…</a:t>
              </a:r>
              <a:endParaRPr lang="en-US" altLang="zh-CN" sz="2000" b="1"/>
            </a:p>
          </p:txBody>
        </p:sp>
        <p:sp>
          <p:nvSpPr>
            <p:cNvPr id="336" name="Text Box 463"/>
            <p:cNvSpPr txBox="1">
              <a:spLocks noChangeArrowheads="1"/>
            </p:cNvSpPr>
            <p:nvPr/>
          </p:nvSpPr>
          <p:spPr bwMode="auto">
            <a:xfrm>
              <a:off x="1384" y="2840"/>
              <a:ext cx="181" cy="1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/>
                <a:t>…</a:t>
              </a:r>
              <a:endParaRPr lang="en-US" altLang="zh-CN" sz="2000" b="1"/>
            </a:p>
          </p:txBody>
        </p:sp>
        <p:sp>
          <p:nvSpPr>
            <p:cNvPr id="337" name="Line 464"/>
            <p:cNvSpPr>
              <a:spLocks noChangeShapeType="1"/>
            </p:cNvSpPr>
            <p:nvPr/>
          </p:nvSpPr>
          <p:spPr bwMode="auto">
            <a:xfrm>
              <a:off x="748" y="2841"/>
              <a:ext cx="0" cy="7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" name="Line 465"/>
            <p:cNvSpPr>
              <a:spLocks noChangeShapeType="1"/>
            </p:cNvSpPr>
            <p:nvPr/>
          </p:nvSpPr>
          <p:spPr bwMode="auto">
            <a:xfrm flipV="1">
              <a:off x="748" y="2840"/>
              <a:ext cx="11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9" name="Line 466"/>
            <p:cNvSpPr>
              <a:spLocks noChangeShapeType="1"/>
            </p:cNvSpPr>
            <p:nvPr/>
          </p:nvSpPr>
          <p:spPr bwMode="auto">
            <a:xfrm>
              <a:off x="657" y="3068"/>
              <a:ext cx="182" cy="4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0" name="Text Box 467"/>
            <p:cNvSpPr txBox="1">
              <a:spLocks noChangeArrowheads="1"/>
            </p:cNvSpPr>
            <p:nvPr/>
          </p:nvSpPr>
          <p:spPr bwMode="auto">
            <a:xfrm>
              <a:off x="204" y="2978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像素点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341" name="Text Box 468"/>
            <p:cNvSpPr txBox="1">
              <a:spLocks noChangeArrowheads="1"/>
            </p:cNvSpPr>
            <p:nvPr/>
          </p:nvSpPr>
          <p:spPr bwMode="auto">
            <a:xfrm>
              <a:off x="793" y="3839"/>
              <a:ext cx="1134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LCD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像素点矩阵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42" name="Text Box 469"/>
            <p:cNvSpPr txBox="1">
              <a:spLocks noChangeArrowheads="1"/>
            </p:cNvSpPr>
            <p:nvPr/>
          </p:nvSpPr>
          <p:spPr bwMode="auto">
            <a:xfrm>
              <a:off x="204" y="3567"/>
              <a:ext cx="453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单元格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343" name="Rectangle 471"/>
            <p:cNvSpPr>
              <a:spLocks noChangeArrowheads="1"/>
            </p:cNvSpPr>
            <p:nvPr/>
          </p:nvSpPr>
          <p:spPr bwMode="auto">
            <a:xfrm>
              <a:off x="748" y="2841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4" name="Rectangle 484"/>
            <p:cNvSpPr>
              <a:spLocks noChangeArrowheads="1"/>
            </p:cNvSpPr>
            <p:nvPr/>
          </p:nvSpPr>
          <p:spPr bwMode="auto">
            <a:xfrm>
              <a:off x="839" y="2841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5" name="Rectangle 485"/>
            <p:cNvSpPr>
              <a:spLocks noChangeArrowheads="1"/>
            </p:cNvSpPr>
            <p:nvPr/>
          </p:nvSpPr>
          <p:spPr bwMode="auto">
            <a:xfrm>
              <a:off x="929" y="2841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6" name="Rectangle 486"/>
            <p:cNvSpPr>
              <a:spLocks noChangeArrowheads="1"/>
            </p:cNvSpPr>
            <p:nvPr/>
          </p:nvSpPr>
          <p:spPr bwMode="auto">
            <a:xfrm>
              <a:off x="1020" y="2841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7" name="Rectangle 487"/>
            <p:cNvSpPr>
              <a:spLocks noChangeArrowheads="1"/>
            </p:cNvSpPr>
            <p:nvPr/>
          </p:nvSpPr>
          <p:spPr bwMode="auto">
            <a:xfrm>
              <a:off x="1111" y="2841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8" name="Rectangle 488"/>
            <p:cNvSpPr>
              <a:spLocks noChangeArrowheads="1"/>
            </p:cNvSpPr>
            <p:nvPr/>
          </p:nvSpPr>
          <p:spPr bwMode="auto">
            <a:xfrm>
              <a:off x="1201" y="2841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9" name="Rectangle 489"/>
            <p:cNvSpPr>
              <a:spLocks noChangeArrowheads="1"/>
            </p:cNvSpPr>
            <p:nvPr/>
          </p:nvSpPr>
          <p:spPr bwMode="auto">
            <a:xfrm>
              <a:off x="1655" y="2841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0" name="Rectangle 490"/>
            <p:cNvSpPr>
              <a:spLocks noChangeArrowheads="1"/>
            </p:cNvSpPr>
            <p:nvPr/>
          </p:nvSpPr>
          <p:spPr bwMode="auto">
            <a:xfrm>
              <a:off x="1746" y="2841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1" name="Rectangle 491"/>
            <p:cNvSpPr>
              <a:spLocks noChangeArrowheads="1"/>
            </p:cNvSpPr>
            <p:nvPr/>
          </p:nvSpPr>
          <p:spPr bwMode="auto">
            <a:xfrm>
              <a:off x="1836" y="2841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2" name="Rectangle 492"/>
            <p:cNvSpPr>
              <a:spLocks noChangeArrowheads="1"/>
            </p:cNvSpPr>
            <p:nvPr/>
          </p:nvSpPr>
          <p:spPr bwMode="auto">
            <a:xfrm>
              <a:off x="1020" y="3022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3" name="Rectangle 493"/>
            <p:cNvSpPr>
              <a:spLocks noChangeArrowheads="1"/>
            </p:cNvSpPr>
            <p:nvPr/>
          </p:nvSpPr>
          <p:spPr bwMode="auto">
            <a:xfrm>
              <a:off x="1111" y="3022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4" name="Rectangle 494"/>
            <p:cNvSpPr>
              <a:spLocks noChangeArrowheads="1"/>
            </p:cNvSpPr>
            <p:nvPr/>
          </p:nvSpPr>
          <p:spPr bwMode="auto">
            <a:xfrm>
              <a:off x="1201" y="3022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5" name="Rectangle 495"/>
            <p:cNvSpPr>
              <a:spLocks noChangeArrowheads="1"/>
            </p:cNvSpPr>
            <p:nvPr/>
          </p:nvSpPr>
          <p:spPr bwMode="auto">
            <a:xfrm>
              <a:off x="748" y="3612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6" name="Rectangle 496"/>
            <p:cNvSpPr>
              <a:spLocks noChangeArrowheads="1"/>
            </p:cNvSpPr>
            <p:nvPr/>
          </p:nvSpPr>
          <p:spPr bwMode="auto">
            <a:xfrm>
              <a:off x="839" y="3612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7" name="Rectangle 497"/>
            <p:cNvSpPr>
              <a:spLocks noChangeArrowheads="1"/>
            </p:cNvSpPr>
            <p:nvPr/>
          </p:nvSpPr>
          <p:spPr bwMode="auto">
            <a:xfrm>
              <a:off x="929" y="3612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8" name="Rectangle 498"/>
            <p:cNvSpPr>
              <a:spLocks noChangeArrowheads="1"/>
            </p:cNvSpPr>
            <p:nvPr/>
          </p:nvSpPr>
          <p:spPr bwMode="auto">
            <a:xfrm>
              <a:off x="1655" y="3612"/>
              <a:ext cx="91" cy="182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" name="Rectangle 499"/>
            <p:cNvSpPr>
              <a:spLocks noChangeArrowheads="1"/>
            </p:cNvSpPr>
            <p:nvPr/>
          </p:nvSpPr>
          <p:spPr bwMode="auto">
            <a:xfrm>
              <a:off x="1746" y="3612"/>
              <a:ext cx="90" cy="182"/>
            </a:xfrm>
            <a:prstGeom prst="rect">
              <a:avLst/>
            </a:prstGeom>
            <a:solidFill>
              <a:srgbClr val="CCFFCC">
                <a:alpha val="82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0" name="Rectangle 500"/>
            <p:cNvSpPr>
              <a:spLocks noChangeArrowheads="1"/>
            </p:cNvSpPr>
            <p:nvPr/>
          </p:nvSpPr>
          <p:spPr bwMode="auto">
            <a:xfrm>
              <a:off x="1836" y="3612"/>
              <a:ext cx="91" cy="182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1" name="Line 501"/>
            <p:cNvSpPr>
              <a:spLocks noChangeShapeType="1"/>
            </p:cNvSpPr>
            <p:nvPr/>
          </p:nvSpPr>
          <p:spPr bwMode="auto">
            <a:xfrm>
              <a:off x="1020" y="2841"/>
              <a:ext cx="0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2" name="Line 502"/>
            <p:cNvSpPr>
              <a:spLocks noChangeShapeType="1"/>
            </p:cNvSpPr>
            <p:nvPr/>
          </p:nvSpPr>
          <p:spPr bwMode="auto">
            <a:xfrm>
              <a:off x="1292" y="2841"/>
              <a:ext cx="0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3" name="Line 503"/>
            <p:cNvSpPr>
              <a:spLocks noChangeShapeType="1"/>
            </p:cNvSpPr>
            <p:nvPr/>
          </p:nvSpPr>
          <p:spPr bwMode="auto">
            <a:xfrm>
              <a:off x="1927" y="2841"/>
              <a:ext cx="1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4" name="Line 504"/>
            <p:cNvSpPr>
              <a:spLocks noChangeShapeType="1"/>
            </p:cNvSpPr>
            <p:nvPr/>
          </p:nvSpPr>
          <p:spPr bwMode="auto">
            <a:xfrm>
              <a:off x="1655" y="2841"/>
              <a:ext cx="0" cy="9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5" name="Line 505"/>
            <p:cNvSpPr>
              <a:spLocks noChangeShapeType="1"/>
            </p:cNvSpPr>
            <p:nvPr/>
          </p:nvSpPr>
          <p:spPr bwMode="auto">
            <a:xfrm flipV="1">
              <a:off x="748" y="3022"/>
              <a:ext cx="11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6" name="Line 506"/>
            <p:cNvSpPr>
              <a:spLocks noChangeShapeType="1"/>
            </p:cNvSpPr>
            <p:nvPr/>
          </p:nvSpPr>
          <p:spPr bwMode="auto">
            <a:xfrm flipV="1">
              <a:off x="748" y="3203"/>
              <a:ext cx="11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7" name="Line 507"/>
            <p:cNvSpPr>
              <a:spLocks noChangeShapeType="1"/>
            </p:cNvSpPr>
            <p:nvPr/>
          </p:nvSpPr>
          <p:spPr bwMode="auto">
            <a:xfrm>
              <a:off x="748" y="3612"/>
              <a:ext cx="1179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" name="Line 508"/>
            <p:cNvSpPr>
              <a:spLocks noChangeShapeType="1"/>
            </p:cNvSpPr>
            <p:nvPr/>
          </p:nvSpPr>
          <p:spPr bwMode="auto">
            <a:xfrm flipV="1">
              <a:off x="748" y="3793"/>
              <a:ext cx="1179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" name="Line 509"/>
            <p:cNvSpPr>
              <a:spLocks noChangeShapeType="1"/>
            </p:cNvSpPr>
            <p:nvPr/>
          </p:nvSpPr>
          <p:spPr bwMode="auto">
            <a:xfrm>
              <a:off x="657" y="3657"/>
              <a:ext cx="137" cy="4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0" name="Text Box 510"/>
            <p:cNvSpPr txBox="1">
              <a:spLocks noChangeArrowheads="1"/>
            </p:cNvSpPr>
            <p:nvPr/>
          </p:nvSpPr>
          <p:spPr bwMode="auto">
            <a:xfrm>
              <a:off x="1746" y="3295"/>
              <a:ext cx="136" cy="22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/>
                <a:t>…</a:t>
              </a:r>
              <a:endParaRPr lang="en-US" altLang="zh-CN" sz="2000" b="1"/>
            </a:p>
          </p:txBody>
        </p:sp>
        <p:sp>
          <p:nvSpPr>
            <p:cNvPr id="371" name="Text Box 511"/>
            <p:cNvSpPr txBox="1">
              <a:spLocks noChangeArrowheads="1"/>
            </p:cNvSpPr>
            <p:nvPr/>
          </p:nvSpPr>
          <p:spPr bwMode="auto">
            <a:xfrm>
              <a:off x="1383" y="3611"/>
              <a:ext cx="181" cy="13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 dirty="0"/>
                <a:t>…</a:t>
              </a:r>
              <a:endParaRPr lang="en-US" altLang="zh-CN" sz="2000" b="1" dirty="0"/>
            </a:p>
          </p:txBody>
        </p:sp>
      </p:grpSp>
      <p:grpSp>
        <p:nvGrpSpPr>
          <p:cNvPr id="372" name="Group 683"/>
          <p:cNvGrpSpPr/>
          <p:nvPr/>
        </p:nvGrpSpPr>
        <p:grpSpPr bwMode="auto">
          <a:xfrm>
            <a:off x="5292104" y="4077072"/>
            <a:ext cx="2808288" cy="1871662"/>
            <a:chOff x="3742" y="2795"/>
            <a:chExt cx="1769" cy="1179"/>
          </a:xfrm>
        </p:grpSpPr>
        <p:sp>
          <p:nvSpPr>
            <p:cNvPr id="373" name="Text Box 580"/>
            <p:cNvSpPr txBox="1">
              <a:spLocks noChangeArrowheads="1"/>
            </p:cNvSpPr>
            <p:nvPr/>
          </p:nvSpPr>
          <p:spPr bwMode="auto">
            <a:xfrm>
              <a:off x="3742" y="2795"/>
              <a:ext cx="272" cy="95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显示适配卡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74" name="Text Box 593"/>
            <p:cNvSpPr txBox="1">
              <a:spLocks noChangeArrowheads="1"/>
            </p:cNvSpPr>
            <p:nvPr/>
          </p:nvSpPr>
          <p:spPr bwMode="auto">
            <a:xfrm>
              <a:off x="4105" y="3793"/>
              <a:ext cx="1134" cy="18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LCD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的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基本组成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75" name="Rectangle 664"/>
            <p:cNvSpPr>
              <a:spLocks noChangeArrowheads="1"/>
            </p:cNvSpPr>
            <p:nvPr/>
          </p:nvSpPr>
          <p:spPr bwMode="auto">
            <a:xfrm>
              <a:off x="4513" y="2795"/>
              <a:ext cx="998" cy="953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6" name="Text Box 665"/>
            <p:cNvSpPr txBox="1">
              <a:spLocks noChangeArrowheads="1"/>
            </p:cNvSpPr>
            <p:nvPr/>
          </p:nvSpPr>
          <p:spPr bwMode="auto">
            <a:xfrm>
              <a:off x="4604" y="2886"/>
              <a:ext cx="181" cy="81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A/D</a:t>
              </a:r>
              <a:r>
                <a:rPr lang="zh-CN" altLang="en-US" sz="1800" b="1">
                  <a:latin typeface="宋体" panose="02010600030101010101" pitchFamily="2" charset="-122"/>
                </a:rPr>
                <a:t>转换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377" name="Text Box 667"/>
            <p:cNvSpPr txBox="1">
              <a:spLocks noChangeArrowheads="1"/>
            </p:cNvSpPr>
            <p:nvPr/>
          </p:nvSpPr>
          <p:spPr bwMode="auto">
            <a:xfrm>
              <a:off x="4785" y="2886"/>
              <a:ext cx="182" cy="81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显示控制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78" name="Text Box 668"/>
            <p:cNvSpPr txBox="1">
              <a:spLocks noChangeArrowheads="1"/>
            </p:cNvSpPr>
            <p:nvPr/>
          </p:nvSpPr>
          <p:spPr bwMode="auto">
            <a:xfrm>
              <a:off x="4966" y="2886"/>
              <a:ext cx="454" cy="817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像素点矩阵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379" name="Line 669"/>
            <p:cNvSpPr>
              <a:spLocks noChangeShapeType="1"/>
            </p:cNvSpPr>
            <p:nvPr/>
          </p:nvSpPr>
          <p:spPr bwMode="auto">
            <a:xfrm>
              <a:off x="4014" y="2931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0" name="Text Box 670"/>
            <p:cNvSpPr txBox="1">
              <a:spLocks noChangeArrowheads="1"/>
            </p:cNvSpPr>
            <p:nvPr/>
          </p:nvSpPr>
          <p:spPr bwMode="auto">
            <a:xfrm>
              <a:off x="4059" y="2795"/>
              <a:ext cx="363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HSYNC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381" name="Line 671"/>
            <p:cNvSpPr>
              <a:spLocks noChangeShapeType="1"/>
            </p:cNvSpPr>
            <p:nvPr/>
          </p:nvSpPr>
          <p:spPr bwMode="auto">
            <a:xfrm>
              <a:off x="4014" y="3113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2" name="Text Box 672"/>
            <p:cNvSpPr txBox="1">
              <a:spLocks noChangeArrowheads="1"/>
            </p:cNvSpPr>
            <p:nvPr/>
          </p:nvSpPr>
          <p:spPr bwMode="auto">
            <a:xfrm>
              <a:off x="4150" y="3004"/>
              <a:ext cx="136" cy="36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R</a:t>
              </a:r>
              <a:endParaRPr lang="en-US" altLang="zh-CN" sz="1600" b="1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G</a:t>
              </a:r>
              <a:endParaRPr lang="en-US" altLang="zh-CN" sz="1600" b="1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B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383" name="Line 673"/>
            <p:cNvSpPr>
              <a:spLocks noChangeShapeType="1"/>
            </p:cNvSpPr>
            <p:nvPr/>
          </p:nvSpPr>
          <p:spPr bwMode="auto">
            <a:xfrm>
              <a:off x="4014" y="3249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4" name="Line 674"/>
            <p:cNvSpPr>
              <a:spLocks noChangeShapeType="1"/>
            </p:cNvSpPr>
            <p:nvPr/>
          </p:nvSpPr>
          <p:spPr bwMode="auto">
            <a:xfrm>
              <a:off x="4014" y="3385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5" name="Line 675"/>
            <p:cNvSpPr>
              <a:spLocks noChangeShapeType="1"/>
            </p:cNvSpPr>
            <p:nvPr/>
          </p:nvSpPr>
          <p:spPr bwMode="auto">
            <a:xfrm>
              <a:off x="4014" y="3657"/>
              <a:ext cx="5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" name="Text Box 676"/>
            <p:cNvSpPr txBox="1">
              <a:spLocks noChangeArrowheads="1"/>
            </p:cNvSpPr>
            <p:nvPr/>
          </p:nvSpPr>
          <p:spPr bwMode="auto">
            <a:xfrm>
              <a:off x="4059" y="3521"/>
              <a:ext cx="363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>
                  <a:latin typeface="宋体" panose="02010600030101010101" pitchFamily="2" charset="-122"/>
                </a:rPr>
                <a:t>VSYNC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</p:grpSp>
      <p:sp>
        <p:nvSpPr>
          <p:cNvPr id="388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3" name="组合 152"/>
          <p:cNvGrpSpPr/>
          <p:nvPr/>
        </p:nvGrpSpPr>
        <p:grpSpPr>
          <a:xfrm>
            <a:off x="501570" y="836712"/>
            <a:ext cx="5150550" cy="2231554"/>
            <a:chOff x="501570" y="836712"/>
            <a:chExt cx="5150550" cy="2231554"/>
          </a:xfrm>
        </p:grpSpPr>
        <p:sp>
          <p:nvSpPr>
            <p:cNvPr id="154" name="Rectangle 329"/>
            <p:cNvSpPr>
              <a:spLocks noChangeArrowheads="1"/>
            </p:cNvSpPr>
            <p:nvPr/>
          </p:nvSpPr>
          <p:spPr bwMode="auto">
            <a:xfrm>
              <a:off x="2627660" y="1596555"/>
              <a:ext cx="1584176" cy="384836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" name="Text Box 265"/>
            <p:cNvSpPr txBox="1">
              <a:spLocks noChangeArrowheads="1"/>
            </p:cNvSpPr>
            <p:nvPr/>
          </p:nvSpPr>
          <p:spPr bwMode="auto">
            <a:xfrm>
              <a:off x="501570" y="973726"/>
              <a:ext cx="936104" cy="180575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000" tIns="0" rIns="0" bIns="0"/>
            <a:lstStyle/>
            <a:p>
              <a:pPr algn="r">
                <a:lnSpc>
                  <a:spcPct val="114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玻璃基片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公共电极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80000"/>
                </a:lnSpc>
              </a:pP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TFT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玻璃基片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灯管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r">
                <a:lnSpc>
                  <a:spcPct val="114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反射板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Rectangle 325" descr="宽下对角线"/>
            <p:cNvSpPr>
              <a:spLocks noChangeArrowheads="1"/>
            </p:cNvSpPr>
            <p:nvPr/>
          </p:nvSpPr>
          <p:spPr bwMode="auto">
            <a:xfrm>
              <a:off x="1691556" y="974867"/>
              <a:ext cx="2520280" cy="142875"/>
            </a:xfrm>
            <a:prstGeom prst="rect">
              <a:avLst/>
            </a:prstGeom>
            <a:pattFill prst="wdDnDiag">
              <a:fgClr>
                <a:srgbClr val="99CC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7" name="Rectangle 326" descr="5%"/>
            <p:cNvSpPr>
              <a:spLocks noChangeArrowheads="1"/>
            </p:cNvSpPr>
            <p:nvPr/>
          </p:nvSpPr>
          <p:spPr bwMode="auto">
            <a:xfrm>
              <a:off x="1691556" y="1117742"/>
              <a:ext cx="2520280" cy="189887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8" name="Rectangle 327" descr="实心菱形"/>
            <p:cNvSpPr>
              <a:spLocks noChangeArrowheads="1"/>
            </p:cNvSpPr>
            <p:nvPr/>
          </p:nvSpPr>
          <p:spPr bwMode="auto">
            <a:xfrm>
              <a:off x="2627660" y="1307630"/>
              <a:ext cx="1584176" cy="142875"/>
            </a:xfrm>
            <a:prstGeom prst="rect">
              <a:avLst/>
            </a:prstGeom>
            <a:pattFill prst="solidDmnd">
              <a:fgClr>
                <a:srgbClr val="CC99FF">
                  <a:alpha val="70000"/>
                </a:srgbClr>
              </a:fgClr>
              <a:bgClr>
                <a:schemeClr val="bg1">
                  <a:alpha val="70000"/>
                </a:schemeClr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9" name="Rectangle 333" descr="5%"/>
            <p:cNvSpPr>
              <a:spLocks noChangeArrowheads="1"/>
            </p:cNvSpPr>
            <p:nvPr/>
          </p:nvSpPr>
          <p:spPr bwMode="auto">
            <a:xfrm>
              <a:off x="1691556" y="2125854"/>
              <a:ext cx="2520280" cy="216272"/>
            </a:xfrm>
            <a:prstGeom prst="rect">
              <a:avLst/>
            </a:prstGeom>
            <a:pattFill prst="pct5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0" name="Rectangle 334" descr="宽下对角线"/>
            <p:cNvSpPr>
              <a:spLocks noChangeArrowheads="1"/>
            </p:cNvSpPr>
            <p:nvPr/>
          </p:nvSpPr>
          <p:spPr bwMode="auto">
            <a:xfrm>
              <a:off x="1691556" y="2342126"/>
              <a:ext cx="2520280" cy="14287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1" name="Rectangle 337" descr="轮廓式菱形"/>
            <p:cNvSpPr>
              <a:spLocks noChangeArrowheads="1"/>
            </p:cNvSpPr>
            <p:nvPr/>
          </p:nvSpPr>
          <p:spPr bwMode="auto">
            <a:xfrm>
              <a:off x="1691556" y="2485001"/>
              <a:ext cx="2520280" cy="142875"/>
            </a:xfrm>
            <a:prstGeom prst="rect">
              <a:avLst/>
            </a:prstGeom>
            <a:pattFill prst="openDmnd">
              <a:fgClr>
                <a:srgbClr val="FF3399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2" name="Rectangle 346" descr="之字形"/>
            <p:cNvSpPr>
              <a:spLocks noChangeArrowheads="1"/>
            </p:cNvSpPr>
            <p:nvPr/>
          </p:nvSpPr>
          <p:spPr bwMode="auto">
            <a:xfrm>
              <a:off x="1691556" y="2627876"/>
              <a:ext cx="2520280" cy="146050"/>
            </a:xfrm>
            <a:prstGeom prst="rect">
              <a:avLst/>
            </a:prstGeom>
            <a:pattFill prst="zigZag">
              <a:fgClr>
                <a:schemeClr val="tx1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3" name="AutoShape 374"/>
            <p:cNvSpPr>
              <a:spLocks noChangeArrowheads="1"/>
            </p:cNvSpPr>
            <p:nvPr/>
          </p:nvSpPr>
          <p:spPr bwMode="auto">
            <a:xfrm>
              <a:off x="2699792" y="1895495"/>
              <a:ext cx="431800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" name="AutoShape 375"/>
            <p:cNvSpPr>
              <a:spLocks noChangeArrowheads="1"/>
            </p:cNvSpPr>
            <p:nvPr/>
          </p:nvSpPr>
          <p:spPr bwMode="auto">
            <a:xfrm>
              <a:off x="2737892" y="1823810"/>
              <a:ext cx="3603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5" name="AutoShape 376"/>
            <p:cNvSpPr>
              <a:spLocks noChangeArrowheads="1"/>
            </p:cNvSpPr>
            <p:nvPr/>
          </p:nvSpPr>
          <p:spPr bwMode="auto">
            <a:xfrm>
              <a:off x="2777580" y="1751802"/>
              <a:ext cx="287338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6" name="AutoShape 377"/>
            <p:cNvSpPr>
              <a:spLocks noChangeArrowheads="1"/>
            </p:cNvSpPr>
            <p:nvPr/>
          </p:nvSpPr>
          <p:spPr bwMode="auto">
            <a:xfrm>
              <a:off x="2810917" y="1679794"/>
              <a:ext cx="215900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7" name="AutoShape 378"/>
            <p:cNvSpPr>
              <a:spLocks noChangeArrowheads="1"/>
            </p:cNvSpPr>
            <p:nvPr/>
          </p:nvSpPr>
          <p:spPr bwMode="auto">
            <a:xfrm>
              <a:off x="2847430" y="1607786"/>
              <a:ext cx="1444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8" name="Text Box 380"/>
            <p:cNvSpPr txBox="1">
              <a:spLocks noChangeArrowheads="1"/>
            </p:cNvSpPr>
            <p:nvPr/>
          </p:nvSpPr>
          <p:spPr bwMode="auto">
            <a:xfrm>
              <a:off x="1692250" y="1594966"/>
              <a:ext cx="215330" cy="530887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框胶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69" name="Line 394"/>
            <p:cNvSpPr>
              <a:spLocks noChangeShapeType="1"/>
            </p:cNvSpPr>
            <p:nvPr/>
          </p:nvSpPr>
          <p:spPr bwMode="auto">
            <a:xfrm flipH="1" flipV="1">
              <a:off x="4211834" y="1044593"/>
              <a:ext cx="216025" cy="73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Line 395"/>
            <p:cNvSpPr>
              <a:spLocks noChangeShapeType="1"/>
            </p:cNvSpPr>
            <p:nvPr/>
          </p:nvSpPr>
          <p:spPr bwMode="auto">
            <a:xfrm flipH="1">
              <a:off x="4211833" y="1333766"/>
              <a:ext cx="432173" cy="720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Line 396"/>
            <p:cNvSpPr>
              <a:spLocks noChangeShapeType="1"/>
            </p:cNvSpPr>
            <p:nvPr/>
          </p:nvSpPr>
          <p:spPr bwMode="auto">
            <a:xfrm>
              <a:off x="1475209" y="2125854"/>
              <a:ext cx="217041" cy="108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Line 397"/>
            <p:cNvSpPr>
              <a:spLocks noChangeShapeType="1"/>
            </p:cNvSpPr>
            <p:nvPr/>
          </p:nvSpPr>
          <p:spPr bwMode="auto">
            <a:xfrm>
              <a:off x="1475209" y="2458565"/>
              <a:ext cx="216347" cy="978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Line 399"/>
            <p:cNvSpPr>
              <a:spLocks noChangeShapeType="1"/>
            </p:cNvSpPr>
            <p:nvPr/>
          </p:nvSpPr>
          <p:spPr bwMode="auto">
            <a:xfrm>
              <a:off x="1475532" y="1379065"/>
              <a:ext cx="216718" cy="9871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Rectangle 400" descr="宽上对角线"/>
            <p:cNvSpPr>
              <a:spLocks noChangeArrowheads="1"/>
            </p:cNvSpPr>
            <p:nvPr/>
          </p:nvSpPr>
          <p:spPr bwMode="auto">
            <a:xfrm>
              <a:off x="2492104" y="1981391"/>
              <a:ext cx="1719732" cy="72903"/>
            </a:xfrm>
            <a:prstGeom prst="rect">
              <a:avLst/>
            </a:prstGeom>
            <a:pattFill prst="wdUpDiag">
              <a:fgClr>
                <a:srgbClr val="CC6600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" name="Line 402"/>
            <p:cNvSpPr>
              <a:spLocks noChangeShapeType="1"/>
            </p:cNvSpPr>
            <p:nvPr/>
          </p:nvSpPr>
          <p:spPr bwMode="auto">
            <a:xfrm>
              <a:off x="1475531" y="1081451"/>
              <a:ext cx="216025" cy="13123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Line 403"/>
            <p:cNvSpPr>
              <a:spLocks noChangeShapeType="1"/>
            </p:cNvSpPr>
            <p:nvPr/>
          </p:nvSpPr>
          <p:spPr bwMode="auto">
            <a:xfrm flipV="1">
              <a:off x="1475209" y="2700900"/>
              <a:ext cx="216347" cy="8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Text Box 380"/>
            <p:cNvSpPr txBox="1">
              <a:spLocks noChangeArrowheads="1"/>
            </p:cNvSpPr>
            <p:nvPr/>
          </p:nvSpPr>
          <p:spPr bwMode="auto">
            <a:xfrm>
              <a:off x="2492104" y="1593483"/>
              <a:ext cx="135556" cy="387908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8" name="Text Box 380"/>
            <p:cNvSpPr txBox="1">
              <a:spLocks noChangeArrowheads="1"/>
            </p:cNvSpPr>
            <p:nvPr/>
          </p:nvSpPr>
          <p:spPr bwMode="auto">
            <a:xfrm>
              <a:off x="2131988" y="1932806"/>
              <a:ext cx="207640" cy="19304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79" name="Text Box 380"/>
            <p:cNvSpPr txBox="1">
              <a:spLocks noChangeArrowheads="1"/>
            </p:cNvSpPr>
            <p:nvPr/>
          </p:nvSpPr>
          <p:spPr bwMode="auto">
            <a:xfrm>
              <a:off x="2187992" y="2017842"/>
              <a:ext cx="103820" cy="10801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380"/>
            <p:cNvSpPr txBox="1">
              <a:spLocks noChangeArrowheads="1"/>
            </p:cNvSpPr>
            <p:nvPr/>
          </p:nvSpPr>
          <p:spPr bwMode="auto">
            <a:xfrm>
              <a:off x="1979588" y="2017842"/>
              <a:ext cx="103820" cy="108012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380"/>
            <p:cNvSpPr txBox="1">
              <a:spLocks noChangeArrowheads="1"/>
            </p:cNvSpPr>
            <p:nvPr/>
          </p:nvSpPr>
          <p:spPr bwMode="auto">
            <a:xfrm>
              <a:off x="2163800" y="1878799"/>
              <a:ext cx="135632" cy="54007"/>
            </a:xfrm>
            <a:prstGeom prst="rect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2" name="任意多边形 181"/>
            <p:cNvSpPr/>
            <p:nvPr/>
          </p:nvSpPr>
          <p:spPr bwMode="auto">
            <a:xfrm>
              <a:off x="2029068" y="1826631"/>
              <a:ext cx="175260" cy="198269"/>
            </a:xfrm>
            <a:custGeom>
              <a:avLst/>
              <a:gdLst>
                <a:gd name="connsiteX0" fmla="*/ 175260 w 175260"/>
                <a:gd name="connsiteY0" fmla="*/ 45869 h 198269"/>
                <a:gd name="connsiteX1" fmla="*/ 91440 w 175260"/>
                <a:gd name="connsiteY1" fmla="*/ 149 h 198269"/>
                <a:gd name="connsiteX2" fmla="*/ 15240 w 175260"/>
                <a:gd name="connsiteY2" fmla="*/ 38249 h 198269"/>
                <a:gd name="connsiteX3" fmla="*/ 0 w 175260"/>
                <a:gd name="connsiteY3" fmla="*/ 198269 h 198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5260" h="198269">
                  <a:moveTo>
                    <a:pt x="175260" y="45869"/>
                  </a:moveTo>
                  <a:cubicBezTo>
                    <a:pt x="146685" y="23644"/>
                    <a:pt x="118110" y="1419"/>
                    <a:pt x="91440" y="149"/>
                  </a:cubicBezTo>
                  <a:cubicBezTo>
                    <a:pt x="64770" y="-1121"/>
                    <a:pt x="30480" y="5229"/>
                    <a:pt x="15240" y="38249"/>
                  </a:cubicBezTo>
                  <a:cubicBezTo>
                    <a:pt x="0" y="71269"/>
                    <a:pt x="0" y="134769"/>
                    <a:pt x="0" y="198269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3" name="任意多边形 182"/>
            <p:cNvSpPr/>
            <p:nvPr/>
          </p:nvSpPr>
          <p:spPr bwMode="auto">
            <a:xfrm>
              <a:off x="2239902" y="1813036"/>
              <a:ext cx="190786" cy="241258"/>
            </a:xfrm>
            <a:custGeom>
              <a:avLst/>
              <a:gdLst>
                <a:gd name="connsiteX0" fmla="*/ 0 w 121920"/>
                <a:gd name="connsiteY0" fmla="*/ 59681 h 189221"/>
                <a:gd name="connsiteX1" fmla="*/ 83820 w 121920"/>
                <a:gd name="connsiteY1" fmla="*/ 6341 h 189221"/>
                <a:gd name="connsiteX2" fmla="*/ 121920 w 121920"/>
                <a:gd name="connsiteY2" fmla="*/ 189221 h 189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1920" h="189221">
                  <a:moveTo>
                    <a:pt x="0" y="59681"/>
                  </a:moveTo>
                  <a:cubicBezTo>
                    <a:pt x="31750" y="22216"/>
                    <a:pt x="63500" y="-15249"/>
                    <a:pt x="83820" y="6341"/>
                  </a:cubicBezTo>
                  <a:cubicBezTo>
                    <a:pt x="104140" y="27931"/>
                    <a:pt x="113030" y="108576"/>
                    <a:pt x="121920" y="189221"/>
                  </a:cubicBezTo>
                </a:path>
              </a:pathLst>
            </a:cu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84" name="Rectangle 328" descr="宽下对角线"/>
            <p:cNvSpPr>
              <a:spLocks noChangeArrowheads="1"/>
            </p:cNvSpPr>
            <p:nvPr/>
          </p:nvSpPr>
          <p:spPr bwMode="auto">
            <a:xfrm>
              <a:off x="1691556" y="1521925"/>
              <a:ext cx="2520280" cy="71560"/>
            </a:xfrm>
            <a:prstGeom prst="rect">
              <a:avLst/>
            </a:prstGeom>
            <a:pattFill prst="wdDnDiag">
              <a:fgClr>
                <a:srgbClr val="808080"/>
              </a:fgClr>
              <a:bgClr>
                <a:schemeClr val="bg1"/>
              </a:bgClr>
            </a:patt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" name="Text Box 380"/>
            <p:cNvSpPr txBox="1">
              <a:spLocks noChangeArrowheads="1"/>
            </p:cNvSpPr>
            <p:nvPr/>
          </p:nvSpPr>
          <p:spPr bwMode="auto">
            <a:xfrm>
              <a:off x="1692250" y="1307630"/>
              <a:ext cx="935410" cy="142876"/>
            </a:xfrm>
            <a:prstGeom prst="rect">
              <a:avLst/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Line 395"/>
            <p:cNvSpPr>
              <a:spLocks noChangeShapeType="1"/>
            </p:cNvSpPr>
            <p:nvPr/>
          </p:nvSpPr>
          <p:spPr bwMode="auto">
            <a:xfrm flipH="1" flipV="1">
              <a:off x="4211833" y="1549790"/>
              <a:ext cx="216026" cy="119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Rectangle 328" descr="宽下对角线"/>
            <p:cNvSpPr>
              <a:spLocks noChangeArrowheads="1"/>
            </p:cNvSpPr>
            <p:nvPr/>
          </p:nvSpPr>
          <p:spPr bwMode="auto">
            <a:xfrm>
              <a:off x="1691556" y="1454415"/>
              <a:ext cx="2520280" cy="71560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" name="Rectangle 328" descr="宽下对角线"/>
            <p:cNvSpPr>
              <a:spLocks noChangeArrowheads="1"/>
            </p:cNvSpPr>
            <p:nvPr/>
          </p:nvSpPr>
          <p:spPr bwMode="auto">
            <a:xfrm>
              <a:off x="2411636" y="2054294"/>
              <a:ext cx="1800200" cy="71559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" name="Text Box 265"/>
            <p:cNvSpPr txBox="1">
              <a:spLocks noChangeArrowheads="1"/>
            </p:cNvSpPr>
            <p:nvPr/>
          </p:nvSpPr>
          <p:spPr bwMode="auto">
            <a:xfrm>
              <a:off x="4427860" y="974868"/>
              <a:ext cx="1224260" cy="180461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36000" tIns="0" rIns="0" bIns="0"/>
            <a:lstStyle/>
            <a:p>
              <a:pPr algn="l"/>
              <a:r>
                <a:rPr lang="en-US" altLang="zh-CN" sz="1600" b="1" dirty="0" smtClean="0">
                  <a:latin typeface="宋体" panose="02010600030101010101" pitchFamily="2" charset="-122"/>
                </a:rPr>
                <a:t>X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偏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光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片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  滤光片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配向膜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X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液晶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配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向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膜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  控制电极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l"/>
              <a:r>
                <a:rPr lang="en-US" altLang="zh-CN" sz="1600" b="1" dirty="0" smtClean="0">
                  <a:latin typeface="宋体" panose="02010600030101010101" pitchFamily="2" charset="-122"/>
                </a:rPr>
                <a:t>Y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偏光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片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7" name="Line 394"/>
            <p:cNvSpPr>
              <a:spLocks noChangeShapeType="1"/>
            </p:cNvSpPr>
            <p:nvPr/>
          </p:nvSpPr>
          <p:spPr bwMode="auto">
            <a:xfrm flipH="1" flipV="1">
              <a:off x="4211837" y="2010416"/>
              <a:ext cx="216022" cy="438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395"/>
            <p:cNvSpPr>
              <a:spLocks noChangeShapeType="1"/>
            </p:cNvSpPr>
            <p:nvPr/>
          </p:nvSpPr>
          <p:spPr bwMode="auto">
            <a:xfrm flipH="1" flipV="1">
              <a:off x="4211831" y="2090072"/>
              <a:ext cx="432176" cy="2518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395"/>
            <p:cNvSpPr>
              <a:spLocks noChangeShapeType="1"/>
            </p:cNvSpPr>
            <p:nvPr/>
          </p:nvSpPr>
          <p:spPr bwMode="auto">
            <a:xfrm flipH="1" flipV="1">
              <a:off x="4211831" y="2413563"/>
              <a:ext cx="216028" cy="1443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Line 399"/>
            <p:cNvSpPr>
              <a:spLocks noChangeShapeType="1"/>
            </p:cNvSpPr>
            <p:nvPr/>
          </p:nvSpPr>
          <p:spPr bwMode="auto">
            <a:xfrm>
              <a:off x="1475533" y="1876602"/>
              <a:ext cx="523108" cy="448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Line 407"/>
            <p:cNvSpPr>
              <a:spLocks noChangeShapeType="1"/>
            </p:cNvSpPr>
            <p:nvPr/>
          </p:nvSpPr>
          <p:spPr bwMode="auto">
            <a:xfrm flipH="1" flipV="1">
              <a:off x="3419624" y="836714"/>
              <a:ext cx="0" cy="169487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Line 408"/>
            <p:cNvSpPr>
              <a:spLocks noChangeShapeType="1"/>
            </p:cNvSpPr>
            <p:nvPr/>
          </p:nvSpPr>
          <p:spPr bwMode="auto">
            <a:xfrm flipH="1" flipV="1">
              <a:off x="3923680" y="836713"/>
              <a:ext cx="0" cy="169487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Line 409"/>
            <p:cNvSpPr>
              <a:spLocks noChangeShapeType="1"/>
            </p:cNvSpPr>
            <p:nvPr/>
          </p:nvSpPr>
          <p:spPr bwMode="auto">
            <a:xfrm flipH="1" flipV="1">
              <a:off x="2915567" y="836712"/>
              <a:ext cx="0" cy="1694877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Line 394"/>
            <p:cNvSpPr>
              <a:spLocks noChangeShapeType="1"/>
            </p:cNvSpPr>
            <p:nvPr/>
          </p:nvSpPr>
          <p:spPr bwMode="auto">
            <a:xfrm flipH="1" flipV="1">
              <a:off x="4211831" y="1788986"/>
              <a:ext cx="216151" cy="277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Text Box 182"/>
            <p:cNvSpPr txBox="1">
              <a:spLocks noChangeArrowheads="1"/>
            </p:cNvSpPr>
            <p:nvPr/>
          </p:nvSpPr>
          <p:spPr bwMode="auto">
            <a:xfrm>
              <a:off x="2013446" y="2780928"/>
              <a:ext cx="1838474" cy="287338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液晶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盒不加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电时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6" name="AutoShape 374"/>
            <p:cNvSpPr>
              <a:spLocks noChangeArrowheads="1"/>
            </p:cNvSpPr>
            <p:nvPr/>
          </p:nvSpPr>
          <p:spPr bwMode="auto">
            <a:xfrm>
              <a:off x="3707904" y="1895495"/>
              <a:ext cx="431800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7" name="AutoShape 375"/>
            <p:cNvSpPr>
              <a:spLocks noChangeArrowheads="1"/>
            </p:cNvSpPr>
            <p:nvPr/>
          </p:nvSpPr>
          <p:spPr bwMode="auto">
            <a:xfrm>
              <a:off x="3746004" y="1823810"/>
              <a:ext cx="3603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AutoShape 376"/>
            <p:cNvSpPr>
              <a:spLocks noChangeArrowheads="1"/>
            </p:cNvSpPr>
            <p:nvPr/>
          </p:nvSpPr>
          <p:spPr bwMode="auto">
            <a:xfrm>
              <a:off x="3785692" y="1751802"/>
              <a:ext cx="287338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9" name="AutoShape 377"/>
            <p:cNvSpPr>
              <a:spLocks noChangeArrowheads="1"/>
            </p:cNvSpPr>
            <p:nvPr/>
          </p:nvSpPr>
          <p:spPr bwMode="auto">
            <a:xfrm>
              <a:off x="3819029" y="1679794"/>
              <a:ext cx="215900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0" name="AutoShape 378"/>
            <p:cNvSpPr>
              <a:spLocks noChangeArrowheads="1"/>
            </p:cNvSpPr>
            <p:nvPr/>
          </p:nvSpPr>
          <p:spPr bwMode="auto">
            <a:xfrm>
              <a:off x="3855542" y="1607786"/>
              <a:ext cx="1444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AutoShape 374"/>
            <p:cNvSpPr>
              <a:spLocks noChangeArrowheads="1"/>
            </p:cNvSpPr>
            <p:nvPr/>
          </p:nvSpPr>
          <p:spPr bwMode="auto">
            <a:xfrm>
              <a:off x="3203848" y="1895495"/>
              <a:ext cx="431800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2" name="AutoShape 375"/>
            <p:cNvSpPr>
              <a:spLocks noChangeArrowheads="1"/>
            </p:cNvSpPr>
            <p:nvPr/>
          </p:nvSpPr>
          <p:spPr bwMode="auto">
            <a:xfrm>
              <a:off x="3241948" y="1823810"/>
              <a:ext cx="3603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3" name="AutoShape 376"/>
            <p:cNvSpPr>
              <a:spLocks noChangeArrowheads="1"/>
            </p:cNvSpPr>
            <p:nvPr/>
          </p:nvSpPr>
          <p:spPr bwMode="auto">
            <a:xfrm>
              <a:off x="3281636" y="1751802"/>
              <a:ext cx="287338" cy="73025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4" name="AutoShape 377"/>
            <p:cNvSpPr>
              <a:spLocks noChangeArrowheads="1"/>
            </p:cNvSpPr>
            <p:nvPr/>
          </p:nvSpPr>
          <p:spPr bwMode="auto">
            <a:xfrm>
              <a:off x="3314973" y="1679794"/>
              <a:ext cx="215900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" name="AutoShape 378"/>
            <p:cNvSpPr>
              <a:spLocks noChangeArrowheads="1"/>
            </p:cNvSpPr>
            <p:nvPr/>
          </p:nvSpPr>
          <p:spPr bwMode="auto">
            <a:xfrm>
              <a:off x="3351486" y="1607786"/>
              <a:ext cx="144463" cy="71438"/>
            </a:xfrm>
            <a:prstGeom prst="flowChartTerminator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208364" y="829388"/>
            <a:ext cx="227732" cy="1256757"/>
            <a:chOff x="5208364" y="829388"/>
            <a:chExt cx="227732" cy="1256757"/>
          </a:xfrm>
        </p:grpSpPr>
        <p:cxnSp>
          <p:nvCxnSpPr>
            <p:cNvPr id="4" name="直接箭头连接符 3"/>
            <p:cNvCxnSpPr/>
            <p:nvPr/>
          </p:nvCxnSpPr>
          <p:spPr bwMode="auto">
            <a:xfrm flipH="1" flipV="1">
              <a:off x="5208364" y="1603858"/>
              <a:ext cx="227732" cy="3928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cxnSp>
          <p:nvCxnSpPr>
            <p:cNvPr id="188" name="直接箭头连接符 187"/>
            <p:cNvCxnSpPr/>
            <p:nvPr/>
          </p:nvCxnSpPr>
          <p:spPr bwMode="auto">
            <a:xfrm flipH="1">
              <a:off x="5208364" y="1605822"/>
              <a:ext cx="227732" cy="480323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cxnSp>
          <p:nvCxnSpPr>
            <p:cNvPr id="189" name="直接箭头连接符 188"/>
            <p:cNvCxnSpPr/>
            <p:nvPr/>
          </p:nvCxnSpPr>
          <p:spPr bwMode="auto">
            <a:xfrm>
              <a:off x="5436096" y="829388"/>
              <a:ext cx="0" cy="776434"/>
            </a:xfrm>
            <a:prstGeom prst="straightConnector1">
              <a:avLst/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" grpId="0"/>
      <p:bldP spid="29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9441A-C5FD-4ACD-83F4-6E6966E41E21}" type="slidenum">
              <a:rPr lang="en-US" altLang="zh-CN"/>
            </a:fld>
            <a:endParaRPr lang="en-US" altLang="zh-CN"/>
          </a:p>
        </p:txBody>
      </p:sp>
      <p:sp>
        <p:nvSpPr>
          <p:cNvPr id="239938" name="Text Box 322"/>
          <p:cNvSpPr txBox="1">
            <a:spLocks noChangeArrowheads="1"/>
          </p:cNvSpPr>
          <p:nvPr/>
        </p:nvSpPr>
        <p:spPr bwMode="auto">
          <a:xfrm>
            <a:off x="179388" y="334293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打印机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字符设备或块设备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种类：</a:t>
            </a:r>
            <a:r>
              <a:rPr lang="zh-CN" altLang="en-US" b="1" dirty="0">
                <a:latin typeface="宋体" panose="02010600030101010101" pitchFamily="2" charset="-122"/>
              </a:rPr>
              <a:t>击打式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机械式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针式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、非击打式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激光</a:t>
            </a:r>
            <a:r>
              <a:rPr lang="en-US" altLang="zh-CN" sz="2000" b="1" dirty="0">
                <a:latin typeface="宋体" panose="02010600030101010101" pitchFamily="2" charset="-122"/>
              </a:rPr>
              <a:t>/</a:t>
            </a:r>
            <a:r>
              <a:rPr lang="zh-CN" altLang="en-US" sz="2000" b="1" dirty="0">
                <a:latin typeface="宋体" panose="02010600030101010101" pitchFamily="2" charset="-122"/>
              </a:rPr>
              <a:t>喷墨</a:t>
            </a:r>
            <a:r>
              <a:rPr lang="en-US" altLang="zh-CN" sz="2000" b="1" dirty="0">
                <a:latin typeface="宋体" panose="02010600030101010101" pitchFamily="2" charset="-122"/>
              </a:rPr>
              <a:t>)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239939" name="Text Box 323"/>
          <p:cNvSpPr txBox="1">
            <a:spLocks noChangeArrowheads="1"/>
          </p:cNvSpPr>
          <p:nvPr/>
        </p:nvSpPr>
        <p:spPr bwMode="auto">
          <a:xfrm>
            <a:off x="179388" y="1268760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激光打印机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组成：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latin typeface="宋体" panose="02010600030101010101" pitchFamily="2" charset="-122"/>
              </a:rPr>
              <a:t>由</a:t>
            </a:r>
            <a:r>
              <a:rPr lang="zh-CN" altLang="en-US" b="1" dirty="0">
                <a:latin typeface="宋体" panose="02010600030101010101" pitchFamily="2" charset="-122"/>
              </a:rPr>
              <a:t>激光扫描系统、电子照相系统、打印控制系统组成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827608" y="2276872"/>
            <a:ext cx="7416800" cy="3103895"/>
            <a:chOff x="827608" y="2276872"/>
            <a:chExt cx="7416800" cy="3103895"/>
          </a:xfrm>
        </p:grpSpPr>
        <p:sp>
          <p:nvSpPr>
            <p:cNvPr id="85" name="Rectangle 479"/>
            <p:cNvSpPr>
              <a:spLocks noChangeArrowheads="1"/>
            </p:cNvSpPr>
            <p:nvPr/>
          </p:nvSpPr>
          <p:spPr bwMode="auto">
            <a:xfrm>
              <a:off x="3816077" y="2287113"/>
              <a:ext cx="4428331" cy="799163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6" name="Rectangle 479"/>
            <p:cNvSpPr>
              <a:spLocks noChangeArrowheads="1"/>
            </p:cNvSpPr>
            <p:nvPr/>
          </p:nvSpPr>
          <p:spPr bwMode="auto">
            <a:xfrm>
              <a:off x="1548333" y="3086276"/>
              <a:ext cx="1296988" cy="900113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Rectangle 479"/>
            <p:cNvSpPr>
              <a:spLocks noChangeArrowheads="1"/>
            </p:cNvSpPr>
            <p:nvPr/>
          </p:nvSpPr>
          <p:spPr bwMode="auto">
            <a:xfrm>
              <a:off x="1548333" y="2276872"/>
              <a:ext cx="2267422" cy="810198"/>
            </a:xfrm>
            <a:prstGeom prst="rect">
              <a:avLst/>
            </a:prstGeom>
            <a:solidFill>
              <a:srgbClr val="CCCC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Rectangle 479"/>
            <p:cNvSpPr>
              <a:spLocks noChangeArrowheads="1"/>
            </p:cNvSpPr>
            <p:nvPr/>
          </p:nvSpPr>
          <p:spPr bwMode="auto">
            <a:xfrm>
              <a:off x="6236364" y="3068960"/>
              <a:ext cx="2008044" cy="809483"/>
            </a:xfrm>
            <a:prstGeom prst="rect">
              <a:avLst/>
            </a:prstGeom>
            <a:solidFill>
              <a:srgbClr val="CCFFFF"/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9992" name="Text Box 376"/>
            <p:cNvSpPr txBox="1">
              <a:spLocks noChangeArrowheads="1"/>
            </p:cNvSpPr>
            <p:nvPr/>
          </p:nvSpPr>
          <p:spPr bwMode="auto">
            <a:xfrm>
              <a:off x="827608" y="2941817"/>
              <a:ext cx="361950" cy="165735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打印机控制器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0095" name="Rectangle 479"/>
            <p:cNvSpPr>
              <a:spLocks noChangeArrowheads="1"/>
            </p:cNvSpPr>
            <p:nvPr/>
          </p:nvSpPr>
          <p:spPr bwMode="auto">
            <a:xfrm>
              <a:off x="1548333" y="2294116"/>
              <a:ext cx="6696075" cy="308610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0152" name="Text Box 536"/>
            <p:cNvSpPr txBox="1">
              <a:spLocks noChangeArrowheads="1"/>
            </p:cNvSpPr>
            <p:nvPr/>
          </p:nvSpPr>
          <p:spPr bwMode="auto">
            <a:xfrm>
              <a:off x="2845321" y="2438579"/>
              <a:ext cx="792163" cy="57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字符</a:t>
              </a:r>
              <a:endParaRPr lang="zh-CN" altLang="en-US" sz="1800" b="1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发生器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40154" name="Text Box 538"/>
            <p:cNvSpPr txBox="1">
              <a:spLocks noChangeArrowheads="1"/>
            </p:cNvSpPr>
            <p:nvPr/>
          </p:nvSpPr>
          <p:spPr bwMode="auto">
            <a:xfrm>
              <a:off x="1692796" y="2438579"/>
              <a:ext cx="792163" cy="5762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缓冲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存储器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0155" name="Line 539"/>
            <p:cNvSpPr>
              <a:spLocks noChangeShapeType="1"/>
            </p:cNvSpPr>
            <p:nvPr/>
          </p:nvSpPr>
          <p:spPr bwMode="auto">
            <a:xfrm>
              <a:off x="2483371" y="2725916"/>
              <a:ext cx="360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158" name="Line 542"/>
            <p:cNvSpPr>
              <a:spLocks noChangeShapeType="1"/>
            </p:cNvSpPr>
            <p:nvPr/>
          </p:nvSpPr>
          <p:spPr bwMode="auto">
            <a:xfrm>
              <a:off x="1189558" y="3446642"/>
              <a:ext cx="504825" cy="0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159" name="Line 543"/>
            <p:cNvSpPr>
              <a:spLocks noChangeShapeType="1"/>
            </p:cNvSpPr>
            <p:nvPr/>
          </p:nvSpPr>
          <p:spPr bwMode="auto">
            <a:xfrm>
              <a:off x="1189558" y="3589517"/>
              <a:ext cx="504825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160" name="Line 544"/>
            <p:cNvSpPr>
              <a:spLocks noChangeShapeType="1"/>
            </p:cNvSpPr>
            <p:nvPr/>
          </p:nvSpPr>
          <p:spPr bwMode="auto">
            <a:xfrm flipH="1">
              <a:off x="1189558" y="3805417"/>
              <a:ext cx="501650" cy="1588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161" name="Text Box 545"/>
            <p:cNvSpPr txBox="1">
              <a:spLocks noChangeArrowheads="1"/>
            </p:cNvSpPr>
            <p:nvPr/>
          </p:nvSpPr>
          <p:spPr bwMode="auto">
            <a:xfrm>
              <a:off x="1692796" y="3300592"/>
              <a:ext cx="1008063" cy="57785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设备接口电路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Line 539"/>
            <p:cNvSpPr>
              <a:spLocks noChangeShapeType="1"/>
            </p:cNvSpPr>
            <p:nvPr/>
          </p:nvSpPr>
          <p:spPr bwMode="auto">
            <a:xfrm flipV="1">
              <a:off x="2088878" y="3002553"/>
              <a:ext cx="0" cy="29009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组合 19"/>
            <p:cNvGrpSpPr/>
            <p:nvPr/>
          </p:nvGrpSpPr>
          <p:grpSpPr>
            <a:xfrm>
              <a:off x="3635896" y="2438576"/>
              <a:ext cx="4573588" cy="1512888"/>
              <a:chOff x="3635896" y="2359017"/>
              <a:chExt cx="4573588" cy="1512888"/>
            </a:xfrm>
          </p:grpSpPr>
          <p:sp>
            <p:nvSpPr>
              <p:cNvPr id="240204" name="Text Box 588"/>
              <p:cNvSpPr txBox="1">
                <a:spLocks noChangeArrowheads="1"/>
              </p:cNvSpPr>
              <p:nvPr/>
            </p:nvSpPr>
            <p:spPr bwMode="auto">
              <a:xfrm>
                <a:off x="3997846" y="2359017"/>
                <a:ext cx="792163" cy="57626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800" b="1" dirty="0">
                    <a:latin typeface="宋体" panose="02010600030101010101" pitchFamily="2" charset="-122"/>
                  </a:rPr>
                  <a:t>光调制驱动器</a:t>
                </a:r>
                <a:endParaRPr lang="zh-CN" altLang="en-US" sz="18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205" name="Text Box 589"/>
              <p:cNvSpPr txBox="1">
                <a:spLocks noChangeArrowheads="1"/>
              </p:cNvSpPr>
              <p:nvPr/>
            </p:nvSpPr>
            <p:spPr bwMode="auto">
              <a:xfrm>
                <a:off x="5148784" y="2359017"/>
                <a:ext cx="792163" cy="576263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zh-CN" altLang="en-US" sz="1800" b="1">
                    <a:latin typeface="宋体" panose="02010600030101010101" pitchFamily="2" charset="-122"/>
                  </a:rPr>
                  <a:t>激光器</a:t>
                </a:r>
                <a:endParaRPr lang="zh-CN" altLang="en-US" sz="18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206" name="Rectangle 590"/>
              <p:cNvSpPr>
                <a:spLocks noChangeArrowheads="1"/>
              </p:cNvSpPr>
              <p:nvPr/>
            </p:nvSpPr>
            <p:spPr bwMode="auto">
              <a:xfrm rot="19500000">
                <a:off x="6372746" y="3341680"/>
                <a:ext cx="352425" cy="14605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207" name="Rectangle 591"/>
              <p:cNvSpPr>
                <a:spLocks noChangeArrowheads="1"/>
              </p:cNvSpPr>
              <p:nvPr/>
            </p:nvSpPr>
            <p:spPr bwMode="auto">
              <a:xfrm rot="1020000">
                <a:off x="6287021" y="2733667"/>
                <a:ext cx="360363" cy="13970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208" name="Line 592"/>
              <p:cNvSpPr>
                <a:spLocks noChangeShapeType="1"/>
              </p:cNvSpPr>
              <p:nvPr/>
            </p:nvSpPr>
            <p:spPr bwMode="auto">
              <a:xfrm>
                <a:off x="5942534" y="2660642"/>
                <a:ext cx="358775" cy="100013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09" name="Line 593"/>
              <p:cNvSpPr>
                <a:spLocks noChangeShapeType="1"/>
              </p:cNvSpPr>
              <p:nvPr/>
            </p:nvSpPr>
            <p:spPr bwMode="auto">
              <a:xfrm>
                <a:off x="6661671" y="2863842"/>
                <a:ext cx="504825" cy="142875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0" name="Line 594"/>
              <p:cNvSpPr>
                <a:spLocks noChangeShapeType="1"/>
              </p:cNvSpPr>
              <p:nvPr/>
            </p:nvSpPr>
            <p:spPr bwMode="auto">
              <a:xfrm flipH="1">
                <a:off x="6706121" y="3006717"/>
                <a:ext cx="460375" cy="327025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1" name="Text Box 595"/>
              <p:cNvSpPr txBox="1">
                <a:spLocks noChangeArrowheads="1"/>
              </p:cNvSpPr>
              <p:nvPr/>
            </p:nvSpPr>
            <p:spPr bwMode="auto">
              <a:xfrm>
                <a:off x="7741171" y="2708267"/>
                <a:ext cx="468313" cy="50482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zh-CN" altLang="en-US" sz="1600" b="1" dirty="0" smtClean="0">
                    <a:latin typeface="宋体" panose="02010600030101010101" pitchFamily="2" charset="-122"/>
                  </a:rPr>
                  <a:t>多</a:t>
                </a:r>
                <a:r>
                  <a:rPr lang="zh-CN" altLang="en-US" sz="1600" b="1" dirty="0">
                    <a:latin typeface="宋体" panose="02010600030101010101" pitchFamily="2" charset="-122"/>
                  </a:rPr>
                  <a:t>面转镜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212" name="Rectangle 596"/>
              <p:cNvSpPr>
                <a:spLocks noChangeArrowheads="1"/>
              </p:cNvSpPr>
              <p:nvPr/>
            </p:nvSpPr>
            <p:spPr bwMode="auto">
              <a:xfrm>
                <a:off x="7239521" y="2863842"/>
                <a:ext cx="215900" cy="431800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213" name="Line 597"/>
              <p:cNvSpPr>
                <a:spLocks noChangeShapeType="1"/>
              </p:cNvSpPr>
              <p:nvPr/>
            </p:nvSpPr>
            <p:spPr bwMode="auto">
              <a:xfrm flipV="1">
                <a:off x="7166496" y="2647942"/>
                <a:ext cx="215900" cy="1444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4" name="Line 598"/>
              <p:cNvSpPr>
                <a:spLocks noChangeShapeType="1"/>
              </p:cNvSpPr>
              <p:nvPr/>
            </p:nvSpPr>
            <p:spPr bwMode="auto">
              <a:xfrm>
                <a:off x="7166496" y="2790817"/>
                <a:ext cx="73025" cy="730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5" name="Line 599"/>
              <p:cNvSpPr>
                <a:spLocks noChangeShapeType="1"/>
              </p:cNvSpPr>
              <p:nvPr/>
            </p:nvSpPr>
            <p:spPr bwMode="auto">
              <a:xfrm flipV="1">
                <a:off x="7166496" y="2790817"/>
                <a:ext cx="0" cy="4333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6" name="Line 600"/>
              <p:cNvSpPr>
                <a:spLocks noChangeShapeType="1"/>
              </p:cNvSpPr>
              <p:nvPr/>
            </p:nvSpPr>
            <p:spPr bwMode="auto">
              <a:xfrm>
                <a:off x="7382396" y="2647942"/>
                <a:ext cx="2159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7" name="Line 601"/>
              <p:cNvSpPr>
                <a:spLocks noChangeShapeType="1"/>
              </p:cNvSpPr>
              <p:nvPr/>
            </p:nvSpPr>
            <p:spPr bwMode="auto">
              <a:xfrm>
                <a:off x="7598296" y="2647942"/>
                <a:ext cx="73025" cy="7143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8" name="Line 602"/>
              <p:cNvSpPr>
                <a:spLocks noChangeShapeType="1"/>
              </p:cNvSpPr>
              <p:nvPr/>
            </p:nvSpPr>
            <p:spPr bwMode="auto">
              <a:xfrm flipV="1">
                <a:off x="7455421" y="2719380"/>
                <a:ext cx="215900" cy="1444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19" name="Line 603"/>
              <p:cNvSpPr>
                <a:spLocks noChangeShapeType="1"/>
              </p:cNvSpPr>
              <p:nvPr/>
            </p:nvSpPr>
            <p:spPr bwMode="auto">
              <a:xfrm flipV="1">
                <a:off x="7455421" y="3151180"/>
                <a:ext cx="215900" cy="1444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0" name="Line 604"/>
              <p:cNvSpPr>
                <a:spLocks noChangeShapeType="1"/>
              </p:cNvSpPr>
              <p:nvPr/>
            </p:nvSpPr>
            <p:spPr bwMode="auto">
              <a:xfrm>
                <a:off x="7166496" y="3222617"/>
                <a:ext cx="73025" cy="730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1" name="Line 605"/>
              <p:cNvSpPr>
                <a:spLocks noChangeShapeType="1"/>
              </p:cNvSpPr>
              <p:nvPr/>
            </p:nvSpPr>
            <p:spPr bwMode="auto">
              <a:xfrm flipV="1">
                <a:off x="7671321" y="2719380"/>
                <a:ext cx="0" cy="4333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2" name="Arc 606"/>
              <p:cNvSpPr/>
              <p:nvPr/>
            </p:nvSpPr>
            <p:spPr bwMode="auto">
              <a:xfrm>
                <a:off x="7237934" y="2420930"/>
                <a:ext cx="433388" cy="207963"/>
              </a:xfrm>
              <a:custGeom>
                <a:avLst/>
                <a:gdLst>
                  <a:gd name="G0" fmla="+- 21574 0 0"/>
                  <a:gd name="G1" fmla="+- 21600 0 0"/>
                  <a:gd name="G2" fmla="+- 21600 0 0"/>
                  <a:gd name="T0" fmla="*/ 0 w 43174"/>
                  <a:gd name="T1" fmla="*/ 20531 h 35231"/>
                  <a:gd name="T2" fmla="*/ 38329 w 43174"/>
                  <a:gd name="T3" fmla="*/ 35231 h 35231"/>
                  <a:gd name="T4" fmla="*/ 21574 w 43174"/>
                  <a:gd name="T5" fmla="*/ 21600 h 35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74" h="35231" fill="none" extrusionOk="0">
                    <a:moveTo>
                      <a:pt x="0" y="20531"/>
                    </a:moveTo>
                    <a:cubicBezTo>
                      <a:pt x="570" y="9031"/>
                      <a:pt x="10060" y="-1"/>
                      <a:pt x="21574" y="0"/>
                    </a:cubicBezTo>
                    <a:cubicBezTo>
                      <a:pt x="33503" y="0"/>
                      <a:pt x="43174" y="9670"/>
                      <a:pt x="43174" y="21600"/>
                    </a:cubicBezTo>
                    <a:cubicBezTo>
                      <a:pt x="43174" y="26565"/>
                      <a:pt x="41463" y="31379"/>
                      <a:pt x="38329" y="35231"/>
                    </a:cubicBezTo>
                  </a:path>
                  <a:path w="43174" h="35231" stroke="0" extrusionOk="0">
                    <a:moveTo>
                      <a:pt x="0" y="20531"/>
                    </a:moveTo>
                    <a:cubicBezTo>
                      <a:pt x="570" y="9031"/>
                      <a:pt x="10060" y="-1"/>
                      <a:pt x="21574" y="0"/>
                    </a:cubicBezTo>
                    <a:cubicBezTo>
                      <a:pt x="33503" y="0"/>
                      <a:pt x="43174" y="9670"/>
                      <a:pt x="43174" y="21600"/>
                    </a:cubicBezTo>
                    <a:cubicBezTo>
                      <a:pt x="43174" y="26565"/>
                      <a:pt x="41463" y="31379"/>
                      <a:pt x="38329" y="35231"/>
                    </a:cubicBezTo>
                    <a:lnTo>
                      <a:pt x="21574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223" name="Line 607"/>
              <p:cNvSpPr>
                <a:spLocks noChangeShapeType="1"/>
              </p:cNvSpPr>
              <p:nvPr/>
            </p:nvSpPr>
            <p:spPr bwMode="auto">
              <a:xfrm flipH="1">
                <a:off x="5869509" y="3530592"/>
                <a:ext cx="533400" cy="341313"/>
              </a:xfrm>
              <a:prstGeom prst="line">
                <a:avLst/>
              </a:prstGeom>
              <a:noFill/>
              <a:ln w="19050">
                <a:solidFill>
                  <a:srgbClr val="CC3300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4" name="Line 608"/>
              <p:cNvSpPr>
                <a:spLocks noChangeShapeType="1"/>
              </p:cNvSpPr>
              <p:nvPr/>
            </p:nvSpPr>
            <p:spPr bwMode="auto">
              <a:xfrm>
                <a:off x="4788421" y="2646355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5" name="Line 609"/>
              <p:cNvSpPr>
                <a:spLocks noChangeShapeType="1"/>
              </p:cNvSpPr>
              <p:nvPr/>
            </p:nvSpPr>
            <p:spPr bwMode="auto">
              <a:xfrm>
                <a:off x="3635896" y="2646355"/>
                <a:ext cx="36036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226" name="Text Box 610"/>
              <p:cNvSpPr txBox="1">
                <a:spLocks noChangeArrowheads="1"/>
              </p:cNvSpPr>
              <p:nvPr/>
            </p:nvSpPr>
            <p:spPr bwMode="auto">
              <a:xfrm>
                <a:off x="6517209" y="3511542"/>
                <a:ext cx="720725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聚焦镜</a:t>
                </a:r>
                <a:endParaRPr lang="zh-CN" altLang="en-US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227" name="Text Box 611"/>
              <p:cNvSpPr txBox="1">
                <a:spLocks noChangeArrowheads="1"/>
              </p:cNvSpPr>
              <p:nvPr/>
            </p:nvSpPr>
            <p:spPr bwMode="auto">
              <a:xfrm>
                <a:off x="6301309" y="2430455"/>
                <a:ext cx="504825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透镜</a:t>
                </a:r>
                <a:endParaRPr lang="zh-CN" altLang="en-US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4" name="椭圆 3"/>
              <p:cNvSpPr/>
              <p:nvPr/>
            </p:nvSpPr>
            <p:spPr bwMode="auto">
              <a:xfrm>
                <a:off x="7355346" y="2564904"/>
                <a:ext cx="168982" cy="106760"/>
              </a:xfrm>
              <a:prstGeom prst="ellipse">
                <a:avLst/>
              </a:prstGeom>
              <a:solidFill>
                <a:schemeClr val="bg1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6" name="直接连接符 5"/>
              <p:cNvCxnSpPr>
                <a:stCxn id="4" idx="2"/>
              </p:cNvCxnSpPr>
              <p:nvPr/>
            </p:nvCxnSpPr>
            <p:spPr bwMode="auto">
              <a:xfrm>
                <a:off x="7355346" y="2618284"/>
                <a:ext cx="1" cy="13829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直接连接符 78"/>
              <p:cNvCxnSpPr>
                <a:stCxn id="4" idx="6"/>
              </p:cNvCxnSpPr>
              <p:nvPr/>
            </p:nvCxnSpPr>
            <p:spPr bwMode="auto">
              <a:xfrm>
                <a:off x="7524328" y="2618284"/>
                <a:ext cx="0" cy="116688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81" name="椭圆 80"/>
              <p:cNvSpPr/>
              <p:nvPr/>
            </p:nvSpPr>
            <p:spPr bwMode="auto">
              <a:xfrm>
                <a:off x="7355346" y="3356992"/>
                <a:ext cx="168982" cy="106760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cxnSp>
            <p:nvCxnSpPr>
              <p:cNvPr id="82" name="直接连接符 81"/>
              <p:cNvCxnSpPr>
                <a:endCxn id="81" idx="2"/>
              </p:cNvCxnSpPr>
              <p:nvPr/>
            </p:nvCxnSpPr>
            <p:spPr bwMode="auto">
              <a:xfrm>
                <a:off x="7355346" y="3294992"/>
                <a:ext cx="0" cy="115380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3" name="直接连接符 82"/>
              <p:cNvCxnSpPr>
                <a:endCxn id="81" idx="6"/>
              </p:cNvCxnSpPr>
              <p:nvPr/>
            </p:nvCxnSpPr>
            <p:spPr bwMode="auto">
              <a:xfrm>
                <a:off x="7524328" y="3242849"/>
                <a:ext cx="0" cy="167523"/>
              </a:xfrm>
              <a:prstGeom prst="line">
                <a:avLst/>
              </a:prstGeom>
              <a:noFill/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5" name="Text Box 595"/>
              <p:cNvSpPr txBox="1">
                <a:spLocks noChangeArrowheads="1"/>
              </p:cNvSpPr>
              <p:nvPr/>
            </p:nvSpPr>
            <p:spPr bwMode="auto">
              <a:xfrm>
                <a:off x="7308304" y="3478534"/>
                <a:ext cx="863734" cy="238498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r>
                  <a:rPr lang="zh-CN" altLang="en-US" sz="1600" b="1" dirty="0" smtClean="0">
                    <a:latin typeface="宋体" panose="02010600030101010101" pitchFamily="2" charset="-122"/>
                  </a:rPr>
                  <a:t>扫描电机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2267471" y="3159301"/>
              <a:ext cx="5905500" cy="2221466"/>
              <a:chOff x="2267471" y="3079742"/>
              <a:chExt cx="5905500" cy="2221466"/>
            </a:xfrm>
          </p:grpSpPr>
          <p:sp>
            <p:nvSpPr>
              <p:cNvPr id="240172" name="Oval 556"/>
              <p:cNvSpPr>
                <a:spLocks noChangeArrowheads="1"/>
              </p:cNvSpPr>
              <p:nvPr/>
            </p:nvSpPr>
            <p:spPr bwMode="auto">
              <a:xfrm>
                <a:off x="4429646" y="3582980"/>
                <a:ext cx="1511300" cy="1223963"/>
              </a:xfrm>
              <a:prstGeom prst="ellipse">
                <a:avLst/>
              </a:prstGeom>
              <a:solidFill>
                <a:srgbClr val="CCFFFF">
                  <a:alpha val="60001"/>
                </a:srgb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73" name="Text Box 557"/>
              <p:cNvSpPr txBox="1">
                <a:spLocks noChangeArrowheads="1"/>
              </p:cNvSpPr>
              <p:nvPr/>
            </p:nvSpPr>
            <p:spPr bwMode="auto">
              <a:xfrm>
                <a:off x="4790009" y="4087805"/>
                <a:ext cx="8636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感光硒鼓</a:t>
                </a:r>
                <a:endParaRPr lang="zh-CN" altLang="en-US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174" name="Rectangle 558"/>
              <p:cNvSpPr>
                <a:spLocks noChangeArrowheads="1"/>
              </p:cNvSpPr>
              <p:nvPr/>
            </p:nvSpPr>
            <p:spPr bwMode="auto">
              <a:xfrm rot="21300000">
                <a:off x="6012384" y="4014780"/>
                <a:ext cx="288925" cy="215900"/>
              </a:xfrm>
              <a:prstGeom prst="rect">
                <a:avLst/>
              </a:prstGeom>
              <a:solidFill>
                <a:srgbClr val="CC99FF">
                  <a:alpha val="70000"/>
                </a:srgbClr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75" name="Text Box 559"/>
              <p:cNvSpPr txBox="1">
                <a:spLocks noChangeArrowheads="1"/>
              </p:cNvSpPr>
              <p:nvPr/>
            </p:nvSpPr>
            <p:spPr bwMode="auto">
              <a:xfrm>
                <a:off x="6372746" y="3941755"/>
                <a:ext cx="1585913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显影器</a:t>
                </a:r>
                <a:r>
                  <a:rPr lang="en-US" altLang="zh-CN" sz="1600" b="1">
                    <a:latin typeface="宋体" panose="02010600030101010101" pitchFamily="2" charset="-122"/>
                  </a:rPr>
                  <a:t>(</a:t>
                </a:r>
                <a:r>
                  <a:rPr lang="zh-CN" altLang="en-US" sz="1600" b="1">
                    <a:latin typeface="宋体" panose="02010600030101010101" pitchFamily="2" charset="-122"/>
                  </a:rPr>
                  <a:t>含炭粉盒</a:t>
                </a:r>
                <a:r>
                  <a:rPr lang="en-US" altLang="zh-CN" sz="1600" b="1">
                    <a:latin typeface="宋体" panose="02010600030101010101" pitchFamily="2" charset="-122"/>
                  </a:rPr>
                  <a:t>)</a:t>
                </a:r>
                <a:endParaRPr lang="en-US" altLang="zh-CN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176" name="Rectangle 560"/>
              <p:cNvSpPr>
                <a:spLocks noChangeArrowheads="1"/>
              </p:cNvSpPr>
              <p:nvPr/>
            </p:nvSpPr>
            <p:spPr bwMode="auto">
              <a:xfrm rot="1200000">
                <a:off x="5364684" y="3367080"/>
                <a:ext cx="288925" cy="215900"/>
              </a:xfrm>
              <a:prstGeom prst="rect">
                <a:avLst/>
              </a:prstGeom>
              <a:solidFill>
                <a:srgbClr val="FFCC99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77" name="Text Box 561"/>
              <p:cNvSpPr txBox="1">
                <a:spLocks noChangeArrowheads="1"/>
              </p:cNvSpPr>
              <p:nvPr/>
            </p:nvSpPr>
            <p:spPr bwMode="auto">
              <a:xfrm>
                <a:off x="5077346" y="3079742"/>
                <a:ext cx="865188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充电电晕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178" name="Rectangle 562"/>
              <p:cNvSpPr>
                <a:spLocks noChangeArrowheads="1"/>
              </p:cNvSpPr>
              <p:nvPr/>
            </p:nvSpPr>
            <p:spPr bwMode="auto">
              <a:xfrm rot="19200000">
                <a:off x="4356621" y="3467092"/>
                <a:ext cx="288925" cy="215900"/>
              </a:xfrm>
              <a:prstGeom prst="rect">
                <a:avLst/>
              </a:prstGeom>
              <a:solidFill>
                <a:srgbClr val="99CCFF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79" name="Text Box 563"/>
              <p:cNvSpPr txBox="1">
                <a:spLocks noChangeArrowheads="1"/>
              </p:cNvSpPr>
              <p:nvPr/>
            </p:nvSpPr>
            <p:spPr bwMode="auto">
              <a:xfrm>
                <a:off x="3708921" y="3295642"/>
                <a:ext cx="720725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清扫刷</a:t>
                </a:r>
                <a:endParaRPr lang="zh-CN" altLang="en-US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180" name="Rectangle 564"/>
              <p:cNvSpPr>
                <a:spLocks noChangeArrowheads="1"/>
              </p:cNvSpPr>
              <p:nvPr/>
            </p:nvSpPr>
            <p:spPr bwMode="auto">
              <a:xfrm>
                <a:off x="4067696" y="4087805"/>
                <a:ext cx="288925" cy="215900"/>
              </a:xfrm>
              <a:prstGeom prst="rect">
                <a:avLst/>
              </a:prstGeom>
              <a:solidFill>
                <a:srgbClr val="FFCC99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81" name="Text Box 565"/>
              <p:cNvSpPr txBox="1">
                <a:spLocks noChangeArrowheads="1"/>
              </p:cNvSpPr>
              <p:nvPr/>
            </p:nvSpPr>
            <p:spPr bwMode="auto">
              <a:xfrm>
                <a:off x="3132659" y="4014780"/>
                <a:ext cx="865188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>
                    <a:latin typeface="宋体" panose="02010600030101010101" pitchFamily="2" charset="-122"/>
                  </a:rPr>
                  <a:t>消电电晕</a:t>
                </a:r>
                <a:endParaRPr lang="zh-CN" altLang="en-US" sz="1600" b="1">
                  <a:latin typeface="宋体" panose="02010600030101010101" pitchFamily="2" charset="-122"/>
                </a:endParaRPr>
              </a:p>
            </p:txBody>
          </p:sp>
          <p:sp>
            <p:nvSpPr>
              <p:cNvPr id="240182" name="Line 566"/>
              <p:cNvSpPr>
                <a:spLocks noChangeShapeType="1"/>
              </p:cNvSpPr>
              <p:nvPr/>
            </p:nvSpPr>
            <p:spPr bwMode="auto">
              <a:xfrm>
                <a:off x="4501084" y="3725855"/>
                <a:ext cx="73025" cy="730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183" name="Line 567"/>
              <p:cNvSpPr>
                <a:spLocks noChangeShapeType="1"/>
              </p:cNvSpPr>
              <p:nvPr/>
            </p:nvSpPr>
            <p:spPr bwMode="auto">
              <a:xfrm>
                <a:off x="4574109" y="3654417"/>
                <a:ext cx="73025" cy="730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184" name="Line 568"/>
              <p:cNvSpPr>
                <a:spLocks noChangeShapeType="1"/>
              </p:cNvSpPr>
              <p:nvPr/>
            </p:nvSpPr>
            <p:spPr bwMode="auto">
              <a:xfrm>
                <a:off x="4645546" y="3582980"/>
                <a:ext cx="73025" cy="730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185" name="Arc 569"/>
              <p:cNvSpPr/>
              <p:nvPr/>
            </p:nvSpPr>
            <p:spPr bwMode="auto">
              <a:xfrm>
                <a:off x="5364684" y="3798880"/>
                <a:ext cx="288925" cy="21590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86" name="Line 570"/>
              <p:cNvSpPr>
                <a:spLocks noChangeShapeType="1"/>
              </p:cNvSpPr>
              <p:nvPr/>
            </p:nvSpPr>
            <p:spPr bwMode="auto">
              <a:xfrm>
                <a:off x="5723459" y="4664067"/>
                <a:ext cx="1801813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187" name="Line 571"/>
              <p:cNvSpPr>
                <a:spLocks noChangeShapeType="1"/>
              </p:cNvSpPr>
              <p:nvPr/>
            </p:nvSpPr>
            <p:spPr bwMode="auto">
              <a:xfrm>
                <a:off x="2988196" y="4664067"/>
                <a:ext cx="1657350" cy="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0188" name="Arc 572"/>
              <p:cNvSpPr/>
              <p:nvPr/>
            </p:nvSpPr>
            <p:spPr bwMode="auto">
              <a:xfrm flipV="1">
                <a:off x="4643959" y="4508492"/>
                <a:ext cx="1081088" cy="342900"/>
              </a:xfrm>
              <a:custGeom>
                <a:avLst/>
                <a:gdLst>
                  <a:gd name="G0" fmla="+- 18806 0 0"/>
                  <a:gd name="G1" fmla="+- 21600 0 0"/>
                  <a:gd name="G2" fmla="+- 21600 0 0"/>
                  <a:gd name="T0" fmla="*/ 0 w 38060"/>
                  <a:gd name="T1" fmla="*/ 10975 h 21600"/>
                  <a:gd name="T2" fmla="*/ 38060 w 38060"/>
                  <a:gd name="T3" fmla="*/ 11810 h 21600"/>
                  <a:gd name="T4" fmla="*/ 18806 w 3806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060" h="21600" fill="none" extrusionOk="0">
                    <a:moveTo>
                      <a:pt x="-1" y="10974"/>
                    </a:moveTo>
                    <a:cubicBezTo>
                      <a:pt x="3831" y="4193"/>
                      <a:pt x="11017" y="-1"/>
                      <a:pt x="18806" y="0"/>
                    </a:cubicBezTo>
                    <a:cubicBezTo>
                      <a:pt x="26934" y="0"/>
                      <a:pt x="34375" y="4563"/>
                      <a:pt x="38059" y="11810"/>
                    </a:cubicBezTo>
                  </a:path>
                  <a:path w="38060" h="21600" stroke="0" extrusionOk="0">
                    <a:moveTo>
                      <a:pt x="-1" y="10974"/>
                    </a:moveTo>
                    <a:cubicBezTo>
                      <a:pt x="3831" y="4193"/>
                      <a:pt x="11017" y="-1"/>
                      <a:pt x="18806" y="0"/>
                    </a:cubicBezTo>
                    <a:cubicBezTo>
                      <a:pt x="26934" y="0"/>
                      <a:pt x="34375" y="4563"/>
                      <a:pt x="38059" y="11810"/>
                    </a:cubicBezTo>
                    <a:lnTo>
                      <a:pt x="18806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89" name="Oval 573"/>
              <p:cNvSpPr>
                <a:spLocks noChangeArrowheads="1"/>
              </p:cNvSpPr>
              <p:nvPr/>
            </p:nvSpPr>
            <p:spPr bwMode="auto">
              <a:xfrm>
                <a:off x="5867921" y="4519605"/>
                <a:ext cx="144463" cy="144463"/>
              </a:xfrm>
              <a:prstGeom prst="ellipse">
                <a:avLst/>
              </a:prstGeom>
              <a:solidFill>
                <a:schemeClr val="tx1">
                  <a:alpha val="80000"/>
                </a:scheme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0" name="Oval 574"/>
              <p:cNvSpPr>
                <a:spLocks noChangeArrowheads="1"/>
              </p:cNvSpPr>
              <p:nvPr/>
            </p:nvSpPr>
            <p:spPr bwMode="auto">
              <a:xfrm>
                <a:off x="6660084" y="4664067"/>
                <a:ext cx="144463" cy="144463"/>
              </a:xfrm>
              <a:prstGeom prst="ellipse">
                <a:avLst/>
              </a:prstGeom>
              <a:solidFill>
                <a:schemeClr val="tx1">
                  <a:alpha val="80000"/>
                </a:scheme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1" name="Oval 575"/>
              <p:cNvSpPr>
                <a:spLocks noChangeArrowheads="1"/>
              </p:cNvSpPr>
              <p:nvPr/>
            </p:nvSpPr>
            <p:spPr bwMode="auto">
              <a:xfrm>
                <a:off x="6660084" y="4519605"/>
                <a:ext cx="144463" cy="144463"/>
              </a:xfrm>
              <a:prstGeom prst="ellipse">
                <a:avLst/>
              </a:prstGeom>
              <a:solidFill>
                <a:schemeClr val="tx1">
                  <a:alpha val="80000"/>
                </a:scheme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2" name="Oval 576"/>
              <p:cNvSpPr>
                <a:spLocks noChangeArrowheads="1"/>
              </p:cNvSpPr>
              <p:nvPr/>
            </p:nvSpPr>
            <p:spPr bwMode="auto">
              <a:xfrm>
                <a:off x="7236346" y="4519605"/>
                <a:ext cx="144463" cy="144463"/>
              </a:xfrm>
              <a:prstGeom prst="ellipse">
                <a:avLst/>
              </a:prstGeom>
              <a:solidFill>
                <a:schemeClr val="tx1">
                  <a:alpha val="80000"/>
                </a:scheme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3" name="Oval 577"/>
              <p:cNvSpPr>
                <a:spLocks noChangeArrowheads="1"/>
              </p:cNvSpPr>
              <p:nvPr/>
            </p:nvSpPr>
            <p:spPr bwMode="auto">
              <a:xfrm>
                <a:off x="4283596" y="4664067"/>
                <a:ext cx="144463" cy="144463"/>
              </a:xfrm>
              <a:prstGeom prst="ellipse">
                <a:avLst/>
              </a:prstGeom>
              <a:solidFill>
                <a:srgbClr val="800000">
                  <a:alpha val="80000"/>
                </a:srgb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4" name="Oval 578"/>
              <p:cNvSpPr>
                <a:spLocks noChangeArrowheads="1"/>
              </p:cNvSpPr>
              <p:nvPr/>
            </p:nvSpPr>
            <p:spPr bwMode="auto">
              <a:xfrm>
                <a:off x="4283596" y="4519605"/>
                <a:ext cx="144463" cy="144463"/>
              </a:xfrm>
              <a:prstGeom prst="ellipse">
                <a:avLst/>
              </a:prstGeom>
              <a:solidFill>
                <a:srgbClr val="800000">
                  <a:alpha val="80000"/>
                </a:srgbClr>
              </a:solidFill>
              <a:ln w="19050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0195" name="AutoShape 579" descr="浅色横线"/>
              <p:cNvSpPr>
                <a:spLocks noChangeArrowheads="1"/>
              </p:cNvSpPr>
              <p:nvPr/>
            </p:nvSpPr>
            <p:spPr bwMode="auto">
              <a:xfrm>
                <a:off x="2267471" y="4664067"/>
                <a:ext cx="863600" cy="287338"/>
              </a:xfrm>
              <a:custGeom>
                <a:avLst/>
                <a:gdLst>
                  <a:gd name="G0" fmla="+- 3426 0 0"/>
                  <a:gd name="G1" fmla="+- 21600 0 3426"/>
                  <a:gd name="G2" fmla="*/ 3426 1 2"/>
                  <a:gd name="G3" fmla="+- 21600 0 G2"/>
                  <a:gd name="G4" fmla="+/ 3426 21600 2"/>
                  <a:gd name="G5" fmla="+/ G1 0 2"/>
                  <a:gd name="G6" fmla="*/ 21600 21600 3426"/>
                  <a:gd name="G7" fmla="*/ G6 1 2"/>
                  <a:gd name="G8" fmla="+- 21600 0 G7"/>
                  <a:gd name="G9" fmla="*/ 21600 1 2"/>
                  <a:gd name="G10" fmla="+- 3426 0 G9"/>
                  <a:gd name="G11" fmla="?: G10 G8 0"/>
                  <a:gd name="G12" fmla="?: G10 G7 21600"/>
                  <a:gd name="T0" fmla="*/ 19887 w 21600"/>
                  <a:gd name="T1" fmla="*/ 10800 h 21600"/>
                  <a:gd name="T2" fmla="*/ 10800 w 21600"/>
                  <a:gd name="T3" fmla="*/ 21600 h 21600"/>
                  <a:gd name="T4" fmla="*/ 1713 w 21600"/>
                  <a:gd name="T5" fmla="*/ 10800 h 21600"/>
                  <a:gd name="T6" fmla="*/ 10800 w 21600"/>
                  <a:gd name="T7" fmla="*/ 0 h 21600"/>
                  <a:gd name="T8" fmla="*/ 3513 w 21600"/>
                  <a:gd name="T9" fmla="*/ 3513 h 21600"/>
                  <a:gd name="T10" fmla="*/ 18087 w 21600"/>
                  <a:gd name="T11" fmla="*/ 1808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426" y="21600"/>
                    </a:lnTo>
                    <a:lnTo>
                      <a:pt x="1817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pattFill prst="ltHorz">
                <a:fgClr>
                  <a:srgbClr val="FFCC99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zh-CN" altLang="en-US" sz="1600" b="1" dirty="0"/>
                  <a:t>收</a:t>
                </a:r>
                <a:r>
                  <a:rPr lang="zh-CN" altLang="en-US" sz="1600" b="1" dirty="0" smtClean="0"/>
                  <a:t>纸盒</a:t>
                </a:r>
                <a:endParaRPr lang="zh-CN" altLang="en-US" sz="1600" b="1" dirty="0"/>
              </a:p>
            </p:txBody>
          </p:sp>
          <p:sp>
            <p:nvSpPr>
              <p:cNvPr id="240197" name="AutoShape 581" descr="浅色横线"/>
              <p:cNvSpPr>
                <a:spLocks noChangeArrowheads="1"/>
              </p:cNvSpPr>
              <p:nvPr/>
            </p:nvSpPr>
            <p:spPr bwMode="auto">
              <a:xfrm>
                <a:off x="7309371" y="4664067"/>
                <a:ext cx="863600" cy="287338"/>
              </a:xfrm>
              <a:custGeom>
                <a:avLst/>
                <a:gdLst>
                  <a:gd name="G0" fmla="+- 3426 0 0"/>
                  <a:gd name="G1" fmla="+- 21600 0 3426"/>
                  <a:gd name="G2" fmla="*/ 3426 1 2"/>
                  <a:gd name="G3" fmla="+- 21600 0 G2"/>
                  <a:gd name="G4" fmla="+/ 3426 21600 2"/>
                  <a:gd name="G5" fmla="+/ G1 0 2"/>
                  <a:gd name="G6" fmla="*/ 21600 21600 3426"/>
                  <a:gd name="G7" fmla="*/ G6 1 2"/>
                  <a:gd name="G8" fmla="+- 21600 0 G7"/>
                  <a:gd name="G9" fmla="*/ 21600 1 2"/>
                  <a:gd name="G10" fmla="+- 3426 0 G9"/>
                  <a:gd name="G11" fmla="?: G10 G8 0"/>
                  <a:gd name="G12" fmla="?: G10 G7 21600"/>
                  <a:gd name="T0" fmla="*/ 19887 w 21600"/>
                  <a:gd name="T1" fmla="*/ 10800 h 21600"/>
                  <a:gd name="T2" fmla="*/ 10800 w 21600"/>
                  <a:gd name="T3" fmla="*/ 21600 h 21600"/>
                  <a:gd name="T4" fmla="*/ 1713 w 21600"/>
                  <a:gd name="T5" fmla="*/ 10800 h 21600"/>
                  <a:gd name="T6" fmla="*/ 10800 w 21600"/>
                  <a:gd name="T7" fmla="*/ 0 h 21600"/>
                  <a:gd name="T8" fmla="*/ 3513 w 21600"/>
                  <a:gd name="T9" fmla="*/ 3513 h 21600"/>
                  <a:gd name="T10" fmla="*/ 18087 w 21600"/>
                  <a:gd name="T11" fmla="*/ 18087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T8" t="T9" r="T10" b="T11"/>
                <a:pathLst>
                  <a:path w="21600" h="21600">
                    <a:moveTo>
                      <a:pt x="0" y="0"/>
                    </a:moveTo>
                    <a:lnTo>
                      <a:pt x="3426" y="21600"/>
                    </a:lnTo>
                    <a:lnTo>
                      <a:pt x="18174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pattFill prst="ltHorz">
                <a:fgClr>
                  <a:srgbClr val="FFCC99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r>
                  <a:rPr lang="zh-CN" altLang="en-US" sz="1600" b="1" dirty="0" smtClean="0"/>
                  <a:t>供纸盒</a:t>
                </a:r>
                <a:endParaRPr lang="zh-CN" altLang="en-US" sz="1600" b="1" dirty="0"/>
              </a:p>
            </p:txBody>
          </p:sp>
          <p:sp>
            <p:nvSpPr>
              <p:cNvPr id="240199" name="Text Box 583"/>
              <p:cNvSpPr txBox="1">
                <a:spLocks noChangeArrowheads="1"/>
              </p:cNvSpPr>
              <p:nvPr/>
            </p:nvSpPr>
            <p:spPr bwMode="auto">
              <a:xfrm>
                <a:off x="7236346" y="4230680"/>
                <a:ext cx="720725" cy="288925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搓纸辊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200" name="Text Box 584"/>
              <p:cNvSpPr txBox="1">
                <a:spLocks noChangeArrowheads="1"/>
              </p:cNvSpPr>
              <p:nvPr/>
            </p:nvSpPr>
            <p:spPr bwMode="auto">
              <a:xfrm>
                <a:off x="6444184" y="4879967"/>
                <a:ext cx="720725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导纸辊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201" name="Text Box 585"/>
              <p:cNvSpPr txBox="1">
                <a:spLocks noChangeArrowheads="1"/>
              </p:cNvSpPr>
              <p:nvPr/>
            </p:nvSpPr>
            <p:spPr bwMode="auto">
              <a:xfrm>
                <a:off x="5796484" y="4664067"/>
                <a:ext cx="720725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定位辊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240202" name="Text Box 586"/>
              <p:cNvSpPr txBox="1">
                <a:spLocks noChangeArrowheads="1"/>
              </p:cNvSpPr>
              <p:nvPr/>
            </p:nvSpPr>
            <p:spPr bwMode="auto">
              <a:xfrm>
                <a:off x="3348559" y="4437055"/>
                <a:ext cx="863600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 algn="l"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定影热辊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6" name="Rectangle 560"/>
              <p:cNvSpPr>
                <a:spLocks noChangeArrowheads="1"/>
              </p:cNvSpPr>
              <p:nvPr/>
            </p:nvSpPr>
            <p:spPr bwMode="auto">
              <a:xfrm rot="1200000">
                <a:off x="4672217" y="4840051"/>
                <a:ext cx="288925" cy="215900"/>
              </a:xfrm>
              <a:prstGeom prst="rect">
                <a:avLst/>
              </a:prstGeom>
              <a:solidFill>
                <a:srgbClr val="FFCC99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7" name="Rectangle 562"/>
              <p:cNvSpPr>
                <a:spLocks noChangeArrowheads="1"/>
              </p:cNvSpPr>
              <p:nvPr/>
            </p:nvSpPr>
            <p:spPr bwMode="auto">
              <a:xfrm rot="20380350">
                <a:off x="5399680" y="4825822"/>
                <a:ext cx="288925" cy="215900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8" name="Text Box 561"/>
              <p:cNvSpPr txBox="1">
                <a:spLocks noChangeArrowheads="1"/>
              </p:cNvSpPr>
              <p:nvPr/>
            </p:nvSpPr>
            <p:spPr bwMode="auto">
              <a:xfrm>
                <a:off x="5371176" y="5085308"/>
                <a:ext cx="865188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>
                    <a:latin typeface="宋体" panose="02010600030101010101" pitchFamily="2" charset="-122"/>
                  </a:rPr>
                  <a:t>转印</a:t>
                </a:r>
                <a:r>
                  <a:rPr lang="zh-CN" altLang="en-US" sz="1600" b="1" dirty="0" smtClean="0">
                    <a:latin typeface="宋体" panose="02010600030101010101" pitchFamily="2" charset="-122"/>
                  </a:rPr>
                  <a:t>电晕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  <p:sp>
            <p:nvSpPr>
              <p:cNvPr id="99" name="Text Box 561"/>
              <p:cNvSpPr txBox="1">
                <a:spLocks noChangeArrowheads="1"/>
              </p:cNvSpPr>
              <p:nvPr/>
            </p:nvSpPr>
            <p:spPr bwMode="auto">
              <a:xfrm>
                <a:off x="3995936" y="5085184"/>
                <a:ext cx="865188" cy="215900"/>
              </a:xfrm>
              <a:prstGeom prst="rect">
                <a:avLst/>
              </a:prstGeom>
              <a:noFill/>
              <a:ln w="19050">
                <a:noFill/>
                <a:miter lim="800000"/>
              </a:ln>
              <a:effectLst/>
            </p:spPr>
            <p:txBody>
              <a:bodyPr lIns="18000" tIns="10800" rIns="18000" bIns="10800" anchor="ctr"/>
              <a:lstStyle/>
              <a:p>
                <a:pPr>
                  <a:lnSpc>
                    <a:spcPct val="90000"/>
                  </a:lnSpc>
                </a:pPr>
                <a:r>
                  <a:rPr lang="zh-CN" altLang="en-US" sz="1600" b="1" dirty="0" smtClean="0">
                    <a:latin typeface="宋体" panose="02010600030101010101" pitchFamily="2" charset="-122"/>
                  </a:rPr>
                  <a:t>分离电晕</a:t>
                </a:r>
                <a:endParaRPr lang="zh-CN" altLang="en-US" sz="1600" b="1" dirty="0">
                  <a:latin typeface="宋体" panose="02010600030101010101" pitchFamily="2" charset="-122"/>
                </a:endParaRPr>
              </a:p>
            </p:txBody>
          </p:sp>
        </p:grpSp>
      </p:grpSp>
      <p:sp>
        <p:nvSpPr>
          <p:cNvPr id="100" name="Text Box 241"/>
          <p:cNvSpPr txBox="1">
            <a:spLocks noChangeArrowheads="1"/>
          </p:cNvSpPr>
          <p:nvPr/>
        </p:nvSpPr>
        <p:spPr bwMode="auto">
          <a:xfrm>
            <a:off x="179512" y="5452775"/>
            <a:ext cx="8785101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*打印机接口：</a:t>
            </a:r>
            <a:r>
              <a:rPr lang="en-US" altLang="zh-CN" dirty="0" smtClean="0">
                <a:latin typeface="+mn-lt"/>
              </a:rPr>
              <a:t>Centronics</a:t>
            </a:r>
            <a:r>
              <a:rPr lang="zh-CN" altLang="en-US" dirty="0" smtClean="0">
                <a:latin typeface="+mn-lt"/>
              </a:rPr>
              <a:t>或</a:t>
            </a:r>
            <a:r>
              <a:rPr lang="en-US" altLang="zh-CN" b="1" dirty="0" smtClean="0">
                <a:latin typeface="+mn-ea"/>
                <a:ea typeface="+mn-ea"/>
              </a:rPr>
              <a:t>USB</a:t>
            </a:r>
            <a:r>
              <a:rPr lang="en-US" altLang="zh-CN" b="1" dirty="0" smtClean="0"/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939" grpId="0"/>
      <p:bldP spid="100" grpId="0" bldLvl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39039" name="Text Box 9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388" y="364079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p>
            <a:pPr algn="l"/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三、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存储设备</a:t>
            </a:r>
            <a:r>
              <a:rPr lang="en-US" altLang="zh-CN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</a:t>
            </a:r>
            <a:r>
              <a:rPr lang="zh-CN" altLang="en-US" b="1" dirty="0" smtClean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                   </a:t>
            </a:r>
            <a:endParaRPr lang="zh-CN" altLang="en-US" sz="2800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36551" name="Text Box 7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828040"/>
            <a:ext cx="4968875" cy="55619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、磁盘存储器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--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块设备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磁盘结构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工作方式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磁盘存储器组成：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磁盘存储器接口：</a:t>
            </a:r>
            <a:endParaRPr lang="zh-CN" altLang="en-US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339041" name="Text Box 97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980000" y="1296000"/>
            <a:ext cx="6364605" cy="2676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盘状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读写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精度高</a:t>
            </a:r>
            <a:r>
              <a:rPr lang="en-US" altLang="zh-CN" sz="1800" b="1" dirty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磁盘转动</a:t>
            </a:r>
            <a:r>
              <a:rPr lang="en-US" altLang="zh-CN" sz="1800" b="1" dirty="0">
                <a:latin typeface="宋体" panose="02010600030101010101" pitchFamily="2" charset="-122"/>
              </a:rPr>
              <a:t>&amp;</a:t>
            </a:r>
            <a:r>
              <a:rPr lang="zh-CN" altLang="en-US" sz="1800" b="1" dirty="0">
                <a:latin typeface="宋体" panose="02010600030101010101" pitchFamily="2" charset="-122"/>
              </a:rPr>
              <a:t>磁头不动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含多个磁道、多个记录块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磁道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磁盘地址＝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&lt;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磁道号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,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记录块号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&gt;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磁盘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匀速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转动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便于定时采样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恒定角速度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寻址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时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先寻道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再等待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转到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目标块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由盘片、驱动器、设备控制器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组成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444000" y="1474530"/>
            <a:ext cx="2556475" cy="1153795"/>
            <a:chOff x="7710" y="1982"/>
            <a:chExt cx="4026" cy="1817"/>
          </a:xfrm>
        </p:grpSpPr>
        <p:sp>
          <p:nvSpPr>
            <p:cNvPr id="339045" name="Text Box 10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9751" y="1982"/>
              <a:ext cx="680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r>
                <a:rPr lang="zh-CN" altLang="en-US" sz="1600" b="1" dirty="0">
                  <a:latin typeface="宋体" panose="02010600030101010101" pitchFamily="2" charset="-122"/>
                </a:rPr>
                <a:t>磁道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9049" name="Oval 105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710" y="1984"/>
              <a:ext cx="1815" cy="1815"/>
            </a:xfrm>
            <a:prstGeom prst="ellipse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339086" name="Oval 142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7825" y="2099"/>
              <a:ext cx="1588" cy="1588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339088" name="Oval 14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8165" y="2446"/>
              <a:ext cx="908" cy="908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339089" name="Oval 145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308" y="2614"/>
              <a:ext cx="608" cy="598"/>
            </a:xfrm>
            <a:prstGeom prst="ellipse">
              <a:avLst/>
            </a:prstGeom>
            <a:noFill/>
            <a:ln w="31750" cmpd="dbl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339090" name="Oval 146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443" y="2734"/>
              <a:ext cx="340" cy="34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339106" name="AutoShape 162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 rot="5400000">
              <a:off x="10517" y="1956"/>
              <a:ext cx="453" cy="1757"/>
            </a:xfrm>
            <a:prstGeom prst="wave">
              <a:avLst>
                <a:gd name="adj1" fmla="val 1968"/>
                <a:gd name="adj2" fmla="val 0"/>
              </a:avLst>
            </a:prstGeom>
            <a:solidFill>
              <a:srgbClr val="99CCFF">
                <a:alpha val="80000"/>
              </a:srgbClr>
            </a:solidFill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39107" name="Rectangle 163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9995" y="2723"/>
              <a:ext cx="340" cy="2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39108" name="Rectangle 16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0562" y="2723"/>
              <a:ext cx="340" cy="2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39109" name="Rectangle 165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1130" y="2723"/>
              <a:ext cx="340" cy="22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39113" name="Text Box 169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9695" y="3399"/>
              <a:ext cx="2041" cy="397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0" tIns="0" rIns="0" bIns="0" anchor="ctr" anchorCtr="0"/>
            <a:p>
              <a:r>
                <a:rPr lang="zh-CN" altLang="en-US" sz="1600" b="1" dirty="0">
                  <a:latin typeface="宋体" panose="02010600030101010101" pitchFamily="2" charset="-122"/>
                </a:rPr>
                <a:t>位信息磁化元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9" name="直接箭头连接符 78"/>
            <p:cNvCxnSpPr/>
            <p:nvPr>
              <p:custDataLst>
                <p:tags r:id="rId15"/>
              </p:custDataLst>
            </p:nvPr>
          </p:nvCxnSpPr>
          <p:spPr bwMode="auto">
            <a:xfrm flipH="1" flipV="1">
              <a:off x="10732" y="2948"/>
              <a:ext cx="324" cy="409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6" name="直接箭头连接符 5"/>
            <p:cNvCxnSpPr/>
            <p:nvPr>
              <p:custDataLst>
                <p:tags r:id="rId16"/>
              </p:custDataLst>
            </p:nvPr>
          </p:nvCxnSpPr>
          <p:spPr bwMode="auto">
            <a:xfrm flipH="1" flipV="1">
              <a:off x="10155" y="2948"/>
              <a:ext cx="901" cy="409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7" name="直接箭头连接符 6"/>
            <p:cNvCxnSpPr/>
            <p:nvPr>
              <p:custDataLst>
                <p:tags r:id="rId17"/>
              </p:custDataLst>
            </p:nvPr>
          </p:nvCxnSpPr>
          <p:spPr bwMode="auto">
            <a:xfrm flipV="1">
              <a:off x="8958" y="2211"/>
              <a:ext cx="737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/>
            </a:ln>
          </p:spPr>
        </p:cxnSp>
        <p:cxnSp>
          <p:nvCxnSpPr>
            <p:cNvPr id="8" name="直接箭头连接符 7"/>
            <p:cNvCxnSpPr/>
            <p:nvPr>
              <p:custDataLst>
                <p:tags r:id="rId18"/>
              </p:custDataLst>
            </p:nvPr>
          </p:nvCxnSpPr>
          <p:spPr bwMode="auto">
            <a:xfrm flipV="1">
              <a:off x="8958" y="2211"/>
              <a:ext cx="709" cy="567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ysDash"/>
              <a:round/>
              <a:headEnd type="none" w="med" len="med"/>
              <a:tailEnd type="none"/>
            </a:ln>
          </p:spPr>
        </p:cxnSp>
      </p:grpSp>
      <p:sp>
        <p:nvSpPr>
          <p:cNvPr id="12" name="Text Box 547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2880000" y="5796000"/>
            <a:ext cx="590550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IDE(ATA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上图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SCSI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USB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ATA</a:t>
            </a:r>
            <a:r>
              <a:rPr lang="zh-CN" altLang="en-US" b="1" dirty="0" smtClean="0">
                <a:latin typeface="宋体" panose="02010600030101010101" pitchFamily="2" charset="-122"/>
              </a:rPr>
              <a:t>→</a:t>
            </a:r>
            <a:r>
              <a:rPr lang="en-US" altLang="zh-CN" b="1" dirty="0" smtClean="0">
                <a:latin typeface="宋体" panose="02010600030101010101" pitchFamily="2" charset="-122"/>
              </a:rPr>
              <a:t>SATA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5363845" y="3957550"/>
            <a:ext cx="3239770" cy="1871980"/>
            <a:chOff x="8447" y="4082"/>
            <a:chExt cx="5102" cy="2948"/>
          </a:xfrm>
        </p:grpSpPr>
        <p:sp>
          <p:nvSpPr>
            <p:cNvPr id="210" name="Rectangle 731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447" y="4082"/>
              <a:ext cx="5102" cy="2948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75" name="Text Box 732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2190" y="5613"/>
              <a:ext cx="340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732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790" y="4252"/>
              <a:ext cx="141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读出放大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4" name="Text Box 734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790" y="4706"/>
              <a:ext cx="1417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写入驱动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6" name="Text Box 736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488" y="4252"/>
              <a:ext cx="737" cy="794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磁头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选择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2" name="Rectangle 754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617" y="4139"/>
              <a:ext cx="2721" cy="10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90" name="直接连接符 89"/>
            <p:cNvCxnSpPr/>
            <p:nvPr>
              <p:custDataLst>
                <p:tags r:id="rId26"/>
              </p:custDataLst>
            </p:nvPr>
          </p:nvCxnSpPr>
          <p:spPr>
            <a:xfrm flipH="1" flipV="1">
              <a:off x="8447" y="4422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1" name="直接连接符 90"/>
            <p:cNvCxnSpPr/>
            <p:nvPr>
              <p:custDataLst>
                <p:tags r:id="rId27"/>
              </p:custDataLst>
            </p:nvPr>
          </p:nvCxnSpPr>
          <p:spPr>
            <a:xfrm flipV="1">
              <a:off x="8447" y="4819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2" name="直接连接符 91"/>
            <p:cNvCxnSpPr/>
            <p:nvPr>
              <p:custDataLst>
                <p:tags r:id="rId28"/>
              </p:custDataLst>
            </p:nvPr>
          </p:nvCxnSpPr>
          <p:spPr>
            <a:xfrm flipH="1" flipV="1">
              <a:off x="10204" y="442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6" name="直接连接符 95"/>
            <p:cNvCxnSpPr/>
            <p:nvPr>
              <p:custDataLst>
                <p:tags r:id="rId29"/>
              </p:custDataLst>
            </p:nvPr>
          </p:nvCxnSpPr>
          <p:spPr>
            <a:xfrm flipV="1">
              <a:off x="10204" y="4876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7" name="直接连接符 96"/>
            <p:cNvCxnSpPr/>
            <p:nvPr>
              <p:custDataLst>
                <p:tags r:id="rId30"/>
              </p:custDataLst>
            </p:nvPr>
          </p:nvCxnSpPr>
          <p:spPr>
            <a:xfrm flipV="1">
              <a:off x="10828" y="5046"/>
              <a:ext cx="0" cy="22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1" name="直接连接符 100"/>
            <p:cNvCxnSpPr/>
            <p:nvPr>
              <p:custDataLst>
                <p:tags r:id="rId31"/>
              </p:custDataLst>
            </p:nvPr>
          </p:nvCxnSpPr>
          <p:spPr>
            <a:xfrm>
              <a:off x="8447" y="5273"/>
              <a:ext cx="2381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Text Box 762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0767" y="6577"/>
              <a:ext cx="1417" cy="3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主轴电机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Text Box 739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790" y="5499"/>
              <a:ext cx="1701" cy="34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比较与控制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740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771" y="5499"/>
              <a:ext cx="1417" cy="3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音圈电机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Text Box 74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771" y="6010"/>
              <a:ext cx="1417" cy="340"/>
            </a:xfrm>
            <a:prstGeom prst="rect">
              <a:avLst/>
            </a:prstGeom>
            <a:solidFill>
              <a:srgbClr val="CC99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位置检测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75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697" y="5896"/>
              <a:ext cx="107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柱面号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3" name="Rectangle 754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8617" y="5386"/>
              <a:ext cx="3685" cy="10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23" name="直接连接符 122"/>
            <p:cNvCxnSpPr/>
            <p:nvPr>
              <p:custDataLst>
                <p:tags r:id="rId38"/>
              </p:custDataLst>
            </p:nvPr>
          </p:nvCxnSpPr>
          <p:spPr>
            <a:xfrm flipV="1">
              <a:off x="10488" y="5669"/>
              <a:ext cx="283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7" name="直接连接符 126"/>
            <p:cNvCxnSpPr/>
            <p:nvPr>
              <p:custDataLst>
                <p:tags r:id="rId39"/>
              </p:custDataLst>
            </p:nvPr>
          </p:nvCxnSpPr>
          <p:spPr>
            <a:xfrm>
              <a:off x="9581" y="6236"/>
              <a:ext cx="1191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8" name="直接连接符 127"/>
            <p:cNvCxnSpPr/>
            <p:nvPr>
              <p:custDataLst>
                <p:tags r:id="rId40"/>
              </p:custDataLst>
            </p:nvPr>
          </p:nvCxnSpPr>
          <p:spPr>
            <a:xfrm flipV="1">
              <a:off x="9581" y="5839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9" name="直接连接符 128"/>
            <p:cNvCxnSpPr/>
            <p:nvPr>
              <p:custDataLst>
                <p:tags r:id="rId41"/>
              </p:custDataLst>
            </p:nvPr>
          </p:nvCxnSpPr>
          <p:spPr>
            <a:xfrm>
              <a:off x="9184" y="583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直接连接符 129"/>
            <p:cNvCxnSpPr/>
            <p:nvPr>
              <p:custDataLst>
                <p:tags r:id="rId42"/>
              </p:custDataLst>
            </p:nvPr>
          </p:nvCxnSpPr>
          <p:spPr>
            <a:xfrm flipH="1">
              <a:off x="8447" y="6293"/>
              <a:ext cx="73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连接符 132"/>
            <p:cNvCxnSpPr/>
            <p:nvPr>
              <p:custDataLst>
                <p:tags r:id="rId43"/>
              </p:custDataLst>
            </p:nvPr>
          </p:nvCxnSpPr>
          <p:spPr>
            <a:xfrm flipV="1">
              <a:off x="8447" y="5669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直接连接符 133"/>
            <p:cNvCxnSpPr/>
            <p:nvPr>
              <p:custDataLst>
                <p:tags r:id="rId44"/>
              </p:custDataLst>
            </p:nvPr>
          </p:nvCxnSpPr>
          <p:spPr>
            <a:xfrm flipV="1">
              <a:off x="8447" y="6803"/>
              <a:ext cx="232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8" name="AutoShape 823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13210" y="4195"/>
              <a:ext cx="113" cy="2721"/>
            </a:xfrm>
            <a:prstGeom prst="can">
              <a:avLst>
                <a:gd name="adj" fmla="val 68976"/>
              </a:avLst>
            </a:prstGeom>
            <a:solidFill>
              <a:srgbClr val="969696"/>
            </a:solidFill>
            <a:ln w="15875">
              <a:solidFill>
                <a:schemeClr val="tx1"/>
              </a:solidFill>
              <a:round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207" name="弧形 206"/>
            <p:cNvSpPr/>
            <p:nvPr>
              <p:custDataLst>
                <p:tags r:id="rId46"/>
              </p:custDataLst>
            </p:nvPr>
          </p:nvSpPr>
          <p:spPr bwMode="auto">
            <a:xfrm>
              <a:off x="13097" y="6463"/>
              <a:ext cx="397" cy="170"/>
            </a:xfrm>
            <a:prstGeom prst="arc">
              <a:avLst>
                <a:gd name="adj1" fmla="val 18274991"/>
                <a:gd name="adj2" fmla="val 12719267"/>
              </a:avLst>
            </a:prstGeom>
            <a:noFill/>
            <a:ln w="9525" cap="flat" cmpd="sng" algn="ctr">
              <a:solidFill>
                <a:srgbClr val="FF3399"/>
              </a:solidFill>
              <a:prstDash val="solid"/>
              <a:round/>
              <a:headEnd type="triangle" w="sm" len="sm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Rectangle 796" descr="深色上对角线"/>
            <p:cNvSpPr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2190" y="6690"/>
              <a:ext cx="1134" cy="113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7" name="Rectangle 767" descr="深色上对角线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12360" y="6406"/>
              <a:ext cx="567" cy="113"/>
            </a:xfrm>
            <a:prstGeom prst="rect">
              <a:avLst/>
            </a:prstGeom>
            <a:pattFill prst="dkUpDiag">
              <a:fgClr>
                <a:srgbClr val="808080"/>
              </a:fgClr>
              <a:bgClr>
                <a:schemeClr val="bg1"/>
              </a:bgClr>
            </a:pattFill>
            <a:ln w="9525">
              <a:noFill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47" name="Text Box 732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12641" y="4536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grpSp>
          <p:nvGrpSpPr>
            <p:cNvPr id="158" name="组合 157"/>
            <p:cNvGrpSpPr/>
            <p:nvPr/>
          </p:nvGrpSpPr>
          <p:grpSpPr>
            <a:xfrm rot="0">
              <a:off x="12871" y="4422"/>
              <a:ext cx="170" cy="312"/>
              <a:chOff x="12246" y="6236"/>
              <a:chExt cx="170" cy="312"/>
            </a:xfrm>
          </p:grpSpPr>
          <p:cxnSp>
            <p:nvCxnSpPr>
              <p:cNvPr id="144" name="直接连接符 143"/>
              <p:cNvCxnSpPr/>
              <p:nvPr>
                <p:custDataLst>
                  <p:tags r:id="rId50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5" name="直接连接符 144"/>
              <p:cNvCxnSpPr/>
              <p:nvPr>
                <p:custDataLst>
                  <p:tags r:id="rId51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直接连接符 147"/>
              <p:cNvCxnSpPr/>
              <p:nvPr>
                <p:custDataLst>
                  <p:tags r:id="rId52"/>
                </p:custDataLst>
              </p:nvPr>
            </p:nvCxnSpPr>
            <p:spPr>
              <a:xfrm flipH="1">
                <a:off x="12330" y="6236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0" name="Rectangle 763"/>
            <p:cNvSpPr>
              <a:spLocks noChangeArrowheads="1"/>
            </p:cNvSpPr>
            <p:nvPr>
              <p:custDataLst>
                <p:tags r:id="rId53"/>
              </p:custDataLst>
            </p:nvPr>
          </p:nvSpPr>
          <p:spPr bwMode="auto">
            <a:xfrm>
              <a:off x="12529" y="4536"/>
              <a:ext cx="113" cy="164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1" name="Text Box 732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12643" y="5103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732"/>
            <p:cNvSpPr txBox="1"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12643" y="5669"/>
              <a:ext cx="329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732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12417" y="6180"/>
              <a:ext cx="340" cy="11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Oval 765"/>
            <p:cNvSpPr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12417" y="6293"/>
              <a:ext cx="113" cy="1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55" name="Oval 765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2643" y="6293"/>
              <a:ext cx="113" cy="11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56" name="直接连接符 155"/>
            <p:cNvCxnSpPr/>
            <p:nvPr>
              <p:custDataLst>
                <p:tags r:id="rId59"/>
              </p:custDataLst>
            </p:nvPr>
          </p:nvCxnSpPr>
          <p:spPr>
            <a:xfrm>
              <a:off x="12360" y="6406"/>
              <a:ext cx="567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9" name="组合 158"/>
            <p:cNvGrpSpPr/>
            <p:nvPr/>
          </p:nvGrpSpPr>
          <p:grpSpPr>
            <a:xfrm rot="0">
              <a:off x="12870" y="5017"/>
              <a:ext cx="170" cy="283"/>
              <a:chOff x="12246" y="6265"/>
              <a:chExt cx="170" cy="283"/>
            </a:xfrm>
          </p:grpSpPr>
          <p:cxnSp>
            <p:nvCxnSpPr>
              <p:cNvPr id="160" name="直接连接符 159"/>
              <p:cNvCxnSpPr/>
              <p:nvPr>
                <p:custDataLst>
                  <p:tags r:id="rId60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直接连接符 160"/>
              <p:cNvCxnSpPr/>
              <p:nvPr>
                <p:custDataLst>
                  <p:tags r:id="rId61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2" name="直接连接符 161"/>
              <p:cNvCxnSpPr/>
              <p:nvPr>
                <p:custDataLst>
                  <p:tags r:id="rId62"/>
                </p:custDataLst>
              </p:nvPr>
            </p:nvCxnSpPr>
            <p:spPr>
              <a:xfrm flipH="1">
                <a:off x="12331" y="6265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3" name="组合 162"/>
            <p:cNvGrpSpPr/>
            <p:nvPr/>
          </p:nvGrpSpPr>
          <p:grpSpPr>
            <a:xfrm rot="0">
              <a:off x="12870" y="5584"/>
              <a:ext cx="170" cy="283"/>
              <a:chOff x="12246" y="6265"/>
              <a:chExt cx="170" cy="283"/>
            </a:xfrm>
          </p:grpSpPr>
          <p:cxnSp>
            <p:nvCxnSpPr>
              <p:cNvPr id="164" name="直接连接符 163"/>
              <p:cNvCxnSpPr/>
              <p:nvPr>
                <p:custDataLst>
                  <p:tags r:id="rId63"/>
                </p:custDataLst>
              </p:nvPr>
            </p:nvCxnSpPr>
            <p:spPr>
              <a:xfrm flipV="1">
                <a:off x="12246" y="6265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5" name="直接连接符 164"/>
              <p:cNvCxnSpPr/>
              <p:nvPr>
                <p:custDataLst>
                  <p:tags r:id="rId64"/>
                </p:custDataLst>
              </p:nvPr>
            </p:nvCxnSpPr>
            <p:spPr>
              <a:xfrm flipV="1">
                <a:off x="12246" y="6548"/>
                <a:ext cx="170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6" name="直接连接符 165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12331" y="6265"/>
                <a:ext cx="0" cy="281"/>
              </a:xfrm>
              <a:prstGeom prst="line">
                <a:avLst/>
              </a:prstGeom>
              <a:noFill/>
              <a:ln w="3810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167" name="直接连接符 166"/>
            <p:cNvCxnSpPr/>
            <p:nvPr>
              <p:custDataLst>
                <p:tags r:id="rId66"/>
              </p:custDataLst>
            </p:nvPr>
          </p:nvCxnSpPr>
          <p:spPr>
            <a:xfrm>
              <a:off x="12643" y="4536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直接连接符 167"/>
            <p:cNvCxnSpPr/>
            <p:nvPr>
              <p:custDataLst>
                <p:tags r:id="rId67"/>
              </p:custDataLst>
            </p:nvPr>
          </p:nvCxnSpPr>
          <p:spPr>
            <a:xfrm>
              <a:off x="12643" y="5103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直接连接符 168"/>
            <p:cNvCxnSpPr/>
            <p:nvPr>
              <p:custDataLst>
                <p:tags r:id="rId68"/>
              </p:custDataLst>
            </p:nvPr>
          </p:nvCxnSpPr>
          <p:spPr>
            <a:xfrm>
              <a:off x="12643" y="5669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直接连接符 169"/>
            <p:cNvCxnSpPr/>
            <p:nvPr>
              <p:custDataLst>
                <p:tags r:id="rId69"/>
              </p:custDataLst>
            </p:nvPr>
          </p:nvCxnSpPr>
          <p:spPr>
            <a:xfrm flipV="1">
              <a:off x="12530" y="6180"/>
              <a:ext cx="113" cy="0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直接连接符 170"/>
            <p:cNvCxnSpPr/>
            <p:nvPr>
              <p:custDataLst>
                <p:tags r:id="rId70"/>
              </p:custDataLst>
            </p:nvPr>
          </p:nvCxnSpPr>
          <p:spPr>
            <a:xfrm>
              <a:off x="11225" y="4592"/>
              <a:ext cx="1701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直接连接符 171"/>
            <p:cNvCxnSpPr/>
            <p:nvPr>
              <p:custDataLst>
                <p:tags r:id="rId71"/>
              </p:custDataLst>
            </p:nvPr>
          </p:nvCxnSpPr>
          <p:spPr>
            <a:xfrm>
              <a:off x="11225" y="4762"/>
              <a:ext cx="1378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直接连接符 172"/>
            <p:cNvCxnSpPr/>
            <p:nvPr>
              <p:custDataLst>
                <p:tags r:id="rId72"/>
              </p:custDataLst>
            </p:nvPr>
          </p:nvCxnSpPr>
          <p:spPr>
            <a:xfrm>
              <a:off x="11225" y="4932"/>
              <a:ext cx="1332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直接连接符 175"/>
            <p:cNvCxnSpPr/>
            <p:nvPr>
              <p:custDataLst>
                <p:tags r:id="rId73"/>
              </p:custDataLst>
            </p:nvPr>
          </p:nvCxnSpPr>
          <p:spPr>
            <a:xfrm>
              <a:off x="12530" y="5613"/>
              <a:ext cx="0" cy="113"/>
            </a:xfrm>
            <a:prstGeom prst="line">
              <a:avLst/>
            </a:prstGeom>
            <a:noFill/>
            <a:ln w="1270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7" name="直接连接符 176"/>
            <p:cNvCxnSpPr/>
            <p:nvPr>
              <p:custDataLst>
                <p:tags r:id="rId74"/>
              </p:custDataLst>
            </p:nvPr>
          </p:nvCxnSpPr>
          <p:spPr>
            <a:xfrm>
              <a:off x="12603" y="5159"/>
              <a:ext cx="32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8" name="直接连接符 177"/>
            <p:cNvCxnSpPr/>
            <p:nvPr>
              <p:custDataLst>
                <p:tags r:id="rId75"/>
              </p:custDataLst>
            </p:nvPr>
          </p:nvCxnSpPr>
          <p:spPr>
            <a:xfrm>
              <a:off x="12603" y="4762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直接连接符 178"/>
            <p:cNvCxnSpPr/>
            <p:nvPr>
              <p:custDataLst>
                <p:tags r:id="rId76"/>
              </p:custDataLst>
            </p:nvPr>
          </p:nvCxnSpPr>
          <p:spPr>
            <a:xfrm>
              <a:off x="12558" y="4932"/>
              <a:ext cx="0" cy="79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" name="直接连接符 179"/>
            <p:cNvCxnSpPr/>
            <p:nvPr>
              <p:custDataLst>
                <p:tags r:id="rId77"/>
              </p:custDataLst>
            </p:nvPr>
          </p:nvCxnSpPr>
          <p:spPr>
            <a:xfrm>
              <a:off x="12546" y="5726"/>
              <a:ext cx="369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直接连接符 42"/>
            <p:cNvCxnSpPr/>
            <p:nvPr>
              <p:custDataLst>
                <p:tags r:id="rId78"/>
              </p:custDataLst>
            </p:nvPr>
          </p:nvCxnSpPr>
          <p:spPr>
            <a:xfrm flipH="1">
              <a:off x="12189" y="6236"/>
              <a:ext cx="227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182" name="组合 181"/>
          <p:cNvGrpSpPr/>
          <p:nvPr/>
        </p:nvGrpSpPr>
        <p:grpSpPr>
          <a:xfrm>
            <a:off x="8100000" y="4063345"/>
            <a:ext cx="647700" cy="1151890"/>
            <a:chOff x="12191" y="6066"/>
            <a:chExt cx="1020" cy="1814"/>
          </a:xfrm>
        </p:grpSpPr>
        <p:sp>
          <p:nvSpPr>
            <p:cNvPr id="199" name="Rectangle 824"/>
            <p:cNvSpPr>
              <a:spLocks noChangeArrowheads="1"/>
            </p:cNvSpPr>
            <p:nvPr>
              <p:custDataLst>
                <p:tags r:id="rId79"/>
              </p:custDataLst>
            </p:nvPr>
          </p:nvSpPr>
          <p:spPr bwMode="auto">
            <a:xfrm>
              <a:off x="12191" y="6066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201" name="Rectangle 826"/>
            <p:cNvSpPr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12191" y="6633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203" name="Rectangle 828"/>
            <p:cNvSpPr>
              <a:spLocks noChangeArrowheads="1"/>
            </p:cNvSpPr>
            <p:nvPr>
              <p:custDataLst>
                <p:tags r:id="rId81"/>
              </p:custDataLst>
            </p:nvPr>
          </p:nvSpPr>
          <p:spPr bwMode="auto">
            <a:xfrm>
              <a:off x="12191" y="7200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  <p:sp>
          <p:nvSpPr>
            <p:cNvPr id="205" name="Rectangle 830"/>
            <p:cNvSpPr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2191" y="7767"/>
              <a:ext cx="1020" cy="113"/>
            </a:xfrm>
            <a:prstGeom prst="rect">
              <a:avLst/>
            </a:prstGeom>
            <a:solidFill>
              <a:srgbClr val="3366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0" rIns="0" bIns="0"/>
            <a:p>
              <a:endParaRPr lang="zh-CN" altLang="en-US"/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936625" y="3957320"/>
            <a:ext cx="4430395" cy="1871980"/>
            <a:chOff x="1475" y="5102"/>
            <a:chExt cx="6977" cy="2948"/>
          </a:xfrm>
        </p:grpSpPr>
        <p:sp>
          <p:nvSpPr>
            <p:cNvPr id="230061" name="Rectangle 685"/>
            <p:cNvSpPr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2722" y="5102"/>
              <a:ext cx="5726" cy="2948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30066" name="Text Box 690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3005" y="5215"/>
              <a:ext cx="1361" cy="340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数据缓冲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067" name="Text Box 69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3969" y="5669"/>
              <a:ext cx="397" cy="2268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p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接口控制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0069" name="Text Box 693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4706" y="5215"/>
              <a:ext cx="397" cy="1361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格式控制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30071" name="Text Box 695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5387" y="6066"/>
              <a:ext cx="850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并</a:t>
              </a:r>
              <a:r>
                <a:rPr lang="en-US" altLang="zh-CN" sz="1600" b="1">
                  <a:latin typeface="宋体" panose="02010600030101010101" pitchFamily="2" charset="-122"/>
                </a:rPr>
                <a:t>/</a:t>
              </a:r>
              <a:r>
                <a:rPr lang="zh-CN" altLang="en-US" sz="1600" b="1">
                  <a:latin typeface="宋体" panose="02010600030101010101" pitchFamily="2" charset="-122"/>
                </a:rPr>
                <a:t>串转换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30072" name="Text Box 696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5387" y="5215"/>
              <a:ext cx="850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串</a:t>
              </a:r>
              <a:r>
                <a:rPr lang="en-US" altLang="zh-CN" sz="1600" b="1">
                  <a:latin typeface="宋体" panose="02010600030101010101" pitchFamily="2" charset="-122"/>
                </a:rPr>
                <a:t>/</a:t>
              </a:r>
              <a:r>
                <a:rPr lang="zh-CN" altLang="en-US" sz="1600" b="1">
                  <a:latin typeface="宋体" panose="02010600030101010101" pitchFamily="2" charset="-122"/>
                </a:rPr>
                <a:t>并转换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30075" name="Text Box 699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6577" y="6066"/>
              <a:ext cx="737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数据编码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30077" name="Text Box 70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6577" y="5215"/>
              <a:ext cx="738" cy="7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>
                  <a:latin typeface="宋体" panose="02010600030101010101" pitchFamily="2" charset="-122"/>
                </a:rPr>
                <a:t>数据译码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30078" name="Text Box 702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7598" y="5215"/>
              <a:ext cx="397" cy="1701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时钟发生器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092" name="Text Box 716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3005" y="7256"/>
              <a:ext cx="794" cy="680"/>
            </a:xfrm>
            <a:prstGeom prst="rect">
              <a:avLst/>
            </a:prstGeom>
            <a:solidFill>
              <a:srgbClr val="FF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控制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0095" name="Text Box 719"/>
            <p:cNvSpPr txBox="1">
              <a:spLocks noChangeArrowheads="1"/>
            </p:cNvSpPr>
            <p:nvPr>
              <p:custDataLst>
                <p:tags r:id="rId93"/>
              </p:custDataLst>
            </p:nvPr>
          </p:nvSpPr>
          <p:spPr bwMode="auto">
            <a:xfrm>
              <a:off x="4987" y="737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数据控制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103" name="Text Box 727"/>
            <p:cNvSpPr txBox="1">
              <a:spLocks noChangeArrowheads="1"/>
            </p:cNvSpPr>
            <p:nvPr>
              <p:custDataLst>
                <p:tags r:id="rId94"/>
              </p:custDataLst>
            </p:nvPr>
          </p:nvSpPr>
          <p:spPr bwMode="auto">
            <a:xfrm>
              <a:off x="6693" y="7370"/>
              <a:ext cx="1361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数据分离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" name="直接连接符 12"/>
            <p:cNvCxnSpPr/>
            <p:nvPr>
              <p:custDataLst>
                <p:tags r:id="rId95"/>
              </p:custDataLst>
            </p:nvPr>
          </p:nvCxnSpPr>
          <p:spPr>
            <a:xfrm flipH="1" flipV="1">
              <a:off x="7994" y="5442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/>
            <p:cNvCxnSpPr/>
            <p:nvPr>
              <p:custDataLst>
                <p:tags r:id="rId96"/>
              </p:custDataLst>
            </p:nvPr>
          </p:nvCxnSpPr>
          <p:spPr>
            <a:xfrm flipH="1" flipV="1">
              <a:off x="7314" y="544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97"/>
              </p:custDataLst>
            </p:nvPr>
          </p:nvCxnSpPr>
          <p:spPr>
            <a:xfrm flipH="1" flipV="1">
              <a:off x="6237" y="5442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直接连接符 15"/>
            <p:cNvCxnSpPr/>
            <p:nvPr>
              <p:custDataLst>
                <p:tags r:id="rId98"/>
              </p:custDataLst>
            </p:nvPr>
          </p:nvCxnSpPr>
          <p:spPr>
            <a:xfrm flipH="1" flipV="1">
              <a:off x="5103" y="5442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" name="直接连接符 16"/>
            <p:cNvCxnSpPr/>
            <p:nvPr>
              <p:custDataLst>
                <p:tags r:id="rId99"/>
              </p:custDataLst>
            </p:nvPr>
          </p:nvCxnSpPr>
          <p:spPr>
            <a:xfrm flipV="1">
              <a:off x="5103" y="6293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" name="直接连接符 17"/>
            <p:cNvCxnSpPr/>
            <p:nvPr>
              <p:custDataLst>
                <p:tags r:id="rId100"/>
              </p:custDataLst>
            </p:nvPr>
          </p:nvCxnSpPr>
          <p:spPr>
            <a:xfrm flipV="1">
              <a:off x="6238" y="6293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连接符 18"/>
            <p:cNvCxnSpPr/>
            <p:nvPr>
              <p:custDataLst>
                <p:tags r:id="rId101"/>
              </p:custDataLst>
            </p:nvPr>
          </p:nvCxnSpPr>
          <p:spPr>
            <a:xfrm flipV="1">
              <a:off x="7998" y="5839"/>
              <a:ext cx="454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直接连接符 19"/>
            <p:cNvCxnSpPr/>
            <p:nvPr>
              <p:custDataLst>
                <p:tags r:id="rId102"/>
              </p:custDataLst>
            </p:nvPr>
          </p:nvCxnSpPr>
          <p:spPr>
            <a:xfrm flipH="1" flipV="1">
              <a:off x="4366" y="5442"/>
              <a:ext cx="340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" name="直接连接符 20"/>
            <p:cNvCxnSpPr/>
            <p:nvPr>
              <p:custDataLst>
                <p:tags r:id="rId103"/>
              </p:custDataLst>
            </p:nvPr>
          </p:nvCxnSpPr>
          <p:spPr>
            <a:xfrm>
              <a:off x="4366" y="7200"/>
              <a:ext cx="3855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>
              <p:custDataLst>
                <p:tags r:id="rId104"/>
              </p:custDataLst>
            </p:nvPr>
          </p:nvCxnSpPr>
          <p:spPr>
            <a:xfrm>
              <a:off x="4366" y="6066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105"/>
              </p:custDataLst>
            </p:nvPr>
          </p:nvCxnSpPr>
          <p:spPr>
            <a:xfrm>
              <a:off x="4366" y="7030"/>
              <a:ext cx="3742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106"/>
              </p:custDataLst>
            </p:nvPr>
          </p:nvCxnSpPr>
          <p:spPr>
            <a:xfrm flipH="1" flipV="1">
              <a:off x="4366" y="6179"/>
              <a:ext cx="340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107"/>
              </p:custDataLst>
            </p:nvPr>
          </p:nvCxnSpPr>
          <p:spPr>
            <a:xfrm flipH="1" flipV="1">
              <a:off x="4366" y="7313"/>
              <a:ext cx="4082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直接连接符 25"/>
            <p:cNvCxnSpPr/>
            <p:nvPr>
              <p:custDataLst>
                <p:tags r:id="rId108"/>
              </p:custDataLst>
            </p:nvPr>
          </p:nvCxnSpPr>
          <p:spPr>
            <a:xfrm>
              <a:off x="4366" y="7823"/>
              <a:ext cx="4082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" name="直接连接符 34"/>
            <p:cNvCxnSpPr/>
            <p:nvPr>
              <p:custDataLst>
                <p:tags r:id="rId109"/>
              </p:custDataLst>
            </p:nvPr>
          </p:nvCxnSpPr>
          <p:spPr>
            <a:xfrm flipV="1">
              <a:off x="8112" y="6293"/>
              <a:ext cx="340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" name="直接连接符 35"/>
            <p:cNvCxnSpPr/>
            <p:nvPr>
              <p:custDataLst>
                <p:tags r:id="rId110"/>
              </p:custDataLst>
            </p:nvPr>
          </p:nvCxnSpPr>
          <p:spPr>
            <a:xfrm>
              <a:off x="8112" y="6293"/>
              <a:ext cx="0" cy="73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" name="直接连接符 38"/>
            <p:cNvCxnSpPr/>
            <p:nvPr>
              <p:custDataLst>
                <p:tags r:id="rId111"/>
              </p:custDataLst>
            </p:nvPr>
          </p:nvCxnSpPr>
          <p:spPr>
            <a:xfrm>
              <a:off x="6407" y="5102"/>
              <a:ext cx="0" cy="2665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30060" name="Text Box 684"/>
            <p:cNvSpPr txBox="1">
              <a:spLocks noChangeArrowheads="1"/>
            </p:cNvSpPr>
            <p:nvPr>
              <p:custDataLst>
                <p:tags r:id="rId112"/>
              </p:custDataLst>
            </p:nvPr>
          </p:nvSpPr>
          <p:spPr bwMode="auto">
            <a:xfrm>
              <a:off x="1475" y="5272"/>
              <a:ext cx="397" cy="249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eaVert" lIns="18000" tIns="10800" rIns="36195" bIns="10800" anchor="ctr"/>
            <a:p>
              <a:pPr algn="ctr"/>
              <a:r>
                <a:rPr lang="zh-CN" altLang="en-US" sz="1600" b="1" dirty="0" smtClean="0">
                  <a:latin typeface="宋体" panose="02010600030101010101" pitchFamily="2" charset="-122"/>
                </a:rPr>
                <a:t>磁盘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接口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30096" name="Text Box 720"/>
            <p:cNvSpPr txBox="1">
              <a:spLocks noChangeArrowheads="1"/>
            </p:cNvSpPr>
            <p:nvPr>
              <p:custDataLst>
                <p:tags r:id="rId113"/>
              </p:custDataLst>
            </p:nvPr>
          </p:nvSpPr>
          <p:spPr bwMode="auto">
            <a:xfrm>
              <a:off x="1928" y="5102"/>
              <a:ext cx="794" cy="28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097" name="Text Box 721"/>
            <p:cNvSpPr txBox="1">
              <a:spLocks noChangeArrowheads="1"/>
            </p:cNvSpPr>
            <p:nvPr>
              <p:custDataLst>
                <p:tags r:id="rId114"/>
              </p:custDataLst>
            </p:nvPr>
          </p:nvSpPr>
          <p:spPr bwMode="auto">
            <a:xfrm>
              <a:off x="2042" y="5952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REQ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098" name="Text Box 722"/>
            <p:cNvSpPr txBox="1">
              <a:spLocks noChangeArrowheads="1"/>
            </p:cNvSpPr>
            <p:nvPr>
              <p:custDataLst>
                <p:tags r:id="rId115"/>
              </p:custDataLst>
            </p:nvPr>
          </p:nvSpPr>
          <p:spPr bwMode="auto">
            <a:xfrm>
              <a:off x="1985" y="6802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BUSY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099" name="Text Box 723"/>
            <p:cNvSpPr txBox="1">
              <a:spLocks noChangeArrowheads="1"/>
            </p:cNvSpPr>
            <p:nvPr>
              <p:custDataLst>
                <p:tags r:id="rId116"/>
              </p:custDataLst>
            </p:nvPr>
          </p:nvSpPr>
          <p:spPr bwMode="auto">
            <a:xfrm>
              <a:off x="2042" y="555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C/D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0101" name="Text Box 725"/>
            <p:cNvSpPr txBox="1">
              <a:spLocks noChangeArrowheads="1"/>
            </p:cNvSpPr>
            <p:nvPr>
              <p:custDataLst>
                <p:tags r:id="rId117"/>
              </p:custDataLst>
            </p:nvPr>
          </p:nvSpPr>
          <p:spPr bwMode="auto">
            <a:xfrm>
              <a:off x="1929" y="7199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DREQ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18"/>
              </p:custDataLst>
            </p:nvPr>
          </p:nvCxnSpPr>
          <p:spPr>
            <a:xfrm flipH="1" flipV="1">
              <a:off x="1872" y="5386"/>
              <a:ext cx="1134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119"/>
              </p:custDataLst>
            </p:nvPr>
          </p:nvCxnSpPr>
          <p:spPr>
            <a:xfrm flipH="1">
              <a:off x="2836" y="5386"/>
              <a:ext cx="0" cy="34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29" name="直接连接符 28"/>
            <p:cNvCxnSpPr/>
            <p:nvPr>
              <p:custDataLst>
                <p:tags r:id="rId120"/>
              </p:custDataLst>
            </p:nvPr>
          </p:nvCxnSpPr>
          <p:spPr>
            <a:xfrm>
              <a:off x="2836" y="5726"/>
              <a:ext cx="1134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直接连接符 29"/>
            <p:cNvCxnSpPr/>
            <p:nvPr>
              <p:custDataLst>
                <p:tags r:id="rId121"/>
              </p:custDataLst>
            </p:nvPr>
          </p:nvCxnSpPr>
          <p:spPr>
            <a:xfrm>
              <a:off x="1871" y="5896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" name="直接连接符 30"/>
            <p:cNvCxnSpPr/>
            <p:nvPr>
              <p:custDataLst>
                <p:tags r:id="rId122"/>
              </p:custDataLst>
            </p:nvPr>
          </p:nvCxnSpPr>
          <p:spPr>
            <a:xfrm>
              <a:off x="1871" y="6292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直接连接符 31"/>
            <p:cNvCxnSpPr/>
            <p:nvPr>
              <p:custDataLst>
                <p:tags r:id="rId123"/>
              </p:custDataLst>
            </p:nvPr>
          </p:nvCxnSpPr>
          <p:spPr>
            <a:xfrm flipH="1" flipV="1">
              <a:off x="1871" y="6406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" name="直接连接符 32"/>
            <p:cNvCxnSpPr/>
            <p:nvPr>
              <p:custDataLst>
                <p:tags r:id="rId124"/>
              </p:custDataLst>
            </p:nvPr>
          </p:nvCxnSpPr>
          <p:spPr>
            <a:xfrm flipH="1" flipV="1">
              <a:off x="1872" y="7143"/>
              <a:ext cx="209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直接连接符 33"/>
            <p:cNvCxnSpPr/>
            <p:nvPr>
              <p:custDataLst>
                <p:tags r:id="rId125"/>
              </p:custDataLst>
            </p:nvPr>
          </p:nvCxnSpPr>
          <p:spPr>
            <a:xfrm flipH="1" flipV="1">
              <a:off x="1872" y="7539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7" name="直接连接符 36"/>
            <p:cNvCxnSpPr/>
            <p:nvPr>
              <p:custDataLst>
                <p:tags r:id="rId126"/>
              </p:custDataLst>
            </p:nvPr>
          </p:nvCxnSpPr>
          <p:spPr>
            <a:xfrm>
              <a:off x="1871" y="7653"/>
              <a:ext cx="113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" name="Text Box 725"/>
            <p:cNvSpPr txBox="1">
              <a:spLocks noChangeArrowheads="1"/>
            </p:cNvSpPr>
            <p:nvPr>
              <p:custDataLst>
                <p:tags r:id="rId127"/>
              </p:custDataLst>
            </p:nvPr>
          </p:nvSpPr>
          <p:spPr bwMode="auto">
            <a:xfrm>
              <a:off x="1929" y="7653"/>
              <a:ext cx="79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DACK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8" name="直接连接符 37"/>
            <p:cNvCxnSpPr/>
            <p:nvPr>
              <p:custDataLst>
                <p:tags r:id="rId128"/>
              </p:custDataLst>
            </p:nvPr>
          </p:nvCxnSpPr>
          <p:spPr>
            <a:xfrm flipV="1">
              <a:off x="8225" y="6689"/>
              <a:ext cx="227" cy="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129"/>
              </p:custDataLst>
            </p:nvPr>
          </p:nvCxnSpPr>
          <p:spPr>
            <a:xfrm>
              <a:off x="8225" y="6689"/>
              <a:ext cx="0" cy="510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直接连接符 136"/>
            <p:cNvCxnSpPr/>
            <p:nvPr>
              <p:custDataLst>
                <p:tags r:id="rId130"/>
              </p:custDataLst>
            </p:nvPr>
          </p:nvCxnSpPr>
          <p:spPr>
            <a:xfrm flipV="1">
              <a:off x="7314" y="6293"/>
              <a:ext cx="283" cy="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" name="Text Box 721"/>
            <p:cNvSpPr txBox="1">
              <a:spLocks noChangeArrowheads="1"/>
            </p:cNvSpPr>
            <p:nvPr>
              <p:custDataLst>
                <p:tags r:id="rId131"/>
              </p:custDataLst>
            </p:nvPr>
          </p:nvSpPr>
          <p:spPr bwMode="auto">
            <a:xfrm>
              <a:off x="2042" y="6406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ACK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719"/>
            <p:cNvSpPr txBox="1">
              <a:spLocks noChangeArrowheads="1"/>
            </p:cNvSpPr>
            <p:nvPr>
              <p:custDataLst>
                <p:tags r:id="rId132"/>
              </p:custDataLst>
            </p:nvPr>
          </p:nvSpPr>
          <p:spPr bwMode="auto">
            <a:xfrm>
              <a:off x="4479" y="6690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盘号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" name="AutoShape 65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133"/>
            </p:custDataLst>
          </p:nvPr>
        </p:nvSpPr>
        <p:spPr bwMode="auto">
          <a:xfrm rot="10800000">
            <a:off x="2988518" y="6524451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0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90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90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90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90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390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40C07-C469-4C59-9496-1B3443C501F3}" type="slidenum">
              <a:rPr lang="en-US" altLang="zh-CN"/>
            </a:fld>
            <a:endParaRPr lang="en-US" altLang="zh-CN"/>
          </a:p>
        </p:txBody>
      </p:sp>
      <p:sp>
        <p:nvSpPr>
          <p:cNvPr id="126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8435" y="360045"/>
            <a:ext cx="3187065" cy="55156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信息记录格式：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编址单位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定长记录格式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磁盘地址：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磁盘容量：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扇区格式：</a:t>
            </a:r>
            <a:endParaRPr lang="en-US" altLang="zh-CN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变长记录格式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5" name="Text Box 48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20290" y="791845"/>
            <a:ext cx="6689090" cy="43148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no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</a:rPr>
              <a:t>记录块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多个数据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降低寻址开销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</a:rPr>
              <a:t>有定长、变长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latin typeface="宋体" panose="02010600030101010101" pitchFamily="2" charset="-122"/>
              </a:rPr>
              <a:t>种格式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记录块称为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扇区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扇区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大小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固定、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扇角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固定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b="1" baseline="3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柱面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(2</a:t>
            </a:r>
            <a:r>
              <a:rPr lang="en-US" altLang="zh-CN" b="1" baseline="3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n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×2</a:t>
            </a:r>
            <a:r>
              <a:rPr lang="en-US" altLang="zh-CN" b="1" baseline="3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m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)×(2</a:t>
            </a:r>
            <a:r>
              <a:rPr lang="en-US" altLang="zh-CN" b="1" baseline="30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×S</a:t>
            </a:r>
            <a:r>
              <a:rPr lang="en-US" altLang="zh-CN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P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</a:pP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记录块的长度，包含在数据域中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有长度字段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6" name="Group 502"/>
          <p:cNvGrpSpPr/>
          <p:nvPr/>
        </p:nvGrpSpPr>
        <p:grpSpPr bwMode="auto">
          <a:xfrm>
            <a:off x="6515755" y="1296245"/>
            <a:ext cx="2232025" cy="1352550"/>
            <a:chOff x="4196" y="1852"/>
            <a:chExt cx="1406" cy="852"/>
          </a:xfrm>
        </p:grpSpPr>
        <p:sp>
          <p:nvSpPr>
            <p:cNvPr id="7" name="Text Box 445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967" y="1852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" name="Oval 446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242" y="1934"/>
              <a:ext cx="725" cy="726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9" name="Oval 447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4514" y="2206"/>
              <a:ext cx="181" cy="18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0" name="Oval 448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23" y="2116"/>
              <a:ext cx="363" cy="363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" name="Oval 449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332" y="2025"/>
              <a:ext cx="545" cy="544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2" name="Line 450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V="1">
              <a:off x="4604" y="1888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3" name="Line 451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V="1">
              <a:off x="4196" y="2296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4" name="Line 452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V="1">
              <a:off x="4287" y="2024"/>
              <a:ext cx="635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5" name="Line 453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 flipV="1">
              <a:off x="4332" y="2024"/>
              <a:ext cx="590" cy="5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16" name="Arc 454"/>
            <p:cNvSpPr/>
            <p:nvPr>
              <p:custDataLst>
                <p:tags r:id="rId12"/>
              </p:custDataLst>
            </p:nvPr>
          </p:nvSpPr>
          <p:spPr bwMode="auto">
            <a:xfrm>
              <a:off x="4604" y="1934"/>
              <a:ext cx="272" cy="36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420"/>
                <a:gd name="T1" fmla="*/ 0 h 21600"/>
                <a:gd name="T2" fmla="*/ 16420 w 16420"/>
                <a:gd name="T3" fmla="*/ 7566 h 21600"/>
                <a:gd name="T4" fmla="*/ 0 w 1642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420" h="21600" fill="none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</a:path>
                <a:path w="16420" h="21600" stroke="0" extrusionOk="0">
                  <a:moveTo>
                    <a:pt x="-1" y="0"/>
                  </a:moveTo>
                  <a:cubicBezTo>
                    <a:pt x="6316" y="0"/>
                    <a:pt x="12316" y="2764"/>
                    <a:pt x="16419" y="7566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CC3300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7" name="Arc 455"/>
            <p:cNvSpPr/>
            <p:nvPr>
              <p:custDataLst>
                <p:tags r:id="rId13"/>
              </p:custDataLst>
            </p:nvPr>
          </p:nvSpPr>
          <p:spPr bwMode="auto">
            <a:xfrm>
              <a:off x="4604" y="2064"/>
              <a:ext cx="359" cy="232"/>
            </a:xfrm>
            <a:custGeom>
              <a:avLst/>
              <a:gdLst>
                <a:gd name="G0" fmla="+- 0 0 0"/>
                <a:gd name="G1" fmla="+- 13889 0 0"/>
                <a:gd name="G2" fmla="+- 21600 0 0"/>
                <a:gd name="T0" fmla="*/ 16542 w 21600"/>
                <a:gd name="T1" fmla="*/ 0 h 13899"/>
                <a:gd name="T2" fmla="*/ 21600 w 21600"/>
                <a:gd name="T3" fmla="*/ 13899 h 13899"/>
                <a:gd name="T4" fmla="*/ 0 w 21600"/>
                <a:gd name="T5" fmla="*/ 13889 h 13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3899" fill="none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</a:path>
                <a:path w="21600" h="13899" stroke="0" extrusionOk="0">
                  <a:moveTo>
                    <a:pt x="16542" y="-1"/>
                  </a:moveTo>
                  <a:cubicBezTo>
                    <a:pt x="19809" y="3890"/>
                    <a:pt x="21600" y="8808"/>
                    <a:pt x="21600" y="13889"/>
                  </a:cubicBezTo>
                  <a:cubicBezTo>
                    <a:pt x="21600" y="13892"/>
                    <a:pt x="21599" y="13895"/>
                    <a:pt x="21599" y="13898"/>
                  </a:cubicBezTo>
                  <a:lnTo>
                    <a:pt x="0" y="13889"/>
                  </a:lnTo>
                  <a:close/>
                </a:path>
              </a:pathLst>
            </a:custGeom>
            <a:noFill/>
            <a:ln w="38100">
              <a:solidFill>
                <a:schemeClr val="accent2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8" name="Arc 456"/>
            <p:cNvSpPr/>
            <p:nvPr>
              <p:custDataLst>
                <p:tags r:id="rId14"/>
              </p:custDataLst>
            </p:nvPr>
          </p:nvSpPr>
          <p:spPr bwMode="auto">
            <a:xfrm>
              <a:off x="4650" y="2298"/>
              <a:ext cx="227" cy="195"/>
            </a:xfrm>
            <a:custGeom>
              <a:avLst/>
              <a:gdLst>
                <a:gd name="G0" fmla="+- 0 0 0"/>
                <a:gd name="G1" fmla="+- 674 0 0"/>
                <a:gd name="G2" fmla="+- 21600 0 0"/>
                <a:gd name="T0" fmla="*/ 21589 w 21600"/>
                <a:gd name="T1" fmla="*/ 0 h 16702"/>
                <a:gd name="T2" fmla="*/ 14480 w 21600"/>
                <a:gd name="T3" fmla="*/ 16702 h 16702"/>
                <a:gd name="T4" fmla="*/ 0 w 21600"/>
                <a:gd name="T5" fmla="*/ 674 h 16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6702" fill="none" extrusionOk="0">
                  <a:moveTo>
                    <a:pt x="21589" y="-1"/>
                  </a:moveTo>
                  <a:cubicBezTo>
                    <a:pt x="21596" y="224"/>
                    <a:pt x="21600" y="449"/>
                    <a:pt x="21600" y="674"/>
                  </a:cubicBezTo>
                  <a:cubicBezTo>
                    <a:pt x="21600" y="6783"/>
                    <a:pt x="19013" y="12606"/>
                    <a:pt x="14479" y="16701"/>
                  </a:cubicBezTo>
                </a:path>
                <a:path w="21600" h="16702" stroke="0" extrusionOk="0">
                  <a:moveTo>
                    <a:pt x="21589" y="-1"/>
                  </a:moveTo>
                  <a:cubicBezTo>
                    <a:pt x="21596" y="224"/>
                    <a:pt x="21600" y="449"/>
                    <a:pt x="21600" y="674"/>
                  </a:cubicBezTo>
                  <a:cubicBezTo>
                    <a:pt x="21600" y="6783"/>
                    <a:pt x="19013" y="12606"/>
                    <a:pt x="14479" y="16701"/>
                  </a:cubicBezTo>
                  <a:lnTo>
                    <a:pt x="0" y="674"/>
                  </a:lnTo>
                  <a:close/>
                </a:path>
              </a:pathLst>
            </a:custGeom>
            <a:noFill/>
            <a:ln w="38100">
              <a:solidFill>
                <a:srgbClr val="990099"/>
              </a:solidFill>
              <a:round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9" name="Line 457"/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4851" y="1989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0" name="Line 458"/>
            <p:cNvSpPr>
              <a:spLocks noChangeShapeType="1"/>
            </p:cNvSpPr>
            <p:nvPr>
              <p:custDataLst>
                <p:tags r:id="rId16"/>
              </p:custDataLst>
            </p:nvPr>
          </p:nvSpPr>
          <p:spPr bwMode="auto">
            <a:xfrm flipV="1">
              <a:off x="4943" y="1988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1" name="Line 459"/>
            <p:cNvSpPr>
              <a:spLocks noChangeShapeType="1"/>
            </p:cNvSpPr>
            <p:nvPr>
              <p:custDataLst>
                <p:tags r:id="rId17"/>
              </p:custDataLst>
            </p:nvPr>
          </p:nvSpPr>
          <p:spPr bwMode="auto">
            <a:xfrm flipV="1">
              <a:off x="4967" y="2205"/>
              <a:ext cx="91" cy="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2" name="Line 460"/>
            <p:cNvSpPr>
              <a:spLocks noChangeShapeType="1"/>
            </p:cNvSpPr>
            <p:nvPr>
              <p:custDataLst>
                <p:tags r:id="rId18"/>
              </p:custDataLst>
            </p:nvPr>
          </p:nvSpPr>
          <p:spPr bwMode="auto">
            <a:xfrm flipV="1">
              <a:off x="5059" y="2205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3" name="Text Box 461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5058" y="2056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0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" name="Line 462"/>
            <p:cNvSpPr>
              <a:spLocks noChangeShapeType="1"/>
            </p:cNvSpPr>
            <p:nvPr>
              <p:custDataLst>
                <p:tags r:id="rId20"/>
              </p:custDataLst>
            </p:nvPr>
          </p:nvSpPr>
          <p:spPr bwMode="auto">
            <a:xfrm>
              <a:off x="4831" y="2432"/>
              <a:ext cx="182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5" name="Line 463"/>
            <p:cNvSpPr>
              <a:spLocks noChangeShapeType="1"/>
            </p:cNvSpPr>
            <p:nvPr>
              <p:custDataLst>
                <p:tags r:id="rId21"/>
              </p:custDataLst>
            </p:nvPr>
          </p:nvSpPr>
          <p:spPr bwMode="auto">
            <a:xfrm flipV="1">
              <a:off x="5014" y="2523"/>
              <a:ext cx="4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/>
            <a:p>
              <a:endParaRPr lang="zh-CN" altLang="en-US"/>
            </a:p>
          </p:txBody>
        </p:sp>
        <p:sp>
          <p:nvSpPr>
            <p:cNvPr id="26" name="Text Box 464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5013" y="2374"/>
              <a:ext cx="544" cy="136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道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2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扇区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2735510" y="2808000"/>
            <a:ext cx="3888740" cy="252000"/>
            <a:chOff x="4535" y="3288"/>
            <a:chExt cx="6124" cy="340"/>
          </a:xfrm>
        </p:grpSpPr>
        <p:sp>
          <p:nvSpPr>
            <p:cNvPr id="28" name="Text Box 467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4535" y="3288"/>
              <a:ext cx="2040" cy="34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磁道号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(n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9" name="Text Box 468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6576" y="3288"/>
              <a:ext cx="2041" cy="34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盘面号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(m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469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8618" y="3288"/>
              <a:ext cx="2041" cy="34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800" b="1" dirty="0">
                  <a:latin typeface="宋体" panose="02010600030101010101" pitchFamily="2" charset="-122"/>
                </a:rPr>
                <a:t>扇区号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(p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位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29" name="线形标注 2 128"/>
          <p:cNvSpPr/>
          <p:nvPr>
            <p:custDataLst>
              <p:tags r:id="rId26"/>
            </p:custDataLst>
          </p:nvPr>
        </p:nvSpPr>
        <p:spPr bwMode="auto">
          <a:xfrm>
            <a:off x="4577016" y="4893550"/>
            <a:ext cx="2124000" cy="252000"/>
          </a:xfrm>
          <a:prstGeom prst="borderCallout2">
            <a:avLst>
              <a:gd name="adj1" fmla="val 50869"/>
              <a:gd name="adj2" fmla="val -116"/>
              <a:gd name="adj3" fmla="val 52632"/>
              <a:gd name="adj4" fmla="val -11507"/>
              <a:gd name="adj5" fmla="val -32349"/>
              <a:gd name="adj6" fmla="val -18682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寻址无需从</a:t>
            </a:r>
            <a:r>
              <a:rPr lang="en-US" altLang="zh-CN" sz="1600" b="1" dirty="0" smtClean="0">
                <a:latin typeface="+mn-ea"/>
                <a:ea typeface="+mn-ea"/>
              </a:rPr>
              <a:t>0</a:t>
            </a:r>
            <a:r>
              <a:rPr lang="zh-CN" altLang="en-US" sz="1600" b="1" dirty="0" smtClean="0">
                <a:latin typeface="+mn-ea"/>
                <a:ea typeface="+mn-ea"/>
              </a:rPr>
              <a:t>扇区开始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grpSp>
        <p:nvGrpSpPr>
          <p:cNvPr id="282" name="组合 281"/>
          <p:cNvGrpSpPr/>
          <p:nvPr/>
        </p:nvGrpSpPr>
        <p:grpSpPr>
          <a:xfrm>
            <a:off x="2738755" y="4065550"/>
            <a:ext cx="4716780" cy="684530"/>
            <a:chOff x="5556" y="7200"/>
            <a:chExt cx="7428" cy="1078"/>
          </a:xfrm>
        </p:grpSpPr>
        <p:sp>
          <p:nvSpPr>
            <p:cNvPr id="184" name="Text Box 472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556" y="7542"/>
              <a:ext cx="45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头空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5" name="Text Box 47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009" y="7542"/>
              <a:ext cx="737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同步字符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6" name="Text Box 47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6746" y="7542"/>
              <a:ext cx="737" cy="737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地址标志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Text Box 475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7483" y="7542"/>
              <a:ext cx="737" cy="7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扇区地址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" name="Text Box 476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8220" y="7542"/>
              <a:ext cx="567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solidFill>
                    <a:srgbClr val="FF3399"/>
                  </a:solidFill>
                  <a:latin typeface="宋体" panose="02010600030101010101" pitchFamily="2" charset="-122"/>
                </a:rPr>
                <a:t>CRC</a:t>
              </a:r>
              <a:endParaRPr lang="en-US" altLang="zh-CN" sz="1600" b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9" name="Text Box 47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8786" y="7542"/>
              <a:ext cx="567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间隙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0" name="Text Box 478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9354" y="7542"/>
              <a:ext cx="737" cy="73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同步字符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1" name="Text Box 479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0091" y="7542"/>
              <a:ext cx="737" cy="737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数据标志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192" name="Text Box 480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828" y="7542"/>
              <a:ext cx="1134" cy="73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3" name="Text Box 481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1961" y="7542"/>
              <a:ext cx="567" cy="737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>
                  <a:solidFill>
                    <a:srgbClr val="FF3399"/>
                  </a:solidFill>
                  <a:latin typeface="宋体" panose="02010600030101010101" pitchFamily="2" charset="-122"/>
                </a:rPr>
                <a:t>CRC</a:t>
              </a:r>
              <a:endParaRPr lang="en-US" altLang="zh-CN" sz="1600" b="1">
                <a:solidFill>
                  <a:srgbClr val="FF33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94" name="Text Box 482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2530" y="7542"/>
              <a:ext cx="454" cy="7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36195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尾空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5" name="Text Box 48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7030" y="7200"/>
              <a:ext cx="73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600" b="1" dirty="0">
                  <a:latin typeface="宋体" panose="02010600030101010101" pitchFamily="2" charset="-122"/>
                </a:rPr>
                <a:t>ID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域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6" name="Text Box 484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0600" y="7200"/>
              <a:ext cx="1077" cy="340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>
                  <a:latin typeface="宋体" panose="02010600030101010101" pitchFamily="2" charset="-122"/>
                </a:rPr>
                <a:t>数据域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cxnSp>
          <p:nvCxnSpPr>
            <p:cNvPr id="197" name="直接连接符 196"/>
            <p:cNvCxnSpPr/>
            <p:nvPr>
              <p:custDataLst>
                <p:tags r:id="rId40"/>
              </p:custDataLst>
            </p:nvPr>
          </p:nvCxnSpPr>
          <p:spPr bwMode="auto">
            <a:xfrm>
              <a:off x="6009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直接连接符 207"/>
            <p:cNvCxnSpPr/>
            <p:nvPr>
              <p:custDataLst>
                <p:tags r:id="rId41"/>
              </p:custDataLst>
            </p:nvPr>
          </p:nvCxnSpPr>
          <p:spPr bwMode="auto">
            <a:xfrm>
              <a:off x="8785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7" name="直接连接符 266"/>
            <p:cNvCxnSpPr/>
            <p:nvPr>
              <p:custDataLst>
                <p:tags r:id="rId42"/>
              </p:custDataLst>
            </p:nvPr>
          </p:nvCxnSpPr>
          <p:spPr bwMode="auto">
            <a:xfrm>
              <a:off x="7824" y="7370"/>
              <a:ext cx="96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7" name="直接连接符 276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6009" y="7370"/>
              <a:ext cx="102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8" name="直接连接符 277"/>
            <p:cNvCxnSpPr/>
            <p:nvPr>
              <p:custDataLst>
                <p:tags r:id="rId44"/>
              </p:custDataLst>
            </p:nvPr>
          </p:nvCxnSpPr>
          <p:spPr bwMode="auto">
            <a:xfrm>
              <a:off x="9354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直接连接符 278"/>
            <p:cNvCxnSpPr/>
            <p:nvPr>
              <p:custDataLst>
                <p:tags r:id="rId45"/>
              </p:custDataLst>
            </p:nvPr>
          </p:nvCxnSpPr>
          <p:spPr bwMode="auto">
            <a:xfrm>
              <a:off x="12981" y="7200"/>
              <a:ext cx="0" cy="283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直接连接符 279"/>
            <p:cNvCxnSpPr/>
            <p:nvPr>
              <p:custDataLst>
                <p:tags r:id="rId46"/>
              </p:custDataLst>
            </p:nvPr>
          </p:nvCxnSpPr>
          <p:spPr bwMode="auto">
            <a:xfrm>
              <a:off x="11735" y="7370"/>
              <a:ext cx="124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1" name="直接连接符 280"/>
            <p:cNvCxnSpPr/>
            <p:nvPr>
              <p:custDataLst>
                <p:tags r:id="rId47"/>
              </p:custDataLst>
            </p:nvPr>
          </p:nvCxnSpPr>
          <p:spPr bwMode="auto">
            <a:xfrm flipH="1" flipV="1">
              <a:off x="9354" y="7370"/>
              <a:ext cx="1247" cy="2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27" name="线形标注 2 126"/>
          <p:cNvSpPr/>
          <p:nvPr>
            <p:custDataLst>
              <p:tags r:id="rId48"/>
            </p:custDataLst>
          </p:nvPr>
        </p:nvSpPr>
        <p:spPr bwMode="auto">
          <a:xfrm>
            <a:off x="7163415" y="2852822"/>
            <a:ext cx="1836000" cy="252000"/>
          </a:xfrm>
          <a:prstGeom prst="borderCallout2">
            <a:avLst>
              <a:gd name="adj1" fmla="val 48221"/>
              <a:gd name="adj2" fmla="val 346"/>
              <a:gd name="adj3" fmla="val 42929"/>
              <a:gd name="adj4" fmla="val -14836"/>
              <a:gd name="adj5" fmla="val -115316"/>
              <a:gd name="adj6" fmla="val -41709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105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匀速转动</a:t>
            </a:r>
            <a:r>
              <a:rPr lang="en-US" altLang="zh-CN" sz="1600" b="1" dirty="0" smtClean="0">
                <a:latin typeface="+mn-ea"/>
                <a:ea typeface="+mn-ea"/>
              </a:rPr>
              <a:t>+</a:t>
            </a:r>
            <a:r>
              <a:rPr lang="zh-CN" altLang="en-US" sz="1600" b="1" dirty="0" smtClean="0">
                <a:latin typeface="+mn-ea"/>
                <a:ea typeface="+mn-ea"/>
              </a:rPr>
              <a:t>定时采样</a:t>
            </a:r>
            <a:endParaRPr lang="zh-CN" altLang="en-US" sz="1600" b="1" dirty="0" smtClean="0">
              <a:latin typeface="+mn-ea"/>
              <a:ea typeface="+mn-ea"/>
            </a:endParaRPr>
          </a:p>
        </p:txBody>
      </p:sp>
      <p:sp>
        <p:nvSpPr>
          <p:cNvPr id="388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31" name="AutoShape 654">
            <a:hlinkClick r:id="" action="ppaction://hlinkshowjump?jump=nextslide" highlightClick="1"/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2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" grpId="0" bldLvl="0" animBg="1"/>
      <p:bldP spid="127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17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390900" cy="2399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主要性能指标：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存储容量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数据传输率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平均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时间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" name="Text Box 18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339340" y="791845"/>
            <a:ext cx="6660515" cy="19380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＝磁道数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磁道长度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记录密度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格式化</a:t>
            </a:r>
            <a:r>
              <a:rPr 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前</a:t>
            </a:r>
            <a:endParaRPr lang="en-US" altLang="zh-CN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＝磁道数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扇区数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扇区大小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格式化后</a:t>
            </a:r>
            <a:endParaRPr lang="en-US" altLang="zh-CN" b="1" dirty="0" err="1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D</a:t>
            </a:r>
            <a:r>
              <a:rPr lang="en-US" altLang="zh-CN" b="1" baseline="-18000" dirty="0" err="1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r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zh-CN" altLang="en-US" b="1" u="sng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磁道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容量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×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磁盘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转速</a:t>
            </a:r>
            <a:endParaRPr lang="zh-CN" altLang="en-US" b="1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T</a:t>
            </a:r>
            <a:r>
              <a:rPr lang="en-US" altLang="zh-CN" b="1" baseline="-18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平均寻道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平均</a:t>
            </a:r>
            <a:r>
              <a:rPr lang="zh-CN" altLang="en-US" b="1" baseline="-250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等待</a:t>
            </a:r>
            <a:r>
              <a:rPr lang="zh-CN" altLang="en-US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en-US" altLang="zh-CN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8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zh-CN" altLang="en-US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可忽略</a:t>
            </a:r>
            <a:endParaRPr lang="zh-CN" altLang="en-US" sz="1800" b="1" dirty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线形标注 2 19"/>
          <p:cNvSpPr/>
          <p:nvPr>
            <p:custDataLst>
              <p:tags r:id="rId3"/>
            </p:custDataLst>
          </p:nvPr>
        </p:nvSpPr>
        <p:spPr bwMode="auto">
          <a:xfrm>
            <a:off x="6947049" y="3571503"/>
            <a:ext cx="2052000" cy="216000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0015"/>
              <a:gd name="adj5" fmla="val -228545"/>
              <a:gd name="adj6" fmla="val -2956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105000"/>
              </a:lnSpc>
            </a:pPr>
            <a:r>
              <a:rPr lang="en-US" altLang="zh-CN" sz="1600" dirty="0">
                <a:solidFill>
                  <a:srgbClr val="990099"/>
                </a:solidFill>
              </a:rPr>
              <a:t>R</a:t>
            </a:r>
            <a:r>
              <a:rPr lang="en-US" altLang="zh-CN" sz="1600" dirty="0"/>
              <a:t>evolutions </a:t>
            </a:r>
            <a:r>
              <a:rPr lang="en-US" altLang="zh-CN" sz="1600" dirty="0">
                <a:solidFill>
                  <a:srgbClr val="990099"/>
                </a:solidFill>
              </a:rPr>
              <a:t>P</a:t>
            </a:r>
            <a:r>
              <a:rPr lang="en-US" altLang="zh-CN" sz="1600" dirty="0"/>
              <a:t>er </a:t>
            </a:r>
            <a:r>
              <a:rPr lang="en-US" altLang="zh-CN" sz="1600" dirty="0">
                <a:solidFill>
                  <a:srgbClr val="990099"/>
                </a:solidFill>
              </a:rPr>
              <a:t>M</a:t>
            </a:r>
            <a:r>
              <a:rPr lang="en-US" altLang="zh-CN" sz="1600" dirty="0"/>
              <a:t>inute</a:t>
            </a:r>
            <a:endParaRPr lang="en-US" altLang="zh-CN" sz="1600" b="1" dirty="0">
              <a:latin typeface="+mn-ea"/>
              <a:ea typeface="+mn-ea"/>
            </a:endParaRPr>
          </a:p>
        </p:txBody>
      </p:sp>
      <p:sp>
        <p:nvSpPr>
          <p:cNvPr id="8" name="Text Box 59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56210" y="2697480"/>
            <a:ext cx="8808720" cy="29381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000" b="1" dirty="0" smtClean="0">
                <a:solidFill>
                  <a:srgbClr val="990099"/>
                </a:solidFill>
                <a:latin typeface="+mn-ea"/>
                <a:ea typeface="+mn-ea"/>
              </a:rPr>
              <a:t>1—</a:t>
            </a:r>
            <a:r>
              <a:rPr lang="zh-CN" altLang="en-US" sz="2000" b="1" dirty="0" smtClean="0">
                <a:latin typeface="+mn-ea"/>
                <a:ea typeface="+mn-ea"/>
              </a:rPr>
              <a:t>某磁盘</a:t>
            </a:r>
            <a:r>
              <a:rPr lang="zh-CN" sz="2000" b="1" dirty="0">
                <a:latin typeface="+mn-ea"/>
                <a:ea typeface="+mn-ea"/>
              </a:rPr>
              <a:t>有</a:t>
            </a:r>
            <a:r>
              <a:rPr lang="en-US" altLang="zh-CN" sz="2000" b="1" dirty="0">
                <a:latin typeface="+mn-ea"/>
                <a:ea typeface="+mn-ea"/>
              </a:rPr>
              <a:t>50000</a:t>
            </a:r>
            <a:r>
              <a:rPr lang="zh-CN" altLang="en-US" sz="2000" b="1" dirty="0">
                <a:latin typeface="+mn-ea"/>
                <a:ea typeface="+mn-ea"/>
              </a:rPr>
              <a:t>个磁道</a:t>
            </a:r>
            <a:r>
              <a:rPr lang="zh-CN" altLang="zh-CN" sz="2000" b="1" dirty="0">
                <a:latin typeface="+mn-ea"/>
                <a:ea typeface="+mn-ea"/>
              </a:rPr>
              <a:t>，磁盘转速为</a:t>
            </a:r>
            <a:r>
              <a:rPr lang="en-US" altLang="zh-CN" sz="2000" b="1" dirty="0" smtClean="0">
                <a:latin typeface="+mn-ea"/>
                <a:ea typeface="+mn-ea"/>
              </a:rPr>
              <a:t>7200RPM</a:t>
            </a:r>
            <a:r>
              <a:rPr lang="en-US" altLang="zh-CN" sz="1600" b="1" dirty="0" smtClean="0">
                <a:latin typeface="+mn-ea"/>
                <a:ea typeface="+mn-ea"/>
              </a:rPr>
              <a:t>(</a:t>
            </a:r>
            <a:r>
              <a:rPr lang="zh-CN" altLang="zh-CN" sz="1600" b="1" dirty="0" smtClean="0">
                <a:latin typeface="+mn-ea"/>
                <a:ea typeface="+mn-ea"/>
              </a:rPr>
              <a:t>转</a:t>
            </a:r>
            <a:r>
              <a:rPr lang="en-US" altLang="zh-CN" sz="1600" b="1" dirty="0">
                <a:latin typeface="+mn-ea"/>
                <a:ea typeface="+mn-ea"/>
              </a:rPr>
              <a:t>/</a:t>
            </a:r>
            <a:r>
              <a:rPr lang="zh-CN" altLang="zh-CN" sz="1600" b="1" dirty="0" smtClean="0">
                <a:latin typeface="+mn-ea"/>
                <a:ea typeface="+mn-ea"/>
              </a:rPr>
              <a:t>分钟</a:t>
            </a:r>
            <a:r>
              <a:rPr lang="en-US" altLang="zh-CN" sz="1600" b="1" dirty="0" smtClean="0">
                <a:latin typeface="+mn-ea"/>
                <a:ea typeface="+mn-ea"/>
              </a:rPr>
              <a:t>)</a:t>
            </a:r>
            <a:r>
              <a:rPr lang="zh-CN" altLang="en-US" sz="2000" b="1" dirty="0" smtClean="0">
                <a:latin typeface="+mn-ea"/>
                <a:ea typeface="+mn-ea"/>
              </a:rPr>
              <a:t>；磁盘格式化后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1000</a:t>
            </a:r>
            <a:r>
              <a:rPr lang="zh-CN" altLang="en-US" sz="2000" b="1" dirty="0" smtClean="0">
                <a:latin typeface="+mn-ea"/>
                <a:ea typeface="+mn-ea"/>
                <a:sym typeface="+mn-ea"/>
              </a:rPr>
              <a:t>扇区</a:t>
            </a:r>
            <a:r>
              <a:rPr lang="en-US" altLang="zh-CN" sz="2000" b="1" dirty="0" smtClean="0">
                <a:latin typeface="+mn-ea"/>
                <a:ea typeface="+mn-ea"/>
                <a:sym typeface="+mn-ea"/>
              </a:rPr>
              <a:t>/</a:t>
            </a:r>
            <a:r>
              <a:rPr lang="zh-CN" altLang="en-US" sz="2000" b="1" dirty="0" smtClean="0">
                <a:latin typeface="+mn-ea"/>
                <a:ea typeface="+mn-ea"/>
              </a:rPr>
              <a:t>磁道、扇区大小为</a:t>
            </a:r>
            <a:r>
              <a:rPr lang="en-US" altLang="zh-CN" sz="2000" b="1" dirty="0" smtClean="0">
                <a:latin typeface="+mn-ea"/>
                <a:ea typeface="+mn-ea"/>
              </a:rPr>
              <a:t>512B</a:t>
            </a:r>
            <a:r>
              <a:rPr lang="zh-CN" altLang="en-US" sz="2000" b="1" dirty="0" smtClean="0">
                <a:latin typeface="+mn-ea"/>
                <a:ea typeface="+mn-ea"/>
              </a:rPr>
              <a:t>，平均寻道时间为</a:t>
            </a:r>
            <a:r>
              <a:rPr lang="en-US" altLang="zh-CN" sz="2000" b="1" dirty="0" smtClean="0">
                <a:latin typeface="+mn-ea"/>
                <a:ea typeface="+mn-ea"/>
              </a:rPr>
              <a:t>8ms</a:t>
            </a:r>
            <a:r>
              <a:rPr lang="zh-CN" altLang="en-US" sz="2000" b="1" dirty="0" smtClean="0">
                <a:latin typeface="+mn-ea"/>
                <a:ea typeface="+mn-ea"/>
              </a:rPr>
              <a:t>，</a:t>
            </a:r>
            <a:r>
              <a:rPr lang="zh-CN" altLang="zh-CN" sz="2000" b="1" dirty="0" smtClean="0">
                <a:latin typeface="+mn-ea"/>
                <a:ea typeface="+mn-ea"/>
              </a:rPr>
              <a:t>请</a:t>
            </a:r>
            <a:r>
              <a:rPr lang="zh-CN" altLang="zh-CN" sz="2000" b="1" dirty="0">
                <a:latin typeface="+mn-ea"/>
                <a:ea typeface="+mn-ea"/>
              </a:rPr>
              <a:t>回答下列问题</a:t>
            </a:r>
            <a:r>
              <a:rPr lang="zh-CN" altLang="zh-CN" sz="2000" b="1" dirty="0" smtClean="0">
                <a:latin typeface="+mn-ea"/>
                <a:ea typeface="+mn-ea"/>
              </a:rPr>
              <a:t>：</a:t>
            </a:r>
            <a:endParaRPr lang="en-US" altLang="zh-CN" sz="2000" b="1" dirty="0" smtClean="0">
              <a:latin typeface="+mn-ea"/>
              <a:ea typeface="+mn-ea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</a:rPr>
              <a:t>1)</a:t>
            </a:r>
            <a:r>
              <a:rPr lang="zh-CN" altLang="en-US" sz="2000" b="1" dirty="0">
                <a:latin typeface="宋体" panose="02010600030101010101" pitchFamily="2" charset="-122"/>
              </a:rPr>
              <a:t>磁道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容量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</a:rPr>
              <a:t>2)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带宽＝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2000" b="1" dirty="0">
                <a:latin typeface="宋体" panose="02010600030101010101" pitchFamily="2" charset="-122"/>
              </a:rPr>
              <a:t>3)</a:t>
            </a:r>
            <a:r>
              <a:rPr lang="zh-CN" altLang="en-US" sz="2000" b="1" dirty="0">
                <a:latin typeface="宋体" panose="02010600030101010101" pitchFamily="2" charset="-122"/>
                <a:sym typeface="+mn-ea"/>
              </a:rPr>
              <a:t>平均访问时间＝</a:t>
            </a: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0" name="Text Box 89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75740" y="3454400"/>
            <a:ext cx="7488555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spc="-50" dirty="0" smtClean="0">
                <a:latin typeface="宋体" panose="02010600030101010101" pitchFamily="2" charset="-122"/>
              </a:rPr>
              <a:t>      50000×1000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×512B</a:t>
            </a:r>
            <a:r>
              <a:rPr lang="zh-CN" altLang="en-US" sz="2000" b="1" spc="-50" dirty="0">
                <a:latin typeface="宋体" panose="02010600030101010101" pitchFamily="2" charset="-122"/>
              </a:rPr>
              <a:t>＝</a:t>
            </a:r>
            <a:r>
              <a:rPr lang="en-US" altLang="zh-CN" sz="2000" b="1" spc="-50" dirty="0">
                <a:latin typeface="宋体" panose="02010600030101010101" pitchFamily="2" charset="-122"/>
              </a:rPr>
              <a:t>25</a:t>
            </a:r>
            <a:r>
              <a:rPr lang="en-US" altLang="zh-CN" sz="2000" b="1" spc="-50" dirty="0">
                <a:latin typeface="宋体" panose="02010600030101010101" pitchFamily="2" charset="-122"/>
                <a:sym typeface="+mn-ea"/>
              </a:rPr>
              <a:t>.</a:t>
            </a:r>
            <a:r>
              <a:rPr lang="en-US" altLang="zh-CN" sz="2000" b="1" spc="-50" dirty="0">
                <a:latin typeface="宋体" panose="02010600030101010101" pitchFamily="2" charset="-122"/>
              </a:rPr>
              <a:t>6</a:t>
            </a:r>
            <a:r>
              <a:rPr lang="en-US" altLang="zh-CN" sz="2000" b="1" spc="-50" dirty="0">
                <a:solidFill>
                  <a:srgbClr val="FF3399"/>
                </a:solidFill>
                <a:latin typeface="宋体" panose="02010600030101010101" pitchFamily="2" charset="-122"/>
              </a:rPr>
              <a:t>GB</a:t>
            </a:r>
            <a:r>
              <a:rPr lang="zh-CN" altLang="en-US" sz="2000" b="1" spc="-50" dirty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 smtClean="0">
                <a:latin typeface="宋体" panose="02010600030101010101" pitchFamily="2" charset="-122"/>
              </a:rPr>
              <a:t>25</a:t>
            </a:r>
            <a:r>
              <a:rPr lang="en-US" altLang="zh-CN" sz="20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G</a:t>
            </a:r>
            <a:r>
              <a:rPr lang="en-US" altLang="zh-CN" sz="2000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iB</a:t>
            </a:r>
            <a:endParaRPr lang="en-US" altLang="zh-CN" sz="2000" b="1" spc="-50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spc="-50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endParaRPr lang="en-US" altLang="zh-CN" sz="2000" b="1" spc="-50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  (1000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×512B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×(7200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÷60)</a:t>
            </a:r>
            <a:r>
              <a:rPr lang="zh-CN" altLang="en-US" sz="2000" b="1" spc="-50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61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.44MB/s</a:t>
            </a:r>
            <a:endParaRPr lang="zh-CN" altLang="en-US" sz="2000" b="1" spc="-50" dirty="0">
              <a:latin typeface="宋体" panose="02010600030101010101" pitchFamily="2" charset="-122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          8ms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/(7200÷60s)]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÷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2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en-US" altLang="zh-CN" sz="2000" b="1" dirty="0">
                <a:latin typeface="宋体" panose="02010600030101010101" pitchFamily="2" charset="-122"/>
                <a:sym typeface="+mn-ea"/>
              </a:rPr>
              <a:t>1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/(7200÷60s)]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÷</a:t>
            </a:r>
            <a:r>
              <a:rPr lang="en-US" altLang="zh-CN" sz="2000" b="1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1000</a:t>
            </a:r>
            <a:endParaRPr lang="en-US" altLang="zh-CN" sz="2000" b="1" spc="-50" dirty="0" smtClean="0">
              <a:latin typeface="宋体" panose="02010600030101010101" pitchFamily="2" charset="-122"/>
              <a:sym typeface="+mn-ea"/>
            </a:endParaRPr>
          </a:p>
          <a:p>
            <a:pPr marL="0" indent="0" algn="l" eaLnBrk="1" latinLnBrk="0" hangingPunct="1">
              <a:lnSpc>
                <a:spcPct val="125000"/>
              </a:lnSpc>
            </a:pP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sz="2000" b="1" dirty="0" smtClean="0"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sz="2000" b="1" dirty="0" smtClean="0">
                <a:latin typeface="宋体" panose="02010600030101010101" pitchFamily="2" charset="-122"/>
                <a:sym typeface="+mn-ea"/>
              </a:rPr>
              <a:t>8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ms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4.17ms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8.33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ns</a:t>
            </a:r>
            <a:r>
              <a:rPr lang="zh-CN" altLang="en-US" sz="2000" b="1" spc="-50" dirty="0" smtClean="0">
                <a:latin typeface="宋体" panose="02010600030101010101" pitchFamily="2" charset="-122"/>
                <a:sym typeface="+mn-ea"/>
              </a:rPr>
              <a:t>≈</a:t>
            </a:r>
            <a:r>
              <a:rPr lang="en-US" altLang="zh-CN" sz="2000" b="1" spc="-50" dirty="0" smtClean="0">
                <a:latin typeface="宋体" panose="02010600030101010101" pitchFamily="2" charset="-122"/>
                <a:sym typeface="+mn-ea"/>
              </a:rPr>
              <a:t>12.17ms</a:t>
            </a:r>
            <a:endParaRPr lang="zh-CN" altLang="en-US" sz="2000" b="1" spc="-50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49" name="Text Box 72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86815" y="3922285"/>
            <a:ext cx="7236000" cy="864000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</a:ln>
          <a:effectLst/>
        </p:spPr>
        <p:txBody>
          <a:bodyPr wrap="square" lIns="18000" tIns="10800" rIns="18000" bIns="10800" anchor="ctr" anchorCtr="0">
            <a:noAutofit/>
          </a:bodyPr>
          <a:lstStyle>
            <a:defPPr>
              <a:defRPr lang="zh-CN"/>
            </a:defPPr>
            <a:lvl1pPr>
              <a:lnSpc>
                <a:spcPct val="125000"/>
              </a:lnSpc>
              <a:defRPr sz="2000" b="1" u="none">
                <a:solidFill>
                  <a:srgbClr val="990099"/>
                </a:solidFill>
                <a:latin typeface="宋体" panose="02010600030101010101" pitchFamily="2" charset="-122"/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altLang="zh-CN" sz="1800" dirty="0">
                <a:solidFill>
                  <a:srgbClr val="C00000"/>
                </a:solidFill>
              </a:rPr>
              <a:t>MEM</a:t>
            </a:r>
            <a:r>
              <a:rPr lang="zh-CN" altLang="en-US" sz="1800" dirty="0">
                <a:solidFill>
                  <a:srgbClr val="C00000"/>
                </a:solidFill>
              </a:rPr>
              <a:t>容量单位</a:t>
            </a:r>
            <a:r>
              <a:rPr lang="zh-CN" altLang="en-US" sz="1800" dirty="0" smtClean="0">
                <a:solidFill>
                  <a:srgbClr val="C00000"/>
                </a:solidFill>
              </a:rPr>
              <a:t>：</a:t>
            </a:r>
            <a:r>
              <a:rPr lang="en-US" sz="1800" dirty="0" smtClean="0">
                <a:solidFill>
                  <a:srgbClr val="990099"/>
                </a:solidFill>
              </a:rPr>
              <a:t>RAM</a:t>
            </a:r>
            <a:r>
              <a:rPr lang="zh-CN" altLang="en-US" sz="1800" dirty="0" smtClean="0">
                <a:solidFill>
                  <a:srgbClr val="990099"/>
                </a:solidFill>
              </a:rPr>
              <a:t>类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寻址</a:t>
            </a:r>
            <a:r>
              <a:rPr lang="zh-CN" altLang="en-US" sz="1800" u="sng" dirty="0" smtClean="0">
                <a:solidFill>
                  <a:schemeClr val="tx1"/>
                </a:solidFill>
                <a:sym typeface="+mn-ea"/>
              </a:rPr>
              <a:t>用译码器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)</a:t>
            </a:r>
            <a:r>
              <a:rPr lang="zh-CN" altLang="en-US" sz="1800" dirty="0" smtClean="0">
                <a:solidFill>
                  <a:schemeClr val="tx1"/>
                </a:solidFill>
              </a:rPr>
              <a:t>的</a:t>
            </a:r>
            <a:r>
              <a:rPr lang="en-US" altLang="zh-CN" sz="1800" dirty="0" smtClean="0">
                <a:solidFill>
                  <a:schemeClr val="tx1"/>
                </a:solidFill>
              </a:rPr>
              <a:t>1KB</a:t>
            </a:r>
            <a:r>
              <a:rPr lang="zh-CN" altLang="en-US" sz="1800" dirty="0" smtClean="0">
                <a:solidFill>
                  <a:schemeClr val="tx1"/>
                </a:solidFill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</a:rPr>
              <a:t>2</a:t>
            </a:r>
            <a:r>
              <a:rPr lang="en-US" altLang="zh-CN" sz="1800" baseline="50000" dirty="0" smtClean="0">
                <a:solidFill>
                  <a:schemeClr val="tx1"/>
                </a:solidFill>
                <a:uFillTx/>
              </a:rPr>
              <a:t>10</a:t>
            </a:r>
            <a:r>
              <a:rPr lang="en-US" altLang="zh-CN" sz="1800" dirty="0" smtClean="0">
                <a:solidFill>
                  <a:schemeClr val="tx1"/>
                </a:solidFill>
                <a:uFillTx/>
              </a:rPr>
              <a:t>B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，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          </a:t>
            </a:r>
            <a:r>
              <a:rPr lang="zh-CN" sz="1800" dirty="0" smtClean="0">
                <a:solidFill>
                  <a:srgbClr val="990099"/>
                </a:solidFill>
              </a:rPr>
              <a:t>其余</a:t>
            </a:r>
            <a:r>
              <a:rPr lang="en-US" altLang="zh-CN" sz="1800" dirty="0" smtClean="0">
                <a:solidFill>
                  <a:schemeClr val="tx1"/>
                </a:solidFill>
              </a:rPr>
              <a:t>(</a:t>
            </a:r>
            <a:r>
              <a:rPr lang="zh-CN" altLang="en-US" sz="1800" dirty="0" smtClean="0">
                <a:solidFill>
                  <a:schemeClr val="tx1"/>
                </a:solidFill>
              </a:rPr>
              <a:t>寻址</a:t>
            </a:r>
            <a:r>
              <a:rPr lang="zh-CN" altLang="en-US" sz="1800" u="sng" dirty="0" smtClean="0">
                <a:solidFill>
                  <a:schemeClr val="tx1"/>
                </a:solidFill>
              </a:rPr>
              <a:t>与时间有关</a:t>
            </a:r>
            <a:r>
              <a:rPr lang="en-US" altLang="zh-CN" sz="1800" dirty="0" smtClean="0">
                <a:solidFill>
                  <a:schemeClr val="tx1"/>
                </a:solidFill>
              </a:rPr>
              <a:t>)</a:t>
            </a:r>
            <a:r>
              <a:rPr lang="zh-CN" sz="1800" dirty="0" smtClean="0">
                <a:solidFill>
                  <a:schemeClr val="tx1"/>
                </a:solidFill>
              </a:rPr>
              <a:t>的</a:t>
            </a:r>
            <a:r>
              <a:rPr lang="en-US" altLang="zh-CN" sz="1800" dirty="0" smtClean="0">
                <a:solidFill>
                  <a:schemeClr val="tx1"/>
                </a:solidFill>
              </a:rPr>
              <a:t>1KB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＝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10</a:t>
            </a:r>
            <a:r>
              <a:rPr lang="en-US" altLang="zh-CN" sz="1800" baseline="50000" dirty="0" smtClean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uFillTx/>
                <a:sym typeface="+mn-ea"/>
              </a:rPr>
              <a:t>B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；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  </a:t>
            </a:r>
            <a:r>
              <a:rPr lang="en-US" altLang="zh-CN" sz="1800" dirty="0" smtClean="0">
                <a:solidFill>
                  <a:schemeClr val="tx1"/>
                </a:solidFill>
                <a:uFillTx/>
                <a:sym typeface="+mn-ea"/>
              </a:rPr>
              <a:t>←</a:t>
            </a:r>
            <a:r>
              <a:rPr lang="zh-CN" altLang="en-US" sz="1800" dirty="0" smtClean="0">
                <a:solidFill>
                  <a:schemeClr val="tx1"/>
                </a:solidFill>
                <a:uFillTx/>
                <a:sym typeface="+mn-ea"/>
              </a:rPr>
              <a:t>历史原因所致</a:t>
            </a:r>
            <a:endParaRPr lang="zh-CN" altLang="en-US" sz="1800" dirty="0" smtClean="0">
              <a:solidFill>
                <a:schemeClr val="tx1"/>
              </a:solidFill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zh-CN" altLang="en-US" sz="1800" dirty="0" smtClean="0">
                <a:solidFill>
                  <a:srgbClr val="C00000"/>
                </a:solidFill>
              </a:rPr>
              <a:t>容量单位统一：</a:t>
            </a:r>
            <a:r>
              <a:rPr lang="zh-CN" altLang="en-US" sz="1800" dirty="0" smtClean="0">
                <a:solidFill>
                  <a:schemeClr val="tx1"/>
                </a:solidFill>
              </a:rPr>
              <a:t>非</a:t>
            </a:r>
            <a:r>
              <a:rPr lang="en-US" altLang="zh-CN" sz="1800" dirty="0" smtClean="0">
                <a:solidFill>
                  <a:schemeClr val="tx1"/>
                </a:solidFill>
              </a:rPr>
              <a:t>RAM</a:t>
            </a:r>
            <a:r>
              <a:rPr lang="zh-CN" altLang="en-US" sz="1800" dirty="0" smtClean="0">
                <a:solidFill>
                  <a:schemeClr val="tx1"/>
                </a:solidFill>
              </a:rPr>
              <a:t>的用</a:t>
            </a:r>
            <a:r>
              <a:rPr lang="en-US" altLang="zh-CN" sz="1800" dirty="0" smtClean="0">
                <a:solidFill>
                  <a:srgbClr val="0070C0"/>
                </a:solidFill>
              </a:rPr>
              <a:t>1KiB</a:t>
            </a:r>
            <a:r>
              <a:rPr lang="zh-CN" altLang="en-US" sz="1800" dirty="0" smtClean="0">
                <a:solidFill>
                  <a:srgbClr val="0070C0"/>
                </a:solidFill>
                <a:sym typeface="+mn-ea"/>
              </a:rPr>
              <a:t>表示</a:t>
            </a:r>
            <a:r>
              <a:rPr lang="en-US" altLang="zh-CN" sz="1800" dirty="0" smtClean="0">
                <a:solidFill>
                  <a:srgbClr val="0070C0"/>
                </a:solidFill>
                <a:sym typeface="+mn-ea"/>
              </a:rPr>
              <a:t>2</a:t>
            </a:r>
            <a:r>
              <a:rPr lang="en-US" altLang="zh-CN" sz="1800" baseline="50000" dirty="0" smtClean="0">
                <a:solidFill>
                  <a:srgbClr val="0070C0"/>
                </a:solidFill>
                <a:uFillTx/>
                <a:sym typeface="+mn-ea"/>
              </a:rPr>
              <a:t>10</a:t>
            </a:r>
            <a:r>
              <a:rPr lang="en-US" altLang="zh-CN" sz="1800" dirty="0" smtClean="0">
                <a:solidFill>
                  <a:srgbClr val="0070C0"/>
                </a:solidFill>
                <a:uFillTx/>
                <a:sym typeface="+mn-ea"/>
              </a:rPr>
              <a:t>B</a:t>
            </a:r>
            <a:r>
              <a:rPr lang="zh-CN" altLang="en-US" sz="1800" dirty="0" smtClean="0">
                <a:solidFill>
                  <a:schemeClr val="tx1"/>
                </a:solidFill>
                <a:uFillTx/>
                <a:sym typeface="+mn-ea"/>
              </a:rPr>
              <a:t>，</a:t>
            </a:r>
            <a:r>
              <a:rPr lang="en-US" altLang="zh-CN" sz="1800" dirty="0" smtClean="0">
                <a:solidFill>
                  <a:schemeClr val="tx1"/>
                </a:solidFill>
                <a:uFillTx/>
                <a:sym typeface="+mn-ea"/>
              </a:rPr>
              <a:t>1KB</a:t>
            </a:r>
            <a:r>
              <a:rPr lang="zh-CN" altLang="en-US" sz="1800" dirty="0" smtClean="0">
                <a:solidFill>
                  <a:schemeClr val="tx1"/>
                </a:solidFill>
                <a:sym typeface="+mn-ea"/>
              </a:rPr>
              <a:t>表示</a:t>
            </a:r>
            <a:r>
              <a:rPr lang="en-US" altLang="zh-CN" sz="1800" dirty="0" smtClean="0">
                <a:solidFill>
                  <a:schemeClr val="tx1"/>
                </a:solidFill>
                <a:sym typeface="+mn-ea"/>
              </a:rPr>
              <a:t>10</a:t>
            </a:r>
            <a:r>
              <a:rPr lang="en-US" altLang="zh-CN" sz="1800" baseline="50000" dirty="0" smtClean="0">
                <a:solidFill>
                  <a:schemeClr val="tx1"/>
                </a:solidFill>
                <a:uFillTx/>
                <a:sym typeface="+mn-ea"/>
              </a:rPr>
              <a:t>3</a:t>
            </a:r>
            <a:r>
              <a:rPr lang="en-US" altLang="zh-CN" sz="1800" dirty="0" smtClean="0">
                <a:solidFill>
                  <a:schemeClr val="tx1"/>
                </a:solidFill>
                <a:uFillTx/>
                <a:sym typeface="+mn-ea"/>
              </a:rPr>
              <a:t>B</a:t>
            </a:r>
            <a:endParaRPr lang="zh-CN" altLang="en-US" sz="1600" dirty="0" smtClean="0">
              <a:solidFill>
                <a:schemeClr val="tx1"/>
              </a:solidFill>
              <a:uFillTx/>
              <a:sym typeface="+mn-ea"/>
            </a:endParaRPr>
          </a:p>
        </p:txBody>
      </p:sp>
      <p:sp>
        <p:nvSpPr>
          <p:cNvPr id="13" name="线形标注 2 12"/>
          <p:cNvSpPr/>
          <p:nvPr>
            <p:custDataLst>
              <p:tags r:id="rId7"/>
            </p:custDataLst>
          </p:nvPr>
        </p:nvSpPr>
        <p:spPr bwMode="auto">
          <a:xfrm>
            <a:off x="5219214" y="6020063"/>
            <a:ext cx="1368000" cy="252000"/>
          </a:xfrm>
          <a:prstGeom prst="borderCallout2">
            <a:avLst>
              <a:gd name="adj1" fmla="val 50463"/>
              <a:gd name="adj2" fmla="val 145"/>
              <a:gd name="adj3" fmla="val 48024"/>
              <a:gd name="adj4" fmla="val -15700"/>
              <a:gd name="adj5" fmla="val -57808"/>
              <a:gd name="adj6" fmla="val -36309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105000"/>
              </a:lnSpc>
            </a:pP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sz="1600" b="1" baseline="-250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数据传送</a:t>
            </a:r>
            <a:r>
              <a:rPr lang="zh-CN" altLang="en-US" sz="1600" b="1" dirty="0">
                <a:latin typeface="+mn-ea"/>
                <a:ea typeface="+mn-ea"/>
              </a:rPr>
              <a:t>可忽略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83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  <p:bldP spid="49" grpId="0" bldLvl="0" animBg="1"/>
      <p:bldP spid="13" grpId="0" bldLvl="0" animBg="1"/>
      <p:bldP spid="8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F40DC-8621-48A3-9604-E9FBB3B604F2}" type="slidenum">
              <a:rPr lang="en-US" altLang="zh-CN"/>
            </a:fld>
            <a:endParaRPr lang="en-US" altLang="zh-CN"/>
          </a:p>
        </p:txBody>
      </p:sp>
      <p:sp>
        <p:nvSpPr>
          <p:cNvPr id="342528" name="Text Box 512"/>
          <p:cNvSpPr txBox="1">
            <a:spLocks noChangeArrowheads="1"/>
          </p:cNvSpPr>
          <p:nvPr/>
        </p:nvSpPr>
        <p:spPr bwMode="auto">
          <a:xfrm>
            <a:off x="179388" y="262285"/>
            <a:ext cx="8785225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、磁盘阵列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RAID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en-US" altLang="zh-CN" sz="1800" dirty="0">
                <a:latin typeface="+mn-lt"/>
              </a:rPr>
              <a:t>Redundant Array of Inexpensive Disks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目标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 smtClean="0">
                <a:latin typeface="宋体" panose="02010600030101010101" pitchFamily="2" charset="-122"/>
              </a:rPr>
              <a:t>提高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性能</a:t>
            </a:r>
            <a:r>
              <a:rPr lang="zh-CN" altLang="en-US" b="1" dirty="0" smtClean="0">
                <a:latin typeface="宋体" panose="02010600030101010101" pitchFamily="2" charset="-122"/>
              </a:rPr>
              <a:t>及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存储可靠性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42577" name="Text Box 561"/>
          <p:cNvSpPr txBox="1">
            <a:spLocks noChangeArrowheads="1"/>
          </p:cNvSpPr>
          <p:nvPr/>
        </p:nvSpPr>
        <p:spPr bwMode="auto">
          <a:xfrm>
            <a:off x="179388" y="1197546"/>
            <a:ext cx="885710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RAID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提高访问性能</a:t>
            </a:r>
            <a:r>
              <a:rPr lang="zh-CN" altLang="en-US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的方法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多</a:t>
            </a:r>
            <a:r>
              <a:rPr lang="zh-CN" altLang="en-US" b="1" spc="-100" dirty="0">
                <a:latin typeface="宋体" panose="02010600030101010101" pitchFamily="2" charset="-122"/>
              </a:rPr>
              <a:t>个磁盘</a:t>
            </a:r>
            <a:r>
              <a:rPr lang="zh-CN" altLang="en-US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并行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工作 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类似于多体交叉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MEM)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grpSp>
        <p:nvGrpSpPr>
          <p:cNvPr id="103" name="组合 102"/>
          <p:cNvGrpSpPr/>
          <p:nvPr/>
        </p:nvGrpSpPr>
        <p:grpSpPr>
          <a:xfrm>
            <a:off x="827584" y="1700808"/>
            <a:ext cx="7704857" cy="2232248"/>
            <a:chOff x="179511" y="3573016"/>
            <a:chExt cx="7704857" cy="2232248"/>
          </a:xfrm>
        </p:grpSpPr>
        <p:sp>
          <p:nvSpPr>
            <p:cNvPr id="104" name="Text Box 514"/>
            <p:cNvSpPr txBox="1">
              <a:spLocks noChangeArrowheads="1"/>
            </p:cNvSpPr>
            <p:nvPr/>
          </p:nvSpPr>
          <p:spPr bwMode="auto">
            <a:xfrm>
              <a:off x="1655639" y="3573016"/>
              <a:ext cx="792162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逻辑盘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5" name="Text Box 515"/>
            <p:cNvSpPr txBox="1">
              <a:spLocks noChangeArrowheads="1"/>
            </p:cNvSpPr>
            <p:nvPr/>
          </p:nvSpPr>
          <p:spPr bwMode="auto">
            <a:xfrm>
              <a:off x="3275013" y="3573140"/>
              <a:ext cx="4609355" cy="2159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物理盘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0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物理盘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 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物理盘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2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  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物理盘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6" name="AutoShape 517"/>
            <p:cNvSpPr>
              <a:spLocks noChangeArrowheads="1"/>
            </p:cNvSpPr>
            <p:nvPr/>
          </p:nvSpPr>
          <p:spPr bwMode="auto">
            <a:xfrm>
              <a:off x="3275855" y="3861296"/>
              <a:ext cx="864097" cy="359792"/>
            </a:xfrm>
            <a:prstGeom prst="flowChartMagneticDisk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条带</a:t>
              </a:r>
              <a:r>
                <a:rPr lang="en-US" altLang="zh-CN" sz="1800" b="1" dirty="0" smtClean="0">
                  <a:latin typeface="+mn-ea"/>
                  <a:ea typeface="+mn-ea"/>
                </a:rPr>
                <a:t>00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07" name="流程图: 库存数据 106"/>
            <p:cNvSpPr/>
            <p:nvPr/>
          </p:nvSpPr>
          <p:spPr bwMode="auto">
            <a:xfrm rot="16200000">
              <a:off x="3563888" y="3882349"/>
              <a:ext cx="288032" cy="864096"/>
            </a:xfrm>
            <a:prstGeom prst="flowChartOnlineStorage">
              <a:avLst/>
            </a:prstGeom>
            <a:solidFill>
              <a:srgbClr val="CC99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04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08" name="流程图: 库存数据 107"/>
            <p:cNvSpPr/>
            <p:nvPr/>
          </p:nvSpPr>
          <p:spPr bwMode="auto">
            <a:xfrm rot="16200000">
              <a:off x="3563888" y="4124832"/>
              <a:ext cx="288032" cy="864096"/>
            </a:xfrm>
            <a:prstGeom prst="flowChartOnlineStorage">
              <a:avLst/>
            </a:prstGeom>
            <a:solidFill>
              <a:srgbClr val="CC99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08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09" name="流程图: 库存数据 108"/>
            <p:cNvSpPr/>
            <p:nvPr/>
          </p:nvSpPr>
          <p:spPr bwMode="auto">
            <a:xfrm rot="16200000">
              <a:off x="3563888" y="4365104"/>
              <a:ext cx="288032" cy="864096"/>
            </a:xfrm>
            <a:prstGeom prst="flowChartOnlineStorage">
              <a:avLst/>
            </a:prstGeom>
            <a:solidFill>
              <a:srgbClr val="CC99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…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0" name="AutoShape 517"/>
            <p:cNvSpPr>
              <a:spLocks noChangeArrowheads="1"/>
            </p:cNvSpPr>
            <p:nvPr/>
          </p:nvSpPr>
          <p:spPr bwMode="auto">
            <a:xfrm>
              <a:off x="4500761" y="3861048"/>
              <a:ext cx="862608" cy="359792"/>
            </a:xfrm>
            <a:prstGeom prst="flowChartMagneticDisk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条带</a:t>
              </a:r>
              <a:r>
                <a:rPr lang="en-US" altLang="zh-CN" sz="1800" b="1" dirty="0" smtClean="0">
                  <a:latin typeface="+mn-ea"/>
                  <a:ea typeface="+mn-ea"/>
                </a:rPr>
                <a:t>01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1" name="流程图: 库存数据 110"/>
            <p:cNvSpPr/>
            <p:nvPr/>
          </p:nvSpPr>
          <p:spPr bwMode="auto">
            <a:xfrm rot="16200000">
              <a:off x="4788049" y="3882845"/>
              <a:ext cx="288032" cy="862607"/>
            </a:xfrm>
            <a:prstGeom prst="flowChartOnlineStorage">
              <a:avLst/>
            </a:prstGeom>
            <a:solidFill>
              <a:srgbClr val="CC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05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2" name="流程图: 库存数据 111"/>
            <p:cNvSpPr/>
            <p:nvPr/>
          </p:nvSpPr>
          <p:spPr bwMode="auto">
            <a:xfrm rot="16200000">
              <a:off x="4788049" y="4125328"/>
              <a:ext cx="288032" cy="862607"/>
            </a:xfrm>
            <a:prstGeom prst="flowChartOnlineStorage">
              <a:avLst/>
            </a:prstGeom>
            <a:solidFill>
              <a:srgbClr val="CC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09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3" name="流程图: 库存数据 112"/>
            <p:cNvSpPr/>
            <p:nvPr/>
          </p:nvSpPr>
          <p:spPr bwMode="auto">
            <a:xfrm rot="16200000">
              <a:off x="4788049" y="4365600"/>
              <a:ext cx="288032" cy="862607"/>
            </a:xfrm>
            <a:prstGeom prst="flowChartOnlineStorage">
              <a:avLst/>
            </a:prstGeom>
            <a:solidFill>
              <a:srgbClr val="CC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…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4" name="AutoShape 517"/>
            <p:cNvSpPr>
              <a:spLocks noChangeArrowheads="1"/>
            </p:cNvSpPr>
            <p:nvPr/>
          </p:nvSpPr>
          <p:spPr bwMode="auto">
            <a:xfrm>
              <a:off x="5724127" y="3861296"/>
              <a:ext cx="862411" cy="359792"/>
            </a:xfrm>
            <a:prstGeom prst="flowChartMagneticDisk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条带</a:t>
              </a:r>
              <a:r>
                <a:rPr lang="en-US" altLang="zh-CN" sz="1800" b="1" dirty="0" smtClean="0">
                  <a:latin typeface="+mn-ea"/>
                  <a:ea typeface="+mn-ea"/>
                </a:rPr>
                <a:t>02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5" name="流程图: 库存数据 114"/>
            <p:cNvSpPr/>
            <p:nvPr/>
          </p:nvSpPr>
          <p:spPr bwMode="auto">
            <a:xfrm rot="16200000">
              <a:off x="6011317" y="3883192"/>
              <a:ext cx="288032" cy="862410"/>
            </a:xfrm>
            <a:prstGeom prst="flowChartOnlineStorage">
              <a:avLst/>
            </a:prstGeom>
            <a:solidFill>
              <a:srgbClr val="99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06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6" name="流程图: 库存数据 115"/>
            <p:cNvSpPr/>
            <p:nvPr/>
          </p:nvSpPr>
          <p:spPr bwMode="auto">
            <a:xfrm rot="16200000">
              <a:off x="6011317" y="4125675"/>
              <a:ext cx="288032" cy="862410"/>
            </a:xfrm>
            <a:prstGeom prst="flowChartOnlineStorage">
              <a:avLst/>
            </a:prstGeom>
            <a:solidFill>
              <a:srgbClr val="99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10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7" name="流程图: 库存数据 116"/>
            <p:cNvSpPr/>
            <p:nvPr/>
          </p:nvSpPr>
          <p:spPr bwMode="auto">
            <a:xfrm rot="16200000">
              <a:off x="6011317" y="4365947"/>
              <a:ext cx="288032" cy="862410"/>
            </a:xfrm>
            <a:prstGeom prst="flowChartOnlineStorage">
              <a:avLst/>
            </a:prstGeom>
            <a:solidFill>
              <a:srgbClr val="99CC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…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18" name="AutoShape 517"/>
            <p:cNvSpPr>
              <a:spLocks noChangeArrowheads="1"/>
            </p:cNvSpPr>
            <p:nvPr/>
          </p:nvSpPr>
          <p:spPr bwMode="auto">
            <a:xfrm>
              <a:off x="6949033" y="3861048"/>
              <a:ext cx="863327" cy="359792"/>
            </a:xfrm>
            <a:prstGeom prst="flowChartMagneticDisk">
              <a:avLst/>
            </a:prstGeom>
            <a:solidFill>
              <a:srgbClr val="FFFF99">
                <a:alpha val="80000"/>
              </a:srgb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条带</a:t>
              </a:r>
              <a:r>
                <a:rPr lang="en-US" altLang="zh-CN" sz="1800" b="1" dirty="0" smtClean="0">
                  <a:latin typeface="+mn-ea"/>
                  <a:ea typeface="+mn-ea"/>
                </a:rPr>
                <a:t>03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9" name="流程图: 库存数据 118"/>
            <p:cNvSpPr/>
            <p:nvPr/>
          </p:nvSpPr>
          <p:spPr bwMode="auto">
            <a:xfrm rot="16200000">
              <a:off x="7236681" y="3882486"/>
              <a:ext cx="288032" cy="863326"/>
            </a:xfrm>
            <a:prstGeom prst="flowChartOnlineStorage">
              <a:avLst/>
            </a:prstGeom>
            <a:solidFill>
              <a:srgbClr val="FFFF99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07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0" name="流程图: 库存数据 119"/>
            <p:cNvSpPr/>
            <p:nvPr/>
          </p:nvSpPr>
          <p:spPr bwMode="auto">
            <a:xfrm rot="16200000">
              <a:off x="7236681" y="4124969"/>
              <a:ext cx="288032" cy="863326"/>
            </a:xfrm>
            <a:prstGeom prst="flowChartOnlineStorage">
              <a:avLst/>
            </a:prstGeom>
            <a:solidFill>
              <a:srgbClr val="FFFF99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11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1" name="流程图: 库存数据 120"/>
            <p:cNvSpPr/>
            <p:nvPr/>
          </p:nvSpPr>
          <p:spPr bwMode="auto">
            <a:xfrm rot="16200000">
              <a:off x="7236681" y="4365241"/>
              <a:ext cx="288032" cy="863326"/>
            </a:xfrm>
            <a:prstGeom prst="flowChartOnlineStorage">
              <a:avLst/>
            </a:prstGeom>
            <a:solidFill>
              <a:srgbClr val="FFFF99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…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2" name="Text Box 541"/>
            <p:cNvSpPr txBox="1">
              <a:spLocks noChangeArrowheads="1"/>
            </p:cNvSpPr>
            <p:nvPr/>
          </p:nvSpPr>
          <p:spPr bwMode="auto">
            <a:xfrm>
              <a:off x="3275906" y="5155976"/>
              <a:ext cx="4536454" cy="28924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RAID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控制器或管理软件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箭头连接符 122"/>
            <p:cNvCxnSpPr/>
            <p:nvPr/>
          </p:nvCxnSpPr>
          <p:spPr bwMode="auto">
            <a:xfrm>
              <a:off x="3707904" y="4941168"/>
              <a:ext cx="0" cy="21480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24" name="直接箭头连接符 123"/>
            <p:cNvCxnSpPr/>
            <p:nvPr/>
          </p:nvCxnSpPr>
          <p:spPr bwMode="auto">
            <a:xfrm flipH="1">
              <a:off x="4932065" y="4940920"/>
              <a:ext cx="1" cy="21480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6156150" y="4941416"/>
              <a:ext cx="0" cy="21480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cxnSp>
          <p:nvCxnSpPr>
            <p:cNvPr id="126" name="直接箭头连接符 125"/>
            <p:cNvCxnSpPr/>
            <p:nvPr/>
          </p:nvCxnSpPr>
          <p:spPr bwMode="auto">
            <a:xfrm flipH="1">
              <a:off x="7380311" y="4941168"/>
              <a:ext cx="1" cy="21480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127" name="AutoShape 517"/>
            <p:cNvSpPr>
              <a:spLocks noChangeArrowheads="1"/>
            </p:cNvSpPr>
            <p:nvPr/>
          </p:nvSpPr>
          <p:spPr bwMode="auto">
            <a:xfrm>
              <a:off x="1619672" y="3861048"/>
              <a:ext cx="864097" cy="359792"/>
            </a:xfrm>
            <a:prstGeom prst="flowChartMagneticDisk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round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>
                  <a:latin typeface="+mn-ea"/>
                  <a:ea typeface="+mn-ea"/>
                </a:rPr>
                <a:t>条带</a:t>
              </a:r>
              <a:r>
                <a:rPr lang="en-US" altLang="zh-CN" sz="1800" b="1" dirty="0" smtClean="0">
                  <a:latin typeface="+mn-ea"/>
                  <a:ea typeface="+mn-ea"/>
                </a:rPr>
                <a:t>00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8" name="流程图: 库存数据 127"/>
            <p:cNvSpPr/>
            <p:nvPr/>
          </p:nvSpPr>
          <p:spPr bwMode="auto">
            <a:xfrm rot="16200000">
              <a:off x="1907705" y="3882101"/>
              <a:ext cx="288032" cy="864096"/>
            </a:xfrm>
            <a:prstGeom prst="flowChartOnlineStorage">
              <a:avLst/>
            </a:prstGeom>
            <a:solidFill>
              <a:srgbClr val="CCFF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01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29" name="流程图: 库存数据 128"/>
            <p:cNvSpPr/>
            <p:nvPr/>
          </p:nvSpPr>
          <p:spPr bwMode="auto">
            <a:xfrm rot="16200000">
              <a:off x="1907705" y="4124584"/>
              <a:ext cx="288032" cy="864096"/>
            </a:xfrm>
            <a:prstGeom prst="flowChartOnlineStorage">
              <a:avLst/>
            </a:prstGeom>
            <a:solidFill>
              <a:srgbClr val="CCFF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02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30" name="流程图: 库存数据 129"/>
            <p:cNvSpPr/>
            <p:nvPr/>
          </p:nvSpPr>
          <p:spPr bwMode="auto">
            <a:xfrm rot="16200000">
              <a:off x="1907705" y="4848840"/>
              <a:ext cx="288032" cy="864096"/>
            </a:xfrm>
            <a:prstGeom prst="flowChartOnlineStorage">
              <a:avLst/>
            </a:prstGeom>
            <a:solidFill>
              <a:srgbClr val="CCFF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…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31" name="流程图: 库存数据 130"/>
            <p:cNvSpPr/>
            <p:nvPr/>
          </p:nvSpPr>
          <p:spPr bwMode="auto">
            <a:xfrm rot="16200000">
              <a:off x="1907705" y="4365104"/>
              <a:ext cx="288032" cy="864096"/>
            </a:xfrm>
            <a:prstGeom prst="flowChartOnlineStorage">
              <a:avLst/>
            </a:prstGeom>
            <a:solidFill>
              <a:srgbClr val="CCFF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03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sp>
          <p:nvSpPr>
            <p:cNvPr id="132" name="流程图: 库存数据 131"/>
            <p:cNvSpPr/>
            <p:nvPr/>
          </p:nvSpPr>
          <p:spPr bwMode="auto">
            <a:xfrm rot="16200000">
              <a:off x="1907705" y="4607587"/>
              <a:ext cx="288032" cy="864096"/>
            </a:xfrm>
            <a:prstGeom prst="flowChartOnlineStorage">
              <a:avLst/>
            </a:prstGeom>
            <a:solidFill>
              <a:srgbClr val="CCFFFF">
                <a:alpha val="80000"/>
              </a:srgbClr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eaVert" wrap="square" lIns="18000" tIns="10800" rIns="18000" bIns="1080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1" lang="zh-CN" altLang="en-US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条带</a:t>
              </a:r>
              <a:r>
                <a:rPr kumimoji="1" lang="en-US" altLang="zh-CN" sz="1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  <a:ea typeface="+mn-ea"/>
                </a:rPr>
                <a:t>04</a:t>
              </a:r>
              <a:endParaRPr kumimoji="1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</a:endParaRPr>
            </a:p>
          </p:txBody>
        </p:sp>
        <p:cxnSp>
          <p:nvCxnSpPr>
            <p:cNvPr id="133" name="直接箭头连接符 132"/>
            <p:cNvCxnSpPr/>
            <p:nvPr/>
          </p:nvCxnSpPr>
          <p:spPr bwMode="auto">
            <a:xfrm flipV="1">
              <a:off x="2307138" y="5423688"/>
              <a:ext cx="0" cy="165552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V="1">
              <a:off x="2179429" y="5423688"/>
              <a:ext cx="0" cy="23756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5" name="直接箭头连接符 134"/>
            <p:cNvCxnSpPr/>
            <p:nvPr/>
          </p:nvCxnSpPr>
          <p:spPr bwMode="auto">
            <a:xfrm flipV="1">
              <a:off x="2035413" y="5423688"/>
              <a:ext cx="0" cy="30956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6" name="直接箭头连接符 135"/>
            <p:cNvCxnSpPr/>
            <p:nvPr/>
          </p:nvCxnSpPr>
          <p:spPr bwMode="auto">
            <a:xfrm flipV="1">
              <a:off x="1907704" y="5423688"/>
              <a:ext cx="0" cy="381576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7" name="直接箭头连接符 90"/>
            <p:cNvCxnSpPr/>
            <p:nvPr/>
          </p:nvCxnSpPr>
          <p:spPr bwMode="auto">
            <a:xfrm flipV="1">
              <a:off x="1907704" y="5445224"/>
              <a:ext cx="5472608" cy="360040"/>
            </a:xfrm>
            <a:prstGeom prst="bentConnector3">
              <a:avLst>
                <a:gd name="adj1" fmla="val 100033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8" name="直接箭头连接符 91"/>
            <p:cNvCxnSpPr/>
            <p:nvPr/>
          </p:nvCxnSpPr>
          <p:spPr bwMode="auto">
            <a:xfrm flipV="1">
              <a:off x="2035413" y="5445224"/>
              <a:ext cx="4120763" cy="288032"/>
            </a:xfrm>
            <a:prstGeom prst="bentConnector3">
              <a:avLst>
                <a:gd name="adj1" fmla="val 100051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39" name="直接箭头连接符 92"/>
            <p:cNvCxnSpPr/>
            <p:nvPr/>
          </p:nvCxnSpPr>
          <p:spPr bwMode="auto">
            <a:xfrm flipV="1">
              <a:off x="2179429" y="5445224"/>
              <a:ext cx="2768918" cy="216024"/>
            </a:xfrm>
            <a:prstGeom prst="bentConnector3">
              <a:avLst>
                <a:gd name="adj1" fmla="val 10008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cxnSp>
          <p:nvCxnSpPr>
            <p:cNvPr id="140" name="直接箭头连接符 93"/>
            <p:cNvCxnSpPr/>
            <p:nvPr/>
          </p:nvCxnSpPr>
          <p:spPr bwMode="auto">
            <a:xfrm flipV="1">
              <a:off x="2307138" y="5445224"/>
              <a:ext cx="1400766" cy="144016"/>
            </a:xfrm>
            <a:prstGeom prst="bentConnector3">
              <a:avLst>
                <a:gd name="adj1" fmla="val 100047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sm"/>
              <a:tailEnd type="triangle" w="med" len="sm"/>
            </a:ln>
          </p:spPr>
        </p:cxnSp>
        <p:sp>
          <p:nvSpPr>
            <p:cNvPr id="141" name="左大括号 140"/>
            <p:cNvSpPr/>
            <p:nvPr/>
          </p:nvSpPr>
          <p:spPr bwMode="auto">
            <a:xfrm>
              <a:off x="1502094" y="3933056"/>
              <a:ext cx="45719" cy="936104"/>
            </a:xfrm>
            <a:prstGeom prst="leftBrace">
              <a:avLst>
                <a:gd name="adj1" fmla="val 24535"/>
                <a:gd name="adj2" fmla="val 46744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42" name="直接箭头连接符 141"/>
            <p:cNvCxnSpPr/>
            <p:nvPr/>
          </p:nvCxnSpPr>
          <p:spPr bwMode="auto">
            <a:xfrm>
              <a:off x="179511" y="4365104"/>
              <a:ext cx="1296145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triangle" w="med" len="sm"/>
              <a:tailEnd type="triangle" w="med" len="sm"/>
            </a:ln>
          </p:spPr>
        </p:cxnSp>
        <p:sp>
          <p:nvSpPr>
            <p:cNvPr id="143" name="Text Box 514"/>
            <p:cNvSpPr txBox="1">
              <a:spLocks noChangeArrowheads="1"/>
            </p:cNvSpPr>
            <p:nvPr/>
          </p:nvSpPr>
          <p:spPr bwMode="auto">
            <a:xfrm>
              <a:off x="611560" y="4077072"/>
              <a:ext cx="503758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514"/>
            <p:cNvSpPr txBox="1">
              <a:spLocks noChangeArrowheads="1"/>
            </p:cNvSpPr>
            <p:nvPr/>
          </p:nvSpPr>
          <p:spPr bwMode="auto">
            <a:xfrm>
              <a:off x="179511" y="4365104"/>
              <a:ext cx="1296145" cy="2635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≤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4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条带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次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46" name="Text Box 582"/>
          <p:cNvSpPr txBox="1">
            <a:spLocks noChangeArrowheads="1"/>
          </p:cNvSpPr>
          <p:nvPr/>
        </p:nvSpPr>
        <p:spPr bwMode="auto">
          <a:xfrm>
            <a:off x="179512" y="3925505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条带大小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可为数据块、扇区、字节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b="1" spc="23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spc="23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宽度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可为多个条带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47" name="Text Box 582"/>
          <p:cNvSpPr txBox="1">
            <a:spLocks noChangeArrowheads="1"/>
          </p:cNvSpPr>
          <p:nvPr/>
        </p:nvSpPr>
        <p:spPr bwMode="auto">
          <a:xfrm>
            <a:off x="179388" y="4869160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RAID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提高存储可靠性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的方法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用部分条带存放校验信息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RAID0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～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RAID7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等标准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访问时同步进行数据校验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577" grpId="0"/>
      <p:bldP spid="146" grpId="0"/>
      <p:bldP spid="14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8" name="Text Box 4"/>
          <p:cNvSpPr txBox="1">
            <a:spLocks noChangeArrowheads="1"/>
          </p:cNvSpPr>
          <p:nvPr/>
        </p:nvSpPr>
        <p:spPr bwMode="auto">
          <a:xfrm>
            <a:off x="179388" y="282714"/>
            <a:ext cx="5150321" cy="55553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、光介质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存储器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--</a:t>
            </a:r>
            <a:r>
              <a:rPr lang="zh-CN" altLang="en-US" b="1" dirty="0" smtClean="0">
                <a:latin typeface="宋体" panose="02010600030101010101" pitchFamily="2" charset="-122"/>
              </a:rPr>
              <a:t>块设备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光记录原理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信息记录格式：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编址单位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记录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格式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光盘存储器组成：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0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EFF47-C9F4-493B-ADA6-6F983DB01766}" type="slidenum">
              <a:rPr lang="en-US" altLang="zh-CN"/>
            </a:fld>
            <a:endParaRPr lang="en-US" altLang="zh-CN"/>
          </a:p>
        </p:txBody>
      </p:sp>
      <p:sp>
        <p:nvSpPr>
          <p:cNvPr id="246789" name="Text Box 5"/>
          <p:cNvSpPr txBox="1">
            <a:spLocks noChangeArrowheads="1"/>
          </p:cNvSpPr>
          <p:nvPr/>
        </p:nvSpPr>
        <p:spPr bwMode="auto">
          <a:xfrm>
            <a:off x="2411760" y="757153"/>
            <a:ext cx="6120804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信息用介质的不同形态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物态表示，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读、写信息用反射光强弱、激光束强弱表示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247073" name="Group 289"/>
          <p:cNvGrpSpPr/>
          <p:nvPr/>
        </p:nvGrpSpPr>
        <p:grpSpPr bwMode="auto">
          <a:xfrm>
            <a:off x="1260996" y="1772816"/>
            <a:ext cx="2376488" cy="2016125"/>
            <a:chOff x="476" y="1208"/>
            <a:chExt cx="1497" cy="1270"/>
          </a:xfrm>
        </p:grpSpPr>
        <p:sp>
          <p:nvSpPr>
            <p:cNvPr id="246795" name="Text Box 11"/>
            <p:cNvSpPr txBox="1">
              <a:spLocks noChangeArrowheads="1"/>
            </p:cNvSpPr>
            <p:nvPr/>
          </p:nvSpPr>
          <p:spPr bwMode="auto">
            <a:xfrm>
              <a:off x="658" y="1208"/>
              <a:ext cx="1269" cy="1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保护层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6807" name="Text Box 23"/>
            <p:cNvSpPr txBox="1">
              <a:spLocks noChangeArrowheads="1"/>
            </p:cNvSpPr>
            <p:nvPr/>
          </p:nvSpPr>
          <p:spPr bwMode="auto">
            <a:xfrm>
              <a:off x="658" y="1347"/>
              <a:ext cx="1269" cy="13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反射层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6831" name="Text Box 47"/>
            <p:cNvSpPr txBox="1">
              <a:spLocks noChangeArrowheads="1"/>
            </p:cNvSpPr>
            <p:nvPr/>
          </p:nvSpPr>
          <p:spPr bwMode="auto">
            <a:xfrm>
              <a:off x="1609" y="1662"/>
              <a:ext cx="318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盘基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46832" name="Line 48"/>
            <p:cNvSpPr>
              <a:spLocks noChangeShapeType="1"/>
            </p:cNvSpPr>
            <p:nvPr/>
          </p:nvSpPr>
          <p:spPr bwMode="auto">
            <a:xfrm flipV="1">
              <a:off x="703" y="1616"/>
              <a:ext cx="136" cy="363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33" name="Line 49"/>
            <p:cNvSpPr>
              <a:spLocks noChangeShapeType="1"/>
            </p:cNvSpPr>
            <p:nvPr/>
          </p:nvSpPr>
          <p:spPr bwMode="auto">
            <a:xfrm>
              <a:off x="839" y="1616"/>
              <a:ext cx="136" cy="363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35" name="Line 51"/>
            <p:cNvSpPr>
              <a:spLocks noChangeShapeType="1"/>
            </p:cNvSpPr>
            <p:nvPr/>
          </p:nvSpPr>
          <p:spPr bwMode="auto">
            <a:xfrm>
              <a:off x="1429" y="1571"/>
              <a:ext cx="136" cy="408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837" name="Text Box 53"/>
            <p:cNvSpPr txBox="1">
              <a:spLocks noChangeArrowheads="1"/>
            </p:cNvSpPr>
            <p:nvPr/>
          </p:nvSpPr>
          <p:spPr bwMode="auto">
            <a:xfrm>
              <a:off x="975" y="2070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强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46838" name="Text Box 54"/>
            <p:cNvSpPr txBox="1">
              <a:spLocks noChangeArrowheads="1"/>
            </p:cNvSpPr>
            <p:nvPr/>
          </p:nvSpPr>
          <p:spPr bwMode="auto">
            <a:xfrm>
              <a:off x="1610" y="2070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弱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46917" name="Text Box 133"/>
            <p:cNvSpPr txBox="1">
              <a:spLocks noChangeArrowheads="1"/>
            </p:cNvSpPr>
            <p:nvPr/>
          </p:nvSpPr>
          <p:spPr bwMode="auto">
            <a:xfrm>
              <a:off x="476" y="2251"/>
              <a:ext cx="1497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⑴形变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有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无凹坑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]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6952" name="Rectangle 168"/>
            <p:cNvSpPr>
              <a:spLocks noChangeArrowheads="1"/>
            </p:cNvSpPr>
            <p:nvPr/>
          </p:nvSpPr>
          <p:spPr bwMode="auto">
            <a:xfrm>
              <a:off x="657" y="1480"/>
              <a:ext cx="1270" cy="3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53" name="Rectangle 169"/>
            <p:cNvSpPr>
              <a:spLocks noChangeArrowheads="1"/>
            </p:cNvSpPr>
            <p:nvPr/>
          </p:nvSpPr>
          <p:spPr bwMode="auto">
            <a:xfrm>
              <a:off x="658" y="1479"/>
              <a:ext cx="1269" cy="92"/>
            </a:xfrm>
            <a:prstGeom prst="rect">
              <a:avLst/>
            </a:prstGeom>
            <a:solidFill>
              <a:srgbClr val="3366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54" name="Line 170"/>
            <p:cNvSpPr>
              <a:spLocks noChangeShapeType="1"/>
            </p:cNvSpPr>
            <p:nvPr/>
          </p:nvSpPr>
          <p:spPr bwMode="auto">
            <a:xfrm>
              <a:off x="1610" y="1571"/>
              <a:ext cx="317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5" name="Rectangle 171"/>
            <p:cNvSpPr>
              <a:spLocks noChangeArrowheads="1"/>
            </p:cNvSpPr>
            <p:nvPr/>
          </p:nvSpPr>
          <p:spPr bwMode="auto">
            <a:xfrm>
              <a:off x="794" y="1571"/>
              <a:ext cx="136" cy="47"/>
            </a:xfrm>
            <a:prstGeom prst="rect">
              <a:avLst/>
            </a:prstGeom>
            <a:solidFill>
              <a:srgbClr val="3366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56" name="Rectangle 172"/>
            <p:cNvSpPr>
              <a:spLocks noChangeArrowheads="1"/>
            </p:cNvSpPr>
            <p:nvPr/>
          </p:nvSpPr>
          <p:spPr bwMode="auto">
            <a:xfrm>
              <a:off x="1066" y="1571"/>
              <a:ext cx="272" cy="45"/>
            </a:xfrm>
            <a:prstGeom prst="rect">
              <a:avLst/>
            </a:prstGeom>
            <a:solidFill>
              <a:srgbClr val="3366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57" name="Rectangle 173"/>
            <p:cNvSpPr>
              <a:spLocks noChangeArrowheads="1"/>
            </p:cNvSpPr>
            <p:nvPr/>
          </p:nvSpPr>
          <p:spPr bwMode="auto">
            <a:xfrm>
              <a:off x="1474" y="1571"/>
              <a:ext cx="136" cy="45"/>
            </a:xfrm>
            <a:prstGeom prst="rect">
              <a:avLst/>
            </a:prstGeom>
            <a:solidFill>
              <a:srgbClr val="3366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58" name="Line 174"/>
            <p:cNvSpPr>
              <a:spLocks noChangeShapeType="1"/>
            </p:cNvSpPr>
            <p:nvPr/>
          </p:nvSpPr>
          <p:spPr bwMode="auto">
            <a:xfrm>
              <a:off x="1475" y="1616"/>
              <a:ext cx="135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59" name="Line 175"/>
            <p:cNvSpPr>
              <a:spLocks noChangeShapeType="1"/>
            </p:cNvSpPr>
            <p:nvPr/>
          </p:nvSpPr>
          <p:spPr bwMode="auto">
            <a:xfrm>
              <a:off x="1610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0" name="Line 176"/>
            <p:cNvSpPr>
              <a:spLocks noChangeShapeType="1"/>
            </p:cNvSpPr>
            <p:nvPr/>
          </p:nvSpPr>
          <p:spPr bwMode="auto">
            <a:xfrm>
              <a:off x="1475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1" name="Line 177"/>
            <p:cNvSpPr>
              <a:spLocks noChangeShapeType="1"/>
            </p:cNvSpPr>
            <p:nvPr/>
          </p:nvSpPr>
          <p:spPr bwMode="auto">
            <a:xfrm>
              <a:off x="1066" y="1616"/>
              <a:ext cx="272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2" name="Line 178"/>
            <p:cNvSpPr>
              <a:spLocks noChangeShapeType="1"/>
            </p:cNvSpPr>
            <p:nvPr/>
          </p:nvSpPr>
          <p:spPr bwMode="auto">
            <a:xfrm>
              <a:off x="1338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3" name="Line 179"/>
            <p:cNvSpPr>
              <a:spLocks noChangeShapeType="1"/>
            </p:cNvSpPr>
            <p:nvPr/>
          </p:nvSpPr>
          <p:spPr bwMode="auto">
            <a:xfrm>
              <a:off x="1338" y="1570"/>
              <a:ext cx="136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4" name="Line 180"/>
            <p:cNvSpPr>
              <a:spLocks noChangeShapeType="1"/>
            </p:cNvSpPr>
            <p:nvPr/>
          </p:nvSpPr>
          <p:spPr bwMode="auto">
            <a:xfrm>
              <a:off x="657" y="1571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5" name="Line 181"/>
            <p:cNvSpPr>
              <a:spLocks noChangeShapeType="1"/>
            </p:cNvSpPr>
            <p:nvPr/>
          </p:nvSpPr>
          <p:spPr bwMode="auto">
            <a:xfrm>
              <a:off x="794" y="1616"/>
              <a:ext cx="136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6" name="Line 182"/>
            <p:cNvSpPr>
              <a:spLocks noChangeShapeType="1"/>
            </p:cNvSpPr>
            <p:nvPr/>
          </p:nvSpPr>
          <p:spPr bwMode="auto">
            <a:xfrm>
              <a:off x="794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7" name="Line 183"/>
            <p:cNvSpPr>
              <a:spLocks noChangeShapeType="1"/>
            </p:cNvSpPr>
            <p:nvPr/>
          </p:nvSpPr>
          <p:spPr bwMode="auto">
            <a:xfrm>
              <a:off x="929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8" name="Line 184"/>
            <p:cNvSpPr>
              <a:spLocks noChangeShapeType="1"/>
            </p:cNvSpPr>
            <p:nvPr/>
          </p:nvSpPr>
          <p:spPr bwMode="auto">
            <a:xfrm>
              <a:off x="929" y="1570"/>
              <a:ext cx="137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69" name="Line 185"/>
            <p:cNvSpPr>
              <a:spLocks noChangeShapeType="1"/>
            </p:cNvSpPr>
            <p:nvPr/>
          </p:nvSpPr>
          <p:spPr bwMode="auto">
            <a:xfrm>
              <a:off x="1066" y="1570"/>
              <a:ext cx="0" cy="46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73" name="Rectangle 189"/>
            <p:cNvSpPr>
              <a:spLocks noChangeArrowheads="1"/>
            </p:cNvSpPr>
            <p:nvPr/>
          </p:nvSpPr>
          <p:spPr bwMode="auto">
            <a:xfrm rot="1500000">
              <a:off x="633" y="1979"/>
              <a:ext cx="91" cy="9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74" name="Rectangle 190"/>
            <p:cNvSpPr>
              <a:spLocks noChangeArrowheads="1"/>
            </p:cNvSpPr>
            <p:nvPr/>
          </p:nvSpPr>
          <p:spPr bwMode="auto">
            <a:xfrm rot="3900000">
              <a:off x="947" y="1979"/>
              <a:ext cx="91" cy="91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79" name="Line 195"/>
            <p:cNvSpPr>
              <a:spLocks noChangeShapeType="1"/>
            </p:cNvSpPr>
            <p:nvPr/>
          </p:nvSpPr>
          <p:spPr bwMode="auto">
            <a:xfrm flipV="1">
              <a:off x="1271" y="1571"/>
              <a:ext cx="149" cy="408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80" name="Line 196"/>
            <p:cNvSpPr>
              <a:spLocks noChangeShapeType="1"/>
            </p:cNvSpPr>
            <p:nvPr/>
          </p:nvSpPr>
          <p:spPr bwMode="auto">
            <a:xfrm>
              <a:off x="1429" y="1571"/>
              <a:ext cx="226" cy="408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982" name="Rectangle 198"/>
            <p:cNvSpPr>
              <a:spLocks noChangeArrowheads="1"/>
            </p:cNvSpPr>
            <p:nvPr/>
          </p:nvSpPr>
          <p:spPr bwMode="auto">
            <a:xfrm rot="1500000">
              <a:off x="1202" y="1979"/>
              <a:ext cx="91" cy="9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83" name="Rectangle 199"/>
            <p:cNvSpPr>
              <a:spLocks noChangeArrowheads="1"/>
            </p:cNvSpPr>
            <p:nvPr/>
          </p:nvSpPr>
          <p:spPr bwMode="auto">
            <a:xfrm rot="3900000">
              <a:off x="1537" y="1979"/>
              <a:ext cx="91" cy="9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7074" name="Group 290"/>
          <p:cNvGrpSpPr/>
          <p:nvPr/>
        </p:nvGrpSpPr>
        <p:grpSpPr bwMode="auto">
          <a:xfrm>
            <a:off x="3781896" y="1772816"/>
            <a:ext cx="2663825" cy="2016125"/>
            <a:chOff x="2200" y="1208"/>
            <a:chExt cx="1678" cy="1270"/>
          </a:xfrm>
        </p:grpSpPr>
        <p:sp>
          <p:nvSpPr>
            <p:cNvPr id="246916" name="Text Box 132"/>
            <p:cNvSpPr txBox="1">
              <a:spLocks noChangeArrowheads="1"/>
            </p:cNvSpPr>
            <p:nvPr/>
          </p:nvSpPr>
          <p:spPr bwMode="auto">
            <a:xfrm>
              <a:off x="2200" y="2251"/>
              <a:ext cx="1678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15000"/>
                </a:lnSpc>
              </a:pPr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⑵相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变型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晶态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/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非晶态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]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46984" name="Text Box 200"/>
            <p:cNvSpPr txBox="1">
              <a:spLocks noChangeArrowheads="1"/>
            </p:cNvSpPr>
            <p:nvPr/>
          </p:nvSpPr>
          <p:spPr bwMode="auto">
            <a:xfrm>
              <a:off x="2427" y="1208"/>
              <a:ext cx="1269" cy="1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保护层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6985" name="Text Box 201"/>
            <p:cNvSpPr txBox="1">
              <a:spLocks noChangeArrowheads="1"/>
            </p:cNvSpPr>
            <p:nvPr/>
          </p:nvSpPr>
          <p:spPr bwMode="auto">
            <a:xfrm>
              <a:off x="2427" y="1347"/>
              <a:ext cx="1269" cy="13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反射层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6986" name="Rectangle 202"/>
            <p:cNvSpPr>
              <a:spLocks noChangeArrowheads="1"/>
            </p:cNvSpPr>
            <p:nvPr/>
          </p:nvSpPr>
          <p:spPr bwMode="auto">
            <a:xfrm>
              <a:off x="2426" y="1480"/>
              <a:ext cx="1270" cy="3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89" name="Rectangle 205" descr="球体"/>
            <p:cNvSpPr>
              <a:spLocks noChangeArrowheads="1"/>
            </p:cNvSpPr>
            <p:nvPr/>
          </p:nvSpPr>
          <p:spPr bwMode="auto">
            <a:xfrm>
              <a:off x="2426" y="1480"/>
              <a:ext cx="136" cy="136"/>
            </a:xfrm>
            <a:prstGeom prst="rect">
              <a:avLst/>
            </a:prstGeom>
            <a:pattFill prst="sphere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0" name="Rectangle 206" descr="浅色横线"/>
            <p:cNvSpPr>
              <a:spLocks noChangeArrowheads="1"/>
            </p:cNvSpPr>
            <p:nvPr/>
          </p:nvSpPr>
          <p:spPr bwMode="auto">
            <a:xfrm>
              <a:off x="2562" y="1480"/>
              <a:ext cx="136" cy="136"/>
            </a:xfrm>
            <a:prstGeom prst="rect">
              <a:avLst/>
            </a:prstGeom>
            <a:pattFill prst="ltHorz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1" name="Rectangle 207" descr="球体"/>
            <p:cNvSpPr>
              <a:spLocks noChangeArrowheads="1"/>
            </p:cNvSpPr>
            <p:nvPr/>
          </p:nvSpPr>
          <p:spPr bwMode="auto">
            <a:xfrm>
              <a:off x="2699" y="1480"/>
              <a:ext cx="136" cy="136"/>
            </a:xfrm>
            <a:prstGeom prst="rect">
              <a:avLst/>
            </a:prstGeom>
            <a:pattFill prst="sphere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2" name="Rectangle 208" descr="浅色横线"/>
            <p:cNvSpPr>
              <a:spLocks noChangeArrowheads="1"/>
            </p:cNvSpPr>
            <p:nvPr/>
          </p:nvSpPr>
          <p:spPr bwMode="auto">
            <a:xfrm>
              <a:off x="2835" y="1480"/>
              <a:ext cx="136" cy="136"/>
            </a:xfrm>
            <a:prstGeom prst="rect">
              <a:avLst/>
            </a:prstGeom>
            <a:pattFill prst="ltHorz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3" name="Rectangle 209" descr="浅色横线"/>
            <p:cNvSpPr>
              <a:spLocks noChangeArrowheads="1"/>
            </p:cNvSpPr>
            <p:nvPr/>
          </p:nvSpPr>
          <p:spPr bwMode="auto">
            <a:xfrm>
              <a:off x="2971" y="1480"/>
              <a:ext cx="136" cy="136"/>
            </a:xfrm>
            <a:prstGeom prst="rect">
              <a:avLst/>
            </a:prstGeom>
            <a:pattFill prst="ltHorz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4" name="Rectangle 210" descr="球体"/>
            <p:cNvSpPr>
              <a:spLocks noChangeArrowheads="1"/>
            </p:cNvSpPr>
            <p:nvPr/>
          </p:nvSpPr>
          <p:spPr bwMode="auto">
            <a:xfrm>
              <a:off x="3107" y="1480"/>
              <a:ext cx="136" cy="136"/>
            </a:xfrm>
            <a:prstGeom prst="rect">
              <a:avLst/>
            </a:prstGeom>
            <a:pattFill prst="sphere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5" name="Rectangle 211" descr="浅色横线"/>
            <p:cNvSpPr>
              <a:spLocks noChangeArrowheads="1"/>
            </p:cNvSpPr>
            <p:nvPr/>
          </p:nvSpPr>
          <p:spPr bwMode="auto">
            <a:xfrm>
              <a:off x="3243" y="1480"/>
              <a:ext cx="136" cy="136"/>
            </a:xfrm>
            <a:prstGeom prst="rect">
              <a:avLst/>
            </a:prstGeom>
            <a:pattFill prst="ltHorz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6" name="Rectangle 212" descr="球体"/>
            <p:cNvSpPr>
              <a:spLocks noChangeArrowheads="1"/>
            </p:cNvSpPr>
            <p:nvPr/>
          </p:nvSpPr>
          <p:spPr bwMode="auto">
            <a:xfrm>
              <a:off x="3379" y="1480"/>
              <a:ext cx="136" cy="136"/>
            </a:xfrm>
            <a:prstGeom prst="rect">
              <a:avLst/>
            </a:prstGeom>
            <a:pattFill prst="sphere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7" name="Rectangle 213" descr="球体"/>
            <p:cNvSpPr>
              <a:spLocks noChangeArrowheads="1"/>
            </p:cNvSpPr>
            <p:nvPr/>
          </p:nvSpPr>
          <p:spPr bwMode="auto">
            <a:xfrm>
              <a:off x="3515" y="1480"/>
              <a:ext cx="181" cy="136"/>
            </a:xfrm>
            <a:prstGeom prst="rect">
              <a:avLst/>
            </a:prstGeom>
            <a:pattFill prst="sphere">
              <a:fgClr>
                <a:schemeClr val="accent2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999" name="Line 215"/>
            <p:cNvSpPr>
              <a:spLocks noChangeShapeType="1"/>
            </p:cNvSpPr>
            <p:nvPr/>
          </p:nvSpPr>
          <p:spPr bwMode="auto">
            <a:xfrm>
              <a:off x="2427" y="1616"/>
              <a:ext cx="1269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00" name="Text Box 216"/>
            <p:cNvSpPr txBox="1">
              <a:spLocks noChangeArrowheads="1"/>
            </p:cNvSpPr>
            <p:nvPr/>
          </p:nvSpPr>
          <p:spPr bwMode="auto">
            <a:xfrm>
              <a:off x="3378" y="1662"/>
              <a:ext cx="318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盘基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47001" name="Line 217"/>
            <p:cNvSpPr>
              <a:spLocks noChangeShapeType="1"/>
            </p:cNvSpPr>
            <p:nvPr/>
          </p:nvSpPr>
          <p:spPr bwMode="auto">
            <a:xfrm flipV="1">
              <a:off x="2517" y="1616"/>
              <a:ext cx="136" cy="363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02" name="Line 218"/>
            <p:cNvSpPr>
              <a:spLocks noChangeShapeType="1"/>
            </p:cNvSpPr>
            <p:nvPr/>
          </p:nvSpPr>
          <p:spPr bwMode="auto">
            <a:xfrm>
              <a:off x="2653" y="1616"/>
              <a:ext cx="136" cy="363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04" name="Text Box 220"/>
            <p:cNvSpPr txBox="1">
              <a:spLocks noChangeArrowheads="1"/>
            </p:cNvSpPr>
            <p:nvPr/>
          </p:nvSpPr>
          <p:spPr bwMode="auto">
            <a:xfrm>
              <a:off x="2744" y="2115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强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47005" name="Text Box 221"/>
            <p:cNvSpPr txBox="1">
              <a:spLocks noChangeArrowheads="1"/>
            </p:cNvSpPr>
            <p:nvPr/>
          </p:nvSpPr>
          <p:spPr bwMode="auto">
            <a:xfrm>
              <a:off x="3288" y="2115"/>
              <a:ext cx="136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弱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47006" name="Rectangle 222"/>
            <p:cNvSpPr>
              <a:spLocks noChangeArrowheads="1"/>
            </p:cNvSpPr>
            <p:nvPr/>
          </p:nvSpPr>
          <p:spPr bwMode="auto">
            <a:xfrm rot="1500000">
              <a:off x="2447" y="1979"/>
              <a:ext cx="91" cy="9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07" name="Rectangle 223"/>
            <p:cNvSpPr>
              <a:spLocks noChangeArrowheads="1"/>
            </p:cNvSpPr>
            <p:nvPr/>
          </p:nvSpPr>
          <p:spPr bwMode="auto">
            <a:xfrm rot="3900000">
              <a:off x="2761" y="1979"/>
              <a:ext cx="91" cy="91"/>
            </a:xfrm>
            <a:prstGeom prst="rect">
              <a:avLst/>
            </a:prstGeom>
            <a:solidFill>
              <a:srgbClr val="CC99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10" name="Rectangle 226"/>
            <p:cNvSpPr>
              <a:spLocks noChangeArrowheads="1"/>
            </p:cNvSpPr>
            <p:nvPr/>
          </p:nvSpPr>
          <p:spPr bwMode="auto">
            <a:xfrm rot="1500000">
              <a:off x="2992" y="1979"/>
              <a:ext cx="91" cy="9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11" name="Rectangle 227"/>
            <p:cNvSpPr>
              <a:spLocks noChangeArrowheads="1"/>
            </p:cNvSpPr>
            <p:nvPr/>
          </p:nvSpPr>
          <p:spPr bwMode="auto">
            <a:xfrm rot="3900000">
              <a:off x="3306" y="1979"/>
              <a:ext cx="91" cy="9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12" name="Line 228"/>
            <p:cNvSpPr>
              <a:spLocks noChangeShapeType="1"/>
            </p:cNvSpPr>
            <p:nvPr/>
          </p:nvSpPr>
          <p:spPr bwMode="auto">
            <a:xfrm flipV="1">
              <a:off x="3062" y="1616"/>
              <a:ext cx="136" cy="363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13" name="Line 229"/>
            <p:cNvSpPr>
              <a:spLocks noChangeShapeType="1"/>
            </p:cNvSpPr>
            <p:nvPr/>
          </p:nvSpPr>
          <p:spPr bwMode="auto">
            <a:xfrm>
              <a:off x="3198" y="1616"/>
              <a:ext cx="136" cy="363"/>
            </a:xfrm>
            <a:prstGeom prst="line">
              <a:avLst/>
            </a:prstGeom>
            <a:noFill/>
            <a:ln w="15875">
              <a:solidFill>
                <a:srgbClr val="990099"/>
              </a:solidFill>
              <a:prstDash val="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7076" name="Group 292"/>
          <p:cNvGrpSpPr/>
          <p:nvPr/>
        </p:nvGrpSpPr>
        <p:grpSpPr bwMode="auto">
          <a:xfrm>
            <a:off x="6589588" y="1772816"/>
            <a:ext cx="2374900" cy="2016125"/>
            <a:chOff x="4106" y="1208"/>
            <a:chExt cx="1496" cy="1270"/>
          </a:xfrm>
        </p:grpSpPr>
        <p:sp>
          <p:nvSpPr>
            <p:cNvPr id="247014" name="Text Box 230"/>
            <p:cNvSpPr txBox="1">
              <a:spLocks noChangeArrowheads="1"/>
            </p:cNvSpPr>
            <p:nvPr/>
          </p:nvSpPr>
          <p:spPr bwMode="auto">
            <a:xfrm>
              <a:off x="4196" y="1208"/>
              <a:ext cx="1270" cy="1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保护层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7015" name="Text Box 231"/>
            <p:cNvSpPr txBox="1">
              <a:spLocks noChangeArrowheads="1"/>
            </p:cNvSpPr>
            <p:nvPr/>
          </p:nvSpPr>
          <p:spPr bwMode="auto">
            <a:xfrm>
              <a:off x="4196" y="1347"/>
              <a:ext cx="1270" cy="133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反射层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7016" name="Rectangle 232"/>
            <p:cNvSpPr>
              <a:spLocks noChangeArrowheads="1"/>
            </p:cNvSpPr>
            <p:nvPr/>
          </p:nvSpPr>
          <p:spPr bwMode="auto">
            <a:xfrm>
              <a:off x="4196" y="1480"/>
              <a:ext cx="1270" cy="36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17" name="Rectangle 233"/>
            <p:cNvSpPr>
              <a:spLocks noChangeArrowheads="1"/>
            </p:cNvSpPr>
            <p:nvPr/>
          </p:nvSpPr>
          <p:spPr bwMode="auto">
            <a:xfrm>
              <a:off x="4197" y="1480"/>
              <a:ext cx="1269" cy="13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19" name="Line 235"/>
            <p:cNvSpPr>
              <a:spLocks noChangeShapeType="1"/>
            </p:cNvSpPr>
            <p:nvPr/>
          </p:nvSpPr>
          <p:spPr bwMode="auto">
            <a:xfrm>
              <a:off x="4196" y="1616"/>
              <a:ext cx="1270" cy="0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0" name="Line 236"/>
            <p:cNvSpPr>
              <a:spLocks noChangeShapeType="1"/>
            </p:cNvSpPr>
            <p:nvPr/>
          </p:nvSpPr>
          <p:spPr bwMode="auto">
            <a:xfrm>
              <a:off x="4287" y="1480"/>
              <a:ext cx="0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3" name="Line 239"/>
            <p:cNvSpPr>
              <a:spLocks noChangeShapeType="1"/>
            </p:cNvSpPr>
            <p:nvPr/>
          </p:nvSpPr>
          <p:spPr bwMode="auto">
            <a:xfrm flipV="1">
              <a:off x="4422" y="1480"/>
              <a:ext cx="1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4" name="Line 240"/>
            <p:cNvSpPr>
              <a:spLocks noChangeShapeType="1"/>
            </p:cNvSpPr>
            <p:nvPr/>
          </p:nvSpPr>
          <p:spPr bwMode="auto">
            <a:xfrm>
              <a:off x="4559" y="1480"/>
              <a:ext cx="0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5" name="Line 241"/>
            <p:cNvSpPr>
              <a:spLocks noChangeShapeType="1"/>
            </p:cNvSpPr>
            <p:nvPr/>
          </p:nvSpPr>
          <p:spPr bwMode="auto">
            <a:xfrm flipV="1">
              <a:off x="4694" y="1480"/>
              <a:ext cx="1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6" name="Line 242"/>
            <p:cNvSpPr>
              <a:spLocks noChangeShapeType="1"/>
            </p:cNvSpPr>
            <p:nvPr/>
          </p:nvSpPr>
          <p:spPr bwMode="auto">
            <a:xfrm flipV="1">
              <a:off x="4830" y="1480"/>
              <a:ext cx="1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7" name="Line 243"/>
            <p:cNvSpPr>
              <a:spLocks noChangeShapeType="1"/>
            </p:cNvSpPr>
            <p:nvPr/>
          </p:nvSpPr>
          <p:spPr bwMode="auto">
            <a:xfrm>
              <a:off x="4967" y="1480"/>
              <a:ext cx="0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8" name="Line 244"/>
            <p:cNvSpPr>
              <a:spLocks noChangeShapeType="1"/>
            </p:cNvSpPr>
            <p:nvPr/>
          </p:nvSpPr>
          <p:spPr bwMode="auto">
            <a:xfrm flipV="1">
              <a:off x="5102" y="1480"/>
              <a:ext cx="1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29" name="Line 245"/>
            <p:cNvSpPr>
              <a:spLocks noChangeShapeType="1"/>
            </p:cNvSpPr>
            <p:nvPr/>
          </p:nvSpPr>
          <p:spPr bwMode="auto">
            <a:xfrm>
              <a:off x="5239" y="1480"/>
              <a:ext cx="0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30" name="Line 246"/>
            <p:cNvSpPr>
              <a:spLocks noChangeShapeType="1"/>
            </p:cNvSpPr>
            <p:nvPr/>
          </p:nvSpPr>
          <p:spPr bwMode="auto">
            <a:xfrm>
              <a:off x="5375" y="1480"/>
              <a:ext cx="0" cy="136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31" name="Text Box 247"/>
            <p:cNvSpPr txBox="1">
              <a:spLocks noChangeArrowheads="1"/>
            </p:cNvSpPr>
            <p:nvPr/>
          </p:nvSpPr>
          <p:spPr bwMode="auto">
            <a:xfrm>
              <a:off x="5148" y="1661"/>
              <a:ext cx="318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盘基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247032" name="Line 248"/>
            <p:cNvSpPr>
              <a:spLocks noChangeShapeType="1"/>
            </p:cNvSpPr>
            <p:nvPr/>
          </p:nvSpPr>
          <p:spPr bwMode="auto">
            <a:xfrm flipV="1">
              <a:off x="4604" y="1616"/>
              <a:ext cx="91" cy="54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33" name="Rectangle 249"/>
            <p:cNvSpPr>
              <a:spLocks noChangeArrowheads="1"/>
            </p:cNvSpPr>
            <p:nvPr/>
          </p:nvSpPr>
          <p:spPr bwMode="auto">
            <a:xfrm rot="600000">
              <a:off x="4547" y="2160"/>
              <a:ext cx="91" cy="91"/>
            </a:xfrm>
            <a:prstGeom prst="rect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49" name="Text Box 265"/>
            <p:cNvSpPr txBox="1">
              <a:spLocks noChangeArrowheads="1"/>
            </p:cNvSpPr>
            <p:nvPr/>
          </p:nvSpPr>
          <p:spPr bwMode="auto">
            <a:xfrm>
              <a:off x="4196" y="1842"/>
              <a:ext cx="181" cy="182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600" b="1">
                  <a:latin typeface="宋体" panose="02010600030101010101" pitchFamily="2" charset="-122"/>
                </a:rPr>
                <a:t>I</a:t>
              </a:r>
              <a:r>
                <a:rPr lang="en-US" altLang="zh-CN" sz="1600" b="1" baseline="-14000">
                  <a:latin typeface="宋体" panose="02010600030101010101" pitchFamily="2" charset="-122"/>
                </a:rPr>
                <a:t>w</a:t>
              </a:r>
              <a:endParaRPr lang="en-US" altLang="zh-CN" sz="1600" b="1" baseline="-14000">
                <a:latin typeface="宋体" panose="02010600030101010101" pitchFamily="2" charset="-122"/>
              </a:endParaRPr>
            </a:p>
          </p:txBody>
        </p:sp>
        <p:sp>
          <p:nvSpPr>
            <p:cNvPr id="247050" name="Freeform 266"/>
            <p:cNvSpPr/>
            <p:nvPr/>
          </p:nvSpPr>
          <p:spPr bwMode="auto">
            <a:xfrm>
              <a:off x="4508" y="1888"/>
              <a:ext cx="459" cy="136"/>
            </a:xfrm>
            <a:custGeom>
              <a:avLst/>
              <a:gdLst/>
              <a:ahLst/>
              <a:cxnLst>
                <a:cxn ang="0">
                  <a:pos x="6" y="93"/>
                </a:cxn>
                <a:cxn ang="0">
                  <a:pos x="149" y="94"/>
                </a:cxn>
                <a:cxn ang="0">
                  <a:pos x="233" y="94"/>
                </a:cxn>
                <a:cxn ang="0">
                  <a:pos x="303" y="88"/>
                </a:cxn>
                <a:cxn ang="0">
                  <a:pos x="324" y="60"/>
                </a:cxn>
                <a:cxn ang="0">
                  <a:pos x="255" y="31"/>
                </a:cxn>
                <a:cxn ang="0">
                  <a:pos x="119" y="27"/>
                </a:cxn>
                <a:cxn ang="0">
                  <a:pos x="11" y="42"/>
                </a:cxn>
                <a:cxn ang="0">
                  <a:pos x="51" y="67"/>
                </a:cxn>
                <a:cxn ang="0">
                  <a:pos x="275" y="70"/>
                </a:cxn>
                <a:cxn ang="0">
                  <a:pos x="327" y="37"/>
                </a:cxn>
                <a:cxn ang="0">
                  <a:pos x="287" y="13"/>
                </a:cxn>
                <a:cxn ang="0">
                  <a:pos x="221" y="3"/>
                </a:cxn>
                <a:cxn ang="0">
                  <a:pos x="107" y="0"/>
                </a:cxn>
                <a:cxn ang="0">
                  <a:pos x="6" y="0"/>
                </a:cxn>
              </a:cxnLst>
              <a:rect l="0" t="0" r="r" b="b"/>
              <a:pathLst>
                <a:path w="332" h="95">
                  <a:moveTo>
                    <a:pt x="6" y="93"/>
                  </a:moveTo>
                  <a:cubicBezTo>
                    <a:pt x="30" y="93"/>
                    <a:pt x="111" y="94"/>
                    <a:pt x="149" y="94"/>
                  </a:cubicBezTo>
                  <a:cubicBezTo>
                    <a:pt x="187" y="94"/>
                    <a:pt x="207" y="95"/>
                    <a:pt x="233" y="94"/>
                  </a:cubicBezTo>
                  <a:cubicBezTo>
                    <a:pt x="259" y="93"/>
                    <a:pt x="288" y="94"/>
                    <a:pt x="303" y="88"/>
                  </a:cubicBezTo>
                  <a:cubicBezTo>
                    <a:pt x="318" y="82"/>
                    <a:pt x="332" y="69"/>
                    <a:pt x="324" y="60"/>
                  </a:cubicBezTo>
                  <a:cubicBezTo>
                    <a:pt x="316" y="51"/>
                    <a:pt x="289" y="36"/>
                    <a:pt x="255" y="31"/>
                  </a:cubicBezTo>
                  <a:cubicBezTo>
                    <a:pt x="221" y="26"/>
                    <a:pt x="160" y="25"/>
                    <a:pt x="119" y="27"/>
                  </a:cubicBezTo>
                  <a:cubicBezTo>
                    <a:pt x="78" y="29"/>
                    <a:pt x="22" y="35"/>
                    <a:pt x="11" y="42"/>
                  </a:cubicBezTo>
                  <a:cubicBezTo>
                    <a:pt x="0" y="49"/>
                    <a:pt x="7" y="62"/>
                    <a:pt x="51" y="67"/>
                  </a:cubicBezTo>
                  <a:cubicBezTo>
                    <a:pt x="95" y="72"/>
                    <a:pt x="229" y="75"/>
                    <a:pt x="275" y="70"/>
                  </a:cubicBezTo>
                  <a:cubicBezTo>
                    <a:pt x="321" y="65"/>
                    <a:pt x="325" y="46"/>
                    <a:pt x="327" y="37"/>
                  </a:cubicBezTo>
                  <a:cubicBezTo>
                    <a:pt x="329" y="28"/>
                    <a:pt x="305" y="19"/>
                    <a:pt x="287" y="13"/>
                  </a:cubicBezTo>
                  <a:cubicBezTo>
                    <a:pt x="269" y="7"/>
                    <a:pt x="251" y="5"/>
                    <a:pt x="221" y="3"/>
                  </a:cubicBezTo>
                  <a:cubicBezTo>
                    <a:pt x="191" y="1"/>
                    <a:pt x="143" y="0"/>
                    <a:pt x="107" y="0"/>
                  </a:cubicBezTo>
                  <a:cubicBezTo>
                    <a:pt x="71" y="0"/>
                    <a:pt x="27" y="0"/>
                    <a:pt x="6" y="0"/>
                  </a:cubicBezTo>
                </a:path>
              </a:pathLst>
            </a:cu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51" name="Line 267"/>
            <p:cNvSpPr>
              <a:spLocks noChangeShapeType="1"/>
            </p:cNvSpPr>
            <p:nvPr/>
          </p:nvSpPr>
          <p:spPr bwMode="auto">
            <a:xfrm>
              <a:off x="4423" y="2024"/>
              <a:ext cx="9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52" name="Line 268"/>
            <p:cNvSpPr>
              <a:spLocks noChangeShapeType="1"/>
            </p:cNvSpPr>
            <p:nvPr/>
          </p:nvSpPr>
          <p:spPr bwMode="auto">
            <a:xfrm flipH="1">
              <a:off x="4423" y="1888"/>
              <a:ext cx="9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62" name="Arc 278"/>
            <p:cNvSpPr/>
            <p:nvPr/>
          </p:nvSpPr>
          <p:spPr bwMode="auto">
            <a:xfrm flipV="1">
              <a:off x="4468" y="1616"/>
              <a:ext cx="136" cy="499"/>
            </a:xfrm>
            <a:custGeom>
              <a:avLst/>
              <a:gdLst>
                <a:gd name="G0" fmla="+- 0 0 0"/>
                <a:gd name="G1" fmla="+- 21187 0 0"/>
                <a:gd name="G2" fmla="+- 21600 0 0"/>
                <a:gd name="T0" fmla="*/ 4206 w 21600"/>
                <a:gd name="T1" fmla="*/ 0 h 42411"/>
                <a:gd name="T2" fmla="*/ 4015 w 21600"/>
                <a:gd name="T3" fmla="*/ 42411 h 42411"/>
                <a:gd name="T4" fmla="*/ 0 w 21600"/>
                <a:gd name="T5" fmla="*/ 21187 h 42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2411" fill="none" extrusionOk="0">
                  <a:moveTo>
                    <a:pt x="4205" y="0"/>
                  </a:moveTo>
                  <a:cubicBezTo>
                    <a:pt x="14316" y="2007"/>
                    <a:pt x="21600" y="10879"/>
                    <a:pt x="21600" y="21187"/>
                  </a:cubicBezTo>
                  <a:cubicBezTo>
                    <a:pt x="21600" y="31568"/>
                    <a:pt x="14215" y="40480"/>
                    <a:pt x="4014" y="42410"/>
                  </a:cubicBezTo>
                </a:path>
                <a:path w="21600" h="42411" stroke="0" extrusionOk="0">
                  <a:moveTo>
                    <a:pt x="4205" y="0"/>
                  </a:moveTo>
                  <a:cubicBezTo>
                    <a:pt x="14316" y="2007"/>
                    <a:pt x="21600" y="10879"/>
                    <a:pt x="21600" y="21187"/>
                  </a:cubicBezTo>
                  <a:cubicBezTo>
                    <a:pt x="21600" y="31568"/>
                    <a:pt x="14215" y="40480"/>
                    <a:pt x="4014" y="42410"/>
                  </a:cubicBezTo>
                  <a:lnTo>
                    <a:pt x="0" y="21187"/>
                  </a:lnTo>
                  <a:close/>
                </a:path>
              </a:pathLst>
            </a:custGeom>
            <a:noFill/>
            <a:ln w="19050">
              <a:solidFill>
                <a:srgbClr val="990099"/>
              </a:solidFill>
              <a:prstDash val="sysDot"/>
              <a:round/>
              <a:headEnd type="triangle" w="med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63" name="Arc 279"/>
            <p:cNvSpPr/>
            <p:nvPr/>
          </p:nvSpPr>
          <p:spPr bwMode="auto">
            <a:xfrm flipH="1" flipV="1">
              <a:off x="4787" y="1616"/>
              <a:ext cx="135" cy="499"/>
            </a:xfrm>
            <a:custGeom>
              <a:avLst/>
              <a:gdLst>
                <a:gd name="G0" fmla="+- 0 0 0"/>
                <a:gd name="G1" fmla="+- 20982 0 0"/>
                <a:gd name="G2" fmla="+- 21600 0 0"/>
                <a:gd name="T0" fmla="*/ 5129 w 21600"/>
                <a:gd name="T1" fmla="*/ 0 h 41889"/>
                <a:gd name="T2" fmla="*/ 5429 w 21600"/>
                <a:gd name="T3" fmla="*/ 41889 h 41889"/>
                <a:gd name="T4" fmla="*/ 0 w 21600"/>
                <a:gd name="T5" fmla="*/ 20982 h 418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41889" fill="none" extrusionOk="0">
                  <a:moveTo>
                    <a:pt x="5129" y="-1"/>
                  </a:moveTo>
                  <a:cubicBezTo>
                    <a:pt x="14798" y="2363"/>
                    <a:pt x="21600" y="11028"/>
                    <a:pt x="21600" y="20982"/>
                  </a:cubicBezTo>
                  <a:cubicBezTo>
                    <a:pt x="21600" y="30820"/>
                    <a:pt x="14951" y="39415"/>
                    <a:pt x="5428" y="41888"/>
                  </a:cubicBezTo>
                </a:path>
                <a:path w="21600" h="41889" stroke="0" extrusionOk="0">
                  <a:moveTo>
                    <a:pt x="5129" y="-1"/>
                  </a:moveTo>
                  <a:cubicBezTo>
                    <a:pt x="14798" y="2363"/>
                    <a:pt x="21600" y="11028"/>
                    <a:pt x="21600" y="20982"/>
                  </a:cubicBezTo>
                  <a:cubicBezTo>
                    <a:pt x="21600" y="30820"/>
                    <a:pt x="14951" y="39415"/>
                    <a:pt x="5428" y="41888"/>
                  </a:cubicBezTo>
                  <a:lnTo>
                    <a:pt x="0" y="20982"/>
                  </a:lnTo>
                  <a:close/>
                </a:path>
              </a:pathLst>
            </a:custGeom>
            <a:noFill/>
            <a:ln w="19050">
              <a:solidFill>
                <a:srgbClr val="990099"/>
              </a:solidFill>
              <a:prstDash val="sysDot"/>
              <a:round/>
              <a:headEnd type="triangle" w="med" len="med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64" name="Line 280"/>
            <p:cNvSpPr>
              <a:spLocks noChangeShapeType="1"/>
            </p:cNvSpPr>
            <p:nvPr/>
          </p:nvSpPr>
          <p:spPr bwMode="auto">
            <a:xfrm flipV="1">
              <a:off x="4694" y="1616"/>
              <a:ext cx="1" cy="499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prstDash val="sysDot"/>
              <a:round/>
              <a:headEnd type="triangle" w="med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066" name="Oval 282"/>
            <p:cNvSpPr>
              <a:spLocks noChangeArrowheads="1"/>
            </p:cNvSpPr>
            <p:nvPr/>
          </p:nvSpPr>
          <p:spPr bwMode="auto">
            <a:xfrm>
              <a:off x="4377" y="1868"/>
              <a:ext cx="46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67" name="Oval 283"/>
            <p:cNvSpPr>
              <a:spLocks noChangeArrowheads="1"/>
            </p:cNvSpPr>
            <p:nvPr/>
          </p:nvSpPr>
          <p:spPr bwMode="auto">
            <a:xfrm>
              <a:off x="4377" y="2001"/>
              <a:ext cx="46" cy="45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7068" name="Text Box 284"/>
            <p:cNvSpPr txBox="1">
              <a:spLocks noChangeArrowheads="1"/>
            </p:cNvSpPr>
            <p:nvPr/>
          </p:nvSpPr>
          <p:spPr bwMode="auto">
            <a:xfrm>
              <a:off x="5012" y="1934"/>
              <a:ext cx="545" cy="13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>
                  <a:latin typeface="宋体" panose="02010600030101010101" pitchFamily="2" charset="-122"/>
                </a:rPr>
                <a:t>外加磁场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47069" name="Text Box 285"/>
            <p:cNvSpPr txBox="1">
              <a:spLocks noChangeArrowheads="1"/>
            </p:cNvSpPr>
            <p:nvPr/>
          </p:nvSpPr>
          <p:spPr bwMode="auto">
            <a:xfrm>
              <a:off x="4106" y="2251"/>
              <a:ext cx="1496" cy="22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15000"/>
                </a:lnSpc>
              </a:pPr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⑶磁</a:t>
              </a:r>
              <a:r>
                <a:rPr lang="zh-CN" altLang="en-US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光型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[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磁化方向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]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47078" name="Text Box 294"/>
          <p:cNvSpPr txBox="1">
            <a:spLocks noChangeArrowheads="1"/>
          </p:cNvSpPr>
          <p:nvPr/>
        </p:nvSpPr>
        <p:spPr bwMode="auto">
          <a:xfrm>
            <a:off x="179388" y="5157192"/>
            <a:ext cx="8785225" cy="13065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     </a:t>
            </a:r>
            <a:r>
              <a:rPr lang="zh-CN" altLang="en-US" b="1" dirty="0" smtClean="0"/>
              <a:t>由</a:t>
            </a:r>
            <a:r>
              <a:rPr lang="zh-CN" altLang="en-US" b="1" dirty="0"/>
              <a:t>盘片、驱动器、控制器</a:t>
            </a:r>
            <a:r>
              <a:rPr lang="zh-CN" altLang="en-US" b="1" dirty="0" smtClean="0"/>
              <a:t>组成</a:t>
            </a:r>
            <a:endParaRPr lang="en-US" altLang="zh-CN" b="1" dirty="0" smtClean="0"/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转动方式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恒定线速度</a:t>
            </a:r>
            <a:r>
              <a:rPr lang="en-US" altLang="zh-CN" b="1" dirty="0" smtClean="0">
                <a:latin typeface="宋体" panose="02010600030101010101" pitchFamily="2" charset="-122"/>
              </a:rPr>
              <a:t>(CLV)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1CLV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1.2m/s</a:t>
            </a:r>
            <a:r>
              <a:rPr lang="zh-CN" altLang="en-US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x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倍速光驱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 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→磁盘地址＝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&lt;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光道号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,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时间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&gt;         </a:t>
            </a:r>
            <a:endParaRPr lang="en-US" altLang="zh-CN" sz="2000" b="1" dirty="0" smtClean="0">
              <a:latin typeface="宋体" panose="02010600030101010101" pitchFamily="2" charset="-122"/>
            </a:endParaRPr>
          </a:p>
        </p:txBody>
      </p:sp>
      <p:sp>
        <p:nvSpPr>
          <p:cNvPr id="105" name="Text Box 138"/>
          <p:cNvSpPr txBox="1">
            <a:spLocks noChangeArrowheads="1"/>
          </p:cNvSpPr>
          <p:nvPr/>
        </p:nvSpPr>
        <p:spPr bwMode="auto">
          <a:xfrm>
            <a:off x="2592870" y="4221088"/>
            <a:ext cx="6371617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扇区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大小固定、扇角</a:t>
            </a:r>
            <a:r>
              <a:rPr lang="zh-CN" altLang="en-US" sz="1800" b="1" u="sng" dirty="0">
                <a:latin typeface="宋体" panose="02010600030101010101" pitchFamily="2" charset="-122"/>
              </a:rPr>
              <a:t>可变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←提高记录密度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CD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紧</a:t>
            </a:r>
            <a:r>
              <a:rPr lang="zh-CN" altLang="en-US" sz="2000" b="1" dirty="0">
                <a:latin typeface="宋体" panose="02010600030101010101" pitchFamily="2" charset="-122"/>
              </a:rPr>
              <a:t>致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盘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DVD</a:t>
            </a:r>
            <a:r>
              <a:rPr lang="en-US" altLang="zh-CN" sz="2000" b="1" dirty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数字</a:t>
            </a:r>
            <a:r>
              <a:rPr lang="zh-CN" altLang="en-US" sz="2000" b="1" dirty="0">
                <a:latin typeface="宋体" panose="02010600030101010101" pitchFamily="2" charset="-122"/>
              </a:rPr>
              <a:t>通用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盘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BD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蓝光盘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en-US" altLang="zh-CN" sz="2800" b="1" dirty="0">
              <a:latin typeface="宋体" panose="02010600030101010101" pitchFamily="2" charset="-122"/>
            </a:endParaRPr>
          </a:p>
        </p:txBody>
      </p:sp>
      <p:cxnSp>
        <p:nvCxnSpPr>
          <p:cNvPr id="107" name="直接箭头连接符 106"/>
          <p:cNvCxnSpPr/>
          <p:nvPr/>
        </p:nvCxnSpPr>
        <p:spPr bwMode="auto">
          <a:xfrm flipH="1">
            <a:off x="3637484" y="4653136"/>
            <a:ext cx="1652910" cy="1080120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4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4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4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4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9" grpId="0"/>
      <p:bldP spid="24707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92" name="Text Box 4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450590" cy="612394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※外设的特点</a:t>
            </a:r>
            <a:endParaRPr lang="en-US" altLang="zh-CN" sz="2200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*数据传送方式：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无条件传送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spc="-3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简单设备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3143250" indent="-314325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条件传送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复杂设备</a:t>
            </a:r>
            <a:r>
              <a:rPr lang="en-US" altLang="zh-CN" sz="16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22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22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联络方式：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立即响应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异步联络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同步联络</a:t>
            </a:r>
            <a:r>
              <a:rPr lang="en-US" altLang="zh-CN" sz="2200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sz="2200" b="1" dirty="0">
                <a:solidFill>
                  <a:srgbClr val="C00000"/>
                </a:solidFill>
                <a:latin typeface="宋体" panose="02010600030101010101" pitchFamily="2" charset="-122"/>
              </a:rPr>
              <a:t>设备接口：</a:t>
            </a:r>
            <a:endParaRPr lang="zh-CN" altLang="en-US" sz="2200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1403901" y="4968000"/>
            <a:ext cx="6552728" cy="937616"/>
            <a:chOff x="1403648" y="2419762"/>
            <a:chExt cx="6552728" cy="937616"/>
          </a:xfrm>
        </p:grpSpPr>
        <p:sp>
          <p:nvSpPr>
            <p:cNvPr id="106" name="Text Box 7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404144" y="2564904"/>
              <a:ext cx="1799704" cy="648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7" name="Text Box 72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475656" y="2636019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Text Box 74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11760" y="2636019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9" name="Text Box 75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3419872" y="2564888"/>
              <a:ext cx="1152128" cy="288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err="1" smtClean="0">
                  <a:latin typeface="宋体" panose="02010600030101010101" pitchFamily="2" charset="-122"/>
                </a:rPr>
                <a:t>i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0" name="Text Box 7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787131" y="2933402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11" name="Text Box 8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644008" y="2455763"/>
              <a:ext cx="576064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/>
                <a:t>总线</a:t>
              </a:r>
              <a:endParaRPr lang="zh-CN" altLang="en-US" sz="1600" b="1" dirty="0"/>
            </a:p>
          </p:txBody>
        </p:sp>
        <p:sp>
          <p:nvSpPr>
            <p:cNvPr id="112" name="Text Box 81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3419872" y="3069378"/>
              <a:ext cx="1152128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简单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13" name="直接连接符 112"/>
            <p:cNvCxnSpPr>
              <a:endCxn id="107" idx="0"/>
            </p:cNvCxnSpPr>
            <p:nvPr>
              <p:custDataLst>
                <p:tags r:id="rId9"/>
              </p:custDataLst>
            </p:nvPr>
          </p:nvCxnSpPr>
          <p:spPr bwMode="auto">
            <a:xfrm>
              <a:off x="1835696" y="2428999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直接连接符 113"/>
            <p:cNvCxnSpPr>
              <a:stCxn id="108" idx="0"/>
            </p:cNvCxnSpPr>
            <p:nvPr>
              <p:custDataLst>
                <p:tags r:id="rId10"/>
              </p:custDataLst>
            </p:nvPr>
          </p:nvCxnSpPr>
          <p:spPr bwMode="auto">
            <a:xfrm flipV="1">
              <a:off x="2771800" y="2430687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直接连接符 114"/>
            <p:cNvCxnSpPr/>
            <p:nvPr>
              <p:custDataLst>
                <p:tags r:id="rId11"/>
              </p:custDataLst>
            </p:nvPr>
          </p:nvCxnSpPr>
          <p:spPr bwMode="auto">
            <a:xfrm>
              <a:off x="1403648" y="2420888"/>
              <a:ext cx="6552728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直接连接符 115"/>
            <p:cNvCxnSpPr>
              <a:endCxn id="109" idx="0"/>
            </p:cNvCxnSpPr>
            <p:nvPr>
              <p:custDataLst>
                <p:tags r:id="rId12"/>
              </p:custDataLst>
            </p:nvPr>
          </p:nvCxnSpPr>
          <p:spPr bwMode="auto">
            <a:xfrm>
              <a:off x="3995936" y="2419762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直接连接符 116"/>
            <p:cNvCxnSpPr>
              <a:stCxn id="109" idx="2"/>
              <a:endCxn id="112" idx="0"/>
            </p:cNvCxnSpPr>
            <p:nvPr>
              <p:custDataLst>
                <p:tags r:id="rId13"/>
              </p:custDataLst>
            </p:nvPr>
          </p:nvCxnSpPr>
          <p:spPr bwMode="auto">
            <a:xfrm>
              <a:off x="3995936" y="2853254"/>
              <a:ext cx="0" cy="216535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8" name="Text Box 8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979712" y="2961059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 smtClean="0"/>
                <a:t>主机</a:t>
              </a:r>
              <a:endParaRPr lang="zh-CN" altLang="en-US" sz="1600" b="1" dirty="0"/>
            </a:p>
          </p:txBody>
        </p:sp>
        <p:sp>
          <p:nvSpPr>
            <p:cNvPr id="119" name="Text Box 75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5292080" y="2565772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j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0" name="直接连接符 119"/>
            <p:cNvCxnSpPr>
              <a:endCxn id="119" idx="0"/>
            </p:cNvCxnSpPr>
            <p:nvPr>
              <p:custDataLst>
                <p:tags r:id="rId16"/>
              </p:custDataLst>
            </p:nvPr>
          </p:nvCxnSpPr>
          <p:spPr bwMode="auto">
            <a:xfrm>
              <a:off x="5868144" y="2420888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1" name="Text Box 75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6804248" y="2565772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k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2" name="直接连接符 121"/>
            <p:cNvCxnSpPr>
              <a:endCxn id="121" idx="0"/>
            </p:cNvCxnSpPr>
            <p:nvPr>
              <p:custDataLst>
                <p:tags r:id="rId18"/>
              </p:custDataLst>
            </p:nvPr>
          </p:nvCxnSpPr>
          <p:spPr bwMode="auto">
            <a:xfrm>
              <a:off x="7380312" y="2420888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" name="直接连接符 122"/>
            <p:cNvCxnSpPr/>
            <p:nvPr>
              <p:custDataLst>
                <p:tags r:id="rId19"/>
              </p:custDataLst>
            </p:nvPr>
          </p:nvCxnSpPr>
          <p:spPr bwMode="auto">
            <a:xfrm>
              <a:off x="3967358" y="2924944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4" name="Text Box 61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3815747" y="2853378"/>
              <a:ext cx="144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en-US" altLang="zh-CN" sz="1400" i="1" dirty="0" smtClean="0">
                  <a:latin typeface="+mn-lt"/>
                </a:rPr>
                <a:t>n</a:t>
              </a:r>
              <a:endParaRPr lang="en-US" altLang="zh-CN" sz="1400" i="1" dirty="0" smtClean="0">
                <a:latin typeface="+mn-lt"/>
              </a:endParaRPr>
            </a:p>
          </p:txBody>
        </p:sp>
      </p:grpSp>
      <p:sp>
        <p:nvSpPr>
          <p:cNvPr id="126" name="Text Box 145"/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2160000" y="3348000"/>
            <a:ext cx="6605270" cy="160718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2200" b="1" dirty="0">
                <a:latin typeface="宋体" panose="02010600030101010101" pitchFamily="2" charset="-122"/>
              </a:rPr>
              <a:t>联络信号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线，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无条件传送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方式</a:t>
            </a:r>
            <a:endParaRPr lang="en-US" altLang="zh-CN" sz="22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设置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请求</a:t>
            </a:r>
            <a:r>
              <a:rPr lang="en-US" altLang="zh-CN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应答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线，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并行传输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条件传送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方式</a:t>
            </a:r>
            <a:endParaRPr lang="en-US" altLang="zh-CN" sz="22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</a:rPr>
              <a:t>设置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时钟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线，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适于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串行传输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的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条件传送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方式</a:t>
            </a:r>
            <a:endParaRPr lang="zh-CN" altLang="en-US" sz="22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指明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传输速率，常省略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用口头约定实现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5292333" y="5400000"/>
            <a:ext cx="2664296" cy="540490"/>
            <a:chOff x="5292080" y="2842700"/>
            <a:chExt cx="2664296" cy="540490"/>
          </a:xfrm>
        </p:grpSpPr>
        <p:sp>
          <p:nvSpPr>
            <p:cNvPr id="142" name="Text Box 61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487747" y="2879190"/>
              <a:ext cx="32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b="1" dirty="0" smtClean="0">
                  <a:latin typeface="+mn-ea"/>
                  <a:ea typeface="+mn-ea"/>
                </a:rPr>
                <a:t>CLK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sp>
          <p:nvSpPr>
            <p:cNvPr id="130" name="Text Box 81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5292080" y="3095190"/>
              <a:ext cx="1152128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1" name="直接连接符 130"/>
            <p:cNvCxnSpPr/>
            <p:nvPr>
              <p:custDataLst>
                <p:tags r:id="rId24"/>
              </p:custDataLst>
            </p:nvPr>
          </p:nvCxnSpPr>
          <p:spPr bwMode="auto">
            <a:xfrm>
              <a:off x="5687747" y="2842700"/>
              <a:ext cx="0" cy="25200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直接连接符 131"/>
            <p:cNvCxnSpPr/>
            <p:nvPr>
              <p:custDataLst>
                <p:tags r:id="rId25"/>
              </p:custDataLst>
            </p:nvPr>
          </p:nvCxnSpPr>
          <p:spPr bwMode="auto">
            <a:xfrm>
              <a:off x="5868144" y="2842700"/>
              <a:ext cx="0" cy="252000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3" name="直接连接符 132"/>
            <p:cNvCxnSpPr/>
            <p:nvPr>
              <p:custDataLst>
                <p:tags r:id="rId26"/>
              </p:custDataLst>
            </p:nvPr>
          </p:nvCxnSpPr>
          <p:spPr bwMode="auto">
            <a:xfrm flipV="1">
              <a:off x="5940152" y="2842700"/>
              <a:ext cx="0" cy="252000"/>
            </a:xfrm>
            <a:prstGeom prst="line">
              <a:avLst/>
            </a:prstGeom>
            <a:noFill/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4" name="Text Box 81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804248" y="3095190"/>
              <a:ext cx="1152128" cy="2880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并行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5" name="直接连接符 134"/>
            <p:cNvCxnSpPr/>
            <p:nvPr>
              <p:custDataLst>
                <p:tags r:id="rId28"/>
              </p:custDataLst>
            </p:nvPr>
          </p:nvCxnSpPr>
          <p:spPr bwMode="auto">
            <a:xfrm>
              <a:off x="7236296" y="2842700"/>
              <a:ext cx="0" cy="252000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直接连接符 135"/>
            <p:cNvCxnSpPr/>
            <p:nvPr>
              <p:custDataLst>
                <p:tags r:id="rId29"/>
              </p:custDataLst>
            </p:nvPr>
          </p:nvCxnSpPr>
          <p:spPr bwMode="auto">
            <a:xfrm>
              <a:off x="7452320" y="2842700"/>
              <a:ext cx="0" cy="252000"/>
            </a:xfrm>
            <a:prstGeom prst="line">
              <a:avLst/>
            </a:prstGeom>
            <a:noFill/>
            <a:ln w="15875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连接符 136"/>
            <p:cNvCxnSpPr/>
            <p:nvPr>
              <p:custDataLst>
                <p:tags r:id="rId30"/>
              </p:custDataLst>
            </p:nvPr>
          </p:nvCxnSpPr>
          <p:spPr bwMode="auto">
            <a:xfrm>
              <a:off x="5647818" y="2879190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8" name="Text Box 61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5543747" y="2843190"/>
              <a:ext cx="144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400" i="1" dirty="0" smtClean="0">
                  <a:latin typeface="+mn-lt"/>
                </a:rPr>
                <a:t>n</a:t>
              </a:r>
              <a:endParaRPr lang="en-US" altLang="zh-CN" sz="1400" i="1" dirty="0" smtClean="0">
                <a:latin typeface="+mn-lt"/>
              </a:endParaRPr>
            </a:p>
          </p:txBody>
        </p:sp>
        <p:sp>
          <p:nvSpPr>
            <p:cNvPr id="139" name="Text Box 6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975747" y="2878700"/>
              <a:ext cx="684000" cy="180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400" b="1" dirty="0" err="1" smtClean="0">
                  <a:latin typeface="+mn-ea"/>
                  <a:ea typeface="+mn-ea"/>
                </a:rPr>
                <a:t>Req</a:t>
              </a:r>
              <a:r>
                <a:rPr lang="en-US" altLang="zh-CN" sz="1400" b="1" dirty="0" smtClean="0">
                  <a:latin typeface="+mn-ea"/>
                  <a:ea typeface="+mn-ea"/>
                </a:rPr>
                <a:t>/</a:t>
              </a:r>
              <a:r>
                <a:rPr lang="en-US" altLang="zh-CN" sz="1400" b="1" dirty="0" err="1" smtClean="0">
                  <a:latin typeface="+mn-ea"/>
                  <a:ea typeface="+mn-ea"/>
                </a:rPr>
                <a:t>Ack</a:t>
              </a:r>
              <a:endParaRPr lang="en-US" altLang="zh-CN" sz="1400" b="1" dirty="0">
                <a:latin typeface="+mn-ea"/>
                <a:ea typeface="+mn-ea"/>
              </a:endParaRPr>
            </a:p>
          </p:txBody>
        </p:sp>
        <p:cxnSp>
          <p:nvCxnSpPr>
            <p:cNvPr id="140" name="直接连接符 139"/>
            <p:cNvCxnSpPr/>
            <p:nvPr>
              <p:custDataLst>
                <p:tags r:id="rId33"/>
              </p:custDataLst>
            </p:nvPr>
          </p:nvCxnSpPr>
          <p:spPr bwMode="auto">
            <a:xfrm>
              <a:off x="7202955" y="2879190"/>
              <a:ext cx="72008" cy="72008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1" name="Text Box 61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7055747" y="2843190"/>
              <a:ext cx="144000" cy="18002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>
                <a:lnSpc>
                  <a:spcPct val="90000"/>
                </a:lnSpc>
              </a:pPr>
              <a:r>
                <a:rPr lang="en-US" altLang="zh-CN" sz="1400" dirty="0" smtClean="0">
                  <a:latin typeface="宋体" panose="02010600030101010101" pitchFamily="2" charset="-122"/>
                </a:rPr>
                <a:t>1</a:t>
              </a:r>
              <a:endParaRPr lang="en-US" altLang="zh-CN" sz="1400" dirty="0" smtClean="0">
                <a:latin typeface="宋体" panose="02010600030101010101" pitchFamily="2" charset="-122"/>
              </a:endParaRPr>
            </a:p>
          </p:txBody>
        </p:sp>
      </p:grpSp>
      <p:sp>
        <p:nvSpPr>
          <p:cNvPr id="67" name="Text Box 4"/>
          <p:cNvSpPr txBox="1"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2160000" y="1188000"/>
            <a:ext cx="6819265" cy="22764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sz="2200" b="1" spc="-30" dirty="0" smtClean="0">
                <a:latin typeface="宋体" panose="02010600030101010101" pitchFamily="2" charset="-122"/>
              </a:rPr>
              <a:t>  </a:t>
            </a:r>
            <a:r>
              <a:rPr lang="zh-CN" altLang="en-US" sz="2200" b="1" spc="-30" dirty="0" smtClean="0">
                <a:latin typeface="宋体" panose="02010600030101010101" pitchFamily="2" charset="-122"/>
              </a:rPr>
              <a:t>可</a:t>
            </a:r>
            <a:r>
              <a:rPr lang="zh-CN" altLang="en-US" sz="2200" b="1" u="sng" spc="-3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随时</a:t>
            </a:r>
            <a:r>
              <a:rPr lang="zh-CN" altLang="en-US" sz="2200" b="1" u="sng" spc="-3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spc="-30" dirty="0" smtClean="0">
                <a:latin typeface="宋体" panose="02010600030101010101" pitchFamily="2" charset="-122"/>
              </a:rPr>
              <a:t>数据；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都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字符</a:t>
            </a:r>
            <a:r>
              <a:rPr lang="zh-CN" altLang="en-US" sz="2200" b="1" dirty="0">
                <a:latin typeface="宋体" panose="02010600030101010101" pitchFamily="2" charset="-122"/>
                <a:sym typeface="+mn-ea"/>
              </a:rPr>
              <a:t>设备、</a:t>
            </a:r>
            <a:r>
              <a:rPr lang="zh-CN" altLang="en-US" sz="2200" b="1" u="sng" dirty="0" smtClean="0">
                <a:latin typeface="宋体" panose="02010600030101010101" pitchFamily="2" charset="-122"/>
                <a:sym typeface="+mn-ea"/>
              </a:rPr>
              <a:t>并行</a:t>
            </a:r>
            <a:r>
              <a:rPr lang="zh-CN" altLang="en-US" sz="2200" b="1" u="sng" dirty="0">
                <a:latin typeface="宋体" panose="02010600030101010101" pitchFamily="2" charset="-122"/>
                <a:sym typeface="+mn-ea"/>
              </a:rPr>
              <a:t>传输</a:t>
            </a:r>
            <a:r>
              <a:rPr lang="zh-CN" altLang="en-US" sz="2200" b="1" dirty="0" smtClean="0">
                <a:latin typeface="宋体" panose="02010600030101010101" pitchFamily="2" charset="-122"/>
                <a:sym typeface="+mn-ea"/>
              </a:rPr>
              <a:t>设备</a:t>
            </a:r>
            <a:endParaRPr lang="zh-CN" altLang="en-US" sz="22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sz="1600" b="1" spc="-30" dirty="0" smtClean="0">
                <a:latin typeface="宋体" panose="02010600030101010101" pitchFamily="2" charset="-122"/>
                <a:sym typeface="+mn-ea"/>
              </a:rPr>
              <a:t>如</a:t>
            </a:r>
            <a:r>
              <a:rPr lang="en-US" altLang="zh-CN" sz="1600" b="1" spc="-30" dirty="0" smtClean="0">
                <a:latin typeface="宋体" panose="02010600030101010101" pitchFamily="2" charset="-122"/>
                <a:sym typeface="+mn-ea"/>
              </a:rPr>
              <a:t>LED/</a:t>
            </a:r>
            <a:r>
              <a:rPr lang="zh-CN" altLang="en-US" sz="1600" b="1" spc="-30" dirty="0" smtClean="0">
                <a:latin typeface="宋体" panose="02010600030101010101" pitchFamily="2" charset="-122"/>
                <a:sym typeface="+mn-ea"/>
              </a:rPr>
              <a:t>开关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spc="-30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spc="-30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spc="-30" dirty="0" smtClean="0">
                <a:latin typeface="宋体" panose="02010600030101010101" pitchFamily="2" charset="-122"/>
                <a:sym typeface="+mn-ea"/>
              </a:rPr>
              <a:t>个数据</a:t>
            </a:r>
            <a:r>
              <a:rPr lang="en-US" altLang="zh-CN" sz="1600" b="1" spc="-3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spc="-30" dirty="0" smtClean="0">
                <a:latin typeface="宋体" panose="02010600030101010101" pitchFamily="2" charset="-122"/>
                <a:sym typeface="+mn-ea"/>
              </a:rPr>
              <a:t>次</a:t>
            </a:r>
            <a:endParaRPr lang="en-US" altLang="zh-CN" sz="1600" b="1" dirty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sz="2200" b="1" dirty="0" smtClean="0">
                <a:latin typeface="宋体" panose="02010600030101010101" pitchFamily="2" charset="-122"/>
              </a:rPr>
              <a:t>先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sz="2200" b="1" dirty="0">
                <a:latin typeface="宋体" panose="02010600030101010101" pitchFamily="2" charset="-122"/>
              </a:rPr>
              <a:t>设备，</a:t>
            </a:r>
            <a:r>
              <a:rPr lang="zh-CN" altLang="en-US" sz="22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等到</a:t>
            </a:r>
            <a:r>
              <a:rPr lang="zh-CN" altLang="en-US" sz="2200" b="1" dirty="0">
                <a:latin typeface="宋体" panose="02010600030101010101" pitchFamily="2" charset="-122"/>
              </a:rPr>
              <a:t>设备</a:t>
            </a:r>
            <a:r>
              <a:rPr lang="zh-CN" altLang="en-US" sz="2200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就绪时</a:t>
            </a:r>
            <a:r>
              <a:rPr lang="zh-CN" altLang="en-US" sz="2200" b="1" dirty="0">
                <a:latin typeface="宋体" panose="02010600030101010101" pitchFamily="2" charset="-122"/>
              </a:rPr>
              <a:t>，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才</a:t>
            </a:r>
            <a:r>
              <a:rPr lang="zh-CN" altLang="en-US" sz="22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数据；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marL="266700" indent="-266700" algn="l">
              <a:lnSpc>
                <a:spcPct val="125000"/>
              </a:lnSpc>
            </a:pPr>
            <a:r>
              <a:rPr lang="zh-CN" altLang="en-US" sz="2200" b="1" spc="-7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sz="2200" b="1" spc="-70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sz="2200" b="1" u="sng" spc="-70" dirty="0" smtClean="0">
                <a:latin typeface="宋体" panose="02010600030101010101" pitchFamily="2" charset="-122"/>
                <a:sym typeface="+mn-ea"/>
              </a:rPr>
              <a:t>字符</a:t>
            </a:r>
            <a:r>
              <a:rPr lang="en-US" altLang="zh-CN" sz="2200" b="1" u="sng" spc="-7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spc="-70" dirty="0" smtClean="0">
                <a:latin typeface="宋体" panose="02010600030101010101" pitchFamily="2" charset="-122"/>
                <a:sym typeface="+mn-ea"/>
              </a:rPr>
              <a:t>块</a:t>
            </a:r>
            <a:r>
              <a:rPr lang="zh-CN" altLang="en-US" sz="2200" b="1" spc="-70" dirty="0" smtClean="0">
                <a:latin typeface="宋体" panose="02010600030101010101" pitchFamily="2" charset="-122"/>
                <a:sym typeface="+mn-ea"/>
              </a:rPr>
              <a:t>设备、</a:t>
            </a:r>
            <a:r>
              <a:rPr lang="zh-CN" altLang="en-US" sz="2200" b="1" u="sng" spc="-70" dirty="0" smtClean="0">
                <a:latin typeface="宋体" panose="02010600030101010101" pitchFamily="2" charset="-122"/>
                <a:sym typeface="+mn-ea"/>
              </a:rPr>
              <a:t>并行</a:t>
            </a:r>
            <a:r>
              <a:rPr lang="en-US" altLang="zh-CN" sz="2200" b="1" u="sng" spc="-70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2200" b="1" u="sng" spc="-70" dirty="0" smtClean="0">
                <a:latin typeface="宋体" panose="02010600030101010101" pitchFamily="2" charset="-122"/>
                <a:sym typeface="+mn-ea"/>
              </a:rPr>
              <a:t>串行传输</a:t>
            </a:r>
            <a:r>
              <a:rPr lang="zh-CN" altLang="en-US" sz="2200" b="1" spc="-70" dirty="0" smtClean="0">
                <a:latin typeface="宋体" panose="02010600030101010101" pitchFamily="2" charset="-122"/>
                <a:sym typeface="+mn-ea"/>
              </a:rPr>
              <a:t>设备</a:t>
            </a:r>
            <a:endParaRPr lang="zh-CN" altLang="en-US" sz="2200" b="1" spc="-70" dirty="0" smtClean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数据线为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多位→</a:t>
            </a:r>
            <a:r>
              <a:rPr lang="zh-CN" altLang="en-US" sz="1600" dirty="0" smtClean="0">
                <a:latin typeface="宋体" panose="02010600030101010101" pitchFamily="2" charset="-122"/>
                <a:sym typeface="+mn-ea"/>
              </a:rPr>
              <a:t>┘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</a:t>
            </a:r>
            <a:r>
              <a:rPr lang="en-US" altLang="zh-CN" sz="1600" dirty="0" smtClean="0">
                <a:latin typeface="宋体" panose="02010600030101010101" pitchFamily="2" charset="-122"/>
                <a:sym typeface="+mn-ea"/>
              </a:rPr>
              <a:t>└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数据用帧格式表示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如扇区格式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sym typeface="+mn-ea"/>
            </a:endParaRPr>
          </a:p>
          <a:p>
            <a:pPr marL="266700" indent="-2667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指示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数据何时有效</a:t>
            </a:r>
            <a:r>
              <a:rPr lang="en-US" altLang="zh-CN" sz="1800" b="1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8" name="线形标注 2 67"/>
          <p:cNvSpPr/>
          <p:nvPr>
            <p:custDataLst>
              <p:tags r:id="rId36"/>
            </p:custDataLst>
          </p:nvPr>
        </p:nvSpPr>
        <p:spPr bwMode="auto">
          <a:xfrm>
            <a:off x="3707848" y="980565"/>
            <a:ext cx="945045" cy="252000"/>
          </a:xfrm>
          <a:prstGeom prst="borderCallout2">
            <a:avLst>
              <a:gd name="adj1" fmla="val 48951"/>
              <a:gd name="adj2" fmla="val -598"/>
              <a:gd name="adj3" fmla="val 48851"/>
              <a:gd name="adj4" fmla="val -23065"/>
              <a:gd name="adj5" fmla="val 122770"/>
              <a:gd name="adj6" fmla="val -5801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105000"/>
              </a:lnSpc>
            </a:pPr>
            <a:r>
              <a:rPr lang="zh-CN" altLang="en-US" sz="1600" b="1" dirty="0" smtClean="0">
                <a:latin typeface="+mn-lt"/>
                <a:ea typeface="+mn-ea"/>
              </a:rPr>
              <a:t>无需启动</a:t>
            </a:r>
            <a:endParaRPr lang="zh-CN" altLang="en-US" sz="1600" b="1" dirty="0">
              <a:latin typeface="+mn-lt"/>
              <a:ea typeface="+mn-ea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5184000" y="3024000"/>
            <a:ext cx="2214209" cy="384872"/>
            <a:chOff x="3420491" y="3706872"/>
            <a:chExt cx="2214209" cy="384872"/>
          </a:xfrm>
        </p:grpSpPr>
        <p:cxnSp>
          <p:nvCxnSpPr>
            <p:cNvPr id="57" name="直接箭头连接符 56"/>
            <p:cNvCxnSpPr/>
            <p:nvPr>
              <p:custDataLst>
                <p:tags r:id="rId37"/>
              </p:custDataLst>
            </p:nvPr>
          </p:nvCxnSpPr>
          <p:spPr bwMode="auto">
            <a:xfrm>
              <a:off x="3420491" y="4005064"/>
              <a:ext cx="1727573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58" name="Text Box 136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5148064" y="3875720"/>
              <a:ext cx="486636" cy="216024"/>
            </a:xfrm>
            <a:prstGeom prst="rect">
              <a:avLst/>
            </a:prstGeom>
            <a:noFill/>
            <a:ln w="15875">
              <a:noFill/>
              <a:miter lim="800000"/>
            </a:ln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时间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AutoShape 215"/>
            <p:cNvSpPr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4011894" y="3717032"/>
              <a:ext cx="416090" cy="216024"/>
            </a:xfrm>
            <a:prstGeom prst="hexagon">
              <a:avLst>
                <a:gd name="adj" fmla="val 31447"/>
                <a:gd name="vf" fmla="val 115470"/>
              </a:avLst>
            </a:prstGeom>
            <a:solidFill>
              <a:srgbClr val="99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D1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sp>
          <p:nvSpPr>
            <p:cNvPr id="61" name="AutoShape 215"/>
            <p:cNvSpPr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4587958" y="3717032"/>
              <a:ext cx="416090" cy="216024"/>
            </a:xfrm>
            <a:prstGeom prst="hexagon">
              <a:avLst>
                <a:gd name="adj" fmla="val 31447"/>
                <a:gd name="vf" fmla="val 115470"/>
              </a:avLst>
            </a:prstGeom>
            <a:solidFill>
              <a:srgbClr val="99CCFF"/>
            </a:solidFill>
            <a:ln w="15875" algn="ctr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>
              <a:noAutofit/>
            </a:bodyPr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D2</a:t>
              </a:r>
              <a:endParaRPr lang="zh-CN" altLang="en-US" sz="1600" b="1" dirty="0">
                <a:latin typeface="+mn-ea"/>
                <a:ea typeface="+mn-ea"/>
              </a:endParaRPr>
            </a:p>
          </p:txBody>
        </p:sp>
        <p:cxnSp>
          <p:nvCxnSpPr>
            <p:cNvPr id="62" name="直接连接符 61"/>
            <p:cNvCxnSpPr>
              <a:endCxn id="60" idx="3"/>
            </p:cNvCxnSpPr>
            <p:nvPr>
              <p:custDataLst>
                <p:tags r:id="rId41"/>
              </p:custDataLst>
            </p:nvPr>
          </p:nvCxnSpPr>
          <p:spPr bwMode="auto">
            <a:xfrm>
              <a:off x="3635896" y="3823320"/>
              <a:ext cx="375998" cy="1724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3" name="直接连接符 62"/>
            <p:cNvCxnSpPr>
              <a:stCxn id="60" idx="0"/>
              <a:endCxn id="61" idx="3"/>
            </p:cNvCxnSpPr>
            <p:nvPr>
              <p:custDataLst>
                <p:tags r:id="rId42"/>
              </p:custDataLst>
            </p:nvPr>
          </p:nvCxnSpPr>
          <p:spPr bwMode="auto">
            <a:xfrm>
              <a:off x="4427984" y="3825044"/>
              <a:ext cx="159974" cy="0"/>
            </a:xfrm>
            <a:prstGeom prst="line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4" name="直接连接符 63"/>
            <p:cNvCxnSpPr/>
            <p:nvPr>
              <p:custDataLst>
                <p:tags r:id="rId43"/>
              </p:custDataLst>
            </p:nvPr>
          </p:nvCxnSpPr>
          <p:spPr bwMode="auto">
            <a:xfrm>
              <a:off x="3635896" y="3706872"/>
              <a:ext cx="0" cy="384872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/>
          </p:spPr>
        </p:cxnSp>
        <p:cxnSp>
          <p:nvCxnSpPr>
            <p:cNvPr id="65" name="直接连接符 64"/>
            <p:cNvCxnSpPr/>
            <p:nvPr>
              <p:custDataLst>
                <p:tags r:id="rId44"/>
              </p:custDataLst>
            </p:nvPr>
          </p:nvCxnSpPr>
          <p:spPr bwMode="auto">
            <a:xfrm>
              <a:off x="4139952" y="4005064"/>
              <a:ext cx="0" cy="86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arrow" w="sm" len="sm"/>
              <a:tailEnd type="none" w="sm" len="sm"/>
            </a:ln>
            <a:effectLst/>
          </p:spPr>
        </p:cxnSp>
        <p:cxnSp>
          <p:nvCxnSpPr>
            <p:cNvPr id="66" name="直接连接符 65"/>
            <p:cNvCxnSpPr/>
            <p:nvPr>
              <p:custDataLst>
                <p:tags r:id="rId45"/>
              </p:custDataLst>
            </p:nvPr>
          </p:nvCxnSpPr>
          <p:spPr bwMode="auto">
            <a:xfrm>
              <a:off x="4716016" y="4005064"/>
              <a:ext cx="0" cy="8668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rgbClr val="C00000"/>
              </a:solidFill>
              <a:prstDash val="solid"/>
              <a:round/>
              <a:headEnd type="arrow" w="sm" len="sm"/>
              <a:tailEnd type="none" w="sm" len="sm"/>
            </a:ln>
            <a:effectLst/>
          </p:spPr>
        </p:cxnSp>
      </p:grpSp>
      <p:sp>
        <p:nvSpPr>
          <p:cNvPr id="5" name="Text Box 145"/>
          <p:cNvSpPr txBox="1"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1872000" y="5904000"/>
            <a:ext cx="7164000" cy="5143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串行有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USB/PS2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</a:rPr>
              <a:t>等，并行有</a:t>
            </a:r>
            <a:r>
              <a:rPr lang="en-US" altLang="zh-CN" sz="2200" dirty="0" smtClean="0">
                <a:cs typeface="Times New Roman" panose="02020603050405020304" pitchFamily="18" charset="0"/>
                <a:sym typeface="+mn-ea"/>
              </a:rPr>
              <a:t>Centronics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IDE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VGA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HDMI</a:t>
            </a:r>
            <a:r>
              <a:rPr lang="zh-CN" altLang="en-US" sz="22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等</a:t>
            </a:r>
            <a:endParaRPr lang="zh-CN" altLang="en-US" sz="22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9" name="AutoShape 62">
            <a:hlinkClick r:id="rId47" action="ppaction://hlinksldjump"/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 rot="16200000">
            <a:off x="7452669" y="6237657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7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02927-8F9A-4872-8282-2378DCCC528F}" type="slidenum">
              <a:rPr lang="en-US" altLang="zh-CN"/>
            </a:fld>
            <a:endParaRPr lang="en-US" altLang="zh-CN"/>
          </a:p>
        </p:txBody>
      </p:sp>
      <p:sp>
        <p:nvSpPr>
          <p:cNvPr id="114696" name="Text Box 8"/>
          <p:cNvSpPr txBox="1">
            <a:spLocks noChangeArrowheads="1"/>
          </p:cNvSpPr>
          <p:nvPr/>
        </p:nvSpPr>
        <p:spPr bwMode="auto">
          <a:xfrm>
            <a:off x="179388" y="137154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/>
          <a:p>
            <a:pPr algn="l"/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一、</a:t>
            </a:r>
            <a:r>
              <a:rPr lang="en-US" altLang="zh-CN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I/O</a:t>
            </a:r>
            <a:r>
              <a:rPr lang="zh-CN" altLang="en-US" b="1" dirty="0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接口的功能</a:t>
            </a:r>
            <a:endParaRPr lang="zh-CN" altLang="en-US" b="1" dirty="0">
              <a:solidFill>
                <a:srgbClr val="FF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114697" name="Text Box 9"/>
          <p:cNvSpPr txBox="1">
            <a:spLocks noChangeArrowheads="1"/>
          </p:cNvSpPr>
          <p:nvPr/>
        </p:nvSpPr>
        <p:spPr bwMode="auto">
          <a:xfrm>
            <a:off x="838200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§7.3  I/O</a:t>
            </a:r>
            <a:r>
              <a:rPr lang="zh-CN" altLang="en-US" sz="2800" b="1" dirty="0">
                <a:latin typeface="宋体" panose="02010600030101010101" pitchFamily="2" charset="-122"/>
              </a:rPr>
              <a:t>接口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14867" name="Text Box 179"/>
          <p:cNvSpPr txBox="1">
            <a:spLocks noChangeArrowheads="1"/>
          </p:cNvSpPr>
          <p:nvPr/>
        </p:nvSpPr>
        <p:spPr bwMode="auto">
          <a:xfrm>
            <a:off x="179388" y="1833211"/>
            <a:ext cx="8964612" cy="117416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接口：</a:t>
            </a:r>
            <a:r>
              <a:rPr lang="zh-CN" altLang="en-US" b="1" dirty="0" smtClean="0">
                <a:latin typeface="宋体" panose="02010600030101010101" pitchFamily="2" charset="-122"/>
              </a:rPr>
              <a:t>主机</a:t>
            </a:r>
            <a:r>
              <a:rPr lang="en-US" altLang="zh-CN" b="1" dirty="0" smtClean="0"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外设间的连接</a:t>
            </a:r>
            <a:r>
              <a:rPr lang="zh-CN" altLang="en-US" b="1" dirty="0">
                <a:latin typeface="宋体" panose="02010600030101010101" pitchFamily="2" charset="-122"/>
              </a:rPr>
              <a:t>电路，负责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中转</a:t>
            </a:r>
            <a:r>
              <a:rPr lang="zh-CN" altLang="en-US" b="1" u="sng" dirty="0">
                <a:latin typeface="宋体" panose="02010600030101010101" pitchFamily="2" charset="-122"/>
              </a:rPr>
              <a:t>各种</a:t>
            </a:r>
            <a:r>
              <a:rPr lang="zh-CN" altLang="en-US" b="1" dirty="0" smtClean="0">
                <a:latin typeface="宋体" panose="02010600030101010101" pitchFamily="2" charset="-122"/>
              </a:rPr>
              <a:t>信息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lang="zh-CN" altLang="en-US" sz="1800" b="1" dirty="0" smtClean="0">
                <a:latin typeface="+mn-ea"/>
              </a:rPr>
              <a:t>                                                       </a:t>
            </a:r>
            <a:r>
              <a:rPr lang="zh-CN" altLang="en-US" sz="1800" dirty="0" smtClean="0">
                <a:latin typeface="+mn-ea"/>
              </a:rPr>
              <a:t>│</a:t>
            </a:r>
            <a:r>
              <a:rPr lang="zh-CN" altLang="en-US" sz="1600" b="1" dirty="0" smtClean="0">
                <a:latin typeface="+mn-ea"/>
              </a:rPr>
              <a:t>  </a:t>
            </a:r>
            <a:r>
              <a:rPr lang="zh-CN" altLang="en-US" sz="1800" dirty="0" smtClean="0">
                <a:latin typeface="+mn-ea"/>
              </a:rPr>
              <a:t>└</a:t>
            </a:r>
            <a:r>
              <a:rPr lang="zh-CN" altLang="en-US" sz="1800" b="1" dirty="0" smtClean="0">
                <a:latin typeface="+mn-ea"/>
              </a:rPr>
              <a:t>命令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>
                <a:latin typeface="+mn-ea"/>
              </a:rPr>
              <a:t>数据</a:t>
            </a:r>
            <a:r>
              <a:rPr lang="en-US" altLang="zh-CN" sz="1800" b="1" dirty="0">
                <a:latin typeface="+mn-ea"/>
              </a:rPr>
              <a:t>/</a:t>
            </a:r>
            <a:r>
              <a:rPr lang="zh-CN" altLang="en-US" sz="1800" b="1" dirty="0" smtClean="0">
                <a:latin typeface="+mn-ea"/>
              </a:rPr>
              <a:t>状态</a:t>
            </a:r>
            <a:endParaRPr lang="en-US" altLang="zh-CN" sz="1800" b="1" dirty="0" smtClean="0">
              <a:latin typeface="+mn-ea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+mn-ea"/>
              </a:rPr>
              <a:t> </a:t>
            </a:r>
            <a:r>
              <a:rPr lang="en-US" altLang="zh-CN" sz="1800" b="1" dirty="0" smtClean="0">
                <a:latin typeface="+mn-ea"/>
              </a:rPr>
              <a:t>                                                      </a:t>
            </a:r>
            <a:r>
              <a:rPr lang="zh-CN" altLang="en-US" sz="1800" dirty="0" smtClean="0">
                <a:latin typeface="+mn-ea"/>
              </a:rPr>
              <a:t>└</a:t>
            </a:r>
            <a:r>
              <a:rPr lang="zh-CN" altLang="en-US" sz="1800" b="1" dirty="0" smtClean="0">
                <a:latin typeface="+mn-ea"/>
              </a:rPr>
              <a:t>通过</a:t>
            </a:r>
            <a:r>
              <a:rPr lang="en-US" altLang="zh-CN" sz="1800" b="1" dirty="0" err="1" smtClean="0">
                <a:latin typeface="+mn-ea"/>
              </a:rPr>
              <a:t>DBus</a:t>
            </a:r>
            <a:endParaRPr lang="zh-CN" altLang="en-US" b="1" dirty="0">
              <a:latin typeface="+mn-ea"/>
            </a:endParaRPr>
          </a:p>
        </p:txBody>
      </p:sp>
      <p:sp>
        <p:nvSpPr>
          <p:cNvPr id="114874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1908398" y="6452443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755575" y="2358614"/>
            <a:ext cx="5760641" cy="926370"/>
            <a:chOff x="323528" y="1842245"/>
            <a:chExt cx="5760641" cy="926370"/>
          </a:xfrm>
        </p:grpSpPr>
        <p:sp>
          <p:nvSpPr>
            <p:cNvPr id="57" name="Rectangle 8"/>
            <p:cNvSpPr>
              <a:spLocks noChangeArrowheads="1"/>
            </p:cNvSpPr>
            <p:nvPr/>
          </p:nvSpPr>
          <p:spPr bwMode="auto">
            <a:xfrm>
              <a:off x="323528" y="1915841"/>
              <a:ext cx="1152525" cy="852774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Rectangle 9"/>
            <p:cNvSpPr>
              <a:spLocks noChangeArrowheads="1"/>
            </p:cNvSpPr>
            <p:nvPr/>
          </p:nvSpPr>
          <p:spPr bwMode="auto">
            <a:xfrm>
              <a:off x="3203849" y="1914253"/>
              <a:ext cx="1224136" cy="8517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Text Box 10"/>
            <p:cNvSpPr txBox="1">
              <a:spLocks noChangeArrowheads="1"/>
            </p:cNvSpPr>
            <p:nvPr/>
          </p:nvSpPr>
          <p:spPr bwMode="auto">
            <a:xfrm>
              <a:off x="394965" y="1987277"/>
              <a:ext cx="360362" cy="71906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ALU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60" name="Text Box 14"/>
            <p:cNvSpPr txBox="1">
              <a:spLocks noChangeArrowheads="1"/>
            </p:cNvSpPr>
            <p:nvPr/>
          </p:nvSpPr>
          <p:spPr bwMode="auto">
            <a:xfrm>
              <a:off x="826765" y="2419003"/>
              <a:ext cx="576262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>
                  <a:latin typeface="+mn-ea"/>
                  <a:ea typeface="+mn-ea"/>
                </a:rPr>
                <a:t>CU</a:t>
              </a:r>
              <a:endParaRPr lang="en-US" altLang="zh-CN" sz="1800" b="1">
                <a:latin typeface="+mn-ea"/>
                <a:ea typeface="+mn-ea"/>
              </a:endParaRPr>
            </a:p>
          </p:txBody>
        </p:sp>
        <p:sp>
          <p:nvSpPr>
            <p:cNvPr id="61" name="Text Box 15"/>
            <p:cNvSpPr txBox="1">
              <a:spLocks noChangeArrowheads="1"/>
            </p:cNvSpPr>
            <p:nvPr/>
          </p:nvSpPr>
          <p:spPr bwMode="auto">
            <a:xfrm>
              <a:off x="826765" y="1987278"/>
              <a:ext cx="576262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BIU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62" name="Rectangle 16"/>
            <p:cNvSpPr>
              <a:spLocks noChangeArrowheads="1"/>
            </p:cNvSpPr>
            <p:nvPr/>
          </p:nvSpPr>
          <p:spPr bwMode="auto">
            <a:xfrm>
              <a:off x="1619672" y="1915841"/>
              <a:ext cx="1439862" cy="85019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Text Box 18"/>
            <p:cNvSpPr txBox="1">
              <a:spLocks noChangeArrowheads="1"/>
            </p:cNvSpPr>
            <p:nvPr/>
          </p:nvSpPr>
          <p:spPr bwMode="auto">
            <a:xfrm>
              <a:off x="3275286" y="2418309"/>
              <a:ext cx="1080690" cy="288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>
                  <a:latin typeface="+mn-ea"/>
                  <a:ea typeface="+mn-ea"/>
                </a:rPr>
                <a:t>外设</a:t>
              </a:r>
              <a:r>
                <a:rPr lang="en-US" altLang="zh-CN" sz="1800" b="1" dirty="0" smtClean="0">
                  <a:latin typeface="+mn-ea"/>
                  <a:ea typeface="+mn-ea"/>
                </a:rPr>
                <a:t>1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64" name="Text Box 20"/>
            <p:cNvSpPr txBox="1">
              <a:spLocks noChangeArrowheads="1"/>
            </p:cNvSpPr>
            <p:nvPr/>
          </p:nvSpPr>
          <p:spPr bwMode="auto">
            <a:xfrm>
              <a:off x="3275286" y="1987278"/>
              <a:ext cx="108069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I/O</a:t>
              </a:r>
              <a:r>
                <a:rPr lang="zh-CN" altLang="en-US" sz="1800" b="1" dirty="0" smtClean="0">
                  <a:latin typeface="+mn-ea"/>
                  <a:ea typeface="+mn-ea"/>
                </a:rPr>
                <a:t>接口</a:t>
              </a:r>
              <a:r>
                <a:rPr lang="en-US" altLang="zh-CN" sz="1800" b="1" dirty="0" smtClean="0">
                  <a:latin typeface="+mn-ea"/>
                  <a:ea typeface="+mn-ea"/>
                </a:rPr>
                <a:t>1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65" name="Text Box 21"/>
            <p:cNvSpPr txBox="1">
              <a:spLocks noChangeArrowheads="1"/>
            </p:cNvSpPr>
            <p:nvPr/>
          </p:nvSpPr>
          <p:spPr bwMode="auto">
            <a:xfrm>
              <a:off x="1691109" y="1987278"/>
              <a:ext cx="1296987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/>
                <a:t>主存控制器</a:t>
              </a:r>
              <a:endParaRPr lang="zh-CN" altLang="en-US" sz="1800" b="1" dirty="0"/>
            </a:p>
          </p:txBody>
        </p:sp>
        <p:sp>
          <p:nvSpPr>
            <p:cNvPr id="66" name="Text Box 22"/>
            <p:cNvSpPr txBox="1">
              <a:spLocks noChangeArrowheads="1"/>
            </p:cNvSpPr>
            <p:nvPr/>
          </p:nvSpPr>
          <p:spPr bwMode="auto">
            <a:xfrm>
              <a:off x="1691109" y="2419003"/>
              <a:ext cx="1296987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/>
                <a:t>内存条</a:t>
              </a:r>
              <a:endParaRPr lang="zh-CN" altLang="en-US" sz="1800" b="1" dirty="0"/>
            </a:p>
          </p:txBody>
        </p:sp>
        <p:cxnSp>
          <p:nvCxnSpPr>
            <p:cNvPr id="67" name="直接连接符 66"/>
            <p:cNvCxnSpPr/>
            <p:nvPr/>
          </p:nvCxnSpPr>
          <p:spPr bwMode="auto">
            <a:xfrm>
              <a:off x="323528" y="1842245"/>
              <a:ext cx="5760641" cy="2579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直接连接符 67"/>
            <p:cNvCxnSpPr>
              <a:endCxn id="61" idx="0"/>
            </p:cNvCxnSpPr>
            <p:nvPr/>
          </p:nvCxnSpPr>
          <p:spPr bwMode="auto">
            <a:xfrm flipH="1">
              <a:off x="1114896" y="1842245"/>
              <a:ext cx="360" cy="14503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直接连接符 68"/>
            <p:cNvCxnSpPr/>
            <p:nvPr/>
          </p:nvCxnSpPr>
          <p:spPr bwMode="auto">
            <a:xfrm flipH="1">
              <a:off x="1115219" y="2273598"/>
              <a:ext cx="360" cy="144711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直接连接符 69"/>
            <p:cNvCxnSpPr>
              <a:endCxn id="59" idx="3"/>
            </p:cNvCxnSpPr>
            <p:nvPr/>
          </p:nvCxnSpPr>
          <p:spPr bwMode="auto">
            <a:xfrm flipH="1">
              <a:off x="755327" y="2345953"/>
              <a:ext cx="359569" cy="856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  <a:effectLst/>
          </p:spPr>
        </p:cxnSp>
        <p:cxnSp>
          <p:nvCxnSpPr>
            <p:cNvPr id="71" name="直接连接符 70"/>
            <p:cNvCxnSpPr>
              <a:endCxn id="65" idx="0"/>
            </p:cNvCxnSpPr>
            <p:nvPr/>
          </p:nvCxnSpPr>
          <p:spPr bwMode="auto">
            <a:xfrm>
              <a:off x="2339442" y="1842245"/>
              <a:ext cx="161" cy="14503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2" name="直接连接符 71"/>
            <p:cNvCxnSpPr>
              <a:stCxn id="65" idx="2"/>
              <a:endCxn id="66" idx="0"/>
            </p:cNvCxnSpPr>
            <p:nvPr/>
          </p:nvCxnSpPr>
          <p:spPr bwMode="auto">
            <a:xfrm>
              <a:off x="2339603" y="2274616"/>
              <a:ext cx="0" cy="144387"/>
            </a:xfrm>
            <a:prstGeom prst="line">
              <a:avLst/>
            </a:prstGeom>
            <a:noFill/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3" name="直接连接符 72"/>
            <p:cNvCxnSpPr>
              <a:endCxn id="64" idx="0"/>
            </p:cNvCxnSpPr>
            <p:nvPr/>
          </p:nvCxnSpPr>
          <p:spPr bwMode="auto">
            <a:xfrm>
              <a:off x="3815631" y="1842245"/>
              <a:ext cx="0" cy="14503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4" name="直接连接符 73"/>
            <p:cNvCxnSpPr/>
            <p:nvPr/>
          </p:nvCxnSpPr>
          <p:spPr bwMode="auto">
            <a:xfrm>
              <a:off x="3851921" y="2274616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5" name="Text Box 13"/>
            <p:cNvSpPr txBox="1">
              <a:spLocks noChangeArrowheads="1"/>
            </p:cNvSpPr>
            <p:nvPr/>
          </p:nvSpPr>
          <p:spPr bwMode="auto">
            <a:xfrm>
              <a:off x="4427984" y="2085939"/>
              <a:ext cx="432048" cy="262941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76" name="直接连接符 75"/>
            <p:cNvCxnSpPr/>
            <p:nvPr/>
          </p:nvCxnSpPr>
          <p:spPr bwMode="auto">
            <a:xfrm>
              <a:off x="3707905" y="2276872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Rectangle 9"/>
            <p:cNvSpPr>
              <a:spLocks noChangeArrowheads="1"/>
            </p:cNvSpPr>
            <p:nvPr/>
          </p:nvSpPr>
          <p:spPr bwMode="auto">
            <a:xfrm>
              <a:off x="4860033" y="1916832"/>
              <a:ext cx="1224136" cy="85178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Text Box 18"/>
            <p:cNvSpPr txBox="1">
              <a:spLocks noChangeArrowheads="1"/>
            </p:cNvSpPr>
            <p:nvPr/>
          </p:nvSpPr>
          <p:spPr bwMode="auto">
            <a:xfrm>
              <a:off x="4931470" y="2420888"/>
              <a:ext cx="1080690" cy="2889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zh-CN" altLang="en-US" sz="1800" b="1" dirty="0" smtClean="0">
                  <a:latin typeface="+mn-ea"/>
                  <a:ea typeface="+mn-ea"/>
                </a:rPr>
                <a:t>外设</a:t>
              </a:r>
              <a:r>
                <a:rPr lang="en-US" altLang="zh-CN" sz="1800" b="1" dirty="0" smtClean="0">
                  <a:latin typeface="+mn-ea"/>
                  <a:ea typeface="+mn-ea"/>
                </a:rPr>
                <a:t>n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79" name="Text Box 20"/>
            <p:cNvSpPr txBox="1">
              <a:spLocks noChangeArrowheads="1"/>
            </p:cNvSpPr>
            <p:nvPr/>
          </p:nvSpPr>
          <p:spPr bwMode="auto">
            <a:xfrm>
              <a:off x="4931470" y="1989857"/>
              <a:ext cx="108069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ctr">
                <a:lnSpc>
                  <a:spcPct val="100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I/O</a:t>
              </a:r>
              <a:r>
                <a:rPr lang="zh-CN" altLang="en-US" sz="1800" b="1" dirty="0" smtClean="0">
                  <a:latin typeface="+mn-ea"/>
                  <a:ea typeface="+mn-ea"/>
                </a:rPr>
                <a:t>接口</a:t>
              </a:r>
              <a:r>
                <a:rPr lang="en-US" altLang="zh-CN" sz="1800" b="1" dirty="0" smtClean="0">
                  <a:latin typeface="+mn-ea"/>
                  <a:ea typeface="+mn-ea"/>
                </a:rPr>
                <a:t>n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cxnSp>
          <p:nvCxnSpPr>
            <p:cNvPr id="80" name="直接连接符 79"/>
            <p:cNvCxnSpPr>
              <a:endCxn id="79" idx="0"/>
            </p:cNvCxnSpPr>
            <p:nvPr/>
          </p:nvCxnSpPr>
          <p:spPr bwMode="auto">
            <a:xfrm>
              <a:off x="5471815" y="1842245"/>
              <a:ext cx="0" cy="14761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2" name="直接连接符 81"/>
            <p:cNvCxnSpPr/>
            <p:nvPr/>
          </p:nvCxnSpPr>
          <p:spPr bwMode="auto">
            <a:xfrm>
              <a:off x="5436096" y="2279451"/>
              <a:ext cx="0" cy="143693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0" name="Text Box 4"/>
          <p:cNvSpPr txBox="1">
            <a:spLocks noChangeArrowheads="1"/>
          </p:cNvSpPr>
          <p:nvPr/>
        </p:nvSpPr>
        <p:spPr bwMode="auto">
          <a:xfrm>
            <a:off x="152401" y="3253040"/>
            <a:ext cx="3123456" cy="286232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接口的功能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数据缓冲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操作中转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状态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监测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通信控制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信号转换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01" name="Text Box 5"/>
          <p:cNvSpPr txBox="1">
            <a:spLocks noChangeArrowheads="1"/>
          </p:cNvSpPr>
          <p:nvPr/>
        </p:nvSpPr>
        <p:spPr bwMode="auto">
          <a:xfrm>
            <a:off x="2339752" y="3693879"/>
            <a:ext cx="640883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用</a:t>
            </a:r>
            <a:r>
              <a:rPr lang="zh-CN" altLang="en-US" b="1" u="sng" dirty="0">
                <a:latin typeface="宋体" panose="02010600030101010101" pitchFamily="2" charset="-122"/>
              </a:rPr>
              <a:t>寄存器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b="1" dirty="0" smtClean="0">
                <a:latin typeface="宋体" panose="02010600030101010101" pitchFamily="2" charset="-122"/>
              </a:rPr>
              <a:t>来自主机和外设的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</a:t>
            </a:r>
            <a:endParaRPr lang="zh-CN" altLang="en-US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2" name="Text Box 8"/>
          <p:cNvSpPr txBox="1">
            <a:spLocks noChangeArrowheads="1"/>
          </p:cNvSpPr>
          <p:nvPr/>
        </p:nvSpPr>
        <p:spPr bwMode="auto">
          <a:xfrm>
            <a:off x="2339877" y="4171146"/>
            <a:ext cx="626482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用</a:t>
            </a:r>
            <a:r>
              <a:rPr lang="zh-CN" altLang="en-US" b="1" u="sng" dirty="0">
                <a:latin typeface="宋体" panose="02010600030101010101" pitchFamily="2" charset="-122"/>
              </a:rPr>
              <a:t>寄存器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暂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存</a:t>
            </a:r>
            <a:r>
              <a:rPr lang="zh-CN" altLang="en-US" b="1" dirty="0" smtClean="0">
                <a:latin typeface="宋体" panose="02010600030101010101" pitchFamily="2" charset="-122"/>
              </a:rPr>
              <a:t>主机的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操作命令</a:t>
            </a:r>
            <a:r>
              <a:rPr lang="zh-CN" altLang="en-US" b="1" dirty="0" smtClean="0">
                <a:latin typeface="宋体" panose="02010600030101010101" pitchFamily="2" charset="-122"/>
              </a:rPr>
              <a:t>，并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适时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转发</a:t>
            </a:r>
            <a:endParaRPr lang="zh-CN" altLang="en-US" sz="2000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103" name="Text Box 10"/>
          <p:cNvSpPr txBox="1">
            <a:spLocks noChangeArrowheads="1"/>
          </p:cNvSpPr>
          <p:nvPr/>
        </p:nvSpPr>
        <p:spPr bwMode="auto">
          <a:xfrm>
            <a:off x="2339877" y="4603194"/>
            <a:ext cx="626482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监视</a:t>
            </a:r>
            <a:r>
              <a:rPr lang="zh-CN" altLang="en-US" b="1" dirty="0" smtClean="0">
                <a:latin typeface="宋体" panose="02010600030101010101" pitchFamily="2" charset="-122"/>
              </a:rPr>
              <a:t>外设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工作状态</a:t>
            </a:r>
            <a:r>
              <a:rPr lang="zh-CN" altLang="en-US" b="1" dirty="0">
                <a:latin typeface="宋体" panose="02010600030101010101" pitchFamily="2" charset="-122"/>
              </a:rPr>
              <a:t>，并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暂存</a:t>
            </a:r>
            <a:r>
              <a:rPr lang="zh-CN" altLang="en-US" b="1" dirty="0">
                <a:latin typeface="宋体" panose="02010600030101010101" pitchFamily="2" charset="-122"/>
              </a:rPr>
              <a:t>到</a:t>
            </a:r>
            <a:r>
              <a:rPr lang="zh-CN" altLang="en-US" b="1" u="sng" dirty="0">
                <a:latin typeface="宋体" panose="02010600030101010101" pitchFamily="2" charset="-122"/>
              </a:rPr>
              <a:t>寄存器</a:t>
            </a:r>
            <a:r>
              <a:rPr lang="zh-CN" altLang="en-US" b="1" dirty="0" smtClean="0">
                <a:latin typeface="宋体" panose="02010600030101010101" pitchFamily="2" charset="-122"/>
              </a:rPr>
              <a:t>中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104" name="Text Box 9"/>
          <p:cNvSpPr txBox="1">
            <a:spLocks noChangeArrowheads="1"/>
          </p:cNvSpPr>
          <p:nvPr/>
        </p:nvSpPr>
        <p:spPr bwMode="auto">
          <a:xfrm>
            <a:off x="2339877" y="5057308"/>
            <a:ext cx="626482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FF3399"/>
                </a:solidFill>
                <a:latin typeface="Times New Roman" panose="02020603050405020304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与主机通信、</a:t>
            </a:r>
            <a:r>
              <a:rPr lang="zh-CN" altLang="en-US" b="1" dirty="0">
                <a:latin typeface="宋体" panose="02010600030101010101" pitchFamily="2" charset="-122"/>
              </a:rPr>
              <a:t>与</a:t>
            </a:r>
            <a:r>
              <a:rPr lang="zh-CN" altLang="en-US" b="1" dirty="0" smtClean="0">
                <a:latin typeface="宋体" panose="02010600030101010101" pitchFamily="2" charset="-122"/>
              </a:rPr>
              <a:t>外设通信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05" name="Text Box 9"/>
          <p:cNvSpPr txBox="1">
            <a:spLocks noChangeArrowheads="1"/>
          </p:cNvSpPr>
          <p:nvPr/>
        </p:nvSpPr>
        <p:spPr bwMode="auto">
          <a:xfrm>
            <a:off x="2340001" y="5517232"/>
            <a:ext cx="633670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</a:rPr>
              <a:t>主机</a:t>
            </a:r>
            <a:r>
              <a:rPr lang="en-US" altLang="zh-CN" b="1" dirty="0" smtClean="0"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</a:t>
            </a:r>
            <a:r>
              <a:rPr lang="zh-CN" altLang="en-US" b="1" dirty="0">
                <a:latin typeface="宋体" panose="02010600030101010101" pitchFamily="2" charset="-122"/>
              </a:rPr>
              <a:t>的信号</a:t>
            </a:r>
            <a:r>
              <a:rPr lang="zh-CN" altLang="en-US" b="1" dirty="0" smtClean="0">
                <a:latin typeface="宋体" panose="02010600030101010101" pitchFamily="2" charset="-122"/>
              </a:rPr>
              <a:t>转换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含格式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电平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时序</a:t>
            </a:r>
            <a:r>
              <a:rPr lang="zh-CN" altLang="en-US" sz="1800" b="1" dirty="0">
                <a:latin typeface="宋体" panose="02010600030101010101" pitchFamily="2" charset="-122"/>
              </a:rPr>
              <a:t>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06" name="Text Box 11"/>
          <p:cNvSpPr txBox="1">
            <a:spLocks noChangeArrowheads="1"/>
          </p:cNvSpPr>
          <p:nvPr/>
        </p:nvSpPr>
        <p:spPr bwMode="auto">
          <a:xfrm>
            <a:off x="179388" y="5971346"/>
            <a:ext cx="8812212" cy="5539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端口：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可与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数据总线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交换</a:t>
            </a:r>
            <a:r>
              <a:rPr lang="zh-CN" altLang="en-US" b="1" spc="-100" dirty="0">
                <a:latin typeface="宋体" panose="02010600030101010101" pitchFamily="2" charset="-122"/>
              </a:rPr>
              <a:t>信息的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寄存器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数据口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控制口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状态口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en-US" altLang="zh-CN" sz="1800" b="1" spc="-100" dirty="0" smtClean="0">
              <a:latin typeface="宋体" panose="02010600030101010101" pitchFamily="2" charset="-122"/>
            </a:endParaRPr>
          </a:p>
        </p:txBody>
      </p:sp>
      <p:sp>
        <p:nvSpPr>
          <p:cNvPr id="42" name="Text Box 526"/>
          <p:cNvSpPr txBox="1">
            <a:spLocks noChangeArrowheads="1"/>
          </p:cNvSpPr>
          <p:nvPr/>
        </p:nvSpPr>
        <p:spPr bwMode="auto">
          <a:xfrm>
            <a:off x="179512" y="836712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 smtClean="0">
                <a:latin typeface="+mn-ea"/>
              </a:rPr>
              <a:t>接口的功能、组成</a:t>
            </a:r>
            <a:r>
              <a:rPr lang="zh-CN" altLang="en-US" sz="2000" b="1" dirty="0" smtClean="0">
                <a:latin typeface="+mn-ea"/>
              </a:rPr>
              <a:t>及工作原理</a:t>
            </a:r>
            <a:r>
              <a:rPr lang="zh-CN" altLang="en-US" sz="2200" b="1" dirty="0" smtClean="0">
                <a:latin typeface="+mn-ea"/>
              </a:rPr>
              <a:t>、访问方法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4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14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96" grpId="0" animBg="1"/>
      <p:bldP spid="114867" grpId="0"/>
      <p:bldP spid="100" grpId="0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319" name="Text Box 207"/>
          <p:cNvSpPr txBox="1">
            <a:spLocks noChangeArrowheads="1"/>
          </p:cNvSpPr>
          <p:nvPr/>
        </p:nvSpPr>
        <p:spPr bwMode="auto">
          <a:xfrm>
            <a:off x="2016000" y="5063490"/>
            <a:ext cx="7092000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按总线标准，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立即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暂存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数据、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状态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按通信协议，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不停地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检测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外设状态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暂存到状态口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 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设备就绪时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转发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命令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数据、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接收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81" name="Text Box 207"/>
          <p:cNvSpPr txBox="1">
            <a:spLocks noChangeArrowheads="1"/>
          </p:cNvSpPr>
          <p:nvPr/>
        </p:nvSpPr>
        <p:spPr bwMode="auto">
          <a:xfrm>
            <a:off x="179705" y="4615815"/>
            <a:ext cx="348805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工作原理：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--2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段式中转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主机</a:t>
            </a:r>
            <a:r>
              <a:rPr 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外设</a:t>
            </a:r>
            <a:r>
              <a:rPr 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</p:txBody>
      </p:sp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9E304-526A-46A4-9ED3-4D88CF6665EF}" type="slidenum">
              <a:rPr lang="en-US" altLang="zh-CN"/>
            </a:fld>
            <a:endParaRPr lang="en-US" altLang="zh-CN"/>
          </a:p>
        </p:txBody>
      </p:sp>
      <p:sp>
        <p:nvSpPr>
          <p:cNvPr id="346116" name="Text Box 4"/>
          <p:cNvSpPr txBox="1">
            <a:spLocks noChangeArrowheads="1"/>
          </p:cNvSpPr>
          <p:nvPr/>
        </p:nvSpPr>
        <p:spPr bwMode="auto">
          <a:xfrm>
            <a:off x="179388" y="375667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en-US" altLang="zh-CN" dirty="0"/>
              <a:t>I/O</a:t>
            </a:r>
            <a:r>
              <a:rPr lang="zh-CN" altLang="en-US" dirty="0"/>
              <a:t>接口的组成</a:t>
            </a:r>
            <a:endParaRPr lang="zh-CN" altLang="en-US" dirty="0"/>
          </a:p>
        </p:txBody>
      </p:sp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179388" y="864001"/>
            <a:ext cx="8812212" cy="1015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的组成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基本组成：</a:t>
            </a:r>
            <a:r>
              <a:rPr lang="zh-CN" altLang="en-US" b="1" dirty="0" smtClean="0">
                <a:latin typeface="宋体" panose="02010600030101010101" pitchFamily="2" charset="-122"/>
              </a:rPr>
              <a:t>总线缓冲器、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I/O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端口、设备选择、</a:t>
            </a:r>
            <a:r>
              <a:rPr lang="zh-CN" altLang="en-US" b="1" spc="-100" dirty="0" smtClean="0"/>
              <a:t>控制逻辑等</a:t>
            </a:r>
            <a:endParaRPr lang="zh-CN" altLang="en-US" b="1" spc="-100" dirty="0"/>
          </a:p>
        </p:txBody>
      </p:sp>
      <p:sp>
        <p:nvSpPr>
          <p:cNvPr id="98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1908398" y="652355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5" name="组合 94"/>
          <p:cNvGrpSpPr/>
          <p:nvPr/>
        </p:nvGrpSpPr>
        <p:grpSpPr>
          <a:xfrm>
            <a:off x="3060055" y="2023680"/>
            <a:ext cx="3528169" cy="1728638"/>
            <a:chOff x="2339975" y="2060848"/>
            <a:chExt cx="3528169" cy="1728638"/>
          </a:xfrm>
        </p:grpSpPr>
        <p:cxnSp>
          <p:nvCxnSpPr>
            <p:cNvPr id="103" name="直接箭头连接符 102"/>
            <p:cNvCxnSpPr/>
            <p:nvPr/>
          </p:nvCxnSpPr>
          <p:spPr bwMode="auto">
            <a:xfrm>
              <a:off x="3851920" y="2204516"/>
              <a:ext cx="216471" cy="348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4" name="直接箭头连接符 103"/>
            <p:cNvCxnSpPr/>
            <p:nvPr/>
          </p:nvCxnSpPr>
          <p:spPr bwMode="auto">
            <a:xfrm>
              <a:off x="3851920" y="2636912"/>
              <a:ext cx="216024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5" name="直接箭头连接符 104"/>
            <p:cNvCxnSpPr/>
            <p:nvPr/>
          </p:nvCxnSpPr>
          <p:spPr bwMode="auto">
            <a:xfrm flipH="1">
              <a:off x="3851920" y="3068118"/>
              <a:ext cx="216025" cy="842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06" name="直接箭头连接符 105"/>
            <p:cNvCxnSpPr/>
            <p:nvPr/>
          </p:nvCxnSpPr>
          <p:spPr bwMode="auto">
            <a:xfrm flipH="1">
              <a:off x="2339975" y="2420888"/>
              <a:ext cx="1511945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oval" w="sm" len="sm"/>
              <a:tailEnd type="triangle"/>
            </a:ln>
          </p:spPr>
        </p:cxnSp>
        <p:cxnSp>
          <p:nvCxnSpPr>
            <p:cNvPr id="107" name="直接箭头连接符 106"/>
            <p:cNvCxnSpPr/>
            <p:nvPr/>
          </p:nvCxnSpPr>
          <p:spPr bwMode="auto">
            <a:xfrm flipH="1" flipV="1">
              <a:off x="3851027" y="3500636"/>
              <a:ext cx="216917" cy="372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108" name="直接箭头连接符 107"/>
            <p:cNvCxnSpPr/>
            <p:nvPr/>
          </p:nvCxnSpPr>
          <p:spPr bwMode="auto">
            <a:xfrm flipH="1">
              <a:off x="3851027" y="2204516"/>
              <a:ext cx="893" cy="1296120"/>
            </a:xfrm>
            <a:prstGeom prst="straightConnector1">
              <a:avLst/>
            </a:prstGeom>
            <a:noFill/>
            <a:ln w="254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109" name="直接箭头连接符 108"/>
            <p:cNvCxnSpPr/>
            <p:nvPr/>
          </p:nvCxnSpPr>
          <p:spPr bwMode="auto">
            <a:xfrm flipV="1">
              <a:off x="5508104" y="2348186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0" name="直接箭头连接符 109"/>
            <p:cNvCxnSpPr/>
            <p:nvPr/>
          </p:nvCxnSpPr>
          <p:spPr bwMode="auto">
            <a:xfrm flipV="1">
              <a:off x="5220072" y="2780928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1" name="直接箭头连接符 110"/>
            <p:cNvCxnSpPr/>
            <p:nvPr/>
          </p:nvCxnSpPr>
          <p:spPr bwMode="auto">
            <a:xfrm flipV="1">
              <a:off x="4932040" y="3212530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2" name="直接箭头连接符 111"/>
            <p:cNvCxnSpPr/>
            <p:nvPr/>
          </p:nvCxnSpPr>
          <p:spPr bwMode="auto">
            <a:xfrm flipV="1">
              <a:off x="4644008" y="3644578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13" name="直接箭头连接符 112"/>
            <p:cNvCxnSpPr/>
            <p:nvPr/>
          </p:nvCxnSpPr>
          <p:spPr bwMode="auto">
            <a:xfrm flipV="1">
              <a:off x="5508104" y="2780482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4" name="直接箭头连接符 113"/>
            <p:cNvCxnSpPr/>
            <p:nvPr/>
          </p:nvCxnSpPr>
          <p:spPr bwMode="auto">
            <a:xfrm flipV="1">
              <a:off x="5508104" y="3212530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5" name="直接箭头连接符 114"/>
            <p:cNvCxnSpPr/>
            <p:nvPr/>
          </p:nvCxnSpPr>
          <p:spPr bwMode="auto">
            <a:xfrm flipV="1">
              <a:off x="5220072" y="3212976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6" name="直接箭头连接符 115"/>
            <p:cNvCxnSpPr/>
            <p:nvPr/>
          </p:nvCxnSpPr>
          <p:spPr bwMode="auto">
            <a:xfrm flipV="1">
              <a:off x="5508104" y="3644132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7" name="直接箭头连接符 116"/>
            <p:cNvCxnSpPr/>
            <p:nvPr/>
          </p:nvCxnSpPr>
          <p:spPr bwMode="auto">
            <a:xfrm flipV="1">
              <a:off x="5220072" y="3644578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18" name="直接箭头连接符 117"/>
            <p:cNvCxnSpPr/>
            <p:nvPr/>
          </p:nvCxnSpPr>
          <p:spPr bwMode="auto">
            <a:xfrm flipV="1">
              <a:off x="4932040" y="3645024"/>
              <a:ext cx="0" cy="14446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sp>
          <p:nvSpPr>
            <p:cNvPr id="96" name="Text Box 517"/>
            <p:cNvSpPr txBox="1">
              <a:spLocks noChangeArrowheads="1"/>
            </p:cNvSpPr>
            <p:nvPr/>
          </p:nvSpPr>
          <p:spPr bwMode="auto">
            <a:xfrm>
              <a:off x="4068391" y="2492648"/>
              <a:ext cx="1799753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数据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输出寄存器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0" name="Text Box 518"/>
            <p:cNvSpPr txBox="1">
              <a:spLocks noChangeArrowheads="1"/>
            </p:cNvSpPr>
            <p:nvPr/>
          </p:nvSpPr>
          <p:spPr bwMode="auto">
            <a:xfrm>
              <a:off x="4068391" y="3356248"/>
              <a:ext cx="1799753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状态寄存器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519"/>
            <p:cNvSpPr txBox="1">
              <a:spLocks noChangeArrowheads="1"/>
            </p:cNvSpPr>
            <p:nvPr/>
          </p:nvSpPr>
          <p:spPr bwMode="auto">
            <a:xfrm>
              <a:off x="4068391" y="2917831"/>
              <a:ext cx="1799753" cy="29554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数据输入寄存器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520"/>
            <p:cNvSpPr txBox="1">
              <a:spLocks noChangeArrowheads="1"/>
            </p:cNvSpPr>
            <p:nvPr/>
          </p:nvSpPr>
          <p:spPr bwMode="auto">
            <a:xfrm>
              <a:off x="4068391" y="2060848"/>
              <a:ext cx="1799753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>
                  <a:latin typeface="宋体" panose="02010600030101010101" pitchFamily="2" charset="-122"/>
                </a:rPr>
                <a:t>控制寄存器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3275857" y="2095688"/>
            <a:ext cx="1512614" cy="1512317"/>
            <a:chOff x="2555777" y="2132856"/>
            <a:chExt cx="1512614" cy="1512317"/>
          </a:xfrm>
        </p:grpSpPr>
        <p:sp>
          <p:nvSpPr>
            <p:cNvPr id="120" name="Text Box 547"/>
            <p:cNvSpPr txBox="1">
              <a:spLocks noChangeArrowheads="1"/>
            </p:cNvSpPr>
            <p:nvPr/>
          </p:nvSpPr>
          <p:spPr bwMode="auto">
            <a:xfrm>
              <a:off x="2555777" y="2708151"/>
              <a:ext cx="720080" cy="5048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控制逻辑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1" name="直接箭头连接符 120"/>
            <p:cNvCxnSpPr/>
            <p:nvPr/>
          </p:nvCxnSpPr>
          <p:spPr bwMode="auto">
            <a:xfrm>
              <a:off x="3563888" y="3349631"/>
              <a:ext cx="0" cy="295542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22" name="直接箭头连接符 121"/>
            <p:cNvCxnSpPr>
              <a:endCxn id="120" idx="2"/>
            </p:cNvCxnSpPr>
            <p:nvPr/>
          </p:nvCxnSpPr>
          <p:spPr bwMode="auto">
            <a:xfrm flipV="1">
              <a:off x="2915817" y="3212976"/>
              <a:ext cx="0" cy="13665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3" name="直接箭头连接符 122"/>
            <p:cNvCxnSpPr/>
            <p:nvPr/>
          </p:nvCxnSpPr>
          <p:spPr bwMode="auto">
            <a:xfrm>
              <a:off x="2915816" y="3349631"/>
              <a:ext cx="648072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24" name="直接箭头连接符 123"/>
            <p:cNvCxnSpPr/>
            <p:nvPr/>
          </p:nvCxnSpPr>
          <p:spPr bwMode="auto">
            <a:xfrm>
              <a:off x="3708400" y="3428999"/>
              <a:ext cx="359991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25" name="直接箭头连接符 124"/>
            <p:cNvCxnSpPr/>
            <p:nvPr/>
          </p:nvCxnSpPr>
          <p:spPr bwMode="auto">
            <a:xfrm>
              <a:off x="3707904" y="2996952"/>
              <a:ext cx="359991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126" name="直接箭头连接符 125"/>
            <p:cNvCxnSpPr/>
            <p:nvPr/>
          </p:nvCxnSpPr>
          <p:spPr bwMode="auto">
            <a:xfrm>
              <a:off x="3707904" y="2564904"/>
              <a:ext cx="359991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sm"/>
            </a:ln>
          </p:spPr>
        </p:cxnSp>
        <p:cxnSp>
          <p:nvCxnSpPr>
            <p:cNvPr id="127" name="直接箭头连接符 126"/>
            <p:cNvCxnSpPr/>
            <p:nvPr/>
          </p:nvCxnSpPr>
          <p:spPr bwMode="auto">
            <a:xfrm>
              <a:off x="3707904" y="2132856"/>
              <a:ext cx="359991" cy="1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28" name="直接箭头连接符 127"/>
            <p:cNvCxnSpPr/>
            <p:nvPr/>
          </p:nvCxnSpPr>
          <p:spPr bwMode="auto">
            <a:xfrm flipV="1">
              <a:off x="3707904" y="2132857"/>
              <a:ext cx="8384" cy="129341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29" name="直接箭头连接符 128"/>
            <p:cNvCxnSpPr/>
            <p:nvPr/>
          </p:nvCxnSpPr>
          <p:spPr bwMode="auto">
            <a:xfrm>
              <a:off x="3275857" y="3067596"/>
              <a:ext cx="440431" cy="1364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oval" w="sm" len="sm"/>
            </a:ln>
          </p:spPr>
        </p:cxnSp>
      </p:grpSp>
      <p:grpSp>
        <p:nvGrpSpPr>
          <p:cNvPr id="130" name="组合 129"/>
          <p:cNvGrpSpPr/>
          <p:nvPr/>
        </p:nvGrpSpPr>
        <p:grpSpPr>
          <a:xfrm>
            <a:off x="3995936" y="1951672"/>
            <a:ext cx="3312368" cy="1584177"/>
            <a:chOff x="3275856" y="1988840"/>
            <a:chExt cx="3312368" cy="1584177"/>
          </a:xfrm>
        </p:grpSpPr>
        <p:sp>
          <p:nvSpPr>
            <p:cNvPr id="131" name="Text Box 522"/>
            <p:cNvSpPr txBox="1">
              <a:spLocks noChangeArrowheads="1"/>
            </p:cNvSpPr>
            <p:nvPr/>
          </p:nvSpPr>
          <p:spPr bwMode="auto">
            <a:xfrm>
              <a:off x="6229449" y="2132857"/>
              <a:ext cx="358775" cy="144016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信号转换逻辑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2" name="直接箭头连接符 131"/>
            <p:cNvCxnSpPr/>
            <p:nvPr/>
          </p:nvCxnSpPr>
          <p:spPr bwMode="auto">
            <a:xfrm>
              <a:off x="5868144" y="2204864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3" name="直接箭头连接符 132"/>
            <p:cNvCxnSpPr/>
            <p:nvPr/>
          </p:nvCxnSpPr>
          <p:spPr bwMode="auto">
            <a:xfrm>
              <a:off x="5868144" y="2636912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4" name="直接箭头连接符 133"/>
            <p:cNvCxnSpPr/>
            <p:nvPr/>
          </p:nvCxnSpPr>
          <p:spPr bwMode="auto">
            <a:xfrm flipH="1">
              <a:off x="5868144" y="3068960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5" name="直接箭头连接符 134"/>
            <p:cNvCxnSpPr/>
            <p:nvPr/>
          </p:nvCxnSpPr>
          <p:spPr bwMode="auto">
            <a:xfrm flipH="1">
              <a:off x="5868144" y="3501008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6" name="直接箭头连接符 135"/>
            <p:cNvCxnSpPr/>
            <p:nvPr/>
          </p:nvCxnSpPr>
          <p:spPr bwMode="auto">
            <a:xfrm>
              <a:off x="6372200" y="1988840"/>
              <a:ext cx="0" cy="144016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37" name="直接箭头连接符 136"/>
            <p:cNvCxnSpPr/>
            <p:nvPr/>
          </p:nvCxnSpPr>
          <p:spPr bwMode="auto">
            <a:xfrm>
              <a:off x="3563888" y="1988840"/>
              <a:ext cx="2808312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38" name="直接箭头连接符 137"/>
            <p:cNvCxnSpPr/>
            <p:nvPr/>
          </p:nvCxnSpPr>
          <p:spPr bwMode="auto">
            <a:xfrm flipV="1">
              <a:off x="3275856" y="2852576"/>
              <a:ext cx="288032" cy="36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39" name="直接箭头连接符 138"/>
            <p:cNvCxnSpPr/>
            <p:nvPr/>
          </p:nvCxnSpPr>
          <p:spPr bwMode="auto">
            <a:xfrm flipV="1">
              <a:off x="3563888" y="1988840"/>
              <a:ext cx="0" cy="871458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</p:grpSp>
      <p:grpSp>
        <p:nvGrpSpPr>
          <p:cNvPr id="140" name="组合 139"/>
          <p:cNvGrpSpPr/>
          <p:nvPr/>
        </p:nvGrpSpPr>
        <p:grpSpPr>
          <a:xfrm>
            <a:off x="1583978" y="1879664"/>
            <a:ext cx="6588422" cy="2232248"/>
            <a:chOff x="863898" y="1916832"/>
            <a:chExt cx="6588422" cy="2232248"/>
          </a:xfrm>
        </p:grpSpPr>
        <p:sp>
          <p:nvSpPr>
            <p:cNvPr id="141" name="Rectangle 8"/>
            <p:cNvSpPr>
              <a:spLocks noChangeArrowheads="1"/>
            </p:cNvSpPr>
            <p:nvPr/>
          </p:nvSpPr>
          <p:spPr bwMode="auto">
            <a:xfrm>
              <a:off x="1763687" y="1916832"/>
              <a:ext cx="4824537" cy="2232248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" name="Text Box 159"/>
            <p:cNvSpPr txBox="1">
              <a:spLocks noChangeArrowheads="1"/>
            </p:cNvSpPr>
            <p:nvPr/>
          </p:nvSpPr>
          <p:spPr bwMode="auto">
            <a:xfrm>
              <a:off x="863898" y="2132857"/>
              <a:ext cx="539750" cy="5040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数据总线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160"/>
            <p:cNvSpPr txBox="1">
              <a:spLocks noChangeArrowheads="1"/>
            </p:cNvSpPr>
            <p:nvPr/>
          </p:nvSpPr>
          <p:spPr bwMode="auto">
            <a:xfrm>
              <a:off x="863898" y="2708920"/>
              <a:ext cx="539750" cy="50361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控制总线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4" name="Text Box 190"/>
            <p:cNvSpPr txBox="1">
              <a:spLocks noChangeArrowheads="1"/>
            </p:cNvSpPr>
            <p:nvPr/>
          </p:nvSpPr>
          <p:spPr bwMode="auto">
            <a:xfrm>
              <a:off x="7164983" y="2377127"/>
              <a:ext cx="287337" cy="97986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外设信号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5" name="直接箭头连接符 144"/>
            <p:cNvCxnSpPr/>
            <p:nvPr/>
          </p:nvCxnSpPr>
          <p:spPr bwMode="auto">
            <a:xfrm>
              <a:off x="1403648" y="3861048"/>
              <a:ext cx="360040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6" name="直接箭头连接符 145"/>
            <p:cNvCxnSpPr/>
            <p:nvPr/>
          </p:nvCxnSpPr>
          <p:spPr bwMode="auto">
            <a:xfrm>
              <a:off x="1403648" y="2420888"/>
              <a:ext cx="360039" cy="0"/>
            </a:xfrm>
            <a:prstGeom prst="straightConnector1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</p:spPr>
        </p:cxnSp>
        <p:cxnSp>
          <p:nvCxnSpPr>
            <p:cNvPr id="147" name="直接箭头连接符 146"/>
            <p:cNvCxnSpPr/>
            <p:nvPr/>
          </p:nvCxnSpPr>
          <p:spPr bwMode="auto">
            <a:xfrm>
              <a:off x="6588224" y="2204864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triangle"/>
            </a:ln>
          </p:spPr>
        </p:cxnSp>
        <p:cxnSp>
          <p:nvCxnSpPr>
            <p:cNvPr id="148" name="直接箭头连接符 147"/>
            <p:cNvCxnSpPr/>
            <p:nvPr/>
          </p:nvCxnSpPr>
          <p:spPr bwMode="auto">
            <a:xfrm>
              <a:off x="6588224" y="2636912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9" name="直接箭头连接符 148"/>
            <p:cNvCxnSpPr/>
            <p:nvPr/>
          </p:nvCxnSpPr>
          <p:spPr bwMode="auto">
            <a:xfrm flipH="1">
              <a:off x="6588224" y="3068960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0" name="直接箭头连接符 149"/>
            <p:cNvCxnSpPr/>
            <p:nvPr/>
          </p:nvCxnSpPr>
          <p:spPr bwMode="auto">
            <a:xfrm flipH="1">
              <a:off x="6588224" y="3501008"/>
              <a:ext cx="36004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triangle"/>
            </a:ln>
          </p:spPr>
        </p:cxnSp>
        <p:cxnSp>
          <p:nvCxnSpPr>
            <p:cNvPr id="151" name="直接箭头连接符 150"/>
            <p:cNvCxnSpPr/>
            <p:nvPr/>
          </p:nvCxnSpPr>
          <p:spPr bwMode="auto">
            <a:xfrm flipV="1">
              <a:off x="1403648" y="3068823"/>
              <a:ext cx="1152129" cy="137"/>
            </a:xfrm>
            <a:prstGeom prst="straightConnector1">
              <a:avLst/>
            </a:prstGeom>
            <a:noFill/>
            <a:ln w="1905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2" name="直接箭头连接符 151"/>
            <p:cNvCxnSpPr/>
            <p:nvPr/>
          </p:nvCxnSpPr>
          <p:spPr bwMode="auto">
            <a:xfrm flipH="1" flipV="1">
              <a:off x="1403648" y="2924572"/>
              <a:ext cx="1152129" cy="372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53" name="Text Box 547"/>
            <p:cNvSpPr txBox="1">
              <a:spLocks noChangeArrowheads="1"/>
            </p:cNvSpPr>
            <p:nvPr/>
          </p:nvSpPr>
          <p:spPr bwMode="auto">
            <a:xfrm>
              <a:off x="1763688" y="2132856"/>
              <a:ext cx="576064" cy="5048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数据缓冲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547"/>
            <p:cNvSpPr txBox="1">
              <a:spLocks noChangeArrowheads="1"/>
            </p:cNvSpPr>
            <p:nvPr/>
          </p:nvSpPr>
          <p:spPr bwMode="auto">
            <a:xfrm>
              <a:off x="1763688" y="3572247"/>
              <a:ext cx="576064" cy="504825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地址锁存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161"/>
            <p:cNvSpPr txBox="1">
              <a:spLocks noChangeArrowheads="1"/>
            </p:cNvSpPr>
            <p:nvPr/>
          </p:nvSpPr>
          <p:spPr bwMode="auto">
            <a:xfrm>
              <a:off x="863898" y="3573016"/>
              <a:ext cx="539750" cy="504056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地址总线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右大括号 155"/>
            <p:cNvSpPr/>
            <p:nvPr/>
          </p:nvSpPr>
          <p:spPr bwMode="auto">
            <a:xfrm>
              <a:off x="7020272" y="2204516"/>
              <a:ext cx="72008" cy="1296120"/>
            </a:xfrm>
            <a:prstGeom prst="rightBrace">
              <a:avLst>
                <a:gd name="adj1" fmla="val 31009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157" name="组合 156"/>
          <p:cNvGrpSpPr/>
          <p:nvPr/>
        </p:nvGrpSpPr>
        <p:grpSpPr>
          <a:xfrm>
            <a:off x="3059832" y="3389103"/>
            <a:ext cx="3423097" cy="650801"/>
            <a:chOff x="2339752" y="3426271"/>
            <a:chExt cx="3423097" cy="650801"/>
          </a:xfrm>
        </p:grpSpPr>
        <p:sp>
          <p:nvSpPr>
            <p:cNvPr id="158" name="Text Box 161"/>
            <p:cNvSpPr txBox="1">
              <a:spLocks noChangeArrowheads="1"/>
            </p:cNvSpPr>
            <p:nvPr/>
          </p:nvSpPr>
          <p:spPr bwMode="auto">
            <a:xfrm>
              <a:off x="2339752" y="3429000"/>
              <a:ext cx="504056" cy="1926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高位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547"/>
            <p:cNvSpPr txBox="1">
              <a:spLocks noChangeArrowheads="1"/>
            </p:cNvSpPr>
            <p:nvPr/>
          </p:nvSpPr>
          <p:spPr bwMode="auto">
            <a:xfrm>
              <a:off x="2843808" y="3426271"/>
              <a:ext cx="576063" cy="504825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设备选择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0" name="Text Box 549"/>
            <p:cNvSpPr txBox="1">
              <a:spLocks noChangeArrowheads="1"/>
            </p:cNvSpPr>
            <p:nvPr/>
          </p:nvSpPr>
          <p:spPr bwMode="auto">
            <a:xfrm>
              <a:off x="4283968" y="3791420"/>
              <a:ext cx="1478881" cy="285652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端口地址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译码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1" name="直接箭头连接符 160"/>
            <p:cNvCxnSpPr/>
            <p:nvPr/>
          </p:nvCxnSpPr>
          <p:spPr bwMode="auto">
            <a:xfrm>
              <a:off x="2339975" y="4005064"/>
              <a:ext cx="194399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2" name="直接箭头连接符 161"/>
            <p:cNvCxnSpPr/>
            <p:nvPr/>
          </p:nvCxnSpPr>
          <p:spPr bwMode="auto">
            <a:xfrm flipH="1" flipV="1">
              <a:off x="3563888" y="3644132"/>
              <a:ext cx="1" cy="216917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med" len="sm"/>
            </a:ln>
          </p:spPr>
        </p:cxnSp>
        <p:cxnSp>
          <p:nvCxnSpPr>
            <p:cNvPr id="163" name="直接箭头连接符 162"/>
            <p:cNvCxnSpPr/>
            <p:nvPr/>
          </p:nvCxnSpPr>
          <p:spPr bwMode="auto">
            <a:xfrm>
              <a:off x="3563888" y="3858222"/>
              <a:ext cx="720080" cy="2826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4" name="直接箭头连接符 163"/>
            <p:cNvCxnSpPr/>
            <p:nvPr/>
          </p:nvCxnSpPr>
          <p:spPr bwMode="auto">
            <a:xfrm>
              <a:off x="2339975" y="3645024"/>
              <a:ext cx="503833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65" name="Text Box 161"/>
            <p:cNvSpPr txBox="1">
              <a:spLocks noChangeArrowheads="1"/>
            </p:cNvSpPr>
            <p:nvPr/>
          </p:nvSpPr>
          <p:spPr bwMode="auto">
            <a:xfrm>
              <a:off x="2339752" y="3789040"/>
              <a:ext cx="504056" cy="19260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低位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6" name="直接箭头连接符 165"/>
            <p:cNvCxnSpPr/>
            <p:nvPr/>
          </p:nvCxnSpPr>
          <p:spPr bwMode="auto">
            <a:xfrm>
              <a:off x="3419872" y="3645024"/>
              <a:ext cx="135755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none" w="sm" len="sm"/>
            </a:ln>
          </p:spPr>
        </p:cxnSp>
      </p:grpSp>
      <p:sp>
        <p:nvSpPr>
          <p:cNvPr id="77" name="AutoShape 186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1" y="6524102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7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79" name="Text Box 11"/>
          <p:cNvSpPr txBox="1">
            <a:spLocks noChangeArrowheads="1"/>
          </p:cNvSpPr>
          <p:nvPr/>
        </p:nvSpPr>
        <p:spPr bwMode="auto">
          <a:xfrm>
            <a:off x="179388" y="4133978"/>
            <a:ext cx="8812212" cy="5539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功能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组织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与需求有关，如端口个数</a:t>
            </a:r>
            <a:r>
              <a:rPr lang="zh-CN" altLang="en-US" sz="2200" b="1" dirty="0">
                <a:latin typeface="宋体" panose="02010600030101010101" pitchFamily="2" charset="-122"/>
              </a:rPr>
              <a:t>、信号格式、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联络方式等</a:t>
            </a:r>
            <a:endParaRPr lang="en-US" altLang="zh-CN" sz="2200" b="1" dirty="0" smtClean="0">
              <a:latin typeface="宋体" panose="02010600030101010101" pitchFamily="2" charset="-122"/>
            </a:endParaRPr>
          </a:p>
        </p:txBody>
      </p:sp>
      <p:sp>
        <p:nvSpPr>
          <p:cNvPr id="80" name="AutoShape 14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37200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463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463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63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 bldLvl="0" animBg="1"/>
      <p:bldP spid="346117" grpId="0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296F3-E060-4568-A881-951D159CB440}" type="slidenum">
              <a:rPr lang="en-US" altLang="zh-CN"/>
            </a:fld>
            <a:endParaRPr lang="en-US" altLang="zh-CN"/>
          </a:p>
        </p:txBody>
      </p:sp>
      <p:sp>
        <p:nvSpPr>
          <p:cNvPr id="6175" name="Text Box 31"/>
          <p:cNvSpPr txBox="1">
            <a:spLocks noChangeArrowheads="1"/>
          </p:cNvSpPr>
          <p:nvPr/>
        </p:nvSpPr>
        <p:spPr bwMode="auto">
          <a:xfrm>
            <a:off x="152400" y="366494"/>
            <a:ext cx="8812213" cy="5492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接口的分类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6177" name="Text Box 33"/>
          <p:cNvSpPr txBox="1">
            <a:spLocks noChangeArrowheads="1"/>
          </p:cNvSpPr>
          <p:nvPr/>
        </p:nvSpPr>
        <p:spPr bwMode="auto">
          <a:xfrm>
            <a:off x="179388" y="848439"/>
            <a:ext cx="8812212" cy="146367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    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接口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-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主机间为并行传送方式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总线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])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并行接口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接口</a:t>
            </a:r>
            <a:r>
              <a:rPr lang="en-US" altLang="zh-CN" b="1" dirty="0" smtClean="0"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latin typeface="宋体" panose="02010600030101010101" pitchFamily="2" charset="-122"/>
              </a:rPr>
              <a:t>外设间</a:t>
            </a:r>
            <a:r>
              <a:rPr lang="zh-CN" altLang="en-US" b="1" dirty="0">
                <a:latin typeface="宋体" panose="02010600030101010101" pitchFamily="2" charset="-122"/>
              </a:rPr>
              <a:t>同时</a:t>
            </a:r>
            <a:r>
              <a:rPr lang="zh-CN" altLang="en-US" b="1" dirty="0" smtClean="0">
                <a:latin typeface="宋体" panose="02010600030101010101" pitchFamily="2" charset="-122"/>
              </a:rPr>
              <a:t>传送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n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位</a:t>
            </a:r>
            <a:r>
              <a:rPr lang="zh-CN" altLang="en-US" b="1" dirty="0" smtClean="0">
                <a:latin typeface="宋体" panose="02010600030101010101" pitchFamily="2" charset="-122"/>
              </a:rPr>
              <a:t>数据，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个数据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次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串行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接口</a:t>
            </a:r>
            <a:r>
              <a:rPr lang="en-US" altLang="zh-CN" b="1" dirty="0">
                <a:latin typeface="宋体" panose="02010600030101010101" pitchFamily="2" charset="-122"/>
              </a:rPr>
              <a:t>-</a:t>
            </a:r>
            <a:r>
              <a:rPr lang="zh-CN" altLang="en-US" b="1" dirty="0">
                <a:latin typeface="宋体" panose="02010600030101010101" pitchFamily="2" charset="-122"/>
              </a:rPr>
              <a:t>外设</a:t>
            </a:r>
            <a:r>
              <a:rPr lang="zh-CN" altLang="en-US" b="1" dirty="0" smtClean="0">
                <a:latin typeface="宋体" panose="02010600030101010101" pitchFamily="2" charset="-122"/>
              </a:rPr>
              <a:t>间同时传送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位</a:t>
            </a:r>
            <a:r>
              <a:rPr lang="zh-CN" altLang="en-US" b="1" dirty="0" smtClean="0">
                <a:latin typeface="宋体" panose="02010600030101010101" pitchFamily="2" charset="-122"/>
              </a:rPr>
              <a:t>数据，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个帧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次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178" name="Text Box 34"/>
          <p:cNvSpPr txBox="1">
            <a:spLocks noChangeArrowheads="1"/>
          </p:cNvSpPr>
          <p:nvPr/>
        </p:nvSpPr>
        <p:spPr bwMode="auto">
          <a:xfrm>
            <a:off x="179388" y="2636410"/>
            <a:ext cx="8812212" cy="10156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可编程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可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通过软件</a:t>
            </a:r>
            <a:r>
              <a:rPr lang="zh-CN" altLang="en-US" b="1" dirty="0">
                <a:latin typeface="宋体" panose="02010600030101010101" pitchFamily="2" charset="-122"/>
              </a:rPr>
              <a:t>选择</a:t>
            </a:r>
            <a:r>
              <a:rPr lang="zh-CN" altLang="en-US" b="1" dirty="0" smtClean="0">
                <a:latin typeface="宋体" panose="02010600030101010101" pitchFamily="2" charset="-122"/>
              </a:rPr>
              <a:t>接口的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当前</a:t>
            </a:r>
            <a:r>
              <a:rPr lang="zh-CN" altLang="en-US" b="1" dirty="0" smtClean="0">
                <a:latin typeface="宋体" panose="02010600030101010101" pitchFamily="2" charset="-122"/>
              </a:rPr>
              <a:t>功能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不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可编程接口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>
                <a:latin typeface="宋体" panose="02010600030101010101" pitchFamily="2" charset="-122"/>
              </a:rPr>
              <a:t>须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通过硬连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线</a:t>
            </a:r>
            <a:r>
              <a:rPr lang="zh-CN" altLang="en-US" b="1" dirty="0">
                <a:latin typeface="宋体" panose="02010600030101010101" pitchFamily="2" charset="-122"/>
              </a:rPr>
              <a:t>选择</a:t>
            </a:r>
            <a:r>
              <a:rPr lang="zh-CN" altLang="en-US" b="1" dirty="0" smtClean="0"/>
              <a:t>接口的当前功能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6179" name="Text Box 35"/>
          <p:cNvSpPr txBox="1">
            <a:spLocks noChangeArrowheads="1"/>
          </p:cNvSpPr>
          <p:nvPr/>
        </p:nvSpPr>
        <p:spPr bwMode="auto">
          <a:xfrm>
            <a:off x="179388" y="4046953"/>
            <a:ext cx="8812336" cy="147732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控制传送，接口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记录</a:t>
            </a:r>
            <a:r>
              <a:rPr lang="zh-CN" altLang="en-US" b="1" dirty="0" smtClean="0">
                <a:latin typeface="宋体" panose="02010600030101010101" pitchFamily="2" charset="-122"/>
              </a:rPr>
              <a:t>状态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就绪否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控制传送，接口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b="1" dirty="0" smtClean="0">
                <a:latin typeface="宋体" panose="02010600030101010101" pitchFamily="2" charset="-122"/>
              </a:rPr>
              <a:t>状态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就绪否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接口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接口控制传送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zh-CN" altLang="en-US" b="1" u="sng" dirty="0">
                <a:solidFill>
                  <a:srgbClr val="0070C0"/>
                </a:solidFill>
                <a:latin typeface="宋体" panose="02010600030101010101" pitchFamily="2" charset="-122"/>
              </a:rPr>
              <a:t>报告</a:t>
            </a:r>
            <a:r>
              <a:rPr lang="zh-CN" altLang="en-US" b="1" dirty="0" smtClean="0">
                <a:latin typeface="宋体" panose="02010600030101010101" pitchFamily="2" charset="-122"/>
              </a:rPr>
              <a:t>状态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结束否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</a:t>
            </a:r>
            <a:r>
              <a:rPr lang="zh-CN" altLang="en-US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←适于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块设备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236296" y="4161353"/>
            <a:ext cx="648072" cy="792088"/>
            <a:chOff x="8028384" y="4005064"/>
            <a:chExt cx="648072" cy="792088"/>
          </a:xfrm>
        </p:grpSpPr>
        <p:sp>
          <p:nvSpPr>
            <p:cNvPr id="2" name="右大括号 1"/>
            <p:cNvSpPr/>
            <p:nvPr/>
          </p:nvSpPr>
          <p:spPr bwMode="auto">
            <a:xfrm>
              <a:off x="8028384" y="4077072"/>
              <a:ext cx="72008" cy="720080"/>
            </a:xfrm>
            <a:prstGeom prst="rightBrace">
              <a:avLst>
                <a:gd name="adj1" fmla="val 34788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" name="Text Box 161"/>
            <p:cNvSpPr txBox="1">
              <a:spLocks noChangeArrowheads="1"/>
            </p:cNvSpPr>
            <p:nvPr/>
          </p:nvSpPr>
          <p:spPr bwMode="auto">
            <a:xfrm>
              <a:off x="8162875" y="4005064"/>
              <a:ext cx="513581" cy="79208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适于</a:t>
              </a:r>
              <a:r>
                <a:rPr lang="zh-CN" altLang="en-US" sz="18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字符设备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2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Text Box 200"/>
          <p:cNvSpPr txBox="1">
            <a:spLocks noChangeArrowheads="1"/>
          </p:cNvSpPr>
          <p:nvPr/>
        </p:nvSpPr>
        <p:spPr bwMode="auto">
          <a:xfrm>
            <a:off x="899592" y="5601434"/>
            <a:ext cx="7560840" cy="40011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>
            <a:spAutoFit/>
          </a:bodyPr>
          <a:lstStyle/>
          <a:p>
            <a:pPr marL="805180" indent="-805180" algn="l"/>
            <a:r>
              <a:rPr lang="zh-CN" altLang="en-US" sz="20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2000" b="1" dirty="0">
                <a:latin typeface="宋体" panose="02010600030101010101" pitchFamily="2" charset="-122"/>
              </a:rPr>
              <a:t>串行接口</a:t>
            </a:r>
            <a:r>
              <a:rPr lang="zh-CN" altLang="en-US" sz="2000" b="1" u="sng" dirty="0" smtClean="0">
                <a:latin typeface="宋体" panose="02010600030101010101" pitchFamily="2" charset="-122"/>
              </a:rPr>
              <a:t>可否连接</a:t>
            </a:r>
            <a:r>
              <a:rPr lang="zh-CN" altLang="en-US" sz="2000" b="1" dirty="0">
                <a:latin typeface="宋体" panose="02010600030101010101" pitchFamily="2" charset="-122"/>
              </a:rPr>
              <a:t>无条件传送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设备？</a:t>
            </a:r>
            <a:r>
              <a:rPr lang="zh-CN" altLang="en-US" sz="2000" b="1" dirty="0">
                <a:latin typeface="宋体" panose="02010600030101010101" pitchFamily="2" charset="-122"/>
              </a:rPr>
              <a:t>查询接口</a:t>
            </a:r>
            <a:r>
              <a:rPr lang="zh-CN" altLang="en-US" sz="2000" b="1" u="sng" dirty="0">
                <a:latin typeface="宋体" panose="02010600030101010101" pitchFamily="2" charset="-122"/>
              </a:rPr>
              <a:t>必有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控制口？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3" name="线形标注 2 12"/>
          <p:cNvSpPr/>
          <p:nvPr/>
        </p:nvSpPr>
        <p:spPr bwMode="auto">
          <a:xfrm>
            <a:off x="5962460" y="3789040"/>
            <a:ext cx="1777892" cy="288032"/>
          </a:xfrm>
          <a:prstGeom prst="borderCallout2">
            <a:avLst>
              <a:gd name="adj1" fmla="val 50463"/>
              <a:gd name="adj2" fmla="val 145"/>
              <a:gd name="adj3" fmla="val 50920"/>
              <a:gd name="adj4" fmla="val -10015"/>
              <a:gd name="adj5" fmla="val 281053"/>
              <a:gd name="adj6" fmla="val -31265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记录</a:t>
            </a:r>
            <a:r>
              <a:rPr lang="en-US" altLang="zh-CN" sz="1800" b="1" dirty="0" smtClean="0">
                <a:latin typeface="+mn-ea"/>
                <a:ea typeface="+mn-ea"/>
              </a:rPr>
              <a:t>+</a:t>
            </a:r>
            <a:r>
              <a:rPr lang="zh-CN" altLang="en-US" sz="1800" b="1" dirty="0" smtClean="0">
                <a:latin typeface="+mn-ea"/>
                <a:ea typeface="+mn-ea"/>
              </a:rPr>
              <a:t>发送</a:t>
            </a:r>
            <a:r>
              <a:rPr lang="en-US" altLang="zh-CN" sz="1800" b="1" dirty="0" smtClean="0">
                <a:latin typeface="+mn-ea"/>
                <a:ea typeface="+mn-ea"/>
              </a:rPr>
              <a:t>+</a:t>
            </a:r>
            <a:r>
              <a:rPr lang="zh-CN" altLang="en-US" sz="1800" b="1" dirty="0" smtClean="0">
                <a:latin typeface="+mn-ea"/>
                <a:ea typeface="+mn-ea"/>
              </a:rPr>
              <a:t>撤销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5" name="Text Box 207"/>
          <p:cNvSpPr txBox="1">
            <a:spLocks noChangeArrowheads="1"/>
          </p:cNvSpPr>
          <p:nvPr/>
        </p:nvSpPr>
        <p:spPr bwMode="auto">
          <a:xfrm>
            <a:off x="179388" y="843761"/>
            <a:ext cx="4176587" cy="33239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按数据的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传送方式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分类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按功能的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选择方式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分类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按传送的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控制方式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分类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7" grpId="0"/>
      <p:bldP spid="6178" grpId="0"/>
      <p:bldP spid="6179" grpId="0"/>
      <p:bldP spid="14" grpId="0" animBg="1"/>
      <p:bldP spid="1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4"/>
          <p:cNvSpPr txBox="1">
            <a:spLocks noChangeArrowheads="1"/>
          </p:cNvSpPr>
          <p:nvPr/>
        </p:nvSpPr>
        <p:spPr bwMode="auto">
          <a:xfrm>
            <a:off x="179512" y="875322"/>
            <a:ext cx="3744416" cy="487825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访问方法：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访问指令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ISA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统一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编址时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ISA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独立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编址时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endParaRPr lang="en-US" altLang="zh-CN" sz="2000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访问时机：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179388" y="40466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三</a:t>
            </a:r>
            <a:r>
              <a:rPr lang="zh-CN" altLang="en-US" dirty="0" smtClean="0"/>
              <a:t>、</a:t>
            </a:r>
            <a:r>
              <a:rPr lang="en-US" altLang="zh-CN" dirty="0" smtClean="0"/>
              <a:t>I/O</a:t>
            </a:r>
            <a:r>
              <a:rPr lang="zh-CN" altLang="en-US" dirty="0"/>
              <a:t>接口的软件访问</a:t>
            </a:r>
            <a:endParaRPr lang="zh-CN" altLang="en-US" dirty="0"/>
          </a:p>
        </p:txBody>
      </p:sp>
      <p:sp>
        <p:nvSpPr>
          <p:cNvPr id="4" name="Text Box 179"/>
          <p:cNvSpPr txBox="1">
            <a:spLocks noChangeArrowheads="1"/>
          </p:cNvSpPr>
          <p:nvPr/>
        </p:nvSpPr>
        <p:spPr bwMode="auto">
          <a:xfrm>
            <a:off x="3167593" y="2132856"/>
            <a:ext cx="5796510" cy="2054409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访存指令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MIPS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lw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rt,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disp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 err="1" smtClean="0">
                <a:solidFill>
                  <a:srgbClr val="C00000"/>
                </a:solidFill>
                <a:latin typeface="宋体" panose="02010600030101010101" pitchFamily="2" charset="-122"/>
              </a:rPr>
              <a:t>rs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)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及 </a:t>
            </a:r>
            <a:r>
              <a:rPr lang="en-US" altLang="zh-CN" sz="18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sw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rt,disp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en-US" altLang="zh-CN" sz="1800" b="1" dirty="0" err="1" smtClean="0">
                <a:latin typeface="宋体" panose="02010600030101010101" pitchFamily="2" charset="-122"/>
              </a:rPr>
              <a:t>rs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指令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如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8086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1800" b="1" spc="150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spc="150" dirty="0" smtClean="0">
                <a:latin typeface="宋体" panose="02010600030101010101" pitchFamily="2" charset="-122"/>
              </a:rPr>
              <a:t>指令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为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IN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AL</a:t>
            </a:r>
            <a:r>
              <a:rPr lang="en-US" altLang="zh-CN" sz="1800" b="1" dirty="0" smtClean="0">
                <a:latin typeface="+mn-ea"/>
                <a:ea typeface="+mn-ea"/>
              </a:rPr>
              <a:t>,</a:t>
            </a:r>
            <a:r>
              <a: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DX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及 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OUT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DX</a:t>
            </a:r>
            <a:r>
              <a:rPr lang="en-US" altLang="zh-CN" sz="1800" b="1" dirty="0" smtClean="0">
                <a:latin typeface="+mn-ea"/>
                <a:ea typeface="+mn-ea"/>
              </a:rPr>
              <a:t>,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AL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/>
            <a:r>
              <a:rPr lang="en-US" altLang="zh-CN" sz="1800" b="1" dirty="0" smtClean="0">
                <a:latin typeface="宋体" panose="02010600030101010101" pitchFamily="2" charset="-122"/>
              </a:rPr>
              <a:t>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8086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的访存指令为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AL,[BX]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及 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MOV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[BX],AL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7" name="Text Box 179"/>
          <p:cNvSpPr txBox="1">
            <a:spLocks noChangeArrowheads="1"/>
          </p:cNvSpPr>
          <p:nvPr/>
        </p:nvSpPr>
        <p:spPr bwMode="auto">
          <a:xfrm>
            <a:off x="2015839" y="5179258"/>
            <a:ext cx="5400849" cy="553998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取决于软件需求、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如查询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8" name="Text Box 36"/>
          <p:cNvSpPr txBox="1">
            <a:spLocks noChangeArrowheads="1"/>
          </p:cNvSpPr>
          <p:nvPr/>
        </p:nvSpPr>
        <p:spPr bwMode="auto">
          <a:xfrm>
            <a:off x="827461" y="5919663"/>
            <a:ext cx="3960563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7-1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latin typeface="宋体" panose="02010600030101010101" pitchFamily="2" charset="-122"/>
              </a:rPr>
              <a:t>P293—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4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9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10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179262" y="4044260"/>
            <a:ext cx="8857233" cy="11849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说明①：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C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语言为</a:t>
            </a:r>
            <a:r>
              <a:rPr lang="en-US" altLang="zh-CN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BYTE  _</a:t>
            </a:r>
            <a:r>
              <a:rPr lang="en-US" altLang="zh-CN" sz="2000" b="1" spc="-100" dirty="0" err="1" smtClean="0">
                <a:latin typeface="宋体" panose="02010600030101010101" pitchFamily="2" charset="-122"/>
              </a:rPr>
              <a:t>inp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(unsigned 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short </a:t>
            </a:r>
            <a:r>
              <a:rPr lang="en-US" altLang="zh-CN" sz="2000" b="1" spc="-100" dirty="0" err="1">
                <a:latin typeface="宋体" panose="02010600030101010101" pitchFamily="2" charset="-122"/>
              </a:rPr>
              <a:t>usPort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)</a:t>
            </a:r>
            <a:r>
              <a:rPr lang="en-US" altLang="zh-CN" sz="2000" b="1" spc="-100" dirty="0"/>
              <a:t>;</a:t>
            </a:r>
            <a:endParaRPr lang="en-US" altLang="zh-CN" sz="2000" b="1" spc="-100" dirty="0"/>
          </a:p>
          <a:p>
            <a:pPr algn="l">
              <a:lnSpc>
                <a:spcPct val="10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  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   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BYTE _</a:t>
            </a:r>
            <a:r>
              <a:rPr lang="en-US" altLang="zh-CN" sz="2000" b="1" spc="-100" dirty="0" err="1" smtClean="0">
                <a:latin typeface="宋体" panose="02010600030101010101" pitchFamily="2" charset="-122"/>
              </a:rPr>
              <a:t>outp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(unsigned 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short </a:t>
            </a:r>
            <a:r>
              <a:rPr lang="en-US" altLang="zh-CN" sz="2000" b="1" spc="-100" dirty="0" err="1">
                <a:latin typeface="宋体" panose="02010600030101010101" pitchFamily="2" charset="-122"/>
              </a:rPr>
              <a:t>usPort</a:t>
            </a:r>
            <a:r>
              <a:rPr lang="zh-CN" altLang="en-US" sz="2000" b="1" spc="-100" dirty="0"/>
              <a:t>，</a:t>
            </a:r>
            <a:r>
              <a:rPr lang="en-US" altLang="zh-CN" sz="2000" b="1" spc="-100" dirty="0">
                <a:latin typeface="宋体" panose="02010600030101010101" pitchFamily="2" charset="-122"/>
              </a:rPr>
              <a:t>BYTE </a:t>
            </a:r>
            <a:r>
              <a:rPr lang="en-US" altLang="zh-CN" sz="2000" b="1" spc="-100" dirty="0" err="1">
                <a:latin typeface="宋体" panose="02010600030101010101" pitchFamily="2" charset="-122"/>
              </a:rPr>
              <a:t>btData</a:t>
            </a:r>
            <a:r>
              <a:rPr lang="en-US" altLang="zh-CN" sz="2000" b="1" spc="-100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spc="-100" dirty="0" smtClean="0"/>
              <a:t>;</a:t>
            </a:r>
            <a:endParaRPr lang="en-US" altLang="zh-CN" sz="2000" b="1" spc="-100" dirty="0" smtClean="0"/>
          </a:p>
          <a:p>
            <a:pPr algn="l">
              <a:lnSpc>
                <a:spcPct val="125000"/>
              </a:lnSpc>
            </a:pPr>
            <a:r>
              <a:rPr lang="en-US" altLang="zh-CN" sz="2000" b="1" spc="-100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000" b="1" spc="-100" dirty="0" smtClean="0">
                <a:solidFill>
                  <a:srgbClr val="990099"/>
                </a:solidFill>
                <a:latin typeface="+mn-ea"/>
                <a:ea typeface="+mn-ea"/>
              </a:rPr>
              <a:t>        </a:t>
            </a:r>
            <a:r>
              <a:rPr lang="zh-CN" altLang="en-US" sz="2000" b="1" spc="-100" dirty="0" smtClean="0">
                <a:solidFill>
                  <a:srgbClr val="990099"/>
                </a:solidFill>
                <a:latin typeface="+mn-ea"/>
                <a:ea typeface="+mn-ea"/>
              </a:rPr>
              <a:t>说明②：</a:t>
            </a:r>
            <a:r>
              <a:rPr lang="en-US" altLang="zh-CN" sz="2000" b="1" spc="-100" dirty="0" smtClean="0">
                <a:latin typeface="+mn-ea"/>
                <a:ea typeface="+mn-ea"/>
              </a:rPr>
              <a:t>ISA</a:t>
            </a:r>
            <a:r>
              <a:rPr lang="zh-CN" altLang="en-US" sz="2000" b="1" spc="-100" dirty="0" smtClean="0">
                <a:latin typeface="+mn-ea"/>
                <a:ea typeface="+mn-ea"/>
              </a:rPr>
              <a:t>的</a:t>
            </a:r>
            <a:r>
              <a:rPr lang="en-US" altLang="zh-CN" sz="2000" b="1" spc="-100" dirty="0" smtClean="0">
                <a:latin typeface="+mn-ea"/>
                <a:ea typeface="+mn-ea"/>
              </a:rPr>
              <a:t>I/O</a:t>
            </a:r>
            <a:r>
              <a:rPr lang="zh-CN" altLang="en-US" sz="2000" b="1" spc="-100" dirty="0" smtClean="0">
                <a:latin typeface="+mn-ea"/>
                <a:ea typeface="+mn-ea"/>
              </a:rPr>
              <a:t>编址方式，与总线的</a:t>
            </a:r>
            <a:r>
              <a:rPr lang="en-US" altLang="zh-CN" sz="2000" b="1" spc="-100" dirty="0" smtClean="0">
                <a:latin typeface="+mn-ea"/>
                <a:ea typeface="+mn-ea"/>
              </a:rPr>
              <a:t>I/O</a:t>
            </a:r>
            <a:r>
              <a:rPr lang="zh-CN" altLang="en-US" sz="2000" b="1" spc="-100" dirty="0" smtClean="0">
                <a:latin typeface="+mn-ea"/>
                <a:ea typeface="+mn-ea"/>
              </a:rPr>
              <a:t>编址方式可不同</a:t>
            </a:r>
            <a:r>
              <a:rPr lang="en-US" altLang="zh-CN" sz="1800" b="1" spc="-100" dirty="0" smtClean="0">
                <a:latin typeface="+mn-ea"/>
                <a:ea typeface="+mn-ea"/>
              </a:rPr>
              <a:t>(BIU</a:t>
            </a:r>
            <a:r>
              <a:rPr lang="zh-CN" altLang="en-US" sz="1800" b="1" spc="-100" dirty="0" smtClean="0">
                <a:latin typeface="+mn-ea"/>
                <a:ea typeface="+mn-ea"/>
              </a:rPr>
              <a:t>实现转换</a:t>
            </a:r>
            <a:r>
              <a:rPr lang="en-US" altLang="zh-CN" sz="1800" b="1" spc="-100" dirty="0" smtClean="0">
                <a:latin typeface="+mn-ea"/>
                <a:ea typeface="+mn-ea"/>
              </a:rPr>
              <a:t>)</a:t>
            </a:r>
            <a:endParaRPr lang="en-US" altLang="zh-CN" sz="1800" b="1" spc="-100" dirty="0">
              <a:latin typeface="+mn-ea"/>
              <a:ea typeface="+mn-ea"/>
            </a:endParaRPr>
          </a:p>
        </p:txBody>
      </p:sp>
      <p:grpSp>
        <p:nvGrpSpPr>
          <p:cNvPr id="10" name="Group 41"/>
          <p:cNvGrpSpPr/>
          <p:nvPr/>
        </p:nvGrpSpPr>
        <p:grpSpPr bwMode="auto">
          <a:xfrm>
            <a:off x="4824025" y="3068960"/>
            <a:ext cx="3616325" cy="287337"/>
            <a:chOff x="2925" y="2069"/>
            <a:chExt cx="2278" cy="181"/>
          </a:xfrm>
        </p:grpSpPr>
        <p:sp>
          <p:nvSpPr>
            <p:cNvPr id="11" name="Text Box 22"/>
            <p:cNvSpPr txBox="1">
              <a:spLocks noChangeArrowheads="1"/>
            </p:cNvSpPr>
            <p:nvPr/>
          </p:nvSpPr>
          <p:spPr bwMode="auto">
            <a:xfrm>
              <a:off x="2925" y="2069"/>
              <a:ext cx="554" cy="1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23"/>
            <p:cNvSpPr txBox="1">
              <a:spLocks noChangeArrowheads="1"/>
            </p:cNvSpPr>
            <p:nvPr/>
          </p:nvSpPr>
          <p:spPr bwMode="auto">
            <a:xfrm>
              <a:off x="3479" y="2069"/>
              <a:ext cx="862" cy="18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端口地址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24"/>
            <p:cNvSpPr txBox="1">
              <a:spLocks noChangeArrowheads="1"/>
            </p:cNvSpPr>
            <p:nvPr/>
          </p:nvSpPr>
          <p:spPr bwMode="auto">
            <a:xfrm>
              <a:off x="4341" y="2069"/>
              <a:ext cx="862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5" name="Text Box 179"/>
          <p:cNvSpPr txBox="1">
            <a:spLocks noChangeArrowheads="1"/>
          </p:cNvSpPr>
          <p:nvPr/>
        </p:nvSpPr>
        <p:spPr bwMode="auto">
          <a:xfrm>
            <a:off x="1979712" y="895653"/>
            <a:ext cx="6084799" cy="877163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执行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相应的</a:t>
            </a:r>
            <a:r>
              <a:rPr lang="zh-CN" altLang="en-US" b="1" dirty="0" smtClean="0">
                <a:latin typeface="宋体" panose="02010600030101010101" pitchFamily="2" charset="-122"/>
              </a:rPr>
              <a:t>机器指令，访问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一个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端口</a:t>
            </a:r>
            <a:endParaRPr lang="en-US" altLang="zh-CN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→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产生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总线事务→</a:t>
            </a:r>
            <a:r>
              <a:rPr lang="en-US" altLang="zh-CN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响应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事务→</a:t>
            </a:r>
            <a:r>
              <a:rPr lang="zh-CN" altLang="en-US" sz="1800" dirty="0" smtClean="0">
                <a:latin typeface="宋体" panose="02010600030101010101" pitchFamily="2" charset="-122"/>
              </a:rPr>
              <a:t>┘</a:t>
            </a:r>
            <a:endParaRPr lang="en-US" altLang="zh-CN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8" name="AutoShape 14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22818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9" name="Group 41"/>
          <p:cNvGrpSpPr/>
          <p:nvPr/>
        </p:nvGrpSpPr>
        <p:grpSpPr bwMode="auto">
          <a:xfrm>
            <a:off x="4824025" y="2276872"/>
            <a:ext cx="3616325" cy="287337"/>
            <a:chOff x="2925" y="2069"/>
            <a:chExt cx="2278" cy="181"/>
          </a:xfrm>
        </p:grpSpPr>
        <p:sp>
          <p:nvSpPr>
            <p:cNvPr id="20" name="Text Box 22"/>
            <p:cNvSpPr txBox="1">
              <a:spLocks noChangeArrowheads="1"/>
            </p:cNvSpPr>
            <p:nvPr/>
          </p:nvSpPr>
          <p:spPr bwMode="auto">
            <a:xfrm>
              <a:off x="2925" y="2069"/>
              <a:ext cx="554" cy="18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操作码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Text Box 23"/>
            <p:cNvSpPr txBox="1">
              <a:spLocks noChangeArrowheads="1"/>
            </p:cNvSpPr>
            <p:nvPr/>
          </p:nvSpPr>
          <p:spPr bwMode="auto">
            <a:xfrm>
              <a:off x="3479" y="2069"/>
              <a:ext cx="862" cy="181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MEM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单元地址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" name="Text Box 24"/>
            <p:cNvSpPr txBox="1">
              <a:spLocks noChangeArrowheads="1"/>
            </p:cNvSpPr>
            <p:nvPr/>
          </p:nvSpPr>
          <p:spPr bwMode="auto">
            <a:xfrm>
              <a:off x="4341" y="2069"/>
              <a:ext cx="862" cy="181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CPU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的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4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070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 flipH="1">
            <a:off x="2087847" y="1334234"/>
            <a:ext cx="1440160" cy="726614"/>
          </a:xfrm>
          <a:prstGeom prst="straightConnector1">
            <a:avLst/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7EED5-ADD4-4FA2-981A-AF19393737AE}" type="slidenum">
              <a:rPr lang="en-US" altLang="zh-CN"/>
            </a:fld>
            <a:endParaRPr lang="en-US" altLang="zh-CN"/>
          </a:p>
        </p:txBody>
      </p:sp>
      <p:sp>
        <p:nvSpPr>
          <p:cNvPr id="347140" name="Text Box 4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§7.4  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程序直接控制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方式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17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4995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11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57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399663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000" y="6524996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30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62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785225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 smtClean="0">
                <a:latin typeface="+mn-ea"/>
              </a:rPr>
              <a:t>控制流程，</a:t>
            </a:r>
            <a:r>
              <a:rPr lang="en-US" altLang="zh-CN" sz="2200" b="1" dirty="0" smtClean="0">
                <a:latin typeface="+mn-ea"/>
              </a:rPr>
              <a:t>I/O</a:t>
            </a:r>
            <a:r>
              <a:rPr lang="zh-CN" altLang="en-US" sz="2200" b="1" dirty="0" smtClean="0">
                <a:latin typeface="+mn-ea"/>
              </a:rPr>
              <a:t>接口的组织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en-US" altLang="zh-CN" sz="1800" b="1" dirty="0">
                <a:latin typeface="+mn-ea"/>
              </a:rPr>
              <a:t>I/O</a:t>
            </a:r>
            <a:r>
              <a:rPr lang="zh-CN" altLang="en-US" sz="1800" b="1" dirty="0" smtClean="0">
                <a:latin typeface="+mn-ea"/>
              </a:rPr>
              <a:t>端口、所支持操作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sp>
        <p:nvSpPr>
          <p:cNvPr id="85" name="Text Box 4"/>
          <p:cNvSpPr txBox="1">
            <a:spLocks noChangeArrowheads="1"/>
          </p:cNvSpPr>
          <p:nvPr/>
        </p:nvSpPr>
        <p:spPr bwMode="auto">
          <a:xfrm>
            <a:off x="179512" y="1772816"/>
            <a:ext cx="2880320" cy="459356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基本思想：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88" name="Text Box 5"/>
          <p:cNvSpPr txBox="1">
            <a:spLocks noChangeArrowheads="1"/>
          </p:cNvSpPr>
          <p:nvPr/>
        </p:nvSpPr>
        <p:spPr bwMode="auto">
          <a:xfrm>
            <a:off x="179388" y="1311151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一、程序查询方式的</a:t>
            </a:r>
            <a:r>
              <a:rPr lang="en-US" altLang="zh-CN" dirty="0"/>
              <a:t>I/O</a:t>
            </a:r>
            <a:r>
              <a:rPr lang="zh-CN" altLang="en-US" dirty="0"/>
              <a:t>控制流程</a:t>
            </a:r>
            <a:endParaRPr lang="zh-CN" altLang="en-US" dirty="0"/>
          </a:p>
        </p:txBody>
      </p:sp>
      <p:sp>
        <p:nvSpPr>
          <p:cNvPr id="100" name="Text Box 6"/>
          <p:cNvSpPr txBox="1">
            <a:spLocks noChangeArrowheads="1"/>
          </p:cNvSpPr>
          <p:nvPr/>
        </p:nvSpPr>
        <p:spPr bwMode="auto">
          <a:xfrm>
            <a:off x="2051224" y="1772816"/>
            <a:ext cx="6769249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00325" indent="-2600325"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外设后，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不断地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b="1" dirty="0">
                <a:latin typeface="宋体" panose="02010600030101010101" pitchFamily="2" charset="-122"/>
              </a:rPr>
              <a:t>外设状态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当外设准备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b="1" dirty="0" smtClean="0">
                <a:latin typeface="宋体" panose="02010600030101010101" pitchFamily="2" charset="-122"/>
              </a:rPr>
              <a:t>时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才</a:t>
            </a:r>
            <a:r>
              <a:rPr lang="zh-CN" altLang="en-US" b="1" dirty="0">
                <a:latin typeface="宋体" panose="02010600030101010101" pitchFamily="2" charset="-122"/>
              </a:rPr>
              <a:t>进行</a:t>
            </a:r>
            <a:r>
              <a:rPr lang="zh-CN" altLang="en-US" b="1" dirty="0" smtClean="0">
                <a:latin typeface="宋体" panose="02010600030101010101" pitchFamily="2" charset="-122"/>
              </a:rPr>
              <a:t>数据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执行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I/O</a:t>
            </a:r>
            <a:r>
              <a:rPr lang="zh-CN" altLang="en-US" b="1" u="sng" dirty="0">
                <a:latin typeface="宋体" panose="02010600030101010101" pitchFamily="2" charset="-122"/>
              </a:rPr>
              <a:t>指令</a:t>
            </a:r>
            <a:r>
              <a:rPr lang="zh-CN" altLang="en-US" b="1" dirty="0" smtClean="0">
                <a:latin typeface="宋体" panose="02010600030101010101" pitchFamily="2" charset="-122"/>
              </a:rPr>
              <a:t>实现所有操作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访问的</a:t>
            </a:r>
            <a:r>
              <a:rPr lang="en-US" altLang="zh-CN" sz="1800" b="1" dirty="0"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端口不同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/>
          </a:p>
        </p:txBody>
      </p:sp>
      <p:grpSp>
        <p:nvGrpSpPr>
          <p:cNvPr id="109" name="组合 108"/>
          <p:cNvGrpSpPr/>
          <p:nvPr/>
        </p:nvGrpSpPr>
        <p:grpSpPr>
          <a:xfrm>
            <a:off x="4499744" y="3429000"/>
            <a:ext cx="1584176" cy="1728192"/>
            <a:chOff x="2771800" y="3140968"/>
            <a:chExt cx="1584176" cy="1728192"/>
          </a:xfrm>
        </p:grpSpPr>
        <p:cxnSp>
          <p:nvCxnSpPr>
            <p:cNvPr id="110" name="直接箭头连接符 109"/>
            <p:cNvCxnSpPr/>
            <p:nvPr/>
          </p:nvCxnSpPr>
          <p:spPr bwMode="auto">
            <a:xfrm flipH="1">
              <a:off x="2780184" y="3284984"/>
              <a:ext cx="35165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112" name="Text Box 177"/>
            <p:cNvSpPr txBox="1">
              <a:spLocks noChangeArrowheads="1"/>
            </p:cNvSpPr>
            <p:nvPr/>
          </p:nvSpPr>
          <p:spPr bwMode="auto">
            <a:xfrm>
              <a:off x="3131840" y="3140968"/>
              <a:ext cx="1008831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写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控制口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13" name="直接箭头连接符 112"/>
            <p:cNvCxnSpPr/>
            <p:nvPr/>
          </p:nvCxnSpPr>
          <p:spPr bwMode="auto">
            <a:xfrm flipH="1">
              <a:off x="2771800" y="3822947"/>
              <a:ext cx="35165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114" name="Text Box 177"/>
            <p:cNvSpPr txBox="1">
              <a:spLocks noChangeArrowheads="1"/>
            </p:cNvSpPr>
            <p:nvPr/>
          </p:nvSpPr>
          <p:spPr bwMode="auto">
            <a:xfrm>
              <a:off x="3131840" y="3681056"/>
              <a:ext cx="1008831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状态口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115" name="直接箭头连接符 114"/>
            <p:cNvCxnSpPr/>
            <p:nvPr/>
          </p:nvCxnSpPr>
          <p:spPr bwMode="auto">
            <a:xfrm flipH="1">
              <a:off x="2771800" y="4734781"/>
              <a:ext cx="351656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sp>
          <p:nvSpPr>
            <p:cNvPr id="116" name="Text Box 177"/>
            <p:cNvSpPr txBox="1">
              <a:spLocks noChangeArrowheads="1"/>
            </p:cNvSpPr>
            <p:nvPr/>
          </p:nvSpPr>
          <p:spPr bwMode="auto">
            <a:xfrm>
              <a:off x="3131840" y="4617160"/>
              <a:ext cx="1224136" cy="252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读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写</a:t>
              </a:r>
              <a:r>
                <a:rPr lang="zh-CN" altLang="en-US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数据口</a:t>
              </a:r>
              <a:endParaRPr lang="en-US" altLang="zh-CN" sz="16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117" name="Text Box 5"/>
          <p:cNvSpPr txBox="1">
            <a:spLocks noChangeArrowheads="1"/>
          </p:cNvSpPr>
          <p:nvPr/>
        </p:nvSpPr>
        <p:spPr bwMode="auto">
          <a:xfrm>
            <a:off x="1907456" y="5755322"/>
            <a:ext cx="597666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开始查询→数据</a:t>
            </a:r>
            <a:r>
              <a:rPr lang="zh-CN" altLang="en-US" b="1" u="sng" dirty="0">
                <a:latin typeface="宋体" panose="02010600030101010101" pitchFamily="2" charset="-122"/>
              </a:rPr>
              <a:t>传送完成</a:t>
            </a:r>
            <a:r>
              <a:rPr lang="zh-CN" altLang="en-US" b="1" dirty="0" smtClean="0">
                <a:latin typeface="宋体" panose="02010600030101010101" pitchFamily="2" charset="-122"/>
              </a:rPr>
              <a:t>的所有时间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grpSp>
        <p:nvGrpSpPr>
          <p:cNvPr id="118" name="组合 117"/>
          <p:cNvGrpSpPr/>
          <p:nvPr/>
        </p:nvGrpSpPr>
        <p:grpSpPr>
          <a:xfrm>
            <a:off x="2707057" y="3265369"/>
            <a:ext cx="1720679" cy="2467887"/>
            <a:chOff x="1771201" y="3193361"/>
            <a:chExt cx="1720679" cy="2467887"/>
          </a:xfrm>
        </p:grpSpPr>
        <p:sp>
          <p:nvSpPr>
            <p:cNvPr id="119" name="Text Box 202"/>
            <p:cNvSpPr txBox="1">
              <a:spLocks noChangeArrowheads="1"/>
            </p:cNvSpPr>
            <p:nvPr/>
          </p:nvSpPr>
          <p:spPr bwMode="auto">
            <a:xfrm>
              <a:off x="1771201" y="3730115"/>
              <a:ext cx="1720679" cy="1368152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eaLnBrk="0" hangingPunct="0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AutoShape 175"/>
            <p:cNvSpPr>
              <a:spLocks noChangeArrowheads="1"/>
            </p:cNvSpPr>
            <p:nvPr/>
          </p:nvSpPr>
          <p:spPr bwMode="auto">
            <a:xfrm>
              <a:off x="1979856" y="4329128"/>
              <a:ext cx="1296000" cy="252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/>
                <a:t>就绪</a:t>
              </a:r>
              <a:r>
                <a:rPr lang="zh-CN" altLang="en-US" sz="1600" b="1" dirty="0" smtClean="0"/>
                <a:t>？</a:t>
              </a:r>
              <a:endParaRPr lang="zh-CN" altLang="en-US" sz="1600" b="1" dirty="0"/>
            </a:p>
          </p:txBody>
        </p:sp>
        <p:sp>
          <p:nvSpPr>
            <p:cNvPr id="122" name="Text Box 177"/>
            <p:cNvSpPr txBox="1">
              <a:spLocks noChangeArrowheads="1"/>
            </p:cNvSpPr>
            <p:nvPr/>
          </p:nvSpPr>
          <p:spPr bwMode="auto">
            <a:xfrm>
              <a:off x="1846312" y="4276836"/>
              <a:ext cx="133400" cy="16027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N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182"/>
            <p:cNvSpPr txBox="1">
              <a:spLocks noChangeArrowheads="1"/>
            </p:cNvSpPr>
            <p:nvPr/>
          </p:nvSpPr>
          <p:spPr bwMode="auto">
            <a:xfrm>
              <a:off x="1835696" y="4797152"/>
              <a:ext cx="1584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与外设</a:t>
              </a:r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交换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数据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Text Box 184"/>
            <p:cNvSpPr txBox="1">
              <a:spLocks noChangeArrowheads="1"/>
            </p:cNvSpPr>
            <p:nvPr/>
          </p:nvSpPr>
          <p:spPr bwMode="auto">
            <a:xfrm>
              <a:off x="2051720" y="3897080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 smtClean="0">
                  <a:solidFill>
                    <a:srgbClr val="FF3399"/>
                  </a:solidFill>
                  <a:latin typeface="宋体" panose="02010600030101010101" pitchFamily="2" charset="-122"/>
                </a:rPr>
                <a:t>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外设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状态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Text Box 185"/>
            <p:cNvSpPr txBox="1">
              <a:spLocks noChangeArrowheads="1"/>
            </p:cNvSpPr>
            <p:nvPr/>
          </p:nvSpPr>
          <p:spPr bwMode="auto">
            <a:xfrm>
              <a:off x="2483768" y="4557210"/>
              <a:ext cx="105197" cy="167934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Y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31" name="AutoShape 187"/>
            <p:cNvSpPr>
              <a:spLocks noChangeArrowheads="1"/>
            </p:cNvSpPr>
            <p:nvPr/>
          </p:nvSpPr>
          <p:spPr bwMode="auto">
            <a:xfrm>
              <a:off x="1979856" y="5229200"/>
              <a:ext cx="1296000" cy="252000"/>
            </a:xfrm>
            <a:prstGeom prst="flowChartDecision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r>
                <a:rPr lang="zh-CN" altLang="en-US" sz="1600" b="1" dirty="0" smtClean="0"/>
                <a:t>传完？</a:t>
              </a:r>
              <a:endParaRPr lang="zh-CN" altLang="en-US" sz="1600" b="1" dirty="0"/>
            </a:p>
          </p:txBody>
        </p:sp>
        <p:sp>
          <p:nvSpPr>
            <p:cNvPr id="132" name="Text Box 193"/>
            <p:cNvSpPr txBox="1">
              <a:spLocks noChangeArrowheads="1"/>
            </p:cNvSpPr>
            <p:nvPr/>
          </p:nvSpPr>
          <p:spPr bwMode="auto">
            <a:xfrm>
              <a:off x="2051848" y="3353572"/>
              <a:ext cx="1152000" cy="2520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600" b="1" dirty="0">
                  <a:solidFill>
                    <a:srgbClr val="FF3399"/>
                  </a:solidFill>
                  <a:latin typeface="宋体" panose="02010600030101010101" pitchFamily="2" charset="-122"/>
                </a:rPr>
                <a:t>启动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外设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33" name="直接箭头连接符 132"/>
            <p:cNvCxnSpPr>
              <a:endCxn id="132" idx="0"/>
            </p:cNvCxnSpPr>
            <p:nvPr/>
          </p:nvCxnSpPr>
          <p:spPr bwMode="auto">
            <a:xfrm>
              <a:off x="2627635" y="3193361"/>
              <a:ext cx="213" cy="160211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直接箭头连接符 133"/>
            <p:cNvCxnSpPr>
              <a:stCxn id="132" idx="2"/>
              <a:endCxn id="129" idx="0"/>
            </p:cNvCxnSpPr>
            <p:nvPr/>
          </p:nvCxnSpPr>
          <p:spPr bwMode="auto">
            <a:xfrm flipH="1">
              <a:off x="2627720" y="3605572"/>
              <a:ext cx="128" cy="29150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5" name="直接箭头连接符 134"/>
            <p:cNvCxnSpPr>
              <a:stCxn id="129" idx="2"/>
              <a:endCxn id="120" idx="0"/>
            </p:cNvCxnSpPr>
            <p:nvPr/>
          </p:nvCxnSpPr>
          <p:spPr bwMode="auto">
            <a:xfrm>
              <a:off x="2627720" y="4149080"/>
              <a:ext cx="136" cy="18004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6" name="直接箭头连接符 135"/>
            <p:cNvCxnSpPr>
              <a:stCxn id="120" idx="2"/>
              <a:endCxn id="128" idx="0"/>
            </p:cNvCxnSpPr>
            <p:nvPr/>
          </p:nvCxnSpPr>
          <p:spPr bwMode="auto">
            <a:xfrm flipH="1">
              <a:off x="2627696" y="4581128"/>
              <a:ext cx="160" cy="2160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箭头连接符 99"/>
            <p:cNvCxnSpPr>
              <a:stCxn id="120" idx="1"/>
            </p:cNvCxnSpPr>
            <p:nvPr/>
          </p:nvCxnSpPr>
          <p:spPr bwMode="auto">
            <a:xfrm rot="10800000" flipH="1">
              <a:off x="1979855" y="3783302"/>
              <a:ext cx="661095" cy="671826"/>
            </a:xfrm>
            <a:prstGeom prst="bentConnector4">
              <a:avLst>
                <a:gd name="adj1" fmla="val -25614"/>
                <a:gd name="adj2" fmla="val 99705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8" name="直接箭头连接符 137"/>
            <p:cNvCxnSpPr>
              <a:stCxn id="128" idx="2"/>
              <a:endCxn id="131" idx="0"/>
            </p:cNvCxnSpPr>
            <p:nvPr/>
          </p:nvCxnSpPr>
          <p:spPr bwMode="auto">
            <a:xfrm>
              <a:off x="2627696" y="5049152"/>
              <a:ext cx="160" cy="18004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9" name="直接箭头连接符 99"/>
            <p:cNvCxnSpPr>
              <a:stCxn id="131" idx="1"/>
            </p:cNvCxnSpPr>
            <p:nvPr/>
          </p:nvCxnSpPr>
          <p:spPr bwMode="auto">
            <a:xfrm rot="10800000" flipH="1">
              <a:off x="1979856" y="3254518"/>
              <a:ext cx="647792" cy="2100682"/>
            </a:xfrm>
            <a:prstGeom prst="bentConnector4">
              <a:avLst>
                <a:gd name="adj1" fmla="val -44531"/>
                <a:gd name="adj2" fmla="val 9989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0" name="直接箭头连接符 139"/>
            <p:cNvCxnSpPr>
              <a:stCxn id="131" idx="2"/>
            </p:cNvCxnSpPr>
            <p:nvPr/>
          </p:nvCxnSpPr>
          <p:spPr bwMode="auto">
            <a:xfrm flipH="1">
              <a:off x="2627635" y="5481200"/>
              <a:ext cx="221" cy="180048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1" name="Text Box 177"/>
            <p:cNvSpPr txBox="1">
              <a:spLocks noChangeArrowheads="1"/>
            </p:cNvSpPr>
            <p:nvPr/>
          </p:nvSpPr>
          <p:spPr bwMode="auto">
            <a:xfrm>
              <a:off x="1846312" y="5200382"/>
              <a:ext cx="133400" cy="147436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N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185"/>
            <p:cNvSpPr txBox="1">
              <a:spLocks noChangeArrowheads="1"/>
            </p:cNvSpPr>
            <p:nvPr/>
          </p:nvSpPr>
          <p:spPr bwMode="auto">
            <a:xfrm>
              <a:off x="2411760" y="5445224"/>
              <a:ext cx="215875" cy="215701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Y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64" name="组合 163"/>
          <p:cNvGrpSpPr/>
          <p:nvPr/>
        </p:nvGrpSpPr>
        <p:grpSpPr>
          <a:xfrm>
            <a:off x="1115616" y="3969088"/>
            <a:ext cx="1655936" cy="1904309"/>
            <a:chOff x="3779913" y="4714147"/>
            <a:chExt cx="1655936" cy="1904309"/>
          </a:xfrm>
        </p:grpSpPr>
        <p:cxnSp>
          <p:nvCxnSpPr>
            <p:cNvPr id="165" name="直接箭头连接符 164"/>
            <p:cNvCxnSpPr>
              <a:endCxn id="166" idx="0"/>
            </p:cNvCxnSpPr>
            <p:nvPr/>
          </p:nvCxnSpPr>
          <p:spPr bwMode="auto">
            <a:xfrm flipH="1">
              <a:off x="4175957" y="4714147"/>
              <a:ext cx="1231317" cy="80514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</p:spPr>
        </p:cxnSp>
        <p:sp>
          <p:nvSpPr>
            <p:cNvPr id="166" name="Text Box 177"/>
            <p:cNvSpPr txBox="1">
              <a:spLocks noChangeArrowheads="1"/>
            </p:cNvSpPr>
            <p:nvPr/>
          </p:nvSpPr>
          <p:spPr bwMode="auto">
            <a:xfrm>
              <a:off x="3779913" y="5519291"/>
              <a:ext cx="792088" cy="458251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可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忽略启动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7" name="直接箭头连接符 166"/>
            <p:cNvCxnSpPr>
              <a:stCxn id="166" idx="2"/>
            </p:cNvCxnSpPr>
            <p:nvPr/>
          </p:nvCxnSpPr>
          <p:spPr bwMode="auto">
            <a:xfrm>
              <a:off x="4175957" y="5977542"/>
              <a:ext cx="1259892" cy="64091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med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  <p:bldP spid="88" grpId="0" animBg="1"/>
      <p:bldP spid="11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79389" y="332656"/>
            <a:ext cx="5041377" cy="13960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00325" indent="-2600325"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查询的类型：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基于开始时刻分类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14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独占查询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14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定时查询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Text Box 5"/>
          <p:cNvSpPr txBox="1">
            <a:spLocks noChangeArrowheads="1"/>
          </p:cNvSpPr>
          <p:nvPr/>
        </p:nvSpPr>
        <p:spPr bwMode="auto">
          <a:xfrm>
            <a:off x="179386" y="3363966"/>
            <a:ext cx="8893116" cy="25197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 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1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：</a:t>
            </a:r>
            <a:r>
              <a:rPr lang="zh-CN" altLang="en-US" sz="2200" b="1" dirty="0" smtClean="0">
                <a:latin typeface="+mn-ea"/>
                <a:ea typeface="+mn-ea"/>
              </a:rPr>
              <a:t>某</a:t>
            </a:r>
            <a:r>
              <a:rPr lang="zh-CN" altLang="en-US" sz="2200" b="1" u="sng" dirty="0" smtClean="0">
                <a:latin typeface="+mn-ea"/>
                <a:ea typeface="+mn-ea"/>
              </a:rPr>
              <a:t>数据</a:t>
            </a:r>
            <a:r>
              <a:rPr lang="zh-CN" altLang="en-US" sz="2200" b="1" u="sng" dirty="0">
                <a:latin typeface="+mn-ea"/>
                <a:ea typeface="+mn-ea"/>
              </a:rPr>
              <a:t>传输</a:t>
            </a:r>
            <a:r>
              <a:rPr lang="zh-CN" altLang="en-US" sz="2200" b="1" u="sng" spc="-50" dirty="0">
                <a:latin typeface="+mn-ea"/>
                <a:ea typeface="+mn-ea"/>
              </a:rPr>
              <a:t>率</a:t>
            </a:r>
            <a:r>
              <a:rPr lang="zh-CN" altLang="en-US" sz="2200" b="1" spc="-50" dirty="0" smtClean="0">
                <a:latin typeface="+mn-ea"/>
                <a:ea typeface="+mn-ea"/>
              </a:rPr>
              <a:t>为</a:t>
            </a:r>
            <a:r>
              <a:rPr lang="en-US" altLang="zh-CN" sz="2200" b="1" spc="-50" dirty="0" smtClean="0">
                <a:latin typeface="+mn-ea"/>
                <a:ea typeface="+mn-ea"/>
              </a:rPr>
              <a:t>200KBps</a:t>
            </a:r>
            <a:r>
              <a:rPr lang="zh-CN" altLang="en-US" sz="2200" b="1" spc="-50" dirty="0" smtClean="0">
                <a:latin typeface="+mn-ea"/>
                <a:ea typeface="+mn-ea"/>
              </a:rPr>
              <a:t>的</a:t>
            </a:r>
            <a:r>
              <a:rPr lang="en-US" altLang="zh-CN" sz="2200" b="1" dirty="0" smtClean="0">
                <a:latin typeface="+mn-ea"/>
                <a:ea typeface="+mn-ea"/>
              </a:rPr>
              <a:t>U</a:t>
            </a:r>
            <a:r>
              <a:rPr lang="zh-CN" altLang="en-US" sz="2200" b="1" dirty="0" smtClean="0">
                <a:latin typeface="+mn-ea"/>
                <a:ea typeface="+mn-ea"/>
              </a:rPr>
              <a:t>盘连接到</a:t>
            </a:r>
            <a:r>
              <a:rPr lang="en-US" altLang="zh-CN" sz="2200" b="1" u="sng" dirty="0" smtClean="0">
                <a:latin typeface="+mn-ea"/>
                <a:ea typeface="+mn-ea"/>
              </a:rPr>
              <a:t>32</a:t>
            </a:r>
            <a:r>
              <a:rPr lang="zh-CN" altLang="zh-CN" sz="2200" b="1" u="sng" dirty="0" smtClean="0">
                <a:latin typeface="+mn-ea"/>
                <a:ea typeface="+mn-ea"/>
              </a:rPr>
              <a:t>位</a:t>
            </a:r>
            <a:r>
              <a:rPr lang="zh-CN" altLang="en-US" sz="2200" b="1" u="sng" dirty="0" smtClean="0">
                <a:latin typeface="+mn-ea"/>
                <a:ea typeface="+mn-ea"/>
              </a:rPr>
              <a:t>总线</a:t>
            </a:r>
            <a:r>
              <a:rPr lang="zh-CN" altLang="en-US" sz="2200" b="1" dirty="0" smtClean="0">
                <a:latin typeface="+mn-ea"/>
                <a:ea typeface="+mn-ea"/>
              </a:rPr>
              <a:t>，总线不支持</a:t>
            </a:r>
            <a:r>
              <a:rPr lang="zh-CN" altLang="en-US" sz="2200" b="1" u="sng" dirty="0" smtClean="0">
                <a:latin typeface="+mn-ea"/>
                <a:ea typeface="+mn-ea"/>
              </a:rPr>
              <a:t>突发传输</a:t>
            </a:r>
            <a:r>
              <a:rPr lang="zh-CN" altLang="en-US" sz="2200" b="1" dirty="0" smtClean="0">
                <a:latin typeface="+mn-ea"/>
                <a:ea typeface="+mn-ea"/>
              </a:rPr>
              <a:t>模式。</a:t>
            </a:r>
            <a:r>
              <a:rPr lang="zh-CN" altLang="en-US" sz="2200" b="1" spc="-50" dirty="0" smtClean="0">
                <a:latin typeface="+mn-ea"/>
                <a:ea typeface="+mn-ea"/>
              </a:rPr>
              <a:t>若</a:t>
            </a:r>
            <a:r>
              <a:rPr lang="en-US" altLang="zh-CN" sz="2200" b="1" spc="-50" dirty="0" smtClean="0">
                <a:latin typeface="+mn-ea"/>
                <a:ea typeface="+mn-ea"/>
              </a:rPr>
              <a:t>U</a:t>
            </a:r>
            <a:r>
              <a:rPr lang="zh-CN" altLang="zh-CN" sz="2200" b="1" spc="-50" dirty="0" smtClean="0">
                <a:latin typeface="+mn-ea"/>
                <a:ea typeface="+mn-ea"/>
              </a:rPr>
              <a:t>盘</a:t>
            </a:r>
            <a:r>
              <a:rPr lang="zh-CN" altLang="en-US" sz="2200" b="1" spc="-50" dirty="0" smtClean="0">
                <a:latin typeface="+mn-ea"/>
                <a:ea typeface="+mn-ea"/>
              </a:rPr>
              <a:t>的</a:t>
            </a:r>
            <a:r>
              <a:rPr lang="en-US" altLang="zh-CN" sz="2200" b="1" spc="-50" dirty="0">
                <a:latin typeface="+mn-ea"/>
                <a:ea typeface="+mn-ea"/>
              </a:rPr>
              <a:t>I/O</a:t>
            </a:r>
            <a:r>
              <a:rPr lang="zh-CN" altLang="en-US" sz="2200" b="1" spc="-50" dirty="0" smtClean="0">
                <a:latin typeface="+mn-ea"/>
                <a:ea typeface="+mn-ea"/>
              </a:rPr>
              <a:t>时间为</a:t>
            </a:r>
            <a:r>
              <a:rPr lang="en-US" altLang="zh-CN" sz="2200" b="1" spc="-50" dirty="0" smtClean="0">
                <a:latin typeface="+mn-ea"/>
                <a:ea typeface="+mn-ea"/>
              </a:rPr>
              <a:t>20%</a:t>
            </a:r>
            <a:r>
              <a:rPr lang="zh-CN" altLang="en-US" sz="2200" b="1" spc="-50" dirty="0" smtClean="0">
                <a:latin typeface="+mn-ea"/>
                <a:ea typeface="+mn-ea"/>
              </a:rPr>
              <a:t>，分别求</a:t>
            </a:r>
            <a:r>
              <a:rPr lang="zh-CN" altLang="zh-CN" sz="2200" b="1" spc="-50" dirty="0" smtClean="0">
                <a:latin typeface="+mn-ea"/>
                <a:ea typeface="+mn-ea"/>
              </a:rPr>
              <a:t>采用</a:t>
            </a:r>
            <a:r>
              <a:rPr lang="zh-CN" altLang="en-US" sz="2200" b="1" spc="-50" dirty="0">
                <a:latin typeface="+mn-ea"/>
                <a:ea typeface="+mn-ea"/>
              </a:rPr>
              <a:t>独占</a:t>
            </a:r>
            <a:r>
              <a:rPr lang="zh-CN" altLang="zh-CN" sz="2200" b="1" spc="-50" dirty="0" smtClean="0">
                <a:latin typeface="+mn-ea"/>
                <a:ea typeface="+mn-ea"/>
              </a:rPr>
              <a:t>查询方式</a:t>
            </a:r>
            <a:r>
              <a:rPr lang="zh-CN" altLang="en-US" sz="2200" b="1" spc="-50" dirty="0" smtClean="0">
                <a:latin typeface="+mn-ea"/>
                <a:ea typeface="+mn-ea"/>
              </a:rPr>
              <a:t>、</a:t>
            </a:r>
            <a:r>
              <a:rPr lang="zh-CN" altLang="en-US" sz="2200" b="1" spc="-50" dirty="0" smtClean="0">
                <a:latin typeface="+mn-ea"/>
              </a:rPr>
              <a:t>定时</a:t>
            </a:r>
            <a:r>
              <a:rPr lang="zh-CN" altLang="zh-CN" sz="2200" b="1" spc="-50" dirty="0" smtClean="0">
                <a:latin typeface="+mn-ea"/>
              </a:rPr>
              <a:t>查询方式</a:t>
            </a:r>
            <a:r>
              <a:rPr lang="en-US" altLang="zh-CN" sz="2200" b="1" spc="-50" dirty="0" smtClean="0">
                <a:latin typeface="+mn-ea"/>
              </a:rPr>
              <a:t>(</a:t>
            </a:r>
            <a:r>
              <a:rPr lang="zh-CN" altLang="en-US" sz="2200" b="1" spc="-50" dirty="0">
                <a:latin typeface="+mn-ea"/>
              </a:rPr>
              <a:t>启动后</a:t>
            </a:r>
            <a:r>
              <a:rPr lang="en-US" altLang="zh-CN" sz="2200" b="1" spc="-50" dirty="0" smtClean="0">
                <a:latin typeface="+mn-ea"/>
              </a:rPr>
              <a:t>15</a:t>
            </a:r>
            <a:r>
              <a:rPr lang="en-US" altLang="zh-CN" sz="2200" dirty="0" smtClean="0"/>
              <a:t>μ</a:t>
            </a:r>
            <a:r>
              <a:rPr lang="en-US" altLang="zh-CN" sz="2200" b="1" spc="-50" dirty="0" smtClean="0">
                <a:latin typeface="+mn-ea"/>
              </a:rPr>
              <a:t>s</a:t>
            </a:r>
            <a:r>
              <a:rPr lang="zh-CN" altLang="en-US" sz="2200" b="1" spc="-50" dirty="0" smtClean="0">
                <a:latin typeface="+mn-ea"/>
              </a:rPr>
              <a:t>开始查询</a:t>
            </a:r>
            <a:r>
              <a:rPr lang="en-US" altLang="zh-CN" sz="2200" b="1" spc="-50" dirty="0" smtClean="0">
                <a:latin typeface="+mn-ea"/>
              </a:rPr>
              <a:t>)I/O</a:t>
            </a:r>
            <a:r>
              <a:rPr lang="zh-CN" altLang="en-US" sz="2200" b="1" spc="-50" dirty="0" smtClean="0">
                <a:latin typeface="+mn-ea"/>
              </a:rPr>
              <a:t>时，</a:t>
            </a:r>
            <a:r>
              <a:rPr lang="en-US" altLang="zh-CN" sz="2200" b="1" spc="-50" dirty="0" smtClean="0">
                <a:latin typeface="+mn-ea"/>
                <a:ea typeface="+mn-ea"/>
              </a:rPr>
              <a:t>U</a:t>
            </a:r>
            <a:r>
              <a:rPr lang="zh-CN" altLang="zh-CN" sz="2200" b="1" spc="-50" dirty="0" smtClean="0">
                <a:latin typeface="+mn-ea"/>
                <a:ea typeface="+mn-ea"/>
              </a:rPr>
              <a:t>盘</a:t>
            </a:r>
            <a:r>
              <a:rPr lang="en-US" altLang="zh-CN" sz="2200" b="1" spc="-50" dirty="0" smtClean="0">
                <a:latin typeface="+mn-ea"/>
                <a:ea typeface="+mn-ea"/>
              </a:rPr>
              <a:t>I/O</a:t>
            </a:r>
            <a:r>
              <a:rPr lang="zh-CN" altLang="zh-CN" sz="2200" b="1" spc="-50" dirty="0" smtClean="0">
                <a:latin typeface="+mn-ea"/>
                <a:ea typeface="+mn-ea"/>
              </a:rPr>
              <a:t>占</a:t>
            </a:r>
            <a:r>
              <a:rPr lang="en-US" altLang="zh-CN" sz="2200" b="1" spc="-50" dirty="0" smtClean="0">
                <a:latin typeface="+mn-ea"/>
                <a:ea typeface="+mn-ea"/>
              </a:rPr>
              <a:t>CPU</a:t>
            </a:r>
            <a:r>
              <a:rPr lang="zh-CN" altLang="zh-CN" sz="2200" b="1" spc="-50" dirty="0" smtClean="0">
                <a:latin typeface="+mn-ea"/>
                <a:ea typeface="+mn-ea"/>
              </a:rPr>
              <a:t>时间的</a:t>
            </a:r>
            <a:r>
              <a:rPr lang="zh-CN" altLang="en-US" sz="2200" b="1" spc="-50" dirty="0">
                <a:latin typeface="+mn-ea"/>
                <a:ea typeface="+mn-ea"/>
              </a:rPr>
              <a:t>百分比</a:t>
            </a:r>
            <a:r>
              <a:rPr lang="zh-CN" altLang="zh-CN" sz="2200" b="1" spc="-50" dirty="0" smtClean="0">
                <a:latin typeface="+mn-ea"/>
                <a:ea typeface="+mn-ea"/>
              </a:rPr>
              <a:t>。</a:t>
            </a:r>
            <a:endParaRPr lang="en-US" altLang="zh-CN" sz="2200" b="1" spc="-50" dirty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spc="-50" dirty="0" smtClean="0">
                <a:solidFill>
                  <a:srgbClr val="990099"/>
                </a:solidFill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解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en-US" altLang="zh-CN" sz="2200" b="1" dirty="0">
                <a:latin typeface="+mn-ea"/>
              </a:rPr>
              <a:t>U</a:t>
            </a:r>
            <a:r>
              <a:rPr lang="zh-CN" altLang="en-US" sz="2200" b="1" dirty="0" smtClean="0">
                <a:latin typeface="+mn-ea"/>
              </a:rPr>
              <a:t>盘</a:t>
            </a:r>
            <a:r>
              <a:rPr lang="en-US" altLang="zh-CN" sz="2200" b="1" dirty="0">
                <a:latin typeface="+mn-ea"/>
              </a:rPr>
              <a:t>2</a:t>
            </a:r>
            <a:r>
              <a:rPr lang="zh-CN" altLang="en-US" sz="2200" b="1" dirty="0" smtClean="0">
                <a:latin typeface="+mn-ea"/>
              </a:rPr>
              <a:t>次传送</a:t>
            </a:r>
            <a:r>
              <a:rPr lang="zh-CN" altLang="en-US" sz="2200" b="1" dirty="0">
                <a:latin typeface="+mn-ea"/>
              </a:rPr>
              <a:t>间隔</a:t>
            </a:r>
            <a:r>
              <a:rPr lang="en-US" altLang="zh-CN" sz="2200" b="1" dirty="0" smtClean="0">
                <a:latin typeface="+mn-ea"/>
                <a:ea typeface="+mn-ea"/>
              </a:rPr>
              <a:t>T</a:t>
            </a:r>
            <a:r>
              <a:rPr lang="en-US" altLang="zh-CN" sz="2200" b="1" baseline="-18000" dirty="0" smtClean="0">
                <a:latin typeface="+mn-ea"/>
              </a:rPr>
              <a:t>I/O</a:t>
            </a:r>
            <a:r>
              <a:rPr lang="zh-CN" altLang="zh-CN" sz="2200" b="1" dirty="0" smtClean="0">
                <a:latin typeface="+mn-ea"/>
              </a:rPr>
              <a:t>＝</a:t>
            </a:r>
            <a:endParaRPr lang="en-US" altLang="zh-CN" sz="2200" b="1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⑴</a:t>
            </a:r>
            <a:r>
              <a:rPr lang="en-US" altLang="zh-CN" sz="2200" b="1" dirty="0" smtClean="0">
                <a:latin typeface="+mn-ea"/>
                <a:ea typeface="+mn-ea"/>
              </a:rPr>
              <a:t>T</a:t>
            </a:r>
            <a:r>
              <a:rPr lang="zh-CN" altLang="en-US" sz="2200" b="1" baseline="-18000" dirty="0" smtClean="0">
                <a:latin typeface="+mn-ea"/>
                <a:ea typeface="+mn-ea"/>
              </a:rPr>
              <a:t>查询</a:t>
            </a:r>
            <a:r>
              <a:rPr lang="en-US" altLang="zh-CN" sz="2200" b="1" baseline="-18000" dirty="0" smtClean="0">
                <a:latin typeface="+mn-ea"/>
                <a:ea typeface="+mn-ea"/>
              </a:rPr>
              <a:t>E</a:t>
            </a:r>
            <a:r>
              <a:rPr lang="zh-CN" altLang="zh-CN" sz="2200" b="1" dirty="0" smtClean="0">
                <a:latin typeface="+mn-ea"/>
                <a:ea typeface="+mn-ea"/>
              </a:rPr>
              <a:t>＝ </a:t>
            </a:r>
            <a:r>
              <a:rPr lang="en-US" altLang="zh-CN" sz="2200" b="1" dirty="0" smtClean="0">
                <a:latin typeface="+mn-ea"/>
                <a:ea typeface="+mn-ea"/>
              </a:rPr>
              <a:t>    </a:t>
            </a:r>
            <a:r>
              <a:rPr lang="zh-CN" altLang="en-US" sz="2200" b="1" dirty="0" smtClean="0">
                <a:latin typeface="+mn-ea"/>
                <a:ea typeface="+mn-ea"/>
              </a:rPr>
              <a:t>，所占</a:t>
            </a:r>
            <a:r>
              <a:rPr lang="en-US" altLang="zh-CN" sz="2200" b="1" dirty="0" smtClean="0">
                <a:latin typeface="+mn-ea"/>
                <a:ea typeface="+mn-ea"/>
              </a:rPr>
              <a:t>%</a:t>
            </a:r>
            <a:r>
              <a:rPr lang="zh-CN" altLang="en-US" sz="2200" b="1" dirty="0" smtClean="0">
                <a:latin typeface="+mn-ea"/>
                <a:ea typeface="+mn-ea"/>
              </a:rPr>
              <a:t>＝</a:t>
            </a:r>
            <a:endParaRPr lang="en-US" altLang="zh-CN" sz="2200" b="1" dirty="0" smtClean="0">
              <a:solidFill>
                <a:srgbClr val="990099"/>
              </a:solidFill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+mn-ea"/>
                <a:ea typeface="+mn-ea"/>
              </a:rPr>
              <a:t> </a:t>
            </a:r>
            <a:r>
              <a:rPr lang="en-US" altLang="zh-CN" sz="2200" b="1" dirty="0" smtClean="0">
                <a:solidFill>
                  <a:srgbClr val="990099"/>
                </a:solidFill>
                <a:latin typeface="+mn-ea"/>
                <a:ea typeface="+mn-ea"/>
              </a:rPr>
              <a:t>   </a:t>
            </a:r>
            <a:r>
              <a:rPr lang="zh-CN" altLang="en-US" sz="2200" b="1" dirty="0" smtClean="0">
                <a:solidFill>
                  <a:srgbClr val="990099"/>
                </a:solidFill>
                <a:latin typeface="+mn-ea"/>
                <a:ea typeface="+mn-ea"/>
              </a:rPr>
              <a:t>⑵</a:t>
            </a:r>
            <a:r>
              <a:rPr lang="en-US" altLang="zh-CN" sz="2200" b="1" dirty="0" smtClean="0">
                <a:latin typeface="+mn-ea"/>
                <a:ea typeface="+mn-ea"/>
              </a:rPr>
              <a:t>T</a:t>
            </a:r>
            <a:r>
              <a:rPr lang="zh-CN" altLang="en-US" sz="2200" b="1" baseline="-18000" dirty="0" smtClean="0">
                <a:latin typeface="+mn-ea"/>
                <a:ea typeface="+mn-ea"/>
              </a:rPr>
              <a:t>查询</a:t>
            </a:r>
            <a:r>
              <a:rPr lang="en-US" altLang="zh-CN" sz="2200" b="1" baseline="-18000" dirty="0" smtClean="0">
                <a:latin typeface="+mn-ea"/>
                <a:ea typeface="+mn-ea"/>
              </a:rPr>
              <a:t>T</a:t>
            </a:r>
            <a:r>
              <a:rPr lang="zh-CN" altLang="zh-CN" sz="2200" b="1" dirty="0" smtClean="0">
                <a:latin typeface="+mn-ea"/>
                <a:ea typeface="+mn-ea"/>
              </a:rPr>
              <a:t>＝ </a:t>
            </a:r>
            <a:r>
              <a:rPr lang="en-US" altLang="zh-CN" sz="2200" b="1" dirty="0" smtClean="0">
                <a:latin typeface="+mn-ea"/>
                <a:ea typeface="+mn-ea"/>
              </a:rPr>
              <a:t>         </a:t>
            </a:r>
            <a:r>
              <a:rPr lang="zh-CN" altLang="en-US" sz="2200" b="1" dirty="0" smtClean="0">
                <a:latin typeface="+mn-ea"/>
              </a:rPr>
              <a:t>，所占</a:t>
            </a:r>
            <a:r>
              <a:rPr lang="en-US" altLang="zh-CN" sz="2200" b="1" dirty="0" smtClean="0">
                <a:latin typeface="+mn-ea"/>
              </a:rPr>
              <a:t>%</a:t>
            </a:r>
            <a:r>
              <a:rPr lang="zh-CN" altLang="en-US" sz="2200" b="1" dirty="0" smtClean="0">
                <a:latin typeface="+mn-ea"/>
              </a:rPr>
              <a:t>＝</a:t>
            </a:r>
            <a:endParaRPr lang="en-US" altLang="zh-CN" sz="2200" b="1" dirty="0" smtClean="0">
              <a:solidFill>
                <a:srgbClr val="990099"/>
              </a:solidFill>
              <a:latin typeface="+mn-ea"/>
              <a:ea typeface="+mn-ea"/>
            </a:endParaRPr>
          </a:p>
        </p:txBody>
      </p:sp>
      <p:sp>
        <p:nvSpPr>
          <p:cNvPr id="144" name="Text Box 5"/>
          <p:cNvSpPr txBox="1">
            <a:spLocks noChangeArrowheads="1"/>
          </p:cNvSpPr>
          <p:nvPr/>
        </p:nvSpPr>
        <p:spPr bwMode="auto">
          <a:xfrm>
            <a:off x="1979712" y="4515361"/>
            <a:ext cx="6912893" cy="13619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</a:rPr>
              <a:t>               1</a:t>
            </a:r>
            <a:r>
              <a:rPr lang="en-US" altLang="zh-CN" sz="2200" b="1" dirty="0">
                <a:latin typeface="+mn-ea"/>
              </a:rPr>
              <a:t>/(200KB/32b)</a:t>
            </a:r>
            <a:r>
              <a:rPr lang="zh-CN" altLang="zh-CN" sz="2200" b="1" dirty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20</a:t>
            </a:r>
            <a:r>
              <a:rPr lang="en-US" altLang="zh-CN" sz="2200" dirty="0"/>
              <a:t> </a:t>
            </a:r>
            <a:r>
              <a:rPr lang="en-US" altLang="zh-CN" sz="2200" dirty="0" err="1" smtClean="0"/>
              <a:t>μ</a:t>
            </a:r>
            <a:r>
              <a:rPr lang="en-US" altLang="zh-CN" sz="2200" b="1" dirty="0" err="1" smtClean="0">
                <a:latin typeface="+mn-ea"/>
              </a:rPr>
              <a:t>s</a:t>
            </a:r>
            <a:endParaRPr lang="en-US" altLang="zh-CN" sz="2200" b="1" dirty="0" smtClean="0">
              <a:latin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</a:rPr>
              <a:t>20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+mn-ea"/>
              </a:rPr>
              <a:t>s          [</a:t>
            </a:r>
            <a:r>
              <a:rPr lang="en-US" altLang="zh-CN" sz="2200" b="1" dirty="0" smtClean="0">
                <a:latin typeface="+mn-ea"/>
                <a:ea typeface="+mn-ea"/>
              </a:rPr>
              <a:t>T</a:t>
            </a:r>
            <a:r>
              <a:rPr lang="zh-CN" altLang="en-US" sz="2200" b="1" baseline="-18000" dirty="0" smtClean="0">
                <a:latin typeface="+mn-ea"/>
                <a:ea typeface="+mn-ea"/>
              </a:rPr>
              <a:t>查询</a:t>
            </a:r>
            <a:r>
              <a:rPr lang="en-US" altLang="zh-CN" sz="2200" b="1" baseline="-18000" dirty="0" smtClean="0">
                <a:latin typeface="+mn-ea"/>
                <a:ea typeface="+mn-ea"/>
              </a:rPr>
              <a:t>E</a:t>
            </a:r>
            <a:r>
              <a:rPr lang="en-US" altLang="zh-CN" sz="2200" b="1" dirty="0" smtClean="0">
                <a:latin typeface="+mn-ea"/>
                <a:ea typeface="+mn-ea"/>
              </a:rPr>
              <a:t>/T</a:t>
            </a:r>
            <a:r>
              <a:rPr lang="en-US" altLang="zh-CN" sz="2200" b="1" baseline="-18000" dirty="0" smtClean="0">
                <a:latin typeface="+mn-ea"/>
                <a:ea typeface="+mn-ea"/>
              </a:rPr>
              <a:t>I/O</a:t>
            </a:r>
            <a:r>
              <a:rPr lang="en-US" altLang="zh-CN" sz="2200" b="1" dirty="0" smtClean="0">
                <a:latin typeface="+mn-ea"/>
              </a:rPr>
              <a:t>]*20%</a:t>
            </a:r>
            <a:r>
              <a:rPr lang="zh-CN" altLang="zh-CN" sz="2200" b="1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20%</a:t>
            </a:r>
            <a:endParaRPr lang="en-US" altLang="zh-CN" sz="2200" b="1" dirty="0" smtClean="0">
              <a:latin typeface="+mn-ea"/>
              <a:ea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+mn-ea"/>
              </a:rPr>
              <a:t>20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+mn-ea"/>
              </a:rPr>
              <a:t>s-15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+mn-ea"/>
              </a:rPr>
              <a:t>s          [5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+mn-ea"/>
              </a:rPr>
              <a:t>s/20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+mn-ea"/>
              </a:rPr>
              <a:t>s]*20%</a:t>
            </a:r>
            <a:r>
              <a:rPr lang="zh-CN" altLang="en-US" sz="2200" b="1" dirty="0" smtClean="0">
                <a:latin typeface="+mn-ea"/>
              </a:rPr>
              <a:t>＝</a:t>
            </a:r>
            <a:r>
              <a:rPr lang="en-US" altLang="zh-CN" sz="2200" b="1" dirty="0" smtClean="0">
                <a:latin typeface="+mn-ea"/>
              </a:rPr>
              <a:t>5%</a:t>
            </a:r>
            <a:endParaRPr lang="zh-CN" altLang="zh-CN" sz="2200" b="1" dirty="0">
              <a:latin typeface="+mn-ea"/>
              <a:ea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933429" y="1699915"/>
            <a:ext cx="3743027" cy="1297037"/>
            <a:chOff x="4933429" y="1630522"/>
            <a:chExt cx="3743027" cy="1297037"/>
          </a:xfrm>
        </p:grpSpPr>
        <p:sp>
          <p:nvSpPr>
            <p:cNvPr id="179" name="Text Box 9"/>
            <p:cNvSpPr txBox="1">
              <a:spLocks noChangeArrowheads="1"/>
            </p:cNvSpPr>
            <p:nvPr/>
          </p:nvSpPr>
          <p:spPr bwMode="auto">
            <a:xfrm>
              <a:off x="5724127" y="2640222"/>
              <a:ext cx="252028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0" name="Text Box 12"/>
            <p:cNvSpPr txBox="1">
              <a:spLocks noChangeArrowheads="1"/>
            </p:cNvSpPr>
            <p:nvPr/>
          </p:nvSpPr>
          <p:spPr bwMode="auto">
            <a:xfrm>
              <a:off x="4933429" y="2640222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1" name="Text Box 13"/>
            <p:cNvSpPr txBox="1">
              <a:spLocks noChangeArrowheads="1"/>
            </p:cNvSpPr>
            <p:nvPr/>
          </p:nvSpPr>
          <p:spPr bwMode="auto">
            <a:xfrm>
              <a:off x="4933429" y="2134578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2" name="Line 15"/>
            <p:cNvSpPr>
              <a:spLocks noChangeShapeType="1"/>
            </p:cNvSpPr>
            <p:nvPr/>
          </p:nvSpPr>
          <p:spPr bwMode="auto">
            <a:xfrm>
              <a:off x="5724127" y="2424198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Line 15"/>
            <p:cNvSpPr>
              <a:spLocks noChangeShapeType="1"/>
            </p:cNvSpPr>
            <p:nvPr/>
          </p:nvSpPr>
          <p:spPr bwMode="auto">
            <a:xfrm flipV="1">
              <a:off x="7596335" y="2424198"/>
              <a:ext cx="0" cy="217736"/>
            </a:xfrm>
            <a:prstGeom prst="line">
              <a:avLst/>
            </a:prstGeom>
            <a:noFill/>
            <a:ln w="254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Line 15"/>
            <p:cNvSpPr>
              <a:spLocks noChangeShapeType="1"/>
            </p:cNvSpPr>
            <p:nvPr/>
          </p:nvSpPr>
          <p:spPr bwMode="auto">
            <a:xfrm>
              <a:off x="8028383" y="2424198"/>
              <a:ext cx="0" cy="2159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Line 15"/>
            <p:cNvSpPr>
              <a:spLocks noChangeShapeType="1"/>
            </p:cNvSpPr>
            <p:nvPr/>
          </p:nvSpPr>
          <p:spPr bwMode="auto">
            <a:xfrm>
              <a:off x="8460431" y="2424198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Text Box 17"/>
            <p:cNvSpPr txBox="1">
              <a:spLocks noChangeArrowheads="1"/>
            </p:cNvSpPr>
            <p:nvPr/>
          </p:nvSpPr>
          <p:spPr bwMode="auto">
            <a:xfrm>
              <a:off x="8241555" y="2134579"/>
              <a:ext cx="434900" cy="28837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7" name="Line 26"/>
            <p:cNvSpPr>
              <a:spLocks noChangeShapeType="1"/>
            </p:cNvSpPr>
            <p:nvPr/>
          </p:nvSpPr>
          <p:spPr bwMode="auto">
            <a:xfrm>
              <a:off x="8241554" y="2137349"/>
              <a:ext cx="4349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88" name="Line 26"/>
            <p:cNvSpPr>
              <a:spLocks noChangeShapeType="1"/>
            </p:cNvSpPr>
            <p:nvPr/>
          </p:nvSpPr>
          <p:spPr bwMode="auto">
            <a:xfrm>
              <a:off x="8244408" y="2422609"/>
              <a:ext cx="432048" cy="34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89" name="Text Box 17"/>
            <p:cNvSpPr txBox="1">
              <a:spLocks noChangeArrowheads="1"/>
            </p:cNvSpPr>
            <p:nvPr/>
          </p:nvSpPr>
          <p:spPr bwMode="auto">
            <a:xfrm>
              <a:off x="5508104" y="2134579"/>
              <a:ext cx="432048" cy="28837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0" name="Text Box 10"/>
            <p:cNvSpPr txBox="1">
              <a:spLocks noChangeArrowheads="1"/>
            </p:cNvSpPr>
            <p:nvPr/>
          </p:nvSpPr>
          <p:spPr bwMode="auto">
            <a:xfrm>
              <a:off x="6660232" y="2134578"/>
              <a:ext cx="432047" cy="28768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查询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91" name="Line 21"/>
            <p:cNvSpPr>
              <a:spLocks noChangeShapeType="1"/>
            </p:cNvSpPr>
            <p:nvPr/>
          </p:nvSpPr>
          <p:spPr bwMode="auto">
            <a:xfrm>
              <a:off x="6660232" y="1932890"/>
              <a:ext cx="0" cy="1503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Text Box 25"/>
            <p:cNvSpPr txBox="1">
              <a:spLocks noChangeArrowheads="1"/>
            </p:cNvSpPr>
            <p:nvPr/>
          </p:nvSpPr>
          <p:spPr bwMode="auto">
            <a:xfrm>
              <a:off x="7164287" y="1803002"/>
              <a:ext cx="612121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 smtClean="0">
                  <a:latin typeface="+mn-ea"/>
                  <a:ea typeface="+mn-ea"/>
                </a:rPr>
                <a:t>T</a:t>
              </a:r>
              <a:r>
                <a:rPr lang="zh-CN" altLang="en-US" sz="1800" b="1" baseline="-18000" dirty="0" smtClean="0">
                  <a:latin typeface="宋体" panose="02010600030101010101" pitchFamily="2" charset="-122"/>
                </a:rPr>
                <a:t>查询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T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93" name="Line 28"/>
            <p:cNvSpPr>
              <a:spLocks noChangeShapeType="1"/>
            </p:cNvSpPr>
            <p:nvPr/>
          </p:nvSpPr>
          <p:spPr bwMode="auto">
            <a:xfrm flipV="1">
              <a:off x="7776408" y="1969027"/>
              <a:ext cx="468000" cy="69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Line 29"/>
            <p:cNvSpPr>
              <a:spLocks noChangeShapeType="1"/>
            </p:cNvSpPr>
            <p:nvPr/>
          </p:nvSpPr>
          <p:spPr bwMode="auto">
            <a:xfrm flipH="1" flipV="1">
              <a:off x="6660229" y="1969724"/>
              <a:ext cx="4680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Line 15"/>
            <p:cNvSpPr>
              <a:spLocks noChangeShapeType="1"/>
            </p:cNvSpPr>
            <p:nvPr/>
          </p:nvSpPr>
          <p:spPr bwMode="auto">
            <a:xfrm flipV="1">
              <a:off x="6876255" y="2422610"/>
              <a:ext cx="0" cy="217736"/>
            </a:xfrm>
            <a:prstGeom prst="line">
              <a:avLst/>
            </a:prstGeom>
            <a:noFill/>
            <a:ln w="254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Text Box 9"/>
            <p:cNvSpPr txBox="1">
              <a:spLocks noChangeArrowheads="1"/>
            </p:cNvSpPr>
            <p:nvPr/>
          </p:nvSpPr>
          <p:spPr bwMode="auto">
            <a:xfrm>
              <a:off x="8460431" y="2638758"/>
              <a:ext cx="216025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8" name="Line 26"/>
            <p:cNvSpPr>
              <a:spLocks noChangeShapeType="1"/>
            </p:cNvSpPr>
            <p:nvPr/>
          </p:nvSpPr>
          <p:spPr bwMode="auto">
            <a:xfrm>
              <a:off x="8460431" y="2638758"/>
              <a:ext cx="216025" cy="31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Line 26"/>
            <p:cNvSpPr>
              <a:spLocks noChangeShapeType="1"/>
            </p:cNvSpPr>
            <p:nvPr/>
          </p:nvSpPr>
          <p:spPr bwMode="auto">
            <a:xfrm>
              <a:off x="8460431" y="2926789"/>
              <a:ext cx="216024" cy="7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Line 26"/>
            <p:cNvSpPr>
              <a:spLocks noChangeShapeType="1"/>
            </p:cNvSpPr>
            <p:nvPr/>
          </p:nvSpPr>
          <p:spPr bwMode="auto">
            <a:xfrm>
              <a:off x="8461759" y="2638634"/>
              <a:ext cx="0" cy="2881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Text Box 13"/>
            <p:cNvSpPr txBox="1">
              <a:spLocks noChangeArrowheads="1"/>
            </p:cNvSpPr>
            <p:nvPr/>
          </p:nvSpPr>
          <p:spPr bwMode="auto">
            <a:xfrm>
              <a:off x="7092280" y="2134578"/>
              <a:ext cx="288031" cy="288379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2" name="Text Box 10"/>
            <p:cNvSpPr txBox="1">
              <a:spLocks noChangeArrowheads="1"/>
            </p:cNvSpPr>
            <p:nvPr/>
          </p:nvSpPr>
          <p:spPr bwMode="auto">
            <a:xfrm>
              <a:off x="7380312" y="2134578"/>
              <a:ext cx="432047" cy="2883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查询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3" name="Text Box 10"/>
            <p:cNvSpPr txBox="1">
              <a:spLocks noChangeArrowheads="1"/>
            </p:cNvSpPr>
            <p:nvPr/>
          </p:nvSpPr>
          <p:spPr bwMode="auto">
            <a:xfrm>
              <a:off x="7812359" y="2134578"/>
              <a:ext cx="432047" cy="28768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17"/>
            <p:cNvSpPr txBox="1">
              <a:spLocks noChangeArrowheads="1"/>
            </p:cNvSpPr>
            <p:nvPr/>
          </p:nvSpPr>
          <p:spPr bwMode="auto">
            <a:xfrm>
              <a:off x="5940152" y="2134578"/>
              <a:ext cx="720080" cy="289620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其它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5" name="Line 21"/>
            <p:cNvSpPr>
              <a:spLocks noChangeShapeType="1"/>
            </p:cNvSpPr>
            <p:nvPr/>
          </p:nvSpPr>
          <p:spPr bwMode="auto">
            <a:xfrm flipH="1">
              <a:off x="5508103" y="1677130"/>
              <a:ext cx="1" cy="40608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Text Box 25"/>
            <p:cNvSpPr txBox="1">
              <a:spLocks noChangeArrowheads="1"/>
            </p:cNvSpPr>
            <p:nvPr/>
          </p:nvSpPr>
          <p:spPr bwMode="auto">
            <a:xfrm>
              <a:off x="6588224" y="1630522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07" name="Line 28"/>
            <p:cNvSpPr>
              <a:spLocks noChangeShapeType="1"/>
            </p:cNvSpPr>
            <p:nvPr/>
          </p:nvSpPr>
          <p:spPr bwMode="auto">
            <a:xfrm flipV="1">
              <a:off x="7164487" y="1773787"/>
              <a:ext cx="1077067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Line 29"/>
            <p:cNvSpPr>
              <a:spLocks noChangeShapeType="1"/>
            </p:cNvSpPr>
            <p:nvPr/>
          </p:nvSpPr>
          <p:spPr bwMode="auto">
            <a:xfrm flipH="1">
              <a:off x="5508102" y="1773787"/>
              <a:ext cx="1152128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Line 21"/>
            <p:cNvSpPr>
              <a:spLocks noChangeShapeType="1"/>
            </p:cNvSpPr>
            <p:nvPr/>
          </p:nvSpPr>
          <p:spPr bwMode="auto">
            <a:xfrm>
              <a:off x="8243079" y="1677130"/>
              <a:ext cx="1329" cy="4060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828973" y="1626186"/>
            <a:ext cx="3743028" cy="1370766"/>
            <a:chOff x="828973" y="1556793"/>
            <a:chExt cx="3743028" cy="1370766"/>
          </a:xfrm>
        </p:grpSpPr>
        <p:sp>
          <p:nvSpPr>
            <p:cNvPr id="111" name="Text Box 9"/>
            <p:cNvSpPr txBox="1">
              <a:spLocks noChangeArrowheads="1"/>
            </p:cNvSpPr>
            <p:nvPr/>
          </p:nvSpPr>
          <p:spPr bwMode="auto">
            <a:xfrm>
              <a:off x="1619672" y="2640222"/>
              <a:ext cx="252028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2" name="Text Box 12"/>
            <p:cNvSpPr txBox="1">
              <a:spLocks noChangeArrowheads="1"/>
            </p:cNvSpPr>
            <p:nvPr/>
          </p:nvSpPr>
          <p:spPr bwMode="auto">
            <a:xfrm>
              <a:off x="828973" y="2640222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3" name="Text Box 13"/>
            <p:cNvSpPr txBox="1">
              <a:spLocks noChangeArrowheads="1"/>
            </p:cNvSpPr>
            <p:nvPr/>
          </p:nvSpPr>
          <p:spPr bwMode="auto">
            <a:xfrm>
              <a:off x="828973" y="2134578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Line 15"/>
            <p:cNvSpPr>
              <a:spLocks noChangeShapeType="1"/>
            </p:cNvSpPr>
            <p:nvPr/>
          </p:nvSpPr>
          <p:spPr bwMode="auto">
            <a:xfrm>
              <a:off x="1619672" y="2424198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5"/>
            <p:cNvSpPr>
              <a:spLocks noChangeShapeType="1"/>
            </p:cNvSpPr>
            <p:nvPr/>
          </p:nvSpPr>
          <p:spPr bwMode="auto">
            <a:xfrm flipV="1">
              <a:off x="2051720" y="2422610"/>
              <a:ext cx="0" cy="217736"/>
            </a:xfrm>
            <a:prstGeom prst="line">
              <a:avLst/>
            </a:prstGeom>
            <a:noFill/>
            <a:ln w="254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5"/>
            <p:cNvSpPr>
              <a:spLocks noChangeShapeType="1"/>
            </p:cNvSpPr>
            <p:nvPr/>
          </p:nvSpPr>
          <p:spPr bwMode="auto">
            <a:xfrm flipV="1">
              <a:off x="3491880" y="2424198"/>
              <a:ext cx="0" cy="217736"/>
            </a:xfrm>
            <a:prstGeom prst="line">
              <a:avLst/>
            </a:prstGeom>
            <a:noFill/>
            <a:ln w="254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5"/>
            <p:cNvSpPr>
              <a:spLocks noChangeShapeType="1"/>
            </p:cNvSpPr>
            <p:nvPr/>
          </p:nvSpPr>
          <p:spPr bwMode="auto">
            <a:xfrm>
              <a:off x="3923928" y="2424198"/>
              <a:ext cx="0" cy="215900"/>
            </a:xfrm>
            <a:prstGeom prst="line">
              <a:avLst/>
            </a:prstGeom>
            <a:noFill/>
            <a:ln w="2540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5"/>
            <p:cNvSpPr>
              <a:spLocks noChangeShapeType="1"/>
            </p:cNvSpPr>
            <p:nvPr/>
          </p:nvSpPr>
          <p:spPr bwMode="auto">
            <a:xfrm>
              <a:off x="4355976" y="2424198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Text Box 13"/>
            <p:cNvSpPr txBox="1">
              <a:spLocks noChangeArrowheads="1"/>
            </p:cNvSpPr>
            <p:nvPr/>
          </p:nvSpPr>
          <p:spPr bwMode="auto">
            <a:xfrm>
              <a:off x="2267744" y="2134578"/>
              <a:ext cx="288031" cy="2876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0" name="Text Box 17"/>
            <p:cNvSpPr txBox="1">
              <a:spLocks noChangeArrowheads="1"/>
            </p:cNvSpPr>
            <p:nvPr/>
          </p:nvSpPr>
          <p:spPr bwMode="auto">
            <a:xfrm>
              <a:off x="4137100" y="2134579"/>
              <a:ext cx="434900" cy="28837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noFill/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Line 26"/>
            <p:cNvSpPr>
              <a:spLocks noChangeShapeType="1"/>
            </p:cNvSpPr>
            <p:nvPr/>
          </p:nvSpPr>
          <p:spPr bwMode="auto">
            <a:xfrm>
              <a:off x="4137099" y="2132857"/>
              <a:ext cx="43490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22" name="Line 26"/>
            <p:cNvSpPr>
              <a:spLocks noChangeShapeType="1"/>
            </p:cNvSpPr>
            <p:nvPr/>
          </p:nvSpPr>
          <p:spPr bwMode="auto">
            <a:xfrm>
              <a:off x="4139953" y="2422609"/>
              <a:ext cx="432048" cy="347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 lIns="0" rIns="0"/>
            <a:lstStyle/>
            <a:p>
              <a:endParaRPr lang="zh-CN" altLang="en-US" sz="1600"/>
            </a:p>
          </p:txBody>
        </p:sp>
        <p:sp>
          <p:nvSpPr>
            <p:cNvPr id="123" name="Text Box 10"/>
            <p:cNvSpPr txBox="1">
              <a:spLocks noChangeArrowheads="1"/>
            </p:cNvSpPr>
            <p:nvPr/>
          </p:nvSpPr>
          <p:spPr bwMode="auto">
            <a:xfrm>
              <a:off x="1835696" y="2134578"/>
              <a:ext cx="432048" cy="287683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查询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4" name="Text Box 17"/>
            <p:cNvSpPr txBox="1">
              <a:spLocks noChangeArrowheads="1"/>
            </p:cNvSpPr>
            <p:nvPr/>
          </p:nvSpPr>
          <p:spPr bwMode="auto">
            <a:xfrm>
              <a:off x="1403649" y="2134579"/>
              <a:ext cx="432048" cy="28837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5" name="Text Box 10"/>
            <p:cNvSpPr txBox="1">
              <a:spLocks noChangeArrowheads="1"/>
            </p:cNvSpPr>
            <p:nvPr/>
          </p:nvSpPr>
          <p:spPr bwMode="auto">
            <a:xfrm>
              <a:off x="2555777" y="2134578"/>
              <a:ext cx="432047" cy="28768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查询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6" name="Line 15"/>
            <p:cNvSpPr>
              <a:spLocks noChangeShapeType="1"/>
            </p:cNvSpPr>
            <p:nvPr/>
          </p:nvSpPr>
          <p:spPr bwMode="auto">
            <a:xfrm flipV="1">
              <a:off x="2771800" y="2422610"/>
              <a:ext cx="0" cy="217736"/>
            </a:xfrm>
            <a:prstGeom prst="line">
              <a:avLst/>
            </a:prstGeom>
            <a:noFill/>
            <a:ln w="2540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Text Box 9"/>
            <p:cNvSpPr txBox="1">
              <a:spLocks noChangeArrowheads="1"/>
            </p:cNvSpPr>
            <p:nvPr/>
          </p:nvSpPr>
          <p:spPr bwMode="auto">
            <a:xfrm>
              <a:off x="4355976" y="2638758"/>
              <a:ext cx="216025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noFill/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Line 26"/>
            <p:cNvSpPr>
              <a:spLocks noChangeShapeType="1"/>
            </p:cNvSpPr>
            <p:nvPr/>
          </p:nvSpPr>
          <p:spPr bwMode="auto">
            <a:xfrm>
              <a:off x="4355976" y="2638758"/>
              <a:ext cx="216025" cy="317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6"/>
            <p:cNvSpPr>
              <a:spLocks noChangeShapeType="1"/>
            </p:cNvSpPr>
            <p:nvPr/>
          </p:nvSpPr>
          <p:spPr bwMode="auto">
            <a:xfrm>
              <a:off x="4355976" y="2926789"/>
              <a:ext cx="216024" cy="769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6"/>
            <p:cNvSpPr>
              <a:spLocks noChangeShapeType="1"/>
            </p:cNvSpPr>
            <p:nvPr/>
          </p:nvSpPr>
          <p:spPr bwMode="auto">
            <a:xfrm>
              <a:off x="4357304" y="2638634"/>
              <a:ext cx="0" cy="288156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ash"/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Text Box 13"/>
            <p:cNvSpPr txBox="1">
              <a:spLocks noChangeArrowheads="1"/>
            </p:cNvSpPr>
            <p:nvPr/>
          </p:nvSpPr>
          <p:spPr bwMode="auto">
            <a:xfrm>
              <a:off x="2987825" y="2134578"/>
              <a:ext cx="288031" cy="288379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0" tIns="10800" rIns="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2" name="Text Box 10"/>
            <p:cNvSpPr txBox="1">
              <a:spLocks noChangeArrowheads="1"/>
            </p:cNvSpPr>
            <p:nvPr/>
          </p:nvSpPr>
          <p:spPr bwMode="auto">
            <a:xfrm>
              <a:off x="3275857" y="2134578"/>
              <a:ext cx="432047" cy="288379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查询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3" name="Text Box 10"/>
            <p:cNvSpPr txBox="1">
              <a:spLocks noChangeArrowheads="1"/>
            </p:cNvSpPr>
            <p:nvPr/>
          </p:nvSpPr>
          <p:spPr bwMode="auto">
            <a:xfrm>
              <a:off x="3707904" y="2134578"/>
              <a:ext cx="432047" cy="28768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0" tIns="10800" rIns="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Line 21"/>
            <p:cNvSpPr>
              <a:spLocks noChangeShapeType="1"/>
            </p:cNvSpPr>
            <p:nvPr/>
          </p:nvSpPr>
          <p:spPr bwMode="auto">
            <a:xfrm flipH="1">
              <a:off x="1403648" y="1628800"/>
              <a:ext cx="0" cy="4526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 flipV="1">
              <a:off x="3563952" y="1700808"/>
              <a:ext cx="5760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 flipH="1">
              <a:off x="1403648" y="1700808"/>
              <a:ext cx="576000" cy="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21"/>
            <p:cNvSpPr>
              <a:spLocks noChangeShapeType="1"/>
            </p:cNvSpPr>
            <p:nvPr/>
          </p:nvSpPr>
          <p:spPr bwMode="auto">
            <a:xfrm>
              <a:off x="4139952" y="1628800"/>
              <a:ext cx="1329" cy="4526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Line 21"/>
            <p:cNvSpPr>
              <a:spLocks noChangeShapeType="1"/>
            </p:cNvSpPr>
            <p:nvPr/>
          </p:nvSpPr>
          <p:spPr bwMode="auto">
            <a:xfrm flipH="1">
              <a:off x="1835694" y="1855145"/>
              <a:ext cx="2" cy="22634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Text Box 25"/>
            <p:cNvSpPr txBox="1">
              <a:spLocks noChangeArrowheads="1"/>
            </p:cNvSpPr>
            <p:nvPr/>
          </p:nvSpPr>
          <p:spPr bwMode="auto">
            <a:xfrm>
              <a:off x="1979712" y="1556793"/>
              <a:ext cx="2016224" cy="57606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t" anchorCtr="0"/>
            <a:lstStyle/>
            <a:p>
              <a:pPr algn="l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</a:rPr>
                <a:t>2</a:t>
              </a:r>
              <a:r>
                <a:rPr lang="zh-CN" altLang="en-US" sz="1600" b="1" dirty="0" smtClean="0">
                  <a:latin typeface="+mn-ea"/>
                </a:rPr>
                <a:t>次</a:t>
              </a:r>
              <a:r>
                <a:rPr lang="en-US" altLang="zh-CN" sz="1600" b="1" dirty="0" smtClean="0">
                  <a:latin typeface="+mn-ea"/>
                </a:rPr>
                <a:t>I/O</a:t>
              </a:r>
              <a:r>
                <a:rPr lang="zh-CN" altLang="en-US" sz="1600" b="1" dirty="0" smtClean="0">
                  <a:latin typeface="+mn-ea"/>
                </a:rPr>
                <a:t>间隔</a:t>
              </a:r>
              <a:r>
                <a:rPr lang="en-US" altLang="zh-CN" sz="1800" b="1" dirty="0" smtClean="0">
                  <a:latin typeface="+mn-ea"/>
                  <a:ea typeface="+mn-ea"/>
                </a:rPr>
                <a:t>T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I/O</a:t>
              </a:r>
              <a:endParaRPr lang="en-US" altLang="zh-CN" sz="1600" b="1" dirty="0" smtClean="0">
                <a:latin typeface="+mn-ea"/>
                <a:ea typeface="+mn-ea"/>
              </a:endParaRPr>
            </a:p>
            <a:p>
              <a:pPr algn="l">
                <a:lnSpc>
                  <a:spcPct val="105000"/>
                </a:lnSpc>
              </a:pPr>
              <a:r>
                <a:rPr lang="en-US" altLang="zh-CN" sz="1600" b="1" dirty="0" smtClean="0">
                  <a:latin typeface="+mn-ea"/>
                  <a:ea typeface="+mn-ea"/>
                </a:rPr>
                <a:t>   </a:t>
              </a:r>
              <a:r>
                <a:rPr lang="en-US" altLang="zh-CN" sz="1600" b="1" baseline="-25000" dirty="0" smtClean="0">
                  <a:latin typeface="+mn-ea"/>
                  <a:ea typeface="+mn-ea"/>
                </a:rPr>
                <a:t> </a:t>
              </a:r>
              <a:r>
                <a:rPr lang="en-US" altLang="zh-CN" sz="1600" b="1" dirty="0" smtClean="0">
                  <a:latin typeface="+mn-ea"/>
                  <a:ea typeface="+mn-ea"/>
                </a:rPr>
                <a:t>I/O</a:t>
              </a:r>
              <a:r>
                <a:rPr lang="zh-CN" altLang="en-US" sz="1600" b="1" dirty="0" smtClean="0">
                  <a:latin typeface="+mn-ea"/>
                  <a:ea typeface="+mn-ea"/>
                </a:rPr>
                <a:t>开销</a:t>
              </a:r>
              <a:r>
                <a:rPr lang="en-US" altLang="zh-CN" sz="1800" b="1" dirty="0" smtClean="0">
                  <a:latin typeface="+mn-ea"/>
                  <a:ea typeface="+mn-ea"/>
                </a:rPr>
                <a:t>T</a:t>
              </a:r>
              <a:r>
                <a:rPr lang="zh-CN" altLang="en-US" sz="1800" b="1" baseline="-18000" dirty="0" smtClean="0">
                  <a:latin typeface="宋体" panose="02010600030101010101" pitchFamily="2" charset="-122"/>
                </a:rPr>
                <a:t>查询</a:t>
              </a:r>
              <a:r>
                <a:rPr lang="en-US" altLang="zh-CN" sz="1800" b="1" baseline="-18000" dirty="0" smtClean="0">
                  <a:latin typeface="宋体" panose="02010600030101010101" pitchFamily="2" charset="-122"/>
                </a:rPr>
                <a:t>E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140" name="Line 28"/>
            <p:cNvSpPr>
              <a:spLocks noChangeShapeType="1"/>
            </p:cNvSpPr>
            <p:nvPr/>
          </p:nvSpPr>
          <p:spPr bwMode="auto">
            <a:xfrm>
              <a:off x="3707904" y="1969026"/>
              <a:ext cx="432048" cy="59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9"/>
            <p:cNvSpPr>
              <a:spLocks noChangeShapeType="1"/>
            </p:cNvSpPr>
            <p:nvPr/>
          </p:nvSpPr>
          <p:spPr bwMode="auto">
            <a:xfrm flipH="1">
              <a:off x="1835694" y="1975335"/>
              <a:ext cx="4320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6" name="线形标注 2 75"/>
          <p:cNvSpPr/>
          <p:nvPr/>
        </p:nvSpPr>
        <p:spPr bwMode="auto">
          <a:xfrm>
            <a:off x="2411760" y="3089895"/>
            <a:ext cx="1692189" cy="267097"/>
          </a:xfrm>
          <a:prstGeom prst="borderCallout2">
            <a:avLst>
              <a:gd name="adj1" fmla="val 49513"/>
              <a:gd name="adj2" fmla="val -100"/>
              <a:gd name="adj3" fmla="val 49529"/>
              <a:gd name="adj4" fmla="val -6625"/>
              <a:gd name="adj5" fmla="val -241012"/>
              <a:gd name="adj6" fmla="val -14912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读状态</a:t>
            </a:r>
            <a:r>
              <a:rPr lang="en-US" altLang="zh-CN" sz="1600" b="1" dirty="0" smtClean="0">
                <a:latin typeface="+mn-ea"/>
                <a:ea typeface="+mn-ea"/>
              </a:rPr>
              <a:t>+</a:t>
            </a:r>
            <a:r>
              <a:rPr lang="zh-CN" altLang="en-US" sz="1600" b="1" dirty="0" smtClean="0">
                <a:latin typeface="+mn-ea"/>
                <a:ea typeface="+mn-ea"/>
              </a:rPr>
              <a:t>判断状态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71" name="Text Box 200"/>
          <p:cNvSpPr txBox="1">
            <a:spLocks noChangeArrowheads="1"/>
          </p:cNvSpPr>
          <p:nvPr/>
        </p:nvSpPr>
        <p:spPr bwMode="auto">
          <a:xfrm>
            <a:off x="1475656" y="5909210"/>
            <a:ext cx="4176000" cy="28800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18000" tIns="10800" rIns="18000" bIns="10800">
            <a:noAutofit/>
          </a:bodyPr>
          <a:lstStyle/>
          <a:p>
            <a:pPr marL="805180" indent="-805180">
              <a:lnSpc>
                <a:spcPct val="90000"/>
              </a:lnSpc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 smtClean="0">
                <a:latin typeface="+mn-ea"/>
                <a:ea typeface="+mn-ea"/>
              </a:rPr>
              <a:t>U</a:t>
            </a:r>
            <a:r>
              <a:rPr lang="zh-CN" altLang="en-US" sz="1800" b="1" dirty="0" smtClean="0">
                <a:latin typeface="+mn-ea"/>
                <a:ea typeface="+mn-ea"/>
              </a:rPr>
              <a:t>盘的</a:t>
            </a:r>
            <a:r>
              <a:rPr lang="en-US" altLang="zh-CN" sz="1800" b="1" dirty="0" smtClean="0"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latin typeface="+mn-ea"/>
                <a:ea typeface="+mn-ea"/>
              </a:rPr>
              <a:t>接口是串行</a:t>
            </a:r>
            <a:r>
              <a:rPr lang="en-US" altLang="zh-CN" sz="1800" b="1" dirty="0" smtClean="0">
                <a:latin typeface="+mn-ea"/>
                <a:ea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</a:rPr>
              <a:t>并行接口？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72" name="Text Box 6"/>
          <p:cNvSpPr txBox="1">
            <a:spLocks noChangeArrowheads="1"/>
          </p:cNvSpPr>
          <p:nvPr/>
        </p:nvSpPr>
        <p:spPr bwMode="auto">
          <a:xfrm>
            <a:off x="2411635" y="764704"/>
            <a:ext cx="6408837" cy="97501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2600325" indent="-2600325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启动设备后，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立即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开始</a:t>
            </a:r>
            <a:r>
              <a:rPr lang="zh-CN" altLang="en-US" b="1" dirty="0" smtClean="0">
                <a:latin typeface="宋体" panose="02010600030101010101" pitchFamily="2" charset="-122"/>
              </a:rPr>
              <a:t>查询、直到就绪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2600325" indent="-2600325" algn="l">
              <a:lnSpc>
                <a:spcPct val="114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启动</a:t>
            </a:r>
            <a:r>
              <a:rPr lang="zh-CN" altLang="en-US" b="1" dirty="0">
                <a:latin typeface="宋体" panose="02010600030101010101" pitchFamily="2" charset="-122"/>
              </a:rPr>
              <a:t>设备后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稍后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开始</a:t>
            </a:r>
            <a:r>
              <a:rPr lang="zh-CN" altLang="en-US" b="1" dirty="0" smtClean="0">
                <a:latin typeface="宋体" panose="02010600030101010101" pitchFamily="2" charset="-122"/>
              </a:rPr>
              <a:t>查询、直到就绪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6" grpId="1" animBg="1"/>
      <p:bldP spid="7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29" name="Text Box 345"/>
          <p:cNvSpPr txBox="1">
            <a:spLocks noChangeArrowheads="1"/>
          </p:cNvSpPr>
          <p:nvPr/>
        </p:nvSpPr>
        <p:spPr bwMode="auto">
          <a:xfrm>
            <a:off x="179511" y="836712"/>
            <a:ext cx="6336705" cy="5561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接口的组织：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接口支持操作的组织：</a:t>
            </a:r>
            <a:r>
              <a:rPr lang="zh-CN" altLang="en-US" b="1" dirty="0" smtClean="0">
                <a:latin typeface="宋体" panose="02010600030101010101" pitchFamily="2" charset="-122"/>
              </a:rPr>
              <a:t>有</a:t>
            </a:r>
            <a:r>
              <a:rPr lang="en-US" altLang="zh-CN" b="1" dirty="0" smtClean="0"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latin typeface="宋体" panose="02010600030101010101" pitchFamily="2" charset="-122"/>
              </a:rPr>
              <a:t>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面向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设备操作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查询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状态操作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传送数据操作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73988-4683-4F66-921F-9DAB2D0A5067}" type="slidenum">
              <a:rPr lang="en-US" altLang="zh-CN"/>
            </a:fld>
            <a:endParaRPr lang="en-US" altLang="zh-CN"/>
          </a:p>
        </p:txBody>
      </p:sp>
      <p:sp>
        <p:nvSpPr>
          <p:cNvPr id="349196" name="Text Box 12"/>
          <p:cNvSpPr txBox="1">
            <a:spLocks noChangeArrowheads="1"/>
          </p:cNvSpPr>
          <p:nvPr/>
        </p:nvSpPr>
        <p:spPr bwMode="auto">
          <a:xfrm>
            <a:off x="1259508" y="836712"/>
            <a:ext cx="763297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</a:t>
            </a:r>
            <a:r>
              <a:rPr lang="en-US" altLang="zh-CN" sz="2000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须</a:t>
            </a:r>
            <a:r>
              <a:rPr lang="zh-CN" altLang="en-US" b="1" dirty="0">
                <a:latin typeface="宋体" panose="02010600030101010101" pitchFamily="2" charset="-122"/>
              </a:rPr>
              <a:t>设置</a:t>
            </a:r>
            <a:r>
              <a:rPr lang="zh-CN" altLang="en-US" b="1" u="sng" dirty="0">
                <a:latin typeface="宋体" panose="02010600030101010101" pitchFamily="2" charset="-122"/>
              </a:rPr>
              <a:t>状态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含就绪位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忙位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状态暂存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注：</a:t>
            </a:r>
            <a:r>
              <a:rPr lang="zh-CN" altLang="en-US" b="1" dirty="0" smtClean="0">
                <a:latin typeface="宋体" panose="02010600030101010101" pitchFamily="2" charset="-122"/>
              </a:rPr>
              <a:t>条件传送方式都需设置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控制口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含启动位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←操作中转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49216" name="Text Box 32"/>
          <p:cNvSpPr txBox="1">
            <a:spLocks noChangeArrowheads="1"/>
          </p:cNvSpPr>
          <p:nvPr/>
        </p:nvSpPr>
        <p:spPr bwMode="auto">
          <a:xfrm>
            <a:off x="179388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二、程序查询方式的</a:t>
            </a:r>
            <a:r>
              <a:rPr lang="en-US" altLang="zh-CN" dirty="0"/>
              <a:t>I/O</a:t>
            </a:r>
            <a:r>
              <a:rPr lang="zh-CN" altLang="en-US" dirty="0"/>
              <a:t>接口组织</a:t>
            </a:r>
            <a:endParaRPr lang="zh-CN" altLang="en-US" dirty="0"/>
          </a:p>
        </p:txBody>
      </p:sp>
      <p:sp>
        <p:nvSpPr>
          <p:cNvPr id="349359" name="AutoShape 17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514806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9530" name="Text Box 346"/>
          <p:cNvSpPr txBox="1">
            <a:spLocks noChangeArrowheads="1"/>
          </p:cNvSpPr>
          <p:nvPr/>
        </p:nvSpPr>
        <p:spPr bwMode="auto">
          <a:xfrm>
            <a:off x="2987824" y="2204864"/>
            <a:ext cx="6012160" cy="84328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总线事务，</a:t>
            </a:r>
            <a:r>
              <a:rPr lang="zh-CN" altLang="en-US" b="1" spc="-1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就绪</a:t>
            </a:r>
            <a:r>
              <a:rPr lang="zh-CN" altLang="en-US" b="1" spc="-100" dirty="0">
                <a:solidFill>
                  <a:srgbClr val="0070C0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转发</a:t>
            </a:r>
            <a:r>
              <a:rPr lang="zh-CN" altLang="en-US" b="1" u="sng" spc="-100" dirty="0" smtClean="0">
                <a:latin typeface="宋体" panose="02010600030101010101" pitchFamily="2" charset="-122"/>
              </a:rPr>
              <a:t>命令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到外设</a:t>
            </a:r>
            <a:endParaRPr lang="en-US" altLang="zh-CN" sz="1800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zh-CN" altLang="en-US" sz="1800" spc="-100" dirty="0" smtClean="0">
                <a:latin typeface="宋体" panose="02010600030101010101" pitchFamily="2" charset="-122"/>
              </a:rPr>
              <a:t>                                    └←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完成时</a:t>
            </a:r>
            <a:r>
              <a:rPr lang="zh-CN" altLang="en-US" sz="1800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自动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复位</a:t>
            </a:r>
            <a:endParaRPr lang="zh-CN" altLang="en-US" sz="1800" b="1" spc="-100" dirty="0">
              <a:latin typeface="宋体" panose="02010600030101010101" pitchFamily="2" charset="-122"/>
            </a:endParaRPr>
          </a:p>
        </p:txBody>
      </p:sp>
      <p:sp>
        <p:nvSpPr>
          <p:cNvPr id="349584" name="Text Box 400"/>
          <p:cNvSpPr txBox="1">
            <a:spLocks noChangeArrowheads="1"/>
          </p:cNvSpPr>
          <p:nvPr/>
        </p:nvSpPr>
        <p:spPr bwMode="auto">
          <a:xfrm>
            <a:off x="2987824" y="5323274"/>
            <a:ext cx="5904656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b="1" dirty="0" smtClean="0">
                <a:latin typeface="宋体" panose="02010600030101010101" pitchFamily="2" charset="-122"/>
              </a:rPr>
              <a:t>总线事务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状态为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最新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一直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在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检测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b="1" dirty="0">
                <a:latin typeface="宋体" panose="02010600030101010101" pitchFamily="2" charset="-122"/>
              </a:rPr>
              <a:t>总线事务</a:t>
            </a:r>
            <a:r>
              <a:rPr lang="zh-CN" altLang="en-US" b="1" spc="-100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b="1" spc="-100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就绪时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转发</a:t>
            </a:r>
            <a:r>
              <a:rPr lang="zh-CN" altLang="en-US" b="1" spc="-100" dirty="0" smtClean="0">
                <a:latin typeface="宋体" panose="02010600030101010101" pitchFamily="2" charset="-122"/>
                <a:sym typeface="+mn-ea"/>
              </a:rPr>
              <a:t>数据</a:t>
            </a:r>
            <a:r>
              <a:rPr lang="en-US" altLang="zh-CN" sz="1800" b="1" spc="-100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  <a:sym typeface="+mn-ea"/>
              </a:rPr>
              <a:t>指写操作</a:t>
            </a:r>
            <a:r>
              <a:rPr lang="en-US" altLang="zh-CN" sz="1800" b="1" spc="-100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b="1" dirty="0">
              <a:latin typeface="宋体" panose="02010600030101010101" pitchFamily="2" charset="-122"/>
            </a:endParaRPr>
          </a:p>
        </p:txBody>
      </p:sp>
      <p:grpSp>
        <p:nvGrpSpPr>
          <p:cNvPr id="205" name="组合 204"/>
          <p:cNvGrpSpPr/>
          <p:nvPr/>
        </p:nvGrpSpPr>
        <p:grpSpPr>
          <a:xfrm>
            <a:off x="1907703" y="4033481"/>
            <a:ext cx="4392489" cy="1073771"/>
            <a:chOff x="1331639" y="3723382"/>
            <a:chExt cx="4392489" cy="1073771"/>
          </a:xfrm>
        </p:grpSpPr>
        <p:sp>
          <p:nvSpPr>
            <p:cNvPr id="206" name="Text Box 177"/>
            <p:cNvSpPr txBox="1">
              <a:spLocks noChangeArrowheads="1"/>
            </p:cNvSpPr>
            <p:nvPr/>
          </p:nvSpPr>
          <p:spPr bwMode="auto">
            <a:xfrm>
              <a:off x="3851920" y="4509120"/>
              <a:ext cx="215007" cy="21589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⑵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07" name="Text Box 177"/>
            <p:cNvSpPr txBox="1">
              <a:spLocks noChangeArrowheads="1"/>
            </p:cNvSpPr>
            <p:nvPr/>
          </p:nvSpPr>
          <p:spPr bwMode="auto">
            <a:xfrm>
              <a:off x="1331640" y="4509245"/>
              <a:ext cx="216024" cy="21589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⑴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8" name="直接连接符 189"/>
            <p:cNvCxnSpPr/>
            <p:nvPr/>
          </p:nvCxnSpPr>
          <p:spPr bwMode="auto">
            <a:xfrm flipV="1">
              <a:off x="2195736" y="3723382"/>
              <a:ext cx="6350" cy="209675"/>
            </a:xfrm>
            <a:prstGeom prst="straightConnector1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09" name="Text Box 177"/>
            <p:cNvSpPr txBox="1">
              <a:spLocks noChangeArrowheads="1"/>
            </p:cNvSpPr>
            <p:nvPr/>
          </p:nvSpPr>
          <p:spPr bwMode="auto">
            <a:xfrm>
              <a:off x="1331640" y="4221088"/>
              <a:ext cx="234863" cy="21589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0" name="Text Box 177"/>
            <p:cNvSpPr txBox="1">
              <a:spLocks noChangeArrowheads="1"/>
            </p:cNvSpPr>
            <p:nvPr/>
          </p:nvSpPr>
          <p:spPr bwMode="auto">
            <a:xfrm>
              <a:off x="1331639" y="3861048"/>
              <a:ext cx="216025" cy="21589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1" name="Text Box 177"/>
            <p:cNvSpPr txBox="1">
              <a:spLocks noChangeArrowheads="1"/>
            </p:cNvSpPr>
            <p:nvPr/>
          </p:nvSpPr>
          <p:spPr bwMode="auto">
            <a:xfrm>
              <a:off x="2680953" y="4221088"/>
              <a:ext cx="234863" cy="215899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⑶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2" name="直接连接符 211"/>
            <p:cNvCxnSpPr/>
            <p:nvPr/>
          </p:nvCxnSpPr>
          <p:spPr bwMode="auto">
            <a:xfrm flipV="1">
              <a:off x="5509443" y="4653135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13" name="直接连接符 212"/>
            <p:cNvCxnSpPr/>
            <p:nvPr/>
          </p:nvCxnSpPr>
          <p:spPr bwMode="auto">
            <a:xfrm flipV="1">
              <a:off x="5508104" y="4725143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14" name="直接连接符 213"/>
            <p:cNvCxnSpPr/>
            <p:nvPr/>
          </p:nvCxnSpPr>
          <p:spPr bwMode="auto">
            <a:xfrm flipV="1">
              <a:off x="5508104" y="4797152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grpSp>
        <p:nvGrpSpPr>
          <p:cNvPr id="215" name="组合 214"/>
          <p:cNvGrpSpPr/>
          <p:nvPr/>
        </p:nvGrpSpPr>
        <p:grpSpPr>
          <a:xfrm>
            <a:off x="2123727" y="4171147"/>
            <a:ext cx="4176465" cy="936104"/>
            <a:chOff x="1547663" y="3861048"/>
            <a:chExt cx="4176465" cy="936104"/>
          </a:xfrm>
        </p:grpSpPr>
        <p:sp>
          <p:nvSpPr>
            <p:cNvPr id="216" name="Text Box 177"/>
            <p:cNvSpPr txBox="1">
              <a:spLocks noChangeArrowheads="1"/>
            </p:cNvSpPr>
            <p:nvPr/>
          </p:nvSpPr>
          <p:spPr bwMode="auto">
            <a:xfrm>
              <a:off x="4067944" y="4509120"/>
              <a:ext cx="216024" cy="21589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7" name="Text Box 177"/>
            <p:cNvSpPr txBox="1">
              <a:spLocks noChangeArrowheads="1"/>
            </p:cNvSpPr>
            <p:nvPr/>
          </p:nvSpPr>
          <p:spPr bwMode="auto">
            <a:xfrm>
              <a:off x="1547664" y="4509120"/>
              <a:ext cx="205569" cy="21589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8" name="Text Box 177"/>
            <p:cNvSpPr txBox="1">
              <a:spLocks noChangeArrowheads="1"/>
            </p:cNvSpPr>
            <p:nvPr/>
          </p:nvSpPr>
          <p:spPr bwMode="auto">
            <a:xfrm>
              <a:off x="5292080" y="4221088"/>
              <a:ext cx="205569" cy="21589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9" name="直接连接符 218"/>
            <p:cNvCxnSpPr/>
            <p:nvPr/>
          </p:nvCxnSpPr>
          <p:spPr bwMode="auto">
            <a:xfrm flipV="1">
              <a:off x="5509443" y="4653136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20" name="直接连接符 219"/>
            <p:cNvCxnSpPr/>
            <p:nvPr/>
          </p:nvCxnSpPr>
          <p:spPr bwMode="auto">
            <a:xfrm flipV="1">
              <a:off x="5508104" y="4797151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21" name="直接连接符 220"/>
            <p:cNvCxnSpPr/>
            <p:nvPr/>
          </p:nvCxnSpPr>
          <p:spPr bwMode="auto">
            <a:xfrm flipV="1">
              <a:off x="5508104" y="4725144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22" name="直接连接符 221"/>
            <p:cNvCxnSpPr/>
            <p:nvPr/>
          </p:nvCxnSpPr>
          <p:spPr bwMode="auto">
            <a:xfrm flipV="1">
              <a:off x="4644008" y="4077072"/>
              <a:ext cx="144016" cy="58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23" name="Text Box 177"/>
            <p:cNvSpPr txBox="1">
              <a:spLocks noChangeArrowheads="1"/>
            </p:cNvSpPr>
            <p:nvPr/>
          </p:nvSpPr>
          <p:spPr bwMode="auto">
            <a:xfrm>
              <a:off x="1547663" y="3861048"/>
              <a:ext cx="216025" cy="21589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dirty="0" smtClean="0">
                  <a:latin typeface="宋体" panose="02010600030101010101" pitchFamily="2" charset="-122"/>
                </a:rPr>
                <a:t>─</a:t>
              </a:r>
              <a:endParaRPr lang="en-US" altLang="zh-CN" sz="1600" dirty="0">
                <a:latin typeface="宋体" panose="02010600030101010101" pitchFamily="2" charset="-122"/>
              </a:endParaRPr>
            </a:p>
          </p:txBody>
        </p:sp>
        <p:sp>
          <p:nvSpPr>
            <p:cNvPr id="224" name="Text Box 177"/>
            <p:cNvSpPr txBox="1">
              <a:spLocks noChangeArrowheads="1"/>
            </p:cNvSpPr>
            <p:nvPr/>
          </p:nvSpPr>
          <p:spPr bwMode="auto">
            <a:xfrm>
              <a:off x="1547664" y="4221088"/>
              <a:ext cx="205569" cy="21589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9" name="AutoShape 17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0" name="线形标注 2 89"/>
          <p:cNvSpPr/>
          <p:nvPr/>
        </p:nvSpPr>
        <p:spPr bwMode="auto">
          <a:xfrm>
            <a:off x="6804248" y="4797152"/>
            <a:ext cx="1440160" cy="526122"/>
          </a:xfrm>
          <a:prstGeom prst="borderCallout2">
            <a:avLst>
              <a:gd name="adj1" fmla="val 49513"/>
              <a:gd name="adj2" fmla="val -100"/>
              <a:gd name="adj3" fmla="val 49529"/>
              <a:gd name="adj4" fmla="val -6625"/>
              <a:gd name="adj5" fmla="val -140501"/>
              <a:gd name="adj6" fmla="val -46511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异步联络方式的写入控制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99592" y="3092715"/>
            <a:ext cx="7488832" cy="2230559"/>
            <a:chOff x="1043608" y="2854625"/>
            <a:chExt cx="7488832" cy="2230559"/>
          </a:xfrm>
        </p:grpSpPr>
        <p:sp>
          <p:nvSpPr>
            <p:cNvPr id="166" name="Text Box 313"/>
            <p:cNvSpPr txBox="1">
              <a:spLocks noChangeArrowheads="1"/>
            </p:cNvSpPr>
            <p:nvPr/>
          </p:nvSpPr>
          <p:spPr bwMode="auto">
            <a:xfrm>
              <a:off x="2843808" y="4653137"/>
              <a:ext cx="1080120" cy="287709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选择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7" name="Text Box 319"/>
            <p:cNvSpPr txBox="1">
              <a:spLocks noChangeArrowheads="1"/>
            </p:cNvSpPr>
            <p:nvPr/>
          </p:nvSpPr>
          <p:spPr bwMode="auto">
            <a:xfrm>
              <a:off x="4211960" y="4005065"/>
              <a:ext cx="864096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2540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8" name="Text Box 320"/>
            <p:cNvSpPr txBox="1">
              <a:spLocks noChangeArrowheads="1"/>
            </p:cNvSpPr>
            <p:nvPr/>
          </p:nvSpPr>
          <p:spPr bwMode="auto">
            <a:xfrm>
              <a:off x="5508104" y="4005065"/>
              <a:ext cx="865361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9" name="Text Box 324"/>
            <p:cNvSpPr txBox="1">
              <a:spLocks noChangeArrowheads="1"/>
            </p:cNvSpPr>
            <p:nvPr/>
          </p:nvSpPr>
          <p:spPr bwMode="auto">
            <a:xfrm>
              <a:off x="5363071" y="3212977"/>
              <a:ext cx="721097" cy="4320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Q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S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BS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0" name="Rectangle 327"/>
            <p:cNvSpPr>
              <a:spLocks noChangeArrowheads="1"/>
            </p:cNvSpPr>
            <p:nvPr/>
          </p:nvSpPr>
          <p:spPr bwMode="auto">
            <a:xfrm>
              <a:off x="2699792" y="2996952"/>
              <a:ext cx="1728689" cy="7885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25400">
              <a:solidFill>
                <a:srgbClr val="990099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 smtClean="0">
                  <a:latin typeface="+mn-ea"/>
                  <a:ea typeface="+mn-ea"/>
                </a:rPr>
                <a:t> </a:t>
              </a:r>
              <a:r>
                <a:rPr lang="zh-CN" altLang="en-US" sz="1800" b="1" dirty="0" smtClean="0">
                  <a:latin typeface="+mn-ea"/>
                  <a:ea typeface="+mn-ea"/>
                </a:rPr>
                <a:t>状态口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/>
              <a:r>
                <a:rPr lang="en-US" altLang="zh-CN" sz="1800" b="1" dirty="0" smtClean="0">
                  <a:latin typeface="+mn-ea"/>
                  <a:ea typeface="+mn-ea"/>
                </a:rPr>
                <a:t>   …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71" name="Text Box 342"/>
            <p:cNvSpPr txBox="1">
              <a:spLocks noChangeArrowheads="1"/>
            </p:cNvSpPr>
            <p:nvPr/>
          </p:nvSpPr>
          <p:spPr bwMode="auto">
            <a:xfrm>
              <a:off x="8172400" y="2925292"/>
              <a:ext cx="360040" cy="158432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外部设备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2" name="直接连接符 171"/>
            <p:cNvCxnSpPr/>
            <p:nvPr/>
          </p:nvCxnSpPr>
          <p:spPr bwMode="auto">
            <a:xfrm>
              <a:off x="4355976" y="3573017"/>
              <a:ext cx="93610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3" name="Text Box 324"/>
            <p:cNvSpPr txBox="1">
              <a:spLocks noChangeArrowheads="1"/>
            </p:cNvSpPr>
            <p:nvPr/>
          </p:nvSpPr>
          <p:spPr bwMode="auto">
            <a:xfrm>
              <a:off x="3562871" y="3212977"/>
              <a:ext cx="721097" cy="4320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Q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S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RD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4" name="椭圆 173"/>
            <p:cNvSpPr/>
            <p:nvPr/>
          </p:nvSpPr>
          <p:spPr bwMode="auto">
            <a:xfrm>
              <a:off x="4283968" y="3536569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5" name="椭圆 174"/>
            <p:cNvSpPr/>
            <p:nvPr/>
          </p:nvSpPr>
          <p:spPr bwMode="auto">
            <a:xfrm>
              <a:off x="5292080" y="3536569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6" name="椭圆 175"/>
            <p:cNvSpPr/>
            <p:nvPr/>
          </p:nvSpPr>
          <p:spPr bwMode="auto">
            <a:xfrm>
              <a:off x="3491880" y="3536569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77" name="椭圆 176"/>
            <p:cNvSpPr/>
            <p:nvPr/>
          </p:nvSpPr>
          <p:spPr bwMode="auto">
            <a:xfrm>
              <a:off x="6084168" y="3544357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78" name="直接连接符 83"/>
            <p:cNvCxnSpPr/>
            <p:nvPr/>
          </p:nvCxnSpPr>
          <p:spPr bwMode="auto">
            <a:xfrm rot="5400000" flipH="1" flipV="1">
              <a:off x="3347654" y="3573228"/>
              <a:ext cx="144436" cy="144016"/>
            </a:xfrm>
            <a:prstGeom prst="bentConnector3">
              <a:avLst>
                <a:gd name="adj1" fmla="val 9924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" name="直接连接符 85"/>
            <p:cNvCxnSpPr/>
            <p:nvPr/>
          </p:nvCxnSpPr>
          <p:spPr bwMode="auto">
            <a:xfrm rot="16200000" flipH="1">
              <a:off x="6155966" y="3573228"/>
              <a:ext cx="144437" cy="144016"/>
            </a:xfrm>
            <a:prstGeom prst="bentConnector3">
              <a:avLst>
                <a:gd name="adj1" fmla="val 76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80" name="直接连接符 179"/>
            <p:cNvCxnSpPr/>
            <p:nvPr/>
          </p:nvCxnSpPr>
          <p:spPr bwMode="auto">
            <a:xfrm>
              <a:off x="3347864" y="3717454"/>
              <a:ext cx="3168352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1" name="Text Box 143"/>
            <p:cNvSpPr txBox="1">
              <a:spLocks noChangeArrowheads="1"/>
            </p:cNvSpPr>
            <p:nvPr/>
          </p:nvSpPr>
          <p:spPr bwMode="auto">
            <a:xfrm>
              <a:off x="4788894" y="3244948"/>
              <a:ext cx="143146" cy="216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2" name="直接连接符 90"/>
            <p:cNvCxnSpPr/>
            <p:nvPr/>
          </p:nvCxnSpPr>
          <p:spPr bwMode="auto">
            <a:xfrm flipV="1">
              <a:off x="3779912" y="3069754"/>
              <a:ext cx="792088" cy="143225"/>
            </a:xfrm>
            <a:prstGeom prst="bentConnector3">
              <a:avLst>
                <a:gd name="adj1" fmla="val -506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直接连接符 92"/>
            <p:cNvCxnSpPr/>
            <p:nvPr/>
          </p:nvCxnSpPr>
          <p:spPr bwMode="auto">
            <a:xfrm>
              <a:off x="4572002" y="3069756"/>
              <a:ext cx="216021" cy="215230"/>
            </a:xfrm>
            <a:prstGeom prst="bentConnector3">
              <a:avLst>
                <a:gd name="adj1" fmla="val -291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直接连接符 94"/>
            <p:cNvCxnSpPr/>
            <p:nvPr/>
          </p:nvCxnSpPr>
          <p:spPr bwMode="auto">
            <a:xfrm rot="16200000" flipH="1">
              <a:off x="4969921" y="3387086"/>
              <a:ext cx="212270" cy="144016"/>
            </a:xfrm>
            <a:prstGeom prst="bentConnector3">
              <a:avLst>
                <a:gd name="adj1" fmla="val 2136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185" name="直接连接符 96"/>
            <p:cNvCxnSpPr/>
            <p:nvPr/>
          </p:nvCxnSpPr>
          <p:spPr bwMode="auto">
            <a:xfrm rot="5400000" flipH="1" flipV="1">
              <a:off x="4396175" y="3613218"/>
              <a:ext cx="567675" cy="216021"/>
            </a:xfrm>
            <a:prstGeom prst="bentConnector3">
              <a:avLst>
                <a:gd name="adj1" fmla="val 10033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直接连接符 185"/>
            <p:cNvCxnSpPr/>
            <p:nvPr/>
          </p:nvCxnSpPr>
          <p:spPr bwMode="auto">
            <a:xfrm flipV="1">
              <a:off x="1763688" y="4509121"/>
              <a:ext cx="4176464" cy="49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7" name="Text Box 177"/>
            <p:cNvSpPr txBox="1">
              <a:spLocks noChangeArrowheads="1"/>
            </p:cNvSpPr>
            <p:nvPr/>
          </p:nvSpPr>
          <p:spPr bwMode="auto">
            <a:xfrm>
              <a:off x="4572000" y="3789166"/>
              <a:ext cx="288031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SD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8" name="直接连接符 187"/>
            <p:cNvCxnSpPr/>
            <p:nvPr/>
          </p:nvCxnSpPr>
          <p:spPr bwMode="auto">
            <a:xfrm flipV="1">
              <a:off x="4644008" y="4293097"/>
              <a:ext cx="0" cy="20768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9" name="直接连接符 188"/>
            <p:cNvCxnSpPr/>
            <p:nvPr/>
          </p:nvCxnSpPr>
          <p:spPr bwMode="auto">
            <a:xfrm flipV="1">
              <a:off x="5940152" y="4293097"/>
              <a:ext cx="0" cy="20768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0" name="直接连接符 189"/>
            <p:cNvCxnSpPr/>
            <p:nvPr/>
          </p:nvCxnSpPr>
          <p:spPr bwMode="auto">
            <a:xfrm>
              <a:off x="3347864" y="3785491"/>
              <a:ext cx="0" cy="715295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91" name="Text Box 318"/>
            <p:cNvSpPr txBox="1">
              <a:spLocks noChangeArrowheads="1"/>
            </p:cNvSpPr>
            <p:nvPr/>
          </p:nvSpPr>
          <p:spPr bwMode="auto">
            <a:xfrm>
              <a:off x="5148064" y="4653137"/>
              <a:ext cx="1081459" cy="287709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端口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译码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92" name="直接连接符 138"/>
            <p:cNvCxnSpPr/>
            <p:nvPr/>
          </p:nvCxnSpPr>
          <p:spPr bwMode="auto">
            <a:xfrm flipV="1">
              <a:off x="4211960" y="4797155"/>
              <a:ext cx="935669" cy="216022"/>
            </a:xfrm>
            <a:prstGeom prst="bentConnector3">
              <a:avLst>
                <a:gd name="adj1" fmla="val -39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3" name="直接连接符 192"/>
            <p:cNvCxnSpPr/>
            <p:nvPr/>
          </p:nvCxnSpPr>
          <p:spPr bwMode="auto">
            <a:xfrm>
              <a:off x="1763688" y="4796991"/>
              <a:ext cx="1090690" cy="16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4" name="直接连接符 141"/>
            <p:cNvCxnSpPr/>
            <p:nvPr/>
          </p:nvCxnSpPr>
          <p:spPr bwMode="auto">
            <a:xfrm>
              <a:off x="2699792" y="4797155"/>
              <a:ext cx="1512168" cy="216022"/>
            </a:xfrm>
            <a:prstGeom prst="bentConnector3">
              <a:avLst>
                <a:gd name="adj1" fmla="val -7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96" name="直接连接符 195"/>
            <p:cNvCxnSpPr/>
            <p:nvPr/>
          </p:nvCxnSpPr>
          <p:spPr bwMode="auto">
            <a:xfrm>
              <a:off x="6372200" y="4149081"/>
              <a:ext cx="144016" cy="3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直接连接符 90"/>
            <p:cNvCxnSpPr/>
            <p:nvPr/>
          </p:nvCxnSpPr>
          <p:spPr bwMode="auto">
            <a:xfrm flipV="1">
              <a:off x="5580112" y="3068961"/>
              <a:ext cx="936104" cy="143226"/>
            </a:xfrm>
            <a:prstGeom prst="bentConnector3">
              <a:avLst>
                <a:gd name="adj1" fmla="val -36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8" name="直接连接符 197"/>
            <p:cNvCxnSpPr/>
            <p:nvPr/>
          </p:nvCxnSpPr>
          <p:spPr bwMode="auto">
            <a:xfrm>
              <a:off x="6516216" y="3068961"/>
              <a:ext cx="165618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9" name="直接连接符 198"/>
            <p:cNvCxnSpPr/>
            <p:nvPr/>
          </p:nvCxnSpPr>
          <p:spPr bwMode="auto">
            <a:xfrm flipH="1">
              <a:off x="6516216" y="3717033"/>
              <a:ext cx="165618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0" name="直接连接符 199"/>
            <p:cNvCxnSpPr/>
            <p:nvPr/>
          </p:nvCxnSpPr>
          <p:spPr bwMode="auto">
            <a:xfrm flipH="1">
              <a:off x="6516216" y="4149081"/>
              <a:ext cx="1656184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1" name="Rectangle 327"/>
            <p:cNvSpPr>
              <a:spLocks noChangeArrowheads="1"/>
            </p:cNvSpPr>
            <p:nvPr/>
          </p:nvSpPr>
          <p:spPr bwMode="auto">
            <a:xfrm>
              <a:off x="2627784" y="2854625"/>
              <a:ext cx="3888432" cy="223055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 smtClean="0">
                  <a:latin typeface="+mn-ea"/>
                  <a:ea typeface="+mn-ea"/>
                </a:rPr>
                <a:t> 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202" name="Text Box 177"/>
            <p:cNvSpPr txBox="1">
              <a:spLocks noChangeArrowheads="1"/>
            </p:cNvSpPr>
            <p:nvPr/>
          </p:nvSpPr>
          <p:spPr bwMode="auto">
            <a:xfrm>
              <a:off x="1043608" y="4005065"/>
              <a:ext cx="56549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3" name="Text Box 177"/>
            <p:cNvSpPr txBox="1">
              <a:spLocks noChangeArrowheads="1"/>
            </p:cNvSpPr>
            <p:nvPr/>
          </p:nvSpPr>
          <p:spPr bwMode="auto">
            <a:xfrm>
              <a:off x="1043608" y="4365230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4" name="Text Box 177"/>
            <p:cNvSpPr txBox="1">
              <a:spLocks noChangeArrowheads="1"/>
            </p:cNvSpPr>
            <p:nvPr/>
          </p:nvSpPr>
          <p:spPr bwMode="auto">
            <a:xfrm>
              <a:off x="1043608" y="4653262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6" name="椭圆 225"/>
            <p:cNvSpPr/>
            <p:nvPr/>
          </p:nvSpPr>
          <p:spPr bwMode="auto">
            <a:xfrm>
              <a:off x="4932040" y="3325618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95" name="直接连接符 194"/>
            <p:cNvCxnSpPr/>
            <p:nvPr/>
          </p:nvCxnSpPr>
          <p:spPr bwMode="auto">
            <a:xfrm flipV="1">
              <a:off x="1763688" y="4149243"/>
              <a:ext cx="864096" cy="21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" name="组合 3"/>
          <p:cNvGrpSpPr/>
          <p:nvPr/>
        </p:nvGrpSpPr>
        <p:grpSpPr>
          <a:xfrm>
            <a:off x="4788024" y="3955122"/>
            <a:ext cx="1296144" cy="288031"/>
            <a:chOff x="4932040" y="3955122"/>
            <a:chExt cx="1296144" cy="288031"/>
          </a:xfrm>
        </p:grpSpPr>
        <p:cxnSp>
          <p:nvCxnSpPr>
            <p:cNvPr id="91" name="直接连接符 90"/>
            <p:cNvCxnSpPr/>
            <p:nvPr/>
          </p:nvCxnSpPr>
          <p:spPr bwMode="auto">
            <a:xfrm>
              <a:off x="6228184" y="3955542"/>
              <a:ext cx="0" cy="28761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92" name="直接连接符 91"/>
            <p:cNvCxnSpPr/>
            <p:nvPr/>
          </p:nvCxnSpPr>
          <p:spPr bwMode="auto">
            <a:xfrm>
              <a:off x="4932040" y="3955122"/>
              <a:ext cx="0" cy="28761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grpSp>
        <p:nvGrpSpPr>
          <p:cNvPr id="3" name="组合 2"/>
          <p:cNvGrpSpPr/>
          <p:nvPr/>
        </p:nvGrpSpPr>
        <p:grpSpPr>
          <a:xfrm>
            <a:off x="1691679" y="3071975"/>
            <a:ext cx="6264697" cy="2035275"/>
            <a:chOff x="1835695" y="2833885"/>
            <a:chExt cx="6264697" cy="2035275"/>
          </a:xfrm>
        </p:grpSpPr>
        <p:sp>
          <p:nvSpPr>
            <p:cNvPr id="150" name="Text Box 177"/>
            <p:cNvSpPr txBox="1">
              <a:spLocks noChangeArrowheads="1"/>
            </p:cNvSpPr>
            <p:nvPr/>
          </p:nvSpPr>
          <p:spPr bwMode="auto">
            <a:xfrm>
              <a:off x="6588224" y="2833885"/>
              <a:ext cx="1152128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⑤启动设备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1" name="Text Box 177"/>
            <p:cNvSpPr txBox="1">
              <a:spLocks noChangeArrowheads="1"/>
            </p:cNvSpPr>
            <p:nvPr/>
          </p:nvSpPr>
          <p:spPr bwMode="auto">
            <a:xfrm>
              <a:off x="6588224" y="3480393"/>
              <a:ext cx="1512168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⑦设备工作结束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2" name="Text Box 177"/>
            <p:cNvSpPr txBox="1">
              <a:spLocks noChangeArrowheads="1"/>
            </p:cNvSpPr>
            <p:nvPr/>
          </p:nvSpPr>
          <p:spPr bwMode="auto">
            <a:xfrm>
              <a:off x="6588224" y="3912441"/>
              <a:ext cx="720080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⑥数据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3" name="Text Box 177"/>
            <p:cNvSpPr txBox="1">
              <a:spLocks noChangeArrowheads="1"/>
            </p:cNvSpPr>
            <p:nvPr/>
          </p:nvSpPr>
          <p:spPr bwMode="auto">
            <a:xfrm>
              <a:off x="3524538" y="3013000"/>
              <a:ext cx="216023" cy="180000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4" name="Text Box 177"/>
            <p:cNvSpPr txBox="1">
              <a:spLocks noChangeArrowheads="1"/>
            </p:cNvSpPr>
            <p:nvPr/>
          </p:nvSpPr>
          <p:spPr bwMode="auto">
            <a:xfrm>
              <a:off x="4951090" y="3129878"/>
              <a:ext cx="215589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5" name="Text Box 177"/>
            <p:cNvSpPr txBox="1">
              <a:spLocks noChangeArrowheads="1"/>
            </p:cNvSpPr>
            <p:nvPr/>
          </p:nvSpPr>
          <p:spPr bwMode="auto">
            <a:xfrm>
              <a:off x="4697177" y="4310456"/>
              <a:ext cx="234863" cy="180000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177"/>
            <p:cNvSpPr txBox="1">
              <a:spLocks noChangeArrowheads="1"/>
            </p:cNvSpPr>
            <p:nvPr/>
          </p:nvSpPr>
          <p:spPr bwMode="auto">
            <a:xfrm>
              <a:off x="4355976" y="4581127"/>
              <a:ext cx="234863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Text Box 177"/>
            <p:cNvSpPr txBox="1">
              <a:spLocks noChangeArrowheads="1"/>
            </p:cNvSpPr>
            <p:nvPr/>
          </p:nvSpPr>
          <p:spPr bwMode="auto">
            <a:xfrm>
              <a:off x="1835697" y="4574200"/>
              <a:ext cx="216024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Text Box 177"/>
            <p:cNvSpPr txBox="1">
              <a:spLocks noChangeArrowheads="1"/>
            </p:cNvSpPr>
            <p:nvPr/>
          </p:nvSpPr>
          <p:spPr bwMode="auto">
            <a:xfrm>
              <a:off x="1835695" y="3926128"/>
              <a:ext cx="216025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→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9" name="Text Box 177"/>
            <p:cNvSpPr txBox="1">
              <a:spLocks noChangeArrowheads="1"/>
            </p:cNvSpPr>
            <p:nvPr/>
          </p:nvSpPr>
          <p:spPr bwMode="auto">
            <a:xfrm>
              <a:off x="1835695" y="4286168"/>
              <a:ext cx="216025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0" name="直接连接符 159"/>
            <p:cNvCxnSpPr/>
            <p:nvPr/>
          </p:nvCxnSpPr>
          <p:spPr bwMode="auto">
            <a:xfrm flipV="1">
              <a:off x="6229523" y="4797150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1" name="直接连接符 160"/>
            <p:cNvCxnSpPr/>
            <p:nvPr/>
          </p:nvCxnSpPr>
          <p:spPr bwMode="auto">
            <a:xfrm flipV="1">
              <a:off x="6228184" y="4725142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2" name="直接连接符 161"/>
            <p:cNvCxnSpPr/>
            <p:nvPr/>
          </p:nvCxnSpPr>
          <p:spPr bwMode="auto">
            <a:xfrm flipV="1">
              <a:off x="6228184" y="4869159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163" name="直接连接符 162"/>
            <p:cNvCxnSpPr/>
            <p:nvPr/>
          </p:nvCxnSpPr>
          <p:spPr bwMode="auto">
            <a:xfrm flipV="1">
              <a:off x="4067944" y="4148869"/>
              <a:ext cx="144016" cy="58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9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4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495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495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9196" grpId="0"/>
      <p:bldP spid="90" grpId="0" animBg="1"/>
      <p:bldP spid="90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Box 4"/>
          <p:cNvSpPr txBox="1">
            <a:spLocks noChangeArrowheads="1"/>
          </p:cNvSpPr>
          <p:nvPr/>
        </p:nvSpPr>
        <p:spPr bwMode="auto">
          <a:xfrm>
            <a:off x="179512" y="831483"/>
            <a:ext cx="6192688" cy="1938992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接口的组织：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接口支持操作的组织：</a:t>
            </a:r>
            <a:r>
              <a:rPr lang="zh-CN" altLang="en-US" b="1" dirty="0" smtClean="0">
                <a:latin typeface="宋体" panose="02010600030101010101" pitchFamily="2" charset="-122"/>
              </a:rPr>
              <a:t>仅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</a:rPr>
              <a:t>种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面向主机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传送操作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19BA2-27F5-4F77-BDC2-FD186FD2A2A8}" type="slidenum">
              <a:rPr lang="en-US" altLang="zh-CN"/>
            </a:fld>
            <a:endParaRPr lang="en-US" altLang="zh-CN"/>
          </a:p>
        </p:txBody>
      </p:sp>
      <p:sp>
        <p:nvSpPr>
          <p:cNvPr id="352260" name="Text Box 4"/>
          <p:cNvSpPr txBox="1">
            <a:spLocks noChangeArrowheads="1"/>
          </p:cNvSpPr>
          <p:nvPr/>
        </p:nvSpPr>
        <p:spPr bwMode="auto">
          <a:xfrm>
            <a:off x="179388" y="348378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三、直接传送方式的</a:t>
            </a:r>
            <a:r>
              <a:rPr lang="en-US" altLang="zh-CN" dirty="0"/>
              <a:t>I/O</a:t>
            </a:r>
            <a:r>
              <a:rPr lang="zh-CN" altLang="en-US" dirty="0"/>
              <a:t>组织</a:t>
            </a:r>
            <a:endParaRPr lang="zh-CN" altLang="en-US" dirty="0"/>
          </a:p>
        </p:txBody>
      </p:sp>
      <p:sp>
        <p:nvSpPr>
          <p:cNvPr id="352261" name="Text Box 5"/>
          <p:cNvSpPr txBox="1">
            <a:spLocks noChangeArrowheads="1"/>
          </p:cNvSpPr>
          <p:nvPr/>
        </p:nvSpPr>
        <p:spPr bwMode="auto">
          <a:xfrm>
            <a:off x="2555278" y="828575"/>
            <a:ext cx="6337202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可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随时</a:t>
            </a:r>
            <a:r>
              <a:rPr lang="zh-CN" altLang="en-US" b="1" dirty="0" smtClean="0">
                <a:latin typeface="宋体" panose="02010600030101010101" pitchFamily="2" charset="-122"/>
              </a:rPr>
              <a:t>进行数据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启动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查询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只有</a:t>
            </a:r>
            <a:r>
              <a:rPr lang="zh-CN" altLang="en-US" b="1" u="sng" dirty="0">
                <a:latin typeface="宋体" panose="02010600030101010101" pitchFamily="2" charset="-122"/>
              </a:rPr>
              <a:t>数据口</a:t>
            </a:r>
            <a:r>
              <a:rPr lang="zh-CN" altLang="en-US" b="1" dirty="0">
                <a:latin typeface="宋体" panose="02010600030101010101" pitchFamily="2" charset="-122"/>
              </a:rPr>
              <a:t>，必是</a:t>
            </a:r>
            <a:r>
              <a:rPr lang="zh-CN" altLang="en-US" b="1" dirty="0" smtClean="0">
                <a:latin typeface="宋体" panose="02010600030101010101" pitchFamily="2" charset="-122"/>
              </a:rPr>
              <a:t>并行接口 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←串行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性</a:t>
            </a:r>
            <a:r>
              <a:rPr lang="en-US" altLang="zh-CN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价低</a:t>
            </a:r>
            <a:endParaRPr lang="en-US" altLang="zh-CN" sz="1600" b="1" dirty="0" smtClean="0">
              <a:solidFill>
                <a:srgbClr val="9900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sz="20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完成</a:t>
            </a:r>
            <a:r>
              <a:rPr lang="zh-CN" altLang="en-US" b="1" dirty="0">
                <a:latin typeface="宋体" panose="02010600030101010101" pitchFamily="2" charset="-122"/>
              </a:rPr>
              <a:t>总线</a:t>
            </a:r>
            <a:r>
              <a:rPr lang="zh-CN" altLang="en-US" b="1" dirty="0" smtClean="0">
                <a:latin typeface="宋体" panose="02010600030101010101" pitchFamily="2" charset="-122"/>
              </a:rPr>
              <a:t>事务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读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写数据口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已缓冲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立即转发</a:t>
            </a:r>
            <a:r>
              <a:rPr lang="en-US" altLang="zh-CN" sz="1800" b="1" dirty="0">
                <a:latin typeface="宋体" panose="02010600030101010101" pitchFamily="2" charset="-122"/>
              </a:rPr>
              <a:t>])</a:t>
            </a:r>
            <a:endParaRPr lang="zh-CN" altLang="en-US" sz="1600" b="1" dirty="0">
              <a:latin typeface="宋体" panose="02010600030101010101" pitchFamily="2" charset="-122"/>
            </a:endParaRPr>
          </a:p>
        </p:txBody>
      </p:sp>
      <p:sp>
        <p:nvSpPr>
          <p:cNvPr id="352267" name="AutoShape 11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5148064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2270" name="Text Box 14"/>
          <p:cNvSpPr txBox="1">
            <a:spLocks noChangeArrowheads="1"/>
          </p:cNvSpPr>
          <p:nvPr/>
        </p:nvSpPr>
        <p:spPr bwMode="auto">
          <a:xfrm>
            <a:off x="179388" y="2708920"/>
            <a:ext cx="8821768" cy="14138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2—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某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位总线上的并行输出</a:t>
            </a:r>
            <a:r>
              <a:rPr lang="zh-CN" altLang="en-US" sz="2200" b="1" dirty="0">
                <a:latin typeface="宋体" panose="02010600030101010101" pitchFamily="2" charset="-122"/>
              </a:rPr>
              <a:t>接口采用直接传送方式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工作、数据口地址为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0060H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>
                <a:latin typeface="宋体" panose="02010600030101010101" pitchFamily="2" charset="-122"/>
              </a:rPr>
              <a:t>8</a:t>
            </a:r>
            <a:r>
              <a:rPr lang="zh-CN" altLang="en-US" sz="2200" b="1" dirty="0">
                <a:latin typeface="宋体" panose="02010600030101010101" pitchFamily="2" charset="-122"/>
              </a:rPr>
              <a:t>个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信号灯连接在该并行接口上，编写不停地轮流</a:t>
            </a:r>
            <a:r>
              <a:rPr lang="zh-CN" altLang="en-US" sz="2200" b="1" dirty="0">
                <a:latin typeface="宋体" panose="02010600030101010101" pitchFamily="2" charset="-122"/>
              </a:rPr>
              <a:t>点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亮各个信号灯并保持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的</a:t>
            </a:r>
            <a:r>
              <a:rPr lang="en-US" altLang="zh-CN" sz="2200" b="1" dirty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语言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程序段。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52271" name="Text Box 15"/>
          <p:cNvSpPr txBox="1">
            <a:spLocks noChangeArrowheads="1"/>
          </p:cNvSpPr>
          <p:nvPr/>
        </p:nvSpPr>
        <p:spPr bwMode="auto">
          <a:xfrm>
            <a:off x="3563888" y="4431883"/>
            <a:ext cx="5112568" cy="21236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000" b="1" dirty="0">
                <a:latin typeface="宋体" panose="02010600030101010101" pitchFamily="2" charset="-122"/>
              </a:rPr>
              <a:t>BYTE Lamp[8]={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0xFE</a:t>
            </a:r>
            <a:r>
              <a:rPr lang="en-US" altLang="zh-CN" sz="2000" b="1" dirty="0">
                <a:latin typeface="宋体" panose="02010600030101010101" pitchFamily="2" charset="-122"/>
              </a:rPr>
              <a:t>,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0xFD</a:t>
            </a:r>
            <a:r>
              <a:rPr lang="en-US" altLang="zh-CN" sz="2000" b="1" dirty="0">
                <a:latin typeface="宋体" panose="02010600030101010101" pitchFamily="2" charset="-122"/>
              </a:rPr>
              <a:t>,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0xFB</a:t>
            </a:r>
            <a:r>
              <a:rPr lang="en-US" altLang="zh-CN" sz="2000" b="1" dirty="0">
                <a:latin typeface="宋体" panose="02010600030101010101" pitchFamily="2" charset="-122"/>
              </a:rPr>
              <a:t>,</a:t>
            </a:r>
            <a:r>
              <a:rPr lang="en-US" altLang="zh-CN" sz="2000" b="1" dirty="0">
                <a:solidFill>
                  <a:srgbClr val="CC3300"/>
                </a:solidFill>
                <a:latin typeface="宋体" panose="02010600030101010101" pitchFamily="2" charset="-122"/>
              </a:rPr>
              <a:t>0xF7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,…}</a:t>
            </a:r>
            <a:r>
              <a:rPr lang="en-US" altLang="zh-CN" sz="2000" b="1" dirty="0" smtClean="0">
                <a:latin typeface="+mn-lt"/>
              </a:rPr>
              <a:t>;</a:t>
            </a:r>
            <a:endParaRPr lang="en-US" altLang="zh-CN" sz="2000" b="1" dirty="0" smtClean="0">
              <a:latin typeface="+mn-lt"/>
            </a:endParaRPr>
          </a:p>
          <a:p>
            <a:pPr algn="l"/>
            <a:r>
              <a:rPr lang="en-US" altLang="zh-CN" sz="2000" b="1" dirty="0" smtClean="0">
                <a:latin typeface="宋体" panose="02010600030101010101" pitchFamily="2" charset="-122"/>
              </a:rPr>
              <a:t>while </a:t>
            </a:r>
            <a:r>
              <a:rPr lang="en-US" altLang="zh-CN" sz="2000" b="1" dirty="0">
                <a:latin typeface="宋体" panose="02010600030101010101" pitchFamily="2" charset="-122"/>
              </a:rPr>
              <a:t>( !</a:t>
            </a:r>
            <a:r>
              <a:rPr lang="en-US" altLang="zh-CN" sz="2000" b="1" dirty="0" err="1">
                <a:latin typeface="宋体" panose="02010600030101010101" pitchFamily="2" charset="-122"/>
              </a:rPr>
              <a:t>kbhit</a:t>
            </a:r>
            <a:r>
              <a:rPr lang="en-US" altLang="zh-CN" sz="2000" b="1" dirty="0">
                <a:latin typeface="宋体" panose="02010600030101010101" pitchFamily="2" charset="-122"/>
              </a:rPr>
              <a:t>()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){  </a:t>
            </a:r>
            <a:endParaRPr lang="en-US" altLang="zh-CN" sz="2000" b="1" dirty="0">
              <a:latin typeface="+mn-lt"/>
            </a:endParaRPr>
          </a:p>
          <a:p>
            <a:pPr algn="l"/>
            <a:r>
              <a:rPr lang="en-US" altLang="zh-CN" sz="2000" b="1" dirty="0">
                <a:latin typeface="宋体" panose="02010600030101010101" pitchFamily="2" charset="-122"/>
              </a:rPr>
              <a:t>   for ( </a:t>
            </a:r>
            <a:r>
              <a:rPr lang="en-US" altLang="zh-CN" sz="2000" b="1" dirty="0" err="1">
                <a:latin typeface="宋体" panose="02010600030101010101" pitchFamily="2" charset="-122"/>
              </a:rPr>
              <a:t>int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i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=0</a:t>
            </a:r>
            <a:r>
              <a:rPr lang="en-US" altLang="zh-CN" sz="2000" b="1" dirty="0">
                <a:latin typeface="+mn-lt"/>
              </a:rPr>
              <a:t>;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i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&lt;8</a:t>
            </a:r>
            <a:r>
              <a:rPr lang="en-US" altLang="zh-CN" sz="2000" b="1" dirty="0">
                <a:latin typeface="+mn-lt"/>
              </a:rPr>
              <a:t>;</a:t>
            </a:r>
            <a:r>
              <a:rPr lang="en-US" altLang="zh-CN" sz="2000" b="1" dirty="0">
                <a:latin typeface="宋体" panose="02010600030101010101" pitchFamily="2" charset="-122"/>
              </a:rPr>
              <a:t> </a:t>
            </a:r>
            <a:r>
              <a:rPr lang="en-US" altLang="zh-CN" sz="2000" b="1" dirty="0" err="1">
                <a:latin typeface="宋体" panose="02010600030101010101" pitchFamily="2" charset="-122"/>
              </a:rPr>
              <a:t>i</a:t>
            </a:r>
            <a:r>
              <a:rPr lang="en-US" altLang="zh-CN" sz="2000" b="1" dirty="0">
                <a:latin typeface="宋体" panose="02010600030101010101" pitchFamily="2" charset="-122"/>
              </a:rPr>
              <a:t>++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){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/>
            <a:r>
              <a:rPr lang="en-US" altLang="zh-CN" sz="2000" b="1" dirty="0" smtClean="0">
                <a:latin typeface="宋体" panose="02010600030101010101" pitchFamily="2" charset="-122"/>
              </a:rPr>
              <a:t>       </a:t>
            </a:r>
            <a:r>
              <a:rPr lang="en-US" altLang="zh-CN" sz="2000" b="1" dirty="0" err="1" smtClean="0">
                <a:solidFill>
                  <a:srgbClr val="FF3399"/>
                </a:solidFill>
                <a:latin typeface="宋体" panose="02010600030101010101" pitchFamily="2" charset="-122"/>
              </a:rPr>
              <a:t>outp</a:t>
            </a:r>
            <a:r>
              <a:rPr lang="en-US" altLang="zh-CN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(0x0060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, Lamp[</a:t>
            </a:r>
            <a:r>
              <a:rPr lang="en-US" altLang="zh-CN" sz="2000" b="1" dirty="0" err="1">
                <a:solidFill>
                  <a:srgbClr val="FF3399"/>
                </a:solidFill>
                <a:latin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rgbClr val="FF3399"/>
                </a:solidFill>
                <a:latin typeface="宋体" panose="02010600030101010101" pitchFamily="2" charset="-122"/>
              </a:rPr>
              <a:t>])</a:t>
            </a:r>
            <a:r>
              <a:rPr lang="en-US" altLang="zh-CN" sz="2000" b="1" dirty="0">
                <a:solidFill>
                  <a:srgbClr val="FF3399"/>
                </a:solidFill>
                <a:latin typeface="+mn-lt"/>
              </a:rPr>
              <a:t>;</a:t>
            </a:r>
            <a:endParaRPr lang="en-US" altLang="zh-CN" sz="2000" b="1" dirty="0">
              <a:solidFill>
                <a:srgbClr val="FF3399"/>
              </a:solidFill>
              <a:latin typeface="+mn-lt"/>
            </a:endParaRPr>
          </a:p>
          <a:p>
            <a:pPr algn="l"/>
            <a:r>
              <a:rPr lang="en-US" altLang="zh-CN" sz="2000" b="1" dirty="0">
                <a:latin typeface="宋体" panose="02010600030101010101" pitchFamily="2" charset="-122"/>
              </a:rPr>
              <a:t>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Sleep(1000)</a:t>
            </a:r>
            <a:r>
              <a:rPr lang="en-US" altLang="zh-CN" sz="2000" b="1" dirty="0" smtClean="0">
                <a:latin typeface="+mn-lt"/>
              </a:rPr>
              <a:t>;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  //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延迟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1s</a:t>
            </a:r>
            <a:endParaRPr lang="zh-CN" altLang="en-US" sz="2000" b="1" dirty="0">
              <a:latin typeface="宋体" panose="02010600030101010101" pitchFamily="2" charset="-122"/>
            </a:endParaRPr>
          </a:p>
          <a:p>
            <a:pPr algn="l">
              <a:lnSpc>
                <a:spcPct val="80000"/>
              </a:lnSpc>
            </a:pPr>
            <a:r>
              <a:rPr lang="zh-CN" altLang="en-US" sz="2000" b="1" dirty="0">
                <a:latin typeface="宋体" panose="02010600030101010101" pitchFamily="2" charset="-122"/>
              </a:rPr>
              <a:t>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}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80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}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352272" name="Group 16"/>
          <p:cNvGrpSpPr/>
          <p:nvPr/>
        </p:nvGrpSpPr>
        <p:grpSpPr bwMode="auto">
          <a:xfrm>
            <a:off x="467544" y="4063535"/>
            <a:ext cx="2778125" cy="1871663"/>
            <a:chOff x="676" y="1752"/>
            <a:chExt cx="1750" cy="1179"/>
          </a:xfrm>
        </p:grpSpPr>
        <p:sp>
          <p:nvSpPr>
            <p:cNvPr id="352273" name="Line 17"/>
            <p:cNvSpPr>
              <a:spLocks noChangeShapeType="1"/>
            </p:cNvSpPr>
            <p:nvPr/>
          </p:nvSpPr>
          <p:spPr bwMode="auto">
            <a:xfrm>
              <a:off x="994" y="197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74" name="Line 18"/>
            <p:cNvSpPr>
              <a:spLocks noChangeShapeType="1"/>
            </p:cNvSpPr>
            <p:nvPr/>
          </p:nvSpPr>
          <p:spPr bwMode="auto">
            <a:xfrm flipV="1">
              <a:off x="676" y="2115"/>
              <a:ext cx="174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75" name="Line 19"/>
            <p:cNvSpPr>
              <a:spLocks noChangeShapeType="1"/>
            </p:cNvSpPr>
            <p:nvPr/>
          </p:nvSpPr>
          <p:spPr bwMode="auto">
            <a:xfrm>
              <a:off x="1992" y="1978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76" name="Line 20"/>
            <p:cNvSpPr>
              <a:spLocks noChangeShapeType="1"/>
            </p:cNvSpPr>
            <p:nvPr/>
          </p:nvSpPr>
          <p:spPr bwMode="auto">
            <a:xfrm>
              <a:off x="1793" y="2114"/>
              <a:ext cx="0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77" name="Text Box 21"/>
            <p:cNvSpPr txBox="1">
              <a:spLocks noChangeArrowheads="1"/>
            </p:cNvSpPr>
            <p:nvPr/>
          </p:nvSpPr>
          <p:spPr bwMode="auto">
            <a:xfrm>
              <a:off x="676" y="2251"/>
              <a:ext cx="272" cy="318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b="1" dirty="0"/>
                <a:t>…</a:t>
              </a:r>
              <a:endParaRPr lang="en-US" altLang="zh-CN" b="1" dirty="0"/>
            </a:p>
          </p:txBody>
        </p:sp>
        <p:sp>
          <p:nvSpPr>
            <p:cNvPr id="352278" name="Text Box 22"/>
            <p:cNvSpPr txBox="1">
              <a:spLocks noChangeArrowheads="1"/>
            </p:cNvSpPr>
            <p:nvPr/>
          </p:nvSpPr>
          <p:spPr bwMode="auto">
            <a:xfrm>
              <a:off x="768" y="1752"/>
              <a:ext cx="479" cy="22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2000" b="1" dirty="0">
                  <a:latin typeface="宋体" panose="02010600030101010101" pitchFamily="2" charset="-122"/>
                </a:rPr>
                <a:t>CPU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52279" name="Text Box 23"/>
            <p:cNvSpPr txBox="1">
              <a:spLocks noChangeArrowheads="1"/>
            </p:cNvSpPr>
            <p:nvPr/>
          </p:nvSpPr>
          <p:spPr bwMode="auto">
            <a:xfrm>
              <a:off x="1713" y="1752"/>
              <a:ext cx="551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2000" b="1">
                  <a:latin typeface="宋体" panose="02010600030101010101" pitchFamily="2" charset="-122"/>
                </a:rPr>
                <a:t>主存</a:t>
              </a:r>
              <a:endParaRPr lang="zh-CN" altLang="en-US" sz="2000" b="1">
                <a:latin typeface="宋体" panose="02010600030101010101" pitchFamily="2" charset="-122"/>
              </a:endParaRPr>
            </a:p>
          </p:txBody>
        </p:sp>
        <p:sp>
          <p:nvSpPr>
            <p:cNvPr id="352280" name="Text Box 24"/>
            <p:cNvSpPr txBox="1">
              <a:spLocks noChangeArrowheads="1"/>
            </p:cNvSpPr>
            <p:nvPr/>
          </p:nvSpPr>
          <p:spPr bwMode="auto">
            <a:xfrm>
              <a:off x="974" y="2251"/>
              <a:ext cx="1452" cy="22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2000" b="1" dirty="0" smtClean="0">
                  <a:latin typeface="宋体" panose="02010600030101010101" pitchFamily="2" charset="-122"/>
                </a:rPr>
                <a:t>并行输出接口</a:t>
              </a:r>
              <a:endParaRPr lang="zh-CN" altLang="en-US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352281" name="Text Box 25"/>
            <p:cNvSpPr txBox="1">
              <a:spLocks noChangeArrowheads="1"/>
            </p:cNvSpPr>
            <p:nvPr/>
          </p:nvSpPr>
          <p:spPr bwMode="auto">
            <a:xfrm>
              <a:off x="696" y="2744"/>
              <a:ext cx="253" cy="18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>
                  <a:latin typeface="宋体" panose="02010600030101010101" pitchFamily="2" charset="-122"/>
                </a:rPr>
                <a:t>+5V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grpSp>
          <p:nvGrpSpPr>
            <p:cNvPr id="352282" name="Group 26"/>
            <p:cNvGrpSpPr/>
            <p:nvPr/>
          </p:nvGrpSpPr>
          <p:grpSpPr bwMode="auto">
            <a:xfrm>
              <a:off x="1007" y="2573"/>
              <a:ext cx="144" cy="144"/>
              <a:chOff x="2208" y="3072"/>
              <a:chExt cx="144" cy="144"/>
            </a:xfrm>
          </p:grpSpPr>
          <p:sp>
            <p:nvSpPr>
              <p:cNvPr id="352283" name="Oval 27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284" name="Line 28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285" name="Line 29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286" name="Line 30"/>
            <p:cNvSpPr>
              <a:spLocks noChangeShapeType="1"/>
            </p:cNvSpPr>
            <p:nvPr/>
          </p:nvSpPr>
          <p:spPr bwMode="auto">
            <a:xfrm flipV="1">
              <a:off x="994" y="2840"/>
              <a:ext cx="1361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87" name="Line 31"/>
            <p:cNvSpPr>
              <a:spLocks noChangeShapeType="1"/>
            </p:cNvSpPr>
            <p:nvPr/>
          </p:nvSpPr>
          <p:spPr bwMode="auto">
            <a:xfrm>
              <a:off x="1080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88" name="Line 32"/>
            <p:cNvSpPr>
              <a:spLocks noChangeShapeType="1"/>
            </p:cNvSpPr>
            <p:nvPr/>
          </p:nvSpPr>
          <p:spPr bwMode="auto">
            <a:xfrm>
              <a:off x="1080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289" name="Group 33"/>
            <p:cNvGrpSpPr/>
            <p:nvPr/>
          </p:nvGrpSpPr>
          <p:grpSpPr bwMode="auto">
            <a:xfrm>
              <a:off x="1174" y="2573"/>
              <a:ext cx="144" cy="144"/>
              <a:chOff x="2208" y="3072"/>
              <a:chExt cx="144" cy="144"/>
            </a:xfrm>
          </p:grpSpPr>
          <p:sp>
            <p:nvSpPr>
              <p:cNvPr id="352290" name="Oval 34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291" name="Line 35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292" name="Line 36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293" name="Line 37"/>
            <p:cNvSpPr>
              <a:spLocks noChangeShapeType="1"/>
            </p:cNvSpPr>
            <p:nvPr/>
          </p:nvSpPr>
          <p:spPr bwMode="auto">
            <a:xfrm>
              <a:off x="1247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294" name="Line 38"/>
            <p:cNvSpPr>
              <a:spLocks noChangeShapeType="1"/>
            </p:cNvSpPr>
            <p:nvPr/>
          </p:nvSpPr>
          <p:spPr bwMode="auto">
            <a:xfrm>
              <a:off x="1247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295" name="Group 39"/>
            <p:cNvGrpSpPr/>
            <p:nvPr/>
          </p:nvGrpSpPr>
          <p:grpSpPr bwMode="auto">
            <a:xfrm>
              <a:off x="1355" y="2573"/>
              <a:ext cx="144" cy="144"/>
              <a:chOff x="2208" y="3072"/>
              <a:chExt cx="144" cy="144"/>
            </a:xfrm>
          </p:grpSpPr>
          <p:sp>
            <p:nvSpPr>
              <p:cNvPr id="352296" name="Oval 40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297" name="Line 41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298" name="Line 42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299" name="Line 43"/>
            <p:cNvSpPr>
              <a:spLocks noChangeShapeType="1"/>
            </p:cNvSpPr>
            <p:nvPr/>
          </p:nvSpPr>
          <p:spPr bwMode="auto">
            <a:xfrm>
              <a:off x="1428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00" name="Line 44"/>
            <p:cNvSpPr>
              <a:spLocks noChangeShapeType="1"/>
            </p:cNvSpPr>
            <p:nvPr/>
          </p:nvSpPr>
          <p:spPr bwMode="auto">
            <a:xfrm>
              <a:off x="1428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301" name="Group 45"/>
            <p:cNvGrpSpPr/>
            <p:nvPr/>
          </p:nvGrpSpPr>
          <p:grpSpPr bwMode="auto">
            <a:xfrm>
              <a:off x="1537" y="2573"/>
              <a:ext cx="144" cy="144"/>
              <a:chOff x="2208" y="3072"/>
              <a:chExt cx="144" cy="144"/>
            </a:xfrm>
          </p:grpSpPr>
          <p:sp>
            <p:nvSpPr>
              <p:cNvPr id="352302" name="Oval 46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303" name="Line 47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304" name="Line 48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305" name="Line 49"/>
            <p:cNvSpPr>
              <a:spLocks noChangeShapeType="1"/>
            </p:cNvSpPr>
            <p:nvPr/>
          </p:nvSpPr>
          <p:spPr bwMode="auto">
            <a:xfrm>
              <a:off x="1610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06" name="Line 50"/>
            <p:cNvSpPr>
              <a:spLocks noChangeShapeType="1"/>
            </p:cNvSpPr>
            <p:nvPr/>
          </p:nvSpPr>
          <p:spPr bwMode="auto">
            <a:xfrm>
              <a:off x="1610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307" name="Group 51"/>
            <p:cNvGrpSpPr/>
            <p:nvPr/>
          </p:nvGrpSpPr>
          <p:grpSpPr bwMode="auto">
            <a:xfrm>
              <a:off x="1718" y="2573"/>
              <a:ext cx="144" cy="144"/>
              <a:chOff x="2208" y="3072"/>
              <a:chExt cx="144" cy="144"/>
            </a:xfrm>
          </p:grpSpPr>
          <p:sp>
            <p:nvSpPr>
              <p:cNvPr id="352308" name="Oval 52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309" name="Line 53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310" name="Line 54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311" name="Line 55"/>
            <p:cNvSpPr>
              <a:spLocks noChangeShapeType="1"/>
            </p:cNvSpPr>
            <p:nvPr/>
          </p:nvSpPr>
          <p:spPr bwMode="auto">
            <a:xfrm>
              <a:off x="1791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12" name="Line 56"/>
            <p:cNvSpPr>
              <a:spLocks noChangeShapeType="1"/>
            </p:cNvSpPr>
            <p:nvPr/>
          </p:nvSpPr>
          <p:spPr bwMode="auto">
            <a:xfrm>
              <a:off x="1791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313" name="Group 57"/>
            <p:cNvGrpSpPr/>
            <p:nvPr/>
          </p:nvGrpSpPr>
          <p:grpSpPr bwMode="auto">
            <a:xfrm>
              <a:off x="1900" y="2573"/>
              <a:ext cx="144" cy="144"/>
              <a:chOff x="2208" y="3072"/>
              <a:chExt cx="144" cy="144"/>
            </a:xfrm>
          </p:grpSpPr>
          <p:sp>
            <p:nvSpPr>
              <p:cNvPr id="352314" name="Oval 58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315" name="Line 59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316" name="Line 60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317" name="Line 61"/>
            <p:cNvSpPr>
              <a:spLocks noChangeShapeType="1"/>
            </p:cNvSpPr>
            <p:nvPr/>
          </p:nvSpPr>
          <p:spPr bwMode="auto">
            <a:xfrm>
              <a:off x="1973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18" name="Line 62"/>
            <p:cNvSpPr>
              <a:spLocks noChangeShapeType="1"/>
            </p:cNvSpPr>
            <p:nvPr/>
          </p:nvSpPr>
          <p:spPr bwMode="auto">
            <a:xfrm>
              <a:off x="1973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319" name="Group 63"/>
            <p:cNvGrpSpPr/>
            <p:nvPr/>
          </p:nvGrpSpPr>
          <p:grpSpPr bwMode="auto">
            <a:xfrm>
              <a:off x="2081" y="2573"/>
              <a:ext cx="144" cy="144"/>
              <a:chOff x="2208" y="3072"/>
              <a:chExt cx="144" cy="144"/>
            </a:xfrm>
          </p:grpSpPr>
          <p:sp>
            <p:nvSpPr>
              <p:cNvPr id="352320" name="Oval 64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321" name="Line 65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322" name="Line 66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323" name="Line 67"/>
            <p:cNvSpPr>
              <a:spLocks noChangeShapeType="1"/>
            </p:cNvSpPr>
            <p:nvPr/>
          </p:nvSpPr>
          <p:spPr bwMode="auto">
            <a:xfrm>
              <a:off x="2154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24" name="Line 68"/>
            <p:cNvSpPr>
              <a:spLocks noChangeShapeType="1"/>
            </p:cNvSpPr>
            <p:nvPr/>
          </p:nvSpPr>
          <p:spPr bwMode="auto">
            <a:xfrm>
              <a:off x="2154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2325" name="Group 69"/>
            <p:cNvGrpSpPr/>
            <p:nvPr/>
          </p:nvGrpSpPr>
          <p:grpSpPr bwMode="auto">
            <a:xfrm>
              <a:off x="2263" y="2573"/>
              <a:ext cx="144" cy="144"/>
              <a:chOff x="2208" y="3072"/>
              <a:chExt cx="144" cy="144"/>
            </a:xfrm>
          </p:grpSpPr>
          <p:sp>
            <p:nvSpPr>
              <p:cNvPr id="352326" name="Oval 70"/>
              <p:cNvSpPr>
                <a:spLocks noChangeArrowheads="1"/>
              </p:cNvSpPr>
              <p:nvPr/>
            </p:nvSpPr>
            <p:spPr bwMode="auto">
              <a:xfrm>
                <a:off x="2208" y="3072"/>
                <a:ext cx="144" cy="144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  <a:alpha val="80000"/>
                </a:schemeClr>
              </a:solidFill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52327" name="Line 71"/>
              <p:cNvSpPr>
                <a:spLocks noChangeShapeType="1"/>
              </p:cNvSpPr>
              <p:nvPr/>
            </p:nvSpPr>
            <p:spPr bwMode="auto">
              <a:xfrm>
                <a:off x="2226" y="3096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2328" name="Line 72"/>
              <p:cNvSpPr>
                <a:spLocks noChangeShapeType="1"/>
              </p:cNvSpPr>
              <p:nvPr/>
            </p:nvSpPr>
            <p:spPr bwMode="auto">
              <a:xfrm flipV="1">
                <a:off x="2226" y="3102"/>
                <a:ext cx="96" cy="9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52329" name="Line 73"/>
            <p:cNvSpPr>
              <a:spLocks noChangeShapeType="1"/>
            </p:cNvSpPr>
            <p:nvPr/>
          </p:nvSpPr>
          <p:spPr bwMode="auto">
            <a:xfrm>
              <a:off x="2336" y="2477"/>
              <a:ext cx="0" cy="10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30" name="Line 74"/>
            <p:cNvSpPr>
              <a:spLocks noChangeShapeType="1"/>
            </p:cNvSpPr>
            <p:nvPr/>
          </p:nvSpPr>
          <p:spPr bwMode="auto">
            <a:xfrm>
              <a:off x="2336" y="2716"/>
              <a:ext cx="0" cy="124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2331" name="Oval 75"/>
            <p:cNvSpPr>
              <a:spLocks noChangeArrowheads="1"/>
            </p:cNvSpPr>
            <p:nvPr/>
          </p:nvSpPr>
          <p:spPr bwMode="auto">
            <a:xfrm>
              <a:off x="948" y="2819"/>
              <a:ext cx="46" cy="4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2" name="Text Box 76"/>
          <p:cNvSpPr txBox="1">
            <a:spLocks noChangeArrowheads="1"/>
          </p:cNvSpPr>
          <p:nvPr/>
        </p:nvSpPr>
        <p:spPr bwMode="auto">
          <a:xfrm>
            <a:off x="3563886" y="3933056"/>
            <a:ext cx="4824538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0#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灯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最右边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亮</a:t>
            </a:r>
            <a:r>
              <a:rPr lang="zh-CN" altLang="en-US" sz="2200" b="1" dirty="0">
                <a:latin typeface="宋体" panose="02010600030101010101" pitchFamily="2" charset="-122"/>
              </a:rPr>
              <a:t>时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，数据口的值为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7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2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32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76" name="Text Box 76"/>
          <p:cNvSpPr txBox="1">
            <a:spLocks noChangeArrowheads="1"/>
          </p:cNvSpPr>
          <p:nvPr/>
        </p:nvSpPr>
        <p:spPr bwMode="auto">
          <a:xfrm>
            <a:off x="8244408" y="3933056"/>
            <a:ext cx="864096" cy="45736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0xFE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77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964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78" name="线形标注 2 77"/>
          <p:cNvSpPr/>
          <p:nvPr/>
        </p:nvSpPr>
        <p:spPr bwMode="auto">
          <a:xfrm>
            <a:off x="809750" y="6057020"/>
            <a:ext cx="2682130" cy="252000"/>
          </a:xfrm>
          <a:prstGeom prst="borderCallout2">
            <a:avLst>
              <a:gd name="adj1" fmla="val 49513"/>
              <a:gd name="adj2" fmla="val -100"/>
              <a:gd name="adj3" fmla="val 49529"/>
              <a:gd name="adj4" fmla="val -6625"/>
              <a:gd name="adj5" fmla="val -44838"/>
              <a:gd name="adj6" fmla="val -5519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 marL="358775" indent="-358775">
              <a:lnSpc>
                <a:spcPct val="114000"/>
              </a:lnSpc>
            </a:pP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altLang="en-US" sz="1600" b="1" dirty="0" smtClean="0">
                <a:latin typeface="+mn-ea"/>
                <a:ea typeface="+mn-ea"/>
              </a:rPr>
              <a:t>若改为</a:t>
            </a:r>
            <a:r>
              <a:rPr lang="en-US" altLang="zh-CN" sz="1600" b="1" dirty="0" smtClean="0">
                <a:latin typeface="+mn-ea"/>
                <a:ea typeface="+mn-ea"/>
              </a:rPr>
              <a:t>0V</a:t>
            </a:r>
            <a:r>
              <a:rPr lang="zh-CN" altLang="en-US" sz="1600" b="1" dirty="0" smtClean="0">
                <a:latin typeface="+mn-ea"/>
                <a:ea typeface="+mn-ea"/>
              </a:rPr>
              <a:t>，</a:t>
            </a:r>
            <a:r>
              <a:rPr lang="en-US" altLang="zh-CN" sz="1600" b="1" dirty="0" smtClean="0">
                <a:latin typeface="+mn-ea"/>
                <a:ea typeface="+mn-ea"/>
              </a:rPr>
              <a:t>Lamp[]=</a:t>
            </a:r>
            <a:r>
              <a:rPr lang="zh-CN" altLang="en-US" sz="1600" b="1" dirty="0" smtClean="0">
                <a:latin typeface="+mn-ea"/>
                <a:ea typeface="+mn-ea"/>
              </a:rPr>
              <a:t>？</a:t>
            </a:r>
            <a:endParaRPr lang="en-US" altLang="zh-CN" sz="1600" b="1" dirty="0" smtClean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2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2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22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352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22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522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522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3522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3522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22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522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70" grpId="0"/>
      <p:bldP spid="82" grpId="0"/>
      <p:bldP spid="76" grpId="0"/>
      <p:bldP spid="7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179389" y="2177420"/>
            <a:ext cx="4644578" cy="41319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884680" indent="-1884680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、程序中断方式的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控制流程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基本思想：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1800"/>
              </a:spcBef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2152650" indent="-2152650" algn="l">
              <a:lnSpc>
                <a:spcPct val="125000"/>
              </a:lnSpc>
              <a:spcBef>
                <a:spcPts val="900"/>
              </a:spcBef>
            </a:pPr>
            <a:r>
              <a:rPr lang="en-US" altLang="zh-CN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en-US" altLang="zh-CN" b="1" spc="-100" dirty="0" smtClean="0">
              <a:latin typeface="宋体" panose="02010600030101010101" pitchFamily="2" charset="-122"/>
            </a:endParaRPr>
          </a:p>
        </p:txBody>
      </p:sp>
      <p:sp>
        <p:nvSpPr>
          <p:cNvPr id="90" name="Text Box 5"/>
          <p:cNvSpPr txBox="1">
            <a:spLocks noChangeArrowheads="1"/>
          </p:cNvSpPr>
          <p:nvPr/>
        </p:nvSpPr>
        <p:spPr bwMode="auto">
          <a:xfrm>
            <a:off x="1835820" y="5755322"/>
            <a:ext cx="504056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响应中断＋执行</a:t>
            </a:r>
            <a:r>
              <a:rPr lang="zh-CN" altLang="en-US" b="1" dirty="0" smtClean="0">
                <a:latin typeface="宋体" panose="02010600030101010101" pitchFamily="2" charset="-122"/>
              </a:rPr>
              <a:t>中断程序的总时间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05C84-7FF9-4760-82C8-8C6DB5D46440}" type="slidenum">
              <a:rPr lang="en-US" altLang="zh-CN"/>
            </a:fld>
            <a:endParaRPr lang="en-US" altLang="zh-CN"/>
          </a:p>
        </p:txBody>
      </p:sp>
      <p:sp>
        <p:nvSpPr>
          <p:cNvPr id="7187" name="Text Box 19"/>
          <p:cNvSpPr txBox="1">
            <a:spLocks noChangeArrowheads="1"/>
          </p:cNvSpPr>
          <p:nvPr/>
        </p:nvSpPr>
        <p:spPr bwMode="auto">
          <a:xfrm>
            <a:off x="838200" y="251937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§7.5  </a:t>
            </a:r>
            <a:r>
              <a:rPr lang="zh-CN" altLang="en-US" sz="2800" b="1" dirty="0">
                <a:latin typeface="宋体" panose="02010600030101010101" pitchFamily="2" charset="-122"/>
              </a:rPr>
              <a:t>程序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中断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方式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179388" y="126876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一、中断</a:t>
            </a:r>
            <a:r>
              <a:rPr lang="zh-CN" altLang="en-US" dirty="0" smtClean="0"/>
              <a:t>的类型及处理过程</a:t>
            </a:r>
            <a:endParaRPr lang="zh-CN" altLang="en-US" dirty="0"/>
          </a:p>
        </p:txBody>
      </p:sp>
      <p:sp>
        <p:nvSpPr>
          <p:cNvPr id="7317" name="Text Box 149"/>
          <p:cNvSpPr txBox="1">
            <a:spLocks noChangeArrowheads="1"/>
          </p:cNvSpPr>
          <p:nvPr/>
        </p:nvSpPr>
        <p:spPr bwMode="auto">
          <a:xfrm>
            <a:off x="179388" y="1722874"/>
            <a:ext cx="8785100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中断的处理过程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响应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中断机构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r>
              <a:rPr lang="zh-CN" altLang="en-US" b="1" dirty="0" smtClean="0">
                <a:latin typeface="宋体" panose="02010600030101010101" pitchFamily="2" charset="-122"/>
              </a:rPr>
              <a:t>、处理及返回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79" name="Text Box 24"/>
          <p:cNvSpPr txBox="1">
            <a:spLocks noChangeArrowheads="1"/>
          </p:cNvSpPr>
          <p:nvPr/>
        </p:nvSpPr>
        <p:spPr bwMode="auto">
          <a:xfrm>
            <a:off x="2441600" y="3565002"/>
            <a:ext cx="645112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启动、传送</a:t>
            </a:r>
            <a:r>
              <a:rPr lang="zh-CN" altLang="en-US" b="1" dirty="0" smtClean="0">
                <a:latin typeface="宋体" panose="02010600030101010101" pitchFamily="2" charset="-122"/>
              </a:rPr>
              <a:t>用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指令实现，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由硬件实现</a:t>
            </a:r>
            <a:endParaRPr lang="zh-CN" altLang="en-US" b="1" dirty="0"/>
          </a:p>
        </p:txBody>
      </p:sp>
      <p:sp>
        <p:nvSpPr>
          <p:cNvPr id="56" name="Text Box 4"/>
          <p:cNvSpPr txBox="1">
            <a:spLocks noChangeArrowheads="1"/>
          </p:cNvSpPr>
          <p:nvPr/>
        </p:nvSpPr>
        <p:spPr bwMode="auto">
          <a:xfrm>
            <a:off x="2051595" y="2650964"/>
            <a:ext cx="684100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spc="-100" dirty="0">
                <a:latin typeface="宋体" panose="02010600030101010101" pitchFamily="2" charset="-122"/>
              </a:rPr>
              <a:t>设备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后，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继续</a:t>
            </a:r>
            <a:r>
              <a:rPr lang="zh-CN" altLang="en-US" b="1" u="sng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执行</a:t>
            </a:r>
            <a:r>
              <a:rPr lang="zh-CN" altLang="en-US" b="1" spc="-100" dirty="0">
                <a:latin typeface="宋体" panose="02010600030101010101" pitchFamily="2" charset="-122"/>
              </a:rPr>
              <a:t>现行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程序；设备</a:t>
            </a:r>
            <a:r>
              <a:rPr lang="zh-CN" altLang="en-US" b="1" u="sng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请求</a:t>
            </a:r>
            <a:r>
              <a:rPr lang="zh-CN" altLang="en-US" b="1" spc="-100" dirty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b="1" spc="-100" dirty="0">
                <a:latin typeface="宋体" panose="02010600030101010101" pitchFamily="2" charset="-122"/>
              </a:rPr>
              <a:t>，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CPU</a:t>
            </a:r>
            <a:r>
              <a:rPr lang="zh-CN" altLang="en-US" b="1" spc="-100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才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spc="-100" dirty="0">
                <a:latin typeface="宋体" panose="02010600030101010101" pitchFamily="2" charset="-122"/>
              </a:rPr>
              <a:t>请求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、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数据、</a:t>
            </a:r>
            <a:r>
              <a:rPr lang="zh-CN" altLang="en-US" b="1" u="sng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b="1" spc="-100" dirty="0">
                <a:latin typeface="宋体" panose="02010600030101010101" pitchFamily="2" charset="-122"/>
              </a:rPr>
              <a:t>现行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程序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sp>
        <p:nvSpPr>
          <p:cNvPr id="69" name="Text Box 526"/>
          <p:cNvSpPr txBox="1">
            <a:spLocks noChangeArrowheads="1"/>
          </p:cNvSpPr>
          <p:nvPr/>
        </p:nvSpPr>
        <p:spPr bwMode="auto">
          <a:xfrm>
            <a:off x="179512" y="764704"/>
            <a:ext cx="8856984" cy="4308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zh-CN" altLang="en-US" sz="2200" b="1" dirty="0" smtClean="0">
                <a:latin typeface="+mn-ea"/>
              </a:rPr>
              <a:t>中断概念，接口组织，中断</a:t>
            </a:r>
            <a:r>
              <a:rPr lang="zh-CN" altLang="en-US" sz="2200" b="1" dirty="0">
                <a:latin typeface="+mn-ea"/>
              </a:rPr>
              <a:t>源</a:t>
            </a:r>
            <a:r>
              <a:rPr lang="zh-CN" altLang="en-US" sz="2200" b="1" dirty="0" smtClean="0">
                <a:latin typeface="+mn-ea"/>
              </a:rPr>
              <a:t>识别方法，中断系统</a:t>
            </a:r>
            <a:r>
              <a:rPr lang="en-US" altLang="zh-CN" sz="1800" b="1" dirty="0" smtClean="0">
                <a:latin typeface="+mn-ea"/>
              </a:rPr>
              <a:t>(</a:t>
            </a:r>
            <a:r>
              <a:rPr lang="zh-CN" altLang="en-US" sz="1800" b="1" dirty="0" smtClean="0">
                <a:latin typeface="+mn-ea"/>
              </a:rPr>
              <a:t>△</a:t>
            </a:r>
            <a:r>
              <a:rPr lang="en-US" altLang="zh-CN" sz="1800" b="1" dirty="0" smtClean="0">
                <a:latin typeface="+mn-ea"/>
              </a:rPr>
              <a:t>)</a:t>
            </a:r>
            <a:endParaRPr lang="en-US" altLang="zh-CN" sz="1800" b="1" dirty="0" smtClean="0">
              <a:latin typeface="+mn-ea"/>
              <a:ea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59632" y="4068263"/>
            <a:ext cx="6840885" cy="1592985"/>
            <a:chOff x="1331516" y="4068263"/>
            <a:chExt cx="6840885" cy="1592985"/>
          </a:xfrm>
        </p:grpSpPr>
        <p:sp>
          <p:nvSpPr>
            <p:cNvPr id="41" name="Text Box 12"/>
            <p:cNvSpPr txBox="1">
              <a:spLocks noChangeArrowheads="1"/>
            </p:cNvSpPr>
            <p:nvPr/>
          </p:nvSpPr>
          <p:spPr bwMode="auto">
            <a:xfrm>
              <a:off x="1881783" y="4211138"/>
              <a:ext cx="962025" cy="7207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/>
              <a:r>
                <a:rPr lang="zh-CN" altLang="en-US" sz="1800" b="1" dirty="0">
                  <a:latin typeface="宋体" panose="02010600030101010101" pitchFamily="2" charset="-122"/>
                </a:rPr>
                <a:t>当前程序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 algn="r">
                <a:lnSpc>
                  <a:spcPct val="16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2" name="Text Box 19"/>
            <p:cNvSpPr txBox="1">
              <a:spLocks noChangeArrowheads="1"/>
            </p:cNvSpPr>
            <p:nvPr/>
          </p:nvSpPr>
          <p:spPr bwMode="auto">
            <a:xfrm>
              <a:off x="1368029" y="4427038"/>
              <a:ext cx="395288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Rectangle 64"/>
            <p:cNvSpPr>
              <a:spLocks noChangeArrowheads="1"/>
            </p:cNvSpPr>
            <p:nvPr/>
          </p:nvSpPr>
          <p:spPr bwMode="auto">
            <a:xfrm>
              <a:off x="2915840" y="4284163"/>
              <a:ext cx="1800175" cy="144463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Rectangle 65"/>
            <p:cNvSpPr>
              <a:spLocks noChangeArrowheads="1"/>
            </p:cNvSpPr>
            <p:nvPr/>
          </p:nvSpPr>
          <p:spPr bwMode="auto">
            <a:xfrm>
              <a:off x="4931917" y="4715963"/>
              <a:ext cx="533846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Rectangle 66"/>
            <p:cNvSpPr>
              <a:spLocks noChangeArrowheads="1"/>
            </p:cNvSpPr>
            <p:nvPr/>
          </p:nvSpPr>
          <p:spPr bwMode="auto">
            <a:xfrm>
              <a:off x="3274616" y="4284163"/>
              <a:ext cx="144463" cy="14446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Rectangle 67"/>
            <p:cNvSpPr>
              <a:spLocks noChangeArrowheads="1"/>
            </p:cNvSpPr>
            <p:nvPr/>
          </p:nvSpPr>
          <p:spPr bwMode="auto">
            <a:xfrm>
              <a:off x="5694288" y="4284163"/>
              <a:ext cx="1181968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Rectangle 69"/>
            <p:cNvSpPr>
              <a:spLocks noChangeArrowheads="1"/>
            </p:cNvSpPr>
            <p:nvPr/>
          </p:nvSpPr>
          <p:spPr bwMode="auto">
            <a:xfrm>
              <a:off x="5148064" y="4715963"/>
              <a:ext cx="146050" cy="14287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70"/>
            <p:cNvSpPr>
              <a:spLocks noChangeShapeType="1"/>
            </p:cNvSpPr>
            <p:nvPr/>
          </p:nvSpPr>
          <p:spPr bwMode="auto">
            <a:xfrm>
              <a:off x="4716016" y="4355601"/>
              <a:ext cx="215900" cy="431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71"/>
            <p:cNvSpPr>
              <a:spLocks noChangeShapeType="1"/>
            </p:cNvSpPr>
            <p:nvPr/>
          </p:nvSpPr>
          <p:spPr bwMode="auto">
            <a:xfrm>
              <a:off x="2915841" y="4355600"/>
              <a:ext cx="1800174" cy="7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72"/>
            <p:cNvSpPr>
              <a:spLocks noChangeShapeType="1"/>
            </p:cNvSpPr>
            <p:nvPr/>
          </p:nvSpPr>
          <p:spPr bwMode="auto">
            <a:xfrm flipV="1">
              <a:off x="5465763" y="4355601"/>
              <a:ext cx="228525" cy="431007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73"/>
            <p:cNvSpPr>
              <a:spLocks noChangeShapeType="1"/>
            </p:cNvSpPr>
            <p:nvPr/>
          </p:nvSpPr>
          <p:spPr bwMode="auto">
            <a:xfrm flipV="1">
              <a:off x="4931917" y="4786608"/>
              <a:ext cx="533846" cy="792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74"/>
            <p:cNvSpPr>
              <a:spLocks noChangeShapeType="1"/>
            </p:cNvSpPr>
            <p:nvPr/>
          </p:nvSpPr>
          <p:spPr bwMode="auto">
            <a:xfrm>
              <a:off x="6876256" y="4355601"/>
              <a:ext cx="215900" cy="431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75"/>
            <p:cNvSpPr>
              <a:spLocks noChangeShapeType="1"/>
            </p:cNvSpPr>
            <p:nvPr/>
          </p:nvSpPr>
          <p:spPr bwMode="auto">
            <a:xfrm>
              <a:off x="5693965" y="4355600"/>
              <a:ext cx="1182291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78"/>
            <p:cNvSpPr>
              <a:spLocks noChangeArrowheads="1"/>
            </p:cNvSpPr>
            <p:nvPr/>
          </p:nvSpPr>
          <p:spPr bwMode="auto">
            <a:xfrm>
              <a:off x="7856116" y="4284163"/>
              <a:ext cx="316284" cy="14287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" name="Line 80"/>
            <p:cNvSpPr>
              <a:spLocks noChangeShapeType="1"/>
            </p:cNvSpPr>
            <p:nvPr/>
          </p:nvSpPr>
          <p:spPr bwMode="auto">
            <a:xfrm flipV="1">
              <a:off x="7626126" y="4355600"/>
              <a:ext cx="228402" cy="432171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82"/>
            <p:cNvSpPr>
              <a:spLocks noChangeShapeType="1"/>
            </p:cNvSpPr>
            <p:nvPr/>
          </p:nvSpPr>
          <p:spPr bwMode="auto">
            <a:xfrm>
              <a:off x="7856116" y="4355600"/>
              <a:ext cx="316284" cy="79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Text Box 85"/>
            <p:cNvSpPr txBox="1">
              <a:spLocks noChangeArrowheads="1"/>
            </p:cNvSpPr>
            <p:nvPr/>
          </p:nvSpPr>
          <p:spPr bwMode="auto">
            <a:xfrm>
              <a:off x="1331516" y="5409248"/>
              <a:ext cx="1584325" cy="2520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1" name="Rectangle 86"/>
            <p:cNvSpPr>
              <a:spLocks noChangeArrowheads="1"/>
            </p:cNvSpPr>
            <p:nvPr/>
          </p:nvSpPr>
          <p:spPr bwMode="auto">
            <a:xfrm>
              <a:off x="5220072" y="5508325"/>
              <a:ext cx="1609576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87"/>
            <p:cNvSpPr>
              <a:spLocks noChangeShapeType="1"/>
            </p:cNvSpPr>
            <p:nvPr/>
          </p:nvSpPr>
          <p:spPr bwMode="auto">
            <a:xfrm flipH="1">
              <a:off x="3346053" y="4428626"/>
              <a:ext cx="1" cy="107969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88"/>
            <p:cNvSpPr txBox="1">
              <a:spLocks noChangeArrowheads="1"/>
            </p:cNvSpPr>
            <p:nvPr/>
          </p:nvSpPr>
          <p:spPr bwMode="auto">
            <a:xfrm>
              <a:off x="4752072" y="4930277"/>
              <a:ext cx="468000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传送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4" name="Line 89"/>
            <p:cNvSpPr>
              <a:spLocks noChangeShapeType="1"/>
            </p:cNvSpPr>
            <p:nvPr/>
          </p:nvSpPr>
          <p:spPr bwMode="auto">
            <a:xfrm>
              <a:off x="5220071" y="4860426"/>
              <a:ext cx="1018" cy="64789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90"/>
            <p:cNvSpPr>
              <a:spLocks noChangeArrowheads="1"/>
            </p:cNvSpPr>
            <p:nvPr/>
          </p:nvSpPr>
          <p:spPr bwMode="auto">
            <a:xfrm>
              <a:off x="3347641" y="5508325"/>
              <a:ext cx="1330275" cy="1444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91"/>
            <p:cNvSpPr txBox="1">
              <a:spLocks noChangeArrowheads="1"/>
            </p:cNvSpPr>
            <p:nvPr/>
          </p:nvSpPr>
          <p:spPr bwMode="auto">
            <a:xfrm>
              <a:off x="2879864" y="4930277"/>
              <a:ext cx="468000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设备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" name="Line 92"/>
            <p:cNvSpPr>
              <a:spLocks noChangeShapeType="1"/>
            </p:cNvSpPr>
            <p:nvPr/>
          </p:nvSpPr>
          <p:spPr bwMode="auto">
            <a:xfrm flipV="1">
              <a:off x="4677916" y="4427037"/>
              <a:ext cx="0" cy="108128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95"/>
            <p:cNvSpPr>
              <a:spLocks noChangeShapeType="1"/>
            </p:cNvSpPr>
            <p:nvPr/>
          </p:nvSpPr>
          <p:spPr bwMode="auto">
            <a:xfrm flipH="1" flipV="1">
              <a:off x="6829647" y="4427037"/>
              <a:ext cx="893" cy="108128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96"/>
            <p:cNvSpPr txBox="1">
              <a:spLocks noChangeArrowheads="1"/>
            </p:cNvSpPr>
            <p:nvPr/>
          </p:nvSpPr>
          <p:spPr bwMode="auto">
            <a:xfrm>
              <a:off x="6372200" y="4930277"/>
              <a:ext cx="468000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中断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Rectangle 97"/>
            <p:cNvSpPr>
              <a:spLocks noChangeArrowheads="1"/>
            </p:cNvSpPr>
            <p:nvPr/>
          </p:nvSpPr>
          <p:spPr bwMode="auto">
            <a:xfrm>
              <a:off x="7383487" y="5508325"/>
              <a:ext cx="788913" cy="14446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Line 99"/>
            <p:cNvSpPr>
              <a:spLocks noChangeShapeType="1"/>
            </p:cNvSpPr>
            <p:nvPr/>
          </p:nvSpPr>
          <p:spPr bwMode="auto">
            <a:xfrm>
              <a:off x="7380312" y="4860426"/>
              <a:ext cx="3175" cy="647899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Box 100"/>
            <p:cNvSpPr txBox="1">
              <a:spLocks noChangeArrowheads="1"/>
            </p:cNvSpPr>
            <p:nvPr/>
          </p:nvSpPr>
          <p:spPr bwMode="auto">
            <a:xfrm>
              <a:off x="4787453" y="4068263"/>
              <a:ext cx="287338" cy="5032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l"/>
              <a:r>
                <a:rPr lang="zh-CN" altLang="en-US" sz="1800" b="1">
                  <a:latin typeface="宋体" panose="02010600030101010101" pitchFamily="2" charset="-122"/>
                </a:rPr>
                <a:t>响应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76" name="Text Box 101"/>
            <p:cNvSpPr txBox="1">
              <a:spLocks noChangeArrowheads="1"/>
            </p:cNvSpPr>
            <p:nvPr/>
          </p:nvSpPr>
          <p:spPr bwMode="auto">
            <a:xfrm>
              <a:off x="5364088" y="4068263"/>
              <a:ext cx="287338" cy="5032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返回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Text Box 102"/>
            <p:cNvSpPr txBox="1">
              <a:spLocks noChangeArrowheads="1"/>
            </p:cNvSpPr>
            <p:nvPr/>
          </p:nvSpPr>
          <p:spPr bwMode="auto">
            <a:xfrm>
              <a:off x="6947693" y="4068263"/>
              <a:ext cx="287338" cy="5032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l"/>
              <a:r>
                <a:rPr lang="zh-CN" altLang="en-US" sz="1800" b="1">
                  <a:latin typeface="宋体" panose="02010600030101010101" pitchFamily="2" charset="-122"/>
                </a:rPr>
                <a:t>响应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78" name="Text Box 103"/>
            <p:cNvSpPr txBox="1">
              <a:spLocks noChangeArrowheads="1"/>
            </p:cNvSpPr>
            <p:nvPr/>
          </p:nvSpPr>
          <p:spPr bwMode="auto">
            <a:xfrm>
              <a:off x="7524328" y="4068263"/>
              <a:ext cx="287338" cy="5032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返回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" name="左大括号 4"/>
            <p:cNvSpPr/>
            <p:nvPr/>
          </p:nvSpPr>
          <p:spPr bwMode="auto">
            <a:xfrm>
              <a:off x="1811313" y="4355601"/>
              <a:ext cx="45719" cy="43180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84" name="Line 71"/>
            <p:cNvSpPr>
              <a:spLocks noChangeShapeType="1"/>
            </p:cNvSpPr>
            <p:nvPr/>
          </p:nvSpPr>
          <p:spPr bwMode="auto">
            <a:xfrm>
              <a:off x="3346053" y="5580554"/>
              <a:ext cx="1331863" cy="1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71"/>
            <p:cNvSpPr>
              <a:spLocks noChangeShapeType="1"/>
            </p:cNvSpPr>
            <p:nvPr/>
          </p:nvSpPr>
          <p:spPr bwMode="auto">
            <a:xfrm flipV="1">
              <a:off x="5220072" y="5579637"/>
              <a:ext cx="1609576" cy="91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71"/>
            <p:cNvSpPr>
              <a:spLocks noChangeShapeType="1"/>
            </p:cNvSpPr>
            <p:nvPr/>
          </p:nvSpPr>
          <p:spPr bwMode="auto">
            <a:xfrm>
              <a:off x="7383487" y="5579637"/>
              <a:ext cx="78891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Rectangle 65"/>
            <p:cNvSpPr>
              <a:spLocks noChangeArrowheads="1"/>
            </p:cNvSpPr>
            <p:nvPr/>
          </p:nvSpPr>
          <p:spPr bwMode="auto">
            <a:xfrm>
              <a:off x="7092280" y="4716335"/>
              <a:ext cx="533846" cy="14287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6" name="Rectangle 69"/>
            <p:cNvSpPr>
              <a:spLocks noChangeArrowheads="1"/>
            </p:cNvSpPr>
            <p:nvPr/>
          </p:nvSpPr>
          <p:spPr bwMode="auto">
            <a:xfrm>
              <a:off x="7308427" y="4716335"/>
              <a:ext cx="146050" cy="14287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73"/>
            <p:cNvSpPr>
              <a:spLocks noChangeShapeType="1"/>
            </p:cNvSpPr>
            <p:nvPr/>
          </p:nvSpPr>
          <p:spPr bwMode="auto">
            <a:xfrm flipV="1">
              <a:off x="7092280" y="4786608"/>
              <a:ext cx="546348" cy="1164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 Box 96"/>
            <p:cNvSpPr txBox="1">
              <a:spLocks noChangeArrowheads="1"/>
            </p:cNvSpPr>
            <p:nvPr/>
          </p:nvSpPr>
          <p:spPr bwMode="auto">
            <a:xfrm>
              <a:off x="4185667" y="4932261"/>
              <a:ext cx="458341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中断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88"/>
            <p:cNvSpPr txBox="1">
              <a:spLocks noChangeArrowheads="1"/>
            </p:cNvSpPr>
            <p:nvPr/>
          </p:nvSpPr>
          <p:spPr bwMode="auto">
            <a:xfrm>
              <a:off x="7380312" y="4932261"/>
              <a:ext cx="504950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传送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数据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Line 89"/>
            <p:cNvSpPr>
              <a:spLocks noChangeShapeType="1"/>
            </p:cNvSpPr>
            <p:nvPr/>
          </p:nvSpPr>
          <p:spPr bwMode="auto">
            <a:xfrm>
              <a:off x="5364088" y="4869160"/>
              <a:ext cx="0" cy="639165"/>
            </a:xfrm>
            <a:prstGeom prst="line">
              <a:avLst/>
            </a:prstGeom>
            <a:noFill/>
            <a:ln w="15875">
              <a:solidFill>
                <a:srgbClr val="FF3399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Text Box 91"/>
            <p:cNvSpPr txBox="1">
              <a:spLocks noChangeArrowheads="1"/>
            </p:cNvSpPr>
            <p:nvPr/>
          </p:nvSpPr>
          <p:spPr bwMode="auto">
            <a:xfrm>
              <a:off x="5364088" y="4941168"/>
              <a:ext cx="468000" cy="4683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/>
            <a:lstStyle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设备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90" grpId="0"/>
      <p:bldP spid="7188" grpId="0" animBg="1"/>
      <p:bldP spid="7317" grpId="0"/>
      <p:bldP spid="79" grpId="0"/>
      <p:bldP spid="5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Box 4"/>
          <p:cNvSpPr txBox="1">
            <a:spLocks noChangeArrowheads="1"/>
          </p:cNvSpPr>
          <p:nvPr/>
        </p:nvSpPr>
        <p:spPr bwMode="auto">
          <a:xfrm>
            <a:off x="179513" y="315024"/>
            <a:ext cx="7920880" cy="613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22625" indent="-3222625"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中断的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类型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广义上的中断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可屏蔽中断与不可屏蔽中断：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请求的</a:t>
            </a:r>
            <a:r>
              <a:rPr lang="zh-CN" altLang="en-US" sz="1800" b="1" dirty="0">
                <a:latin typeface="宋体" panose="02010600030101010101" pitchFamily="2" charset="-122"/>
              </a:rPr>
              <a:t>紧急程度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时机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返回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屏蔽的实现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向量中断与非向量中断：     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响应的</a:t>
            </a:r>
            <a:r>
              <a:rPr lang="zh-CN" altLang="en-US" sz="1800" b="1" dirty="0">
                <a:latin typeface="宋体" panose="02010600030101010101" pitchFamily="2" charset="-122"/>
              </a:rPr>
              <a:t>实现方法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识别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事件类型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中断源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获得处理程序入口地址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的实现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单重中断与多重中断：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基于</a:t>
            </a:r>
            <a:r>
              <a:rPr lang="zh-CN" altLang="en-US" sz="1800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处理过程</a:t>
            </a:r>
            <a:r>
              <a:rPr lang="zh-CN" altLang="en-US" sz="1800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重叠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与否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 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05000"/>
              </a:lnSpc>
            </a:pP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</a:pP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应用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实现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     </a:t>
            </a:r>
            <a:endParaRPr lang="en-US" altLang="zh-CN" b="1" dirty="0">
              <a:solidFill>
                <a:srgbClr val="FF3399"/>
              </a:solidFill>
              <a:latin typeface="宋体" panose="02010600030101010101" pitchFamily="2" charset="-122"/>
            </a:endParaRPr>
          </a:p>
        </p:txBody>
      </p:sp>
      <p:sp>
        <p:nvSpPr>
          <p:cNvPr id="161" name="Text Box 176"/>
          <p:cNvSpPr txBox="1">
            <a:spLocks noChangeArrowheads="1"/>
          </p:cNvSpPr>
          <p:nvPr/>
        </p:nvSpPr>
        <p:spPr bwMode="auto">
          <a:xfrm>
            <a:off x="1763688" y="5392465"/>
            <a:ext cx="723793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611630" indent="-1611630"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响应时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单</a:t>
            </a:r>
            <a:r>
              <a:rPr lang="zh-CN" altLang="en-US" b="1" u="sng" dirty="0">
                <a:latin typeface="宋体" panose="02010600030101010101" pitchFamily="2" charset="-122"/>
              </a:rPr>
              <a:t>重</a:t>
            </a:r>
            <a:r>
              <a:rPr lang="zh-CN" altLang="en-US" b="1" dirty="0" smtClean="0">
                <a:latin typeface="宋体" panose="02010600030101010101" pitchFamily="2" charset="-122"/>
              </a:rPr>
              <a:t>方式，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处理时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可为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多重</a:t>
            </a:r>
            <a:r>
              <a:rPr lang="zh-CN" altLang="en-US" b="1" dirty="0" smtClean="0">
                <a:latin typeface="宋体" panose="02010600030101010101" pitchFamily="2" charset="-122"/>
              </a:rPr>
              <a:t>方式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←面向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INTR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响应时</a:t>
            </a:r>
            <a:r>
              <a:rPr lang="en-US" altLang="zh-CN" b="1" dirty="0">
                <a:latin typeface="宋体" panose="02010600030101010101" pitchFamily="2" charset="-122"/>
              </a:rPr>
              <a:t>IF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lang="en-US" altLang="zh-CN" b="1" dirty="0">
                <a:latin typeface="宋体" panose="02010600030101010101" pitchFamily="2" charset="-122"/>
              </a:rPr>
              <a:t>0</a:t>
            </a:r>
            <a:r>
              <a:rPr lang="zh-CN" altLang="en-US" b="1" dirty="0">
                <a:latin typeface="宋体" panose="02010600030101010101" pitchFamily="2" charset="-122"/>
              </a:rPr>
              <a:t>，服务程序中可</a:t>
            </a:r>
            <a:r>
              <a:rPr lang="en-US" altLang="zh-CN" b="1" dirty="0">
                <a:latin typeface="宋体" panose="02010600030101010101" pitchFamily="2" charset="-122"/>
              </a:rPr>
              <a:t>IF</a:t>
            </a:r>
            <a:r>
              <a:rPr lang="zh-CN" altLang="en-US" b="1" dirty="0">
                <a:latin typeface="宋体" panose="02010600030101010101" pitchFamily="2" charset="-122"/>
              </a:rPr>
              <a:t>←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endParaRPr lang="zh-CN" altLang="en-US" sz="18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C597D1-EB9C-4983-85E8-0CD28432B761}" type="slidenum">
              <a:rPr lang="en-US" altLang="zh-CN"/>
            </a:fld>
            <a:endParaRPr lang="en-US" altLang="zh-CN"/>
          </a:p>
        </p:txBody>
      </p:sp>
      <p:sp>
        <p:nvSpPr>
          <p:cNvPr id="121" name="Text Box 82"/>
          <p:cNvSpPr txBox="1">
            <a:spLocks noChangeArrowheads="1"/>
          </p:cNvSpPr>
          <p:nvPr/>
        </p:nvSpPr>
        <p:spPr bwMode="auto">
          <a:xfrm>
            <a:off x="2411760" y="1218818"/>
            <a:ext cx="644610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</a:rPr>
              <a:t>多个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当前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latin typeface="宋体" panose="02010600030101010101" pitchFamily="2" charset="-122"/>
              </a:rPr>
              <a:t>当前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指令周期结束</a:t>
            </a:r>
            <a:r>
              <a:rPr lang="zh-CN" altLang="en-US" b="1" dirty="0" smtClean="0">
                <a:latin typeface="宋体" panose="02010600030101010101" pitchFamily="2" charset="-122"/>
              </a:rPr>
              <a:t>时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←外设很慢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122" name="Text Box 82"/>
          <p:cNvSpPr txBox="1">
            <a:spLocks noChangeArrowheads="1"/>
          </p:cNvSpPr>
          <p:nvPr/>
        </p:nvSpPr>
        <p:spPr bwMode="auto">
          <a:xfrm>
            <a:off x="2411760" y="1700808"/>
            <a:ext cx="6318702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下条指令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dirty="0" smtClean="0">
                <a:latin typeface="宋体" panose="02010600030101010101" pitchFamily="2" charset="-122"/>
              </a:rPr>
              <a:t>下条指令或终止程序</a:t>
            </a:r>
            <a:endParaRPr lang="en-US" altLang="zh-CN" sz="1600" b="1" dirty="0">
              <a:latin typeface="宋体" panose="02010600030101010101" pitchFamily="2" charset="-122"/>
            </a:endParaRPr>
          </a:p>
        </p:txBody>
      </p:sp>
      <p:sp>
        <p:nvSpPr>
          <p:cNvPr id="123" name="Text Box 82"/>
          <p:cNvSpPr txBox="1">
            <a:spLocks noChangeArrowheads="1"/>
          </p:cNvSpPr>
          <p:nvPr/>
        </p:nvSpPr>
        <p:spPr bwMode="auto">
          <a:xfrm>
            <a:off x="3060847" y="2132856"/>
            <a:ext cx="593913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latin typeface="宋体" panose="02010600030101010101" pitchFamily="2" charset="-122"/>
              </a:rPr>
              <a:t>PSR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含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IF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位，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ISA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含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开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/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关中断指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令，软件可控</a:t>
            </a:r>
            <a:endParaRPr lang="en-US" altLang="zh-CN" b="1" spc="-100" dirty="0">
              <a:latin typeface="宋体" panose="02010600030101010101" pitchFamily="2" charset="-122"/>
            </a:endParaRPr>
          </a:p>
        </p:txBody>
      </p:sp>
      <p:grpSp>
        <p:nvGrpSpPr>
          <p:cNvPr id="126" name="组合 125"/>
          <p:cNvGrpSpPr/>
          <p:nvPr/>
        </p:nvGrpSpPr>
        <p:grpSpPr>
          <a:xfrm>
            <a:off x="447687" y="4509120"/>
            <a:ext cx="4305226" cy="942868"/>
            <a:chOff x="447687" y="2421696"/>
            <a:chExt cx="4305226" cy="942868"/>
          </a:xfrm>
        </p:grpSpPr>
        <p:sp>
          <p:nvSpPr>
            <p:cNvPr id="127" name="Text Box 81"/>
            <p:cNvSpPr txBox="1">
              <a:spLocks noChangeArrowheads="1"/>
            </p:cNvSpPr>
            <p:nvPr/>
          </p:nvSpPr>
          <p:spPr bwMode="auto">
            <a:xfrm>
              <a:off x="4644901" y="3147076"/>
              <a:ext cx="108012" cy="21748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8" name="Text Box 79"/>
            <p:cNvSpPr txBox="1">
              <a:spLocks noChangeArrowheads="1"/>
            </p:cNvSpPr>
            <p:nvPr/>
          </p:nvSpPr>
          <p:spPr bwMode="auto">
            <a:xfrm>
              <a:off x="1403647" y="2421696"/>
              <a:ext cx="2628305" cy="28722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B(B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更紧急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29" name="Line 67"/>
            <p:cNvSpPr>
              <a:spLocks noChangeShapeType="1"/>
            </p:cNvSpPr>
            <p:nvPr/>
          </p:nvSpPr>
          <p:spPr bwMode="auto">
            <a:xfrm flipV="1">
              <a:off x="1403648" y="3212168"/>
              <a:ext cx="288032" cy="19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68"/>
            <p:cNvSpPr>
              <a:spLocks noChangeShapeType="1"/>
            </p:cNvSpPr>
            <p:nvPr/>
          </p:nvSpPr>
          <p:spPr bwMode="auto">
            <a:xfrm>
              <a:off x="4283398" y="3212168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Line 70"/>
            <p:cNvSpPr>
              <a:spLocks noChangeShapeType="1"/>
            </p:cNvSpPr>
            <p:nvPr/>
          </p:nvSpPr>
          <p:spPr bwMode="auto">
            <a:xfrm>
              <a:off x="3058568" y="2853724"/>
              <a:ext cx="144016" cy="380181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72"/>
            <p:cNvSpPr>
              <a:spLocks noChangeShapeType="1"/>
            </p:cNvSpPr>
            <p:nvPr/>
          </p:nvSpPr>
          <p:spPr bwMode="auto">
            <a:xfrm flipV="1">
              <a:off x="3347864" y="2853705"/>
              <a:ext cx="792088" cy="0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Text Box 75"/>
            <p:cNvSpPr txBox="1">
              <a:spLocks noChangeArrowheads="1"/>
            </p:cNvSpPr>
            <p:nvPr/>
          </p:nvSpPr>
          <p:spPr bwMode="auto">
            <a:xfrm>
              <a:off x="3346600" y="2852897"/>
              <a:ext cx="685353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4" name="Line 77"/>
            <p:cNvSpPr>
              <a:spLocks noChangeShapeType="1"/>
            </p:cNvSpPr>
            <p:nvPr/>
          </p:nvSpPr>
          <p:spPr bwMode="auto">
            <a:xfrm>
              <a:off x="1619672" y="2708796"/>
              <a:ext cx="0" cy="43124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80"/>
            <p:cNvSpPr>
              <a:spLocks noChangeShapeType="1"/>
            </p:cNvSpPr>
            <p:nvPr/>
          </p:nvSpPr>
          <p:spPr bwMode="auto">
            <a:xfrm>
              <a:off x="1403648" y="3284984"/>
              <a:ext cx="3239095" cy="2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110"/>
            <p:cNvSpPr>
              <a:spLocks noChangeShapeType="1"/>
            </p:cNvSpPr>
            <p:nvPr/>
          </p:nvSpPr>
          <p:spPr bwMode="auto">
            <a:xfrm flipV="1">
              <a:off x="3203848" y="2852936"/>
              <a:ext cx="144016" cy="3603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Line 111"/>
            <p:cNvSpPr>
              <a:spLocks noChangeShapeType="1"/>
            </p:cNvSpPr>
            <p:nvPr/>
          </p:nvSpPr>
          <p:spPr bwMode="auto">
            <a:xfrm>
              <a:off x="4138688" y="2852896"/>
              <a:ext cx="144016" cy="360364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Text Box 75"/>
            <p:cNvSpPr txBox="1">
              <a:spLocks noChangeArrowheads="1"/>
            </p:cNvSpPr>
            <p:nvPr/>
          </p:nvSpPr>
          <p:spPr bwMode="auto">
            <a:xfrm>
              <a:off x="447687" y="2780928"/>
              <a:ext cx="955961" cy="54016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中断程序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145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9" name="Text Box 75"/>
            <p:cNvSpPr txBox="1">
              <a:spLocks noChangeArrowheads="1"/>
            </p:cNvSpPr>
            <p:nvPr/>
          </p:nvSpPr>
          <p:spPr bwMode="auto">
            <a:xfrm>
              <a:off x="1906118" y="2852129"/>
              <a:ext cx="1043560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0" name="Line 76"/>
            <p:cNvSpPr>
              <a:spLocks noChangeShapeType="1"/>
            </p:cNvSpPr>
            <p:nvPr/>
          </p:nvSpPr>
          <p:spPr bwMode="auto">
            <a:xfrm flipV="1">
              <a:off x="1817068" y="2852936"/>
              <a:ext cx="1242764" cy="1576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110"/>
            <p:cNvSpPr>
              <a:spLocks noChangeShapeType="1"/>
            </p:cNvSpPr>
            <p:nvPr/>
          </p:nvSpPr>
          <p:spPr bwMode="auto">
            <a:xfrm flipV="1">
              <a:off x="1691680" y="2851805"/>
              <a:ext cx="144016" cy="3603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77"/>
            <p:cNvSpPr>
              <a:spLocks noChangeShapeType="1"/>
            </p:cNvSpPr>
            <p:nvPr/>
          </p:nvSpPr>
          <p:spPr bwMode="auto">
            <a:xfrm>
              <a:off x="2339752" y="2673077"/>
              <a:ext cx="0" cy="142984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5148064" y="4437112"/>
            <a:ext cx="3780420" cy="1008768"/>
            <a:chOff x="5148064" y="2349688"/>
            <a:chExt cx="3780420" cy="1008768"/>
          </a:xfrm>
        </p:grpSpPr>
        <p:sp>
          <p:nvSpPr>
            <p:cNvPr id="144" name="Text Box 79"/>
            <p:cNvSpPr txBox="1">
              <a:spLocks noChangeArrowheads="1"/>
            </p:cNvSpPr>
            <p:nvPr/>
          </p:nvSpPr>
          <p:spPr bwMode="auto">
            <a:xfrm>
              <a:off x="5174567" y="2349688"/>
              <a:ext cx="1412393" cy="28722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Line 67"/>
            <p:cNvSpPr>
              <a:spLocks noChangeShapeType="1"/>
            </p:cNvSpPr>
            <p:nvPr/>
          </p:nvSpPr>
          <p:spPr bwMode="auto">
            <a:xfrm>
              <a:off x="5148064" y="3212168"/>
              <a:ext cx="358776" cy="8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68"/>
            <p:cNvSpPr>
              <a:spLocks noChangeShapeType="1"/>
            </p:cNvSpPr>
            <p:nvPr/>
          </p:nvSpPr>
          <p:spPr bwMode="auto">
            <a:xfrm>
              <a:off x="8459862" y="3212976"/>
              <a:ext cx="2873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70"/>
            <p:cNvSpPr>
              <a:spLocks noChangeShapeType="1"/>
            </p:cNvSpPr>
            <p:nvPr/>
          </p:nvSpPr>
          <p:spPr bwMode="auto">
            <a:xfrm>
              <a:off x="7379048" y="2492896"/>
              <a:ext cx="144016" cy="359271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72"/>
            <p:cNvSpPr>
              <a:spLocks noChangeShapeType="1"/>
            </p:cNvSpPr>
            <p:nvPr/>
          </p:nvSpPr>
          <p:spPr bwMode="auto">
            <a:xfrm flipV="1">
              <a:off x="6586960" y="2492896"/>
              <a:ext cx="792088" cy="0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Text Box 75"/>
            <p:cNvSpPr txBox="1">
              <a:spLocks noChangeArrowheads="1"/>
            </p:cNvSpPr>
            <p:nvPr/>
          </p:nvSpPr>
          <p:spPr bwMode="auto">
            <a:xfrm>
              <a:off x="7523064" y="2853705"/>
              <a:ext cx="685353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0" name="Line 76"/>
            <p:cNvSpPr>
              <a:spLocks noChangeShapeType="1"/>
            </p:cNvSpPr>
            <p:nvPr/>
          </p:nvSpPr>
          <p:spPr bwMode="auto">
            <a:xfrm>
              <a:off x="7523064" y="2853704"/>
              <a:ext cx="791716" cy="1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77"/>
            <p:cNvSpPr>
              <a:spLocks noChangeShapeType="1"/>
            </p:cNvSpPr>
            <p:nvPr/>
          </p:nvSpPr>
          <p:spPr bwMode="auto">
            <a:xfrm>
              <a:off x="5434832" y="2637804"/>
              <a:ext cx="0" cy="50304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80"/>
            <p:cNvSpPr>
              <a:spLocks noChangeShapeType="1"/>
            </p:cNvSpPr>
            <p:nvPr/>
          </p:nvSpPr>
          <p:spPr bwMode="auto">
            <a:xfrm>
              <a:off x="5148064" y="3284737"/>
              <a:ext cx="3671143" cy="2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110"/>
            <p:cNvSpPr>
              <a:spLocks noChangeShapeType="1"/>
            </p:cNvSpPr>
            <p:nvPr/>
          </p:nvSpPr>
          <p:spPr bwMode="auto">
            <a:xfrm flipV="1">
              <a:off x="6442944" y="2492896"/>
              <a:ext cx="144016" cy="3603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111"/>
            <p:cNvSpPr>
              <a:spLocks noChangeShapeType="1"/>
            </p:cNvSpPr>
            <p:nvPr/>
          </p:nvSpPr>
          <p:spPr bwMode="auto">
            <a:xfrm>
              <a:off x="8315152" y="2853704"/>
              <a:ext cx="144016" cy="360364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Text Box 75"/>
            <p:cNvSpPr txBox="1">
              <a:spLocks noChangeArrowheads="1"/>
            </p:cNvSpPr>
            <p:nvPr/>
          </p:nvSpPr>
          <p:spPr bwMode="auto">
            <a:xfrm>
              <a:off x="6658968" y="2492896"/>
              <a:ext cx="613345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6" name="Text Box 75"/>
            <p:cNvSpPr txBox="1">
              <a:spLocks noChangeArrowheads="1"/>
            </p:cNvSpPr>
            <p:nvPr/>
          </p:nvSpPr>
          <p:spPr bwMode="auto">
            <a:xfrm>
              <a:off x="5650856" y="2852937"/>
              <a:ext cx="685353" cy="4318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57" name="Line 76"/>
            <p:cNvSpPr>
              <a:spLocks noChangeShapeType="1"/>
            </p:cNvSpPr>
            <p:nvPr/>
          </p:nvSpPr>
          <p:spPr bwMode="auto">
            <a:xfrm>
              <a:off x="5650856" y="2852936"/>
              <a:ext cx="791716" cy="1"/>
            </a:xfrm>
            <a:prstGeom prst="line">
              <a:avLst/>
            </a:prstGeom>
            <a:noFill/>
            <a:ln w="28575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Line 110"/>
            <p:cNvSpPr>
              <a:spLocks noChangeShapeType="1"/>
            </p:cNvSpPr>
            <p:nvPr/>
          </p:nvSpPr>
          <p:spPr bwMode="auto">
            <a:xfrm flipV="1">
              <a:off x="5506840" y="2852613"/>
              <a:ext cx="144016" cy="360363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ash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77"/>
            <p:cNvSpPr>
              <a:spLocks noChangeShapeType="1"/>
            </p:cNvSpPr>
            <p:nvPr/>
          </p:nvSpPr>
          <p:spPr bwMode="auto">
            <a:xfrm>
              <a:off x="6370936" y="2637804"/>
              <a:ext cx="0" cy="17906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arrow" w="sm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 Box 81"/>
            <p:cNvSpPr txBox="1">
              <a:spLocks noChangeArrowheads="1"/>
            </p:cNvSpPr>
            <p:nvPr/>
          </p:nvSpPr>
          <p:spPr bwMode="auto">
            <a:xfrm>
              <a:off x="8820472" y="3140968"/>
              <a:ext cx="108012" cy="21748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t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66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8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" name="线形标注 2 48"/>
          <p:cNvSpPr/>
          <p:nvPr/>
        </p:nvSpPr>
        <p:spPr bwMode="auto">
          <a:xfrm>
            <a:off x="5614728" y="493272"/>
            <a:ext cx="3277752" cy="271432"/>
          </a:xfrm>
          <a:prstGeom prst="borderCallout2">
            <a:avLst>
              <a:gd name="adj1" fmla="val 51026"/>
              <a:gd name="adj2" fmla="val -152"/>
              <a:gd name="adj3" fmla="val 51849"/>
              <a:gd name="adj4" fmla="val -5020"/>
              <a:gd name="adj5" fmla="val 150459"/>
              <a:gd name="adj6" fmla="val -9183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en-US" altLang="zh-CN" sz="1800" b="1" dirty="0" smtClean="0"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latin typeface="+mn-ea"/>
                <a:ea typeface="+mn-ea"/>
              </a:rPr>
              <a:t>中断请求∈可屏蔽中断请求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54" name="Text Box 82"/>
          <p:cNvSpPr txBox="1">
            <a:spLocks noChangeArrowheads="1"/>
          </p:cNvSpPr>
          <p:nvPr/>
        </p:nvSpPr>
        <p:spPr bwMode="auto">
          <a:xfrm>
            <a:off x="5292080" y="3068960"/>
            <a:ext cx="3311451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spc="-50" dirty="0" smtClean="0">
                <a:latin typeface="宋体" panose="02010600030101010101" pitchFamily="2" charset="-122"/>
              </a:rPr>
              <a:t>硬件判优</a:t>
            </a:r>
            <a:r>
              <a:rPr lang="zh-CN" altLang="en-US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软件查询</a:t>
            </a:r>
            <a:endParaRPr lang="en-US" altLang="zh-CN" b="1" spc="-5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spc="-50" dirty="0" smtClean="0">
                <a:latin typeface="宋体" panose="02010600030101010101" pitchFamily="2" charset="-122"/>
              </a:rPr>
              <a:t>   查</a:t>
            </a:r>
            <a:r>
              <a:rPr lang="en-US" altLang="zh-CN" b="1" spc="-50" dirty="0" smtClean="0">
                <a:latin typeface="宋体" panose="02010600030101010101" pitchFamily="2" charset="-122"/>
              </a:rPr>
              <a:t>IVT</a:t>
            </a:r>
            <a:r>
              <a:rPr lang="zh-CN" altLang="en-US" b="1" spc="-50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调用子程序</a:t>
            </a:r>
            <a:endParaRPr lang="en-US" altLang="zh-CN" b="1" spc="-5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AutoShape 62">
            <a:hlinkClick r:id="rId1" action="ppaction://hlinkpres?slideindex=79&amp;slidetitle=PowerPoint 演示文稿"/>
          </p:cNvPr>
          <p:cNvSpPr>
            <a:spLocks noChangeArrowheads="1"/>
          </p:cNvSpPr>
          <p:nvPr/>
        </p:nvSpPr>
        <p:spPr bwMode="auto">
          <a:xfrm>
            <a:off x="8168866" y="908720"/>
            <a:ext cx="523466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5-79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6" name="AutoShape 62">
            <a:hlinkClick r:id="rId2" action="ppaction://hlinkpres?slideindex=83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2708920"/>
            <a:ext cx="519932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5-83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58" name="AutoShape 62">
            <a:hlinkClick r:id="rId3" action="ppaction://hlinkpres?slideindex=81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5949280"/>
            <a:ext cx="519932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5-81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/>
      <p:bldP spid="122" grpId="0"/>
      <p:bldP spid="123" grpId="0"/>
      <p:bldP spid="5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89" name="Text Box 4"/>
          <p:cNvSpPr txBox="1">
            <a:spLocks noChangeArrowheads="1"/>
          </p:cNvSpPr>
          <p:nvPr/>
        </p:nvSpPr>
        <p:spPr bwMode="auto">
          <a:xfrm>
            <a:off x="179512" y="332656"/>
            <a:ext cx="8785225" cy="60939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222625" indent="-3222625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、中断的过程</a:t>
            </a:r>
            <a:endParaRPr lang="en-US" altLang="zh-CN" b="1" dirty="0" smtClean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marL="3222625" indent="-3222625"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中断响应：</a:t>
            </a:r>
            <a:r>
              <a:rPr lang="zh-CN" altLang="en-US" b="1" dirty="0" smtClean="0">
                <a:latin typeface="宋体" panose="02010600030101010101" pitchFamily="2" charset="-122"/>
              </a:rPr>
              <a:t>有</a:t>
            </a:r>
            <a:r>
              <a:rPr lang="en-US" altLang="zh-CN" b="1" dirty="0" smtClean="0"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</a:rPr>
              <a:t>个</a:t>
            </a:r>
            <a:r>
              <a:rPr lang="zh-CN" altLang="en-US" b="1" dirty="0" smtClean="0">
                <a:latin typeface="宋体" panose="02010600030101010101" pitchFamily="2" charset="-122"/>
              </a:rPr>
              <a:t>任务，由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的中断</a:t>
            </a:r>
            <a:r>
              <a:rPr lang="zh-CN" altLang="en-US" b="1" dirty="0" smtClean="0">
                <a:latin typeface="宋体" panose="02010600030101010101" pitchFamily="2" charset="-122"/>
              </a:rPr>
              <a:t>机构实现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⑴保存断点及程序状态</a:t>
            </a:r>
            <a:r>
              <a:rPr lang="en-US" altLang="zh-CN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⑵关中断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    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使处理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过程不被新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的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INTR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事件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打断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实现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：</a:t>
            </a: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⑶识别事件类型并转入处理程序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 </a:t>
            </a:r>
            <a:r>
              <a:rPr lang="zh-CN" altLang="en-US" b="1" dirty="0" smtClean="0">
                <a:latin typeface="宋体" panose="02010600030101010101" pitchFamily="2" charset="-122"/>
              </a:rPr>
              <a:t>包括</a:t>
            </a:r>
            <a:r>
              <a:rPr lang="en-US" altLang="zh-CN" b="1" dirty="0"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</a:rPr>
              <a:t>个子任务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spc="-150" dirty="0" smtClean="0">
                <a:latin typeface="宋体" panose="02010600030101010101" pitchFamily="2" charset="-122"/>
              </a:rPr>
              <a:t>①识别中断源，②</a:t>
            </a:r>
            <a:r>
              <a:rPr lang="zh-CN" altLang="en-US" b="1" spc="-150" dirty="0">
                <a:latin typeface="宋体" panose="02010600030101010101" pitchFamily="2" charset="-122"/>
              </a:rPr>
              <a:t>获得处理程序入口</a:t>
            </a:r>
            <a:r>
              <a:rPr lang="zh-CN" altLang="en-US" b="1" spc="-150" dirty="0" smtClean="0">
                <a:latin typeface="宋体" panose="02010600030101010101" pitchFamily="2" charset="-122"/>
              </a:rPr>
              <a:t>地址，③</a:t>
            </a:r>
            <a:r>
              <a:rPr lang="en-US" altLang="zh-CN" b="1" spc="-150" dirty="0" smtClean="0">
                <a:latin typeface="宋体" panose="02010600030101010101" pitchFamily="2" charset="-122"/>
              </a:rPr>
              <a:t>PC</a:t>
            </a:r>
            <a:r>
              <a:rPr lang="zh-CN" altLang="en-US" b="1" spc="-150" dirty="0" smtClean="0">
                <a:latin typeface="宋体" panose="02010600030101010101" pitchFamily="2" charset="-122"/>
              </a:rPr>
              <a:t>←入口地址</a:t>
            </a:r>
            <a:endParaRPr lang="en-US" altLang="zh-CN" b="1" spc="-15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向量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方式实现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：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50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      INTR--</a:t>
            </a:r>
            <a:endParaRPr lang="en-US" altLang="zh-CN" b="1" spc="-150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50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       NMI—</a:t>
            </a:r>
            <a:endParaRPr lang="en-US" altLang="zh-CN" b="1" spc="-150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spc="-150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非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向量方式实现：</a:t>
            </a:r>
            <a:endParaRPr lang="zh-CN" altLang="en-US" b="1" spc="-150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91" name="Text Box 149"/>
          <p:cNvSpPr txBox="1">
            <a:spLocks noChangeArrowheads="1"/>
          </p:cNvSpPr>
          <p:nvPr/>
        </p:nvSpPr>
        <p:spPr bwMode="auto">
          <a:xfrm>
            <a:off x="2231866" y="1688034"/>
            <a:ext cx="6696744" cy="5909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用后援寄存器</a:t>
            </a:r>
            <a:r>
              <a:rPr lang="en-US" altLang="zh-CN" b="1" dirty="0" smtClean="0">
                <a:latin typeface="宋体" panose="02010600030101010101" pitchFamily="2" charset="-122"/>
              </a:rPr>
              <a:t>(</a:t>
            </a:r>
            <a:r>
              <a:rPr lang="zh-CN" altLang="en-US" b="1" dirty="0" smtClean="0">
                <a:latin typeface="宋体" panose="02010600030101010101" pitchFamily="2" charset="-122"/>
              </a:rPr>
              <a:t>栈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保存</a:t>
            </a:r>
            <a:r>
              <a:rPr lang="en-US" altLang="zh-CN" b="1" dirty="0">
                <a:latin typeface="宋体" panose="02010600030101010101" pitchFamily="2" charset="-122"/>
              </a:rPr>
              <a:t>PC</a:t>
            </a:r>
            <a:r>
              <a:rPr lang="zh-CN" altLang="en-US" b="1" spc="-100" dirty="0">
                <a:latin typeface="宋体" panose="02010600030101010101" pitchFamily="2" charset="-122"/>
              </a:rPr>
              <a:t>及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PSR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←返回到下条指令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699543" y="4490654"/>
            <a:ext cx="5904905" cy="1015663"/>
            <a:chOff x="2699543" y="4525494"/>
            <a:chExt cx="5904905" cy="1015663"/>
          </a:xfrm>
        </p:grpSpPr>
        <p:sp>
          <p:nvSpPr>
            <p:cNvPr id="17" name="Text Box 202"/>
            <p:cNvSpPr txBox="1">
              <a:spLocks noChangeArrowheads="1"/>
            </p:cNvSpPr>
            <p:nvPr/>
          </p:nvSpPr>
          <p:spPr bwMode="auto">
            <a:xfrm>
              <a:off x="2789378" y="4642544"/>
              <a:ext cx="1872000" cy="34192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eaLnBrk="0" hangingPunct="0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Text Box 202"/>
            <p:cNvSpPr txBox="1">
              <a:spLocks noChangeArrowheads="1"/>
            </p:cNvSpPr>
            <p:nvPr/>
          </p:nvSpPr>
          <p:spPr bwMode="auto">
            <a:xfrm>
              <a:off x="5507410" y="5092412"/>
              <a:ext cx="1260711" cy="34192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eaLnBrk="0" hangingPunct="0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0" name="Text Box 202"/>
            <p:cNvSpPr txBox="1">
              <a:spLocks noChangeArrowheads="1"/>
            </p:cNvSpPr>
            <p:nvPr/>
          </p:nvSpPr>
          <p:spPr bwMode="auto">
            <a:xfrm>
              <a:off x="5508104" y="4642544"/>
              <a:ext cx="1260017" cy="341926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2700">
              <a:solidFill>
                <a:schemeClr val="accent2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eaLnBrk="0" hangingPunct="0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Text Box 82"/>
            <p:cNvSpPr txBox="1">
              <a:spLocks noChangeArrowheads="1"/>
            </p:cNvSpPr>
            <p:nvPr/>
          </p:nvSpPr>
          <p:spPr bwMode="auto">
            <a:xfrm>
              <a:off x="2699543" y="4525494"/>
              <a:ext cx="5904905" cy="101566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lang="zh-CN" altLang="en-US" b="1" dirty="0">
                  <a:latin typeface="宋体" panose="02010600030101010101" pitchFamily="2" charset="-122"/>
                </a:rPr>
                <a:t>中断响应操作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得</a:t>
              </a:r>
              <a:r>
                <a:rPr lang="en-US" altLang="zh-CN" sz="1800" b="1" i="1" dirty="0"/>
                <a:t>x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、访</a:t>
              </a:r>
              <a:r>
                <a:rPr lang="zh-CN" altLang="en-US" b="1" dirty="0">
                  <a:latin typeface="宋体" panose="02010600030101010101" pitchFamily="2" charset="-122"/>
                </a:rPr>
                <a:t>存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操作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得</a:t>
              </a:r>
              <a:r>
                <a:rPr lang="en-US" altLang="zh-CN" sz="1800" b="1" i="1" dirty="0" smtClean="0">
                  <a:latin typeface="+mn-lt"/>
                </a:rPr>
                <a:t>y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b="1" i="1" dirty="0" smtClean="0"/>
                <a:t>y</a:t>
              </a:r>
              <a:endParaRPr lang="en-US" altLang="zh-CN" b="1" i="1" dirty="0" smtClean="0"/>
            </a:p>
            <a:p>
              <a:pPr algn="l">
                <a:lnSpc>
                  <a:spcPct val="125000"/>
                </a:lnSpc>
              </a:pPr>
              <a:r>
                <a:rPr lang="en-US" altLang="zh-CN" b="1" dirty="0" smtClean="0">
                  <a:latin typeface="宋体" panose="02010600030101010101" pitchFamily="2" charset="-122"/>
                </a:rPr>
                <a:t>        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800" b="1" i="1" dirty="0" smtClean="0">
                  <a:latin typeface="+mn-lt"/>
                </a:rPr>
                <a:t>x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＝常数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en-US" altLang="zh-CN" b="1" dirty="0" smtClean="0">
                  <a:latin typeface="宋体" panose="02010600030101010101" pitchFamily="2" charset="-122"/>
                </a:rPr>
                <a:t>  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访</a:t>
              </a:r>
              <a:r>
                <a:rPr lang="zh-CN" altLang="en-US" b="1" dirty="0">
                  <a:latin typeface="宋体" panose="02010600030101010101" pitchFamily="2" charset="-122"/>
                </a:rPr>
                <a:t>存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操作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得</a:t>
              </a:r>
              <a:r>
                <a:rPr lang="en-US" altLang="zh-CN" sz="1800" b="1" i="1" dirty="0" smtClean="0">
                  <a:latin typeface="+mn-lt"/>
                </a:rPr>
                <a:t>y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、</a:t>
              </a:r>
              <a:r>
                <a:rPr lang="en-US" altLang="zh-CN" b="1" dirty="0">
                  <a:latin typeface="宋体" panose="02010600030101010101" pitchFamily="2" charset="-122"/>
                </a:rPr>
                <a:t>PC</a:t>
              </a:r>
              <a:r>
                <a:rPr lang="zh-CN" altLang="en-US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b="1" i="1" dirty="0" smtClean="0"/>
                <a:t>y</a:t>
              </a:r>
              <a:endParaRPr lang="en-US" altLang="zh-CN" b="1" i="1" dirty="0"/>
            </a:p>
          </p:txBody>
        </p:sp>
      </p:grpSp>
      <p:sp>
        <p:nvSpPr>
          <p:cNvPr id="99" name="Text Box 82"/>
          <p:cNvSpPr txBox="1">
            <a:spLocks noChangeArrowheads="1"/>
          </p:cNvSpPr>
          <p:nvPr/>
        </p:nvSpPr>
        <p:spPr bwMode="auto">
          <a:xfrm>
            <a:off x="3834714" y="5770424"/>
            <a:ext cx="5184576" cy="4600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PC</a:t>
            </a:r>
            <a:r>
              <a:rPr lang="zh-CN" altLang="en-US" b="1" dirty="0" smtClean="0">
                <a:latin typeface="宋体" panose="02010600030101010101" pitchFamily="2" charset="-122"/>
              </a:rPr>
              <a:t>←常数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←①②在处理程序中完成</a:t>
            </a:r>
            <a:endParaRPr lang="en-US" altLang="zh-CN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100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355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75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线形标注 2 12"/>
          <p:cNvSpPr/>
          <p:nvPr/>
        </p:nvSpPr>
        <p:spPr bwMode="auto">
          <a:xfrm>
            <a:off x="6371954" y="5498992"/>
            <a:ext cx="936350" cy="271432"/>
          </a:xfrm>
          <a:prstGeom prst="borderCallout2">
            <a:avLst>
              <a:gd name="adj1" fmla="val 47909"/>
              <a:gd name="adj2" fmla="val -1420"/>
              <a:gd name="adj3" fmla="val 46180"/>
              <a:gd name="adj4" fmla="val -14635"/>
              <a:gd name="adj5" fmla="val -27154"/>
              <a:gd name="adj6" fmla="val -36174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查</a:t>
            </a:r>
            <a:r>
              <a:rPr lang="en-US" altLang="zh-CN" sz="1800" b="1" dirty="0" smtClean="0">
                <a:latin typeface="+mn-ea"/>
                <a:ea typeface="+mn-ea"/>
              </a:rPr>
              <a:t>IVT[</a:t>
            </a:r>
            <a:r>
              <a:rPr lang="en-US" altLang="zh-CN" sz="1800" b="1" i="1" dirty="0" smtClean="0">
                <a:latin typeface="+mn-lt"/>
                <a:ea typeface="+mn-ea"/>
              </a:rPr>
              <a:t>x</a:t>
            </a:r>
            <a:r>
              <a:rPr lang="en-US" altLang="zh-CN" sz="1800" b="1" dirty="0" smtClean="0">
                <a:latin typeface="+mn-ea"/>
                <a:ea typeface="+mn-ea"/>
              </a:rPr>
              <a:t>]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16" name="Text Box 149"/>
          <p:cNvSpPr txBox="1">
            <a:spLocks noChangeArrowheads="1"/>
          </p:cNvSpPr>
          <p:nvPr/>
        </p:nvSpPr>
        <p:spPr bwMode="auto">
          <a:xfrm>
            <a:off x="2195736" y="2615609"/>
            <a:ext cx="6732874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PSR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en-US" altLang="zh-CN" b="1" dirty="0" smtClean="0">
                <a:latin typeface="宋体" panose="02010600030101010101" pitchFamily="2" charset="-122"/>
              </a:rPr>
              <a:t>IF</a:t>
            </a:r>
            <a:r>
              <a:rPr lang="zh-CN" altLang="en-US" b="1" dirty="0" smtClean="0">
                <a:latin typeface="宋体" panose="02010600030101010101" pitchFamily="2" charset="-122"/>
              </a:rPr>
              <a:t>←</a:t>
            </a:r>
            <a:r>
              <a:rPr lang="en-US" altLang="zh-CN" b="1" dirty="0" smtClean="0">
                <a:latin typeface="宋体" panose="02010600030101010101" pitchFamily="2" charset="-122"/>
              </a:rPr>
              <a:t>0</a:t>
            </a:r>
            <a:r>
              <a:rPr lang="zh-CN" altLang="en-US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INTR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频繁发生、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NMI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概率太小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9" name="线形标注 2 18"/>
          <p:cNvSpPr/>
          <p:nvPr/>
        </p:nvSpPr>
        <p:spPr bwMode="auto">
          <a:xfrm>
            <a:off x="3635897" y="5498992"/>
            <a:ext cx="2052228" cy="271432"/>
          </a:xfrm>
          <a:prstGeom prst="borderCallout2">
            <a:avLst>
              <a:gd name="adj1" fmla="val 47909"/>
              <a:gd name="adj2" fmla="val -1420"/>
              <a:gd name="adj3" fmla="val 46180"/>
              <a:gd name="adj4" fmla="val -14635"/>
              <a:gd name="adj5" fmla="val -187574"/>
              <a:gd name="adj6" fmla="val -23230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查各</a:t>
            </a:r>
            <a:r>
              <a:rPr lang="en-US" altLang="zh-CN" sz="1800" b="1" dirty="0" smtClean="0"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latin typeface="+mn-ea"/>
                <a:ea typeface="+mn-ea"/>
              </a:rPr>
              <a:t>接口的端口</a:t>
            </a:r>
            <a:endParaRPr lang="zh-CN" altLang="en-US" sz="1800" b="1" dirty="0">
              <a:latin typeface="+mn-ea"/>
              <a:ea typeface="+mn-ea"/>
            </a:endParaRPr>
          </a:p>
        </p:txBody>
      </p:sp>
      <p:sp>
        <p:nvSpPr>
          <p:cNvPr id="21" name="线形标注 2 20"/>
          <p:cNvSpPr/>
          <p:nvPr/>
        </p:nvSpPr>
        <p:spPr bwMode="auto">
          <a:xfrm>
            <a:off x="4896162" y="1484784"/>
            <a:ext cx="2016918" cy="271432"/>
          </a:xfrm>
          <a:prstGeom prst="borderCallout2">
            <a:avLst>
              <a:gd name="adj1" fmla="val 50069"/>
              <a:gd name="adj2" fmla="val 189"/>
              <a:gd name="adj3" fmla="val 48340"/>
              <a:gd name="adj4" fmla="val -6051"/>
              <a:gd name="adj5" fmla="val 124164"/>
              <a:gd name="adj6" fmla="val -18068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多重中断时</a:t>
            </a:r>
            <a:r>
              <a:rPr lang="zh-CN" altLang="en-US" sz="1600" b="1" dirty="0" smtClean="0">
                <a:latin typeface="+mn-ea"/>
                <a:ea typeface="+mn-ea"/>
              </a:rPr>
              <a:t>需使用</a:t>
            </a:r>
            <a:r>
              <a:rPr lang="zh-CN" altLang="en-US" sz="1600" b="1" dirty="0" smtClean="0">
                <a:latin typeface="+mn-ea"/>
                <a:ea typeface="+mn-ea"/>
              </a:rPr>
              <a:t>栈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23" name="AutoShape 62">
            <a:hlinkClick r:id="rId2" action="ppaction://hlinkpres?slideindex=84&amp;slidetitle=PowerPoint 演示文稿"/>
          </p:cNvPr>
          <p:cNvSpPr>
            <a:spLocks noChangeArrowheads="1"/>
          </p:cNvSpPr>
          <p:nvPr/>
        </p:nvSpPr>
        <p:spPr bwMode="auto">
          <a:xfrm>
            <a:off x="8172400" y="3178136"/>
            <a:ext cx="519932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horz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  <a:latin typeface="+mn-ea"/>
                <a:ea typeface="+mn-ea"/>
              </a:rPr>
              <a:t>5-84</a:t>
            </a:r>
            <a:endParaRPr lang="zh-CN" altLang="en-US" sz="1600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" presetClass="entr" presetSubtype="1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/>
      <p:bldP spid="99" grpId="0"/>
      <p:bldP spid="13" grpId="0" animBg="1"/>
      <p:bldP spid="16" grpId="0"/>
      <p:bldP spid="19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11" name="Text Box 205"/>
          <p:cNvSpPr txBox="1">
            <a:spLocks noChangeArrowheads="1"/>
          </p:cNvSpPr>
          <p:nvPr/>
        </p:nvSpPr>
        <p:spPr bwMode="auto">
          <a:xfrm>
            <a:off x="179389" y="359360"/>
            <a:ext cx="7128916" cy="609397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中断处理：</a:t>
            </a:r>
            <a:r>
              <a:rPr lang="zh-CN" altLang="en-US" b="1" dirty="0" smtClean="0">
                <a:latin typeface="宋体" panose="02010600030101010101" pitchFamily="2" charset="-122"/>
              </a:rPr>
              <a:t>由中断处理程序实现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软件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程序结构的组织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返回指令的功能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12" name="Text Box 338"/>
          <p:cNvSpPr txBox="1">
            <a:spLocks noChangeArrowheads="1"/>
          </p:cNvSpPr>
          <p:nvPr/>
        </p:nvSpPr>
        <p:spPr bwMode="auto">
          <a:xfrm>
            <a:off x="3131840" y="806275"/>
            <a:ext cx="568863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只</a:t>
            </a:r>
            <a:r>
              <a:rPr lang="zh-CN" altLang="en-US" b="1" dirty="0" smtClean="0">
                <a:latin typeface="宋体" panose="02010600030101010101" pitchFamily="2" charset="-122"/>
              </a:rPr>
              <a:t>传送一个数据，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不</a:t>
            </a:r>
            <a:r>
              <a:rPr lang="zh-CN" altLang="en-US" b="1" dirty="0" smtClean="0">
                <a:latin typeface="宋体" panose="02010600030101010101" pitchFamily="2" charset="-122"/>
              </a:rPr>
              <a:t>破坏现场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(GPRs)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可</a:t>
            </a:r>
            <a:r>
              <a:rPr lang="zh-CN" altLang="en-US" b="1" dirty="0" smtClean="0">
                <a:latin typeface="宋体" panose="02010600030101010101" pitchFamily="2" charset="-122"/>
              </a:rPr>
              <a:t>改变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处理优先级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>
                <a:latin typeface="宋体" panose="02010600030101010101" pitchFamily="2" charset="-122"/>
              </a:rPr>
              <a:t>多重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中断时需要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2987824" y="2174427"/>
            <a:ext cx="2016223" cy="3672408"/>
            <a:chOff x="1907704" y="2564904"/>
            <a:chExt cx="2016223" cy="3672408"/>
          </a:xfrm>
        </p:grpSpPr>
        <p:cxnSp>
          <p:nvCxnSpPr>
            <p:cNvPr id="69" name="直接箭头连接符 68"/>
            <p:cNvCxnSpPr>
              <a:endCxn id="71" idx="0"/>
            </p:cNvCxnSpPr>
            <p:nvPr/>
          </p:nvCxnSpPr>
          <p:spPr bwMode="auto">
            <a:xfrm>
              <a:off x="2911451" y="2564904"/>
              <a:ext cx="4365" cy="21602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71" name="Text Box 382"/>
            <p:cNvSpPr txBox="1">
              <a:spLocks noChangeArrowheads="1"/>
            </p:cNvSpPr>
            <p:nvPr/>
          </p:nvSpPr>
          <p:spPr bwMode="auto">
            <a:xfrm>
              <a:off x="1907704" y="2780927"/>
              <a:ext cx="2016223" cy="2904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保存现场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2" name="Text Box 383"/>
            <p:cNvSpPr txBox="1">
              <a:spLocks noChangeArrowheads="1"/>
            </p:cNvSpPr>
            <p:nvPr/>
          </p:nvSpPr>
          <p:spPr bwMode="auto">
            <a:xfrm>
              <a:off x="2338041" y="4295497"/>
              <a:ext cx="1153839" cy="430213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服务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385"/>
            <p:cNvSpPr txBox="1">
              <a:spLocks noChangeArrowheads="1"/>
            </p:cNvSpPr>
            <p:nvPr/>
          </p:nvSpPr>
          <p:spPr bwMode="auto">
            <a:xfrm>
              <a:off x="2338041" y="5951681"/>
              <a:ext cx="1153839" cy="2856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返回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>
              <a:stCxn id="71" idx="2"/>
              <a:endCxn id="72" idx="0"/>
            </p:cNvCxnSpPr>
            <p:nvPr/>
          </p:nvCxnSpPr>
          <p:spPr bwMode="auto">
            <a:xfrm flipH="1">
              <a:off x="2914961" y="3071360"/>
              <a:ext cx="855" cy="12241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7" name="直接箭头连接符 76"/>
            <p:cNvCxnSpPr>
              <a:stCxn id="72" idx="2"/>
              <a:endCxn id="81" idx="0"/>
            </p:cNvCxnSpPr>
            <p:nvPr/>
          </p:nvCxnSpPr>
          <p:spPr bwMode="auto">
            <a:xfrm>
              <a:off x="2914961" y="4725710"/>
              <a:ext cx="855" cy="71951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1" name="Text Box 382"/>
            <p:cNvSpPr txBox="1">
              <a:spLocks noChangeArrowheads="1"/>
            </p:cNvSpPr>
            <p:nvPr/>
          </p:nvSpPr>
          <p:spPr bwMode="auto">
            <a:xfrm>
              <a:off x="1907704" y="5445224"/>
              <a:ext cx="2016223" cy="2904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恢复现场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82" name="直接箭头连接符 81"/>
            <p:cNvCxnSpPr>
              <a:stCxn id="81" idx="2"/>
              <a:endCxn id="73" idx="0"/>
            </p:cNvCxnSpPr>
            <p:nvPr/>
          </p:nvCxnSpPr>
          <p:spPr bwMode="auto">
            <a:xfrm flipH="1">
              <a:off x="2914961" y="5735657"/>
              <a:ext cx="855" cy="2160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108" name="组合 107"/>
          <p:cNvGrpSpPr/>
          <p:nvPr/>
        </p:nvGrpSpPr>
        <p:grpSpPr>
          <a:xfrm>
            <a:off x="683568" y="1790769"/>
            <a:ext cx="7920880" cy="4053665"/>
            <a:chOff x="-468560" y="2181246"/>
            <a:chExt cx="7920880" cy="4053665"/>
          </a:xfrm>
        </p:grpSpPr>
        <p:sp>
          <p:nvSpPr>
            <p:cNvPr id="15" name="Text Box 327"/>
            <p:cNvSpPr txBox="1">
              <a:spLocks noChangeArrowheads="1"/>
            </p:cNvSpPr>
            <p:nvPr/>
          </p:nvSpPr>
          <p:spPr bwMode="auto">
            <a:xfrm>
              <a:off x="-468560" y="2181246"/>
              <a:ext cx="1725861" cy="38125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硬件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中断响应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337"/>
            <p:cNvSpPr txBox="1">
              <a:spLocks noChangeArrowheads="1"/>
            </p:cNvSpPr>
            <p:nvPr/>
          </p:nvSpPr>
          <p:spPr bwMode="auto">
            <a:xfrm>
              <a:off x="1403350" y="2207265"/>
              <a:ext cx="6048970" cy="3576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105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保存断点及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PSW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，关中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断，识别中断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源并转入中断处理程序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左大括号 102"/>
            <p:cNvSpPr/>
            <p:nvPr/>
          </p:nvSpPr>
          <p:spPr bwMode="auto">
            <a:xfrm>
              <a:off x="1259632" y="2778526"/>
              <a:ext cx="108012" cy="3456385"/>
            </a:xfrm>
            <a:prstGeom prst="leftBrace">
              <a:avLst>
                <a:gd name="adj1" fmla="val 33987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4" name="左大括号 103"/>
            <p:cNvSpPr/>
            <p:nvPr/>
          </p:nvSpPr>
          <p:spPr bwMode="auto">
            <a:xfrm>
              <a:off x="1259632" y="2204865"/>
              <a:ext cx="108012" cy="360040"/>
            </a:xfrm>
            <a:prstGeom prst="leftBrace">
              <a:avLst>
                <a:gd name="adj1" fmla="val 33987"/>
                <a:gd name="adj2" fmla="val 5000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Text Box 327"/>
            <p:cNvSpPr txBox="1">
              <a:spLocks noChangeArrowheads="1"/>
            </p:cNvSpPr>
            <p:nvPr/>
          </p:nvSpPr>
          <p:spPr bwMode="auto">
            <a:xfrm>
              <a:off x="-396552" y="4293096"/>
              <a:ext cx="1653851" cy="381258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5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软件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中断处理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09" name="线形标注 2 108"/>
          <p:cNvSpPr/>
          <p:nvPr/>
        </p:nvSpPr>
        <p:spPr bwMode="auto">
          <a:xfrm>
            <a:off x="683568" y="2999715"/>
            <a:ext cx="1368152" cy="542864"/>
          </a:xfrm>
          <a:prstGeom prst="borderCallout2">
            <a:avLst>
              <a:gd name="adj1" fmla="val 51211"/>
              <a:gd name="adj2" fmla="val 99843"/>
              <a:gd name="adj3" fmla="val 51134"/>
              <a:gd name="adj4" fmla="val 114914"/>
              <a:gd name="adj5" fmla="val -57823"/>
              <a:gd name="adj6" fmla="val 165491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800" b="1" dirty="0" smtClean="0">
                <a:latin typeface="+mn-ea"/>
                <a:ea typeface="+mn-ea"/>
              </a:rPr>
              <a:t>仅保存</a:t>
            </a: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程序所用</a:t>
            </a:r>
            <a:r>
              <a:rPr lang="zh-CN" altLang="en-US" sz="1800" b="1" dirty="0">
                <a:latin typeface="+mn-ea"/>
                <a:ea typeface="+mn-ea"/>
              </a:rPr>
              <a:t>寄存器</a:t>
            </a:r>
            <a:endParaRPr lang="zh-CN" altLang="en-US" sz="1800" b="1" dirty="0">
              <a:latin typeface="+mn-ea"/>
              <a:ea typeface="+mn-ea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5076056" y="2390450"/>
            <a:ext cx="432048" cy="2954730"/>
            <a:chOff x="4139952" y="2780927"/>
            <a:chExt cx="432048" cy="2954730"/>
          </a:xfrm>
        </p:grpSpPr>
        <p:sp>
          <p:nvSpPr>
            <p:cNvPr id="113" name="右大括号 112"/>
            <p:cNvSpPr/>
            <p:nvPr/>
          </p:nvSpPr>
          <p:spPr bwMode="auto">
            <a:xfrm>
              <a:off x="4139952" y="2780927"/>
              <a:ext cx="144016" cy="2954730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Text Box 341"/>
            <p:cNvSpPr txBox="1">
              <a:spLocks noChangeArrowheads="1"/>
            </p:cNvSpPr>
            <p:nvPr/>
          </p:nvSpPr>
          <p:spPr bwMode="auto">
            <a:xfrm>
              <a:off x="4283645" y="3459437"/>
              <a:ext cx="288355" cy="1728000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不响应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7596336" y="3902619"/>
            <a:ext cx="1079692" cy="432614"/>
            <a:chOff x="4139952" y="2780927"/>
            <a:chExt cx="1079692" cy="432614"/>
          </a:xfrm>
        </p:grpSpPr>
        <p:sp>
          <p:nvSpPr>
            <p:cNvPr id="118" name="右大括号 117"/>
            <p:cNvSpPr/>
            <p:nvPr/>
          </p:nvSpPr>
          <p:spPr bwMode="auto">
            <a:xfrm>
              <a:off x="4139952" y="2780927"/>
              <a:ext cx="72008" cy="432614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15875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9" name="Text Box 341"/>
            <p:cNvSpPr txBox="1">
              <a:spLocks noChangeArrowheads="1"/>
            </p:cNvSpPr>
            <p:nvPr/>
          </p:nvSpPr>
          <p:spPr bwMode="auto">
            <a:xfrm>
              <a:off x="4283644" y="2780927"/>
              <a:ext cx="936000" cy="430213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可响应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7" name="Text Box 205"/>
          <p:cNvSpPr txBox="1">
            <a:spLocks noChangeArrowheads="1"/>
          </p:cNvSpPr>
          <p:nvPr/>
        </p:nvSpPr>
        <p:spPr bwMode="auto">
          <a:xfrm>
            <a:off x="3743846" y="5846835"/>
            <a:ext cx="5004618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恢复所保存的断点</a:t>
            </a:r>
            <a:r>
              <a:rPr lang="zh-CN" altLang="en-US" b="1" dirty="0">
                <a:latin typeface="宋体" panose="02010600030101010101" pitchFamily="2" charset="-122"/>
              </a:rPr>
              <a:t>及</a:t>
            </a:r>
            <a:r>
              <a:rPr lang="zh-CN" altLang="en-US" b="1" dirty="0" smtClean="0">
                <a:latin typeface="宋体" panose="02010600030101010101" pitchFamily="2" charset="-122"/>
              </a:rPr>
              <a:t>程序状态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40153" y="2172026"/>
            <a:ext cx="2016223" cy="3672408"/>
            <a:chOff x="5940153" y="2172026"/>
            <a:chExt cx="2016223" cy="3672408"/>
          </a:xfrm>
        </p:grpSpPr>
        <p:cxnSp>
          <p:nvCxnSpPr>
            <p:cNvPr id="27" name="直接箭头连接符 26"/>
            <p:cNvCxnSpPr>
              <a:endCxn id="43" idx="0"/>
            </p:cNvCxnSpPr>
            <p:nvPr/>
          </p:nvCxnSpPr>
          <p:spPr bwMode="auto">
            <a:xfrm>
              <a:off x="6943900" y="2172026"/>
              <a:ext cx="4365" cy="21602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1" name="Text Box 380"/>
            <p:cNvSpPr txBox="1">
              <a:spLocks noChangeArrowheads="1"/>
            </p:cNvSpPr>
            <p:nvPr/>
          </p:nvSpPr>
          <p:spPr bwMode="auto">
            <a:xfrm>
              <a:off x="6370490" y="3398563"/>
              <a:ext cx="1153839" cy="28563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开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中断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3" name="Text Box 382"/>
            <p:cNvSpPr txBox="1">
              <a:spLocks noChangeArrowheads="1"/>
            </p:cNvSpPr>
            <p:nvPr/>
          </p:nvSpPr>
          <p:spPr bwMode="auto">
            <a:xfrm>
              <a:off x="5940153" y="2388049"/>
              <a:ext cx="2016223" cy="2904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保存现场及屏蔽字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4" name="Text Box 383"/>
            <p:cNvSpPr txBox="1">
              <a:spLocks noChangeArrowheads="1"/>
            </p:cNvSpPr>
            <p:nvPr/>
          </p:nvSpPr>
          <p:spPr bwMode="auto">
            <a:xfrm>
              <a:off x="6370490" y="3902619"/>
              <a:ext cx="1153839" cy="430213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/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服务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6" name="Text Box 385"/>
            <p:cNvSpPr txBox="1">
              <a:spLocks noChangeArrowheads="1"/>
            </p:cNvSpPr>
            <p:nvPr/>
          </p:nvSpPr>
          <p:spPr bwMode="auto">
            <a:xfrm>
              <a:off x="6370490" y="5558803"/>
              <a:ext cx="1153839" cy="285631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返回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5" name="直接箭头连接符 54"/>
            <p:cNvCxnSpPr>
              <a:stCxn id="43" idx="2"/>
              <a:endCxn id="61" idx="0"/>
            </p:cNvCxnSpPr>
            <p:nvPr/>
          </p:nvCxnSpPr>
          <p:spPr bwMode="auto">
            <a:xfrm>
              <a:off x="6948265" y="2678482"/>
              <a:ext cx="0" cy="21602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57" name="直接箭头连接符 56"/>
            <p:cNvCxnSpPr>
              <a:stCxn id="41" idx="2"/>
              <a:endCxn id="44" idx="0"/>
            </p:cNvCxnSpPr>
            <p:nvPr/>
          </p:nvCxnSpPr>
          <p:spPr bwMode="auto">
            <a:xfrm>
              <a:off x="6947410" y="3684194"/>
              <a:ext cx="0" cy="21842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58" name="Text Box 380"/>
            <p:cNvSpPr txBox="1">
              <a:spLocks noChangeArrowheads="1"/>
            </p:cNvSpPr>
            <p:nvPr/>
          </p:nvSpPr>
          <p:spPr bwMode="auto">
            <a:xfrm>
              <a:off x="6370490" y="4550691"/>
              <a:ext cx="1153839" cy="28563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关中断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59" name="直接箭头连接符 58"/>
            <p:cNvCxnSpPr>
              <a:stCxn id="44" idx="2"/>
              <a:endCxn id="58" idx="0"/>
            </p:cNvCxnSpPr>
            <p:nvPr/>
          </p:nvCxnSpPr>
          <p:spPr bwMode="auto">
            <a:xfrm>
              <a:off x="6947410" y="4332832"/>
              <a:ext cx="0" cy="217859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0" name="直接箭头连接符 59"/>
            <p:cNvCxnSpPr>
              <a:stCxn id="58" idx="2"/>
              <a:endCxn id="65" idx="0"/>
            </p:cNvCxnSpPr>
            <p:nvPr/>
          </p:nvCxnSpPr>
          <p:spPr bwMode="auto">
            <a:xfrm>
              <a:off x="6947410" y="4836322"/>
              <a:ext cx="855" cy="2160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1" name="Text Box 380"/>
            <p:cNvSpPr txBox="1">
              <a:spLocks noChangeArrowheads="1"/>
            </p:cNvSpPr>
            <p:nvPr/>
          </p:nvSpPr>
          <p:spPr bwMode="auto">
            <a:xfrm>
              <a:off x="6228185" y="2894507"/>
              <a:ext cx="1440160" cy="285631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置新屏蔽字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2" name="直接箭头连接符 61"/>
            <p:cNvCxnSpPr>
              <a:stCxn id="61" idx="2"/>
              <a:endCxn id="41" idx="0"/>
            </p:cNvCxnSpPr>
            <p:nvPr/>
          </p:nvCxnSpPr>
          <p:spPr bwMode="auto">
            <a:xfrm flipH="1">
              <a:off x="6947410" y="3180138"/>
              <a:ext cx="855" cy="218425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6" name="直接箭头连接符 65"/>
            <p:cNvCxnSpPr>
              <a:stCxn id="65" idx="2"/>
              <a:endCxn id="46" idx="0"/>
            </p:cNvCxnSpPr>
            <p:nvPr/>
          </p:nvCxnSpPr>
          <p:spPr bwMode="auto">
            <a:xfrm flipH="1">
              <a:off x="6947410" y="5342779"/>
              <a:ext cx="855" cy="21602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8" name="Text Box 382"/>
            <p:cNvSpPr txBox="1">
              <a:spLocks noChangeArrowheads="1"/>
            </p:cNvSpPr>
            <p:nvPr/>
          </p:nvSpPr>
          <p:spPr bwMode="auto">
            <a:xfrm>
              <a:off x="5951038" y="5054719"/>
              <a:ext cx="1008113" cy="29043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382"/>
            <p:cNvSpPr txBox="1">
              <a:spLocks noChangeArrowheads="1"/>
            </p:cNvSpPr>
            <p:nvPr/>
          </p:nvSpPr>
          <p:spPr bwMode="auto">
            <a:xfrm>
              <a:off x="7196946" y="5050125"/>
              <a:ext cx="759430" cy="290433"/>
            </a:xfrm>
            <a:prstGeom prst="rect">
              <a:avLst/>
            </a:prstGeom>
            <a:solidFill>
              <a:srgbClr val="CC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382"/>
            <p:cNvSpPr txBox="1">
              <a:spLocks noChangeArrowheads="1"/>
            </p:cNvSpPr>
            <p:nvPr/>
          </p:nvSpPr>
          <p:spPr bwMode="auto">
            <a:xfrm>
              <a:off x="5940153" y="5052346"/>
              <a:ext cx="2016223" cy="29043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恢复现场及屏蔽字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50" name="线形标注 2 49"/>
          <p:cNvSpPr/>
          <p:nvPr/>
        </p:nvSpPr>
        <p:spPr bwMode="auto">
          <a:xfrm>
            <a:off x="6156455" y="584712"/>
            <a:ext cx="2448000" cy="252000"/>
          </a:xfrm>
          <a:prstGeom prst="borderCallout2">
            <a:avLst>
              <a:gd name="adj1" fmla="val 51211"/>
              <a:gd name="adj2" fmla="val -807"/>
              <a:gd name="adj3" fmla="val 55454"/>
              <a:gd name="adj4" fmla="val -10358"/>
              <a:gd name="adj5" fmla="val 132245"/>
              <a:gd name="adj6" fmla="val -39696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指</a:t>
            </a:r>
            <a:r>
              <a:rPr lang="en-US" altLang="zh-CN" sz="1600" b="1" dirty="0" smtClean="0">
                <a:latin typeface="+mn-ea"/>
                <a:ea typeface="+mn-ea"/>
              </a:rPr>
              <a:t>I/O</a:t>
            </a:r>
            <a:r>
              <a:rPr lang="zh-CN" altLang="en-US" sz="1600" b="1" dirty="0" smtClean="0">
                <a:latin typeface="+mn-ea"/>
                <a:ea typeface="+mn-ea"/>
              </a:rPr>
              <a:t>接口可接收</a:t>
            </a:r>
            <a:r>
              <a:rPr lang="en-US" altLang="zh-CN" sz="1600" b="1" dirty="0" smtClean="0">
                <a:latin typeface="+mn-ea"/>
                <a:ea typeface="+mn-ea"/>
              </a:rPr>
              <a:t>/</a:t>
            </a:r>
            <a:r>
              <a:rPr lang="zh-CN" altLang="en-US" sz="1600" b="1" dirty="0" smtClean="0">
                <a:latin typeface="+mn-ea"/>
                <a:ea typeface="+mn-ea"/>
              </a:rPr>
              <a:t>已存在</a:t>
            </a:r>
            <a:endParaRPr lang="zh-CN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09" grpId="0" animBg="1"/>
      <p:bldP spid="109" grpId="1" animBg="1"/>
      <p:bldP spid="47" grpId="0"/>
      <p:bldP spid="50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251520" y="476672"/>
            <a:ext cx="864096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990099"/>
                </a:solidFill>
                <a:latin typeface="+mn-ea"/>
                <a:ea typeface="+mn-ea"/>
              </a:rPr>
              <a:t>    例</a:t>
            </a:r>
            <a:r>
              <a:rPr lang="en-US" altLang="zh-CN" b="1" dirty="0" smtClean="0">
                <a:solidFill>
                  <a:srgbClr val="990099"/>
                </a:solidFill>
                <a:latin typeface="+mn-ea"/>
                <a:ea typeface="+mn-ea"/>
              </a:rPr>
              <a:t>—</a:t>
            </a:r>
            <a:r>
              <a:rPr lang="en-US" altLang="zh-CN" b="1" dirty="0" smtClean="0">
                <a:latin typeface="+mn-ea"/>
                <a:ea typeface="+mn-ea"/>
              </a:rPr>
              <a:t>C</a:t>
            </a:r>
            <a:r>
              <a:rPr lang="zh-CN" altLang="en-US" b="1" dirty="0" smtClean="0">
                <a:latin typeface="+mn-ea"/>
                <a:ea typeface="+mn-ea"/>
              </a:rPr>
              <a:t>语言中断编程示例：</a:t>
            </a:r>
            <a:endParaRPr lang="en-US" altLang="zh-CN" b="1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#</a:t>
            </a:r>
            <a:r>
              <a:rPr lang="en-US" altLang="zh-CN" sz="2000" dirty="0">
                <a:latin typeface="+mn-ea"/>
                <a:ea typeface="+mn-ea"/>
              </a:rPr>
              <a:t>include   &lt;</a:t>
            </a:r>
            <a:r>
              <a:rPr lang="en-US" altLang="zh-CN" sz="2000" dirty="0" err="1">
                <a:latin typeface="+mn-ea"/>
                <a:ea typeface="+mn-ea"/>
              </a:rPr>
              <a:t>dos.h</a:t>
            </a:r>
            <a:r>
              <a:rPr lang="en-US" altLang="zh-CN" sz="2000" dirty="0">
                <a:latin typeface="+mn-ea"/>
                <a:ea typeface="+mn-ea"/>
              </a:rPr>
              <a:t>&gt;        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 #include   &lt;</a:t>
            </a:r>
            <a:r>
              <a:rPr lang="en-US" altLang="zh-CN" sz="2000" dirty="0" err="1">
                <a:latin typeface="+mn-ea"/>
                <a:ea typeface="+mn-ea"/>
              </a:rPr>
              <a:t>stdio.h</a:t>
            </a:r>
            <a:r>
              <a:rPr lang="en-US" altLang="zh-CN" sz="2000" dirty="0" smtClean="0">
                <a:latin typeface="+mn-ea"/>
                <a:ea typeface="+mn-ea"/>
              </a:rPr>
              <a:t>&gt;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        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char buff[200];    </a:t>
            </a:r>
            <a:r>
              <a:rPr lang="en-US" altLang="zh-CN" sz="2000" dirty="0" err="1" smtClean="0">
                <a:latin typeface="+mn-ea"/>
                <a:ea typeface="+mn-ea"/>
              </a:rPr>
              <a:t>int</a:t>
            </a:r>
            <a:r>
              <a:rPr lang="en-US" altLang="zh-CN" sz="2000" dirty="0" smtClean="0">
                <a:latin typeface="+mn-ea"/>
                <a:ea typeface="+mn-ea"/>
              </a:rPr>
              <a:t> </a:t>
            </a:r>
            <a:r>
              <a:rPr lang="en-US" altLang="zh-CN" sz="2000" dirty="0" err="1" smtClean="0">
                <a:latin typeface="+mn-ea"/>
                <a:ea typeface="+mn-ea"/>
              </a:rPr>
              <a:t>ndx</a:t>
            </a:r>
            <a:r>
              <a:rPr lang="en-US" altLang="zh-CN" sz="2000" dirty="0" smtClean="0">
                <a:latin typeface="+mn-ea"/>
                <a:ea typeface="+mn-ea"/>
              </a:rPr>
              <a:t> = 0;</a:t>
            </a:r>
            <a:r>
              <a:rPr lang="en-US" altLang="zh-CN" sz="2000" dirty="0">
                <a:latin typeface="+mn-ea"/>
                <a:ea typeface="+mn-ea"/>
              </a:rPr>
              <a:t>  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</a:rPr>
              <a:t>static void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 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</a:rPr>
              <a:t>interrupt</a:t>
            </a: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err="1" smtClean="0">
                <a:latin typeface="+mn-ea"/>
                <a:ea typeface="+mn-ea"/>
              </a:rPr>
              <a:t>intx</a:t>
            </a:r>
            <a:r>
              <a:rPr lang="en-US" altLang="zh-CN" sz="2000" dirty="0" smtClean="0">
                <a:latin typeface="+mn-ea"/>
                <a:ea typeface="+mn-ea"/>
              </a:rPr>
              <a:t>()</a:t>
            </a:r>
            <a:r>
              <a:rPr lang="en-US" altLang="zh-CN" sz="2000" dirty="0">
                <a:latin typeface="+mn-ea"/>
                <a:ea typeface="+mn-ea"/>
              </a:rPr>
              <a:t>     /*</a:t>
            </a:r>
            <a:r>
              <a:rPr lang="zh-CN" altLang="en-US" sz="2000" dirty="0">
                <a:latin typeface="+mn-ea"/>
                <a:ea typeface="+mn-ea"/>
              </a:rPr>
              <a:t>中断服务函数*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         </a:t>
            </a:r>
            <a:endParaRPr lang="zh-CN" altLang="en-US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en-US" altLang="zh-CN" sz="2000" dirty="0">
                <a:latin typeface="+mn-ea"/>
                <a:ea typeface="+mn-ea"/>
              </a:rPr>
              <a:t>{     </a:t>
            </a:r>
            <a:r>
              <a:rPr lang="en-US" altLang="zh-CN" sz="2000" dirty="0" smtClean="0">
                <a:latin typeface="+mn-ea"/>
                <a:ea typeface="+mn-ea"/>
              </a:rPr>
              <a:t>                   </a:t>
            </a:r>
            <a:r>
              <a:rPr lang="en-US" altLang="zh-CN" sz="2000" dirty="0" smtClean="0">
                <a:latin typeface="+mn-ea"/>
              </a:rPr>
              <a:t> </a:t>
            </a:r>
            <a:r>
              <a:rPr lang="en-US" altLang="zh-CN" sz="2000" dirty="0">
                <a:latin typeface="+mn-ea"/>
              </a:rPr>
              <a:t>//</a:t>
            </a:r>
            <a:r>
              <a:rPr lang="zh-CN" altLang="en-US" sz="2000" dirty="0">
                <a:latin typeface="+mn-ea"/>
              </a:rPr>
              <a:t>编译</a:t>
            </a:r>
            <a:r>
              <a:rPr lang="zh-CN" altLang="en-US" sz="2000" dirty="0" smtClean="0">
                <a:latin typeface="+mn-ea"/>
              </a:rPr>
              <a:t>时会自动</a:t>
            </a:r>
            <a:r>
              <a:rPr lang="zh-CN" altLang="en-US" sz="2000" dirty="0">
                <a:latin typeface="+mn-ea"/>
              </a:rPr>
              <a:t>保存及恢复现场</a:t>
            </a:r>
            <a:endParaRPr lang="zh-CN" altLang="en-US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  </a:t>
            </a:r>
            <a:r>
              <a:rPr lang="en-US" altLang="zh-CN" sz="2000" dirty="0" smtClean="0">
                <a:latin typeface="+mn-ea"/>
                <a:ea typeface="+mn-ea"/>
              </a:rPr>
              <a:t>char </a:t>
            </a:r>
            <a:r>
              <a:rPr lang="en-US" altLang="zh-CN" sz="2000" dirty="0" err="1" smtClean="0">
                <a:latin typeface="+mn-ea"/>
                <a:ea typeface="+mn-ea"/>
              </a:rPr>
              <a:t>ch</a:t>
            </a:r>
            <a:r>
              <a:rPr lang="en-US" altLang="zh-CN" sz="2000" dirty="0" smtClean="0">
                <a:latin typeface="+mn-ea"/>
                <a:ea typeface="+mn-ea"/>
              </a:rPr>
              <a:t> = 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+mn-ea"/>
                <a:ea typeface="+mn-ea"/>
              </a:rPr>
              <a:t>inp</a:t>
            </a:r>
            <a:r>
              <a:rPr lang="en-US" altLang="zh-CN" sz="2000" dirty="0" smtClean="0">
                <a:latin typeface="+mn-ea"/>
                <a:ea typeface="+mn-ea"/>
              </a:rPr>
              <a:t>(0x40);   //</a:t>
            </a:r>
            <a:r>
              <a:rPr lang="zh-CN" altLang="en-US" sz="2000" dirty="0" smtClean="0">
                <a:latin typeface="+mn-ea"/>
                <a:ea typeface="+mn-ea"/>
              </a:rPr>
              <a:t>读数据口，获得数据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 smtClean="0">
                <a:latin typeface="+mn-ea"/>
                <a:ea typeface="+mn-ea"/>
              </a:rPr>
              <a:t>       buff[</a:t>
            </a:r>
            <a:r>
              <a:rPr lang="en-US" altLang="zh-CN" sz="2000" dirty="0" err="1" smtClean="0">
                <a:latin typeface="+mn-ea"/>
                <a:ea typeface="+mn-ea"/>
              </a:rPr>
              <a:t>ndx</a:t>
            </a:r>
            <a:r>
              <a:rPr lang="en-US" altLang="zh-CN" sz="2000" dirty="0" smtClean="0">
                <a:latin typeface="+mn-ea"/>
                <a:ea typeface="+mn-ea"/>
              </a:rPr>
              <a:t>++] = </a:t>
            </a:r>
            <a:r>
              <a:rPr lang="en-US" altLang="zh-CN" sz="2000" dirty="0" err="1" smtClean="0">
                <a:latin typeface="+mn-ea"/>
                <a:ea typeface="+mn-ea"/>
              </a:rPr>
              <a:t>ch</a:t>
            </a:r>
            <a:r>
              <a:rPr lang="en-US" altLang="zh-CN" sz="2000" dirty="0" smtClean="0">
                <a:latin typeface="+mn-ea"/>
                <a:ea typeface="+mn-ea"/>
              </a:rPr>
              <a:t>;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    if (</a:t>
            </a:r>
            <a:r>
              <a:rPr lang="en-US" altLang="zh-CN" sz="2000" dirty="0" err="1" smtClean="0">
                <a:latin typeface="+mn-ea"/>
                <a:ea typeface="+mn-ea"/>
              </a:rPr>
              <a:t>ndx</a:t>
            </a:r>
            <a:r>
              <a:rPr lang="en-US" altLang="zh-CN" sz="2000" dirty="0" smtClean="0">
                <a:latin typeface="+mn-ea"/>
                <a:ea typeface="+mn-ea"/>
              </a:rPr>
              <a:t>&lt;200)           //</a:t>
            </a:r>
            <a:r>
              <a:rPr lang="zh-CN" altLang="en-US" sz="2000" dirty="0" smtClean="0">
                <a:latin typeface="+mn-ea"/>
                <a:ea typeface="+mn-ea"/>
              </a:rPr>
              <a:t>判断输入结束条件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        </a:t>
            </a:r>
            <a:r>
              <a:rPr lang="en-US" altLang="zh-CN" sz="2000" b="1" dirty="0" err="1" smtClean="0">
                <a:solidFill>
                  <a:srgbClr val="C00000"/>
                </a:solidFill>
                <a:latin typeface="+mn-ea"/>
                <a:ea typeface="+mn-ea"/>
              </a:rPr>
              <a:t>outp</a:t>
            </a:r>
            <a:r>
              <a:rPr lang="en-US" altLang="zh-CN" sz="2000" dirty="0" smtClean="0">
                <a:latin typeface="+mn-ea"/>
                <a:ea typeface="+mn-ea"/>
              </a:rPr>
              <a:t>(0x43,56H)</a:t>
            </a:r>
            <a:r>
              <a:rPr lang="en-US" altLang="zh-CN" sz="2000" dirty="0">
                <a:latin typeface="+mn-ea"/>
                <a:ea typeface="+mn-ea"/>
              </a:rPr>
              <a:t>   </a:t>
            </a:r>
            <a:r>
              <a:rPr lang="en-US" altLang="zh-CN" sz="2000" dirty="0" smtClean="0">
                <a:latin typeface="+mn-ea"/>
                <a:ea typeface="+mn-ea"/>
              </a:rPr>
              <a:t>  //</a:t>
            </a:r>
            <a:r>
              <a:rPr lang="zh-CN" altLang="en-US" sz="2000" dirty="0" smtClean="0">
                <a:latin typeface="+mn-ea"/>
                <a:ea typeface="+mn-ea"/>
              </a:rPr>
              <a:t>写控制口，启动设备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 </a:t>
            </a:r>
            <a:r>
              <a:rPr lang="en-US" altLang="zh-CN" sz="2000" dirty="0" smtClean="0">
                <a:latin typeface="+mn-ea"/>
                <a:ea typeface="+mn-ea"/>
              </a:rPr>
              <a:t>  }</a:t>
            </a:r>
            <a:r>
              <a:rPr lang="en-US" altLang="zh-CN" sz="2000" dirty="0">
                <a:latin typeface="+mn-ea"/>
                <a:ea typeface="+mn-ea"/>
              </a:rPr>
              <a:t>         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en-US" altLang="zh-CN" sz="2000" dirty="0">
                <a:latin typeface="+mn-ea"/>
                <a:ea typeface="+mn-ea"/>
              </a:rPr>
              <a:t>void </a:t>
            </a:r>
            <a:r>
              <a:rPr lang="en-US" altLang="zh-CN" sz="2000" dirty="0" smtClean="0">
                <a:latin typeface="+mn-ea"/>
                <a:ea typeface="+mn-ea"/>
              </a:rPr>
              <a:t>main</a:t>
            </a:r>
            <a:r>
              <a:rPr lang="en-US" altLang="zh-CN" sz="2000" dirty="0">
                <a:latin typeface="+mn-ea"/>
                <a:ea typeface="+mn-ea"/>
              </a:rPr>
              <a:t>()     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  </a:t>
            </a: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smtClean="0">
                <a:latin typeface="+mn-ea"/>
                <a:ea typeface="+mn-ea"/>
              </a:rPr>
              <a:t>{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zh-CN" altLang="en-US" sz="2000" dirty="0" smtClean="0">
                <a:latin typeface="+mn-ea"/>
                <a:ea typeface="+mn-ea"/>
              </a:rPr>
              <a:t> </a:t>
            </a:r>
            <a:r>
              <a:rPr lang="en-US" altLang="zh-CN" sz="2000" b="1" dirty="0" smtClean="0">
                <a:solidFill>
                  <a:schemeClr val="accent2"/>
                </a:solidFill>
                <a:latin typeface="+mn-ea"/>
                <a:ea typeface="+mn-ea"/>
              </a:rPr>
              <a:t>disable</a:t>
            </a:r>
            <a:r>
              <a:rPr lang="en-US" altLang="zh-CN" sz="2000" dirty="0">
                <a:latin typeface="+mn-ea"/>
                <a:ea typeface="+mn-ea"/>
              </a:rPr>
              <a:t>();  </a:t>
            </a:r>
            <a:r>
              <a:rPr lang="en-US" altLang="zh-CN" sz="2000" dirty="0" smtClean="0">
                <a:latin typeface="+mn-ea"/>
                <a:ea typeface="+mn-ea"/>
              </a:rPr>
              <a:t>          </a:t>
            </a:r>
            <a:r>
              <a:rPr lang="en-US" altLang="zh-CN" sz="2000" dirty="0">
                <a:latin typeface="+mn-ea"/>
                <a:ea typeface="+mn-ea"/>
              </a:rPr>
              <a:t> /*</a:t>
            </a:r>
            <a:r>
              <a:rPr lang="zh-CN" altLang="en-US" sz="2000" dirty="0" smtClean="0">
                <a:latin typeface="+mn-ea"/>
                <a:ea typeface="+mn-ea"/>
              </a:rPr>
              <a:t>关中</a:t>
            </a:r>
            <a:r>
              <a:rPr lang="zh-CN" altLang="en-US" sz="2000" dirty="0">
                <a:latin typeface="+mn-ea"/>
                <a:ea typeface="+mn-ea"/>
              </a:rPr>
              <a:t>断*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     </a:t>
            </a:r>
            <a:endParaRPr lang="zh-CN" altLang="en-US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 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en-US" altLang="zh-CN" sz="2000" b="1" dirty="0" err="1" smtClean="0">
                <a:solidFill>
                  <a:schemeClr val="accent2"/>
                </a:solidFill>
                <a:latin typeface="+mn-ea"/>
                <a:ea typeface="+mn-ea"/>
              </a:rPr>
              <a:t>setvect</a:t>
            </a:r>
            <a:r>
              <a:rPr lang="en-US" altLang="zh-CN" sz="2000" dirty="0" smtClean="0">
                <a:latin typeface="+mn-ea"/>
                <a:ea typeface="+mn-ea"/>
              </a:rPr>
              <a:t>(0x08,</a:t>
            </a:r>
            <a:r>
              <a:rPr lang="en-US" altLang="zh-CN" sz="2000" dirty="0">
                <a:latin typeface="+mn-ea"/>
                <a:ea typeface="+mn-ea"/>
              </a:rPr>
              <a:t> </a:t>
            </a:r>
            <a:r>
              <a:rPr lang="en-US" altLang="zh-CN" sz="2000" dirty="0" err="1" smtClean="0">
                <a:latin typeface="+mn-ea"/>
                <a:ea typeface="+mn-ea"/>
              </a:rPr>
              <a:t>intx</a:t>
            </a:r>
            <a:r>
              <a:rPr lang="en-US" altLang="zh-CN" sz="2000" dirty="0" smtClean="0">
                <a:latin typeface="+mn-ea"/>
                <a:ea typeface="+mn-ea"/>
              </a:rPr>
              <a:t>);</a:t>
            </a:r>
            <a:r>
              <a:rPr lang="en-US" altLang="zh-CN" sz="2000" dirty="0">
                <a:latin typeface="+mn-ea"/>
                <a:ea typeface="+mn-ea"/>
              </a:rPr>
              <a:t>   /*</a:t>
            </a:r>
            <a:r>
              <a:rPr lang="zh-CN" altLang="en-US" sz="2000" dirty="0">
                <a:latin typeface="+mn-ea"/>
                <a:ea typeface="+mn-ea"/>
              </a:rPr>
              <a:t>设置</a:t>
            </a:r>
            <a:r>
              <a:rPr lang="zh-CN" altLang="en-US" sz="2000" dirty="0" smtClean="0">
                <a:latin typeface="+mn-ea"/>
                <a:ea typeface="+mn-ea"/>
              </a:rPr>
              <a:t>中断向量</a:t>
            </a:r>
            <a:r>
              <a:rPr lang="en-US" altLang="zh-CN" sz="2000" dirty="0" smtClean="0">
                <a:latin typeface="+mn-ea"/>
                <a:ea typeface="+mn-ea"/>
              </a:rPr>
              <a:t>(</a:t>
            </a:r>
            <a:r>
              <a:rPr lang="zh-CN" altLang="en-US" sz="2000" dirty="0" smtClean="0">
                <a:latin typeface="+mn-ea"/>
                <a:ea typeface="+mn-ea"/>
              </a:rPr>
              <a:t>填写</a:t>
            </a:r>
            <a:r>
              <a:rPr lang="en-US" altLang="zh-CN" sz="2000" dirty="0" smtClean="0">
                <a:latin typeface="+mn-ea"/>
                <a:ea typeface="+mn-ea"/>
              </a:rPr>
              <a:t>IVT)</a:t>
            </a:r>
            <a:r>
              <a:rPr lang="zh-CN" altLang="en-US" sz="2000" dirty="0" smtClean="0">
                <a:latin typeface="+mn-ea"/>
                <a:ea typeface="+mn-ea"/>
              </a:rPr>
              <a:t>*</a:t>
            </a:r>
            <a:r>
              <a:rPr lang="en-US" altLang="zh-CN" sz="2000" dirty="0" smtClean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    </a:t>
            </a:r>
            <a:endParaRPr lang="zh-CN" altLang="en-US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  </a:t>
            </a:r>
            <a:r>
              <a:rPr lang="en-US" altLang="zh-CN" sz="2000" b="1" dirty="0">
                <a:solidFill>
                  <a:schemeClr val="accent2"/>
                </a:solidFill>
                <a:latin typeface="+mn-ea"/>
                <a:ea typeface="+mn-ea"/>
              </a:rPr>
              <a:t>enable</a:t>
            </a:r>
            <a:r>
              <a:rPr lang="en-US" altLang="zh-CN" sz="2000" dirty="0">
                <a:latin typeface="+mn-ea"/>
                <a:ea typeface="+mn-ea"/>
              </a:rPr>
              <a:t>(); </a:t>
            </a:r>
            <a:r>
              <a:rPr lang="en-US" altLang="zh-CN" sz="2000" dirty="0" smtClean="0">
                <a:latin typeface="+mn-ea"/>
                <a:ea typeface="+mn-ea"/>
              </a:rPr>
              <a:t>           </a:t>
            </a:r>
            <a:r>
              <a:rPr lang="en-US" altLang="zh-CN" sz="2000" dirty="0">
                <a:latin typeface="+mn-ea"/>
                <a:ea typeface="+mn-ea"/>
              </a:rPr>
              <a:t>  /*</a:t>
            </a:r>
            <a:r>
              <a:rPr lang="zh-CN" altLang="en-US" sz="2000" dirty="0" smtClean="0">
                <a:latin typeface="+mn-ea"/>
                <a:ea typeface="+mn-ea"/>
              </a:rPr>
              <a:t>开中断</a:t>
            </a:r>
            <a:r>
              <a:rPr lang="zh-CN" altLang="en-US" sz="2000" dirty="0">
                <a:latin typeface="+mn-ea"/>
                <a:ea typeface="+mn-ea"/>
              </a:rPr>
              <a:t>*</a:t>
            </a:r>
            <a:r>
              <a:rPr lang="en-US" altLang="zh-CN" sz="2000" dirty="0">
                <a:latin typeface="+mn-ea"/>
                <a:ea typeface="+mn-ea"/>
              </a:rPr>
              <a:t>/</a:t>
            </a: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en-US" altLang="zh-CN" sz="2000" dirty="0">
                <a:latin typeface="+mn-ea"/>
                <a:ea typeface="+mn-ea"/>
              </a:rPr>
              <a:t>     </a:t>
            </a:r>
            <a:endParaRPr lang="en-US" altLang="zh-CN" sz="2000" dirty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 smtClean="0">
                <a:latin typeface="+mn-ea"/>
              </a:rPr>
              <a:t>       </a:t>
            </a:r>
            <a:r>
              <a:rPr lang="en-US" altLang="zh-CN" sz="2000" b="1" dirty="0" err="1">
                <a:solidFill>
                  <a:srgbClr val="C00000"/>
                </a:solidFill>
                <a:latin typeface="+mn-ea"/>
              </a:rPr>
              <a:t>outp</a:t>
            </a:r>
            <a:r>
              <a:rPr lang="en-US" altLang="zh-CN" sz="2000" dirty="0">
                <a:latin typeface="+mn-ea"/>
              </a:rPr>
              <a:t>(0x43,56H)         //</a:t>
            </a:r>
            <a:r>
              <a:rPr lang="zh-CN" altLang="en-US" sz="2000" dirty="0">
                <a:latin typeface="+mn-ea"/>
              </a:rPr>
              <a:t>写控制</a:t>
            </a:r>
            <a:r>
              <a:rPr lang="zh-CN" altLang="en-US" sz="2000" dirty="0" smtClean="0">
                <a:latin typeface="+mn-ea"/>
              </a:rPr>
              <a:t>口，启动设备</a:t>
            </a:r>
            <a:endParaRPr lang="en-US" altLang="zh-CN" sz="2000" dirty="0" smtClean="0">
              <a:latin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  </a:t>
            </a:r>
            <a:r>
              <a:rPr lang="en-US" altLang="zh-CN" sz="2000" dirty="0" smtClean="0">
                <a:latin typeface="+mn-ea"/>
                <a:ea typeface="+mn-ea"/>
              </a:rPr>
              <a:t>…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en-US" altLang="zh-CN" sz="2000" dirty="0">
                <a:latin typeface="+mn-ea"/>
                <a:ea typeface="+mn-ea"/>
              </a:rPr>
              <a:t> </a:t>
            </a:r>
            <a:r>
              <a:rPr lang="en-US" altLang="zh-CN" sz="2000" dirty="0" smtClean="0">
                <a:latin typeface="+mn-ea"/>
                <a:ea typeface="+mn-ea"/>
              </a:rPr>
              <a:t>      //</a:t>
            </a:r>
            <a:r>
              <a:rPr lang="en-US" altLang="zh-CN" sz="2000" dirty="0" err="1" smtClean="0">
                <a:latin typeface="+mn-ea"/>
                <a:ea typeface="+mn-ea"/>
              </a:rPr>
              <a:t>printf</a:t>
            </a:r>
            <a:r>
              <a:rPr lang="en-US" altLang="zh-CN" sz="2000" dirty="0" smtClean="0">
                <a:latin typeface="+mn-ea"/>
                <a:ea typeface="+mn-ea"/>
              </a:rPr>
              <a:t>(</a:t>
            </a:r>
            <a:r>
              <a:rPr lang="zh-CN" altLang="en-US" sz="2000" dirty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000" dirty="0" smtClean="0">
                <a:latin typeface="+mn-ea"/>
                <a:ea typeface="+mn-ea"/>
              </a:rPr>
              <a:t>%s</a:t>
            </a:r>
            <a:r>
              <a:rPr lang="zh-CN" altLang="en-US" sz="2000" dirty="0" smtClean="0">
                <a:latin typeface="+mn-ea"/>
                <a:ea typeface="+mn-ea"/>
                <a:sym typeface="Symbol" panose="05050102010706020507"/>
              </a:rPr>
              <a:t></a:t>
            </a:r>
            <a:r>
              <a:rPr lang="en-US" altLang="zh-CN" sz="2000" dirty="0" smtClean="0">
                <a:latin typeface="+mn-ea"/>
                <a:ea typeface="+mn-ea"/>
                <a:sym typeface="Symbol" panose="05050102010706020507"/>
              </a:rPr>
              <a:t>, buff</a:t>
            </a:r>
            <a:r>
              <a:rPr lang="en-US" altLang="zh-CN" sz="2000" dirty="0" smtClean="0">
                <a:latin typeface="+mn-ea"/>
                <a:ea typeface="+mn-ea"/>
              </a:rPr>
              <a:t>); </a:t>
            </a:r>
            <a:r>
              <a:rPr lang="en-US" altLang="zh-CN" sz="2000" dirty="0" err="1" smtClean="0">
                <a:latin typeface="+mn-ea"/>
                <a:ea typeface="+mn-ea"/>
              </a:rPr>
              <a:t>ndx</a:t>
            </a:r>
            <a:r>
              <a:rPr lang="en-US" altLang="zh-CN" sz="2000" dirty="0" smtClean="0">
                <a:latin typeface="+mn-ea"/>
                <a:ea typeface="+mn-ea"/>
              </a:rPr>
              <a:t> = 0;</a:t>
            </a:r>
            <a:endParaRPr lang="en-US" altLang="zh-CN" sz="2000" dirty="0" smtClean="0">
              <a:latin typeface="+mn-ea"/>
              <a:ea typeface="+mn-ea"/>
            </a:endParaRPr>
          </a:p>
          <a:p>
            <a:pPr algn="l">
              <a:lnSpc>
                <a:spcPct val="90000"/>
              </a:lnSpc>
            </a:pP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zh-CN" altLang="en-US" sz="2000" dirty="0" smtClean="0">
                <a:latin typeface="+mn-ea"/>
                <a:ea typeface="+mn-ea"/>
              </a:rPr>
              <a:t>  </a:t>
            </a:r>
            <a:r>
              <a:rPr lang="zh-CN" altLang="en-US" sz="2000" dirty="0">
                <a:latin typeface="+mn-ea"/>
                <a:ea typeface="+mn-ea"/>
              </a:rPr>
              <a:t> </a:t>
            </a:r>
            <a:r>
              <a:rPr lang="en-US" altLang="zh-CN" sz="2000" dirty="0">
                <a:latin typeface="+mn-ea"/>
                <a:ea typeface="+mn-ea"/>
              </a:rPr>
              <a:t>} </a:t>
            </a:r>
            <a:r>
              <a:rPr lang="en-US" altLang="zh-CN" sz="2000" b="1" dirty="0">
                <a:latin typeface="+mn-ea"/>
                <a:ea typeface="+mn-ea"/>
              </a:rPr>
              <a:t> </a:t>
            </a:r>
            <a:endParaRPr lang="zh-CN" altLang="en-US" sz="20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8EE83-3116-4D89-A4AB-7F21572FA6AE}" type="slidenum">
              <a:rPr lang="en-US" altLang="zh-CN"/>
            </a:fld>
            <a:endParaRPr lang="en-US" altLang="zh-CN"/>
          </a:p>
        </p:txBody>
      </p:sp>
      <p:sp>
        <p:nvSpPr>
          <p:cNvPr id="425988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28623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de-DE" b="1" dirty="0" smtClean="0">
                <a:latin typeface="宋体" panose="02010600030101010101" pitchFamily="2" charset="-122"/>
              </a:rPr>
              <a:t>某</a:t>
            </a:r>
            <a:r>
              <a:rPr lang="de-DE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de-DE" b="1" dirty="0">
                <a:latin typeface="宋体" panose="02010600030101010101" pitchFamily="2" charset="-122"/>
              </a:rPr>
              <a:t>主频为</a:t>
            </a:r>
            <a:r>
              <a:rPr lang="de-DE" altLang="zh-CN" b="1" dirty="0" smtClean="0">
                <a:latin typeface="宋体" panose="02010600030101010101" pitchFamily="2" charset="-122"/>
              </a:rPr>
              <a:t>50MHz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de-DE" altLang="zh-CN" b="1" dirty="0" smtClean="0">
                <a:latin typeface="宋体" panose="02010600030101010101" pitchFamily="2" charset="-122"/>
              </a:rPr>
              <a:t>CPI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5</a:t>
            </a:r>
            <a:r>
              <a:rPr lang="zh-CN" altLang="de-DE" b="1" dirty="0">
                <a:latin typeface="宋体" panose="02010600030101010101" pitchFamily="2" charset="-122"/>
              </a:rPr>
              <a:t>，中断响应</a:t>
            </a:r>
            <a:r>
              <a:rPr lang="zh-CN" altLang="de-DE" b="1" dirty="0" smtClean="0">
                <a:latin typeface="宋体" panose="02010600030101010101" pitchFamily="2" charset="-122"/>
              </a:rPr>
              <a:t>需</a:t>
            </a:r>
            <a:r>
              <a:rPr lang="zh-CN" altLang="en-US" b="1" dirty="0" smtClean="0">
                <a:latin typeface="宋体" panose="02010600030101010101" pitchFamily="2" charset="-122"/>
              </a:rPr>
              <a:t>要</a:t>
            </a:r>
            <a:r>
              <a:rPr lang="de-DE" altLang="zh-CN" b="1" dirty="0" smtClean="0">
                <a:latin typeface="宋体" panose="02010600030101010101" pitchFamily="2" charset="-122"/>
              </a:rPr>
              <a:t>6</a:t>
            </a:r>
            <a:r>
              <a:rPr lang="zh-CN" altLang="de-DE" b="1" dirty="0" smtClean="0">
                <a:latin typeface="宋体" panose="02010600030101010101" pitchFamily="2" charset="-122"/>
              </a:rPr>
              <a:t>个时钟周期</a:t>
            </a:r>
            <a:r>
              <a:rPr lang="zh-CN" altLang="en-US" b="1" dirty="0" smtClean="0">
                <a:latin typeface="宋体" panose="02010600030101010101" pitchFamily="2" charset="-122"/>
              </a:rPr>
              <a:t>。</a:t>
            </a:r>
            <a:r>
              <a:rPr lang="zh-CN" altLang="de-DE" b="1" dirty="0" smtClean="0">
                <a:latin typeface="宋体" panose="02010600030101010101" pitchFamily="2" charset="-122"/>
              </a:rPr>
              <a:t>外设</a:t>
            </a:r>
            <a:r>
              <a:rPr lang="en-US" altLang="zh-CN" b="1" dirty="0" smtClean="0">
                <a:latin typeface="宋体" panose="02010600030101010101" pitchFamily="2" charset="-122"/>
              </a:rPr>
              <a:t>D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de-DE" b="1" dirty="0" smtClean="0">
                <a:latin typeface="宋体" panose="02010600030101010101" pitchFamily="2" charset="-122"/>
              </a:rPr>
              <a:t>数据</a:t>
            </a:r>
            <a:r>
              <a:rPr lang="zh-CN" altLang="de-DE" b="1" dirty="0">
                <a:latin typeface="宋体" panose="02010600030101010101" pitchFamily="2" charset="-122"/>
              </a:rPr>
              <a:t>传输率为</a:t>
            </a:r>
            <a:r>
              <a:rPr lang="de-DE" altLang="zh-CN" b="1" dirty="0">
                <a:latin typeface="宋体" panose="02010600030101010101" pitchFamily="2" charset="-122"/>
              </a:rPr>
              <a:t>20KB/s</a:t>
            </a:r>
            <a:r>
              <a:rPr lang="zh-CN" altLang="de-DE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latin typeface="宋体" panose="02010600030101010101" pitchFamily="2" charset="-122"/>
              </a:rPr>
              <a:t>每次传输</a:t>
            </a:r>
            <a:r>
              <a:rPr lang="de-DE" altLang="zh-CN" b="1" dirty="0" smtClean="0">
                <a:latin typeface="宋体" panose="02010600030101010101" pitchFamily="2" charset="-122"/>
              </a:rPr>
              <a:t>16</a:t>
            </a:r>
            <a:r>
              <a:rPr lang="zh-CN" altLang="de-DE" b="1" dirty="0" smtClean="0">
                <a:latin typeface="宋体" panose="02010600030101010101" pitchFamily="2" charset="-122"/>
              </a:rPr>
              <a:t>位</a:t>
            </a:r>
            <a:r>
              <a:rPr lang="zh-CN" altLang="en-US" b="1" dirty="0" smtClean="0">
                <a:latin typeface="宋体" panose="02010600030101010101" pitchFamily="2" charset="-122"/>
              </a:rPr>
              <a:t>数据</a:t>
            </a:r>
            <a:r>
              <a:rPr lang="zh-CN" altLang="de-DE" b="1" dirty="0" smtClean="0">
                <a:latin typeface="宋体" panose="02010600030101010101" pitchFamily="2" charset="-122"/>
              </a:rPr>
              <a:t>，</a:t>
            </a:r>
            <a:r>
              <a:rPr lang="zh-CN" altLang="de-DE" b="1" dirty="0">
                <a:latin typeface="宋体" panose="02010600030101010101" pitchFamily="2" charset="-122"/>
              </a:rPr>
              <a:t>相应的中断服务程序包含</a:t>
            </a:r>
            <a:r>
              <a:rPr lang="de-DE" altLang="zh-CN" b="1" dirty="0">
                <a:latin typeface="宋体" panose="02010600030101010101" pitchFamily="2" charset="-122"/>
              </a:rPr>
              <a:t>10</a:t>
            </a:r>
            <a:r>
              <a:rPr lang="zh-CN" altLang="de-DE" b="1" dirty="0">
                <a:latin typeface="宋体" panose="02010600030101010101" pitchFamily="2" charset="-122"/>
              </a:rPr>
              <a:t>条机器指令</a:t>
            </a:r>
            <a:r>
              <a:rPr lang="zh-CN" altLang="de-DE" b="1" dirty="0" smtClean="0">
                <a:latin typeface="宋体" panose="02010600030101010101" pitchFamily="2" charset="-122"/>
              </a:rPr>
              <a:t>。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de-DE" b="1" dirty="0" smtClean="0"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latin typeface="宋体" panose="02010600030101010101" pitchFamily="2" charset="-122"/>
              </a:rPr>
              <a:t>(1)D</a:t>
            </a:r>
            <a:r>
              <a:rPr lang="zh-CN" altLang="de-DE" b="1" dirty="0" smtClean="0">
                <a:latin typeface="宋体" panose="02010600030101010101" pitchFamily="2" charset="-122"/>
              </a:rPr>
              <a:t>可</a:t>
            </a:r>
            <a:r>
              <a:rPr lang="zh-CN" altLang="en-US" b="1" dirty="0" smtClean="0">
                <a:latin typeface="宋体" panose="02010600030101010101" pitchFamily="2" charset="-122"/>
              </a:rPr>
              <a:t>否</a:t>
            </a:r>
            <a:r>
              <a:rPr lang="zh-CN" altLang="de-DE" b="1" dirty="0" smtClean="0">
                <a:latin typeface="宋体" panose="02010600030101010101" pitchFamily="2" charset="-122"/>
              </a:rPr>
              <a:t>用</a:t>
            </a:r>
            <a:r>
              <a:rPr lang="zh-CN" altLang="de-DE" b="1" dirty="0">
                <a:latin typeface="宋体" panose="02010600030101010101" pitchFamily="2" charset="-122"/>
              </a:rPr>
              <a:t>中断方式</a:t>
            </a:r>
            <a:r>
              <a:rPr lang="de-DE" altLang="zh-CN" b="1" dirty="0">
                <a:latin typeface="宋体" panose="02010600030101010101" pitchFamily="2" charset="-122"/>
              </a:rPr>
              <a:t>I/O</a:t>
            </a:r>
            <a:r>
              <a:rPr lang="zh-CN" altLang="de-DE" b="1" dirty="0">
                <a:latin typeface="宋体" panose="02010600030101010101" pitchFamily="2" charset="-122"/>
              </a:rPr>
              <a:t>？若能</a:t>
            </a:r>
            <a:r>
              <a:rPr lang="zh-CN" altLang="de-DE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D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时间为</a:t>
            </a:r>
            <a:r>
              <a:rPr lang="en-US" altLang="zh-CN" b="1" dirty="0" smtClean="0">
                <a:latin typeface="宋体" panose="02010600030101010101" pitchFamily="2" charset="-122"/>
              </a:rPr>
              <a:t>100%</a:t>
            </a:r>
            <a:r>
              <a:rPr lang="zh-CN" altLang="en-US" b="1" dirty="0" smtClean="0">
                <a:latin typeface="宋体" panose="02010600030101010101" pitchFamily="2" charset="-122"/>
              </a:rPr>
              <a:t>时</a:t>
            </a:r>
            <a:r>
              <a:rPr lang="zh-CN" altLang="de-DE" b="1" dirty="0" smtClean="0">
                <a:latin typeface="宋体" panose="02010600030101010101" pitchFamily="2" charset="-122"/>
              </a:rPr>
              <a:t>，</a:t>
            </a:r>
            <a:r>
              <a:rPr lang="de-DE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de-DE" b="1" dirty="0" smtClean="0">
                <a:latin typeface="宋体" panose="02010600030101010101" pitchFamily="2" charset="-122"/>
              </a:rPr>
              <a:t>用于</a:t>
            </a:r>
            <a:r>
              <a:rPr lang="en-US" altLang="zh-CN" b="1" dirty="0" smtClean="0">
                <a:latin typeface="宋体" panose="02010600030101010101" pitchFamily="2" charset="-122"/>
              </a:rPr>
              <a:t>D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de-DE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de-DE" b="1" dirty="0" smtClean="0">
                <a:latin typeface="宋体" panose="02010600030101010101" pitchFamily="2" charset="-122"/>
              </a:rPr>
              <a:t>时间</a:t>
            </a:r>
            <a:r>
              <a:rPr lang="zh-CN" altLang="de-DE" b="1" dirty="0">
                <a:latin typeface="宋体" panose="02010600030101010101" pitchFamily="2" charset="-122"/>
              </a:rPr>
              <a:t>占整个</a:t>
            </a:r>
            <a:r>
              <a:rPr lang="de-DE" altLang="zh-CN" b="1" dirty="0">
                <a:latin typeface="宋体" panose="02010600030101010101" pitchFamily="2" charset="-122"/>
              </a:rPr>
              <a:t>CPU</a:t>
            </a:r>
            <a:r>
              <a:rPr lang="zh-CN" altLang="de-DE" b="1" dirty="0">
                <a:latin typeface="宋体" panose="02010600030101010101" pitchFamily="2" charset="-122"/>
              </a:rPr>
              <a:t>时间</a:t>
            </a:r>
            <a:r>
              <a:rPr lang="zh-CN" altLang="de-DE" b="1" dirty="0" smtClean="0">
                <a:latin typeface="宋体" panose="02010600030101010101" pitchFamily="2" charset="-122"/>
              </a:rPr>
              <a:t>的</a:t>
            </a:r>
            <a:r>
              <a:rPr lang="en-US" altLang="zh-CN" b="1" dirty="0" smtClean="0">
                <a:latin typeface="宋体" panose="02010600030101010101" pitchFamily="2" charset="-122"/>
              </a:rPr>
              <a:t>%</a:t>
            </a:r>
            <a:r>
              <a:rPr lang="zh-CN" altLang="de-DE" b="1" dirty="0" smtClean="0">
                <a:latin typeface="宋体" panose="02010600030101010101" pitchFamily="2" charset="-122"/>
              </a:rPr>
              <a:t>为</a:t>
            </a:r>
            <a:r>
              <a:rPr lang="zh-CN" altLang="de-DE" b="1" dirty="0">
                <a:latin typeface="宋体" panose="02010600030101010101" pitchFamily="2" charset="-122"/>
              </a:rPr>
              <a:t>多少？</a:t>
            </a:r>
            <a:endParaRPr lang="zh-CN" altLang="de-DE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de-DE" b="1" dirty="0">
                <a:latin typeface="宋体" panose="02010600030101010101" pitchFamily="2" charset="-122"/>
              </a:rPr>
              <a:t>  </a:t>
            </a:r>
            <a:r>
              <a:rPr lang="zh-CN" altLang="de-DE" b="1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(2)</a:t>
            </a:r>
            <a:r>
              <a:rPr lang="zh-CN" altLang="de-DE" b="1" dirty="0" smtClean="0">
                <a:latin typeface="宋体" panose="02010600030101010101" pitchFamily="2" charset="-122"/>
              </a:rPr>
              <a:t>若</a:t>
            </a:r>
            <a:r>
              <a:rPr lang="en-US" altLang="zh-CN" b="1" dirty="0" smtClean="0">
                <a:latin typeface="宋体" panose="02010600030101010101" pitchFamily="2" charset="-122"/>
              </a:rPr>
              <a:t>D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de-DE" b="1" dirty="0" smtClean="0">
                <a:latin typeface="宋体" panose="02010600030101010101" pitchFamily="2" charset="-122"/>
              </a:rPr>
              <a:t>数据</a:t>
            </a:r>
            <a:r>
              <a:rPr lang="zh-CN" altLang="de-DE" b="1" dirty="0">
                <a:latin typeface="宋体" panose="02010600030101010101" pitchFamily="2" charset="-122"/>
              </a:rPr>
              <a:t>传输率</a:t>
            </a:r>
            <a:r>
              <a:rPr lang="zh-CN" altLang="de-DE" b="1" dirty="0" smtClean="0">
                <a:latin typeface="宋体" panose="02010600030101010101" pitchFamily="2" charset="-122"/>
              </a:rPr>
              <a:t>为</a:t>
            </a:r>
            <a:r>
              <a:rPr lang="de-DE" altLang="zh-CN" b="1" dirty="0" smtClean="0">
                <a:latin typeface="宋体" panose="02010600030101010101" pitchFamily="2" charset="-122"/>
              </a:rPr>
              <a:t>1MB/s</a:t>
            </a:r>
            <a:r>
              <a:rPr lang="zh-CN" altLang="de-DE" b="1" dirty="0" smtClean="0">
                <a:latin typeface="宋体" panose="02010600030101010101" pitchFamily="2" charset="-122"/>
              </a:rPr>
              <a:t>，可否</a:t>
            </a:r>
            <a:r>
              <a:rPr lang="zh-CN" altLang="en-US" b="1" dirty="0" smtClean="0">
                <a:latin typeface="宋体" panose="02010600030101010101" pitchFamily="2" charset="-122"/>
              </a:rPr>
              <a:t>采</a:t>
            </a:r>
            <a:r>
              <a:rPr lang="zh-CN" altLang="de-DE" b="1" dirty="0" smtClean="0">
                <a:latin typeface="宋体" panose="02010600030101010101" pitchFamily="2" charset="-122"/>
              </a:rPr>
              <a:t>用</a:t>
            </a:r>
            <a:r>
              <a:rPr lang="zh-CN" altLang="de-DE" b="1" dirty="0">
                <a:latin typeface="宋体" panose="02010600030101010101" pitchFamily="2" charset="-122"/>
              </a:rPr>
              <a:t>中断</a:t>
            </a:r>
            <a:r>
              <a:rPr lang="zh-CN" altLang="de-DE" b="1" dirty="0" smtClean="0">
                <a:latin typeface="宋体" panose="02010600030101010101" pitchFamily="2" charset="-122"/>
              </a:rPr>
              <a:t>方式</a:t>
            </a:r>
            <a:r>
              <a:rPr lang="de-DE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de-DE" b="1" dirty="0">
                <a:latin typeface="宋体" panose="02010600030101010101" pitchFamily="2" charset="-122"/>
              </a:rPr>
              <a:t>？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25989" name="Text Box 5"/>
          <p:cNvSpPr txBox="1">
            <a:spLocks noChangeArrowheads="1"/>
          </p:cNvSpPr>
          <p:nvPr/>
        </p:nvSpPr>
        <p:spPr bwMode="auto">
          <a:xfrm>
            <a:off x="179388" y="3140968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⑴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latin typeface="宋体" panose="02010600030101010101" pitchFamily="2" charset="-122"/>
              </a:rPr>
              <a:t>次中断请求间隔</a:t>
            </a:r>
            <a:r>
              <a:rPr lang="en-US" altLang="zh-CN" b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16000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endParaRPr lang="zh-CN" altLang="de-DE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de-DE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b="1" dirty="0" smtClean="0">
                <a:latin typeface="宋体" panose="02010600030101010101" pitchFamily="2" charset="-122"/>
              </a:rPr>
              <a:t>一次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所占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时间</a:t>
            </a:r>
            <a:r>
              <a:rPr lang="en-US" altLang="zh-CN" b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16000" dirty="0" smtClean="0">
                <a:latin typeface="宋体" panose="02010600030101010101" pitchFamily="2" charset="-122"/>
              </a:rPr>
              <a:t>INT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b="1" dirty="0" smtClean="0">
                <a:latin typeface="宋体" panose="02010600030101010101" pitchFamily="2" charset="-122"/>
              </a:rPr>
              <a:t>       I/O</a:t>
            </a:r>
            <a:r>
              <a:rPr lang="zh-CN" altLang="en-US" b="1" dirty="0">
                <a:latin typeface="宋体" panose="02010600030101010101" pitchFamily="2" charset="-122"/>
              </a:rPr>
              <a:t>占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de-DE" b="1" dirty="0">
                <a:latin typeface="宋体" panose="02010600030101010101" pitchFamily="2" charset="-122"/>
              </a:rPr>
              <a:t>时间</a:t>
            </a:r>
            <a:r>
              <a:rPr lang="en-US" altLang="zh-CN" b="1" dirty="0">
                <a:latin typeface="宋体" panose="02010600030101010101" pitchFamily="2" charset="-122"/>
              </a:rPr>
              <a:t>%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∴</a:t>
            </a:r>
            <a:endParaRPr lang="zh-CN" altLang="de-DE" b="1" dirty="0">
              <a:latin typeface="宋体" panose="02010600030101010101" pitchFamily="2" charset="-122"/>
            </a:endParaRPr>
          </a:p>
        </p:txBody>
      </p:sp>
      <p:sp>
        <p:nvSpPr>
          <p:cNvPr id="425990" name="Text Box 6"/>
          <p:cNvSpPr txBox="1">
            <a:spLocks noChangeArrowheads="1"/>
          </p:cNvSpPr>
          <p:nvPr/>
        </p:nvSpPr>
        <p:spPr bwMode="auto">
          <a:xfrm>
            <a:off x="1619672" y="4069521"/>
            <a:ext cx="356455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de-DE" altLang="zh-CN" b="1" dirty="0" smtClean="0">
                <a:latin typeface="宋体" panose="02010600030101010101" pitchFamily="2" charset="-122"/>
              </a:rPr>
              <a:t>             1.12</a:t>
            </a:r>
            <a:r>
              <a:rPr lang="en-US" altLang="zh-CN" b="1" dirty="0" smtClean="0">
                <a:latin typeface="宋体" panose="02010600030101010101" pitchFamily="2" charset="-122"/>
              </a:rPr>
              <a:t>%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de-DE" b="1" dirty="0" smtClean="0">
                <a:latin typeface="宋体" panose="02010600030101010101" pitchFamily="2" charset="-122"/>
              </a:rPr>
              <a:t>可</a:t>
            </a:r>
            <a:r>
              <a:rPr lang="zh-CN" altLang="de-DE" b="1" dirty="0">
                <a:latin typeface="宋体" panose="02010600030101010101" pitchFamily="2" charset="-122"/>
              </a:rPr>
              <a:t>采用中断方式</a:t>
            </a:r>
            <a:r>
              <a:rPr lang="de-DE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425991" name="Text Box 7"/>
          <p:cNvSpPr txBox="1">
            <a:spLocks noChangeArrowheads="1"/>
          </p:cNvSpPr>
          <p:nvPr/>
        </p:nvSpPr>
        <p:spPr bwMode="auto">
          <a:xfrm>
            <a:off x="179388" y="4976008"/>
            <a:ext cx="8785225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    ⑵</a:t>
            </a:r>
            <a:r>
              <a:rPr lang="en-US" altLang="zh-CN" b="1" dirty="0" smtClean="0">
                <a:latin typeface="宋体" panose="02010600030101010101" pitchFamily="2" charset="-122"/>
              </a:rPr>
              <a:t>T</a:t>
            </a:r>
            <a:r>
              <a:rPr lang="en-US" altLang="zh-CN" b="1" baseline="-16000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2B/1MBps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2</a:t>
            </a:r>
            <a:r>
              <a:rPr lang="en-US" altLang="zh-CN" dirty="0" smtClean="0"/>
              <a:t>μ</a:t>
            </a:r>
            <a:r>
              <a:rPr lang="de-DE" altLang="zh-CN" b="1" dirty="0" smtClean="0">
                <a:latin typeface="宋体" panose="02010600030101010101" pitchFamily="2" charset="-122"/>
              </a:rPr>
              <a:t>s</a:t>
            </a:r>
            <a:r>
              <a:rPr lang="zh-CN" altLang="de-DE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b="1" dirty="0" smtClean="0">
                <a:latin typeface="宋体" panose="02010600030101010101" pitchFamily="2" charset="-122"/>
              </a:rPr>
              <a:t>     I/O</a:t>
            </a:r>
            <a:r>
              <a:rPr lang="zh-CN" altLang="en-US" b="1" dirty="0">
                <a:latin typeface="宋体" panose="02010600030101010101" pitchFamily="2" charset="-122"/>
              </a:rPr>
              <a:t>占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de-DE" b="1" dirty="0" smtClean="0">
                <a:latin typeface="宋体" panose="02010600030101010101" pitchFamily="2" charset="-122"/>
              </a:rPr>
              <a:t>时间</a:t>
            </a:r>
            <a:r>
              <a:rPr lang="en-US" altLang="zh-CN" b="1" dirty="0" smtClean="0">
                <a:latin typeface="宋体" panose="02010600030101010101" pitchFamily="2" charset="-122"/>
              </a:rPr>
              <a:t>%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en-US" altLang="zh-CN" b="1" dirty="0" smtClean="0">
                <a:latin typeface="宋体" panose="02010600030101010101" pitchFamily="2" charset="-122"/>
              </a:rPr>
              <a:t>1.12/2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56</a:t>
            </a:r>
            <a:r>
              <a:rPr lang="de-DE" altLang="zh-CN" b="1" dirty="0">
                <a:latin typeface="宋体" panose="02010600030101010101" pitchFamily="2" charset="-122"/>
              </a:rPr>
              <a:t>%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∴</a:t>
            </a:r>
            <a:endParaRPr lang="zh-CN" altLang="de-DE" b="1" dirty="0">
              <a:latin typeface="宋体" panose="02010600030101010101" pitchFamily="2" charset="-122"/>
            </a:endParaRPr>
          </a:p>
        </p:txBody>
      </p:sp>
      <p:sp>
        <p:nvSpPr>
          <p:cNvPr id="425992" name="Text Box 8"/>
          <p:cNvSpPr txBox="1">
            <a:spLocks noChangeArrowheads="1"/>
          </p:cNvSpPr>
          <p:nvPr/>
        </p:nvSpPr>
        <p:spPr bwMode="auto">
          <a:xfrm>
            <a:off x="1331515" y="5877272"/>
            <a:ext cx="7633097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de-DE" b="1" dirty="0" smtClean="0">
                <a:latin typeface="宋体" panose="02010600030101010101" pitchFamily="2" charset="-122"/>
              </a:rPr>
              <a:t>不</a:t>
            </a:r>
            <a:r>
              <a:rPr lang="zh-CN" altLang="en-US" b="1" dirty="0" smtClean="0">
                <a:latin typeface="宋体" panose="02010600030101010101" pitchFamily="2" charset="-122"/>
              </a:rPr>
              <a:t>应</a:t>
            </a:r>
            <a:r>
              <a:rPr lang="zh-CN" altLang="de-DE" b="1" dirty="0" smtClean="0">
                <a:latin typeface="宋体" panose="02010600030101010101" pitchFamily="2" charset="-122"/>
              </a:rPr>
              <a:t>采用</a:t>
            </a:r>
            <a:r>
              <a:rPr lang="zh-CN" altLang="de-DE" b="1" dirty="0">
                <a:latin typeface="宋体" panose="02010600030101010101" pitchFamily="2" charset="-122"/>
              </a:rPr>
              <a:t>中断方式</a:t>
            </a:r>
            <a:r>
              <a:rPr lang="de-DE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。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无法</a:t>
            </a:r>
            <a:r>
              <a:rPr lang="zh-CN" altLang="en-US" sz="1800" b="1" u="sng" dirty="0" smtClean="0">
                <a:latin typeface="宋体" panose="02010600030101010101" pitchFamily="2" charset="-122"/>
              </a:rPr>
              <a:t>及时响应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其余外设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4796159" y="3133417"/>
            <a:ext cx="4347841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de-DE" altLang="zh-CN" b="1" dirty="0" smtClean="0">
                <a:latin typeface="宋体" panose="02010600030101010101" pitchFamily="2" charset="-122"/>
              </a:rPr>
              <a:t>2B/20KBps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100</a:t>
            </a:r>
            <a:r>
              <a:rPr lang="en-US" altLang="zh-CN" dirty="0" smtClean="0">
                <a:latin typeface="+mn-lt"/>
              </a:rPr>
              <a:t>μ</a:t>
            </a:r>
            <a:r>
              <a:rPr lang="de-DE" altLang="zh-CN" b="1" dirty="0" smtClean="0">
                <a:latin typeface="宋体" panose="02010600030101010101" pitchFamily="2" charset="-122"/>
              </a:rPr>
              <a:t>s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de-DE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de-DE" altLang="zh-CN" b="1" dirty="0" smtClean="0">
                <a:latin typeface="宋体" panose="02010600030101010101" pitchFamily="2" charset="-122"/>
              </a:rPr>
              <a:t>(6</a:t>
            </a:r>
            <a:r>
              <a:rPr lang="zh-CN" altLang="de-DE" b="1" dirty="0" smtClean="0">
                <a:latin typeface="宋体" panose="02010600030101010101" pitchFamily="2" charset="-122"/>
              </a:rPr>
              <a:t>＋</a:t>
            </a:r>
            <a:r>
              <a:rPr lang="de-DE" altLang="zh-CN" b="1" dirty="0" smtClean="0">
                <a:latin typeface="宋体" panose="02010600030101010101" pitchFamily="2" charset="-122"/>
              </a:rPr>
              <a:t>10*5)/(50*10</a:t>
            </a:r>
            <a:r>
              <a:rPr lang="de-DE" altLang="zh-CN" b="1" baseline="30000" dirty="0" smtClean="0">
                <a:latin typeface="宋体" panose="02010600030101010101" pitchFamily="2" charset="-122"/>
              </a:rPr>
              <a:t>6</a:t>
            </a:r>
            <a:r>
              <a:rPr lang="de-DE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＝</a:t>
            </a:r>
            <a:r>
              <a:rPr lang="de-DE" altLang="zh-CN" b="1" dirty="0" smtClean="0">
                <a:latin typeface="宋体" panose="02010600030101010101" pitchFamily="2" charset="-122"/>
              </a:rPr>
              <a:t>1.12</a:t>
            </a:r>
            <a:r>
              <a:rPr lang="en-US" altLang="zh-CN" dirty="0" smtClean="0"/>
              <a:t>μ</a:t>
            </a:r>
            <a:r>
              <a:rPr lang="de-DE" altLang="zh-CN" b="1" dirty="0" smtClean="0">
                <a:latin typeface="宋体" panose="02010600030101010101" pitchFamily="2" charset="-122"/>
              </a:rPr>
              <a:t>s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de-DE" b="1" dirty="0"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61221" y="4339010"/>
            <a:ext cx="4175275" cy="1394246"/>
            <a:chOff x="396925" y="2898155"/>
            <a:chExt cx="4175275" cy="1394246"/>
          </a:xfrm>
        </p:grpSpPr>
        <p:sp>
          <p:nvSpPr>
            <p:cNvPr id="11" name="Text Box 9"/>
            <p:cNvSpPr txBox="1">
              <a:spLocks noChangeArrowheads="1"/>
            </p:cNvSpPr>
            <p:nvPr/>
          </p:nvSpPr>
          <p:spPr bwMode="auto">
            <a:xfrm>
              <a:off x="2051819" y="2898155"/>
              <a:ext cx="1944118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1838250" y="3401392"/>
              <a:ext cx="1074491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" name="Text Box 11"/>
            <p:cNvSpPr txBox="1">
              <a:spLocks noChangeArrowheads="1"/>
            </p:cNvSpPr>
            <p:nvPr/>
          </p:nvSpPr>
          <p:spPr bwMode="auto">
            <a:xfrm>
              <a:off x="2915816" y="3401392"/>
              <a:ext cx="1080120" cy="288925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其它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12"/>
            <p:cNvSpPr txBox="1">
              <a:spLocks noChangeArrowheads="1"/>
            </p:cNvSpPr>
            <p:nvPr/>
          </p:nvSpPr>
          <p:spPr bwMode="auto">
            <a:xfrm>
              <a:off x="396925" y="2898155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396925" y="3329955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2123928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>
              <a:off x="1256978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256978" y="3401392"/>
              <a:ext cx="578718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3995936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969642" y="3761754"/>
              <a:ext cx="3602558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>
              <a:off x="1255391" y="3761755"/>
              <a:ext cx="0" cy="5306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915816" y="3761755"/>
              <a:ext cx="0" cy="2873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Line 23"/>
            <p:cNvSpPr>
              <a:spLocks noChangeShapeType="1"/>
            </p:cNvSpPr>
            <p:nvPr/>
          </p:nvSpPr>
          <p:spPr bwMode="auto">
            <a:xfrm flipH="1">
              <a:off x="3995936" y="3761755"/>
              <a:ext cx="1588" cy="5306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24"/>
            <p:cNvSpPr txBox="1">
              <a:spLocks noChangeArrowheads="1"/>
            </p:cNvSpPr>
            <p:nvPr/>
          </p:nvSpPr>
          <p:spPr bwMode="auto">
            <a:xfrm>
              <a:off x="1763688" y="3761755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INT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5" name="Text Box 25"/>
            <p:cNvSpPr txBox="1">
              <a:spLocks noChangeArrowheads="1"/>
            </p:cNvSpPr>
            <p:nvPr/>
          </p:nvSpPr>
          <p:spPr bwMode="auto">
            <a:xfrm>
              <a:off x="2339752" y="4005064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2339753" y="3906217"/>
              <a:ext cx="5760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1256978" y="3906217"/>
              <a:ext cx="539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2915816" y="4193555"/>
              <a:ext cx="10817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H="1">
              <a:off x="1255391" y="4149080"/>
              <a:ext cx="115637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Box 33"/>
            <p:cNvSpPr txBox="1">
              <a:spLocks noChangeArrowheads="1"/>
            </p:cNvSpPr>
            <p:nvPr/>
          </p:nvSpPr>
          <p:spPr bwMode="auto">
            <a:xfrm>
              <a:off x="3995936" y="3402980"/>
              <a:ext cx="576263" cy="2873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1" name="Rectangle 34"/>
            <p:cNvSpPr>
              <a:spLocks noChangeArrowheads="1"/>
            </p:cNvSpPr>
            <p:nvPr/>
          </p:nvSpPr>
          <p:spPr bwMode="auto">
            <a:xfrm>
              <a:off x="969641" y="2898155"/>
              <a:ext cx="288925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25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4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425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9" grpId="0"/>
      <p:bldP spid="425990" grpId="0"/>
      <p:bldP spid="425991" grpId="0"/>
      <p:bldP spid="42599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Text Box 4"/>
          <p:cNvSpPr txBox="1">
            <a:spLocks noChangeArrowheads="1"/>
          </p:cNvSpPr>
          <p:nvPr/>
        </p:nvSpPr>
        <p:spPr bwMode="auto">
          <a:xfrm>
            <a:off x="179512" y="849625"/>
            <a:ext cx="8964488" cy="5695315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spc="-120" dirty="0">
                <a:latin typeface="宋体" panose="02010600030101010101" pitchFamily="2" charset="-122"/>
              </a:rPr>
              <a:t>基于查询接口，产生</a:t>
            </a:r>
            <a:r>
              <a:rPr lang="en-US" altLang="zh-CN" b="1" spc="-120" dirty="0">
                <a:latin typeface="宋体" panose="02010600030101010101" pitchFamily="2" charset="-122"/>
              </a:rPr>
              <a:t>/</a:t>
            </a:r>
            <a:r>
              <a:rPr lang="zh-CN" altLang="en-US" b="1" spc="-120" dirty="0">
                <a:latin typeface="宋体" panose="02010600030101010101" pitchFamily="2" charset="-122"/>
              </a:rPr>
              <a:t>撤销中断请求、提供中断类型号</a:t>
            </a:r>
            <a:r>
              <a:rPr lang="en-US" altLang="zh-CN" sz="1800" b="1" spc="-150" dirty="0">
                <a:latin typeface="宋体" panose="02010600030101010101" pitchFamily="2" charset="-122"/>
              </a:rPr>
              <a:t>[</a:t>
            </a:r>
            <a:r>
              <a:rPr lang="zh-CN" altLang="en-US" sz="1800" b="1" spc="-150" dirty="0" smtClean="0">
                <a:latin typeface="宋体" panose="02010600030101010101" pitchFamily="2" charset="-122"/>
              </a:rPr>
              <a:t>可选</a:t>
            </a:r>
            <a:r>
              <a:rPr lang="en-US" altLang="zh-CN" sz="1800" b="1" spc="-150" dirty="0" smtClean="0">
                <a:latin typeface="宋体" panose="02010600030101010101" pitchFamily="2" charset="-122"/>
              </a:rPr>
              <a:t>]</a:t>
            </a:r>
            <a:endParaRPr lang="en-US" altLang="zh-CN" sz="1800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接口的组织：</a:t>
            </a: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lang="en-US" altLang="zh-CN" b="1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中断请求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撤销</a:t>
            </a:r>
            <a:r>
              <a:rPr lang="zh-CN" altLang="en-US" b="1" spc="-10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中断请求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提供</a:t>
            </a:r>
            <a:r>
              <a:rPr lang="zh-CN" altLang="en-US" b="1" spc="-100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中断类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型号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spc="-100" dirty="0">
                <a:solidFill>
                  <a:srgbClr val="C00000"/>
                </a:solidFill>
                <a:latin typeface="宋体" panose="02010600030101010101" pitchFamily="2" charset="-122"/>
              </a:rPr>
              <a:t>接口支持操作的组织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>
                <a:latin typeface="宋体" panose="02010600030101010101" pitchFamily="2" charset="-122"/>
              </a:rPr>
              <a:t>有</a:t>
            </a:r>
            <a:r>
              <a:rPr lang="en-US" altLang="zh-CN" b="1" dirty="0">
                <a:latin typeface="宋体" panose="02010600030101010101" pitchFamily="2" charset="-122"/>
              </a:rPr>
              <a:t>3</a:t>
            </a:r>
            <a:r>
              <a:rPr lang="zh-CN" altLang="en-US" b="1" dirty="0">
                <a:latin typeface="宋体" panose="02010600030101010101" pitchFamily="2" charset="-122"/>
              </a:rPr>
              <a:t>种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查询方式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b="1" dirty="0">
                <a:latin typeface="宋体" panose="02010600030101010101" pitchFamily="2" charset="-122"/>
              </a:rPr>
              <a:t>＋</a:t>
            </a:r>
            <a:r>
              <a:rPr lang="en-US" altLang="zh-CN" b="1" dirty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种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</a:t>
            </a:r>
            <a:r>
              <a:rPr lang="zh-CN" altLang="en-US" sz="1800" b="1" dirty="0">
                <a:latin typeface="宋体" panose="02010600030101010101" pitchFamily="2" charset="-122"/>
              </a:rPr>
              <a:t>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可选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中断响应操作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" name="Text Box 244"/>
          <p:cNvSpPr txBox="1">
            <a:spLocks noChangeArrowheads="1"/>
          </p:cNvSpPr>
          <p:nvPr/>
        </p:nvSpPr>
        <p:spPr bwMode="auto">
          <a:xfrm>
            <a:off x="179388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二、中断接口的组织</a:t>
            </a:r>
            <a:endParaRPr lang="zh-CN" altLang="en-US" dirty="0"/>
          </a:p>
        </p:txBody>
      </p:sp>
      <p:sp>
        <p:nvSpPr>
          <p:cNvPr id="18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35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183" name="AutoShape 62">
            <a:hlinkClick r:id="rId2" tooltip="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39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grpSp>
        <p:nvGrpSpPr>
          <p:cNvPr id="214" name="组合 213"/>
          <p:cNvGrpSpPr/>
          <p:nvPr/>
        </p:nvGrpSpPr>
        <p:grpSpPr>
          <a:xfrm>
            <a:off x="755576" y="1846041"/>
            <a:ext cx="7704856" cy="2268314"/>
            <a:chOff x="107504" y="3032894"/>
            <a:chExt cx="7704856" cy="2268314"/>
          </a:xfrm>
        </p:grpSpPr>
        <p:sp>
          <p:nvSpPr>
            <p:cNvPr id="215" name="Text Box 313"/>
            <p:cNvSpPr txBox="1">
              <a:spLocks noChangeArrowheads="1"/>
            </p:cNvSpPr>
            <p:nvPr/>
          </p:nvSpPr>
          <p:spPr bwMode="auto">
            <a:xfrm>
              <a:off x="2843808" y="4869160"/>
              <a:ext cx="1080120" cy="287709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选择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6" name="Text Box 319"/>
            <p:cNvSpPr txBox="1">
              <a:spLocks noChangeArrowheads="1"/>
            </p:cNvSpPr>
            <p:nvPr/>
          </p:nvSpPr>
          <p:spPr bwMode="auto">
            <a:xfrm>
              <a:off x="4427984" y="4221088"/>
              <a:ext cx="864096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控制口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7" name="Text Box 320"/>
            <p:cNvSpPr txBox="1">
              <a:spLocks noChangeArrowheads="1"/>
            </p:cNvSpPr>
            <p:nvPr/>
          </p:nvSpPr>
          <p:spPr bwMode="auto">
            <a:xfrm>
              <a:off x="5508104" y="4221088"/>
              <a:ext cx="865361" cy="28803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数据口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8" name="Text Box 324"/>
            <p:cNvSpPr txBox="1">
              <a:spLocks noChangeArrowheads="1"/>
            </p:cNvSpPr>
            <p:nvPr/>
          </p:nvSpPr>
          <p:spPr bwMode="auto">
            <a:xfrm>
              <a:off x="5363071" y="3355304"/>
              <a:ext cx="721097" cy="43204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Q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S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BS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9" name="Rectangle 327"/>
            <p:cNvSpPr>
              <a:spLocks noChangeArrowheads="1"/>
            </p:cNvSpPr>
            <p:nvPr/>
          </p:nvSpPr>
          <p:spPr bwMode="auto">
            <a:xfrm>
              <a:off x="1979712" y="3140968"/>
              <a:ext cx="2448769" cy="78853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 smtClean="0">
                  <a:latin typeface="+mn-ea"/>
                  <a:ea typeface="+mn-ea"/>
                </a:rPr>
                <a:t>      </a:t>
              </a:r>
              <a:r>
                <a:rPr lang="zh-CN" altLang="en-US" sz="1200" b="1" dirty="0" smtClean="0">
                  <a:latin typeface="+mn-ea"/>
                  <a:ea typeface="+mn-ea"/>
                </a:rPr>
                <a:t>    </a:t>
              </a:r>
              <a:r>
                <a:rPr lang="zh-CN" altLang="en-US" sz="1800" b="1" dirty="0" smtClean="0">
                  <a:latin typeface="+mn-ea"/>
                  <a:ea typeface="+mn-ea"/>
                </a:rPr>
                <a:t>状态口</a:t>
              </a:r>
              <a:endParaRPr lang="en-US" altLang="zh-CN" sz="1800" b="1" dirty="0" smtClean="0">
                <a:latin typeface="+mn-ea"/>
                <a:ea typeface="+mn-ea"/>
              </a:endParaRPr>
            </a:p>
            <a:p>
              <a:pPr algn="l"/>
              <a:r>
                <a:rPr lang="en-US" altLang="zh-CN" sz="1800" b="1" dirty="0" smtClean="0">
                  <a:latin typeface="+mn-ea"/>
                  <a:ea typeface="+mn-ea"/>
                </a:rPr>
                <a:t>       </a:t>
              </a:r>
              <a:r>
                <a:rPr lang="en-US" altLang="zh-CN" sz="1400" b="1" dirty="0" smtClean="0">
                  <a:latin typeface="+mn-ea"/>
                  <a:ea typeface="+mn-ea"/>
                </a:rPr>
                <a:t>  </a:t>
              </a:r>
              <a:r>
                <a:rPr lang="en-US" altLang="zh-CN" sz="1800" b="1" dirty="0" smtClean="0">
                  <a:latin typeface="+mn-ea"/>
                  <a:ea typeface="+mn-ea"/>
                </a:rPr>
                <a:t>…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220" name="Text Box 342"/>
            <p:cNvSpPr txBox="1">
              <a:spLocks noChangeArrowheads="1"/>
            </p:cNvSpPr>
            <p:nvPr/>
          </p:nvSpPr>
          <p:spPr bwMode="auto">
            <a:xfrm>
              <a:off x="7452320" y="3067619"/>
              <a:ext cx="360040" cy="1584325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外部设备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21" name="直接连接符 220"/>
            <p:cNvCxnSpPr/>
            <p:nvPr/>
          </p:nvCxnSpPr>
          <p:spPr bwMode="auto">
            <a:xfrm>
              <a:off x="4355976" y="3715344"/>
              <a:ext cx="936104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2" name="Text Box 324"/>
            <p:cNvSpPr txBox="1">
              <a:spLocks noChangeArrowheads="1"/>
            </p:cNvSpPr>
            <p:nvPr/>
          </p:nvSpPr>
          <p:spPr bwMode="auto">
            <a:xfrm>
              <a:off x="3562871" y="3355304"/>
              <a:ext cx="721097" cy="43204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Q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S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RD 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R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23" name="椭圆 222"/>
            <p:cNvSpPr/>
            <p:nvPr/>
          </p:nvSpPr>
          <p:spPr bwMode="auto">
            <a:xfrm>
              <a:off x="4283968" y="3678896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4" name="椭圆 223"/>
            <p:cNvSpPr/>
            <p:nvPr/>
          </p:nvSpPr>
          <p:spPr bwMode="auto">
            <a:xfrm>
              <a:off x="5292080" y="3678896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" name="椭圆 224"/>
            <p:cNvSpPr/>
            <p:nvPr/>
          </p:nvSpPr>
          <p:spPr bwMode="auto">
            <a:xfrm>
              <a:off x="3491880" y="3678896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6" name="椭圆 225"/>
            <p:cNvSpPr/>
            <p:nvPr/>
          </p:nvSpPr>
          <p:spPr bwMode="auto">
            <a:xfrm>
              <a:off x="6084168" y="3686684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27" name="直接连接符 83"/>
            <p:cNvCxnSpPr/>
            <p:nvPr/>
          </p:nvCxnSpPr>
          <p:spPr bwMode="auto">
            <a:xfrm rot="5400000" flipH="1" flipV="1">
              <a:off x="3347654" y="3715555"/>
              <a:ext cx="144436" cy="144016"/>
            </a:xfrm>
            <a:prstGeom prst="bentConnector3">
              <a:avLst>
                <a:gd name="adj1" fmla="val 99240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直接连接符 85"/>
            <p:cNvCxnSpPr/>
            <p:nvPr/>
          </p:nvCxnSpPr>
          <p:spPr bwMode="auto">
            <a:xfrm rot="16200000" flipH="1">
              <a:off x="6155966" y="3715555"/>
              <a:ext cx="144437" cy="144016"/>
            </a:xfrm>
            <a:prstGeom prst="bentConnector3">
              <a:avLst>
                <a:gd name="adj1" fmla="val 76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229" name="直接连接符 228"/>
            <p:cNvCxnSpPr/>
            <p:nvPr/>
          </p:nvCxnSpPr>
          <p:spPr bwMode="auto">
            <a:xfrm>
              <a:off x="3347864" y="3859781"/>
              <a:ext cx="3168352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0" name="Text Box 143"/>
            <p:cNvSpPr txBox="1">
              <a:spLocks noChangeArrowheads="1"/>
            </p:cNvSpPr>
            <p:nvPr/>
          </p:nvSpPr>
          <p:spPr bwMode="auto">
            <a:xfrm>
              <a:off x="4788894" y="3387275"/>
              <a:ext cx="143146" cy="216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1" name="直接连接符 90"/>
            <p:cNvCxnSpPr/>
            <p:nvPr/>
          </p:nvCxnSpPr>
          <p:spPr bwMode="auto">
            <a:xfrm flipV="1">
              <a:off x="3779912" y="3212081"/>
              <a:ext cx="792088" cy="143225"/>
            </a:xfrm>
            <a:prstGeom prst="bentConnector3">
              <a:avLst>
                <a:gd name="adj1" fmla="val -506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直接连接符 92"/>
            <p:cNvCxnSpPr/>
            <p:nvPr/>
          </p:nvCxnSpPr>
          <p:spPr bwMode="auto">
            <a:xfrm>
              <a:off x="4572002" y="3212083"/>
              <a:ext cx="216021" cy="215230"/>
            </a:xfrm>
            <a:prstGeom prst="bentConnector3">
              <a:avLst>
                <a:gd name="adj1" fmla="val -291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直接连接符 94"/>
            <p:cNvCxnSpPr/>
            <p:nvPr/>
          </p:nvCxnSpPr>
          <p:spPr bwMode="auto">
            <a:xfrm rot="16200000" flipH="1">
              <a:off x="4969921" y="3529413"/>
              <a:ext cx="212270" cy="144016"/>
            </a:xfrm>
            <a:prstGeom prst="bentConnector3">
              <a:avLst>
                <a:gd name="adj1" fmla="val 2136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234" name="直接连接符 96"/>
            <p:cNvCxnSpPr/>
            <p:nvPr/>
          </p:nvCxnSpPr>
          <p:spPr bwMode="auto">
            <a:xfrm rot="5400000" flipH="1" flipV="1">
              <a:off x="4413333" y="3846399"/>
              <a:ext cx="641369" cy="108011"/>
            </a:xfrm>
            <a:prstGeom prst="bentConnector3">
              <a:avLst>
                <a:gd name="adj1" fmla="val 99504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直接连接符 234"/>
            <p:cNvCxnSpPr/>
            <p:nvPr/>
          </p:nvCxnSpPr>
          <p:spPr bwMode="auto">
            <a:xfrm flipV="1">
              <a:off x="827584" y="4724648"/>
              <a:ext cx="5112568" cy="49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" name="Text Box 177"/>
            <p:cNvSpPr txBox="1">
              <a:spLocks noChangeArrowheads="1"/>
            </p:cNvSpPr>
            <p:nvPr/>
          </p:nvSpPr>
          <p:spPr bwMode="auto">
            <a:xfrm>
              <a:off x="4716017" y="4005189"/>
              <a:ext cx="288031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SD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7" name="直接连接符 236"/>
            <p:cNvCxnSpPr/>
            <p:nvPr/>
          </p:nvCxnSpPr>
          <p:spPr bwMode="auto">
            <a:xfrm flipV="1">
              <a:off x="4644008" y="4509120"/>
              <a:ext cx="0" cy="20768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8" name="直接连接符 237"/>
            <p:cNvCxnSpPr/>
            <p:nvPr/>
          </p:nvCxnSpPr>
          <p:spPr bwMode="auto">
            <a:xfrm flipV="1">
              <a:off x="5940152" y="4509120"/>
              <a:ext cx="0" cy="207689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直接连接符 238"/>
            <p:cNvCxnSpPr/>
            <p:nvPr/>
          </p:nvCxnSpPr>
          <p:spPr bwMode="auto">
            <a:xfrm>
              <a:off x="3707904" y="3927818"/>
              <a:ext cx="0" cy="797326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40" name="Text Box 318"/>
            <p:cNvSpPr txBox="1">
              <a:spLocks noChangeArrowheads="1"/>
            </p:cNvSpPr>
            <p:nvPr/>
          </p:nvSpPr>
          <p:spPr bwMode="auto">
            <a:xfrm>
              <a:off x="5148064" y="4869160"/>
              <a:ext cx="1081459" cy="287709"/>
            </a:xfrm>
            <a:prstGeom prst="rect">
              <a:avLst/>
            </a:prstGeom>
            <a:solidFill>
              <a:srgbClr val="CC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端口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译码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41" name="直接连接符 138"/>
            <p:cNvCxnSpPr/>
            <p:nvPr/>
          </p:nvCxnSpPr>
          <p:spPr bwMode="auto">
            <a:xfrm flipV="1">
              <a:off x="4211960" y="5013178"/>
              <a:ext cx="935669" cy="216022"/>
            </a:xfrm>
            <a:prstGeom prst="bentConnector3">
              <a:avLst>
                <a:gd name="adj1" fmla="val -390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2" name="直接连接符 241"/>
            <p:cNvCxnSpPr/>
            <p:nvPr/>
          </p:nvCxnSpPr>
          <p:spPr bwMode="auto">
            <a:xfrm>
              <a:off x="827584" y="5011488"/>
              <a:ext cx="2026794" cy="1688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3" name="直接连接符 141"/>
            <p:cNvCxnSpPr/>
            <p:nvPr/>
          </p:nvCxnSpPr>
          <p:spPr bwMode="auto">
            <a:xfrm>
              <a:off x="2699792" y="5013178"/>
              <a:ext cx="1512168" cy="216022"/>
            </a:xfrm>
            <a:prstGeom prst="bentConnector3">
              <a:avLst>
                <a:gd name="adj1" fmla="val -76"/>
              </a:avLst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244" name="直接连接符 243"/>
            <p:cNvCxnSpPr/>
            <p:nvPr/>
          </p:nvCxnSpPr>
          <p:spPr bwMode="auto">
            <a:xfrm flipV="1">
              <a:off x="827584" y="4436900"/>
              <a:ext cx="720080" cy="212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5" name="直接连接符 244"/>
            <p:cNvCxnSpPr/>
            <p:nvPr/>
          </p:nvCxnSpPr>
          <p:spPr bwMode="auto">
            <a:xfrm>
              <a:off x="6372200" y="4365104"/>
              <a:ext cx="144016" cy="3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直接连接符 90"/>
            <p:cNvCxnSpPr/>
            <p:nvPr/>
          </p:nvCxnSpPr>
          <p:spPr bwMode="auto">
            <a:xfrm flipV="1">
              <a:off x="5580112" y="3211288"/>
              <a:ext cx="936104" cy="143226"/>
            </a:xfrm>
            <a:prstGeom prst="bentConnector3">
              <a:avLst>
                <a:gd name="adj1" fmla="val -367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7" name="直接连接符 246"/>
            <p:cNvCxnSpPr/>
            <p:nvPr/>
          </p:nvCxnSpPr>
          <p:spPr bwMode="auto">
            <a:xfrm>
              <a:off x="6516216" y="3211288"/>
              <a:ext cx="936104" cy="79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8" name="直接连接符 247"/>
            <p:cNvCxnSpPr/>
            <p:nvPr/>
          </p:nvCxnSpPr>
          <p:spPr bwMode="auto">
            <a:xfrm flipH="1" flipV="1">
              <a:off x="6516216" y="3860626"/>
              <a:ext cx="936104" cy="422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9" name="直接连接符 248"/>
            <p:cNvCxnSpPr/>
            <p:nvPr/>
          </p:nvCxnSpPr>
          <p:spPr bwMode="auto">
            <a:xfrm flipH="1" flipV="1">
              <a:off x="6516216" y="4365104"/>
              <a:ext cx="936104" cy="374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0" name="Rectangle 327"/>
            <p:cNvSpPr>
              <a:spLocks noChangeArrowheads="1"/>
            </p:cNvSpPr>
            <p:nvPr/>
          </p:nvSpPr>
          <p:spPr bwMode="auto">
            <a:xfrm>
              <a:off x="1547664" y="3032894"/>
              <a:ext cx="4968552" cy="2268314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25200" rIns="18000" bIns="10800" anchor="t" anchorCtr="0"/>
            <a:lstStyle/>
            <a:p>
              <a:pPr algn="l"/>
              <a:r>
                <a:rPr lang="zh-CN" altLang="en-US" sz="1400" b="1" dirty="0" smtClean="0">
                  <a:latin typeface="+mn-ea"/>
                  <a:ea typeface="+mn-ea"/>
                </a:rPr>
                <a:t> 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251" name="Text Box 177"/>
            <p:cNvSpPr txBox="1">
              <a:spLocks noChangeArrowheads="1"/>
            </p:cNvSpPr>
            <p:nvPr/>
          </p:nvSpPr>
          <p:spPr bwMode="auto">
            <a:xfrm>
              <a:off x="251520" y="4293096"/>
              <a:ext cx="56549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177"/>
            <p:cNvSpPr txBox="1">
              <a:spLocks noChangeArrowheads="1"/>
            </p:cNvSpPr>
            <p:nvPr/>
          </p:nvSpPr>
          <p:spPr bwMode="auto">
            <a:xfrm>
              <a:off x="251520" y="4581253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177"/>
            <p:cNvSpPr txBox="1">
              <a:spLocks noChangeArrowheads="1"/>
            </p:cNvSpPr>
            <p:nvPr/>
          </p:nvSpPr>
          <p:spPr bwMode="auto">
            <a:xfrm>
              <a:off x="251520" y="4869285"/>
              <a:ext cx="576064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en-US" altLang="zh-CN" sz="18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54" name="椭圆 253"/>
            <p:cNvSpPr/>
            <p:nvPr/>
          </p:nvSpPr>
          <p:spPr bwMode="auto">
            <a:xfrm>
              <a:off x="4932040" y="3467945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5" name="Text Box 177"/>
            <p:cNvSpPr txBox="1">
              <a:spLocks noChangeArrowheads="1"/>
            </p:cNvSpPr>
            <p:nvPr/>
          </p:nvSpPr>
          <p:spPr bwMode="auto">
            <a:xfrm>
              <a:off x="107504" y="3141093"/>
              <a:ext cx="1008112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中断请求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56" name="椭圆 255"/>
          <p:cNvSpPr/>
          <p:nvPr/>
        </p:nvSpPr>
        <p:spPr bwMode="auto">
          <a:xfrm>
            <a:off x="4434626" y="2693435"/>
            <a:ext cx="425406" cy="375177"/>
          </a:xfrm>
          <a:prstGeom prst="ellipse">
            <a:avLst/>
          </a:prstGeom>
          <a:solidFill>
            <a:srgbClr val="CCFFFF"/>
          </a:solidFill>
          <a:ln w="12700" cap="flat" cmpd="sng" algn="ctr">
            <a:solidFill>
              <a:srgbClr val="FF3399"/>
            </a:solidFill>
            <a:prstDash val="sysDash"/>
            <a:round/>
            <a:headEnd type="none" w="med" len="med"/>
            <a:tailEnd type="none" w="med" len="med"/>
          </a:ln>
        </p:spPr>
        <p:txBody>
          <a:bodyPr vert="horz" wrap="square" lIns="18000" tIns="10800" rIns="18000" bIns="1080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8" name="组合 257"/>
          <p:cNvGrpSpPr/>
          <p:nvPr/>
        </p:nvGrpSpPr>
        <p:grpSpPr>
          <a:xfrm>
            <a:off x="1691679" y="1772816"/>
            <a:ext cx="6300702" cy="2125516"/>
            <a:chOff x="1763687" y="2636912"/>
            <a:chExt cx="6300702" cy="2125516"/>
          </a:xfrm>
        </p:grpSpPr>
        <p:sp>
          <p:nvSpPr>
            <p:cNvPr id="259" name="Text Box 177"/>
            <p:cNvSpPr txBox="1">
              <a:spLocks noChangeArrowheads="1"/>
            </p:cNvSpPr>
            <p:nvPr/>
          </p:nvSpPr>
          <p:spPr bwMode="auto">
            <a:xfrm>
              <a:off x="7308304" y="2693203"/>
              <a:ext cx="756085" cy="180082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⑤启动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0" name="Text Box 177"/>
            <p:cNvSpPr txBox="1">
              <a:spLocks noChangeArrowheads="1"/>
            </p:cNvSpPr>
            <p:nvPr/>
          </p:nvSpPr>
          <p:spPr bwMode="auto">
            <a:xfrm>
              <a:off x="7308305" y="3305333"/>
              <a:ext cx="720080" cy="214757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⑦结束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1" name="Text Box 177"/>
            <p:cNvSpPr txBox="1">
              <a:spLocks noChangeArrowheads="1"/>
            </p:cNvSpPr>
            <p:nvPr/>
          </p:nvSpPr>
          <p:spPr bwMode="auto">
            <a:xfrm>
              <a:off x="7308305" y="3807825"/>
              <a:ext cx="720080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⑥数据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2" name="Text Box 177"/>
            <p:cNvSpPr txBox="1">
              <a:spLocks noChangeArrowheads="1"/>
            </p:cNvSpPr>
            <p:nvPr/>
          </p:nvSpPr>
          <p:spPr bwMode="auto">
            <a:xfrm>
              <a:off x="4255504" y="2818211"/>
              <a:ext cx="216023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⑧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3" name="Text Box 177"/>
            <p:cNvSpPr txBox="1">
              <a:spLocks noChangeArrowheads="1"/>
            </p:cNvSpPr>
            <p:nvPr/>
          </p:nvSpPr>
          <p:spPr bwMode="auto">
            <a:xfrm>
              <a:off x="5671171" y="2890219"/>
              <a:ext cx="215589" cy="215899"/>
            </a:xfrm>
            <a:prstGeom prst="rect">
              <a:avLst/>
            </a:prstGeom>
            <a:solidFill>
              <a:srgbClr val="FFFF99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4" name="Text Box 177"/>
            <p:cNvSpPr txBox="1">
              <a:spLocks noChangeArrowheads="1"/>
            </p:cNvSpPr>
            <p:nvPr/>
          </p:nvSpPr>
          <p:spPr bwMode="auto">
            <a:xfrm>
              <a:off x="5417258" y="4184674"/>
              <a:ext cx="234863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5" name="Text Box 177"/>
            <p:cNvSpPr txBox="1">
              <a:spLocks noChangeArrowheads="1"/>
            </p:cNvSpPr>
            <p:nvPr/>
          </p:nvSpPr>
          <p:spPr bwMode="auto">
            <a:xfrm>
              <a:off x="5076057" y="4474395"/>
              <a:ext cx="234863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6" name="Text Box 177"/>
            <p:cNvSpPr txBox="1">
              <a:spLocks noChangeArrowheads="1"/>
            </p:cNvSpPr>
            <p:nvPr/>
          </p:nvSpPr>
          <p:spPr bwMode="auto">
            <a:xfrm>
              <a:off x="1763688" y="4474395"/>
              <a:ext cx="216024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7" name="Text Box 177"/>
            <p:cNvSpPr txBox="1">
              <a:spLocks noChangeArrowheads="1"/>
            </p:cNvSpPr>
            <p:nvPr/>
          </p:nvSpPr>
          <p:spPr bwMode="auto">
            <a:xfrm>
              <a:off x="1763687" y="3932708"/>
              <a:ext cx="216025" cy="181647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→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68" name="Text Box 177"/>
            <p:cNvSpPr txBox="1">
              <a:spLocks noChangeArrowheads="1"/>
            </p:cNvSpPr>
            <p:nvPr/>
          </p:nvSpPr>
          <p:spPr bwMode="auto">
            <a:xfrm>
              <a:off x="1763688" y="4186363"/>
              <a:ext cx="216025" cy="215899"/>
            </a:xfrm>
            <a:prstGeom prst="rect">
              <a:avLst/>
            </a:prstGeom>
            <a:solidFill>
              <a:srgbClr val="CCFF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69" name="直接连接符 268"/>
            <p:cNvCxnSpPr/>
            <p:nvPr/>
          </p:nvCxnSpPr>
          <p:spPr bwMode="auto">
            <a:xfrm flipV="1">
              <a:off x="6949604" y="4690418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70" name="直接连接符 269"/>
            <p:cNvCxnSpPr/>
            <p:nvPr/>
          </p:nvCxnSpPr>
          <p:spPr bwMode="auto">
            <a:xfrm flipV="1">
              <a:off x="6948265" y="4618410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71" name="直接连接符 270"/>
            <p:cNvCxnSpPr/>
            <p:nvPr/>
          </p:nvCxnSpPr>
          <p:spPr bwMode="auto">
            <a:xfrm flipV="1">
              <a:off x="6948265" y="4762427"/>
              <a:ext cx="214685" cy="1"/>
            </a:xfrm>
            <a:prstGeom prst="line">
              <a:avLst/>
            </a:prstGeom>
            <a:noFill/>
            <a:ln w="15875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72" name="直接连接符 271"/>
            <p:cNvCxnSpPr/>
            <p:nvPr/>
          </p:nvCxnSpPr>
          <p:spPr bwMode="auto">
            <a:xfrm flipV="1">
              <a:off x="5004048" y="4080447"/>
              <a:ext cx="144016" cy="584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cxnSp>
          <p:nvCxnSpPr>
            <p:cNvPr id="273" name="直接连接符 272"/>
            <p:cNvCxnSpPr/>
            <p:nvPr/>
          </p:nvCxnSpPr>
          <p:spPr bwMode="auto">
            <a:xfrm>
              <a:off x="6948264" y="3537024"/>
              <a:ext cx="1" cy="361307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  <p:sp>
          <p:nvSpPr>
            <p:cNvPr id="274" name="Text Box 177"/>
            <p:cNvSpPr txBox="1">
              <a:spLocks noChangeArrowheads="1"/>
            </p:cNvSpPr>
            <p:nvPr/>
          </p:nvSpPr>
          <p:spPr bwMode="auto">
            <a:xfrm>
              <a:off x="1979712" y="2636912"/>
              <a:ext cx="253293" cy="215899"/>
            </a:xfrm>
            <a:prstGeom prst="rect">
              <a:avLst/>
            </a:prstGeom>
            <a:solidFill>
              <a:srgbClr val="FFCCFF"/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⑨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5" name="直接连接符 274"/>
            <p:cNvCxnSpPr/>
            <p:nvPr/>
          </p:nvCxnSpPr>
          <p:spPr bwMode="auto">
            <a:xfrm>
              <a:off x="5868144" y="3533666"/>
              <a:ext cx="1" cy="361307"/>
            </a:xfrm>
            <a:prstGeom prst="line">
              <a:avLst/>
            </a:prstGeom>
            <a:noFill/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sm"/>
            </a:ln>
          </p:spPr>
        </p:cxnSp>
      </p:grpSp>
      <p:sp>
        <p:nvSpPr>
          <p:cNvPr id="276" name="Text Box 245"/>
          <p:cNvSpPr txBox="1">
            <a:spLocks noChangeArrowheads="1"/>
          </p:cNvSpPr>
          <p:nvPr/>
        </p:nvSpPr>
        <p:spPr bwMode="auto">
          <a:xfrm>
            <a:off x="2718568" y="1290826"/>
            <a:ext cx="6245920" cy="55308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u="sng" dirty="0" smtClean="0">
                <a:latin typeface="宋体" panose="02010600030101010101" pitchFamily="2" charset="-122"/>
              </a:rPr>
              <a:t>端口</a:t>
            </a:r>
            <a:r>
              <a:rPr lang="zh-CN" altLang="en-US" b="1" u="sng" dirty="0">
                <a:latin typeface="宋体" panose="02010600030101010101" pitchFamily="2" charset="-122"/>
              </a:rPr>
              <a:t>含</a:t>
            </a:r>
            <a:r>
              <a:rPr lang="zh-CN" altLang="en-US" b="1" dirty="0">
                <a:latin typeface="宋体" panose="02010600030101010101" pitchFamily="2" charset="-122"/>
              </a:rPr>
              <a:t>中断允许位</a:t>
            </a:r>
            <a:r>
              <a:rPr lang="en-US" altLang="zh-CN" b="1" dirty="0" smtClean="0">
                <a:latin typeface="宋体" panose="02010600030101010101" pitchFamily="2" charset="-122"/>
              </a:rPr>
              <a:t>EI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zh-CN" altLang="en-US" b="1" dirty="0">
                <a:latin typeface="宋体" panose="02010600030101010101" pitchFamily="2" charset="-122"/>
              </a:rPr>
              <a:t>中断请求位</a:t>
            </a:r>
            <a:r>
              <a:rPr lang="en-US" altLang="zh-CN" b="1" dirty="0" smtClean="0">
                <a:latin typeface="宋体" panose="02010600030101010101" pitchFamily="2" charset="-122"/>
              </a:rPr>
              <a:t>INT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277" name="线形标注 2 276"/>
          <p:cNvSpPr/>
          <p:nvPr/>
        </p:nvSpPr>
        <p:spPr bwMode="auto">
          <a:xfrm>
            <a:off x="4067944" y="583930"/>
            <a:ext cx="4320479" cy="288000"/>
          </a:xfrm>
          <a:prstGeom prst="borderCallout2">
            <a:avLst>
              <a:gd name="adj1" fmla="val 101997"/>
              <a:gd name="adj2" fmla="val 42812"/>
              <a:gd name="adj3" fmla="val 149673"/>
              <a:gd name="adj4" fmla="val 42872"/>
              <a:gd name="adj5" fmla="val 303226"/>
              <a:gd name="adj6" fmla="val 36168"/>
            </a:avLst>
          </a:prstGeom>
          <a:noFill/>
          <a:ln w="15875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ctr" anchorCtr="0" compatLnSpc="1"/>
          <a:lstStyle/>
          <a:p>
            <a:pPr>
              <a:lnSpc>
                <a:spcPct val="105000"/>
              </a:lnSpc>
            </a:pPr>
            <a:r>
              <a:rPr lang="en-US" altLang="zh-CN" sz="1600" dirty="0"/>
              <a:t>EI</a:t>
            </a:r>
            <a:r>
              <a:rPr lang="en-US" altLang="zh-CN" sz="1600" dirty="0">
                <a:latin typeface="+mn-ea"/>
              </a:rPr>
              <a:t>(</a:t>
            </a:r>
            <a:r>
              <a:rPr lang="en-US" altLang="zh-CN" sz="1600" dirty="0"/>
              <a:t>Enable </a:t>
            </a:r>
            <a:r>
              <a:rPr lang="en-US" altLang="zh-CN" sz="1600" dirty="0" smtClean="0"/>
              <a:t>Interrupt)</a:t>
            </a:r>
            <a:r>
              <a:rPr lang="zh-CN" altLang="en-US" sz="1600" dirty="0" smtClean="0"/>
              <a:t>＝</a:t>
            </a:r>
            <a:r>
              <a:rPr lang="en-US" altLang="zh-CN" sz="1600" b="1" dirty="0" smtClean="0">
                <a:latin typeface="+mn-ea"/>
                <a:ea typeface="+mn-ea"/>
              </a:rPr>
              <a:t>0</a:t>
            </a:r>
            <a:r>
              <a:rPr lang="zh-CN" altLang="en-US" sz="1600" b="1" dirty="0" smtClean="0">
                <a:latin typeface="+mn-ea"/>
                <a:ea typeface="+mn-ea"/>
              </a:rPr>
              <a:t>、</a:t>
            </a:r>
            <a:r>
              <a:rPr lang="en-US" altLang="zh-CN" sz="1600" b="1" dirty="0" smtClean="0">
                <a:latin typeface="+mn-ea"/>
                <a:ea typeface="+mn-ea"/>
              </a:rPr>
              <a:t>1</a:t>
            </a:r>
            <a:r>
              <a:rPr lang="zh-CN" altLang="en-US" sz="1600" b="1" dirty="0" smtClean="0"/>
              <a:t>对应查询、中断方式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278" name="组合 277"/>
          <p:cNvGrpSpPr/>
          <p:nvPr/>
        </p:nvGrpSpPr>
        <p:grpSpPr>
          <a:xfrm>
            <a:off x="1835694" y="2032398"/>
            <a:ext cx="3384378" cy="1152003"/>
            <a:chOff x="1907704" y="2530179"/>
            <a:chExt cx="3384378" cy="1152003"/>
          </a:xfrm>
        </p:grpSpPr>
        <p:sp>
          <p:nvSpPr>
            <p:cNvPr id="279" name="Text Box 324"/>
            <p:cNvSpPr txBox="1">
              <a:spLocks noChangeArrowheads="1"/>
            </p:cNvSpPr>
            <p:nvPr/>
          </p:nvSpPr>
          <p:spPr bwMode="auto">
            <a:xfrm>
              <a:off x="2843808" y="2674195"/>
              <a:ext cx="721097" cy="43204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0" rIns="0" bIns="0"/>
            <a:lstStyle/>
            <a:p>
              <a:pPr algn="l"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Q 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8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R</a:t>
              </a:r>
              <a:r>
                <a:rPr lang="en-US" altLang="zh-CN" sz="1100" b="1" dirty="0" smtClean="0">
                  <a:latin typeface="宋体" panose="02010600030101010101" pitchFamily="2" charset="-122"/>
                </a:rPr>
                <a:t> 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INT  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0" name="椭圆 279"/>
            <p:cNvSpPr/>
            <p:nvPr/>
          </p:nvSpPr>
          <p:spPr bwMode="auto">
            <a:xfrm>
              <a:off x="2771800" y="3000327"/>
              <a:ext cx="72008" cy="64220"/>
            </a:xfrm>
            <a:prstGeom prst="ellips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82" name="直接连接符 85"/>
            <p:cNvCxnSpPr/>
            <p:nvPr/>
          </p:nvCxnSpPr>
          <p:spPr bwMode="auto">
            <a:xfrm>
              <a:off x="4788024" y="3466283"/>
              <a:ext cx="504058" cy="72008"/>
            </a:xfrm>
            <a:prstGeom prst="bentConnector3">
              <a:avLst>
                <a:gd name="adj1" fmla="val 99585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283" name="Text Box 177"/>
            <p:cNvSpPr txBox="1">
              <a:spLocks noChangeArrowheads="1"/>
            </p:cNvSpPr>
            <p:nvPr/>
          </p:nvSpPr>
          <p:spPr bwMode="auto">
            <a:xfrm>
              <a:off x="4860032" y="3466283"/>
              <a:ext cx="288031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 eaLnBrk="0" hangingPunct="0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EI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4" name="直接连接符 90"/>
            <p:cNvCxnSpPr/>
            <p:nvPr/>
          </p:nvCxnSpPr>
          <p:spPr bwMode="auto">
            <a:xfrm rot="10800000">
              <a:off x="1907704" y="2530179"/>
              <a:ext cx="1152128" cy="143228"/>
            </a:xfrm>
            <a:prstGeom prst="bentConnector3">
              <a:avLst>
                <a:gd name="adj1" fmla="val -706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5" name="等腰三角形 284"/>
            <p:cNvSpPr/>
            <p:nvPr/>
          </p:nvSpPr>
          <p:spPr bwMode="auto">
            <a:xfrm rot="16200000">
              <a:off x="3470294" y="2980230"/>
              <a:ext cx="108012" cy="72008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286" name="组合 285"/>
          <p:cNvGrpSpPr/>
          <p:nvPr/>
        </p:nvGrpSpPr>
        <p:grpSpPr>
          <a:xfrm>
            <a:off x="755576" y="2030585"/>
            <a:ext cx="3384376" cy="1513856"/>
            <a:chOff x="827584" y="2528491"/>
            <a:chExt cx="3384376" cy="1513856"/>
          </a:xfrm>
        </p:grpSpPr>
        <p:sp>
          <p:nvSpPr>
            <p:cNvPr id="287" name="Text Box 319"/>
            <p:cNvSpPr txBox="1">
              <a:spLocks noChangeArrowheads="1"/>
            </p:cNvSpPr>
            <p:nvPr/>
          </p:nvSpPr>
          <p:spPr bwMode="auto">
            <a:xfrm>
              <a:off x="2987824" y="3466283"/>
              <a:ext cx="1224136" cy="28803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中断类型号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88" name="直接连接符 287"/>
            <p:cNvCxnSpPr>
              <a:stCxn id="287" idx="2"/>
            </p:cNvCxnSpPr>
            <p:nvPr/>
          </p:nvCxnSpPr>
          <p:spPr bwMode="auto">
            <a:xfrm>
              <a:off x="3599892" y="3754315"/>
              <a:ext cx="0" cy="28803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9" name="Text Box 143"/>
            <p:cNvSpPr txBox="1">
              <a:spLocks noChangeArrowheads="1"/>
            </p:cNvSpPr>
            <p:nvPr/>
          </p:nvSpPr>
          <p:spPr bwMode="auto">
            <a:xfrm>
              <a:off x="2627784" y="3322267"/>
              <a:ext cx="143146" cy="21602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90" name="等腰三角形 289"/>
            <p:cNvSpPr/>
            <p:nvPr/>
          </p:nvSpPr>
          <p:spPr bwMode="auto">
            <a:xfrm rot="10800000">
              <a:off x="3543124" y="3814171"/>
              <a:ext cx="108012" cy="108000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291" name="直接连接符 85"/>
            <p:cNvCxnSpPr/>
            <p:nvPr/>
          </p:nvCxnSpPr>
          <p:spPr bwMode="auto">
            <a:xfrm>
              <a:off x="2267744" y="3360747"/>
              <a:ext cx="360040" cy="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cxnSp>
          <p:nvCxnSpPr>
            <p:cNvPr id="292" name="直接连接符 85"/>
            <p:cNvCxnSpPr/>
            <p:nvPr/>
          </p:nvCxnSpPr>
          <p:spPr bwMode="auto">
            <a:xfrm rot="16200000" flipH="1">
              <a:off x="2032030" y="2908221"/>
              <a:ext cx="975484" cy="216024"/>
            </a:xfrm>
            <a:prstGeom prst="bentConnector3">
              <a:avLst>
                <a:gd name="adj1" fmla="val 99681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sm" len="sm"/>
            </a:ln>
          </p:spPr>
        </p:cxnSp>
        <p:sp>
          <p:nvSpPr>
            <p:cNvPr id="293" name="Text Box 177"/>
            <p:cNvSpPr txBox="1">
              <a:spLocks noChangeArrowheads="1"/>
            </p:cNvSpPr>
            <p:nvPr/>
          </p:nvSpPr>
          <p:spPr bwMode="auto">
            <a:xfrm>
              <a:off x="827584" y="3250384"/>
              <a:ext cx="1008112" cy="215899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中断响应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4" name="直接连接符 293"/>
            <p:cNvCxnSpPr/>
            <p:nvPr/>
          </p:nvCxnSpPr>
          <p:spPr bwMode="auto">
            <a:xfrm>
              <a:off x="1907704" y="3358333"/>
              <a:ext cx="360040" cy="0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5" name="直接连接符 96"/>
            <p:cNvCxnSpPr>
              <a:stCxn id="289" idx="3"/>
              <a:endCxn id="290" idx="5"/>
            </p:cNvCxnSpPr>
            <p:nvPr/>
          </p:nvCxnSpPr>
          <p:spPr bwMode="auto">
            <a:xfrm>
              <a:off x="2770930" y="3430279"/>
              <a:ext cx="799197" cy="437892"/>
            </a:xfrm>
            <a:prstGeom prst="bentConnector3">
              <a:avLst>
                <a:gd name="adj1" fmla="val 12865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sm" len="sm"/>
            </a:ln>
          </p:spPr>
        </p:cxnSp>
      </p:grpSp>
      <p:sp>
        <p:nvSpPr>
          <p:cNvPr id="296" name="Text Box 776"/>
          <p:cNvSpPr txBox="1">
            <a:spLocks noChangeArrowheads="1"/>
          </p:cNvSpPr>
          <p:nvPr/>
        </p:nvSpPr>
        <p:spPr bwMode="auto">
          <a:xfrm>
            <a:off x="2915816" y="4111912"/>
            <a:ext cx="6119789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u="sng" spc="-50" dirty="0">
                <a:latin typeface="宋体" panose="02010600030101010101" pitchFamily="2" charset="-122"/>
              </a:rPr>
              <a:t>EI</a:t>
            </a:r>
            <a:r>
              <a:rPr lang="zh-CN" altLang="en-US" b="1" u="sng" spc="-50" dirty="0">
                <a:latin typeface="宋体" panose="02010600030101010101" pitchFamily="2" charset="-122"/>
              </a:rPr>
              <a:t>＝</a:t>
            </a:r>
            <a:r>
              <a:rPr lang="en-US" altLang="zh-CN" b="1" u="sng" spc="-50" dirty="0">
                <a:latin typeface="宋体" panose="02010600030101010101" pitchFamily="2" charset="-122"/>
              </a:rPr>
              <a:t>1</a:t>
            </a:r>
            <a:r>
              <a:rPr lang="zh-CN" altLang="en-US" b="1" u="sng" spc="-50" dirty="0" smtClean="0">
                <a:latin typeface="宋体" panose="02010600030101010101" pitchFamily="2" charset="-122"/>
              </a:rPr>
              <a:t>、外设刚就绪</a:t>
            </a:r>
            <a:r>
              <a:rPr lang="zh-CN" altLang="en-US" b="1" spc="-50" dirty="0" smtClean="0">
                <a:latin typeface="宋体" panose="02010600030101010101" pitchFamily="2" charset="-122"/>
              </a:rPr>
              <a:t>时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由</a:t>
            </a:r>
            <a:r>
              <a:rPr lang="zh-CN" altLang="en-US" sz="1800" b="1" u="sng" spc="-50" dirty="0" smtClean="0">
                <a:latin typeface="宋体" panose="02010600030101010101" pitchFamily="2" charset="-122"/>
              </a:rPr>
              <a:t>启动设备</a:t>
            </a:r>
            <a:r>
              <a:rPr lang="zh-CN" altLang="en-US" sz="1800" b="1" spc="-50" dirty="0" smtClean="0">
                <a:latin typeface="宋体" panose="02010600030101010101" pitchFamily="2" charset="-122"/>
              </a:rPr>
              <a:t>操作</a:t>
            </a:r>
            <a:r>
              <a:rPr lang="zh-CN" altLang="en-US" sz="1800" b="1" spc="-50" dirty="0" smtClean="0">
                <a:latin typeface="宋体" panose="02010600030101010101" pitchFamily="2" charset="-122"/>
                <a:sym typeface="+mn-ea"/>
              </a:rPr>
              <a:t>触发</a:t>
            </a:r>
            <a:r>
              <a:rPr lang="en-US" altLang="zh-CN" sz="1800" b="1" spc="-50" dirty="0" smtClean="0">
                <a:latin typeface="宋体" panose="02010600030101010101" pitchFamily="2" charset="-122"/>
              </a:rPr>
              <a:t>)</a:t>
            </a:r>
            <a:endParaRPr lang="en-US" altLang="zh-CN" b="1" spc="-5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u="sng" dirty="0">
                <a:latin typeface="宋体" panose="02010600030101010101" pitchFamily="2" charset="-122"/>
                <a:sym typeface="+mn-ea"/>
              </a:rPr>
              <a:t>中断响应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操作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有请求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被选中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即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将得到服务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中断响应操作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b="1" dirty="0" smtClean="0">
                <a:latin typeface="宋体" panose="02010600030101010101" pitchFamily="2" charset="-122"/>
              </a:rPr>
              <a:t>有请求时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←可选～中断源识别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297" name="Text Box 776"/>
          <p:cNvSpPr txBox="1">
            <a:spLocks noChangeArrowheads="1"/>
          </p:cNvSpPr>
          <p:nvPr/>
        </p:nvSpPr>
        <p:spPr bwMode="auto">
          <a:xfrm>
            <a:off x="2951311" y="5890809"/>
            <a:ext cx="5904782" cy="5182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总线事务、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撤销</a:t>
            </a:r>
            <a:r>
              <a:rPr lang="zh-CN" altLang="en-US" b="1" dirty="0" smtClean="0">
                <a:latin typeface="宋体" panose="02010600030101010101" pitchFamily="2" charset="-122"/>
              </a:rPr>
              <a:t>请求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298" name="组合 297"/>
          <p:cNvGrpSpPr/>
          <p:nvPr/>
        </p:nvGrpSpPr>
        <p:grpSpPr>
          <a:xfrm>
            <a:off x="3491878" y="2237902"/>
            <a:ext cx="1728194" cy="759520"/>
            <a:chOff x="3275856" y="2281335"/>
            <a:chExt cx="1728194" cy="759520"/>
          </a:xfrm>
        </p:grpSpPr>
        <p:sp>
          <p:nvSpPr>
            <p:cNvPr id="299" name="Text Box 143"/>
            <p:cNvSpPr txBox="1">
              <a:spLocks noChangeArrowheads="1"/>
            </p:cNvSpPr>
            <p:nvPr/>
          </p:nvSpPr>
          <p:spPr bwMode="auto">
            <a:xfrm>
              <a:off x="4356846" y="2824832"/>
              <a:ext cx="143146" cy="216023"/>
            </a:xfrm>
            <a:prstGeom prst="rect">
              <a:avLst/>
            </a:prstGeom>
            <a:solidFill>
              <a:srgbClr val="FFCC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&amp;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0" name="直接连接符 85"/>
            <p:cNvCxnSpPr/>
            <p:nvPr/>
          </p:nvCxnSpPr>
          <p:spPr bwMode="auto">
            <a:xfrm rot="5400000" flipH="1" flipV="1">
              <a:off x="4452541" y="2328786"/>
              <a:ext cx="598960" cy="504058"/>
            </a:xfrm>
            <a:prstGeom prst="bentConnector3">
              <a:avLst>
                <a:gd name="adj1" fmla="val -379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oval" w="sm" len="sm"/>
            </a:ln>
          </p:spPr>
        </p:cxnSp>
        <p:cxnSp>
          <p:nvCxnSpPr>
            <p:cNvPr id="301" name="直接连接符 85"/>
            <p:cNvCxnSpPr/>
            <p:nvPr/>
          </p:nvCxnSpPr>
          <p:spPr bwMode="auto">
            <a:xfrm>
              <a:off x="3275856" y="2561886"/>
              <a:ext cx="1084574" cy="379791"/>
            </a:xfrm>
            <a:prstGeom prst="bentConnector3">
              <a:avLst>
                <a:gd name="adj1" fmla="val 13185"/>
              </a:avLst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sm" len="sm"/>
            </a:ln>
          </p:spPr>
        </p:cxnSp>
      </p:grpSp>
      <p:grpSp>
        <p:nvGrpSpPr>
          <p:cNvPr id="309" name="组合 308"/>
          <p:cNvGrpSpPr/>
          <p:nvPr/>
        </p:nvGrpSpPr>
        <p:grpSpPr>
          <a:xfrm>
            <a:off x="7992381" y="1268760"/>
            <a:ext cx="1026105" cy="4464496"/>
            <a:chOff x="7992381" y="1268760"/>
            <a:chExt cx="1026105" cy="4464496"/>
          </a:xfrm>
        </p:grpSpPr>
        <p:sp>
          <p:nvSpPr>
            <p:cNvPr id="310" name="Text Box 317"/>
            <p:cNvSpPr txBox="1">
              <a:spLocks noChangeArrowheads="1"/>
            </p:cNvSpPr>
            <p:nvPr/>
          </p:nvSpPr>
          <p:spPr bwMode="auto">
            <a:xfrm>
              <a:off x="8694486" y="1988840"/>
              <a:ext cx="324000" cy="1981498"/>
            </a:xfrm>
            <a:prstGeom prst="rect">
              <a:avLst/>
            </a:prstGeom>
            <a:noFill/>
            <a:ln w="12700">
              <a:solidFill>
                <a:srgbClr val="990099"/>
              </a:solidFill>
              <a:prstDash val="sysDash"/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向量中断方式时有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1" name="直接箭头连接符 310"/>
            <p:cNvCxnSpPr>
              <a:stCxn id="310" idx="0"/>
            </p:cNvCxnSpPr>
            <p:nvPr/>
          </p:nvCxnSpPr>
          <p:spPr bwMode="auto">
            <a:xfrm flipH="1" flipV="1">
              <a:off x="8694490" y="1268760"/>
              <a:ext cx="161996" cy="72008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cxnSp>
          <p:nvCxnSpPr>
            <p:cNvPr id="312" name="直接箭头连接符 311"/>
            <p:cNvCxnSpPr>
              <a:stCxn id="310" idx="2"/>
            </p:cNvCxnSpPr>
            <p:nvPr/>
          </p:nvCxnSpPr>
          <p:spPr bwMode="auto">
            <a:xfrm flipH="1">
              <a:off x="7992381" y="3970338"/>
              <a:ext cx="864105" cy="1762918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ysDash"/>
              <a:round/>
              <a:headEnd type="none" w="med" len="med"/>
              <a:tailEnd type="arrow" w="sm" len="sm"/>
            </a:ln>
          </p:spPr>
        </p:cxnSp>
      </p:grpSp>
      <p:sp>
        <p:nvSpPr>
          <p:cNvPr id="107" name="AutoShape 186">
            <a:hlinkClick r:id="" tooltip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156177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8" name="直接连接符 83"/>
          <p:cNvCxnSpPr/>
          <p:nvPr/>
        </p:nvCxnSpPr>
        <p:spPr bwMode="auto">
          <a:xfrm rot="5400000" flipH="1" flipV="1">
            <a:off x="2428522" y="2591698"/>
            <a:ext cx="326512" cy="216024"/>
          </a:xfrm>
          <a:prstGeom prst="bentConnector3">
            <a:avLst>
              <a:gd name="adj1" fmla="val 101343"/>
            </a:avLst>
          </a:prstGeom>
          <a:noFill/>
          <a:ln w="15875" cap="flat" cmpd="sng" algn="ctr">
            <a:solidFill>
              <a:schemeClr val="tx1"/>
            </a:solidFill>
            <a:prstDash val="solid"/>
            <a:round/>
            <a:headEnd type="oval" w="sm" len="sm"/>
            <a:tailEnd type="none" w="med" len="med"/>
          </a:ln>
        </p:spPr>
      </p:cxnSp>
      <p:grpSp>
        <p:nvGrpSpPr>
          <p:cNvPr id="302" name="组合 301"/>
          <p:cNvGrpSpPr/>
          <p:nvPr/>
        </p:nvGrpSpPr>
        <p:grpSpPr>
          <a:xfrm>
            <a:off x="1835696" y="2526424"/>
            <a:ext cx="1656184" cy="991518"/>
            <a:chOff x="1835696" y="2569857"/>
            <a:chExt cx="1656184" cy="991518"/>
          </a:xfrm>
        </p:grpSpPr>
        <p:cxnSp>
          <p:nvCxnSpPr>
            <p:cNvPr id="303" name="直接连接符 302"/>
            <p:cNvCxnSpPr/>
            <p:nvPr/>
          </p:nvCxnSpPr>
          <p:spPr bwMode="auto">
            <a:xfrm>
              <a:off x="1835696" y="2896369"/>
              <a:ext cx="360040" cy="0"/>
            </a:xfrm>
            <a:prstGeom prst="line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4" name="直接连接符 85"/>
            <p:cNvCxnSpPr/>
            <p:nvPr/>
          </p:nvCxnSpPr>
          <p:spPr bwMode="auto">
            <a:xfrm>
              <a:off x="2195736" y="2896369"/>
              <a:ext cx="360040" cy="0"/>
            </a:xfrm>
            <a:prstGeom prst="straightConnector1">
              <a:avLst/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sm" len="sm"/>
            </a:ln>
          </p:spPr>
        </p:cxnSp>
        <p:sp>
          <p:nvSpPr>
            <p:cNvPr id="305" name="Text Box 177"/>
            <p:cNvSpPr txBox="1">
              <a:spLocks noChangeArrowheads="1"/>
            </p:cNvSpPr>
            <p:nvPr/>
          </p:nvSpPr>
          <p:spPr bwMode="auto">
            <a:xfrm>
              <a:off x="1907704" y="2642205"/>
              <a:ext cx="234863" cy="21589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⑴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06" name="Text Box 177"/>
            <p:cNvSpPr txBox="1">
              <a:spLocks noChangeArrowheads="1"/>
            </p:cNvSpPr>
            <p:nvPr/>
          </p:nvSpPr>
          <p:spPr bwMode="auto">
            <a:xfrm>
              <a:off x="1888865" y="3345476"/>
              <a:ext cx="234863" cy="215899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⑵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07" name="直接连接符 83"/>
            <p:cNvCxnSpPr/>
            <p:nvPr/>
          </p:nvCxnSpPr>
          <p:spPr bwMode="auto">
            <a:xfrm rot="5400000" flipH="1" flipV="1">
              <a:off x="2428524" y="2625101"/>
              <a:ext cx="326512" cy="216024"/>
            </a:xfrm>
            <a:prstGeom prst="bentConnector3">
              <a:avLst>
                <a:gd name="adj1" fmla="val 101343"/>
              </a:avLst>
            </a:prstGeom>
            <a:noFill/>
            <a:ln w="285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308" name="直接连接符 96"/>
            <p:cNvCxnSpPr/>
            <p:nvPr/>
          </p:nvCxnSpPr>
          <p:spPr bwMode="auto">
            <a:xfrm>
              <a:off x="2692683" y="2975806"/>
              <a:ext cx="799197" cy="437892"/>
            </a:xfrm>
            <a:prstGeom prst="bentConnector3">
              <a:avLst>
                <a:gd name="adj1" fmla="val 13367"/>
              </a:avLst>
            </a:prstGeom>
            <a:noFill/>
            <a:ln w="2222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7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8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7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" grpId="0" animBg="1"/>
      <p:bldP spid="256" grpId="1" animBg="1"/>
      <p:bldP spid="277" grpId="0" animBg="1"/>
      <p:bldP spid="29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346117" name="Text Box 5"/>
          <p:cNvSpPr txBox="1">
            <a:spLocks noChangeArrowheads="1"/>
          </p:cNvSpPr>
          <p:nvPr/>
        </p:nvSpPr>
        <p:spPr bwMode="auto">
          <a:xfrm>
            <a:off x="179705" y="828040"/>
            <a:ext cx="3813175" cy="536956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识别</a:t>
            </a:r>
            <a:r>
              <a:rPr lang="zh-CN" b="1" dirty="0">
                <a:solidFill>
                  <a:srgbClr val="FF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中断源的组织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目标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800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请求</a:t>
            </a:r>
            <a:r>
              <a:rPr 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连接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400" b="1" spc="-100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判优方法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b="1" spc="-100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应用选择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r>
              <a:rPr lang="zh-CN" altLang="en-US" sz="2200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请求连接</a:t>
            </a:r>
            <a:r>
              <a:rPr lang="en-US" altLang="zh-CN" sz="2200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spc="-1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    </a:t>
            </a:r>
            <a:r>
              <a:rPr lang="zh-CN" altLang="en-US" sz="2200" b="1" spc="-1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判优方法</a:t>
            </a:r>
            <a:r>
              <a:rPr lang="en-US" altLang="zh-CN" sz="2200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sz="2200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4980" y="1260000"/>
            <a:ext cx="7272000" cy="8299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t">
            <a:spAutoFit/>
          </a:bodyPr>
          <a:p>
            <a:pPr algn="l">
              <a:lnSpc>
                <a:spcPct val="125000"/>
              </a:lnSpc>
            </a:pP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选出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最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紧急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请求，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产生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其中断类型号，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撤销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该请求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←～请求线的连接  </a:t>
            </a:r>
            <a:r>
              <a:rPr lang="en-US" altLang="zh-CN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800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─←～</a:t>
            </a:r>
            <a:r>
              <a:rPr lang="zh-CN" sz="18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事件识别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方法→─</a:t>
            </a:r>
            <a:r>
              <a:rPr sz="1800" dirty="0" smtClean="0">
                <a:latin typeface="宋体" panose="02010600030101010101" pitchFamily="2" charset="-122"/>
                <a:cs typeface="宋体" panose="02010600030101010101" pitchFamily="2" charset="-122"/>
              </a:rPr>
              <a:t>┘</a:t>
            </a:r>
            <a:r>
              <a:rPr lang="en-US" altLang="zh-CN" sz="1800" b="1" spc="-150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 </a:t>
            </a:r>
            <a:endParaRPr lang="en-US" altLang="zh-CN" sz="1800" b="1" spc="-150" dirty="0" smtClean="0">
              <a:solidFill>
                <a:srgbClr val="FF3399"/>
              </a:solidFill>
              <a:latin typeface="宋体" panose="02010600030101010101" pitchFamily="2" charset="-122"/>
              <a:sym typeface="+mn-ea"/>
            </a:endParaRPr>
          </a:p>
        </p:txBody>
      </p:sp>
      <p:graphicFrame>
        <p:nvGraphicFramePr>
          <p:cNvPr id="115" name="表格 11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71550" y="3275510"/>
          <a:ext cx="7400290" cy="1910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065"/>
                <a:gridCol w="2030730"/>
                <a:gridCol w="1821815"/>
                <a:gridCol w="1630680"/>
              </a:tblGrid>
              <a:tr h="281940">
                <a:tc rowSpan="2"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软件识别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硬件识别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向量方式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81940">
                <a:tc v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软件判优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串行判优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并行判优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</a:tr>
              <a:tr h="281940"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适用的请求连接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36000" marR="36000" marT="18000" marB="1800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共用请求式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独立请求式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1015"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判优原理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  <a:buNone/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marR="0" indent="0" algn="l" defTabSz="914400" rtl="0" fontAlgn="auto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中断类型号的提供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1940"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请求撤销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的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方法</a:t>
                      </a:r>
                      <a:endParaRPr lang="zh-CN" altLang="en-US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 anchor="ctr" anchorCtr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zh-CN" altLang="en-US" sz="1800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90000"/>
                        </a:lnSpc>
                      </a:pPr>
                      <a:endParaRPr lang="en-US" altLang="zh-CN" sz="1800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" name="Text Box 32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916490" y="4103510"/>
            <a:ext cx="1980000" cy="108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按序查询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静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态优先级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无需提供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函数调用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读状态口时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16" name="Text Box 32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932490" y="4103510"/>
            <a:ext cx="1800000" cy="108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自动轮询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静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态优先级</a:t>
            </a:r>
            <a:r>
              <a:rPr lang="en-US" altLang="zh-CN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</a:t>
            </a:r>
            <a:endParaRPr lang="zh-CN" altLang="en-US" sz="1600" b="1" dirty="0" smtClean="0"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中断接口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600" b="1" dirty="0" smtClean="0">
                <a:latin typeface="+mn-ea"/>
                <a:ea typeface="+mn-ea"/>
                <a:sym typeface="+mn-ea"/>
              </a:rPr>
              <a:t>→</a:t>
            </a:r>
            <a:r>
              <a:rPr lang="en-US" altLang="zh-CN" sz="1600" b="1" dirty="0" err="1" smtClean="0">
                <a:latin typeface="+mn-ea"/>
                <a:ea typeface="+mn-ea"/>
                <a:sym typeface="+mn-ea"/>
              </a:rPr>
              <a:t>DBus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中断响应操作时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17" name="Text Box 326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68491" y="4103510"/>
            <a:ext cx="1620000" cy="1080000"/>
          </a:xfrm>
          <a:prstGeom prst="rect">
            <a:avLst/>
          </a:prstGeom>
          <a:noFill/>
          <a:ln w="19050">
            <a:noFill/>
            <a:miter lim="800000"/>
          </a:ln>
          <a:effectLst/>
        </p:spPr>
        <p:txBody>
          <a:bodyPr lIns="18000" tIns="36195" rIns="18000" bIns="0" anchor="t" anchorCtr="0"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基于连接次序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动态优先级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中断机构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sz="1600" b="1" dirty="0" smtClean="0">
                <a:latin typeface="+mn-ea"/>
                <a:ea typeface="+mn-ea"/>
                <a:sym typeface="+mn-ea"/>
              </a:rPr>
              <a:t>直接</a:t>
            </a:r>
            <a:r>
              <a:rPr lang="en-US" altLang="zh-CN" sz="1600" b="1" dirty="0" smtClean="0">
                <a:latin typeface="+mn-ea"/>
                <a:ea typeface="+mn-ea"/>
                <a:sym typeface="+mn-ea"/>
              </a:rPr>
              <a:t>)</a:t>
            </a:r>
            <a:endParaRPr lang="en-US" altLang="zh-CN" sz="1600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读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/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写数据口时</a:t>
            </a:r>
            <a:endParaRPr lang="zh-CN" altLang="en-US" sz="1800" b="1" dirty="0" smtClean="0">
              <a:latin typeface="+mn-ea"/>
              <a:ea typeface="+mn-ea"/>
              <a:sym typeface="+mn-ea"/>
            </a:endParaRPr>
          </a:p>
        </p:txBody>
      </p:sp>
      <p:sp>
        <p:nvSpPr>
          <p:cNvPr id="30" name="Text Box 243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384980" y="5220980"/>
            <a:ext cx="5436000" cy="12763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sz="2200" b="1" spc="-100" dirty="0" smtClean="0">
                <a:latin typeface="宋体" panose="02010600030101010101" pitchFamily="2" charset="-122"/>
              </a:rPr>
              <a:t>INTR</a:t>
            </a:r>
            <a:r>
              <a:rPr lang="zh-CN" altLang="en-US" sz="2200" b="1" spc="-100" dirty="0">
                <a:latin typeface="宋体" panose="02010600030101010101" pitchFamily="2" charset="-122"/>
              </a:rPr>
              <a:t>、</a:t>
            </a:r>
            <a:r>
              <a:rPr lang="en-US" altLang="zh-CN" sz="2200" b="1" spc="-100" dirty="0" smtClean="0">
                <a:latin typeface="宋体" panose="02010600030101010101" pitchFamily="2" charset="-122"/>
              </a:rPr>
              <a:t>NMI</a:t>
            </a:r>
            <a:r>
              <a:rPr lang="zh-CN" altLang="en-US" sz="2200" b="1" spc="-100" dirty="0" smtClean="0">
                <a:latin typeface="宋体" panose="02010600030101010101" pitchFamily="2" charset="-122"/>
              </a:rPr>
              <a:t>均为</a:t>
            </a:r>
            <a:r>
              <a:rPr lang="zh-CN" altLang="en-US" sz="2200" b="1" u="sng" spc="-100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共用请求式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面向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CPU</a:t>
            </a:r>
            <a:r>
              <a:rPr lang="en-US" altLang="zh-CN" sz="1600" b="1" spc="-1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可扩展性好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22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INTR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并行判优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速度快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NMI</a:t>
            </a:r>
            <a:r>
              <a:rPr lang="zh-CN" altLang="en-US" sz="22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软件判优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(1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个事件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r>
              <a:rPr lang="en-US" altLang="zh-CN" sz="18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需增设</a:t>
            </a:r>
            <a:r>
              <a:rPr lang="zh-CN" altLang="en-US" sz="1800" b="1" u="sng" dirty="0" smtClean="0">
                <a:latin typeface="宋体" panose="02010600030101010101" pitchFamily="2" charset="-122"/>
                <a:sym typeface="+mn-ea"/>
              </a:rPr>
              <a:t>中断控制器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串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-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并转换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    </a:t>
            </a:r>
            <a:r>
              <a:rPr lang="zh-CN" altLang="en-US" sz="2200" dirty="0" smtClean="0">
                <a:latin typeface="宋体" panose="02010600030101010101" pitchFamily="2" charset="-122"/>
              </a:rPr>
              <a:t>  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645715" y="2988000"/>
            <a:ext cx="2337788" cy="739240"/>
            <a:chOff x="8585010" y="907797"/>
            <a:chExt cx="629292" cy="739240"/>
          </a:xfrm>
        </p:grpSpPr>
        <p:sp>
          <p:nvSpPr>
            <p:cNvPr id="20" name="Text Box 317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8585010" y="907797"/>
              <a:ext cx="465148" cy="216000"/>
            </a:xfrm>
            <a:prstGeom prst="rect">
              <a:avLst/>
            </a:prstGeom>
            <a:noFill/>
            <a:ln w="12700">
              <a:solidFill>
                <a:srgbClr val="0070C0"/>
              </a:solidFill>
              <a:prstDash val="sysDash"/>
              <a:miter lim="800000"/>
            </a:ln>
            <a:effectLst/>
          </p:spPr>
          <p:txBody>
            <a:bodyPr vert="horz" lIns="18000" tIns="17780" rIns="18000" bIns="0" anchor="ctr"/>
            <a:p>
              <a:pPr marL="0" indent="0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类似总线仲裁方式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" name="直接箭头连接符 20"/>
            <p:cNvCxnSpPr/>
            <p:nvPr>
              <p:custDataLst>
                <p:tags r:id="rId7"/>
              </p:custDataLst>
            </p:nvPr>
          </p:nvCxnSpPr>
          <p:spPr bwMode="auto">
            <a:xfrm>
              <a:off x="9011395" y="1123797"/>
              <a:ext cx="38459" cy="52324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</p:spPr>
        </p:cxnSp>
        <p:cxnSp>
          <p:nvCxnSpPr>
            <p:cNvPr id="22" name="直接箭头连接符 21"/>
            <p:cNvCxnSpPr/>
            <p:nvPr>
              <p:custDataLst>
                <p:tags r:id="rId8"/>
              </p:custDataLst>
            </p:nvPr>
          </p:nvCxnSpPr>
          <p:spPr bwMode="auto">
            <a:xfrm>
              <a:off x="9020490" y="1123797"/>
              <a:ext cx="193812" cy="50400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arrow" w="sm" len="sm"/>
            </a:ln>
          </p:spPr>
        </p:cxnSp>
      </p:grpSp>
      <p:grpSp>
        <p:nvGrpSpPr>
          <p:cNvPr id="26" name="组合 25"/>
          <p:cNvGrpSpPr/>
          <p:nvPr/>
        </p:nvGrpSpPr>
        <p:grpSpPr>
          <a:xfrm>
            <a:off x="4284980" y="5651510"/>
            <a:ext cx="1404000" cy="504000"/>
            <a:chOff x="3065398" y="5295241"/>
            <a:chExt cx="1404000" cy="504000"/>
          </a:xfrm>
        </p:grpSpPr>
        <p:cxnSp>
          <p:nvCxnSpPr>
            <p:cNvPr id="27" name="直接箭头连接符 26"/>
            <p:cNvCxnSpPr/>
            <p:nvPr>
              <p:custDataLst>
                <p:tags r:id="rId9"/>
              </p:custDataLst>
            </p:nvPr>
          </p:nvCxnSpPr>
          <p:spPr bwMode="auto">
            <a:xfrm flipH="1">
              <a:off x="3065398" y="5295241"/>
              <a:ext cx="864000" cy="108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ysDash"/>
              <a:round/>
              <a:headEnd type="none" w="med" len="med"/>
              <a:tailEnd type="arrow"/>
            </a:ln>
          </p:spPr>
        </p:cxnSp>
        <p:cxnSp>
          <p:nvCxnSpPr>
            <p:cNvPr id="28" name="直接箭头连接符 27"/>
            <p:cNvCxnSpPr/>
            <p:nvPr>
              <p:custDataLst>
                <p:tags r:id="rId10"/>
              </p:custDataLst>
            </p:nvPr>
          </p:nvCxnSpPr>
          <p:spPr bwMode="auto">
            <a:xfrm flipH="1" flipV="1">
              <a:off x="3605398" y="5367241"/>
              <a:ext cx="864000" cy="432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ysDash"/>
              <a:round/>
              <a:headEnd type="none" w="med" len="med"/>
              <a:tailEnd type="arrow"/>
            </a:ln>
          </p:spPr>
        </p:cxnSp>
      </p:grpSp>
      <p:grpSp>
        <p:nvGrpSpPr>
          <p:cNvPr id="29" name="组合 28"/>
          <p:cNvGrpSpPr/>
          <p:nvPr/>
        </p:nvGrpSpPr>
        <p:grpSpPr>
          <a:xfrm>
            <a:off x="180000" y="5688000"/>
            <a:ext cx="1872434" cy="791845"/>
            <a:chOff x="7823" y="6917"/>
            <a:chExt cx="2949" cy="1247"/>
          </a:xfrm>
        </p:grpSpPr>
        <p:sp>
          <p:nvSpPr>
            <p:cNvPr id="31" name="Text Box 326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8674" y="6973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7" name="Text Box 323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8163" y="6917"/>
              <a:ext cx="454" cy="1247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机构</a:t>
              </a:r>
              <a:endParaRPr lang="zh-CN" altLang="en-US" sz="14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箭头连接符 39"/>
            <p:cNvCxnSpPr/>
            <p:nvPr>
              <p:custDataLst>
                <p:tags r:id="rId13"/>
              </p:custDataLst>
            </p:nvPr>
          </p:nvCxnSpPr>
          <p:spPr bwMode="auto">
            <a:xfrm flipH="1">
              <a:off x="7823" y="8051"/>
              <a:ext cx="340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41" name="直接箭头连接符 40"/>
            <p:cNvCxnSpPr/>
            <p:nvPr>
              <p:custDataLst>
                <p:tags r:id="rId14"/>
              </p:custDataLst>
            </p:nvPr>
          </p:nvCxnSpPr>
          <p:spPr bwMode="auto">
            <a:xfrm>
              <a:off x="7823" y="7768"/>
              <a:ext cx="340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2" name="Text Box 326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375" y="7427"/>
              <a:ext cx="39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43" name="直接箭头连接符 42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10318" y="7201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44" name="直接箭头连接符 43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10312" y="7938"/>
              <a:ext cx="45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5" name="Text Box 31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9524" y="6987"/>
              <a:ext cx="794" cy="107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控制器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19"/>
              </p:custDataLst>
            </p:nvPr>
          </p:nvCxnSpPr>
          <p:spPr bwMode="auto">
            <a:xfrm flipH="1">
              <a:off x="8617" y="7313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47" name="Text Box 312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8674" y="7427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8" name="直接箭头连接符 47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8617" y="7767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49" name="直接箭头连接符 48"/>
            <p:cNvCxnSpPr/>
            <p:nvPr>
              <p:custDataLst>
                <p:tags r:id="rId22"/>
              </p:custDataLst>
            </p:nvPr>
          </p:nvCxnSpPr>
          <p:spPr bwMode="auto">
            <a:xfrm flipV="1">
              <a:off x="8731" y="7427"/>
              <a:ext cx="62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</p:grpSp>
      <p:grpSp>
        <p:nvGrpSpPr>
          <p:cNvPr id="8" name="组合 7"/>
          <p:cNvGrpSpPr/>
          <p:nvPr/>
        </p:nvGrpSpPr>
        <p:grpSpPr>
          <a:xfrm>
            <a:off x="2160490" y="2124000"/>
            <a:ext cx="6623685" cy="899160"/>
            <a:chOff x="3457" y="3287"/>
            <a:chExt cx="10431" cy="1416"/>
          </a:xfrm>
        </p:grpSpPr>
        <p:sp>
          <p:nvSpPr>
            <p:cNvPr id="51" name="Text Box 30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513" y="334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spc="-100" dirty="0" smtClean="0">
                  <a:latin typeface="宋体" panose="02010600030101010101" pitchFamily="2" charset="-122"/>
                </a:rPr>
                <a:t>类</a:t>
              </a:r>
              <a:r>
                <a:rPr lang="zh-CN" altLang="en-US" sz="1600" b="1" spc="-100" dirty="0">
                  <a:latin typeface="宋体" panose="02010600030101010101" pitchFamily="2" charset="-122"/>
                </a:rPr>
                <a:t>型号</a:t>
              </a:r>
              <a:endParaRPr lang="zh-CN" altLang="en-US" sz="1600" b="1" spc="-100" dirty="0">
                <a:latin typeface="宋体" panose="02010600030101010101" pitchFamily="2" charset="-122"/>
              </a:endParaRPr>
            </a:p>
          </p:txBody>
        </p:sp>
        <p:sp>
          <p:nvSpPr>
            <p:cNvPr id="52" name="Text Box 317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951" y="3913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3" name="Text Box 320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539" y="3913"/>
              <a:ext cx="454" cy="39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54" name="Text Box 323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591" y="3287"/>
              <a:ext cx="454" cy="1361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机构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6" name="Text Box 325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8332" y="3912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dirty="0"/>
                <a:t>n</a:t>
              </a:r>
              <a:endParaRPr lang="en-US" altLang="zh-CN" sz="1600" dirty="0"/>
            </a:p>
          </p:txBody>
        </p:sp>
        <p:sp>
          <p:nvSpPr>
            <p:cNvPr id="57" name="Text Box 326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5101" y="4194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8" name="Text Box 314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740" y="3798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latin typeface="+mn-lt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cxnSp>
          <p:nvCxnSpPr>
            <p:cNvPr id="59" name="直接箭头连接符 58"/>
            <p:cNvCxnSpPr>
              <a:endCxn id="52" idx="2"/>
            </p:cNvCxnSpPr>
            <p:nvPr>
              <p:custDataLst>
                <p:tags r:id="rId30"/>
              </p:custDataLst>
            </p:nvPr>
          </p:nvCxnSpPr>
          <p:spPr bwMode="auto">
            <a:xfrm flipH="1">
              <a:off x="6575" y="4307"/>
              <a:ext cx="1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0" name="直接箭头连接符 59"/>
            <p:cNvCxnSpPr/>
            <p:nvPr>
              <p:custDataLst>
                <p:tags r:id="rId31"/>
              </p:custDataLst>
            </p:nvPr>
          </p:nvCxnSpPr>
          <p:spPr bwMode="auto">
            <a:xfrm>
              <a:off x="8956" y="430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61" name="直接箭头连接符 6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5044" y="4534"/>
              <a:ext cx="408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triangle" w="med" len="med"/>
              <a:tailEnd type="none"/>
            </a:ln>
          </p:spPr>
        </p:cxnSp>
        <p:cxnSp>
          <p:nvCxnSpPr>
            <p:cNvPr id="62" name="直接箭头连接符 61"/>
            <p:cNvCxnSpPr/>
            <p:nvPr>
              <p:custDataLst>
                <p:tags r:id="rId33"/>
              </p:custDataLst>
            </p:nvPr>
          </p:nvCxnSpPr>
          <p:spPr bwMode="auto">
            <a:xfrm>
              <a:off x="3457" y="4139"/>
              <a:ext cx="113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1" name="Text Box 317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12642" y="4194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n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Text Box 32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1054" y="3287"/>
              <a:ext cx="454" cy="1417"/>
            </a:xfrm>
            <a:prstGeom prst="rect">
              <a:avLst/>
            </a:prstGeom>
            <a:solidFill>
              <a:schemeClr val="hlink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机构</a:t>
              </a:r>
              <a:endParaRPr lang="zh-CN" altLang="en-US" sz="14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89" name="Text Box 325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12642" y="3457"/>
              <a:ext cx="1247" cy="39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中断源</a:t>
              </a:r>
              <a:r>
                <a:rPr lang="en-US" altLang="zh-CN" sz="1600" dirty="0"/>
                <a:t>1</a:t>
              </a:r>
              <a:endParaRPr lang="en-US" altLang="zh-CN" sz="1600" dirty="0"/>
            </a:p>
          </p:txBody>
        </p:sp>
        <p:sp>
          <p:nvSpPr>
            <p:cNvPr id="93" name="Text Box 314"/>
            <p:cNvSpPr txBox="1"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10204" y="3854"/>
              <a:ext cx="56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dirty="0" err="1">
                  <a:latin typeface="+mn-lt"/>
                </a:rPr>
                <a:t>μ</a:t>
              </a:r>
              <a:r>
                <a:rPr lang="en-US" altLang="zh-CN" sz="1600" b="1" dirty="0" err="1">
                  <a:latin typeface="宋体" panose="02010600030101010101" pitchFamily="2" charset="-122"/>
                </a:rPr>
                <a:t>OP</a:t>
              </a:r>
              <a:endParaRPr lang="en-US" altLang="zh-CN" sz="1600" b="1" dirty="0" err="1">
                <a:latin typeface="宋体" panose="02010600030101010101" pitchFamily="2" charset="-122"/>
              </a:endParaRPr>
            </a:p>
          </p:txBody>
        </p:sp>
        <p:sp>
          <p:nvSpPr>
            <p:cNvPr id="95" name="Text Box 303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9977" y="3344"/>
              <a:ext cx="1020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spc="-100" dirty="0" smtClean="0">
                  <a:latin typeface="宋体" panose="02010600030101010101" pitchFamily="2" charset="-122"/>
                </a:rPr>
                <a:t>类</a:t>
              </a:r>
              <a:r>
                <a:rPr lang="zh-CN" altLang="en-US" sz="1600" b="1" spc="-100" dirty="0">
                  <a:latin typeface="宋体" panose="02010600030101010101" pitchFamily="2" charset="-122"/>
                </a:rPr>
                <a:t>型号</a:t>
              </a:r>
              <a:endParaRPr lang="zh-CN" altLang="en-US" sz="1600" b="1" spc="-100" dirty="0">
                <a:latin typeface="宋体" panose="02010600030101010101" pitchFamily="2" charset="-122"/>
              </a:endParaRPr>
            </a:p>
          </p:txBody>
        </p:sp>
        <p:cxnSp>
          <p:nvCxnSpPr>
            <p:cNvPr id="96" name="直接箭头连接符 95"/>
            <p:cNvCxnSpPr/>
            <p:nvPr>
              <p:custDataLst>
                <p:tags r:id="rId39"/>
              </p:custDataLst>
            </p:nvPr>
          </p:nvCxnSpPr>
          <p:spPr bwMode="auto">
            <a:xfrm flipH="1">
              <a:off x="9921" y="3684"/>
              <a:ext cx="1134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97" name="直接箭头连接符 96"/>
            <p:cNvCxnSpPr/>
            <p:nvPr>
              <p:custDataLst>
                <p:tags r:id="rId40"/>
              </p:custDataLst>
            </p:nvPr>
          </p:nvCxnSpPr>
          <p:spPr bwMode="auto">
            <a:xfrm>
              <a:off x="9921" y="4195"/>
              <a:ext cx="113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98" name="Text Box 320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3096" y="3854"/>
              <a:ext cx="454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99" name="Text Box 326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1678" y="3344"/>
              <a:ext cx="907" cy="107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t" anchorCtr="0"/>
            <a:p>
              <a:pPr algn="l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INTR1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  <a:spcBef>
                  <a:spcPts val="20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…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INTRn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cxnSp>
          <p:nvCxnSpPr>
            <p:cNvPr id="102" name="直接箭头连接符 101"/>
            <p:cNvCxnSpPr/>
            <p:nvPr>
              <p:custDataLst>
                <p:tags r:id="rId43"/>
              </p:custDataLst>
            </p:nvPr>
          </p:nvCxnSpPr>
          <p:spPr bwMode="auto">
            <a:xfrm flipH="1">
              <a:off x="11508" y="3684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6" name="直接箭头连接符 105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1508" y="4421"/>
              <a:ext cx="113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07" name="直接箭头连接符 106"/>
            <p:cNvCxnSpPr/>
            <p:nvPr>
              <p:custDataLst>
                <p:tags r:id="rId45"/>
              </p:custDataLst>
            </p:nvPr>
          </p:nvCxnSpPr>
          <p:spPr bwMode="auto">
            <a:xfrm flipH="1">
              <a:off x="3457" y="3684"/>
              <a:ext cx="1134" cy="2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112" name="组合 111"/>
          <p:cNvGrpSpPr/>
          <p:nvPr/>
        </p:nvGrpSpPr>
        <p:grpSpPr>
          <a:xfrm>
            <a:off x="3168490" y="2160000"/>
            <a:ext cx="2592705" cy="503555"/>
            <a:chOff x="2381" y="5046"/>
            <a:chExt cx="4083" cy="793"/>
          </a:xfrm>
        </p:grpSpPr>
        <p:sp>
          <p:nvSpPr>
            <p:cNvPr id="114" name="Text Box 312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2438" y="5499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17" name="直接箭头连接符 116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2381" y="5839"/>
              <a:ext cx="90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8" name="直接箭头连接符 117"/>
            <p:cNvCxnSpPr/>
            <p:nvPr>
              <p:custDataLst>
                <p:tags r:id="rId48"/>
              </p:custDataLst>
            </p:nvPr>
          </p:nvCxnSpPr>
          <p:spPr bwMode="auto">
            <a:xfrm flipV="1">
              <a:off x="4535" y="5839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19" name="直接箭头连接符 118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2382" y="5386"/>
              <a:ext cx="4082" cy="0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none"/>
            </a:ln>
          </p:spPr>
        </p:cxnSp>
        <p:cxnSp>
          <p:nvCxnSpPr>
            <p:cNvPr id="120" name="直接箭头连接符 119"/>
            <p:cNvCxnSpPr/>
            <p:nvPr>
              <p:custDataLst>
                <p:tags r:id="rId50"/>
              </p:custDataLst>
            </p:nvPr>
          </p:nvCxnSpPr>
          <p:spPr bwMode="auto">
            <a:xfrm flipH="1" flipV="1">
              <a:off x="3912" y="5386"/>
              <a:ext cx="0" cy="227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21" name="直接箭头连接符 120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6293" y="5386"/>
              <a:ext cx="0" cy="227"/>
            </a:xfrm>
            <a:prstGeom prst="straightConnector1">
              <a:avLst/>
            </a:prstGeom>
            <a:noFill/>
            <a:ln w="25400" cap="flat" cmpd="dbl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22" name="Text Box 312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4762" y="5046"/>
              <a:ext cx="737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23" name="直接箭头连接符 122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5386" y="5839"/>
              <a:ext cx="283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24" name="直接箭头连接符 123"/>
            <p:cNvCxnSpPr/>
            <p:nvPr>
              <p:custDataLst>
                <p:tags r:id="rId54"/>
              </p:custDataLst>
            </p:nvPr>
          </p:nvCxnSpPr>
          <p:spPr bwMode="auto">
            <a:xfrm flipV="1">
              <a:off x="2495" y="5499"/>
              <a:ext cx="624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</p:spPr>
        </p:cxnSp>
      </p:grpSp>
      <p:sp>
        <p:nvSpPr>
          <p:cNvPr id="4" name="Text Box 244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179388" y="360000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三、中断系统的结构</a:t>
            </a:r>
            <a:endParaRPr lang="zh-CN" altLang="en-US" dirty="0"/>
          </a:p>
        </p:txBody>
      </p:sp>
      <p:sp>
        <p:nvSpPr>
          <p:cNvPr id="9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 rot="5400000">
            <a:off x="6156000" y="6525344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  <p:sp>
        <p:nvSpPr>
          <p:cNvPr id="10" name="AutoShape 175">
            <a:hlinkClick r:id="rId57" action="ppaction://hlinksldjump" highlightClick="1"/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AutoShape 175">
            <a:hlinkClick r:id="rId59" tooltip="" action="ppaction://hlinksldjump" highlightClick="1"/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 rot="10800000">
            <a:off x="2987824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6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7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17" grpId="0" bldLvl="0" animBg="1"/>
      <p:bldP spid="346117" grpId="0" bldLvl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16466-330C-4093-A11D-AA0B9834796A}" type="slidenum">
              <a:rPr lang="en-US" altLang="zh-CN"/>
            </a:fld>
            <a:endParaRPr lang="en-US" altLang="zh-CN"/>
          </a:p>
        </p:txBody>
      </p:sp>
      <p:sp>
        <p:nvSpPr>
          <p:cNvPr id="156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6117" name="Text Box 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79705" y="360045"/>
            <a:ext cx="3789045" cy="378460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中断控制器的组成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本质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基本功能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b="1" spc="-100" dirty="0" smtClean="0">
                <a:solidFill>
                  <a:schemeClr val="accent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基本组成</a:t>
            </a:r>
            <a:r>
              <a:rPr lang="en-US" altLang="zh-CN" b="1" spc="-100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endParaRPr lang="en-US" altLang="zh-CN" b="1" spc="-100" dirty="0" smtClean="0">
              <a:solidFill>
                <a:schemeClr val="accent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4" name="Text Box 206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64030" y="828040"/>
            <a:ext cx="7175500" cy="286131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并行判优部件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面向中断源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>
                <a:latin typeface="+mn-ea"/>
                <a:ea typeface="+mn-ea"/>
                <a:sym typeface="+mn-ea"/>
              </a:rPr>
              <a:t>＋中断</a:t>
            </a:r>
            <a:r>
              <a:rPr lang="zh-CN" altLang="en-US" b="1" dirty="0" smtClean="0">
                <a:latin typeface="+mn-ea"/>
                <a:ea typeface="+mn-ea"/>
                <a:sym typeface="+mn-ea"/>
              </a:rPr>
              <a:t>源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(</a:t>
            </a:r>
            <a:r>
              <a:rPr lang="zh-CN" altLang="en-US" sz="1800" b="1" dirty="0" smtClean="0">
                <a:latin typeface="+mn-ea"/>
                <a:ea typeface="+mn-ea"/>
                <a:sym typeface="+mn-ea"/>
              </a:rPr>
              <a:t>面向</a:t>
            </a:r>
            <a:r>
              <a:rPr lang="en-US" altLang="zh-CN" sz="1800" b="1" dirty="0" smtClean="0">
                <a:latin typeface="+mn-ea"/>
                <a:ea typeface="+mn-ea"/>
                <a:sym typeface="+mn-ea"/>
              </a:rPr>
              <a:t>CPU)</a:t>
            </a:r>
            <a:endParaRPr lang="zh-CN" altLang="en-US" b="1" dirty="0" smtClean="0">
              <a:latin typeface="+mn-ea"/>
              <a:ea typeface="+mn-ea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</a:rPr>
              <a:t>    ①</a:t>
            </a:r>
            <a:r>
              <a:rPr lang="zh-CN" altLang="en-US" b="1" u="sng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检测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并</a:t>
            </a:r>
            <a:r>
              <a:rPr lang="zh-CN" altLang="en-US" b="1" u="sng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记录</a:t>
            </a:r>
            <a:r>
              <a:rPr lang="zh-CN" altLang="en-US" b="1" dirty="0" smtClean="0">
                <a:latin typeface="宋体" panose="02010600030101010101" pitchFamily="2" charset="-122"/>
              </a:rPr>
              <a:t>中断请求、向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提出</a:t>
            </a:r>
            <a:r>
              <a:rPr lang="zh-CN" altLang="en-US" b="1" dirty="0" smtClean="0">
                <a:latin typeface="宋体" panose="02010600030101010101" pitchFamily="2" charset="-122"/>
              </a:rPr>
              <a:t>中断请求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</a:rPr>
              <a:t>    ②</a:t>
            </a:r>
            <a:r>
              <a:rPr lang="zh-CN" altLang="en-US" b="1" u="sng" dirty="0">
                <a:solidFill>
                  <a:srgbClr val="C00000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b="1" dirty="0">
                <a:latin typeface="宋体" panose="02010600030101010101" pitchFamily="2" charset="-122"/>
              </a:rPr>
              <a:t>中断</a:t>
            </a:r>
            <a:r>
              <a:rPr lang="zh-CN" altLang="en-US" b="1" dirty="0" smtClean="0">
                <a:latin typeface="宋体" panose="02010600030101010101" pitchFamily="2" charset="-122"/>
              </a:rPr>
              <a:t>响应操作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1800" b="1" dirty="0">
                <a:latin typeface="宋体" panose="02010600030101010101" pitchFamily="2" charset="-122"/>
              </a:rPr>
              <a:t>中断类型号、</a:t>
            </a:r>
            <a:r>
              <a:rPr lang="zh-CN" altLang="en-US" sz="1800" b="1" dirty="0">
                <a:solidFill>
                  <a:srgbClr val="0070C0"/>
                </a:solidFill>
                <a:latin typeface="宋体" panose="02010600030101010101" pitchFamily="2" charset="-122"/>
              </a:rPr>
              <a:t>复位</a:t>
            </a:r>
            <a:r>
              <a:rPr lang="zh-CN" altLang="en-US" sz="1800" b="1" dirty="0">
                <a:latin typeface="宋体" panose="02010600030101010101" pitchFamily="2" charset="-122"/>
              </a:rPr>
              <a:t>所选请求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③</a:t>
            </a:r>
            <a:r>
              <a:rPr lang="zh-CN" altLang="en-US" b="1" u="sng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处理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>
                <a:latin typeface="宋体" panose="02010600030101010101" pitchFamily="2" charset="-122"/>
              </a:rPr>
              <a:t>操作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如设置工作方式、中断类型号最小值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④</a:t>
            </a:r>
            <a:r>
              <a:rPr lang="zh-CN" altLang="en-US" b="1" u="sng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管理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中断优先级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中断嵌套所需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稍后讨论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请求管理、中断响应、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接口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1260490" y="3672735"/>
            <a:ext cx="7451873" cy="1980000"/>
            <a:chOff x="1206515" y="3717024"/>
            <a:chExt cx="7451873" cy="1980000"/>
          </a:xfrm>
        </p:grpSpPr>
        <p:sp>
          <p:nvSpPr>
            <p:cNvPr id="5" name="Rectangle 35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818515" y="4076376"/>
              <a:ext cx="1944000" cy="972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" name="Rectangle 35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762515" y="4076377"/>
              <a:ext cx="3060000" cy="1620000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" name="Rectangle 351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822025" y="4076377"/>
              <a:ext cx="1404000" cy="1620000"/>
            </a:xfrm>
            <a:prstGeom prst="rect">
              <a:avLst/>
            </a:prstGeom>
            <a:solidFill>
              <a:srgbClr val="99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8" name="Rectangle 351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818515" y="5049024"/>
              <a:ext cx="1944000" cy="64800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0" name="Text Box 99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482515" y="3717024"/>
              <a:ext cx="3240000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中断响应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INTA     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9" name="Text Box 109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8298025" y="4905024"/>
              <a:ext cx="3603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IR0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1" name="Text Box 110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8298025" y="5155309"/>
              <a:ext cx="360363" cy="216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en-US" altLang="zh-CN" sz="1600" b="1">
                  <a:latin typeface="宋体" panose="02010600030101010101" pitchFamily="2" charset="-122"/>
                </a:rPr>
                <a:t>IR7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cxnSp>
          <p:nvCxnSpPr>
            <p:cNvPr id="52" name="直接连接符 51"/>
            <p:cNvCxnSpPr/>
            <p:nvPr>
              <p:custDataLst>
                <p:tags r:id="rId10"/>
              </p:custDataLst>
            </p:nvPr>
          </p:nvCxnSpPr>
          <p:spPr bwMode="auto">
            <a:xfrm>
              <a:off x="5346515" y="3717024"/>
              <a:ext cx="393478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箭头连接符 9"/>
            <p:cNvCxnSpPr/>
            <p:nvPr>
              <p:custDataLst>
                <p:tags r:id="rId11"/>
              </p:custDataLst>
            </p:nvPr>
          </p:nvCxnSpPr>
          <p:spPr bwMode="auto">
            <a:xfrm flipV="1">
              <a:off x="7038025" y="3933024"/>
              <a:ext cx="0" cy="46800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1" name="直接箭头连接符 10"/>
            <p:cNvCxnSpPr/>
            <p:nvPr>
              <p:custDataLst>
                <p:tags r:id="rId12"/>
              </p:custDataLst>
            </p:nvPr>
          </p:nvCxnSpPr>
          <p:spPr bwMode="auto">
            <a:xfrm>
              <a:off x="1674515" y="5193024"/>
              <a:ext cx="36000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直接箭头连接符 52"/>
            <p:cNvCxnSpPr/>
            <p:nvPr>
              <p:custDataLst>
                <p:tags r:id="rId13"/>
              </p:custDataLst>
            </p:nvPr>
          </p:nvCxnSpPr>
          <p:spPr bwMode="auto">
            <a:xfrm>
              <a:off x="1674515" y="5373024"/>
              <a:ext cx="360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" name="直接箭头连接符 11"/>
            <p:cNvCxnSpPr/>
            <p:nvPr>
              <p:custDataLst>
                <p:tags r:id="rId14"/>
              </p:custDataLst>
            </p:nvPr>
          </p:nvCxnSpPr>
          <p:spPr bwMode="auto">
            <a:xfrm>
              <a:off x="1674515" y="5553024"/>
              <a:ext cx="360000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" name="直接箭头连接符 12"/>
            <p:cNvCxnSpPr/>
            <p:nvPr>
              <p:custDataLst>
                <p:tags r:id="rId15"/>
              </p:custDataLst>
            </p:nvPr>
          </p:nvCxnSpPr>
          <p:spPr bwMode="auto">
            <a:xfrm>
              <a:off x="4950515" y="3933024"/>
              <a:ext cx="0" cy="14400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直接箭头连接符 53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8226025" y="5121024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箭头连接符 13"/>
            <p:cNvCxnSpPr/>
            <p:nvPr>
              <p:custDataLst>
                <p:tags r:id="rId17"/>
              </p:custDataLst>
            </p:nvPr>
          </p:nvCxnSpPr>
          <p:spPr bwMode="auto">
            <a:xfrm flipH="1">
              <a:off x="8226025" y="5371309"/>
              <a:ext cx="43200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5" name="Text Box 17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206515" y="5085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6" name="Text Box 177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206515" y="5265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7" name="Text Box 177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1206515" y="5481024"/>
              <a:ext cx="468000" cy="180000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18" name="Rectangle 351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1818515" y="4076377"/>
              <a:ext cx="6408000" cy="1620000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6" name="Text Box 95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410515" y="4401024"/>
              <a:ext cx="1223963" cy="28892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中断控制器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1872615" y="4896485"/>
            <a:ext cx="6155690" cy="765175"/>
            <a:chOff x="2949" y="7259"/>
            <a:chExt cx="9694" cy="1205"/>
          </a:xfrm>
        </p:grpSpPr>
        <p:sp>
          <p:nvSpPr>
            <p:cNvPr id="29" name="Text Box 18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3289" y="7557"/>
              <a:ext cx="737" cy="85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接口逻辑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" name="Text Box 183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4480" y="7543"/>
              <a:ext cx="136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其他端口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1" name="直接箭头连接符 30"/>
            <p:cNvCxnSpPr/>
            <p:nvPr>
              <p:custDataLst>
                <p:tags r:id="rId25"/>
              </p:custDataLst>
            </p:nvPr>
          </p:nvCxnSpPr>
          <p:spPr bwMode="auto">
            <a:xfrm flipV="1">
              <a:off x="5217" y="7259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" name="直接箭头连接符 31"/>
            <p:cNvCxnSpPr/>
            <p:nvPr>
              <p:custDataLst>
                <p:tags r:id="rId26"/>
              </p:custDataLst>
            </p:nvPr>
          </p:nvCxnSpPr>
          <p:spPr bwMode="auto">
            <a:xfrm>
              <a:off x="4026" y="7713"/>
              <a:ext cx="45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直接箭头连接符 32"/>
            <p:cNvCxnSpPr/>
            <p:nvPr>
              <p:custDataLst>
                <p:tags r:id="rId27"/>
              </p:custDataLst>
            </p:nvPr>
          </p:nvCxnSpPr>
          <p:spPr bwMode="auto">
            <a:xfrm flipH="1">
              <a:off x="4026" y="8334"/>
              <a:ext cx="861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" name="直接箭头连接符 33"/>
            <p:cNvCxnSpPr/>
            <p:nvPr>
              <p:custDataLst>
                <p:tags r:id="rId28"/>
              </p:custDataLst>
            </p:nvPr>
          </p:nvCxnSpPr>
          <p:spPr bwMode="auto">
            <a:xfrm>
              <a:off x="12643" y="8053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直接连接符 34"/>
            <p:cNvCxnSpPr/>
            <p:nvPr>
              <p:custDataLst>
                <p:tags r:id="rId29"/>
              </p:custDataLst>
            </p:nvPr>
          </p:nvCxnSpPr>
          <p:spPr bwMode="auto">
            <a:xfrm>
              <a:off x="2949" y="7444"/>
              <a:ext cx="3061" cy="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36" name="直接连接符 35"/>
            <p:cNvCxnSpPr/>
            <p:nvPr>
              <p:custDataLst>
                <p:tags r:id="rId30"/>
              </p:custDataLst>
            </p:nvPr>
          </p:nvCxnSpPr>
          <p:spPr bwMode="auto">
            <a:xfrm>
              <a:off x="6010" y="7444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5" name="组合 134"/>
          <p:cNvGrpSpPr/>
          <p:nvPr/>
        </p:nvGrpSpPr>
        <p:grpSpPr>
          <a:xfrm>
            <a:off x="1980565" y="4032885"/>
            <a:ext cx="6155690" cy="1403985"/>
            <a:chOff x="3345" y="6690"/>
            <a:chExt cx="9694" cy="2211"/>
          </a:xfrm>
        </p:grpSpPr>
        <p:sp>
          <p:nvSpPr>
            <p:cNvPr id="44" name="Text Box 100"/>
            <p:cNvSpPr txBox="1"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581" y="8164"/>
              <a:ext cx="1247" cy="737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排队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编码器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45" name="Text Box 116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12642" y="6803"/>
              <a:ext cx="397" cy="73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复位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83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4479" y="7313"/>
              <a:ext cx="1701" cy="737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型号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形成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34"/>
              </p:custDataLst>
            </p:nvPr>
          </p:nvCxnSpPr>
          <p:spPr bwMode="auto">
            <a:xfrm flipH="1">
              <a:off x="9014" y="8561"/>
              <a:ext cx="56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" name="直接箭头连接符 63"/>
            <p:cNvCxnSpPr/>
            <p:nvPr>
              <p:custDataLst>
                <p:tags r:id="rId35"/>
              </p:custDataLst>
            </p:nvPr>
          </p:nvCxnSpPr>
          <p:spPr bwMode="auto">
            <a:xfrm flipV="1">
              <a:off x="9354" y="7087"/>
              <a:ext cx="1" cy="147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</p:cxnSp>
        <p:sp>
          <p:nvSpPr>
            <p:cNvPr id="65" name="Text Box 107"/>
            <p:cNvSpPr txBox="1"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9241" y="861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46" name="直接箭头连接符 45"/>
            <p:cNvCxnSpPr/>
            <p:nvPr>
              <p:custDataLst>
                <p:tags r:id="rId37"/>
              </p:custDataLst>
            </p:nvPr>
          </p:nvCxnSpPr>
          <p:spPr bwMode="auto">
            <a:xfrm>
              <a:off x="5329" y="7087"/>
              <a:ext cx="731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" name="直接箭头连接符 18"/>
            <p:cNvCxnSpPr/>
            <p:nvPr>
              <p:custDataLst>
                <p:tags r:id="rId38"/>
              </p:custDataLst>
            </p:nvPr>
          </p:nvCxnSpPr>
          <p:spPr bwMode="auto">
            <a:xfrm>
              <a:off x="3969" y="6917"/>
              <a:ext cx="867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8" name="直接箭头连接符 47"/>
            <p:cNvCxnSpPr/>
            <p:nvPr>
              <p:custDataLst>
                <p:tags r:id="rId39"/>
              </p:custDataLst>
            </p:nvPr>
          </p:nvCxnSpPr>
          <p:spPr bwMode="auto">
            <a:xfrm>
              <a:off x="5329" y="7087"/>
              <a:ext cx="0" cy="24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直接箭头连接符 54"/>
            <p:cNvCxnSpPr/>
            <p:nvPr>
              <p:custDataLst>
                <p:tags r:id="rId40"/>
              </p:custDataLst>
            </p:nvPr>
          </p:nvCxnSpPr>
          <p:spPr bwMode="auto">
            <a:xfrm flipH="1" flipV="1">
              <a:off x="3345" y="7710"/>
              <a:ext cx="113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直接箭头连接符 65"/>
            <p:cNvCxnSpPr/>
            <p:nvPr>
              <p:custDataLst>
                <p:tags r:id="rId41"/>
              </p:custDataLst>
            </p:nvPr>
          </p:nvCxnSpPr>
          <p:spPr bwMode="auto">
            <a:xfrm>
              <a:off x="3969" y="6917"/>
              <a:ext cx="0" cy="709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7" name="直接箭头连接符 66"/>
            <p:cNvCxnSpPr/>
            <p:nvPr>
              <p:custDataLst>
                <p:tags r:id="rId42"/>
              </p:custDataLst>
            </p:nvPr>
          </p:nvCxnSpPr>
          <p:spPr bwMode="auto">
            <a:xfrm>
              <a:off x="8107" y="6690"/>
              <a:ext cx="0" cy="22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oval" w="sm" len="sm"/>
            </a:ln>
          </p:spPr>
        </p:cxnSp>
        <p:sp>
          <p:nvSpPr>
            <p:cNvPr id="68" name="等腰三角形 67"/>
            <p:cNvSpPr/>
            <p:nvPr>
              <p:custDataLst>
                <p:tags r:id="rId43"/>
              </p:custDataLst>
            </p:nvPr>
          </p:nvSpPr>
          <p:spPr bwMode="auto">
            <a:xfrm rot="16200000">
              <a:off x="3798" y="7597"/>
              <a:ext cx="340" cy="227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134" name="直接箭头连接符 133"/>
            <p:cNvCxnSpPr/>
            <p:nvPr>
              <p:custDataLst>
                <p:tags r:id="rId44"/>
              </p:custDataLst>
            </p:nvPr>
          </p:nvCxnSpPr>
          <p:spPr bwMode="auto">
            <a:xfrm>
              <a:off x="3345" y="7708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15" name="线形标注 2 114"/>
          <p:cNvSpPr/>
          <p:nvPr>
            <p:custDataLst>
              <p:tags r:id="rId45"/>
            </p:custDataLst>
          </p:nvPr>
        </p:nvSpPr>
        <p:spPr bwMode="auto">
          <a:xfrm>
            <a:off x="6768000" y="5795020"/>
            <a:ext cx="1512000" cy="252000"/>
          </a:xfrm>
          <a:prstGeom prst="borderCallout2">
            <a:avLst>
              <a:gd name="adj1" fmla="val 48330"/>
              <a:gd name="adj2" fmla="val -65"/>
              <a:gd name="adj3" fmla="val 46361"/>
              <a:gd name="adj4" fmla="val -15046"/>
              <a:gd name="adj5" fmla="val -142879"/>
              <a:gd name="adj6" fmla="val -27729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并行判优的实现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145" name="组合 144"/>
          <p:cNvGrpSpPr/>
          <p:nvPr/>
        </p:nvGrpSpPr>
        <p:grpSpPr>
          <a:xfrm>
            <a:off x="6732270" y="4030980"/>
            <a:ext cx="1547495" cy="1619885"/>
            <a:chOff x="10602" y="5896"/>
            <a:chExt cx="2437" cy="2551"/>
          </a:xfrm>
        </p:grpSpPr>
        <p:sp>
          <p:nvSpPr>
            <p:cNvPr id="72" name="Text Box 101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12302" y="6746"/>
              <a:ext cx="737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IRR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3" name="Text Box 10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10942" y="7030"/>
              <a:ext cx="567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/>
            <p:nvPr>
              <p:custDataLst>
                <p:tags r:id="rId48"/>
              </p:custDataLst>
            </p:nvPr>
          </p:nvCxnSpPr>
          <p:spPr bwMode="auto">
            <a:xfrm flipH="1">
              <a:off x="10602" y="7540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05" name="直接箭头连接符 104"/>
            <p:cNvCxnSpPr/>
            <p:nvPr>
              <p:custDataLst>
                <p:tags r:id="rId49"/>
              </p:custDataLst>
            </p:nvPr>
          </p:nvCxnSpPr>
          <p:spPr bwMode="auto">
            <a:xfrm flipH="1" flipV="1">
              <a:off x="10602" y="7937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7" name="直接箭头连接符 136"/>
            <p:cNvCxnSpPr/>
            <p:nvPr>
              <p:custDataLst>
                <p:tags r:id="rId50"/>
              </p:custDataLst>
            </p:nvPr>
          </p:nvCxnSpPr>
          <p:spPr bwMode="auto">
            <a:xfrm flipV="1">
              <a:off x="11112" y="7313"/>
              <a:ext cx="1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138" name="直接箭头连接符 137"/>
            <p:cNvCxnSpPr/>
            <p:nvPr>
              <p:custDataLst>
                <p:tags r:id="rId51"/>
              </p:custDataLst>
            </p:nvPr>
          </p:nvCxnSpPr>
          <p:spPr bwMode="auto">
            <a:xfrm flipV="1">
              <a:off x="11395" y="7313"/>
              <a:ext cx="0" cy="62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sp>
          <p:nvSpPr>
            <p:cNvPr id="139" name="Text Box 107"/>
            <p:cNvSpPr txBox="1"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 rot="16200000">
              <a:off x="11962" y="7594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pPr algn="l"/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141" name="直接箭头连接符 140"/>
            <p:cNvCxnSpPr/>
            <p:nvPr>
              <p:custDataLst>
                <p:tags r:id="rId53"/>
              </p:custDataLst>
            </p:nvPr>
          </p:nvCxnSpPr>
          <p:spPr bwMode="auto">
            <a:xfrm flipV="1">
              <a:off x="11282" y="6690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2" name="Text Box 107"/>
            <p:cNvSpPr txBox="1"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 rot="16200000">
              <a:off x="10828" y="7597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143" name="直接连接符 142"/>
            <p:cNvCxnSpPr/>
            <p:nvPr>
              <p:custDataLst>
                <p:tags r:id="rId55"/>
              </p:custDataLst>
            </p:nvPr>
          </p:nvCxnSpPr>
          <p:spPr bwMode="auto">
            <a:xfrm>
              <a:off x="10828" y="5896"/>
              <a:ext cx="0" cy="2551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144" name="直接箭头连接符 143"/>
            <p:cNvCxnSpPr/>
            <p:nvPr>
              <p:custDataLst>
                <p:tags r:id="rId56"/>
              </p:custDataLst>
            </p:nvPr>
          </p:nvCxnSpPr>
          <p:spPr bwMode="auto">
            <a:xfrm flipH="1" flipV="1">
              <a:off x="11169" y="6406"/>
              <a:ext cx="113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10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2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44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109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8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7" name="组合 136"/>
          <p:cNvGrpSpPr/>
          <p:nvPr/>
        </p:nvGrpSpPr>
        <p:grpSpPr>
          <a:xfrm>
            <a:off x="179388" y="1798285"/>
            <a:ext cx="8677088" cy="2736304"/>
            <a:chOff x="179388" y="3573016"/>
            <a:chExt cx="8677088" cy="2736304"/>
          </a:xfrm>
        </p:grpSpPr>
        <p:sp>
          <p:nvSpPr>
            <p:cNvPr id="138" name="Text Box 211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2699792" y="3573016"/>
              <a:ext cx="5400600" cy="244827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21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3908813" y="4437112"/>
              <a:ext cx="3759531" cy="1494168"/>
            </a:xfrm>
            <a:prstGeom prst="rect">
              <a:avLst/>
            </a:prstGeom>
            <a:solidFill>
              <a:srgbClr val="CC99FF">
                <a:alpha val="6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horz" lIns="18000" tIns="10800" rIns="18000" bIns="10800" anchor="ctr"/>
            <a:p>
              <a:pPr algn="ctr"/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7" name="Text Box 111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347864" y="4519012"/>
              <a:ext cx="560949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Event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1" name="Text Box 211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220072" y="4653134"/>
              <a:ext cx="359568" cy="1080109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判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优逻辑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2" name="Text Box 21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974316" y="4581128"/>
              <a:ext cx="1081087" cy="360040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 dirty="0" smtClean="0">
                  <a:latin typeface="宋体" panose="02010600030101010101" pitchFamily="2" charset="-122"/>
                </a:rPr>
                <a:t>检测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3" name="Text Box 217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 rot="16200000">
              <a:off x="3365705" y="3734872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  <a:endParaRPr lang="en-US" altLang="zh-CN" sz="1600" b="1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144" name="Text Box 218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6660948" y="5347336"/>
              <a:ext cx="935388" cy="24190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中断机构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45" name="Text Box 213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6660232" y="4714858"/>
              <a:ext cx="936104" cy="5863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后援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栈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213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724128" y="4714858"/>
              <a:ext cx="792224" cy="58635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异常类型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7" name="Text Box 112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915816" y="4043203"/>
              <a:ext cx="360040" cy="85895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CU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48" name="直接箭头连接符 147"/>
            <p:cNvCxnSpPr>
              <a:stCxn id="142" idx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3275856" y="4761148"/>
              <a:ext cx="698460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49" name="直接箭头连接符 148"/>
            <p:cNvCxnSpPr/>
            <p:nvPr>
              <p:custDataLst>
                <p:tags r:id="rId13"/>
              </p:custDataLst>
            </p:nvPr>
          </p:nvCxnSpPr>
          <p:spPr bwMode="auto">
            <a:xfrm>
              <a:off x="3275856" y="4293095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50" name="Text Box 260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915816" y="3645024"/>
              <a:ext cx="360039" cy="36004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0" tIns="10800" rIns="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 smtClean="0">
                  <a:latin typeface="宋体" panose="02010600030101010101" pitchFamily="2" charset="-122"/>
                </a:rPr>
                <a:t>≥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51" name="直接箭头连接符 150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3265753" y="3717031"/>
              <a:ext cx="37014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2" name="直接箭头连接符 151"/>
            <p:cNvCxnSpPr/>
            <p:nvPr>
              <p:custDataLst>
                <p:tags r:id="rId16"/>
              </p:custDataLst>
            </p:nvPr>
          </p:nvCxnSpPr>
          <p:spPr bwMode="auto">
            <a:xfrm flipH="1">
              <a:off x="3265752" y="3933055"/>
              <a:ext cx="35933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3" name="直接箭头连接符 152"/>
            <p:cNvCxnSpPr/>
            <p:nvPr>
              <p:custDataLst>
                <p:tags r:id="rId17"/>
              </p:custDataLst>
            </p:nvPr>
          </p:nvCxnSpPr>
          <p:spPr bwMode="auto">
            <a:xfrm>
              <a:off x="2195736" y="5229200"/>
              <a:ext cx="1872208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4" name="直接箭头连接符 153"/>
            <p:cNvCxnSpPr/>
            <p:nvPr>
              <p:custDataLst>
                <p:tags r:id="rId18"/>
              </p:custDataLst>
            </p:nvPr>
          </p:nvCxnSpPr>
          <p:spPr bwMode="auto">
            <a:xfrm>
              <a:off x="2123728" y="5733256"/>
              <a:ext cx="1944216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55" name="直接箭头连接符 154"/>
            <p:cNvCxnSpPr/>
            <p:nvPr>
              <p:custDataLst>
                <p:tags r:id="rId19"/>
              </p:custDataLst>
            </p:nvPr>
          </p:nvCxnSpPr>
          <p:spPr bwMode="auto">
            <a:xfrm flipV="1">
              <a:off x="4211960" y="4941168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56" name="直接箭头连接符 155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4572000" y="4941170"/>
              <a:ext cx="0" cy="35945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59" name="直接箭头连接符 58"/>
            <p:cNvCxnSpPr/>
            <p:nvPr>
              <p:custDataLst>
                <p:tags r:id="rId21"/>
              </p:custDataLst>
            </p:nvPr>
          </p:nvCxnSpPr>
          <p:spPr bwMode="auto">
            <a:xfrm flipV="1">
              <a:off x="4860032" y="4941171"/>
              <a:ext cx="0" cy="720083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166" name="直接箭头连接符 91"/>
            <p:cNvCxnSpPr>
              <a:stCxn id="150" idx="1"/>
            </p:cNvCxnSpPr>
            <p:nvPr>
              <p:custDataLst>
                <p:tags r:id="rId22"/>
              </p:custDataLst>
            </p:nvPr>
          </p:nvCxnSpPr>
          <p:spPr bwMode="auto">
            <a:xfrm rot="10800000" flipV="1">
              <a:off x="2771800" y="3825044"/>
              <a:ext cx="144016" cy="1260140"/>
            </a:xfrm>
            <a:prstGeom prst="bentConnector2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167" name="直接箭头连接符 166"/>
            <p:cNvCxnSpPr/>
            <p:nvPr>
              <p:custDataLst>
                <p:tags r:id="rId23"/>
              </p:custDataLst>
            </p:nvPr>
          </p:nvCxnSpPr>
          <p:spPr bwMode="auto">
            <a:xfrm>
              <a:off x="3275856" y="4077071"/>
              <a:ext cx="360040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168" name="Text Box 211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3635896" y="3645023"/>
              <a:ext cx="4392488" cy="720079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vert="horz" lIns="18000" tIns="10800" rIns="18000" bIns="10800" anchor="ctr"/>
            <a:p>
              <a:pPr algn="l"/>
              <a:r>
                <a:rPr lang="en-US" altLang="zh-CN" sz="1800" b="1" dirty="0" smtClean="0">
                  <a:latin typeface="宋体" panose="02010600030101010101" pitchFamily="2" charset="-122"/>
                </a:rPr>
                <a:t>      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数据通路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9" name="直接箭头连接符 117"/>
            <p:cNvCxnSpPr/>
            <p:nvPr>
              <p:custDataLst>
                <p:tags r:id="rId25"/>
              </p:custDataLst>
            </p:nvPr>
          </p:nvCxnSpPr>
          <p:spPr bwMode="auto">
            <a:xfrm rot="10800000" flipV="1">
              <a:off x="2123730" y="5733244"/>
              <a:ext cx="3204123" cy="144027"/>
            </a:xfrm>
            <a:prstGeom prst="bentConnector3">
              <a:avLst>
                <a:gd name="adj1" fmla="val -308"/>
              </a:avLst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0" name="直接箭头连接符 124"/>
            <p:cNvCxnSpPr/>
            <p:nvPr>
              <p:custDataLst>
                <p:tags r:id="rId26"/>
              </p:custDataLst>
            </p:nvPr>
          </p:nvCxnSpPr>
          <p:spPr bwMode="auto">
            <a:xfrm rot="10800000">
              <a:off x="5508106" y="5733254"/>
              <a:ext cx="2304254" cy="144017"/>
            </a:xfrm>
            <a:prstGeom prst="bentConnector3">
              <a:avLst>
                <a:gd name="adj1" fmla="val 99971"/>
              </a:avLst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1" name="Text Box 217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 rot="16200000">
              <a:off x="3365705" y="4094912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sp>
          <p:nvSpPr>
            <p:cNvPr id="172" name="Text Box 213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6660232" y="3861048"/>
              <a:ext cx="936104" cy="28803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PC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及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PSR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73" name="直接箭头连接符 172"/>
            <p:cNvCxnSpPr/>
            <p:nvPr>
              <p:custDataLst>
                <p:tags r:id="rId29"/>
              </p:custDataLst>
            </p:nvPr>
          </p:nvCxnSpPr>
          <p:spPr bwMode="auto">
            <a:xfrm flipV="1">
              <a:off x="7236023" y="4149080"/>
              <a:ext cx="0" cy="56577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4" name="直接箭头连接符 173"/>
            <p:cNvCxnSpPr/>
            <p:nvPr>
              <p:custDataLst>
                <p:tags r:id="rId30"/>
              </p:custDataLst>
            </p:nvPr>
          </p:nvCxnSpPr>
          <p:spPr bwMode="auto">
            <a:xfrm>
              <a:off x="7092007" y="4149080"/>
              <a:ext cx="0" cy="57606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5" name="直接箭头连接符 174"/>
            <p:cNvCxnSpPr/>
            <p:nvPr>
              <p:custDataLst>
                <p:tags r:id="rId31"/>
              </p:custDataLst>
            </p:nvPr>
          </p:nvCxnSpPr>
          <p:spPr bwMode="auto">
            <a:xfrm flipV="1">
              <a:off x="6948264" y="4262615"/>
              <a:ext cx="143743" cy="4764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6" name="直接箭头连接符 175"/>
            <p:cNvCxnSpPr>
              <a:endCxn id="172" idx="3"/>
            </p:cNvCxnSpPr>
            <p:nvPr>
              <p:custDataLst>
                <p:tags r:id="rId32"/>
              </p:custDataLst>
            </p:nvPr>
          </p:nvCxnSpPr>
          <p:spPr bwMode="auto">
            <a:xfrm flipH="1">
              <a:off x="7596336" y="4005062"/>
              <a:ext cx="360040" cy="2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7" name="直接连接符 142"/>
            <p:cNvCxnSpPr/>
            <p:nvPr>
              <p:custDataLst>
                <p:tags r:id="rId33"/>
              </p:custDataLst>
            </p:nvPr>
          </p:nvCxnSpPr>
          <p:spPr bwMode="auto">
            <a:xfrm>
              <a:off x="7956376" y="3870940"/>
              <a:ext cx="0" cy="157428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78" name="Text Box 213"/>
            <p:cNvSpPr txBox="1">
              <a:spLocks noChangeArrowheads="1"/>
            </p:cNvSpPr>
            <p:nvPr>
              <p:custDataLst>
                <p:tags r:id="rId34"/>
              </p:custDataLst>
            </p:nvPr>
          </p:nvSpPr>
          <p:spPr bwMode="auto">
            <a:xfrm>
              <a:off x="8316416" y="4635133"/>
              <a:ext cx="540059" cy="1386155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b" anchorCtr="0"/>
            <a:p>
              <a:pPr algn="ctr"/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/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dirty="0" err="1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IPrg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…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/>
              <a:endParaRPr lang="en-US" altLang="zh-CN" sz="1400" b="1" dirty="0" smtClean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8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IVT</a:t>
              </a:r>
              <a:endParaRPr lang="en-US" altLang="zh-CN" sz="18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79" name="Text Box 213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827584" y="4936024"/>
              <a:ext cx="288032" cy="101325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n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80" name="直接箭头连接符 179"/>
            <p:cNvCxnSpPr/>
            <p:nvPr>
              <p:custDataLst>
                <p:tags r:id="rId36"/>
              </p:custDataLst>
            </p:nvPr>
          </p:nvCxnSpPr>
          <p:spPr bwMode="auto">
            <a:xfrm flipV="1">
              <a:off x="5580113" y="5661248"/>
              <a:ext cx="359494" cy="57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1" name="直接箭头连接符 180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6372200" y="4267379"/>
              <a:ext cx="0" cy="447479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82" name="直接箭头连接符 181"/>
            <p:cNvCxnSpPr/>
            <p:nvPr>
              <p:custDataLst>
                <p:tags r:id="rId38"/>
              </p:custDataLst>
            </p:nvPr>
          </p:nvCxnSpPr>
          <p:spPr bwMode="auto">
            <a:xfrm>
              <a:off x="6228184" y="4267377"/>
              <a:ext cx="0" cy="44748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91" name="Text Box 11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2267744" y="5013176"/>
              <a:ext cx="398944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NMI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1" name="Text Box 11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195736" y="5527124"/>
              <a:ext cx="457947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2" name="Text Box 111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2195736" y="5935724"/>
              <a:ext cx="504056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INTA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3" name="直接箭头连接符 62"/>
            <p:cNvCxnSpPr/>
            <p:nvPr>
              <p:custDataLst>
                <p:tags r:id="rId42"/>
              </p:custDataLst>
            </p:nvPr>
          </p:nvCxnSpPr>
          <p:spPr bwMode="auto">
            <a:xfrm>
              <a:off x="2262664" y="5925832"/>
              <a:ext cx="400254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65" name="直接箭头连接符 124"/>
            <p:cNvCxnSpPr>
              <a:endCxn id="141" idx="0"/>
            </p:cNvCxnSpPr>
            <p:nvPr>
              <p:custDataLst>
                <p:tags r:id="rId43"/>
              </p:custDataLst>
            </p:nvPr>
          </p:nvCxnSpPr>
          <p:spPr bwMode="auto">
            <a:xfrm rot="10800000" flipV="1">
              <a:off x="5399857" y="4509120"/>
              <a:ext cx="468293" cy="144014"/>
            </a:xfrm>
            <a:prstGeom prst="bentConnector2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67" name="直接箭头连接符 124"/>
            <p:cNvCxnSpPr/>
            <p:nvPr>
              <p:custDataLst>
                <p:tags r:id="rId44"/>
              </p:custDataLst>
            </p:nvPr>
          </p:nvCxnSpPr>
          <p:spPr bwMode="auto">
            <a:xfrm flipV="1">
              <a:off x="5868144" y="4509120"/>
              <a:ext cx="5" cy="216024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198" name="Text Box 111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3391426" y="4869160"/>
              <a:ext cx="460494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异常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" name="Text Box 106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4067944" y="5157194"/>
              <a:ext cx="217285" cy="28237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200" name="Text Box 106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4067944" y="5517233"/>
              <a:ext cx="217285" cy="288031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sp>
          <p:nvSpPr>
            <p:cNvPr id="201" name="Text Box 213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 rot="5400000">
              <a:off x="7665515" y="5586411"/>
              <a:ext cx="581722" cy="288032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BIU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9" name="直接箭头连接符 68"/>
            <p:cNvCxnSpPr/>
            <p:nvPr>
              <p:custDataLst>
                <p:tags r:id="rId49"/>
              </p:custDataLst>
            </p:nvPr>
          </p:nvCxnSpPr>
          <p:spPr bwMode="auto">
            <a:xfrm>
              <a:off x="4285229" y="5660669"/>
              <a:ext cx="934843" cy="57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1" name="直接箭头连接符 70"/>
            <p:cNvCxnSpPr/>
            <p:nvPr>
              <p:custDataLst>
                <p:tags r:id="rId50"/>
              </p:custDataLst>
            </p:nvPr>
          </p:nvCxnSpPr>
          <p:spPr bwMode="auto">
            <a:xfrm>
              <a:off x="4283968" y="5300629"/>
              <a:ext cx="934843" cy="579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4" name="直接连接符 73"/>
            <p:cNvCxnSpPr/>
            <p:nvPr>
              <p:custDataLst>
                <p:tags r:id="rId51"/>
              </p:custDataLst>
            </p:nvPr>
          </p:nvCxnSpPr>
          <p:spPr bwMode="auto">
            <a:xfrm>
              <a:off x="179388" y="6309320"/>
              <a:ext cx="8677088" cy="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直接箭头连接符 69"/>
            <p:cNvCxnSpPr/>
            <p:nvPr>
              <p:custDataLst>
                <p:tags r:id="rId52"/>
              </p:custDataLst>
            </p:nvPr>
          </p:nvCxnSpPr>
          <p:spPr bwMode="auto">
            <a:xfrm>
              <a:off x="3203848" y="4902156"/>
              <a:ext cx="864096" cy="482272"/>
            </a:xfrm>
            <a:prstGeom prst="bentConnector3">
              <a:avLst>
                <a:gd name="adj1" fmla="val -197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5" name="直接箭头连接符 74"/>
            <p:cNvCxnSpPr/>
            <p:nvPr>
              <p:custDataLst>
                <p:tags r:id="rId53"/>
              </p:custDataLst>
            </p:nvPr>
          </p:nvCxnSpPr>
          <p:spPr bwMode="auto">
            <a:xfrm>
              <a:off x="3579003" y="5589239"/>
              <a:ext cx="473826" cy="1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6" name="直接箭头连接符 72"/>
            <p:cNvCxnSpPr/>
            <p:nvPr>
              <p:custDataLst>
                <p:tags r:id="rId54"/>
              </p:custDataLst>
            </p:nvPr>
          </p:nvCxnSpPr>
          <p:spPr bwMode="auto">
            <a:xfrm>
              <a:off x="3725791" y="5387648"/>
              <a:ext cx="342153" cy="273600"/>
            </a:xfrm>
            <a:prstGeom prst="bentConnector3">
              <a:avLst>
                <a:gd name="adj1" fmla="val 319"/>
              </a:avLst>
            </a:prstGeom>
            <a:solidFill>
              <a:schemeClr val="accent1"/>
            </a:solidFill>
            <a:ln w="15875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/>
            </a:ln>
            <a:effectLst/>
          </p:spPr>
        </p:cxnSp>
        <p:cxnSp>
          <p:nvCxnSpPr>
            <p:cNvPr id="208" name="直接连接符 207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8316417" y="5733256"/>
              <a:ext cx="540059" cy="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9" name="Text Box 111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316417" y="4349010"/>
              <a:ext cx="540059" cy="2880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10" name="直接连接符 83"/>
            <p:cNvCxnSpPr/>
            <p:nvPr>
              <p:custDataLst>
                <p:tags r:id="rId57"/>
              </p:custDataLst>
            </p:nvPr>
          </p:nvCxnSpPr>
          <p:spPr bwMode="auto">
            <a:xfrm>
              <a:off x="1187624" y="4581128"/>
              <a:ext cx="1008112" cy="648072"/>
            </a:xfrm>
            <a:prstGeom prst="bentConnector3">
              <a:avLst>
                <a:gd name="adj1" fmla="val 99422"/>
              </a:avLst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1" name="Text Box 213"/>
            <p:cNvSpPr txBox="1"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1331641" y="5445224"/>
              <a:ext cx="792088" cy="50405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2" name="Text Box 213"/>
            <p:cNvSpPr txBox="1">
              <a:spLocks noChangeArrowheads="1"/>
            </p:cNvSpPr>
            <p:nvPr>
              <p:custDataLst>
                <p:tags r:id="rId59"/>
              </p:custDataLst>
            </p:nvPr>
          </p:nvSpPr>
          <p:spPr bwMode="auto">
            <a:xfrm>
              <a:off x="179512" y="4941168"/>
              <a:ext cx="288032" cy="1013256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vert="vert" lIns="18000" tIns="10800" rIns="18000" bIns="10800" anchor="ctr"/>
            <a:p>
              <a:pPr algn="ctr"/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1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13" name="Text Box 21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539552" y="5373216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214" name="直接连接符 213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323527" y="5964120"/>
              <a:ext cx="1" cy="34520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5" name="直接连接符 214"/>
            <p:cNvCxnSpPr/>
            <p:nvPr>
              <p:custDataLst>
                <p:tags r:id="rId62"/>
              </p:custDataLst>
            </p:nvPr>
          </p:nvCxnSpPr>
          <p:spPr bwMode="auto">
            <a:xfrm flipV="1">
              <a:off x="971599" y="5949280"/>
              <a:ext cx="1" cy="36004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直接连接符 215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691680" y="5949280"/>
              <a:ext cx="0" cy="360040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7" name="直接连接符 216"/>
            <p:cNvCxnSpPr>
              <a:endCxn id="201" idx="3"/>
            </p:cNvCxnSpPr>
            <p:nvPr>
              <p:custDataLst>
                <p:tags r:id="rId64"/>
              </p:custDataLst>
            </p:nvPr>
          </p:nvCxnSpPr>
          <p:spPr bwMode="auto">
            <a:xfrm flipV="1">
              <a:off x="7956376" y="6021288"/>
              <a:ext cx="0" cy="28803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8" name="直接连接符 217"/>
            <p:cNvCxnSpPr>
              <a:endCxn id="178" idx="2"/>
            </p:cNvCxnSpPr>
            <p:nvPr>
              <p:custDataLst>
                <p:tags r:id="rId65"/>
              </p:custDataLst>
            </p:nvPr>
          </p:nvCxnSpPr>
          <p:spPr bwMode="auto">
            <a:xfrm flipV="1">
              <a:off x="8586446" y="6021288"/>
              <a:ext cx="0" cy="288032"/>
            </a:xfrm>
            <a:prstGeom prst="line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9" name="直接箭头连接符 106"/>
            <p:cNvCxnSpPr>
              <a:stCxn id="179" idx="0"/>
            </p:cNvCxnSpPr>
            <p:nvPr>
              <p:custDataLst>
                <p:tags r:id="rId66"/>
              </p:custDataLst>
            </p:nvPr>
          </p:nvCxnSpPr>
          <p:spPr bwMode="auto">
            <a:xfrm rot="16200000" flipH="1">
              <a:off x="1006318" y="4901306"/>
              <a:ext cx="506630" cy="576066"/>
            </a:xfrm>
            <a:prstGeom prst="bentConnector4">
              <a:avLst>
                <a:gd name="adj1" fmla="val -13884"/>
                <a:gd name="adj2" fmla="val 100148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0" name="直接箭头连接符 106"/>
            <p:cNvCxnSpPr>
              <a:stCxn id="212" idx="0"/>
            </p:cNvCxnSpPr>
            <p:nvPr>
              <p:custDataLst>
                <p:tags r:id="rId67"/>
              </p:custDataLst>
            </p:nvPr>
          </p:nvCxnSpPr>
          <p:spPr bwMode="auto">
            <a:xfrm rot="16200000" flipH="1">
              <a:off x="863587" y="4401109"/>
              <a:ext cx="504056" cy="1584175"/>
            </a:xfrm>
            <a:prstGeom prst="bentConnector4">
              <a:avLst>
                <a:gd name="adj1" fmla="val -41863"/>
                <a:gd name="adj2" fmla="val 100056"/>
              </a:avLst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1" name="Text Box 217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1619673" y="5157192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222" name="直接箭头连接符 221"/>
            <p:cNvCxnSpPr/>
            <p:nvPr>
              <p:custDataLst>
                <p:tags r:id="rId69"/>
              </p:custDataLst>
            </p:nvPr>
          </p:nvCxnSpPr>
          <p:spPr bwMode="auto">
            <a:xfrm>
              <a:off x="1259632" y="4430904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3" name="直接箭头连接符 222"/>
            <p:cNvCxnSpPr/>
            <p:nvPr>
              <p:custDataLst>
                <p:tags r:id="rId70"/>
              </p:custDataLst>
            </p:nvPr>
          </p:nvCxnSpPr>
          <p:spPr bwMode="auto">
            <a:xfrm>
              <a:off x="1454007" y="4437112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4" name="直接箭头连接符 223"/>
            <p:cNvCxnSpPr/>
            <p:nvPr>
              <p:custDataLst>
                <p:tags r:id="rId71"/>
              </p:custDataLst>
            </p:nvPr>
          </p:nvCxnSpPr>
          <p:spPr bwMode="auto">
            <a:xfrm>
              <a:off x="1907704" y="4437112"/>
              <a:ext cx="0" cy="144016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25" name="Text Box 217"/>
            <p:cNvSpPr txBox="1">
              <a:spLocks noChangeArrowheads="1"/>
            </p:cNvSpPr>
            <p:nvPr>
              <p:custDataLst>
                <p:tags r:id="rId72"/>
              </p:custDataLst>
            </p:nvPr>
          </p:nvSpPr>
          <p:spPr bwMode="auto">
            <a:xfrm>
              <a:off x="1547665" y="4400785"/>
              <a:ext cx="216023" cy="180343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CC3300"/>
                  </a:solidFill>
                  <a:latin typeface="+mn-ea"/>
                  <a:ea typeface="+mn-ea"/>
                </a:rPr>
                <a:t>…</a:t>
              </a:r>
              <a:endParaRPr lang="en-US" altLang="zh-CN" sz="1600" b="1" dirty="0">
                <a:solidFill>
                  <a:srgbClr val="CC3300"/>
                </a:solidFill>
                <a:latin typeface="+mn-ea"/>
                <a:ea typeface="+mn-ea"/>
              </a:endParaRPr>
            </a:p>
          </p:txBody>
        </p:sp>
        <p:sp>
          <p:nvSpPr>
            <p:cNvPr id="226" name="Text Box 111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2866309" y="5481228"/>
              <a:ext cx="712694" cy="216024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标志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IF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7" name="Text Box 111"/>
            <p:cNvSpPr txBox="1">
              <a:spLocks noChangeArrowheads="1"/>
            </p:cNvSpPr>
            <p:nvPr>
              <p:custDataLst>
                <p:tags r:id="rId74"/>
              </p:custDataLst>
            </p:nvPr>
          </p:nvSpPr>
          <p:spPr bwMode="auto">
            <a:xfrm>
              <a:off x="2771800" y="5229200"/>
              <a:ext cx="432048" cy="234187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End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28" name="Text Box 111"/>
            <p:cNvSpPr txBox="1">
              <a:spLocks noChangeArrowheads="1"/>
            </p:cNvSpPr>
            <p:nvPr>
              <p:custDataLst>
                <p:tags r:id="rId75"/>
              </p:custDataLst>
            </p:nvPr>
          </p:nvSpPr>
          <p:spPr bwMode="auto">
            <a:xfrm>
              <a:off x="6551947" y="4149080"/>
              <a:ext cx="395498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EPC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29" name="Text Box 106"/>
            <p:cNvSpPr txBox="1">
              <a:spLocks noChangeArrowheads="1"/>
            </p:cNvSpPr>
            <p:nvPr>
              <p:custDataLst>
                <p:tags r:id="rId76"/>
              </p:custDataLst>
            </p:nvPr>
          </p:nvSpPr>
          <p:spPr bwMode="auto">
            <a:xfrm>
              <a:off x="5939607" y="5552405"/>
              <a:ext cx="217285" cy="216030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0" name="直接箭头连接符 229"/>
            <p:cNvCxnSpPr/>
            <p:nvPr>
              <p:custDataLst>
                <p:tags r:id="rId77"/>
              </p:custDataLst>
            </p:nvPr>
          </p:nvCxnSpPr>
          <p:spPr bwMode="auto">
            <a:xfrm>
              <a:off x="6156892" y="5661248"/>
              <a:ext cx="1655468" cy="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231" name="Text Box 111"/>
            <p:cNvSpPr txBox="1">
              <a:spLocks noChangeArrowheads="1"/>
            </p:cNvSpPr>
            <p:nvPr>
              <p:custDataLst>
                <p:tags r:id="rId78"/>
              </p:custDataLst>
            </p:nvPr>
          </p:nvSpPr>
          <p:spPr bwMode="auto">
            <a:xfrm>
              <a:off x="5025451" y="6038790"/>
              <a:ext cx="914156" cy="268679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系统总线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32" name="直接箭头连接符 231"/>
            <p:cNvCxnSpPr/>
            <p:nvPr>
              <p:custDataLst>
                <p:tags r:id="rId79"/>
              </p:custDataLst>
            </p:nvPr>
          </p:nvCxnSpPr>
          <p:spPr bwMode="auto">
            <a:xfrm>
              <a:off x="4211960" y="5085184"/>
              <a:ext cx="1008112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3" name="直接箭头连接符 232"/>
            <p:cNvCxnSpPr/>
            <p:nvPr>
              <p:custDataLst>
                <p:tags r:id="rId80"/>
              </p:custDataLst>
            </p:nvPr>
          </p:nvCxnSpPr>
          <p:spPr bwMode="auto">
            <a:xfrm>
              <a:off x="2771799" y="5085184"/>
              <a:ext cx="1448545" cy="0"/>
            </a:xfrm>
            <a:prstGeom prst="straightConnector1">
              <a:avLst/>
            </a:prstGeom>
            <a:solidFill>
              <a:schemeClr val="accent1"/>
            </a:solidFill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4" name="直接连接符 233"/>
            <p:cNvCxnSpPr/>
            <p:nvPr>
              <p:custDataLst>
                <p:tags r:id="rId81"/>
              </p:custDataLst>
            </p:nvPr>
          </p:nvCxnSpPr>
          <p:spPr bwMode="auto">
            <a:xfrm flipV="1">
              <a:off x="8316416" y="4905016"/>
              <a:ext cx="540059" cy="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5" name="直接连接符 234"/>
            <p:cNvCxnSpPr/>
            <p:nvPr>
              <p:custDataLst>
                <p:tags r:id="rId82"/>
              </p:custDataLst>
            </p:nvPr>
          </p:nvCxnSpPr>
          <p:spPr bwMode="auto">
            <a:xfrm flipV="1">
              <a:off x="8316416" y="5229194"/>
              <a:ext cx="540059" cy="6"/>
            </a:xfrm>
            <a:prstGeom prst="line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6" name="Text Box 4"/>
          <p:cNvSpPr txBox="1">
            <a:spLocks noChangeArrowheads="1"/>
          </p:cNvSpPr>
          <p:nvPr>
            <p:custDataLst>
              <p:tags r:id="rId83"/>
            </p:custDataLst>
          </p:nvPr>
        </p:nvSpPr>
        <p:spPr bwMode="auto">
          <a:xfrm>
            <a:off x="179705" y="360045"/>
            <a:ext cx="5256530" cy="59162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、中断系统结构示例 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以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向量中断为例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基本组成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事件组织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事件的检测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事件的响应：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事件的返回：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237" name="组合 236"/>
          <p:cNvGrpSpPr/>
          <p:nvPr/>
        </p:nvGrpSpPr>
        <p:grpSpPr>
          <a:xfrm>
            <a:off x="1345995" y="1978285"/>
            <a:ext cx="7611914" cy="2523342"/>
            <a:chOff x="1345995" y="3258696"/>
            <a:chExt cx="7611914" cy="2523342"/>
          </a:xfrm>
        </p:grpSpPr>
        <p:sp>
          <p:nvSpPr>
            <p:cNvPr id="238" name="Text Box 111"/>
            <p:cNvSpPr txBox="1">
              <a:spLocks noChangeArrowheads="1"/>
            </p:cNvSpPr>
            <p:nvPr>
              <p:custDataLst>
                <p:tags r:id="rId84"/>
              </p:custDataLst>
            </p:nvPr>
          </p:nvSpPr>
          <p:spPr bwMode="auto">
            <a:xfrm>
              <a:off x="5724844" y="3397940"/>
              <a:ext cx="575791" cy="206132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IF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←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39" name="Text Box 111"/>
            <p:cNvSpPr txBox="1">
              <a:spLocks noChangeArrowheads="1"/>
            </p:cNvSpPr>
            <p:nvPr>
              <p:custDataLst>
                <p:tags r:id="rId85"/>
              </p:custDataLst>
            </p:nvPr>
          </p:nvSpPr>
          <p:spPr bwMode="auto">
            <a:xfrm>
              <a:off x="5940152" y="3964424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0" name="Text Box 111"/>
            <p:cNvSpPr txBox="1">
              <a:spLocks noChangeArrowheads="1"/>
            </p:cNvSpPr>
            <p:nvPr>
              <p:custDataLst>
                <p:tags r:id="rId86"/>
              </p:custDataLst>
            </p:nvPr>
          </p:nvSpPr>
          <p:spPr bwMode="auto">
            <a:xfrm>
              <a:off x="6804248" y="3964424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①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1" name="Text Box 111"/>
            <p:cNvSpPr txBox="1">
              <a:spLocks noChangeArrowheads="1"/>
            </p:cNvSpPr>
            <p:nvPr>
              <p:custDataLst>
                <p:tags r:id="rId87"/>
              </p:custDataLst>
            </p:nvPr>
          </p:nvSpPr>
          <p:spPr bwMode="auto">
            <a:xfrm>
              <a:off x="6372200" y="3284984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②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2" name="Text Box 111"/>
            <p:cNvSpPr txBox="1">
              <a:spLocks noChangeArrowheads="1"/>
            </p:cNvSpPr>
            <p:nvPr>
              <p:custDataLst>
                <p:tags r:id="rId88"/>
              </p:custDataLst>
            </p:nvPr>
          </p:nvSpPr>
          <p:spPr bwMode="auto">
            <a:xfrm>
              <a:off x="2915816" y="5393536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③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3" name="Text Box 111"/>
            <p:cNvSpPr txBox="1">
              <a:spLocks noChangeArrowheads="1"/>
            </p:cNvSpPr>
            <p:nvPr>
              <p:custDataLst>
                <p:tags r:id="rId89"/>
              </p:custDataLst>
            </p:nvPr>
          </p:nvSpPr>
          <p:spPr bwMode="auto">
            <a:xfrm>
              <a:off x="1345995" y="5523304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4" name="Text Box 111"/>
            <p:cNvSpPr txBox="1">
              <a:spLocks noChangeArrowheads="1"/>
            </p:cNvSpPr>
            <p:nvPr>
              <p:custDataLst>
                <p:tags r:id="rId90"/>
              </p:custDataLst>
            </p:nvPr>
          </p:nvSpPr>
          <p:spPr bwMode="auto">
            <a:xfrm>
              <a:off x="6228184" y="4914880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45" name="Text Box 111"/>
            <p:cNvSpPr txBox="1">
              <a:spLocks noChangeArrowheads="1"/>
            </p:cNvSpPr>
            <p:nvPr>
              <p:custDataLst>
                <p:tags r:id="rId91"/>
              </p:custDataLst>
            </p:nvPr>
          </p:nvSpPr>
          <p:spPr bwMode="auto">
            <a:xfrm>
              <a:off x="7698824" y="3258696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⑦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46" name="直接箭头连接符 245"/>
            <p:cNvCxnSpPr/>
            <p:nvPr>
              <p:custDataLst>
                <p:tags r:id="rId92"/>
              </p:custDataLst>
            </p:nvPr>
          </p:nvCxnSpPr>
          <p:spPr bwMode="auto">
            <a:xfrm>
              <a:off x="6300635" y="3501006"/>
              <a:ext cx="360313" cy="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7" name="直接箭头连接符 246"/>
            <p:cNvCxnSpPr/>
            <p:nvPr>
              <p:custDataLst>
                <p:tags r:id="rId93"/>
              </p:custDataLst>
            </p:nvPr>
          </p:nvCxnSpPr>
          <p:spPr bwMode="auto">
            <a:xfrm flipH="1">
              <a:off x="1619673" y="5517232"/>
              <a:ext cx="1549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cxnSp>
          <p:nvCxnSpPr>
            <p:cNvPr id="248" name="直接箭头连接符 247"/>
            <p:cNvCxnSpPr/>
            <p:nvPr>
              <p:custDataLst>
                <p:tags r:id="rId94"/>
              </p:custDataLst>
            </p:nvPr>
          </p:nvCxnSpPr>
          <p:spPr bwMode="auto">
            <a:xfrm flipH="1">
              <a:off x="8674907" y="5566014"/>
              <a:ext cx="1549" cy="21602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49" name="Text Box 111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6156176" y="5393536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④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50" name="直接箭头连接符 249"/>
            <p:cNvCxnSpPr/>
            <p:nvPr>
              <p:custDataLst>
                <p:tags r:id="rId96"/>
              </p:custDataLst>
            </p:nvPr>
          </p:nvCxnSpPr>
          <p:spPr bwMode="auto">
            <a:xfrm flipH="1" flipV="1">
              <a:off x="8530892" y="5558022"/>
              <a:ext cx="1548" cy="206452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arrow" w="sm" len="sm"/>
            </a:ln>
            <a:effectLst/>
          </p:spPr>
        </p:cxnSp>
        <p:sp>
          <p:nvSpPr>
            <p:cNvPr id="251" name="Text Box 111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8244408" y="5566014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⑤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2" name="Text Box 111"/>
            <p:cNvSpPr txBox="1">
              <a:spLocks noChangeArrowheads="1"/>
            </p:cNvSpPr>
            <p:nvPr>
              <p:custDataLst>
                <p:tags r:id="rId98"/>
              </p:custDataLst>
            </p:nvPr>
          </p:nvSpPr>
          <p:spPr bwMode="auto">
            <a:xfrm>
              <a:off x="8741885" y="5548450"/>
              <a:ext cx="216024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⑥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53" name="Text Box 111"/>
            <p:cNvSpPr txBox="1">
              <a:spLocks noChangeArrowheads="1"/>
            </p:cNvSpPr>
            <p:nvPr>
              <p:custDataLst>
                <p:tags r:id="rId99"/>
              </p:custDataLst>
            </p:nvPr>
          </p:nvSpPr>
          <p:spPr bwMode="auto">
            <a:xfrm>
              <a:off x="5364088" y="3776340"/>
              <a:ext cx="495672" cy="21602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⑶⑷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257" name="Text Box 4"/>
          <p:cNvSpPr txBox="1">
            <a:spLocks noChangeArrowheads="1"/>
          </p:cNvSpPr>
          <p:nvPr>
            <p:custDataLst>
              <p:tags r:id="rId100"/>
            </p:custDataLst>
          </p:nvPr>
        </p:nvSpPr>
        <p:spPr bwMode="auto">
          <a:xfrm>
            <a:off x="2303780" y="4535805"/>
            <a:ext cx="6628130" cy="1968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b="1" dirty="0" smtClean="0">
                <a:latin typeface="宋体" panose="02010600030101010101" pitchFamily="2" charset="-122"/>
              </a:rPr>
              <a:t>异常</a:t>
            </a:r>
            <a:r>
              <a:rPr lang="en-US" altLang="zh-CN" b="1" dirty="0" smtClean="0">
                <a:latin typeface="宋体" panose="02010600030101010101" pitchFamily="2" charset="-122"/>
              </a:rPr>
              <a:t>/NMI/INTR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检测时机</a:t>
            </a:r>
            <a:r>
              <a:rPr lang="zh-CN" altLang="en-US" b="1" dirty="0" smtClean="0">
                <a:latin typeface="宋体" panose="02010600030101010101" pitchFamily="2" charset="-122"/>
              </a:rPr>
              <a:t>不同，产生不同</a:t>
            </a:r>
            <a:r>
              <a:rPr lang="en-US" altLang="zh-CN" b="1" dirty="0" smtClean="0">
                <a:latin typeface="宋体" panose="02010600030101010101" pitchFamily="2" charset="-122"/>
              </a:rPr>
              <a:t>Event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               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End=1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表示指令周期结束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600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└</a:t>
            </a:r>
            <a:r>
              <a:rPr lang="zh-CN" altLang="en-US" sz="1600" b="1" dirty="0" smtClean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←响应不同</a:t>
            </a:r>
            <a:endParaRPr lang="zh-CN" altLang="en-US" sz="16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</a:rPr>
              <a:t>事件类型</a:t>
            </a:r>
            <a:r>
              <a:rPr lang="zh-CN" altLang="en-US" b="1" u="sng" dirty="0" smtClean="0">
                <a:latin typeface="宋体" panose="02010600030101010101" pitchFamily="2" charset="-122"/>
                <a:sym typeface="+mn-ea"/>
              </a:rPr>
              <a:t>识别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方法</a:t>
            </a:r>
            <a:r>
              <a:rPr lang="zh-CN" altLang="en-US" b="1" dirty="0" smtClean="0">
                <a:latin typeface="宋体" panose="02010600030101010101" pitchFamily="2" charset="-122"/>
              </a:rPr>
              <a:t>不同</a:t>
            </a:r>
            <a:r>
              <a:rPr lang="en-US" altLang="zh-CN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←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CU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产生不同</a:t>
            </a:r>
            <a:r>
              <a:rPr lang="en-US" altLang="zh-CN" sz="1600" dirty="0" err="1">
                <a:sym typeface="+mn-ea"/>
              </a:rPr>
              <a:t>μ</a:t>
            </a:r>
            <a:r>
              <a:rPr lang="en-US" altLang="zh-CN" sz="1600" b="1" dirty="0" err="1">
                <a:latin typeface="宋体" panose="02010600030101010101" pitchFamily="2" charset="-122"/>
                <a:sym typeface="+mn-ea"/>
              </a:rPr>
              <a:t>OPCmd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序列实现</a:t>
            </a:r>
            <a:endParaRPr lang="zh-CN" altLang="en-US" sz="18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响应时保存断点及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PSW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，返回时恢复到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PC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及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PSR</a:t>
            </a:r>
            <a:endParaRPr lang="en-US" altLang="zh-CN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(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当前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下条指令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61" name="Text Box 4"/>
          <p:cNvSpPr txBox="1">
            <a:spLocks noChangeArrowheads="1"/>
          </p:cNvSpPr>
          <p:nvPr/>
        </p:nvSpPr>
        <p:spPr bwMode="auto">
          <a:xfrm>
            <a:off x="1980000" y="828000"/>
            <a:ext cx="678053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硬件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中断机构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+I/O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、软件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(IVT+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各处理程序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异常有多个、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NMI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仅一个、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INTR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有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多个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262" name="线形标注 2 261"/>
          <p:cNvSpPr/>
          <p:nvPr>
            <p:custDataLst>
              <p:tags r:id="rId101"/>
            </p:custDataLst>
          </p:nvPr>
        </p:nvSpPr>
        <p:spPr bwMode="auto">
          <a:xfrm>
            <a:off x="611675" y="2050285"/>
            <a:ext cx="1512000" cy="468000"/>
          </a:xfrm>
          <a:prstGeom prst="borderCallout2">
            <a:avLst>
              <a:gd name="adj1" fmla="val 52299"/>
              <a:gd name="adj2" fmla="val 100026"/>
              <a:gd name="adj3" fmla="val 53811"/>
              <a:gd name="adj4" fmla="val 115145"/>
              <a:gd name="adj5" fmla="val 344935"/>
              <a:gd name="adj6" fmla="val 98724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公用请求式连接</a:t>
            </a:r>
            <a:endParaRPr lang="zh-CN" altLang="en-US" sz="1600" b="1" dirty="0" smtClean="0">
              <a:latin typeface="+mn-ea"/>
              <a:ea typeface="+mn-ea"/>
            </a:endParaRPr>
          </a:p>
          <a:p>
            <a:pPr algn="ctr">
              <a:lnSpc>
                <a:spcPct val="90000"/>
              </a:lnSpc>
            </a:pPr>
            <a:r>
              <a:rPr lang="zh-CN" altLang="en-US" sz="1600" b="1" dirty="0">
                <a:latin typeface="+mn-ea"/>
                <a:ea typeface="+mn-ea"/>
              </a:rPr>
              <a:t>并行判优</a:t>
            </a:r>
            <a:endParaRPr lang="zh-CN" altLang="en-US" sz="1600" b="1" dirty="0">
              <a:latin typeface="+mn-ea"/>
              <a:ea typeface="+mn-ea"/>
            </a:endParaRPr>
          </a:p>
        </p:txBody>
      </p:sp>
      <p:cxnSp>
        <p:nvCxnSpPr>
          <p:cNvPr id="263" name="直接箭头连接符 262"/>
          <p:cNvCxnSpPr/>
          <p:nvPr>
            <p:custDataLst>
              <p:tags r:id="rId102"/>
            </p:custDataLst>
          </p:nvPr>
        </p:nvCxnSpPr>
        <p:spPr bwMode="auto">
          <a:xfrm flipH="1" flipV="1">
            <a:off x="4500000" y="4282285"/>
            <a:ext cx="504000" cy="39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" grpId="0" bldLvl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6" name="Text Box 244"/>
          <p:cNvSpPr txBox="1">
            <a:spLocks noChangeArrowheads="1"/>
          </p:cNvSpPr>
          <p:nvPr/>
        </p:nvSpPr>
        <p:spPr bwMode="auto">
          <a:xfrm>
            <a:off x="179388" y="360000"/>
            <a:ext cx="8785225" cy="46037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四、多重中断的组织</a:t>
            </a:r>
            <a:endParaRPr lang="zh-CN" altLang="en-US" dirty="0"/>
          </a:p>
        </p:txBody>
      </p:sp>
      <p:grpSp>
        <p:nvGrpSpPr>
          <p:cNvPr id="411" name="组合 410"/>
          <p:cNvGrpSpPr/>
          <p:nvPr/>
        </p:nvGrpSpPr>
        <p:grpSpPr>
          <a:xfrm>
            <a:off x="972735" y="4247755"/>
            <a:ext cx="7452360" cy="1988820"/>
            <a:chOff x="1533" y="6633"/>
            <a:chExt cx="11736" cy="3132"/>
          </a:xfrm>
        </p:grpSpPr>
        <p:sp>
          <p:nvSpPr>
            <p:cNvPr id="266" name="Rectangle 351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2497" y="7199"/>
              <a:ext cx="3061" cy="1531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67" name="Rectangle 351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5558" y="7199"/>
              <a:ext cx="4819" cy="2551"/>
            </a:xfrm>
            <a:prstGeom prst="rect">
              <a:avLst/>
            </a:prstGeom>
            <a:solidFill>
              <a:srgbClr val="CCFFFF"/>
            </a:solidFill>
            <a:ln w="19050">
              <a:noFill/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68" name="Rectangle 351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0376" y="7199"/>
              <a:ext cx="2211" cy="2551"/>
            </a:xfrm>
            <a:prstGeom prst="rect">
              <a:avLst/>
            </a:prstGeom>
            <a:solidFill>
              <a:srgbClr val="99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69" name="Rectangle 351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2497" y="8730"/>
              <a:ext cx="3061" cy="1020"/>
            </a:xfrm>
            <a:prstGeom prst="rect">
              <a:avLst/>
            </a:prstGeom>
            <a:solidFill>
              <a:srgbClr val="CCCCFF"/>
            </a:solidFill>
            <a:ln w="12700">
              <a:noFill/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70" name="Text Box 99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692" y="6633"/>
              <a:ext cx="5102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600" b="1" dirty="0" smtClean="0">
                  <a:latin typeface="宋体" panose="02010600030101010101" pitchFamily="2" charset="-122"/>
                </a:rPr>
                <a:t>中断响应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INTA      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71" name="Text Box 109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12701" y="8504"/>
              <a:ext cx="56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en-US" altLang="zh-CN" sz="1600" b="1" dirty="0">
                  <a:latin typeface="宋体" panose="02010600030101010101" pitchFamily="2" charset="-122"/>
                </a:rPr>
                <a:t>IR0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72" name="Text Box 110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2701" y="8901"/>
              <a:ext cx="568" cy="34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en-US" altLang="zh-CN" sz="1600" b="1">
                  <a:latin typeface="宋体" panose="02010600030101010101" pitchFamily="2" charset="-122"/>
                </a:rPr>
                <a:t>IR7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cxnSp>
          <p:nvCxnSpPr>
            <p:cNvPr id="273" name="直接连接符 272"/>
            <p:cNvCxnSpPr/>
            <p:nvPr>
              <p:custDataLst>
                <p:tags r:id="rId8"/>
              </p:custDataLst>
            </p:nvPr>
          </p:nvCxnSpPr>
          <p:spPr bwMode="auto">
            <a:xfrm>
              <a:off x="8053" y="6633"/>
              <a:ext cx="620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直接箭头连接符 273"/>
            <p:cNvCxnSpPr/>
            <p:nvPr>
              <p:custDataLst>
                <p:tags r:id="rId9"/>
              </p:custDataLst>
            </p:nvPr>
          </p:nvCxnSpPr>
          <p:spPr bwMode="auto">
            <a:xfrm flipV="1">
              <a:off x="10717" y="6973"/>
              <a:ext cx="0" cy="737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5" name="直接箭头连接符 274"/>
            <p:cNvCxnSpPr/>
            <p:nvPr>
              <p:custDataLst>
                <p:tags r:id="rId10"/>
              </p:custDataLst>
            </p:nvPr>
          </p:nvCxnSpPr>
          <p:spPr bwMode="auto">
            <a:xfrm>
              <a:off x="2270" y="8957"/>
              <a:ext cx="56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直接箭头连接符 275"/>
            <p:cNvCxnSpPr/>
            <p:nvPr>
              <p:custDataLst>
                <p:tags r:id="rId11"/>
              </p:custDataLst>
            </p:nvPr>
          </p:nvCxnSpPr>
          <p:spPr bwMode="auto">
            <a:xfrm>
              <a:off x="2270" y="9241"/>
              <a:ext cx="567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7" name="直接箭头连接符 276"/>
            <p:cNvCxnSpPr/>
            <p:nvPr>
              <p:custDataLst>
                <p:tags r:id="rId12"/>
              </p:custDataLst>
            </p:nvPr>
          </p:nvCxnSpPr>
          <p:spPr bwMode="auto">
            <a:xfrm>
              <a:off x="2270" y="9524"/>
              <a:ext cx="567" cy="0"/>
            </a:xfrm>
            <a:prstGeom prst="straightConnector1">
              <a:avLst/>
            </a:prstGeom>
            <a:noFill/>
            <a:ln w="15875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8" name="直接箭头连接符 277"/>
            <p:cNvCxnSpPr/>
            <p:nvPr>
              <p:custDataLst>
                <p:tags r:id="rId13"/>
              </p:custDataLst>
            </p:nvPr>
          </p:nvCxnSpPr>
          <p:spPr bwMode="auto">
            <a:xfrm>
              <a:off x="7429" y="6973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9" name="直接箭头连接符 278"/>
            <p:cNvCxnSpPr/>
            <p:nvPr>
              <p:custDataLst>
                <p:tags r:id="rId14"/>
              </p:custDataLst>
            </p:nvPr>
          </p:nvCxnSpPr>
          <p:spPr bwMode="auto">
            <a:xfrm flipH="1">
              <a:off x="12587" y="8844"/>
              <a:ext cx="68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0" name="直接箭头连接符 279"/>
            <p:cNvCxnSpPr/>
            <p:nvPr>
              <p:custDataLst>
                <p:tags r:id="rId15"/>
              </p:custDataLst>
            </p:nvPr>
          </p:nvCxnSpPr>
          <p:spPr bwMode="auto">
            <a:xfrm flipH="1">
              <a:off x="12587" y="9241"/>
              <a:ext cx="680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81" name="Text Box 177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533" y="8787"/>
              <a:ext cx="737" cy="28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DBus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82" name="Text Box 177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33" y="9071"/>
              <a:ext cx="737" cy="28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CBus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83" name="Text Box 177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533" y="9411"/>
              <a:ext cx="737" cy="283"/>
            </a:xfrm>
            <a:prstGeom prst="rect">
              <a:avLst/>
            </a:prstGeom>
            <a:noFill/>
            <a:ln w="3810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ABus</a:t>
              </a:r>
              <a:endParaRPr lang="en-US" altLang="zh-CN" sz="1600" b="1" dirty="0" err="1" smtClean="0">
                <a:latin typeface="宋体" panose="02010600030101010101" pitchFamily="2" charset="-122"/>
              </a:endParaRPr>
            </a:p>
          </p:txBody>
        </p:sp>
        <p:sp>
          <p:nvSpPr>
            <p:cNvPr id="284" name="Rectangle 351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2497" y="7199"/>
              <a:ext cx="10091" cy="255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285" name="Text Box 95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6579" y="7710"/>
              <a:ext cx="1928" cy="455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中断控制器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288" name="Text Box 183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837" y="8858"/>
              <a:ext cx="737" cy="850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接口逻辑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289" name="Text Box 183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4028" y="8844"/>
              <a:ext cx="1361" cy="34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其他端口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290" name="直接箭头连接符 289"/>
            <p:cNvCxnSpPr/>
            <p:nvPr>
              <p:custDataLst>
                <p:tags r:id="rId23"/>
              </p:custDataLst>
            </p:nvPr>
          </p:nvCxnSpPr>
          <p:spPr bwMode="auto">
            <a:xfrm flipV="1">
              <a:off x="4765" y="8560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1" name="直接箭头连接符 290"/>
            <p:cNvCxnSpPr/>
            <p:nvPr>
              <p:custDataLst>
                <p:tags r:id="rId24"/>
              </p:custDataLst>
            </p:nvPr>
          </p:nvCxnSpPr>
          <p:spPr bwMode="auto">
            <a:xfrm>
              <a:off x="3574" y="9014"/>
              <a:ext cx="451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直接箭头连接符 292"/>
            <p:cNvCxnSpPr/>
            <p:nvPr>
              <p:custDataLst>
                <p:tags r:id="rId25"/>
              </p:custDataLst>
            </p:nvPr>
          </p:nvCxnSpPr>
          <p:spPr bwMode="auto">
            <a:xfrm>
              <a:off x="12190" y="9354"/>
              <a:ext cx="0" cy="28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4" name="直接连接符 293"/>
            <p:cNvCxnSpPr/>
            <p:nvPr>
              <p:custDataLst>
                <p:tags r:id="rId26"/>
              </p:custDataLst>
            </p:nvPr>
          </p:nvCxnSpPr>
          <p:spPr bwMode="auto">
            <a:xfrm>
              <a:off x="2497" y="8745"/>
              <a:ext cx="3061" cy="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295" name="直接连接符 294"/>
            <p:cNvCxnSpPr/>
            <p:nvPr>
              <p:custDataLst>
                <p:tags r:id="rId27"/>
              </p:custDataLst>
            </p:nvPr>
          </p:nvCxnSpPr>
          <p:spPr bwMode="auto">
            <a:xfrm>
              <a:off x="5558" y="8745"/>
              <a:ext cx="0" cy="1020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sp>
          <p:nvSpPr>
            <p:cNvPr id="307" name="Text Box 100"/>
            <p:cNvSpPr txBox="1"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8903" y="8674"/>
              <a:ext cx="1247" cy="737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排队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器</a:t>
              </a:r>
              <a:endParaRPr lang="en-US" altLang="zh-CN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编码器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)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08" name="Text Box 116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11964" y="7313"/>
              <a:ext cx="397" cy="73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 anchorCtr="1"/>
            <a:p>
              <a:r>
                <a:rPr lang="zh-CN" altLang="en-US" sz="1600" b="1" dirty="0" smtClean="0">
                  <a:latin typeface="宋体" panose="02010600030101010101" pitchFamily="2" charset="-122"/>
                </a:rPr>
                <a:t>复位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09" name="Text Box 183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3801" y="7823"/>
              <a:ext cx="1701" cy="737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中断类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型号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形成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10" name="直接箭头连接符 309"/>
            <p:cNvCxnSpPr/>
            <p:nvPr>
              <p:custDataLst>
                <p:tags r:id="rId31"/>
              </p:custDataLst>
            </p:nvPr>
          </p:nvCxnSpPr>
          <p:spPr bwMode="auto">
            <a:xfrm flipH="1">
              <a:off x="8336" y="9071"/>
              <a:ext cx="56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1" name="直接箭头连接符 310"/>
            <p:cNvCxnSpPr/>
            <p:nvPr>
              <p:custDataLst>
                <p:tags r:id="rId32"/>
              </p:custDataLst>
            </p:nvPr>
          </p:nvCxnSpPr>
          <p:spPr bwMode="auto">
            <a:xfrm flipV="1">
              <a:off x="8676" y="7597"/>
              <a:ext cx="1" cy="147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oval" w="sm" len="sm"/>
            </a:ln>
          </p:spPr>
        </p:cxnSp>
        <p:sp>
          <p:nvSpPr>
            <p:cNvPr id="312" name="Text Box 10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8563" y="9127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13" name="直接箭头连接符 312"/>
            <p:cNvCxnSpPr/>
            <p:nvPr>
              <p:custDataLst>
                <p:tags r:id="rId34"/>
              </p:custDataLst>
            </p:nvPr>
          </p:nvCxnSpPr>
          <p:spPr bwMode="auto">
            <a:xfrm>
              <a:off x="4651" y="7597"/>
              <a:ext cx="7313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4" name="直接箭头连接符 313"/>
            <p:cNvCxnSpPr/>
            <p:nvPr>
              <p:custDataLst>
                <p:tags r:id="rId35"/>
              </p:custDataLst>
            </p:nvPr>
          </p:nvCxnSpPr>
          <p:spPr bwMode="auto">
            <a:xfrm>
              <a:off x="3291" y="7427"/>
              <a:ext cx="8674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5" name="直接箭头连接符 314"/>
            <p:cNvCxnSpPr/>
            <p:nvPr>
              <p:custDataLst>
                <p:tags r:id="rId36"/>
              </p:custDataLst>
            </p:nvPr>
          </p:nvCxnSpPr>
          <p:spPr bwMode="auto">
            <a:xfrm>
              <a:off x="4651" y="7597"/>
              <a:ext cx="0" cy="24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6" name="直接箭头连接符 315"/>
            <p:cNvCxnSpPr/>
            <p:nvPr>
              <p:custDataLst>
                <p:tags r:id="rId37"/>
              </p:custDataLst>
            </p:nvPr>
          </p:nvCxnSpPr>
          <p:spPr bwMode="auto">
            <a:xfrm flipH="1" flipV="1">
              <a:off x="2667" y="8220"/>
              <a:ext cx="113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7" name="直接箭头连接符 316"/>
            <p:cNvCxnSpPr/>
            <p:nvPr>
              <p:custDataLst>
                <p:tags r:id="rId38"/>
              </p:custDataLst>
            </p:nvPr>
          </p:nvCxnSpPr>
          <p:spPr bwMode="auto">
            <a:xfrm>
              <a:off x="3291" y="7427"/>
              <a:ext cx="0" cy="709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18" name="直接箭头连接符 317"/>
            <p:cNvCxnSpPr/>
            <p:nvPr>
              <p:custDataLst>
                <p:tags r:id="rId39"/>
              </p:custDataLst>
            </p:nvPr>
          </p:nvCxnSpPr>
          <p:spPr bwMode="auto">
            <a:xfrm>
              <a:off x="7429" y="7200"/>
              <a:ext cx="0" cy="221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sm" len="sm"/>
              <a:tailEnd type="oval" w="sm" len="sm"/>
            </a:ln>
          </p:spPr>
        </p:cxnSp>
        <p:sp>
          <p:nvSpPr>
            <p:cNvPr id="319" name="等腰三角形 318"/>
            <p:cNvSpPr/>
            <p:nvPr>
              <p:custDataLst>
                <p:tags r:id="rId40"/>
              </p:custDataLst>
            </p:nvPr>
          </p:nvSpPr>
          <p:spPr bwMode="auto">
            <a:xfrm rot="16200000">
              <a:off x="3120" y="8107"/>
              <a:ext cx="340" cy="227"/>
            </a:xfrm>
            <a:prstGeom prst="triangle">
              <a:avLst/>
            </a:prstGeom>
            <a:solidFill>
              <a:schemeClr val="bg1"/>
            </a:solidFill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cxnSp>
          <p:nvCxnSpPr>
            <p:cNvPr id="320" name="直接箭头连接符 319"/>
            <p:cNvCxnSpPr/>
            <p:nvPr>
              <p:custDataLst>
                <p:tags r:id="rId41"/>
              </p:custDataLst>
            </p:nvPr>
          </p:nvCxnSpPr>
          <p:spPr bwMode="auto">
            <a:xfrm>
              <a:off x="2667" y="8218"/>
              <a:ext cx="0" cy="737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2" name="Text Box 101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1850" y="8050"/>
              <a:ext cx="737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/>
              <a:r>
                <a:rPr lang="en-US" altLang="zh-CN" sz="1600" b="1" dirty="0" smtClean="0">
                  <a:latin typeface="宋体" panose="02010600030101010101" pitchFamily="2" charset="-122"/>
                </a:rPr>
                <a:t>IRR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23" name="Text Box 106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0490" y="8331"/>
              <a:ext cx="567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>
                  <a:latin typeface="宋体" panose="02010600030101010101" pitchFamily="2" charset="-122"/>
                </a:rPr>
                <a:t>≥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1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24" name="直接箭头连接符 323"/>
            <p:cNvCxnSpPr/>
            <p:nvPr>
              <p:custDataLst>
                <p:tags r:id="rId44"/>
              </p:custDataLst>
            </p:nvPr>
          </p:nvCxnSpPr>
          <p:spPr bwMode="auto">
            <a:xfrm flipH="1">
              <a:off x="10150" y="8841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5" name="直接箭头连接符 324"/>
            <p:cNvCxnSpPr/>
            <p:nvPr>
              <p:custDataLst>
                <p:tags r:id="rId45"/>
              </p:custDataLst>
            </p:nvPr>
          </p:nvCxnSpPr>
          <p:spPr bwMode="auto">
            <a:xfrm flipH="1" flipV="1">
              <a:off x="10150" y="9241"/>
              <a:ext cx="1701" cy="0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6" name="直接箭头连接符 325"/>
            <p:cNvCxnSpPr/>
            <p:nvPr>
              <p:custDataLst>
                <p:tags r:id="rId46"/>
              </p:custDataLst>
            </p:nvPr>
          </p:nvCxnSpPr>
          <p:spPr bwMode="auto">
            <a:xfrm flipV="1">
              <a:off x="10660" y="8614"/>
              <a:ext cx="1" cy="227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cxnSp>
          <p:nvCxnSpPr>
            <p:cNvPr id="327" name="直接箭头连接符 326"/>
            <p:cNvCxnSpPr/>
            <p:nvPr>
              <p:custDataLst>
                <p:tags r:id="rId47"/>
              </p:custDataLst>
            </p:nvPr>
          </p:nvCxnSpPr>
          <p:spPr bwMode="auto">
            <a:xfrm flipV="1">
              <a:off x="10943" y="8617"/>
              <a:ext cx="0" cy="624"/>
            </a:xfrm>
            <a:prstGeom prst="straightConnector1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none" w="med" len="med"/>
            </a:ln>
          </p:spPr>
        </p:cxnSp>
        <p:sp>
          <p:nvSpPr>
            <p:cNvPr id="328" name="Text Box 107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 rot="16200000">
              <a:off x="11510" y="8895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pPr algn="l"/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330" name="直接箭头连接符 329"/>
            <p:cNvCxnSpPr/>
            <p:nvPr>
              <p:custDataLst>
                <p:tags r:id="rId49"/>
              </p:custDataLst>
            </p:nvPr>
          </p:nvCxnSpPr>
          <p:spPr bwMode="auto">
            <a:xfrm flipV="1">
              <a:off x="10830" y="7991"/>
              <a:ext cx="0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31" name="Text Box 107"/>
            <p:cNvSpPr txBox="1">
              <a:spLocks noChangeArrowheads="1"/>
            </p:cNvSpPr>
            <p:nvPr>
              <p:custDataLst>
                <p:tags r:id="rId50"/>
              </p:custDataLst>
            </p:nvPr>
          </p:nvSpPr>
          <p:spPr bwMode="auto">
            <a:xfrm rot="16200000">
              <a:off x="10376" y="8901"/>
              <a:ext cx="39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r>
                <a:rPr lang="en-US" altLang="zh-CN" sz="1600" b="1" dirty="0">
                  <a:latin typeface="+mn-ea"/>
                  <a:ea typeface="+mn-ea"/>
                </a:rPr>
                <a:t>…</a:t>
              </a:r>
              <a:endParaRPr lang="en-US" altLang="zh-CN" sz="1600" b="1" dirty="0">
                <a:latin typeface="+mn-ea"/>
                <a:ea typeface="+mn-ea"/>
              </a:endParaRPr>
            </a:p>
          </p:txBody>
        </p:sp>
        <p:cxnSp>
          <p:nvCxnSpPr>
            <p:cNvPr id="332" name="直接连接符 331"/>
            <p:cNvCxnSpPr/>
            <p:nvPr>
              <p:custDataLst>
                <p:tags r:id="rId51"/>
              </p:custDataLst>
            </p:nvPr>
          </p:nvCxnSpPr>
          <p:spPr bwMode="auto">
            <a:xfrm>
              <a:off x="10376" y="7197"/>
              <a:ext cx="0" cy="2551"/>
            </a:xfrm>
            <a:prstGeom prst="line">
              <a:avLst/>
            </a:prstGeom>
            <a:noFill/>
            <a:ln w="12700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</p:cxnSp>
        <p:cxnSp>
          <p:nvCxnSpPr>
            <p:cNvPr id="376" name="直接箭头连接符 375"/>
            <p:cNvCxnSpPr/>
            <p:nvPr>
              <p:custDataLst>
                <p:tags r:id="rId52"/>
              </p:custDataLst>
            </p:nvPr>
          </p:nvCxnSpPr>
          <p:spPr bwMode="auto">
            <a:xfrm flipH="1" flipV="1">
              <a:off x="10717" y="7710"/>
              <a:ext cx="113" cy="340"/>
            </a:xfrm>
            <a:prstGeom prst="straightConnector1">
              <a:avLst/>
            </a:prstGeom>
            <a:noFill/>
            <a:ln w="1270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8" name="直接箭头连接符 407"/>
            <p:cNvCxnSpPr/>
            <p:nvPr>
              <p:custDataLst>
                <p:tags r:id="rId53"/>
              </p:custDataLst>
            </p:nvPr>
          </p:nvCxnSpPr>
          <p:spPr bwMode="auto">
            <a:xfrm flipH="1">
              <a:off x="3572" y="9638"/>
              <a:ext cx="861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7" name="Text Box 4"/>
          <p:cNvSpPr txBox="1"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179705" y="1728000"/>
            <a:ext cx="3942080" cy="25533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990600" indent="-990600" algn="l" eaLnBrk="1" latinLnBrk="0" hangingPunct="1">
              <a:lnSpc>
                <a:spcPct val="125000"/>
              </a:lnSpc>
              <a:spcBef>
                <a:spcPts val="1100"/>
              </a:spcBef>
            </a:pPr>
            <a:r>
              <a:rPr lang="zh-CN" altLang="en-US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实现要求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marL="990600" indent="-990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中断优先级：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中断响应优先级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中断处理优先级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中断优先级的管理：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61" name="Text Box 176"/>
          <p:cNvSpPr txBox="1"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2016760" y="1764000"/>
            <a:ext cx="7127240" cy="252285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marL="1611630" indent="-1611630"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处理程序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使</a:t>
            </a:r>
            <a:r>
              <a:rPr lang="en-US" altLang="zh-CN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IF</a:t>
            </a:r>
            <a:r>
              <a:rPr lang="zh-CN" altLang="en-US" b="1" u="sng" dirty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＝</a:t>
            </a:r>
            <a:r>
              <a:rPr lang="en-US" altLang="zh-CN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1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，硬件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需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管理</a:t>
            </a:r>
            <a:r>
              <a:rPr lang="zh-CN" altLang="en-US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中断优先级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00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           (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响应时已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IF</a:t>
            </a:r>
            <a:r>
              <a:rPr lang="zh-CN" altLang="en-US" sz="1600" b="1" dirty="0">
                <a:latin typeface="宋体" panose="02010600030101010101" pitchFamily="2" charset="-122"/>
                <a:sym typeface="+mn-ea"/>
              </a:rPr>
              <a:t>←</a:t>
            </a:r>
            <a:r>
              <a:rPr lang="en-US" altLang="zh-CN" sz="1600" b="1" dirty="0">
                <a:latin typeface="宋体" panose="02010600030101010101" pitchFamily="2" charset="-122"/>
                <a:sym typeface="+mn-ea"/>
              </a:rPr>
              <a:t>0)</a:t>
            </a:r>
            <a:r>
              <a:rPr lang="en-US" altLang="zh-CN" sz="1600" b="1" dirty="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 (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正在服务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请求与</a:t>
            </a:r>
            <a:r>
              <a:rPr lang="zh-CN" altLang="en-US" sz="1600" b="1" u="sng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未响应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请</a:t>
            </a:r>
            <a:r>
              <a:rPr lang="zh-CN" altLang="en-US" sz="1600" b="1" dirty="0" smtClean="0">
                <a:latin typeface="宋体" panose="02010600030101010101" pitchFamily="2" charset="-122"/>
                <a:sym typeface="+mn-ea"/>
              </a:rPr>
              <a:t>求之间</a:t>
            </a:r>
            <a:r>
              <a:rPr lang="en-US" altLang="zh-CN" sz="16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  <a:sym typeface="+mn-ea"/>
            </a:endParaRPr>
          </a:p>
          <a:p>
            <a:pPr marL="1611630" indent="-161163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请求的排队次序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未响应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请求之间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请求的处理次序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正服务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请求与</a:t>
            </a:r>
            <a:r>
              <a:rPr lang="zh-CN" altLang="en-US" sz="1800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未响应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请求之间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     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默认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＝响应优先级→</a:t>
            </a:r>
            <a:r>
              <a:rPr lang="zh-CN" altLang="en-US" sz="18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┴─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───</a:t>
            </a:r>
            <a:r>
              <a:rPr lang="zh-CN" altLang="en-US" sz="1800" dirty="0" smtClean="0">
                <a:solidFill>
                  <a:schemeClr val="tx1"/>
                </a:solidFill>
                <a:latin typeface="宋体" panose="02010600030101010101" pitchFamily="2" charset="-122"/>
              </a:rPr>
              <a:t>┴</a:t>
            </a:r>
            <a:r>
              <a:rPr lang="zh-CN" altLang="en-US" sz="18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←可改变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灵活性</a:t>
            </a:r>
            <a:r>
              <a:rPr lang="zh-CN" altLang="en-US" sz="1600" b="1" dirty="0" smtClean="0">
                <a:solidFill>
                  <a:schemeClr val="tx1"/>
                </a:solidFill>
                <a:cs typeface="Times New Roman" panose="02020603050405020304" pitchFamily="18" charset="0"/>
              </a:rPr>
              <a:t>↑</a:t>
            </a:r>
            <a:r>
              <a: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marL="1611630" indent="-161163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  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以中断控制器为例</a:t>
            </a:r>
            <a:r>
              <a:rPr lang="en-US" altLang="zh-CN" sz="20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endParaRPr lang="en-US" altLang="zh-CN" sz="2000" b="1" dirty="0" smtClean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grpSp>
        <p:nvGrpSpPr>
          <p:cNvPr id="400" name="组合 399"/>
          <p:cNvGrpSpPr/>
          <p:nvPr/>
        </p:nvGrpSpPr>
        <p:grpSpPr>
          <a:xfrm>
            <a:off x="2268735" y="4751020"/>
            <a:ext cx="4681220" cy="1259205"/>
            <a:chOff x="3572" y="7370"/>
            <a:chExt cx="7372" cy="1983"/>
          </a:xfrm>
        </p:grpSpPr>
        <p:sp>
          <p:nvSpPr>
            <p:cNvPr id="389" name="Text Box 185"/>
            <p:cNvSpPr txBox="1"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7089" y="8617"/>
              <a:ext cx="1247" cy="73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比较器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A</a:t>
              </a:r>
              <a:r>
                <a:rPr lang="zh-CN" altLang="en-US" sz="1400" b="1" dirty="0">
                  <a:latin typeface="宋体" panose="02010600030101010101" pitchFamily="2" charset="-122"/>
                </a:rPr>
                <a:t>＞</a:t>
              </a:r>
              <a:r>
                <a:rPr lang="en-US" altLang="zh-CN" sz="1400" b="1" dirty="0">
                  <a:latin typeface="宋体" panose="02010600030101010101" pitchFamily="2" charset="-122"/>
                </a:rPr>
                <a:t>B)</a:t>
              </a:r>
              <a:endParaRPr lang="en-US" altLang="zh-CN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390" name="Text Box 195"/>
            <p:cNvSpPr txBox="1">
              <a:spLocks noChangeArrowheads="1"/>
            </p:cNvSpPr>
            <p:nvPr>
              <p:custDataLst>
                <p:tags r:id="rId57"/>
              </p:custDataLst>
            </p:nvPr>
          </p:nvSpPr>
          <p:spPr bwMode="auto">
            <a:xfrm>
              <a:off x="5785" y="7993"/>
              <a:ext cx="737" cy="130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horz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中断服务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ISR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91" name="直接箭头连接符 390"/>
            <p:cNvCxnSpPr/>
            <p:nvPr>
              <p:custDataLst>
                <p:tags r:id="rId58"/>
              </p:custDataLst>
            </p:nvPr>
          </p:nvCxnSpPr>
          <p:spPr bwMode="auto">
            <a:xfrm flipV="1">
              <a:off x="10660" y="7937"/>
              <a:ext cx="0" cy="227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92" name="直接箭头连接符 391"/>
            <p:cNvCxnSpPr/>
            <p:nvPr>
              <p:custDataLst>
                <p:tags r:id="rId59"/>
              </p:custDataLst>
            </p:nvPr>
          </p:nvCxnSpPr>
          <p:spPr bwMode="auto">
            <a:xfrm>
              <a:off x="6522" y="9014"/>
              <a:ext cx="567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93" name="Text Box 107"/>
            <p:cNvSpPr txBox="1">
              <a:spLocks noChangeArrowheads="1"/>
            </p:cNvSpPr>
            <p:nvPr>
              <p:custDataLst>
                <p:tags r:id="rId60"/>
              </p:custDataLst>
            </p:nvPr>
          </p:nvSpPr>
          <p:spPr bwMode="auto">
            <a:xfrm>
              <a:off x="6692" y="9070"/>
              <a:ext cx="227" cy="28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 anchorCtr="0"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394" name="直接箭头连接符 393"/>
            <p:cNvCxnSpPr/>
            <p:nvPr>
              <p:custDataLst>
                <p:tags r:id="rId61"/>
              </p:custDataLst>
            </p:nvPr>
          </p:nvCxnSpPr>
          <p:spPr bwMode="auto">
            <a:xfrm>
              <a:off x="6239" y="7540"/>
              <a:ext cx="0" cy="454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395" name="直接箭头连接符 394"/>
            <p:cNvCxnSpPr/>
            <p:nvPr>
              <p:custDataLst>
                <p:tags r:id="rId62"/>
              </p:custDataLst>
            </p:nvPr>
          </p:nvCxnSpPr>
          <p:spPr bwMode="auto">
            <a:xfrm>
              <a:off x="6012" y="7370"/>
              <a:ext cx="1" cy="624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oval" w="sm" len="sm"/>
              <a:tailEnd type="triangle" w="med" len="med"/>
            </a:ln>
          </p:spPr>
        </p:cxnSp>
        <p:cxnSp>
          <p:nvCxnSpPr>
            <p:cNvPr id="396" name="直接箭头连接符 395"/>
            <p:cNvCxnSpPr/>
            <p:nvPr>
              <p:custDataLst>
                <p:tags r:id="rId63"/>
              </p:custDataLst>
            </p:nvPr>
          </p:nvCxnSpPr>
          <p:spPr bwMode="auto">
            <a:xfrm>
              <a:off x="7713" y="8163"/>
              <a:ext cx="294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7" name="Text Box 106"/>
            <p:cNvSpPr txBox="1">
              <a:spLocks noChangeArrowheads="1"/>
            </p:cNvSpPr>
            <p:nvPr>
              <p:custDataLst>
                <p:tags r:id="rId64"/>
              </p:custDataLst>
            </p:nvPr>
          </p:nvSpPr>
          <p:spPr bwMode="auto">
            <a:xfrm>
              <a:off x="10490" y="7650"/>
              <a:ext cx="454" cy="28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&amp;</a:t>
              </a:r>
              <a:endParaRPr lang="en-US" altLang="zh-CN" sz="20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98" name="直接箭头连接符 397"/>
            <p:cNvCxnSpPr/>
            <p:nvPr>
              <p:custDataLst>
                <p:tags r:id="rId65"/>
              </p:custDataLst>
            </p:nvPr>
          </p:nvCxnSpPr>
          <p:spPr bwMode="auto">
            <a:xfrm flipV="1">
              <a:off x="7713" y="8163"/>
              <a:ext cx="0" cy="454"/>
            </a:xfrm>
            <a:prstGeom prst="straightConnector1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直接箭头连接符 398"/>
            <p:cNvCxnSpPr/>
            <p:nvPr>
              <p:custDataLst>
                <p:tags r:id="rId66"/>
              </p:custDataLst>
            </p:nvPr>
          </p:nvCxnSpPr>
          <p:spPr bwMode="auto">
            <a:xfrm>
              <a:off x="3572" y="9241"/>
              <a:ext cx="2211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03" name="组合 402"/>
          <p:cNvGrpSpPr/>
          <p:nvPr/>
        </p:nvGrpSpPr>
        <p:grpSpPr>
          <a:xfrm>
            <a:off x="1008000" y="936000"/>
            <a:ext cx="7451725" cy="899795"/>
            <a:chOff x="1701" y="1417"/>
            <a:chExt cx="11735" cy="1417"/>
          </a:xfrm>
        </p:grpSpPr>
        <p:sp>
          <p:nvSpPr>
            <p:cNvPr id="335" name="Text Box 75"/>
            <p:cNvSpPr txBox="1">
              <a:spLocks noChangeArrowheads="1"/>
            </p:cNvSpPr>
            <p:nvPr>
              <p:custDataLst>
                <p:tags r:id="rId67"/>
              </p:custDataLst>
            </p:nvPr>
          </p:nvSpPr>
          <p:spPr bwMode="auto">
            <a:xfrm>
              <a:off x="1701" y="1870"/>
              <a:ext cx="1361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10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中断程序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algn="ctr">
                <a:lnSpc>
                  <a:spcPct val="10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当前程序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36" name="Text Box 75"/>
            <p:cNvSpPr txBox="1">
              <a:spLocks noChangeArrowheads="1"/>
            </p:cNvSpPr>
            <p:nvPr>
              <p:custDataLst>
                <p:tags r:id="rId68"/>
              </p:custDataLst>
            </p:nvPr>
          </p:nvSpPr>
          <p:spPr bwMode="auto">
            <a:xfrm>
              <a:off x="4820" y="2494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单重中断</a:t>
              </a:r>
              <a:endParaRPr 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37" name="直接箭头连接符 336"/>
            <p:cNvCxnSpPr/>
            <p:nvPr>
              <p:custDataLst>
                <p:tags r:id="rId69"/>
              </p:custDataLst>
            </p:nvPr>
          </p:nvCxnSpPr>
          <p:spPr bwMode="auto">
            <a:xfrm>
              <a:off x="3061" y="2381"/>
              <a:ext cx="3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8" name="直接箭头连接符 337"/>
            <p:cNvCxnSpPr/>
            <p:nvPr>
              <p:custDataLst>
                <p:tags r:id="rId70"/>
              </p:custDataLst>
            </p:nvPr>
          </p:nvCxnSpPr>
          <p:spPr bwMode="auto">
            <a:xfrm flipV="1">
              <a:off x="3401" y="2041"/>
              <a:ext cx="227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39" name="直接箭头连接符 338"/>
            <p:cNvCxnSpPr/>
            <p:nvPr>
              <p:custDataLst>
                <p:tags r:id="rId71"/>
              </p:custDataLst>
            </p:nvPr>
          </p:nvCxnSpPr>
          <p:spPr bwMode="auto">
            <a:xfrm>
              <a:off x="3628" y="2041"/>
              <a:ext cx="164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0" name="直接箭头连接符 339"/>
            <p:cNvCxnSpPr/>
            <p:nvPr>
              <p:custDataLst>
                <p:tags r:id="rId72"/>
              </p:custDataLst>
            </p:nvPr>
          </p:nvCxnSpPr>
          <p:spPr bwMode="auto">
            <a:xfrm>
              <a:off x="5272" y="2041"/>
              <a:ext cx="227" cy="34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1" name="Text Box 75"/>
            <p:cNvSpPr txBox="1">
              <a:spLocks noChangeArrowheads="1"/>
            </p:cNvSpPr>
            <p:nvPr>
              <p:custDataLst>
                <p:tags r:id="rId73"/>
              </p:custDataLst>
            </p:nvPr>
          </p:nvSpPr>
          <p:spPr bwMode="auto">
            <a:xfrm>
              <a:off x="3628" y="2041"/>
              <a:ext cx="158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42" name="直接箭头连接符 341"/>
            <p:cNvCxnSpPr/>
            <p:nvPr>
              <p:custDataLst>
                <p:tags r:id="rId74"/>
              </p:custDataLst>
            </p:nvPr>
          </p:nvCxnSpPr>
          <p:spPr bwMode="auto">
            <a:xfrm flipV="1">
              <a:off x="5499" y="2041"/>
              <a:ext cx="227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3" name="直接箭头连接符 342"/>
            <p:cNvCxnSpPr/>
            <p:nvPr>
              <p:custDataLst>
                <p:tags r:id="rId75"/>
              </p:custDataLst>
            </p:nvPr>
          </p:nvCxnSpPr>
          <p:spPr bwMode="auto">
            <a:xfrm>
              <a:off x="5726" y="2041"/>
              <a:ext cx="1644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4" name="直接箭头连接符 343"/>
            <p:cNvCxnSpPr/>
            <p:nvPr>
              <p:custDataLst>
                <p:tags r:id="rId76"/>
              </p:custDataLst>
            </p:nvPr>
          </p:nvCxnSpPr>
          <p:spPr bwMode="auto">
            <a:xfrm>
              <a:off x="7370" y="2041"/>
              <a:ext cx="227" cy="34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45" name="Text Box 75"/>
            <p:cNvSpPr txBox="1">
              <a:spLocks noChangeArrowheads="1"/>
            </p:cNvSpPr>
            <p:nvPr>
              <p:custDataLst>
                <p:tags r:id="rId77"/>
              </p:custDataLst>
            </p:nvPr>
          </p:nvSpPr>
          <p:spPr bwMode="auto">
            <a:xfrm>
              <a:off x="5749" y="2015"/>
              <a:ext cx="158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中断程序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46" name="直接箭头连接符 345"/>
            <p:cNvCxnSpPr/>
            <p:nvPr>
              <p:custDataLst>
                <p:tags r:id="rId78"/>
              </p:custDataLst>
            </p:nvPr>
          </p:nvCxnSpPr>
          <p:spPr bwMode="auto">
            <a:xfrm>
              <a:off x="7597" y="2381"/>
              <a:ext cx="3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47" name="直接箭头连接符 346"/>
            <p:cNvCxnSpPr/>
            <p:nvPr>
              <p:custDataLst>
                <p:tags r:id="rId79"/>
              </p:custDataLst>
            </p:nvPr>
          </p:nvCxnSpPr>
          <p:spPr bwMode="auto">
            <a:xfrm>
              <a:off x="3288" y="1757"/>
              <a:ext cx="0" cy="567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348" name="Text Box 79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2664" y="1417"/>
              <a:ext cx="4479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 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B(B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比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更紧急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49" name="直接箭头连接符 348"/>
            <p:cNvCxnSpPr/>
            <p:nvPr>
              <p:custDataLst>
                <p:tags r:id="rId81"/>
              </p:custDataLst>
            </p:nvPr>
          </p:nvCxnSpPr>
          <p:spPr bwMode="auto">
            <a:xfrm>
              <a:off x="4649" y="1757"/>
              <a:ext cx="0" cy="283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350" name="Text Box 75"/>
            <p:cNvSpPr txBox="1">
              <a:spLocks noChangeArrowheads="1"/>
            </p:cNvSpPr>
            <p:nvPr>
              <p:custDataLst>
                <p:tags r:id="rId82"/>
              </p:custDataLst>
            </p:nvPr>
          </p:nvSpPr>
          <p:spPr bwMode="auto">
            <a:xfrm>
              <a:off x="11622" y="2041"/>
              <a:ext cx="124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A②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51" name="Text Box 75"/>
            <p:cNvSpPr txBox="1">
              <a:spLocks noChangeArrowheads="1"/>
            </p:cNvSpPr>
            <p:nvPr>
              <p:custDataLst>
                <p:tags r:id="rId83"/>
              </p:custDataLst>
            </p:nvPr>
          </p:nvSpPr>
          <p:spPr bwMode="auto">
            <a:xfrm>
              <a:off x="8902" y="2041"/>
              <a:ext cx="124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A①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52" name="直接箭头连接符 351"/>
            <p:cNvCxnSpPr/>
            <p:nvPr>
              <p:custDataLst>
                <p:tags r:id="rId84"/>
              </p:custDataLst>
            </p:nvPr>
          </p:nvCxnSpPr>
          <p:spPr bwMode="auto">
            <a:xfrm>
              <a:off x="8335" y="2381"/>
              <a:ext cx="3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3" name="直接箭头连接符 352"/>
            <p:cNvCxnSpPr/>
            <p:nvPr>
              <p:custDataLst>
                <p:tags r:id="rId85"/>
              </p:custDataLst>
            </p:nvPr>
          </p:nvCxnSpPr>
          <p:spPr bwMode="auto">
            <a:xfrm flipV="1">
              <a:off x="8675" y="2041"/>
              <a:ext cx="227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4" name="直接箭头连接符 353"/>
            <p:cNvCxnSpPr/>
            <p:nvPr>
              <p:custDataLst>
                <p:tags r:id="rId86"/>
              </p:custDataLst>
            </p:nvPr>
          </p:nvCxnSpPr>
          <p:spPr bwMode="auto">
            <a:xfrm>
              <a:off x="8902" y="2041"/>
              <a:ext cx="124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5" name="直接箭头连接符 354"/>
            <p:cNvCxnSpPr/>
            <p:nvPr>
              <p:custDataLst>
                <p:tags r:id="rId87"/>
              </p:custDataLst>
            </p:nvPr>
          </p:nvCxnSpPr>
          <p:spPr bwMode="auto">
            <a:xfrm>
              <a:off x="11395" y="1700"/>
              <a:ext cx="227" cy="34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6" name="直接箭头连接符 355"/>
            <p:cNvCxnSpPr/>
            <p:nvPr>
              <p:custDataLst>
                <p:tags r:id="rId88"/>
              </p:custDataLst>
            </p:nvPr>
          </p:nvCxnSpPr>
          <p:spPr bwMode="auto">
            <a:xfrm>
              <a:off x="11622" y="2041"/>
              <a:ext cx="124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7" name="直接箭头连接符 356"/>
            <p:cNvCxnSpPr/>
            <p:nvPr>
              <p:custDataLst>
                <p:tags r:id="rId89"/>
              </p:custDataLst>
            </p:nvPr>
          </p:nvCxnSpPr>
          <p:spPr bwMode="auto">
            <a:xfrm>
              <a:off x="12869" y="2041"/>
              <a:ext cx="227" cy="34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8" name="直接箭头连接符 357"/>
            <p:cNvCxnSpPr/>
            <p:nvPr>
              <p:custDataLst>
                <p:tags r:id="rId90"/>
              </p:custDataLst>
            </p:nvPr>
          </p:nvCxnSpPr>
          <p:spPr bwMode="auto">
            <a:xfrm>
              <a:off x="13096" y="2381"/>
              <a:ext cx="340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9" name="直接箭头连接符 358"/>
            <p:cNvCxnSpPr/>
            <p:nvPr>
              <p:custDataLst>
                <p:tags r:id="rId91"/>
              </p:custDataLst>
            </p:nvPr>
          </p:nvCxnSpPr>
          <p:spPr bwMode="auto">
            <a:xfrm>
              <a:off x="8562" y="1757"/>
              <a:ext cx="0" cy="567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360" name="Text Box 79"/>
            <p:cNvSpPr txBox="1">
              <a:spLocks noChangeArrowheads="1"/>
            </p:cNvSpPr>
            <p:nvPr>
              <p:custDataLst>
                <p:tags r:id="rId92"/>
              </p:custDataLst>
            </p:nvPr>
          </p:nvSpPr>
          <p:spPr bwMode="auto">
            <a:xfrm>
              <a:off x="8277" y="1417"/>
              <a:ext cx="198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latin typeface="宋体" panose="02010600030101010101" pitchFamily="2" charset="-122"/>
                </a:rPr>
                <a:t>A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和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C      B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361" name="直接箭头连接符 360"/>
            <p:cNvCxnSpPr/>
            <p:nvPr>
              <p:custDataLst>
                <p:tags r:id="rId93"/>
              </p:custDataLst>
            </p:nvPr>
          </p:nvCxnSpPr>
          <p:spPr bwMode="auto">
            <a:xfrm>
              <a:off x="10034" y="1757"/>
              <a:ext cx="0" cy="227"/>
            </a:xfrm>
            <a:prstGeom prst="straightConnector1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cxnSp>
          <p:nvCxnSpPr>
            <p:cNvPr id="362" name="直接箭头连接符 361"/>
            <p:cNvCxnSpPr/>
            <p:nvPr>
              <p:custDataLst>
                <p:tags r:id="rId94"/>
              </p:custDataLst>
            </p:nvPr>
          </p:nvCxnSpPr>
          <p:spPr bwMode="auto">
            <a:xfrm flipV="1">
              <a:off x="10148" y="1700"/>
              <a:ext cx="227" cy="340"/>
            </a:xfrm>
            <a:prstGeom prst="straightConnector1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3" name="Text Box 75"/>
            <p:cNvSpPr txBox="1">
              <a:spLocks noChangeArrowheads="1"/>
            </p:cNvSpPr>
            <p:nvPr>
              <p:custDataLst>
                <p:tags r:id="rId95"/>
              </p:custDataLst>
            </p:nvPr>
          </p:nvSpPr>
          <p:spPr bwMode="auto">
            <a:xfrm>
              <a:off x="10431" y="1700"/>
              <a:ext cx="90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程序</a:t>
              </a:r>
              <a:r>
                <a:rPr lang="en-US" altLang="zh-CN" sz="1600" b="1" dirty="0" smtClean="0">
                  <a:solidFill>
                    <a:schemeClr val="tx1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 smtClean="0">
                <a:solidFill>
                  <a:schemeClr val="tx1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364" name="直接箭头连接符 363"/>
            <p:cNvCxnSpPr/>
            <p:nvPr>
              <p:custDataLst>
                <p:tags r:id="rId96"/>
              </p:custDataLst>
            </p:nvPr>
          </p:nvCxnSpPr>
          <p:spPr bwMode="auto">
            <a:xfrm>
              <a:off x="10375" y="1700"/>
              <a:ext cx="1020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5" name="Text Box 75"/>
            <p:cNvSpPr txBox="1">
              <a:spLocks noChangeArrowheads="1"/>
            </p:cNvSpPr>
            <p:nvPr>
              <p:custDataLst>
                <p:tags r:id="rId97"/>
              </p:custDataLst>
            </p:nvPr>
          </p:nvSpPr>
          <p:spPr bwMode="auto">
            <a:xfrm>
              <a:off x="10218" y="2494"/>
              <a:ext cx="141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多重中断</a:t>
              </a:r>
              <a:endParaRPr lang="zh-CN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401" name="直接箭头连接符 400"/>
            <p:cNvCxnSpPr/>
            <p:nvPr>
              <p:custDataLst>
                <p:tags r:id="rId98"/>
              </p:custDataLst>
            </p:nvPr>
          </p:nvCxnSpPr>
          <p:spPr bwMode="auto">
            <a:xfrm>
              <a:off x="3062" y="2494"/>
              <a:ext cx="487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2" name="直接箭头连接符 401"/>
            <p:cNvCxnSpPr/>
            <p:nvPr>
              <p:custDataLst>
                <p:tags r:id="rId99"/>
              </p:custDataLst>
            </p:nvPr>
          </p:nvCxnSpPr>
          <p:spPr bwMode="auto">
            <a:xfrm>
              <a:off x="8334" y="2494"/>
              <a:ext cx="510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404" name="直接箭头连接符 403"/>
          <p:cNvCxnSpPr/>
          <p:nvPr>
            <p:custDataLst>
              <p:tags r:id="rId100"/>
            </p:custDataLst>
          </p:nvPr>
        </p:nvCxnSpPr>
        <p:spPr bwMode="auto">
          <a:xfrm>
            <a:off x="3996055" y="3852000"/>
            <a:ext cx="540000" cy="1656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  <p:cxnSp>
        <p:nvCxnSpPr>
          <p:cNvPr id="405" name="直接箭头连接符 404"/>
          <p:cNvCxnSpPr/>
          <p:nvPr>
            <p:custDataLst>
              <p:tags r:id="rId101"/>
            </p:custDataLst>
          </p:nvPr>
        </p:nvCxnSpPr>
        <p:spPr bwMode="auto">
          <a:xfrm flipH="1">
            <a:off x="7416000" y="3816000"/>
            <a:ext cx="144000" cy="118800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</p:spPr>
      </p:cxnSp>
      <p:sp>
        <p:nvSpPr>
          <p:cNvPr id="406" name="线形标注 2 405"/>
          <p:cNvSpPr/>
          <p:nvPr>
            <p:custDataLst>
              <p:tags r:id="rId102"/>
            </p:custDataLst>
          </p:nvPr>
        </p:nvSpPr>
        <p:spPr bwMode="auto">
          <a:xfrm>
            <a:off x="2986702" y="6299755"/>
            <a:ext cx="2160000" cy="252000"/>
          </a:xfrm>
          <a:prstGeom prst="borderCallout2">
            <a:avLst>
              <a:gd name="adj1" fmla="val 48330"/>
              <a:gd name="adj2" fmla="val -65"/>
              <a:gd name="adj3" fmla="val 48803"/>
              <a:gd name="adj4" fmla="val -8598"/>
              <a:gd name="adj5" fmla="val -138307"/>
              <a:gd name="adj6" fmla="val -1809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p>
            <a:pPr marL="0" indent="0" eaLnBrk="1" latinLnBrk="0" hangingPunct="1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中断处理结束时</a:t>
            </a: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ea typeface="+mn-ea"/>
              </a:rPr>
              <a:t>应清零</a:t>
            </a:r>
            <a:endParaRPr lang="zh-CN" altLang="en-US" sz="1400" b="1" dirty="0">
              <a:latin typeface="+mn-ea"/>
              <a:ea typeface="+mn-ea"/>
            </a:endParaRPr>
          </a:p>
        </p:txBody>
      </p:sp>
      <p:sp>
        <p:nvSpPr>
          <p:cNvPr id="407" name="线形标注 2 406"/>
          <p:cNvSpPr/>
          <p:nvPr>
            <p:custDataLst>
              <p:tags r:id="rId103"/>
            </p:custDataLst>
          </p:nvPr>
        </p:nvSpPr>
        <p:spPr bwMode="auto">
          <a:xfrm>
            <a:off x="7669160" y="6299120"/>
            <a:ext cx="1116000" cy="252000"/>
          </a:xfrm>
          <a:prstGeom prst="borderCallout2">
            <a:avLst>
              <a:gd name="adj1" fmla="val 48330"/>
              <a:gd name="adj2" fmla="val -65"/>
              <a:gd name="adj3" fmla="val 48819"/>
              <a:gd name="adj4" fmla="val -16524"/>
              <a:gd name="adj5" fmla="val -102021"/>
              <a:gd name="adj6" fmla="val -34163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0" numCol="1" rtlCol="0" anchor="ctr" anchorCtr="0" compatLnSpc="1"/>
          <a:p>
            <a:pPr marL="0" indent="0" eaLnBrk="1" latinLnBrk="0" hangingPunct="1">
              <a:lnSpc>
                <a:spcPct val="90000"/>
              </a:lnSpc>
            </a:pPr>
            <a:r>
              <a:rPr lang="zh-CN" altLang="en-US" sz="1600" b="1" dirty="0" smtClean="0">
                <a:solidFill>
                  <a:schemeClr val="tx1"/>
                </a:solidFill>
                <a:latin typeface="+mn-ea"/>
                <a:ea typeface="+mn-ea"/>
              </a:rPr>
              <a:t>软件</a:t>
            </a: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ea typeface="+mn-ea"/>
              </a:rPr>
              <a:t>可改写</a:t>
            </a:r>
            <a:endParaRPr lang="zh-CN" altLang="en-US" sz="1400" b="1" dirty="0">
              <a:latin typeface="+mn-ea"/>
              <a:ea typeface="+mn-ea"/>
            </a:endParaRPr>
          </a:p>
        </p:txBody>
      </p:sp>
      <p:grpSp>
        <p:nvGrpSpPr>
          <p:cNvPr id="412" name="组合 411"/>
          <p:cNvGrpSpPr/>
          <p:nvPr/>
        </p:nvGrpSpPr>
        <p:grpSpPr>
          <a:xfrm>
            <a:off x="2268735" y="4895020"/>
            <a:ext cx="5074920" cy="1187450"/>
            <a:chOff x="3574" y="7654"/>
            <a:chExt cx="7992" cy="1870"/>
          </a:xfrm>
        </p:grpSpPr>
        <p:sp>
          <p:nvSpPr>
            <p:cNvPr id="95" name="Text Box 101"/>
            <p:cNvSpPr txBox="1">
              <a:spLocks noChangeArrowheads="1"/>
            </p:cNvSpPr>
            <p:nvPr>
              <p:custDataLst>
                <p:tags r:id="rId104"/>
              </p:custDataLst>
            </p:nvPr>
          </p:nvSpPr>
          <p:spPr bwMode="auto">
            <a:xfrm>
              <a:off x="11170" y="7654"/>
              <a:ext cx="397" cy="175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0" rIns="18000" bIns="0" anchor="ctr"/>
            <a:p>
              <a:pPr algn="ctr"/>
              <a:r>
                <a:rPr lang="zh-CN" altLang="en-US" sz="1600" b="1" spc="-100" dirty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中断屏蔽</a:t>
              </a:r>
              <a:r>
                <a:rPr lang="en-US" altLang="zh-CN" sz="1600" b="1" spc="-100" dirty="0" smtClean="0">
                  <a:solidFill>
                    <a:schemeClr val="tx1"/>
                  </a:solidFill>
                  <a:uFillTx/>
                  <a:latin typeface="宋体" panose="02010600030101010101" pitchFamily="2" charset="-122"/>
                </a:rPr>
                <a:t>IMR</a:t>
              </a:r>
              <a:endParaRPr lang="en-US" altLang="zh-CN" sz="1600" b="1" spc="-100" dirty="0" smtClean="0">
                <a:solidFill>
                  <a:schemeClr val="tx1"/>
                </a:solidFill>
                <a:uFillTx/>
                <a:latin typeface="宋体" panose="02010600030101010101" pitchFamily="2" charset="-122"/>
              </a:endParaRPr>
            </a:p>
          </p:txBody>
        </p:sp>
        <p:cxnSp>
          <p:nvCxnSpPr>
            <p:cNvPr id="409" name="直接箭头连接符 408"/>
            <p:cNvCxnSpPr/>
            <p:nvPr>
              <p:custDataLst>
                <p:tags r:id="rId105"/>
              </p:custDataLst>
            </p:nvPr>
          </p:nvCxnSpPr>
          <p:spPr bwMode="auto">
            <a:xfrm flipH="1">
              <a:off x="3574" y="9524"/>
              <a:ext cx="7824" cy="0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0" name="直接箭头连接符 409"/>
            <p:cNvCxnSpPr/>
            <p:nvPr>
              <p:custDataLst>
                <p:tags r:id="rId106"/>
              </p:custDataLst>
            </p:nvPr>
          </p:nvCxnSpPr>
          <p:spPr bwMode="auto">
            <a:xfrm>
              <a:off x="11395" y="9411"/>
              <a:ext cx="0" cy="113"/>
            </a:xfrm>
            <a:prstGeom prst="straightConnector1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6" name="AutoShape 450">
            <a:hlinkClick r:id="" action="ppaction://hlinkshowjump?jump=previousslide" highlightClick="1"/>
          </p:cNvPr>
          <p:cNvSpPr>
            <a:spLocks noChangeArrowheads="1"/>
          </p:cNvSpPr>
          <p:nvPr>
            <p:custDataLst>
              <p:tags r:id="rId107"/>
            </p:custDataLst>
          </p:nvPr>
        </p:nvSpPr>
        <p:spPr bwMode="auto">
          <a:xfrm rot="5400000">
            <a:off x="406863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10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10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4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10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" grpId="0" bldLvl="0" animBg="1"/>
      <p:bldP spid="407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24" name="Text Box 362"/>
          <p:cNvSpPr txBox="1">
            <a:spLocks noChangeArrowheads="1"/>
          </p:cNvSpPr>
          <p:nvPr/>
        </p:nvSpPr>
        <p:spPr bwMode="auto">
          <a:xfrm>
            <a:off x="611437" y="5847655"/>
            <a:ext cx="4320603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7-2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latin typeface="宋体" panose="02010600030101010101" pitchFamily="2" charset="-122"/>
              </a:rPr>
              <a:t>P294—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15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16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17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3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6964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  <p:sp>
        <p:nvSpPr>
          <p:cNvPr id="236" name="Text Box 4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79705" y="360045"/>
            <a:ext cx="4782185" cy="1476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多重中断处理程序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  <a:sym typeface="+mn-ea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基本功能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marL="990600" indent="-990600"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新增功能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61" name="Text Box 338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340000" y="828000"/>
            <a:ext cx="4968000" cy="101473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只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个</a:t>
            </a:r>
            <a:r>
              <a:rPr lang="zh-CN" altLang="en-US" b="1" dirty="0" smtClean="0">
                <a:latin typeface="宋体" panose="02010600030101010101" pitchFamily="2" charset="-122"/>
              </a:rPr>
              <a:t>数据，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不破坏</a:t>
            </a:r>
            <a:r>
              <a:rPr lang="zh-CN" altLang="en-US" b="1" dirty="0" smtClean="0">
                <a:latin typeface="宋体" panose="02010600030101010101" pitchFamily="2" charset="-122"/>
              </a:rPr>
              <a:t>现场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(GPRs)</a:t>
            </a:r>
            <a:r>
              <a:rPr lang="en-US" altLang="zh-CN" b="1" dirty="0">
                <a:latin typeface="宋体" panose="02010600030101010101" pitchFamily="2" charset="-122"/>
              </a:rPr>
              <a:t> 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</a:rPr>
              <a:t>改变</a:t>
            </a:r>
            <a:r>
              <a:rPr lang="zh-CN" altLang="en-US" b="1" dirty="0" smtClean="0">
                <a:latin typeface="宋体" panose="02010600030101010101" pitchFamily="2" charset="-122"/>
              </a:rPr>
              <a:t>屏蔽字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管理处理优先级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b="1" u="sng" dirty="0" smtClean="0">
                <a:solidFill>
                  <a:srgbClr val="0070C0"/>
                </a:solidFill>
                <a:latin typeface="宋体" panose="02010600030101010101" pitchFamily="2" charset="-122"/>
                <a:sym typeface="+mn-ea"/>
              </a:rPr>
              <a:t>开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中断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3131141" y="2089225"/>
            <a:ext cx="937594" cy="3492000"/>
            <a:chOff x="2266286" y="2407947"/>
            <a:chExt cx="937594" cy="3492000"/>
          </a:xfrm>
        </p:grpSpPr>
        <p:cxnSp>
          <p:nvCxnSpPr>
            <p:cNvPr id="5" name="直接箭头连接符 4"/>
            <p:cNvCxnSpPr/>
            <p:nvPr>
              <p:custDataLst>
                <p:tags r:id="rId4"/>
              </p:custDataLst>
            </p:nvPr>
          </p:nvCxnSpPr>
          <p:spPr bwMode="auto">
            <a:xfrm>
              <a:off x="2735880" y="2407947"/>
              <a:ext cx="0" cy="2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71" name="Text Box 382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2267880" y="2659947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保存现场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72" name="Text Box 383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267880" y="4063947"/>
              <a:ext cx="936000" cy="430213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/>
              <a:r>
                <a:rPr lang="zh-CN" altLang="en-US" sz="16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服务</a:t>
              </a:r>
              <a:endParaRPr lang="zh-CN" altLang="en-US" sz="1600" b="1" dirty="0" smtClean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3" name="Text Box 385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2266286" y="5647947"/>
              <a:ext cx="936000" cy="2520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返回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4" name="直接箭头连接符 73"/>
            <p:cNvCxnSpPr/>
            <p:nvPr>
              <p:custDataLst>
                <p:tags r:id="rId8"/>
              </p:custDataLst>
            </p:nvPr>
          </p:nvCxnSpPr>
          <p:spPr bwMode="auto">
            <a:xfrm>
              <a:off x="2735476" y="2911947"/>
              <a:ext cx="0" cy="1152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7" name="直接箭头连接符 76"/>
            <p:cNvCxnSpPr/>
            <p:nvPr>
              <p:custDataLst>
                <p:tags r:id="rId9"/>
              </p:custDataLst>
            </p:nvPr>
          </p:nvCxnSpPr>
          <p:spPr bwMode="auto">
            <a:xfrm>
              <a:off x="2734621" y="4495947"/>
              <a:ext cx="0" cy="684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" name="Text Box 382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2266479" y="5179947"/>
              <a:ext cx="936000" cy="252000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ea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恢复现场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10" name="直接箭头连接符 9"/>
            <p:cNvCxnSpPr/>
            <p:nvPr>
              <p:custDataLst>
                <p:tags r:id="rId11"/>
              </p:custDataLst>
            </p:nvPr>
          </p:nvCxnSpPr>
          <p:spPr bwMode="auto">
            <a:xfrm>
              <a:off x="2734206" y="5431947"/>
              <a:ext cx="0" cy="21600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grpSp>
        <p:nvGrpSpPr>
          <p:cNvPr id="108" name="组合 107"/>
          <p:cNvGrpSpPr/>
          <p:nvPr/>
        </p:nvGrpSpPr>
        <p:grpSpPr>
          <a:xfrm>
            <a:off x="899755" y="1837225"/>
            <a:ext cx="7055478" cy="3708000"/>
            <a:chOff x="-324128" y="2181246"/>
            <a:chExt cx="7055478" cy="3708000"/>
          </a:xfrm>
        </p:grpSpPr>
        <p:sp>
          <p:nvSpPr>
            <p:cNvPr id="63" name="Text Box 327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-324128" y="2181246"/>
              <a:ext cx="169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0" latinLnBrk="0" hangingPunct="0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硬件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中断响应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4" name="Text Box 33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03350" y="2181246"/>
              <a:ext cx="5328000" cy="25200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0" latinLnBrk="0" hangingPunct="0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保存断点及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PSW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，关中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断，识别中断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源并转入中断处理程序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03" name="左大括号 102"/>
            <p:cNvSpPr/>
            <p:nvPr>
              <p:custDataLst>
                <p:tags r:id="rId14"/>
              </p:custDataLst>
            </p:nvPr>
          </p:nvSpPr>
          <p:spPr bwMode="auto">
            <a:xfrm>
              <a:off x="1367872" y="2505246"/>
              <a:ext cx="108012" cy="3384000"/>
            </a:xfrm>
            <a:prstGeom prst="leftBrace">
              <a:avLst>
                <a:gd name="adj1" fmla="val 33987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5" name="Text Box 327"/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-324128" y="4053246"/>
              <a:ext cx="1692000" cy="252000"/>
            </a:xfrm>
            <a:prstGeom prst="rect">
              <a:avLst/>
            </a:prstGeom>
            <a:noFill/>
            <a:ln w="19050">
              <a:noFill/>
              <a:miter lim="800000"/>
            </a:ln>
            <a:effectLst/>
          </p:spPr>
          <p:txBody>
            <a:bodyPr lIns="18000" tIns="17780" rIns="18000" bIns="0" anchor="ctr"/>
            <a:p>
              <a:pPr marL="0" indent="0" eaLnBrk="0" latinLnBrk="0" hangingPunct="0"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软件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)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中断处理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09" name="线形标注 2 108"/>
          <p:cNvSpPr/>
          <p:nvPr>
            <p:custDataLst>
              <p:tags r:id="rId16"/>
            </p:custDataLst>
          </p:nvPr>
        </p:nvSpPr>
        <p:spPr bwMode="auto">
          <a:xfrm>
            <a:off x="1079755" y="2735555"/>
            <a:ext cx="1152000" cy="468000"/>
          </a:xfrm>
          <a:prstGeom prst="borderCallout2">
            <a:avLst>
              <a:gd name="adj1" fmla="val 51211"/>
              <a:gd name="adj2" fmla="val 99843"/>
              <a:gd name="adj3" fmla="val 51158"/>
              <a:gd name="adj4" fmla="val 119201"/>
              <a:gd name="adj5" fmla="val -33644"/>
              <a:gd name="adj6" fmla="val 173385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仅保存</a:t>
            </a:r>
            <a:r>
              <a:rPr lang="zh-CN" altLang="en-US" sz="1600" b="1" dirty="0" smtClean="0">
                <a:solidFill>
                  <a:srgbClr val="990099"/>
                </a:solidFill>
                <a:latin typeface="+mn-ea"/>
                <a:ea typeface="+mn-ea"/>
              </a:rPr>
              <a:t>程序所用</a:t>
            </a:r>
            <a:r>
              <a:rPr lang="zh-CN" altLang="en-US" sz="1600" b="1" dirty="0">
                <a:latin typeface="+mn-ea"/>
                <a:ea typeface="+mn-ea"/>
              </a:rPr>
              <a:t>寄存器</a:t>
            </a:r>
            <a:endParaRPr lang="zh-CN" altLang="en-US" sz="1600" b="1" dirty="0">
              <a:latin typeface="+mn-ea"/>
              <a:ea typeface="+mn-ea"/>
            </a:endParaRPr>
          </a:p>
        </p:txBody>
      </p:sp>
      <p:grpSp>
        <p:nvGrpSpPr>
          <p:cNvPr id="91" name="组合 90"/>
          <p:cNvGrpSpPr/>
          <p:nvPr/>
        </p:nvGrpSpPr>
        <p:grpSpPr>
          <a:xfrm>
            <a:off x="5401715" y="2089225"/>
            <a:ext cx="1728000" cy="3492000"/>
            <a:chOff x="9298" y="3855"/>
            <a:chExt cx="2721" cy="5499"/>
          </a:xfrm>
        </p:grpSpPr>
        <p:cxnSp>
          <p:nvCxnSpPr>
            <p:cNvPr id="66" name="直接箭头连接符 65"/>
            <p:cNvCxnSpPr/>
            <p:nvPr>
              <p:custDataLst>
                <p:tags r:id="rId17"/>
              </p:custDataLst>
            </p:nvPr>
          </p:nvCxnSpPr>
          <p:spPr bwMode="auto">
            <a:xfrm>
              <a:off x="10658" y="3855"/>
              <a:ext cx="0" cy="397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67" name="Text Box 380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091" y="5726"/>
              <a:ext cx="113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开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中断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11" name="Text Box 382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9298" y="4252"/>
              <a:ext cx="2721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保存现场及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屏蔽字</a:t>
              </a:r>
              <a:endPara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0" name="Text Box 383"/>
            <p:cNvSpPr txBox="1"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9865" y="6463"/>
              <a:ext cx="1587" cy="678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 eaLnBrk="0" hangingPunct="0"/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服务</a:t>
              </a:r>
              <a:endPara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75" name="Text Box 385"/>
            <p:cNvSpPr txBox="1"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9921" y="8957"/>
              <a:ext cx="1474" cy="39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返回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76" name="直接箭头连接符 75"/>
            <p:cNvCxnSpPr/>
            <p:nvPr>
              <p:custDataLst>
                <p:tags r:id="rId22"/>
              </p:custDataLst>
            </p:nvPr>
          </p:nvCxnSpPr>
          <p:spPr bwMode="auto">
            <a:xfrm flipH="1">
              <a:off x="10658" y="4649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78" name="直接箭头连接符 77"/>
            <p:cNvCxnSpPr/>
            <p:nvPr>
              <p:custDataLst>
                <p:tags r:id="rId23"/>
              </p:custDataLst>
            </p:nvPr>
          </p:nvCxnSpPr>
          <p:spPr bwMode="auto">
            <a:xfrm>
              <a:off x="10658" y="612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79" name="Text Box 380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10091" y="7483"/>
              <a:ext cx="113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关中断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80" name="直接箭头连接符 79"/>
            <p:cNvCxnSpPr/>
            <p:nvPr>
              <p:custDataLst>
                <p:tags r:id="rId25"/>
              </p:custDataLst>
            </p:nvPr>
          </p:nvCxnSpPr>
          <p:spPr bwMode="auto">
            <a:xfrm>
              <a:off x="10658" y="7143"/>
              <a:ext cx="0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2" name="直接箭头连接符 11"/>
            <p:cNvCxnSpPr/>
            <p:nvPr>
              <p:custDataLst>
                <p:tags r:id="rId26"/>
              </p:custDataLst>
            </p:nvPr>
          </p:nvCxnSpPr>
          <p:spPr bwMode="auto">
            <a:xfrm>
              <a:off x="10658" y="7880"/>
              <a:ext cx="2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3" name="Text Box 38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9751" y="4989"/>
              <a:ext cx="1814" cy="397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修改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屏蔽字</a:t>
              </a:r>
              <a:endPara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  <p:cxnSp>
          <p:nvCxnSpPr>
            <p:cNvPr id="85" name="直接箭头连接符 84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10658" y="5386"/>
              <a:ext cx="1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86" name="直接箭头连接符 85"/>
            <p:cNvCxnSpPr/>
            <p:nvPr>
              <p:custDataLst>
                <p:tags r:id="rId29"/>
              </p:custDataLst>
            </p:nvPr>
          </p:nvCxnSpPr>
          <p:spPr bwMode="auto">
            <a:xfrm flipH="1">
              <a:off x="10658" y="8617"/>
              <a:ext cx="2" cy="340"/>
            </a:xfrm>
            <a:prstGeom prst="straightConnector1">
              <a:avLst/>
            </a:prstGeom>
            <a:noFill/>
            <a:ln w="158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89" name="Text Box 382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9298" y="8220"/>
              <a:ext cx="2721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 ea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恢复现场及</a:t>
              </a:r>
              <a:r>
                <a:rPr lang="zh-CN" altLang="en-US" sz="1600" b="1" dirty="0" smtClean="0">
                  <a:solidFill>
                    <a:srgbClr val="C00000"/>
                  </a:solidFill>
                  <a:latin typeface="宋体" panose="02010600030101010101" pitchFamily="2" charset="-122"/>
                </a:rPr>
                <a:t>屏蔽字</a:t>
              </a:r>
              <a:endParaRPr lang="zh-CN" altLang="en-US" sz="1600" b="1" dirty="0" smtClean="0">
                <a:solidFill>
                  <a:srgbClr val="C00000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4177030" y="2052955"/>
            <a:ext cx="431800" cy="3492500"/>
            <a:chOff x="6465" y="3798"/>
            <a:chExt cx="680" cy="5500"/>
          </a:xfrm>
        </p:grpSpPr>
        <p:sp>
          <p:nvSpPr>
            <p:cNvPr id="113" name="右大括号 112"/>
            <p:cNvSpPr/>
            <p:nvPr>
              <p:custDataLst>
                <p:tags r:id="rId31"/>
              </p:custDataLst>
            </p:nvPr>
          </p:nvSpPr>
          <p:spPr bwMode="auto">
            <a:xfrm>
              <a:off x="6465" y="4252"/>
              <a:ext cx="227" cy="5046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5" name="Text Box 341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6691" y="5443"/>
              <a:ext cx="454" cy="2778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/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不响应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5" name="直接箭头连接符 404"/>
            <p:cNvCxnSpPr/>
            <p:nvPr>
              <p:custDataLst>
                <p:tags r:id="rId33"/>
              </p:custDataLst>
            </p:nvPr>
          </p:nvCxnSpPr>
          <p:spPr bwMode="auto">
            <a:xfrm flipH="1">
              <a:off x="6690" y="3798"/>
              <a:ext cx="397" cy="680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99" name="组合 98"/>
          <p:cNvGrpSpPr/>
          <p:nvPr/>
        </p:nvGrpSpPr>
        <p:grpSpPr>
          <a:xfrm>
            <a:off x="6696075" y="3430270"/>
            <a:ext cx="1261745" cy="1071245"/>
            <a:chOff x="10432" y="5967"/>
            <a:chExt cx="1987" cy="1687"/>
          </a:xfrm>
        </p:grpSpPr>
        <p:sp>
          <p:nvSpPr>
            <p:cNvPr id="93" name="右大括号 92"/>
            <p:cNvSpPr/>
            <p:nvPr>
              <p:custDataLst>
                <p:tags r:id="rId34"/>
              </p:custDataLst>
            </p:nvPr>
          </p:nvSpPr>
          <p:spPr bwMode="auto">
            <a:xfrm>
              <a:off x="10775" y="6463"/>
              <a:ext cx="113" cy="681"/>
            </a:xfrm>
            <a:prstGeom prst="rightBrace">
              <a:avLst>
                <a:gd name="adj1" fmla="val 38095"/>
                <a:gd name="adj2" fmla="val 50000"/>
              </a:avLst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94" name="Text Box 341"/>
            <p:cNvSpPr txBox="1">
              <a:spLocks noChangeArrowheads="1"/>
            </p:cNvSpPr>
            <p:nvPr>
              <p:custDataLst>
                <p:tags r:id="rId35"/>
              </p:custDataLst>
            </p:nvPr>
          </p:nvSpPr>
          <p:spPr bwMode="auto">
            <a:xfrm>
              <a:off x="10945" y="6463"/>
              <a:ext cx="1474" cy="678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vert="horz" lIns="18000" tIns="10800" rIns="18000" bIns="10800" anchor="ctr"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可响应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新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INTR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7" name="直接箭头连接符 96"/>
            <p:cNvCxnSpPr/>
            <p:nvPr>
              <p:custDataLst>
                <p:tags r:id="rId36"/>
              </p:custDataLst>
            </p:nvPr>
          </p:nvCxnSpPr>
          <p:spPr bwMode="auto">
            <a:xfrm>
              <a:off x="10432" y="5967"/>
              <a:ext cx="283" cy="453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  <p:cxnSp>
          <p:nvCxnSpPr>
            <p:cNvPr id="98" name="直接箭头连接符 97"/>
            <p:cNvCxnSpPr/>
            <p:nvPr>
              <p:custDataLst>
                <p:tags r:id="rId37"/>
              </p:custDataLst>
            </p:nvPr>
          </p:nvCxnSpPr>
          <p:spPr bwMode="auto">
            <a:xfrm flipV="1">
              <a:off x="10434" y="7200"/>
              <a:ext cx="281" cy="454"/>
            </a:xfrm>
            <a:prstGeom prst="straightConnector1">
              <a:avLst/>
            </a:prstGeom>
            <a:noFill/>
            <a:ln w="9525" cap="flat" cmpd="sng" algn="ctr">
              <a:solidFill>
                <a:srgbClr val="0070C0"/>
              </a:solidFill>
              <a:prstDash val="sysDash"/>
              <a:round/>
              <a:headEnd type="none" w="med" len="med"/>
              <a:tailEnd type="triangle" w="med" len="med"/>
            </a:ln>
          </p:spPr>
        </p:cxnSp>
      </p:grpSp>
      <p:sp>
        <p:nvSpPr>
          <p:cNvPr id="100" name="线形标注 2 99"/>
          <p:cNvSpPr/>
          <p:nvPr>
            <p:custDataLst>
              <p:tags r:id="rId38"/>
            </p:custDataLst>
          </p:nvPr>
        </p:nvSpPr>
        <p:spPr bwMode="auto">
          <a:xfrm>
            <a:off x="7452000" y="2987755"/>
            <a:ext cx="756000" cy="252000"/>
          </a:xfrm>
          <a:prstGeom prst="borderCallout2">
            <a:avLst>
              <a:gd name="adj1" fmla="val 51162"/>
              <a:gd name="adj2" fmla="val -873"/>
              <a:gd name="adj3" fmla="val 48642"/>
              <a:gd name="adj4" fmla="val -26660"/>
              <a:gd name="adj5" fmla="val -26952"/>
              <a:gd name="adj6" fmla="val -74201"/>
            </a:avLst>
          </a:prstGeom>
          <a:noFill/>
          <a:ln w="12700" cap="flat" cmpd="sng" algn="ctr">
            <a:solidFill>
              <a:srgbClr val="0070C0"/>
            </a:solidFill>
            <a:prstDash val="sysDash"/>
            <a:round/>
            <a:headEnd type="none" w="med" len="med"/>
            <a:tailEnd type="triangle" w="med" len="med"/>
          </a:ln>
          <a:effectLst/>
        </p:spPr>
        <p:txBody>
          <a:bodyPr vert="horz" wrap="square" lIns="36000" tIns="18000" rIns="36000" bIns="18000" numCol="1" rtlCol="0" anchor="ctr" anchorCtr="0" compatLnSpc="1"/>
          <a:p>
            <a:pPr algn="ctr">
              <a:lnSpc>
                <a:spcPct val="90000"/>
              </a:lnSpc>
            </a:pPr>
            <a:r>
              <a:rPr lang="zh-CN" altLang="en-US" sz="1600" b="1" dirty="0" smtClean="0">
                <a:latin typeface="+mn-ea"/>
                <a:ea typeface="+mn-ea"/>
              </a:rPr>
              <a:t>可缺省</a:t>
            </a:r>
            <a:endParaRPr lang="zh-CN" altLang="en-US" sz="1600" b="1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09" grpId="0" bldLvl="0" animBg="1"/>
      <p:bldP spid="100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Text Box 396"/>
          <p:cNvSpPr txBox="1">
            <a:spLocks noChangeArrowheads="1"/>
          </p:cNvSpPr>
          <p:nvPr/>
        </p:nvSpPr>
        <p:spPr bwMode="auto">
          <a:xfrm>
            <a:off x="827088" y="260648"/>
            <a:ext cx="7467600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r>
              <a:rPr lang="en-US" altLang="zh-CN" sz="2800" b="1" dirty="0">
                <a:latin typeface="宋体" panose="02010600030101010101" pitchFamily="2" charset="-122"/>
              </a:rPr>
              <a:t>§7.6 </a:t>
            </a:r>
            <a:r>
              <a:rPr lang="en-US" altLang="zh-CN" sz="2800" b="1" dirty="0" smtClean="0">
                <a:latin typeface="宋体" panose="02010600030101010101" pitchFamily="2" charset="-122"/>
              </a:rPr>
              <a:t>DMA</a:t>
            </a:r>
            <a:r>
              <a:rPr lang="zh-CN" altLang="en-US" sz="2800" b="1" dirty="0" smtClean="0">
                <a:latin typeface="宋体" panose="02010600030101010101" pitchFamily="2" charset="-122"/>
              </a:rPr>
              <a:t>方式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sp>
        <p:nvSpPr>
          <p:cNvPr id="5" name="Text Box 397"/>
          <p:cNvSpPr txBox="1">
            <a:spLocks noChangeArrowheads="1"/>
          </p:cNvSpPr>
          <p:nvPr/>
        </p:nvSpPr>
        <p:spPr bwMode="auto">
          <a:xfrm>
            <a:off x="179705" y="1311275"/>
            <a:ext cx="8783955" cy="2792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方式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功能：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主存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外设</a:t>
            </a:r>
            <a:r>
              <a:rPr lang="zh-CN" altLang="en-US" b="1" dirty="0" smtClean="0">
                <a:latin typeface="宋体" panose="02010600030101010101" pitchFamily="2" charset="-122"/>
              </a:rPr>
              <a:t>间、传送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批</a:t>
            </a:r>
            <a:r>
              <a:rPr lang="zh-CN" altLang="en-US" b="1" dirty="0" smtClean="0">
                <a:latin typeface="宋体" panose="02010600030101010101" pitchFamily="2" charset="-122"/>
              </a:rPr>
              <a:t>数据</a:t>
            </a:r>
            <a:r>
              <a:rPr lang="en-US" altLang="zh-CN" b="1" dirty="0" smtClean="0">
                <a:latin typeface="宋体" panose="02010600030101010101" pitchFamily="2" charset="-122"/>
              </a:rPr>
              <a:t>/</a:t>
            </a:r>
            <a:r>
              <a:rPr lang="zh-CN" altLang="en-US" b="1" dirty="0" smtClean="0">
                <a:latin typeface="宋体" panose="02010600030101010101" pitchFamily="2" charset="-122"/>
              </a:rPr>
              <a:t>次</a:t>
            </a:r>
            <a:r>
              <a:rPr lang="en-US" altLang="zh-CN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适于块设备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特点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要求</a:t>
            </a: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</p:txBody>
      </p:sp>
      <p:sp>
        <p:nvSpPr>
          <p:cNvPr id="1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298817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13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043608" y="1918916"/>
            <a:ext cx="6912768" cy="862012"/>
            <a:chOff x="1547664" y="5663530"/>
            <a:chExt cx="6912768" cy="862012"/>
          </a:xfrm>
        </p:grpSpPr>
        <p:sp>
          <p:nvSpPr>
            <p:cNvPr id="13" name="Text Box 72"/>
            <p:cNvSpPr txBox="1">
              <a:spLocks noChangeArrowheads="1"/>
            </p:cNvSpPr>
            <p:nvPr/>
          </p:nvSpPr>
          <p:spPr bwMode="auto">
            <a:xfrm>
              <a:off x="1548160" y="5807546"/>
              <a:ext cx="1799704" cy="6480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4" name="Text Box 72"/>
            <p:cNvSpPr txBox="1">
              <a:spLocks noChangeArrowheads="1"/>
            </p:cNvSpPr>
            <p:nvPr/>
          </p:nvSpPr>
          <p:spPr bwMode="auto">
            <a:xfrm>
              <a:off x="1619672" y="5878661"/>
              <a:ext cx="720079" cy="288925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" name="Text Box 74"/>
            <p:cNvSpPr txBox="1">
              <a:spLocks noChangeArrowheads="1"/>
            </p:cNvSpPr>
            <p:nvPr/>
          </p:nvSpPr>
          <p:spPr bwMode="auto">
            <a:xfrm>
              <a:off x="2555776" y="5878661"/>
              <a:ext cx="720080" cy="2889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accent2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" name="Text Box 75"/>
            <p:cNvSpPr txBox="1">
              <a:spLocks noChangeArrowheads="1"/>
            </p:cNvSpPr>
            <p:nvPr/>
          </p:nvSpPr>
          <p:spPr bwMode="auto">
            <a:xfrm>
              <a:off x="3995936" y="5809828"/>
              <a:ext cx="1224136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查询接口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7" name="Text Box 79"/>
            <p:cNvSpPr txBox="1">
              <a:spLocks noChangeArrowheads="1"/>
            </p:cNvSpPr>
            <p:nvPr/>
          </p:nvSpPr>
          <p:spPr bwMode="auto">
            <a:xfrm>
              <a:off x="5292080" y="6029746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18" name="Text Box 80"/>
            <p:cNvSpPr txBox="1">
              <a:spLocks noChangeArrowheads="1"/>
            </p:cNvSpPr>
            <p:nvPr/>
          </p:nvSpPr>
          <p:spPr bwMode="auto">
            <a:xfrm>
              <a:off x="3419872" y="5698405"/>
              <a:ext cx="504056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/>
                <a:t>总线</a:t>
              </a:r>
              <a:endParaRPr lang="zh-CN" altLang="en-US" sz="1600" b="1" dirty="0"/>
            </a:p>
          </p:txBody>
        </p:sp>
        <p:sp>
          <p:nvSpPr>
            <p:cNvPr id="19" name="Text Box 81"/>
            <p:cNvSpPr txBox="1">
              <a:spLocks noChangeArrowheads="1"/>
            </p:cNvSpPr>
            <p:nvPr/>
          </p:nvSpPr>
          <p:spPr bwMode="auto">
            <a:xfrm>
              <a:off x="3995936" y="6237312"/>
              <a:ext cx="1224136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字符型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0" name="直接连接符 19"/>
            <p:cNvCxnSpPr>
              <a:endCxn id="14" idx="0"/>
            </p:cNvCxnSpPr>
            <p:nvPr/>
          </p:nvCxnSpPr>
          <p:spPr bwMode="auto">
            <a:xfrm>
              <a:off x="1979712" y="5671641"/>
              <a:ext cx="0" cy="20702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连接符 20"/>
            <p:cNvCxnSpPr>
              <a:stCxn id="15" idx="0"/>
            </p:cNvCxnSpPr>
            <p:nvPr/>
          </p:nvCxnSpPr>
          <p:spPr bwMode="auto">
            <a:xfrm flipV="1">
              <a:off x="2915816" y="5673329"/>
              <a:ext cx="0" cy="205332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" name="直接连接符 21"/>
            <p:cNvCxnSpPr/>
            <p:nvPr/>
          </p:nvCxnSpPr>
          <p:spPr bwMode="auto">
            <a:xfrm>
              <a:off x="1547664" y="5663530"/>
              <a:ext cx="6912768" cy="0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连接符 22"/>
            <p:cNvCxnSpPr>
              <a:endCxn id="16" idx="0"/>
            </p:cNvCxnSpPr>
            <p:nvPr/>
          </p:nvCxnSpPr>
          <p:spPr bwMode="auto">
            <a:xfrm>
              <a:off x="4608004" y="5663530"/>
              <a:ext cx="0" cy="146298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" name="直接连接符 23"/>
            <p:cNvCxnSpPr>
              <a:stCxn id="16" idx="2"/>
              <a:endCxn id="19" idx="0"/>
            </p:cNvCxnSpPr>
            <p:nvPr/>
          </p:nvCxnSpPr>
          <p:spPr bwMode="auto">
            <a:xfrm>
              <a:off x="4608004" y="6090816"/>
              <a:ext cx="0" cy="146496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" name="Text Box 80"/>
            <p:cNvSpPr txBox="1">
              <a:spLocks noChangeArrowheads="1"/>
            </p:cNvSpPr>
            <p:nvPr/>
          </p:nvSpPr>
          <p:spPr bwMode="auto">
            <a:xfrm>
              <a:off x="2123728" y="6203701"/>
              <a:ext cx="576262" cy="251917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600" b="1" dirty="0" smtClean="0"/>
                <a:t>主机</a:t>
              </a:r>
              <a:endParaRPr lang="zh-CN" altLang="en-US" sz="1600" b="1" dirty="0"/>
            </a:p>
          </p:txBody>
        </p:sp>
        <p:sp>
          <p:nvSpPr>
            <p:cNvPr id="26" name="Text Box 75"/>
            <p:cNvSpPr txBox="1">
              <a:spLocks noChangeArrowheads="1"/>
            </p:cNvSpPr>
            <p:nvPr/>
          </p:nvSpPr>
          <p:spPr bwMode="auto">
            <a:xfrm>
              <a:off x="5652120" y="5808414"/>
              <a:ext cx="1224136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中断接口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7" name="直接连接符 26"/>
            <p:cNvCxnSpPr>
              <a:endCxn id="26" idx="0"/>
            </p:cNvCxnSpPr>
            <p:nvPr/>
          </p:nvCxnSpPr>
          <p:spPr bwMode="auto">
            <a:xfrm>
              <a:off x="6264188" y="5671641"/>
              <a:ext cx="0" cy="136773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Text Box 75"/>
            <p:cNvSpPr txBox="1">
              <a:spLocks noChangeArrowheads="1"/>
            </p:cNvSpPr>
            <p:nvPr/>
          </p:nvSpPr>
          <p:spPr bwMode="auto">
            <a:xfrm>
              <a:off x="7308304" y="5808414"/>
              <a:ext cx="1152128" cy="2809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rgbClr val="990099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smtClean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29" name="直接连接符 28"/>
            <p:cNvCxnSpPr>
              <a:endCxn id="28" idx="0"/>
            </p:cNvCxnSpPr>
            <p:nvPr/>
          </p:nvCxnSpPr>
          <p:spPr bwMode="auto">
            <a:xfrm>
              <a:off x="7884368" y="5663530"/>
              <a:ext cx="0" cy="144884"/>
            </a:xfrm>
            <a:prstGeom prst="line">
              <a:avLst/>
            </a:prstGeom>
            <a:noFill/>
            <a:ln w="28575" cap="flat" cmpd="dbl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" name="Text Box 81"/>
            <p:cNvSpPr txBox="1">
              <a:spLocks noChangeArrowheads="1"/>
            </p:cNvSpPr>
            <p:nvPr/>
          </p:nvSpPr>
          <p:spPr bwMode="auto">
            <a:xfrm>
              <a:off x="5652120" y="6239792"/>
              <a:ext cx="1224136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字符型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0" name="直接连接符 39"/>
            <p:cNvCxnSpPr>
              <a:stCxn id="26" idx="2"/>
              <a:endCxn id="39" idx="0"/>
            </p:cNvCxnSpPr>
            <p:nvPr/>
          </p:nvCxnSpPr>
          <p:spPr bwMode="auto">
            <a:xfrm>
              <a:off x="6264188" y="6089402"/>
              <a:ext cx="0" cy="15039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Text Box 81"/>
            <p:cNvSpPr txBox="1">
              <a:spLocks noChangeArrowheads="1"/>
            </p:cNvSpPr>
            <p:nvPr/>
          </p:nvSpPr>
          <p:spPr bwMode="auto">
            <a:xfrm>
              <a:off x="7308304" y="6239792"/>
              <a:ext cx="1152128" cy="28575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外设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</a:rPr>
                <a:t>块型</a:t>
              </a:r>
              <a:r>
                <a:rPr lang="en-US" altLang="zh-CN" sz="1400" b="1" dirty="0" smtClean="0">
                  <a:latin typeface="宋体" panose="02010600030101010101" pitchFamily="2" charset="-122"/>
                </a:rPr>
                <a:t>)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5" name="直接连接符 44"/>
            <p:cNvCxnSpPr>
              <a:stCxn id="28" idx="2"/>
              <a:endCxn id="44" idx="0"/>
            </p:cNvCxnSpPr>
            <p:nvPr/>
          </p:nvCxnSpPr>
          <p:spPr bwMode="auto">
            <a:xfrm>
              <a:off x="7884368" y="6089402"/>
              <a:ext cx="0" cy="150390"/>
            </a:xfrm>
            <a:prstGeom prst="line">
              <a:avLst/>
            </a:prstGeom>
            <a:noFill/>
            <a:ln w="2222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6" name="Text Box 79"/>
            <p:cNvSpPr txBox="1">
              <a:spLocks noChangeArrowheads="1"/>
            </p:cNvSpPr>
            <p:nvPr/>
          </p:nvSpPr>
          <p:spPr bwMode="auto">
            <a:xfrm>
              <a:off x="6948264" y="6021288"/>
              <a:ext cx="288925" cy="279574"/>
            </a:xfrm>
            <a:prstGeom prst="rect">
              <a:avLst/>
            </a:prstGeom>
            <a:noFill/>
            <a:ln w="2222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</p:grpSp>
      <p:sp>
        <p:nvSpPr>
          <p:cNvPr id="51" name="Text Box 397"/>
          <p:cNvSpPr txBox="1">
            <a:spLocks noChangeArrowheads="1"/>
          </p:cNvSpPr>
          <p:nvPr/>
        </p:nvSpPr>
        <p:spPr bwMode="auto">
          <a:xfrm>
            <a:off x="1621155" y="2780665"/>
            <a:ext cx="7372985" cy="24917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传送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不占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时间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1</a:t>
            </a:r>
            <a:r>
              <a:rPr lang="zh-CN" altLang="en-US" b="1" u="sng" dirty="0">
                <a:latin typeface="宋体" panose="02010600030101010101" pitchFamily="2" charset="-122"/>
              </a:rPr>
              <a:t>个数据</a:t>
            </a:r>
            <a:r>
              <a:rPr lang="en-US" altLang="zh-CN" b="1" u="sng" dirty="0">
                <a:latin typeface="宋体" panose="02010600030101010101" pitchFamily="2" charset="-122"/>
              </a:rPr>
              <a:t>/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总线周期</a:t>
            </a:r>
            <a:endParaRPr lang="en-US" altLang="zh-CN" b="1" u="sng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       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</a:rPr>
              <a:t>中断为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实现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中断为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1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个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多个指令周期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</a:rPr>
              <a:t> ①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可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为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总线主设备</a:t>
            </a:r>
            <a:endParaRPr lang="zh-CN" altLang="en-US" b="1" u="sng" dirty="0" smtClean="0">
              <a:solidFill>
                <a:srgbClr val="0070C0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②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负责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传送准备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及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结束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工作</a:t>
            </a:r>
            <a:endParaRPr lang="zh-CN" altLang="en-US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dirty="0" smtClean="0">
                <a:latin typeface="宋体" panose="02010600030101010101" pitchFamily="2" charset="-122"/>
                <a:sym typeface="+mn-ea"/>
              </a:rPr>
              <a:t>                </a:t>
            </a:r>
            <a:r>
              <a:rPr lang="zh-CN" altLang="en-US" sz="1800" dirty="0" smtClean="0">
                <a:latin typeface="宋体" panose="02010600030101010101" pitchFamily="2" charset="-122"/>
                <a:sym typeface="+mn-ea"/>
              </a:rPr>
              <a:t>└←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设置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字数</a:t>
            </a:r>
            <a:r>
              <a:rPr lang="en-US" sz="1800" b="1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主存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首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址、传送</a:t>
            </a:r>
            <a:r>
              <a:rPr lang="zh-CN" altLang="en-US" sz="1800" b="1" dirty="0">
                <a:latin typeface="宋体" panose="02010600030101010101" pitchFamily="2" charset="-122"/>
                <a:sym typeface="+mn-ea"/>
              </a:rPr>
              <a:t>方式、启动设备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 smtClean="0">
                <a:latin typeface="宋体" panose="02010600030101010101" pitchFamily="2" charset="-122"/>
              </a:rPr>
              <a:t> ③CPU</a:t>
            </a:r>
            <a:r>
              <a:rPr lang="zh-CN" altLang="en-US" b="1" dirty="0" smtClean="0">
                <a:latin typeface="宋体" panose="02010600030101010101" pitchFamily="2" charset="-122"/>
              </a:rPr>
              <a:t>在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数据传送期间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让出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总线使用权</a:t>
            </a:r>
            <a:endParaRPr lang="en-US" altLang="zh-CN" b="1" dirty="0" smtClean="0">
              <a:latin typeface="宋体" panose="02010600030101010101" pitchFamily="2" charset="-122"/>
            </a:endParaRPr>
          </a:p>
        </p:txBody>
      </p:sp>
      <p:sp>
        <p:nvSpPr>
          <p:cNvPr id="119" name="AutoShape 18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3557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" name="AutoShape 186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6156870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526"/>
          <p:cNvSpPr txBox="1">
            <a:spLocks noChangeArrowheads="1"/>
          </p:cNvSpPr>
          <p:nvPr/>
        </p:nvSpPr>
        <p:spPr bwMode="auto">
          <a:xfrm>
            <a:off x="179512" y="837873"/>
            <a:ext cx="8784976" cy="4298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altLang="zh-CN" sz="2200" b="1" kern="0" dirty="0">
                <a:solidFill>
                  <a:srgbClr val="FF3399"/>
                </a:solidFill>
                <a:latin typeface="+mn-ea"/>
                <a:ea typeface="+mn-ea"/>
              </a:rPr>
              <a:t>  </a:t>
            </a:r>
            <a:r>
              <a:rPr lang="en-US" altLang="zh-CN" sz="2200" b="1" kern="0" dirty="0" smtClean="0">
                <a:solidFill>
                  <a:srgbClr val="FF3399"/>
                </a:solidFill>
                <a:latin typeface="+mn-ea"/>
                <a:ea typeface="+mn-ea"/>
              </a:rPr>
              <a:t>※</a:t>
            </a:r>
            <a:r>
              <a:rPr lang="zh-CN" altLang="en-US" sz="2200" b="1" kern="0" dirty="0" smtClean="0">
                <a:solidFill>
                  <a:srgbClr val="FF3399"/>
                </a:solidFill>
                <a:latin typeface="+mn-ea"/>
                <a:ea typeface="+mn-ea"/>
              </a:rPr>
              <a:t>主要内容：</a:t>
            </a:r>
            <a:r>
              <a:rPr lang="en-US" altLang="zh-CN" sz="2200" b="1" kern="0" dirty="0" smtClean="0">
                <a:latin typeface="+mn-ea"/>
                <a:ea typeface="+mn-ea"/>
              </a:rPr>
              <a:t>DMA</a:t>
            </a:r>
            <a:r>
              <a:rPr lang="zh-CN" altLang="en-US" sz="2200" b="1" kern="0" dirty="0" smtClean="0">
                <a:latin typeface="+mn-ea"/>
              </a:rPr>
              <a:t>传送方式，</a:t>
            </a:r>
            <a:r>
              <a:rPr lang="en-US" altLang="zh-CN" sz="2200" b="1" kern="0" dirty="0" smtClean="0">
                <a:latin typeface="+mn-ea"/>
              </a:rPr>
              <a:t>DMA</a:t>
            </a:r>
            <a:r>
              <a:rPr lang="zh-CN" altLang="en-US" sz="2200" b="1" kern="0" dirty="0" smtClean="0">
                <a:latin typeface="+mn-ea"/>
              </a:rPr>
              <a:t>接口结构</a:t>
            </a:r>
            <a:r>
              <a:rPr lang="zh-CN" altLang="en-US" sz="2200" b="1" kern="0" dirty="0">
                <a:latin typeface="+mn-ea"/>
              </a:rPr>
              <a:t>，</a:t>
            </a:r>
            <a:r>
              <a:rPr lang="en-US" altLang="zh-CN" sz="2200" b="1" kern="0" dirty="0">
                <a:latin typeface="+mn-ea"/>
              </a:rPr>
              <a:t>DMA</a:t>
            </a:r>
            <a:r>
              <a:rPr lang="zh-CN" altLang="en-US" sz="2200" b="1" kern="0" dirty="0">
                <a:latin typeface="+mn-ea"/>
              </a:rPr>
              <a:t>传送</a:t>
            </a:r>
            <a:r>
              <a:rPr lang="zh-CN" altLang="en-US" sz="2200" b="1" kern="0" dirty="0" smtClean="0">
                <a:latin typeface="+mn-ea"/>
              </a:rPr>
              <a:t>过程</a:t>
            </a:r>
            <a:endParaRPr lang="en-US" altLang="zh-CN" sz="1800" b="1" kern="0" dirty="0" smtClean="0">
              <a:latin typeface="+mn-ea"/>
              <a:ea typeface="+mn-ea"/>
            </a:endParaRPr>
          </a:p>
        </p:txBody>
      </p:sp>
      <p:sp>
        <p:nvSpPr>
          <p:cNvPr id="37" name="线形标注 2 36"/>
          <p:cNvSpPr/>
          <p:nvPr/>
        </p:nvSpPr>
        <p:spPr bwMode="auto">
          <a:xfrm>
            <a:off x="7956283" y="548880"/>
            <a:ext cx="729530" cy="571151"/>
          </a:xfrm>
          <a:prstGeom prst="borderCallout2">
            <a:avLst>
              <a:gd name="adj1" fmla="val 50133"/>
              <a:gd name="adj2" fmla="val 322"/>
              <a:gd name="adj3" fmla="val 50778"/>
              <a:gd name="adj4" fmla="val -19824"/>
              <a:gd name="adj5" fmla="val 19887"/>
              <a:gd name="adj6" fmla="val -83429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r>
              <a:rPr lang="en-US" altLang="zh-CN" sz="1600" b="1" dirty="0" smtClean="0">
                <a:latin typeface="+mn-ea"/>
                <a:ea typeface="+mn-ea"/>
              </a:rPr>
              <a:t>CPU</a:t>
            </a:r>
            <a:r>
              <a:rPr lang="zh-CN" altLang="en-US" sz="1600" b="1" dirty="0" smtClean="0">
                <a:latin typeface="+mn-ea"/>
                <a:ea typeface="+mn-ea"/>
              </a:rPr>
              <a:t>干预</a:t>
            </a:r>
            <a:r>
              <a:rPr lang="zh-CN" altLang="en-US" sz="1600" b="1" dirty="0">
                <a:latin typeface="+mn-ea"/>
                <a:ea typeface="+mn-ea"/>
              </a:rPr>
              <a:t>一次</a:t>
            </a:r>
            <a:endParaRPr lang="zh-CN" altLang="en-US" sz="1600" b="1" dirty="0">
              <a:latin typeface="+mn-ea"/>
              <a:ea typeface="+mn-ea"/>
            </a:endParaRPr>
          </a:p>
        </p:txBody>
      </p:sp>
      <p:sp>
        <p:nvSpPr>
          <p:cNvPr id="233" name="Text Box 200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78775" y="5257960"/>
            <a:ext cx="6660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en-US" altLang="zh-CN" sz="1800" b="1" dirty="0">
                <a:latin typeface="宋体" panose="02010600030101010101" pitchFamily="2" charset="-122"/>
              </a:rPr>
              <a:t>DMA</a:t>
            </a:r>
            <a:r>
              <a:rPr lang="zh-CN" altLang="en-US" sz="1800" b="1" dirty="0">
                <a:latin typeface="宋体" panose="02010600030101010101" pitchFamily="2" charset="-122"/>
              </a:rPr>
              <a:t>接口与</a:t>
            </a:r>
            <a:r>
              <a:rPr lang="en-US" altLang="zh-CN" sz="1800" b="1" dirty="0">
                <a:latin typeface="宋体" panose="02010600030101010101" pitchFamily="2" charset="-122"/>
              </a:rPr>
              <a:t>CPU</a:t>
            </a:r>
            <a:r>
              <a:rPr lang="zh-CN" altLang="en-US" sz="1800" b="1" dirty="0">
                <a:latin typeface="宋体" panose="02010600030101010101" pitchFamily="2" charset="-122"/>
              </a:rPr>
              <a:t>共享</a:t>
            </a:r>
            <a:r>
              <a:rPr lang="zh-CN" altLang="en-US" sz="1800" b="1" dirty="0">
                <a:latin typeface="宋体" panose="02010600030101010101" pitchFamily="2" charset="-122"/>
              </a:rPr>
              <a:t>主存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并行工作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如何处理访存冲突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131" name="Text Box 200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222375" y="5615940"/>
            <a:ext cx="6840000" cy="612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宋体" panose="02010600030101010101" pitchFamily="2" charset="-122"/>
              </a:rPr>
              <a:t>⑴存储系统</a:t>
            </a:r>
            <a:r>
              <a:rPr lang="zh-CN" altLang="en-US" sz="1800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设置</a:t>
            </a:r>
            <a:r>
              <a:rPr lang="en-US" altLang="zh-CN" sz="1800" b="1" u="sng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Cache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硬件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以存储器为中心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执行程序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-I/O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并行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805180" indent="-80518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⑵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Cache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缺失时</a:t>
            </a:r>
            <a:r>
              <a:rPr lang="en-US" altLang="zh-CN" sz="18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sz="1800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等待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块设备传送时不能停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[</a:t>
            </a:r>
            <a:r>
              <a:rPr lang="zh-CN" altLang="en-US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如磁盘</a:t>
            </a:r>
            <a:r>
              <a:rPr lang="en-US" altLang="zh-CN" sz="1800" b="1" dirty="0" smtClean="0">
                <a:solidFill>
                  <a:schemeClr val="tx1"/>
                </a:solidFill>
                <a:latin typeface="宋体" panose="02010600030101010101" pitchFamily="2" charset="-122"/>
                <a:sym typeface="+mn-ea"/>
              </a:rPr>
              <a:t>])</a:t>
            </a:r>
            <a:endParaRPr lang="en-US" altLang="zh-CN" sz="1800" b="1" dirty="0" smtClean="0">
              <a:solidFill>
                <a:schemeClr val="tx1"/>
              </a:solidFill>
              <a:latin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 autoUpdateAnimBg="0"/>
      <p:bldP spid="37" grpId="0" bldLvl="0" animBg="1"/>
      <p:bldP spid="233" grpId="0" bldLvl="0" animBg="1"/>
      <p:bldP spid="131" grpId="0" bldLvl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3BFB63-B979-4FAE-8763-D7093A979077}" type="slidenum">
              <a:rPr lang="en-US" altLang="zh-CN" smtClean="0"/>
            </a:fld>
            <a:endParaRPr lang="en-US" altLang="zh-CN"/>
          </a:p>
        </p:txBody>
      </p:sp>
      <p:sp>
        <p:nvSpPr>
          <p:cNvPr id="80" name="Text Box 93"/>
          <p:cNvSpPr txBox="1">
            <a:spLocks noChangeArrowheads="1"/>
          </p:cNvSpPr>
          <p:nvPr/>
        </p:nvSpPr>
        <p:spPr bwMode="auto">
          <a:xfrm>
            <a:off x="179705" y="332740"/>
            <a:ext cx="2621280" cy="516953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基本思想：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*I/O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控制流程：</a:t>
            </a:r>
            <a:endParaRPr lang="zh-CN" altLang="en-US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*I/O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开销：</a:t>
            </a:r>
            <a:endParaRPr lang="zh-CN" altLang="en-US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130" name="AutoShape 45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3996630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Text 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21030" y="762000"/>
            <a:ext cx="8313420" cy="47466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CPU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发送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需求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字数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/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首址等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设备后，继续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程序；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DMA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接口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实现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数据传送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(1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批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  <a:sym typeface="+mn-ea"/>
              </a:rPr>
              <a:t>结束时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向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CPU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提出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请求；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CPU</a:t>
            </a:r>
            <a:r>
              <a:rPr lang="zh-CN" altLang="en-US" b="1" u="sng" dirty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请求，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结束事宜、</a:t>
            </a:r>
            <a:r>
              <a:rPr lang="zh-CN" altLang="en-US" b="1" u="sng" dirty="0" smtClean="0">
                <a:solidFill>
                  <a:srgbClr val="FF3399"/>
                </a:solidFill>
                <a:latin typeface="宋体" panose="02010600030101010101" pitchFamily="2" charset="-122"/>
                <a:sym typeface="+mn-ea"/>
              </a:rPr>
              <a:t>返回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现行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程序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 CPU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负责</a:t>
            </a:r>
            <a:r>
              <a:rPr lang="zh-CN" altLang="en-US" b="1" u="sng" spc="-100" dirty="0" smtClean="0">
                <a:latin typeface="宋体" panose="02010600030101010101" pitchFamily="2" charset="-122"/>
                <a:sym typeface="+mn-ea"/>
              </a:rPr>
              <a:t>传送准备</a:t>
            </a:r>
            <a:r>
              <a:rPr lang="en-US" altLang="zh-CN" b="1" u="sng" spc="-100" dirty="0" smtClean="0">
                <a:latin typeface="宋体" panose="02010600030101010101" pitchFamily="2" charset="-122"/>
                <a:sym typeface="+mn-ea"/>
              </a:rPr>
              <a:t>&amp;</a:t>
            </a:r>
            <a:r>
              <a:rPr lang="zh-CN" altLang="en-US" b="1" u="sng" spc="-100" dirty="0">
                <a:latin typeface="宋体" panose="02010600030101010101" pitchFamily="2" charset="-122"/>
                <a:sym typeface="+mn-ea"/>
              </a:rPr>
              <a:t>结束</a:t>
            </a:r>
            <a:r>
              <a:rPr lang="zh-CN" altLang="en-US" b="1" u="sng" spc="-100" dirty="0" smtClean="0">
                <a:latin typeface="宋体" panose="02010600030101010101" pitchFamily="2" charset="-122"/>
                <a:sym typeface="+mn-ea"/>
              </a:rPr>
              <a:t>处理</a:t>
            </a:r>
            <a:r>
              <a:rPr lang="zh-CN" altLang="en-US" b="1" spc="-100" dirty="0" smtClean="0"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b="1" spc="-100" dirty="0" smtClean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b="1" spc="-100" dirty="0" smtClean="0">
                <a:latin typeface="宋体" panose="02010600030101010101" pitchFamily="2" charset="-122"/>
                <a:sym typeface="+mn-ea"/>
              </a:rPr>
              <a:t>接口负责</a:t>
            </a:r>
            <a:r>
              <a:rPr lang="zh-CN" altLang="en-US" b="1" u="sng" spc="-100" dirty="0" smtClean="0">
                <a:latin typeface="宋体" panose="02010600030101010101" pitchFamily="2" charset="-122"/>
                <a:sym typeface="+mn-ea"/>
              </a:rPr>
              <a:t>数据传送</a:t>
            </a:r>
            <a:endParaRPr lang="zh-CN" altLang="en-US" b="1" dirty="0"/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zh-CN" altLang="en-US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</a:pPr>
            <a:r>
              <a:rPr lang="en-US" altLang="zh-CN" b="1" dirty="0">
                <a:latin typeface="宋体" panose="02010600030101010101" pitchFamily="2" charset="-122"/>
                <a:sym typeface="+mn-ea"/>
              </a:rPr>
              <a:t>        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传送准备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响应中断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+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执行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中断程序的时间</a:t>
            </a:r>
            <a:endParaRPr lang="zh-CN" altLang="en-US" sz="1800" b="1" spc="-100" dirty="0" smtClean="0">
              <a:latin typeface="宋体" panose="02010600030101010101" pitchFamily="2" charset="-122"/>
              <a:sym typeface="+mn-ea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1692000" y="3097715"/>
            <a:ext cx="5471795" cy="1763395"/>
            <a:chOff x="2948" y="5726"/>
            <a:chExt cx="8617" cy="2777"/>
          </a:xfrm>
        </p:grpSpPr>
        <p:sp>
          <p:nvSpPr>
            <p:cNvPr id="64" name="Text Box 12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3629" y="6010"/>
              <a:ext cx="1361" cy="794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p>
              <a:pPr marL="0" indent="0" algn="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当前程序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  <a:p>
              <a:pPr marL="0" indent="0" algn="r" eaLnBrk="1" latinLnBrk="0" hangingPunct="1">
                <a:lnSpc>
                  <a:spcPct val="90000"/>
                </a:lnSpc>
                <a:spcBef>
                  <a:spcPts val="600"/>
                </a:spcBef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程序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5" name="Text Box 19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2948" y="6293"/>
              <a:ext cx="56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r>
                <a:rPr lang="en-US" altLang="zh-CN" sz="1600" b="1" dirty="0">
                  <a:latin typeface="宋体" panose="02010600030101010101" pitchFamily="2" charset="-122"/>
                </a:rPr>
                <a:t>CPU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6" name="Rectangle 6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989" y="6067"/>
              <a:ext cx="2268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7" name="Rectangle 66"/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56" y="6067"/>
              <a:ext cx="113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8" name="Text Box 85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2948" y="7654"/>
              <a:ext cx="2154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l"/>
              <a:r>
                <a:rPr lang="en-US" altLang="zh-CN" sz="1600" b="1" dirty="0" smtClean="0">
                  <a:latin typeface="宋体" panose="02010600030101010101" pitchFamily="2" charset="-122"/>
                  <a:sym typeface="+mn-ea"/>
                </a:rPr>
                <a:t>DMA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接口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  <a:sym typeface="+mn-ea"/>
                </a:rPr>
                <a:t>外设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" name="Text Box 91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4876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sz="1600" b="1" dirty="0" smtClean="0">
                  <a:latin typeface="宋体" panose="02010600030101010101" pitchFamily="2" charset="-122"/>
                </a:rPr>
                <a:t>发送需求</a:t>
              </a:r>
              <a:endParaRPr 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1" name="Text Box 9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184" y="6350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36195" bIns="0"/>
            <a:p>
              <a:pPr marL="0" indent="0" algn="l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70" name="左大括号 69"/>
            <p:cNvSpPr/>
            <p:nvPr>
              <p:custDataLst>
                <p:tags r:id="rId9"/>
              </p:custDataLst>
            </p:nvPr>
          </p:nvSpPr>
          <p:spPr bwMode="auto">
            <a:xfrm>
              <a:off x="3515" y="6179"/>
              <a:ext cx="113" cy="510"/>
            </a:xfrm>
            <a:prstGeom prst="leftBrace">
              <a:avLst>
                <a:gd name="adj1" fmla="val 23172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" name="Text Box 91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8107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设备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72" name="直接连接符 71"/>
            <p:cNvCxnSpPr/>
            <p:nvPr>
              <p:custDataLst>
                <p:tags r:id="rId11"/>
              </p:custDataLst>
            </p:nvPr>
          </p:nvCxnSpPr>
          <p:spPr bwMode="auto">
            <a:xfrm>
              <a:off x="5613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" name="直接连接符 73"/>
            <p:cNvCxnSpPr/>
            <p:nvPr>
              <p:custDataLst>
                <p:tags r:id="rId12"/>
              </p:custDataLst>
            </p:nvPr>
          </p:nvCxnSpPr>
          <p:spPr bwMode="auto">
            <a:xfrm>
              <a:off x="8107" y="6748"/>
              <a:ext cx="0" cy="96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5" name="直接连接符 74"/>
            <p:cNvCxnSpPr/>
            <p:nvPr>
              <p:custDataLst>
                <p:tags r:id="rId13"/>
              </p:custDataLst>
            </p:nvPr>
          </p:nvCxnSpPr>
          <p:spPr bwMode="auto">
            <a:xfrm flipV="1">
              <a:off x="7200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6" name="直接连接符 75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9581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" name="Rectangle 67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788" y="6067"/>
              <a:ext cx="850" cy="2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7" name="Text Box 88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257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发送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需求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81" name="Text Box 100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7314" y="5726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p>
              <a:pPr algn="l"/>
              <a:r>
                <a:rPr lang="zh-CN" altLang="en-US" sz="1600" b="1">
                  <a:latin typeface="宋体" panose="02010600030101010101" pitchFamily="2" charset="-122"/>
                </a:rPr>
                <a:t>响应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8" name="Text Box 101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334" y="5727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19"/>
              </p:custDataLst>
            </p:nvPr>
          </p:nvCxnSpPr>
          <p:spPr bwMode="auto">
            <a:xfrm>
              <a:off x="7995" y="6746"/>
              <a:ext cx="0" cy="96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0" name="Rectangle 65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7597" y="6520"/>
              <a:ext cx="907" cy="2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1" name="Rectangle 69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7937" y="6520"/>
              <a:ext cx="113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2" name="Rectangle 6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050" y="6520"/>
              <a:ext cx="113" cy="2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13" name="直接连接符 12"/>
            <p:cNvCxnSpPr/>
            <p:nvPr>
              <p:custDataLst>
                <p:tags r:id="rId23"/>
              </p:custDataLst>
            </p:nvPr>
          </p:nvCxnSpPr>
          <p:spPr bwMode="auto">
            <a:xfrm>
              <a:off x="7597" y="6631"/>
              <a:ext cx="907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" name="直接连接符 13"/>
            <p:cNvCxnSpPr>
              <a:endCxn id="78" idx="1"/>
            </p:cNvCxnSpPr>
            <p:nvPr>
              <p:custDataLst>
                <p:tags r:id="rId24"/>
              </p:custDataLst>
            </p:nvPr>
          </p:nvCxnSpPr>
          <p:spPr bwMode="auto">
            <a:xfrm flipV="1">
              <a:off x="8505" y="6180"/>
              <a:ext cx="283" cy="45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" name="直接连接符 14"/>
            <p:cNvCxnSpPr/>
            <p:nvPr>
              <p:custDataLst>
                <p:tags r:id="rId25"/>
              </p:custDataLst>
            </p:nvPr>
          </p:nvCxnSpPr>
          <p:spPr bwMode="auto">
            <a:xfrm>
              <a:off x="7257" y="6195"/>
              <a:ext cx="340" cy="45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6" name="直接连接符 15"/>
            <p:cNvCxnSpPr/>
            <p:nvPr>
              <p:custDataLst>
                <p:tags r:id="rId26"/>
              </p:custDataLst>
            </p:nvPr>
          </p:nvCxnSpPr>
          <p:spPr bwMode="auto">
            <a:xfrm>
              <a:off x="8788" y="6180"/>
              <a:ext cx="850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" name="Text Box 96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6804" y="6350"/>
              <a:ext cx="397" cy="136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7780" rIns="36195" bIns="0"/>
            <a:p>
              <a:pPr marL="0" indent="0" algn="l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中断请求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" name="Rectangle 67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10999" y="6067"/>
              <a:ext cx="567" cy="225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19" name="Text Box 100"/>
            <p:cNvSpPr txBox="1"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9695" y="5726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p>
              <a:pPr algn="l"/>
              <a:r>
                <a:rPr lang="zh-CN" altLang="en-US" sz="1600" b="1">
                  <a:latin typeface="宋体" panose="02010600030101010101" pitchFamily="2" charset="-122"/>
                </a:rPr>
                <a:t>响应</a:t>
              </a:r>
              <a:endParaRPr lang="zh-CN" altLang="en-US" sz="1600" b="1">
                <a:latin typeface="宋体" panose="02010600030101010101" pitchFamily="2" charset="-122"/>
              </a:endParaRPr>
            </a:p>
          </p:txBody>
        </p:sp>
        <p:sp>
          <p:nvSpPr>
            <p:cNvPr id="20" name="Text Box 101"/>
            <p:cNvSpPr txBox="1"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10545" y="5727"/>
              <a:ext cx="340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eaVert" lIns="18000" tIns="10800" rIns="18000" bIns="10800" anchor="ctr" anchorCtr="0"/>
            <a:p>
              <a:pPr algn="l"/>
              <a:r>
                <a:rPr lang="zh-CN" altLang="en-US" sz="1600" b="1" dirty="0">
                  <a:latin typeface="宋体" panose="02010600030101010101" pitchFamily="2" charset="-122"/>
                </a:rPr>
                <a:t>返回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21" name="Rectangle 65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9978" y="6520"/>
              <a:ext cx="680" cy="2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22" name="直接连接符 21"/>
            <p:cNvCxnSpPr/>
            <p:nvPr>
              <p:custDataLst>
                <p:tags r:id="rId32"/>
              </p:custDataLst>
            </p:nvPr>
          </p:nvCxnSpPr>
          <p:spPr bwMode="auto">
            <a:xfrm>
              <a:off x="9978" y="6631"/>
              <a:ext cx="680" cy="0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直接连接符 22"/>
            <p:cNvCxnSpPr/>
            <p:nvPr>
              <p:custDataLst>
                <p:tags r:id="rId33"/>
              </p:custDataLst>
            </p:nvPr>
          </p:nvCxnSpPr>
          <p:spPr bwMode="auto">
            <a:xfrm flipV="1">
              <a:off x="10659" y="6180"/>
              <a:ext cx="340" cy="454"/>
            </a:xfrm>
            <a:prstGeom prst="line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直接连接符 23"/>
            <p:cNvCxnSpPr/>
            <p:nvPr>
              <p:custDataLst>
                <p:tags r:id="rId34"/>
              </p:custDataLst>
            </p:nvPr>
          </p:nvCxnSpPr>
          <p:spPr bwMode="auto">
            <a:xfrm>
              <a:off x="9638" y="6195"/>
              <a:ext cx="340" cy="454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直接连接符 24"/>
            <p:cNvCxnSpPr/>
            <p:nvPr>
              <p:custDataLst>
                <p:tags r:id="rId35"/>
              </p:custDataLst>
            </p:nvPr>
          </p:nvCxnSpPr>
          <p:spPr bwMode="auto">
            <a:xfrm>
              <a:off x="10999" y="6180"/>
              <a:ext cx="567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" name="Rectangle 66"/>
            <p:cNvSpPr>
              <a:spLocks noChangeArrowheads="1"/>
            </p:cNvSpPr>
            <p:nvPr>
              <p:custDataLst>
                <p:tags r:id="rId36"/>
              </p:custDataLst>
            </p:nvPr>
          </p:nvSpPr>
          <p:spPr bwMode="auto">
            <a:xfrm>
              <a:off x="5669" y="6066"/>
              <a:ext cx="113" cy="22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27" name="直接连接符 26"/>
            <p:cNvCxnSpPr/>
            <p:nvPr>
              <p:custDataLst>
                <p:tags r:id="rId37"/>
              </p:custDataLst>
            </p:nvPr>
          </p:nvCxnSpPr>
          <p:spPr bwMode="auto">
            <a:xfrm>
              <a:off x="5726" y="6293"/>
              <a:ext cx="0" cy="141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直接连接符 27"/>
            <p:cNvCxnSpPr/>
            <p:nvPr>
              <p:custDataLst>
                <p:tags r:id="rId38"/>
              </p:custDataLst>
            </p:nvPr>
          </p:nvCxnSpPr>
          <p:spPr bwMode="auto">
            <a:xfrm>
              <a:off x="4989" y="6180"/>
              <a:ext cx="2268" cy="0"/>
            </a:xfrm>
            <a:prstGeom prst="line">
              <a:avLst/>
            </a:prstGeom>
            <a:noFill/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9" name="Text Box 91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5726" y="6860"/>
              <a:ext cx="737" cy="68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7780" rIns="18000" bIns="0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启动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设备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30" name="Text Box 85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2948" y="8107"/>
              <a:ext cx="737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 anchorCtr="0"/>
            <a:p>
              <a:pPr algn="l"/>
              <a:r>
                <a:rPr lang="zh-CN" sz="1600" b="1" dirty="0" smtClean="0">
                  <a:latin typeface="宋体" panose="02010600030101010101" pitchFamily="2" charset="-122"/>
                  <a:sym typeface="+mn-ea"/>
                </a:rPr>
                <a:t>主存</a:t>
              </a:r>
              <a:endParaRPr 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31" name="Rectangle 64"/>
            <p:cNvSpPr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4989" y="8277"/>
              <a:ext cx="5669" cy="22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2" name="Rectangle 86"/>
            <p:cNvSpPr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5783" y="7712"/>
              <a:ext cx="1361" cy="1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3" name="直接连接符 32"/>
            <p:cNvCxnSpPr/>
            <p:nvPr>
              <p:custDataLst>
                <p:tags r:id="rId43"/>
              </p:custDataLst>
            </p:nvPr>
          </p:nvCxnSpPr>
          <p:spPr bwMode="auto">
            <a:xfrm>
              <a:off x="5783" y="7795"/>
              <a:ext cx="136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34" name="Rectangle 69"/>
            <p:cNvSpPr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5556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5" name="Rectangle 69"/>
            <p:cNvSpPr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7144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36" name="Rectangle 69"/>
            <p:cNvSpPr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5669" y="7710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7" name="直接连接符 36"/>
            <p:cNvCxnSpPr/>
            <p:nvPr>
              <p:custDataLst>
                <p:tags r:id="rId47"/>
              </p:custDataLst>
            </p:nvPr>
          </p:nvCxnSpPr>
          <p:spPr bwMode="auto">
            <a:xfrm>
              <a:off x="6066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8" name="Rectangle 69"/>
            <p:cNvSpPr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783" y="7880"/>
              <a:ext cx="1361" cy="11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39" name="直接连接符 38"/>
            <p:cNvCxnSpPr/>
            <p:nvPr>
              <p:custDataLst>
                <p:tags r:id="rId49"/>
              </p:custDataLst>
            </p:nvPr>
          </p:nvCxnSpPr>
          <p:spPr bwMode="auto">
            <a:xfrm>
              <a:off x="6293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直接连接符 39"/>
            <p:cNvCxnSpPr/>
            <p:nvPr>
              <p:custDataLst>
                <p:tags r:id="rId50"/>
              </p:custDataLst>
            </p:nvPr>
          </p:nvCxnSpPr>
          <p:spPr bwMode="auto">
            <a:xfrm>
              <a:off x="7087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1" name="Text Box 85"/>
            <p:cNvSpPr txBox="1">
              <a:spLocks noChangeArrowheads="1"/>
            </p:cNvSpPr>
            <p:nvPr>
              <p:custDataLst>
                <p:tags r:id="rId51"/>
              </p:custDataLst>
            </p:nvPr>
          </p:nvSpPr>
          <p:spPr bwMode="auto">
            <a:xfrm>
              <a:off x="6520" y="7994"/>
              <a:ext cx="39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42" name="Rectangle 86"/>
            <p:cNvSpPr>
              <a:spLocks noChangeArrowheads="1"/>
            </p:cNvSpPr>
            <p:nvPr>
              <p:custDataLst>
                <p:tags r:id="rId52"/>
              </p:custDataLst>
            </p:nvPr>
          </p:nvSpPr>
          <p:spPr bwMode="auto">
            <a:xfrm>
              <a:off x="8164" y="7712"/>
              <a:ext cx="1361" cy="17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43" name="直接连接符 42"/>
            <p:cNvCxnSpPr/>
            <p:nvPr>
              <p:custDataLst>
                <p:tags r:id="rId53"/>
              </p:custDataLst>
            </p:nvPr>
          </p:nvCxnSpPr>
          <p:spPr bwMode="auto">
            <a:xfrm>
              <a:off x="8164" y="7795"/>
              <a:ext cx="1361" cy="0"/>
            </a:xfrm>
            <a:prstGeom prst="line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sm" len="sm"/>
            </a:ln>
          </p:spPr>
        </p:cxnSp>
        <p:sp>
          <p:nvSpPr>
            <p:cNvPr id="44" name="Rectangle 69"/>
            <p:cNvSpPr>
              <a:spLocks noChangeArrowheads="1"/>
            </p:cNvSpPr>
            <p:nvPr>
              <p:custDataLst>
                <p:tags r:id="rId54"/>
              </p:custDataLst>
            </p:nvPr>
          </p:nvSpPr>
          <p:spPr bwMode="auto">
            <a:xfrm>
              <a:off x="7937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5" name="Rectangle 69"/>
            <p:cNvSpPr>
              <a:spLocks noChangeArrowheads="1"/>
            </p:cNvSpPr>
            <p:nvPr>
              <p:custDataLst>
                <p:tags r:id="rId55"/>
              </p:custDataLst>
            </p:nvPr>
          </p:nvSpPr>
          <p:spPr bwMode="auto">
            <a:xfrm>
              <a:off x="9525" y="7711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46" name="Rectangle 69"/>
            <p:cNvSpPr>
              <a:spLocks noChangeArrowheads="1"/>
            </p:cNvSpPr>
            <p:nvPr>
              <p:custDataLst>
                <p:tags r:id="rId56"/>
              </p:custDataLst>
            </p:nvPr>
          </p:nvSpPr>
          <p:spPr bwMode="auto">
            <a:xfrm>
              <a:off x="8050" y="7710"/>
              <a:ext cx="113" cy="28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47" name="直接连接符 46"/>
            <p:cNvCxnSpPr/>
            <p:nvPr>
              <p:custDataLst>
                <p:tags r:id="rId57"/>
              </p:custDataLst>
            </p:nvPr>
          </p:nvCxnSpPr>
          <p:spPr bwMode="auto">
            <a:xfrm>
              <a:off x="8447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8" name="Rectangle 69"/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8164" y="7880"/>
              <a:ext cx="1361" cy="113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49" name="直接连接符 48"/>
            <p:cNvCxnSpPr/>
            <p:nvPr>
              <p:custDataLst>
                <p:tags r:id="rId59"/>
              </p:custDataLst>
            </p:nvPr>
          </p:nvCxnSpPr>
          <p:spPr bwMode="auto">
            <a:xfrm>
              <a:off x="8674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" name="直接连接符 49"/>
            <p:cNvCxnSpPr/>
            <p:nvPr>
              <p:custDataLst>
                <p:tags r:id="rId60"/>
              </p:custDataLst>
            </p:nvPr>
          </p:nvCxnSpPr>
          <p:spPr bwMode="auto">
            <a:xfrm>
              <a:off x="9468" y="7994"/>
              <a:ext cx="0" cy="283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" name="Text Box 85"/>
            <p:cNvSpPr txBox="1">
              <a:spLocks noChangeArrowheads="1"/>
            </p:cNvSpPr>
            <p:nvPr>
              <p:custDataLst>
                <p:tags r:id="rId61"/>
              </p:custDataLst>
            </p:nvPr>
          </p:nvSpPr>
          <p:spPr bwMode="auto">
            <a:xfrm>
              <a:off x="8901" y="7994"/>
              <a:ext cx="39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 anchorCtr="0"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smtClean="0">
                  <a:solidFill>
                    <a:schemeClr val="accent2"/>
                  </a:solidFill>
                  <a:latin typeface="宋体" panose="02010600030101010101" pitchFamily="2" charset="-122"/>
                </a:rPr>
                <a:t>…</a:t>
              </a:r>
              <a:endParaRPr lang="en-US" altLang="zh-CN" sz="1600" b="1" dirty="0" smtClean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</p:grpSp>
      <p:sp>
        <p:nvSpPr>
          <p:cNvPr id="233" name="Text Box 200"/>
          <p:cNvSpPr txBox="1">
            <a:spLocks noChangeArrowheads="1"/>
          </p:cNvSpPr>
          <p:nvPr>
            <p:custDataLst>
              <p:tags r:id="rId62"/>
            </p:custDataLst>
          </p:nvPr>
        </p:nvSpPr>
        <p:spPr bwMode="auto">
          <a:xfrm>
            <a:off x="720090" y="5508490"/>
            <a:ext cx="734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引子：</a:t>
            </a:r>
            <a:r>
              <a:rPr lang="en-US" altLang="zh-CN" sz="1800" b="1" dirty="0" smtClean="0">
                <a:solidFill>
                  <a:schemeClr val="tx1"/>
                </a:solidFill>
                <a:latin typeface="+mn-ea"/>
                <a:ea typeface="+mn-ea"/>
              </a:rPr>
              <a:t>I/O</a:t>
            </a:r>
            <a:r>
              <a:rPr lang="zh-CN" altLang="en-US" sz="1800" b="1" dirty="0" smtClean="0">
                <a:solidFill>
                  <a:schemeClr val="tx1"/>
                </a:solidFill>
                <a:latin typeface="+mn-ea"/>
                <a:ea typeface="+mn-ea"/>
              </a:rPr>
              <a:t>开销还应包括</a:t>
            </a:r>
            <a:r>
              <a:rPr lang="zh-CN" sz="1800" b="1" dirty="0">
                <a:latin typeface="宋体" panose="02010600030101010101" pitchFamily="2" charset="-122"/>
              </a:rPr>
              <a:t>因</a:t>
            </a:r>
            <a:r>
              <a:rPr lang="zh-CN" sz="1800" b="1" u="sng" dirty="0">
                <a:latin typeface="宋体" panose="02010600030101010101" pitchFamily="2" charset="-122"/>
              </a:rPr>
              <a:t>让出总线</a:t>
            </a:r>
            <a:r>
              <a:rPr lang="zh-CN" sz="1800" b="1" dirty="0">
                <a:latin typeface="宋体" panose="02010600030101010101" pitchFamily="2" charset="-122"/>
              </a:rPr>
              <a:t>而暂停执行程序的时间</a:t>
            </a:r>
            <a:r>
              <a:rPr lang="zh-CN" altLang="en-US" sz="1800" b="1" dirty="0">
                <a:latin typeface="宋体" panose="02010600030101010101" pitchFamily="2" charset="-122"/>
              </a:rPr>
              <a:t>，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如何减少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bldLvl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06" name="Text Box 90"/>
          <p:cNvSpPr txBox="1">
            <a:spLocks noChangeArrowheads="1"/>
          </p:cNvSpPr>
          <p:nvPr/>
        </p:nvSpPr>
        <p:spPr bwMode="auto">
          <a:xfrm>
            <a:off x="179389" y="1414413"/>
            <a:ext cx="7848996" cy="424731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停止访问方式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接口在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首个数据</a:t>
            </a:r>
            <a:r>
              <a:rPr lang="zh-CN" altLang="en-US" b="1" dirty="0" smtClean="0">
                <a:latin typeface="宋体" panose="02010600030101010101" pitchFamily="2" charset="-122"/>
              </a:rPr>
              <a:t>准备传送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申请</a:t>
            </a:r>
            <a:r>
              <a:rPr lang="zh-CN" altLang="en-US" b="1" dirty="0" smtClean="0">
                <a:latin typeface="宋体" panose="02010600030101010101" pitchFamily="2" charset="-122"/>
              </a:rPr>
              <a:t>总线使用权；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在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所有数据</a:t>
            </a:r>
            <a:r>
              <a:rPr lang="zh-CN" altLang="en-US" b="1" dirty="0" smtClean="0">
                <a:latin typeface="宋体" panose="02010600030101010101" pitchFamily="2" charset="-122"/>
              </a:rPr>
              <a:t>传送结束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放弃</a:t>
            </a:r>
            <a:r>
              <a:rPr lang="zh-CN" altLang="en-US" b="1" dirty="0">
                <a:latin typeface="宋体" panose="02010600030101010101" pitchFamily="2" charset="-122"/>
              </a:rPr>
              <a:t>总线</a:t>
            </a:r>
            <a:r>
              <a:rPr lang="zh-CN" altLang="en-US" b="1" dirty="0" smtClean="0">
                <a:latin typeface="宋体" panose="02010600030101010101" pitchFamily="2" charset="-122"/>
              </a:rPr>
              <a:t>使用权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663E0-FF53-45A9-B537-4D62C63281A9}" type="slidenum">
              <a:rPr lang="en-US" altLang="zh-CN"/>
            </a:fld>
            <a:endParaRPr lang="en-US" altLang="zh-CN"/>
          </a:p>
        </p:txBody>
      </p:sp>
      <p:sp>
        <p:nvSpPr>
          <p:cNvPr id="188505" name="Text Box 89"/>
          <p:cNvSpPr txBox="1">
            <a:spLocks noChangeArrowheads="1"/>
          </p:cNvSpPr>
          <p:nvPr/>
        </p:nvSpPr>
        <p:spPr bwMode="auto">
          <a:xfrm>
            <a:off x="179388" y="900000"/>
            <a:ext cx="878522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指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latin typeface="宋体" panose="02010600030101010101" pitchFamily="2" charset="-122"/>
              </a:rPr>
              <a:t>接口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获得</a:t>
            </a:r>
            <a:r>
              <a:rPr lang="zh-CN" altLang="en-US" b="1" dirty="0">
                <a:latin typeface="宋体" panose="02010600030101010101" pitchFamily="2" charset="-122"/>
              </a:rPr>
              <a:t>总线使用权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方法</a:t>
            </a:r>
            <a:r>
              <a:rPr lang="zh-CN" altLang="en-US" b="1" dirty="0" smtClean="0">
                <a:latin typeface="宋体" panose="02010600030101010101" pitchFamily="2" charset="-122"/>
              </a:rPr>
              <a:t>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从设备→主设备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188587" name="Text Box 171"/>
          <p:cNvSpPr txBox="1">
            <a:spLocks noChangeArrowheads="1"/>
          </p:cNvSpPr>
          <p:nvPr/>
        </p:nvSpPr>
        <p:spPr bwMode="auto">
          <a:xfrm>
            <a:off x="179388" y="42038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一、</a:t>
            </a:r>
            <a:r>
              <a:rPr lang="en-US" altLang="zh-CN" dirty="0"/>
              <a:t>DMA</a:t>
            </a:r>
            <a:r>
              <a:rPr lang="zh-CN" altLang="en-US" dirty="0"/>
              <a:t>的传送方式</a:t>
            </a:r>
            <a:endParaRPr lang="zh-CN" altLang="en-US" dirty="0"/>
          </a:p>
        </p:txBody>
      </p:sp>
      <p:sp>
        <p:nvSpPr>
          <p:cNvPr id="188722" name="AutoShape 30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7824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826666" y="2853630"/>
            <a:ext cx="7344942" cy="2014252"/>
            <a:chOff x="826666" y="2853630"/>
            <a:chExt cx="7344942" cy="2014252"/>
          </a:xfrm>
        </p:grpSpPr>
        <p:sp>
          <p:nvSpPr>
            <p:cNvPr id="188603" name="AutoShape 187"/>
            <p:cNvSpPr>
              <a:spLocks noChangeArrowheads="1"/>
            </p:cNvSpPr>
            <p:nvPr/>
          </p:nvSpPr>
          <p:spPr bwMode="auto">
            <a:xfrm>
              <a:off x="2915816" y="2996219"/>
              <a:ext cx="719560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88605" name="Line 189"/>
            <p:cNvSpPr>
              <a:spLocks noChangeShapeType="1"/>
            </p:cNvSpPr>
            <p:nvPr/>
          </p:nvSpPr>
          <p:spPr bwMode="auto">
            <a:xfrm>
              <a:off x="3203575" y="3428019"/>
              <a:ext cx="0" cy="866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17" name="Line 201"/>
            <p:cNvSpPr>
              <a:spLocks noChangeShapeType="1"/>
            </p:cNvSpPr>
            <p:nvPr/>
          </p:nvSpPr>
          <p:spPr bwMode="auto">
            <a:xfrm flipH="1">
              <a:off x="3635375" y="2924781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20" name="AutoShape 204"/>
            <p:cNvSpPr/>
            <p:nvPr/>
          </p:nvSpPr>
          <p:spPr bwMode="auto">
            <a:xfrm>
              <a:off x="1690266" y="3069244"/>
              <a:ext cx="73025" cy="431800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624" name="Text Box 208"/>
            <p:cNvSpPr txBox="1">
              <a:spLocks noChangeArrowheads="1"/>
            </p:cNvSpPr>
            <p:nvPr/>
          </p:nvSpPr>
          <p:spPr bwMode="auto">
            <a:xfrm>
              <a:off x="1474366" y="4509106"/>
              <a:ext cx="1296988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总线使用权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8641" name="Rectangle 225"/>
            <p:cNvSpPr>
              <a:spLocks noChangeArrowheads="1"/>
            </p:cNvSpPr>
            <p:nvPr/>
          </p:nvSpPr>
          <p:spPr bwMode="auto">
            <a:xfrm>
              <a:off x="7668220" y="4580544"/>
              <a:ext cx="503387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8642" name="AutoShape 226"/>
            <p:cNvSpPr>
              <a:spLocks noChangeArrowheads="1"/>
            </p:cNvSpPr>
            <p:nvPr/>
          </p:nvSpPr>
          <p:spPr bwMode="auto">
            <a:xfrm rot="16200000">
              <a:off x="7452320" y="4651981"/>
              <a:ext cx="287338" cy="144463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651" name="Line 235"/>
            <p:cNvSpPr>
              <a:spLocks noChangeShapeType="1"/>
            </p:cNvSpPr>
            <p:nvPr/>
          </p:nvSpPr>
          <p:spPr bwMode="auto">
            <a:xfrm flipH="1" flipV="1">
              <a:off x="7452320" y="3788381"/>
              <a:ext cx="73025" cy="2174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66" name="Text Box 250"/>
            <p:cNvSpPr txBox="1">
              <a:spLocks noChangeArrowheads="1"/>
            </p:cNvSpPr>
            <p:nvPr/>
          </p:nvSpPr>
          <p:spPr bwMode="auto">
            <a:xfrm>
              <a:off x="1187029" y="3140681"/>
              <a:ext cx="4318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188667" name="Text Box 251"/>
            <p:cNvSpPr txBox="1">
              <a:spLocks noChangeArrowheads="1"/>
            </p:cNvSpPr>
            <p:nvPr/>
          </p:nvSpPr>
          <p:spPr bwMode="auto">
            <a:xfrm>
              <a:off x="1763688" y="2996219"/>
              <a:ext cx="1079500" cy="6477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工作状态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45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应答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HLDA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88668" name="Text Box 252"/>
            <p:cNvSpPr txBox="1">
              <a:spLocks noChangeArrowheads="1"/>
            </p:cNvSpPr>
            <p:nvPr/>
          </p:nvSpPr>
          <p:spPr bwMode="auto">
            <a:xfrm>
              <a:off x="1763291" y="3717032"/>
              <a:ext cx="1079500" cy="7191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l">
                <a:lnSpc>
                  <a:spcPct val="110000"/>
                </a:lnSpc>
              </a:pPr>
              <a:r>
                <a:rPr lang="zh-CN" altLang="en-US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请求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HRQ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14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工作状态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88669" name="Text Box 253"/>
            <p:cNvSpPr txBox="1">
              <a:spLocks noChangeArrowheads="1"/>
            </p:cNvSpPr>
            <p:nvPr/>
          </p:nvSpPr>
          <p:spPr bwMode="auto">
            <a:xfrm>
              <a:off x="826666" y="3932844"/>
              <a:ext cx="8636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>
                  <a:latin typeface="宋体" panose="02010600030101010101" pitchFamily="2" charset="-122"/>
                </a:rPr>
                <a:t>DMA</a:t>
              </a: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188670" name="AutoShape 254"/>
            <p:cNvSpPr/>
            <p:nvPr/>
          </p:nvSpPr>
          <p:spPr bwMode="auto">
            <a:xfrm>
              <a:off x="1691854" y="3861406"/>
              <a:ext cx="73025" cy="431800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672" name="Line 256"/>
            <p:cNvSpPr>
              <a:spLocks noChangeShapeType="1"/>
            </p:cNvSpPr>
            <p:nvPr/>
          </p:nvSpPr>
          <p:spPr bwMode="auto">
            <a:xfrm flipV="1">
              <a:off x="3562871" y="3428019"/>
              <a:ext cx="73025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73" name="AutoShape 257"/>
            <p:cNvSpPr>
              <a:spLocks noChangeArrowheads="1"/>
            </p:cNvSpPr>
            <p:nvPr/>
          </p:nvSpPr>
          <p:spPr bwMode="auto">
            <a:xfrm>
              <a:off x="3635375" y="4148744"/>
              <a:ext cx="720601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88675" name="Line 259"/>
            <p:cNvSpPr>
              <a:spLocks noChangeShapeType="1"/>
            </p:cNvSpPr>
            <p:nvPr/>
          </p:nvSpPr>
          <p:spPr bwMode="auto">
            <a:xfrm>
              <a:off x="2771775" y="3139887"/>
              <a:ext cx="144041" cy="7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76" name="Line 260"/>
            <p:cNvSpPr>
              <a:spLocks noChangeShapeType="1"/>
            </p:cNvSpPr>
            <p:nvPr/>
          </p:nvSpPr>
          <p:spPr bwMode="auto">
            <a:xfrm>
              <a:off x="2771775" y="3643919"/>
              <a:ext cx="791096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79" name="Line 263"/>
            <p:cNvSpPr>
              <a:spLocks noChangeShapeType="1"/>
            </p:cNvSpPr>
            <p:nvPr/>
          </p:nvSpPr>
          <p:spPr bwMode="auto">
            <a:xfrm>
              <a:off x="3635896" y="3428019"/>
              <a:ext cx="388786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1" name="Line 265"/>
            <p:cNvSpPr>
              <a:spLocks noChangeShapeType="1"/>
            </p:cNvSpPr>
            <p:nvPr/>
          </p:nvSpPr>
          <p:spPr bwMode="auto">
            <a:xfrm flipV="1">
              <a:off x="3203575" y="3788381"/>
              <a:ext cx="73025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2" name="Line 266"/>
            <p:cNvSpPr>
              <a:spLocks noChangeShapeType="1"/>
            </p:cNvSpPr>
            <p:nvPr/>
          </p:nvSpPr>
          <p:spPr bwMode="auto">
            <a:xfrm>
              <a:off x="2771775" y="4004281"/>
              <a:ext cx="4318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4" name="Line 268"/>
            <p:cNvSpPr>
              <a:spLocks noChangeShapeType="1"/>
            </p:cNvSpPr>
            <p:nvPr/>
          </p:nvSpPr>
          <p:spPr bwMode="auto">
            <a:xfrm>
              <a:off x="3276600" y="3788381"/>
              <a:ext cx="417572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5" name="AutoShape 269"/>
            <p:cNvSpPr>
              <a:spLocks noChangeArrowheads="1"/>
            </p:cNvSpPr>
            <p:nvPr/>
          </p:nvSpPr>
          <p:spPr bwMode="auto">
            <a:xfrm>
              <a:off x="2915816" y="4578956"/>
              <a:ext cx="719560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8687" name="Line 271"/>
            <p:cNvSpPr>
              <a:spLocks noChangeShapeType="1"/>
            </p:cNvSpPr>
            <p:nvPr/>
          </p:nvSpPr>
          <p:spPr bwMode="auto">
            <a:xfrm>
              <a:off x="2771775" y="4724213"/>
              <a:ext cx="144041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8" name="Line 272"/>
            <p:cNvSpPr>
              <a:spLocks noChangeShapeType="1"/>
            </p:cNvSpPr>
            <p:nvPr/>
          </p:nvSpPr>
          <p:spPr bwMode="auto">
            <a:xfrm>
              <a:off x="2771775" y="4293206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89" name="Line 273"/>
            <p:cNvSpPr>
              <a:spLocks noChangeShapeType="1"/>
            </p:cNvSpPr>
            <p:nvPr/>
          </p:nvSpPr>
          <p:spPr bwMode="auto">
            <a:xfrm flipH="1">
              <a:off x="2914229" y="2924781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93" name="Text Box 277"/>
            <p:cNvSpPr txBox="1">
              <a:spLocks noChangeArrowheads="1"/>
            </p:cNvSpPr>
            <p:nvPr/>
          </p:nvSpPr>
          <p:spPr bwMode="auto">
            <a:xfrm>
              <a:off x="4356323" y="2853630"/>
              <a:ext cx="2447925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不能访存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(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无总线使用权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)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695" name="Text Box 279"/>
            <p:cNvSpPr txBox="1">
              <a:spLocks noChangeArrowheads="1"/>
            </p:cNvSpPr>
            <p:nvPr/>
          </p:nvSpPr>
          <p:spPr bwMode="auto">
            <a:xfrm>
              <a:off x="4372405" y="4005758"/>
              <a:ext cx="863601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等待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就绪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88696" name="AutoShape 280"/>
            <p:cNvSpPr>
              <a:spLocks noChangeArrowheads="1"/>
            </p:cNvSpPr>
            <p:nvPr/>
          </p:nvSpPr>
          <p:spPr bwMode="auto">
            <a:xfrm>
              <a:off x="6804248" y="4148744"/>
              <a:ext cx="720155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88698" name="Line 282"/>
            <p:cNvSpPr>
              <a:spLocks noChangeShapeType="1"/>
            </p:cNvSpPr>
            <p:nvPr/>
          </p:nvSpPr>
          <p:spPr bwMode="auto">
            <a:xfrm>
              <a:off x="7523758" y="4004281"/>
              <a:ext cx="64784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699" name="Line 283"/>
            <p:cNvSpPr>
              <a:spLocks noChangeShapeType="1"/>
            </p:cNvSpPr>
            <p:nvPr/>
          </p:nvSpPr>
          <p:spPr bwMode="auto">
            <a:xfrm flipH="1">
              <a:off x="7523758" y="2924781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0" name="Line 284"/>
            <p:cNvSpPr>
              <a:spLocks noChangeShapeType="1"/>
            </p:cNvSpPr>
            <p:nvPr/>
          </p:nvSpPr>
          <p:spPr bwMode="auto">
            <a:xfrm flipH="1" flipV="1">
              <a:off x="7523758" y="3428019"/>
              <a:ext cx="73025" cy="2174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1" name="Line 285"/>
            <p:cNvSpPr>
              <a:spLocks noChangeShapeType="1"/>
            </p:cNvSpPr>
            <p:nvPr/>
          </p:nvSpPr>
          <p:spPr bwMode="auto">
            <a:xfrm>
              <a:off x="7595196" y="3643919"/>
              <a:ext cx="57641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2" name="Line 286"/>
            <p:cNvSpPr>
              <a:spLocks noChangeShapeType="1"/>
            </p:cNvSpPr>
            <p:nvPr/>
          </p:nvSpPr>
          <p:spPr bwMode="auto">
            <a:xfrm>
              <a:off x="7666633" y="4580544"/>
              <a:ext cx="5049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3" name="Line 287"/>
            <p:cNvSpPr>
              <a:spLocks noChangeShapeType="1"/>
            </p:cNvSpPr>
            <p:nvPr/>
          </p:nvSpPr>
          <p:spPr bwMode="auto">
            <a:xfrm>
              <a:off x="7668220" y="4867880"/>
              <a:ext cx="50338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4" name="Line 288"/>
            <p:cNvSpPr>
              <a:spLocks noChangeShapeType="1"/>
            </p:cNvSpPr>
            <p:nvPr/>
          </p:nvSpPr>
          <p:spPr bwMode="auto">
            <a:xfrm>
              <a:off x="7523758" y="4725006"/>
              <a:ext cx="144463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5" name="Line 289"/>
            <p:cNvSpPr>
              <a:spLocks noChangeShapeType="1"/>
            </p:cNvSpPr>
            <p:nvPr/>
          </p:nvSpPr>
          <p:spPr bwMode="auto">
            <a:xfrm flipV="1">
              <a:off x="7523758" y="4580544"/>
              <a:ext cx="144463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07" name="Rectangle 291"/>
            <p:cNvSpPr>
              <a:spLocks noChangeArrowheads="1"/>
            </p:cNvSpPr>
            <p:nvPr/>
          </p:nvSpPr>
          <p:spPr bwMode="auto">
            <a:xfrm>
              <a:off x="7668221" y="2996219"/>
              <a:ext cx="503386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l"/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88708" name="AutoShape 292"/>
            <p:cNvSpPr>
              <a:spLocks noChangeArrowheads="1"/>
            </p:cNvSpPr>
            <p:nvPr/>
          </p:nvSpPr>
          <p:spPr bwMode="auto">
            <a:xfrm rot="16200000">
              <a:off x="7452320" y="3067656"/>
              <a:ext cx="287338" cy="144463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8709" name="Line 293"/>
            <p:cNvSpPr>
              <a:spLocks noChangeShapeType="1"/>
            </p:cNvSpPr>
            <p:nvPr/>
          </p:nvSpPr>
          <p:spPr bwMode="auto">
            <a:xfrm>
              <a:off x="7666633" y="2996219"/>
              <a:ext cx="504974" cy="1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10" name="Line 294"/>
            <p:cNvSpPr>
              <a:spLocks noChangeShapeType="1"/>
            </p:cNvSpPr>
            <p:nvPr/>
          </p:nvSpPr>
          <p:spPr bwMode="auto">
            <a:xfrm>
              <a:off x="7668220" y="3283556"/>
              <a:ext cx="503388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11" name="Line 295"/>
            <p:cNvSpPr>
              <a:spLocks noChangeShapeType="1"/>
            </p:cNvSpPr>
            <p:nvPr/>
          </p:nvSpPr>
          <p:spPr bwMode="auto">
            <a:xfrm>
              <a:off x="7523758" y="3140681"/>
              <a:ext cx="144463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12" name="Line 296"/>
            <p:cNvSpPr>
              <a:spLocks noChangeShapeType="1"/>
            </p:cNvSpPr>
            <p:nvPr/>
          </p:nvSpPr>
          <p:spPr bwMode="auto">
            <a:xfrm flipV="1">
              <a:off x="7523758" y="2996219"/>
              <a:ext cx="144463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714" name="AutoShape 298"/>
            <p:cNvSpPr>
              <a:spLocks noChangeArrowheads="1"/>
            </p:cNvSpPr>
            <p:nvPr/>
          </p:nvSpPr>
          <p:spPr bwMode="auto">
            <a:xfrm>
              <a:off x="3635375" y="4580544"/>
              <a:ext cx="3888381" cy="287338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r>
                <a:rPr lang="zh-CN" altLang="en-US" sz="1800" b="1" dirty="0" smtClean="0">
                  <a:latin typeface="+mn-ea"/>
                  <a:ea typeface="+mn-ea"/>
                </a:rPr>
                <a:t>接口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88716" name="Line 300"/>
            <p:cNvSpPr>
              <a:spLocks noChangeShapeType="1"/>
            </p:cNvSpPr>
            <p:nvPr/>
          </p:nvSpPr>
          <p:spPr bwMode="auto">
            <a:xfrm>
              <a:off x="7523758" y="4293206"/>
              <a:ext cx="6478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259"/>
            <p:cNvSpPr>
              <a:spLocks noChangeShapeType="1"/>
            </p:cNvSpPr>
            <p:nvPr/>
          </p:nvSpPr>
          <p:spPr bwMode="auto">
            <a:xfrm flipV="1">
              <a:off x="3635896" y="3140967"/>
              <a:ext cx="38894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AutoShape 257"/>
            <p:cNvSpPr>
              <a:spLocks noChangeArrowheads="1"/>
            </p:cNvSpPr>
            <p:nvPr/>
          </p:nvSpPr>
          <p:spPr bwMode="auto">
            <a:xfrm>
              <a:off x="5235931" y="4149080"/>
              <a:ext cx="720155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69" name="Line 259"/>
            <p:cNvSpPr>
              <a:spLocks noChangeShapeType="1"/>
            </p:cNvSpPr>
            <p:nvPr/>
          </p:nvSpPr>
          <p:spPr bwMode="auto">
            <a:xfrm flipV="1">
              <a:off x="4355976" y="4292749"/>
              <a:ext cx="879881" cy="15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59"/>
            <p:cNvSpPr>
              <a:spLocks noChangeShapeType="1"/>
            </p:cNvSpPr>
            <p:nvPr/>
          </p:nvSpPr>
          <p:spPr bwMode="auto">
            <a:xfrm flipV="1">
              <a:off x="5940152" y="4292402"/>
              <a:ext cx="864096" cy="6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Text Box 279"/>
            <p:cNvSpPr txBox="1">
              <a:spLocks noChangeArrowheads="1"/>
            </p:cNvSpPr>
            <p:nvPr/>
          </p:nvSpPr>
          <p:spPr bwMode="auto">
            <a:xfrm>
              <a:off x="5940647" y="4005064"/>
              <a:ext cx="863601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等待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就绪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188720" name="Text Box 304"/>
          <p:cNvSpPr txBox="1">
            <a:spLocks noChangeArrowheads="1"/>
          </p:cNvSpPr>
          <p:nvPr/>
        </p:nvSpPr>
        <p:spPr bwMode="auto">
          <a:xfrm>
            <a:off x="1439020" y="4968692"/>
            <a:ext cx="7309444" cy="13434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控制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较简单</a:t>
            </a:r>
            <a:r>
              <a:rPr lang="zh-CN" altLang="en-US" b="1" dirty="0" smtClean="0">
                <a:latin typeface="宋体" panose="02010600030101010101" pitchFamily="2" charset="-122"/>
              </a:rPr>
              <a:t>，传输效率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高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工作效率</a:t>
            </a: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低</a:t>
            </a:r>
            <a:r>
              <a:rPr lang="zh-CN" altLang="en-US" b="1" dirty="0" smtClean="0">
                <a:latin typeface="宋体" panose="02010600030101010101" pitchFamily="2" charset="-122"/>
              </a:rPr>
              <a:t>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(</a:t>
            </a:r>
            <a:r>
              <a:rPr lang="en-US" altLang="zh-CN" sz="1600" b="1" dirty="0">
                <a:latin typeface="宋体" panose="02010600030101010101" pitchFamily="2" charset="-122"/>
              </a:rPr>
              <a:t>1</a:t>
            </a:r>
            <a:r>
              <a:rPr lang="zh-CN" altLang="en-US" sz="1600" b="1" dirty="0">
                <a:latin typeface="宋体" panose="02010600030101010101" pitchFamily="2" charset="-122"/>
              </a:rPr>
              <a:t>次请求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/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应答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传送无需等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总线空闲也不能用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zh-CN" altLang="en-US" sz="1600" b="1" dirty="0">
              <a:latin typeface="宋体" panose="02010600030101010101" pitchFamily="2" charset="-122"/>
            </a:endParaRPr>
          </a:p>
          <a:p>
            <a:pPr algn="l">
              <a:lnSpc>
                <a:spcPct val="13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适于</a:t>
            </a:r>
            <a:r>
              <a:rPr lang="zh-CN" altLang="en-US" b="1" dirty="0" smtClean="0">
                <a:solidFill>
                  <a:srgbClr val="990099"/>
                </a:solidFill>
              </a:rPr>
              <a:t>外设</a:t>
            </a:r>
            <a:r>
              <a:rPr lang="zh-CN" altLang="en-US" b="1" dirty="0">
                <a:solidFill>
                  <a:srgbClr val="990099"/>
                </a:solidFill>
              </a:rPr>
              <a:t>速度</a:t>
            </a:r>
            <a:r>
              <a:rPr lang="zh-CN" altLang="en-US" b="1" dirty="0" smtClean="0">
                <a:solidFill>
                  <a:srgbClr val="990099"/>
                </a:solidFill>
              </a:rPr>
              <a:t>≈主存速度</a:t>
            </a:r>
            <a:r>
              <a:rPr lang="zh-CN" altLang="en-US" b="1" dirty="0" smtClean="0">
                <a:latin typeface="宋体" panose="02010600030101010101" pitchFamily="2" charset="-122"/>
              </a:rPr>
              <a:t>的场合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8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88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506" grpId="0"/>
      <p:bldP spid="18872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734F55-0B9D-429F-B50E-53D6AD6B0C90}" type="slidenum">
              <a:rPr lang="en-US" altLang="zh-CN"/>
            </a:fld>
            <a:endParaRPr lang="en-US" altLang="zh-CN"/>
          </a:p>
        </p:txBody>
      </p:sp>
      <p:sp>
        <p:nvSpPr>
          <p:cNvPr id="385108" name="Text Box 84"/>
          <p:cNvSpPr txBox="1">
            <a:spLocks noChangeArrowheads="1"/>
          </p:cNvSpPr>
          <p:nvPr/>
        </p:nvSpPr>
        <p:spPr bwMode="auto">
          <a:xfrm>
            <a:off x="179388" y="332656"/>
            <a:ext cx="8785225" cy="493981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、周期挪用方式   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--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又称周期窃取法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   </a:t>
            </a:r>
            <a:r>
              <a:rPr lang="zh-CN" altLang="en-US" dirty="0" smtClean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接口在外设</a:t>
            </a:r>
            <a:r>
              <a:rPr lang="zh-CN" altLang="en-US" b="1" dirty="0">
                <a:latin typeface="宋体" panose="02010600030101010101" pitchFamily="2" charset="-122"/>
              </a:rPr>
              <a:t>准备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就绪时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请求</a:t>
            </a:r>
            <a:r>
              <a:rPr lang="zh-CN" altLang="en-US" b="1" dirty="0">
                <a:latin typeface="宋体" panose="02010600030101010101" pitchFamily="2" charset="-122"/>
              </a:rPr>
              <a:t>总线</a:t>
            </a:r>
            <a:r>
              <a:rPr lang="zh-CN" altLang="en-US" b="1" dirty="0" smtClean="0">
                <a:latin typeface="宋体" panose="02010600030101010101" pitchFamily="2" charset="-122"/>
              </a:rPr>
              <a:t>使用权；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 在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等待</a:t>
            </a:r>
            <a:r>
              <a:rPr lang="zh-CN" altLang="en-US" b="1" dirty="0" smtClean="0">
                <a:latin typeface="宋体" panose="02010600030101010101" pitchFamily="2" charset="-122"/>
              </a:rPr>
              <a:t>外设准备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时</a:t>
            </a:r>
            <a:r>
              <a:rPr lang="zh-CN" altLang="en-US" b="1" dirty="0">
                <a:latin typeface="宋体" panose="02010600030101010101" pitchFamily="2" charset="-122"/>
              </a:rPr>
              <a:t>，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放弃</a:t>
            </a:r>
            <a:r>
              <a:rPr lang="zh-CN" altLang="en-US" b="1" dirty="0">
                <a:latin typeface="宋体" panose="02010600030101010101" pitchFamily="2" charset="-122"/>
              </a:rPr>
              <a:t>总线</a:t>
            </a:r>
            <a:r>
              <a:rPr lang="zh-CN" altLang="en-US" b="1" dirty="0" smtClean="0">
                <a:latin typeface="宋体" panose="02010600030101010101" pitchFamily="2" charset="-122"/>
              </a:rPr>
              <a:t>使用权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100"/>
              </a:spcBef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385109" name="Text Box 85"/>
          <p:cNvSpPr txBox="1">
            <a:spLocks noChangeArrowheads="1"/>
          </p:cNvSpPr>
          <p:nvPr/>
        </p:nvSpPr>
        <p:spPr bwMode="auto">
          <a:xfrm>
            <a:off x="179388" y="3789040"/>
            <a:ext cx="8857108" cy="84484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总线请求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的优先级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请求应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高于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请求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0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                       </a:t>
            </a:r>
            <a:r>
              <a:rPr lang="zh-CN" altLang="en-US" sz="1800" dirty="0" smtClean="0">
                <a:latin typeface="宋体" panose="02010600030101010101" pitchFamily="2" charset="-122"/>
              </a:rPr>
              <a:t>└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←防止丢失数据</a:t>
            </a:r>
            <a:r>
              <a:rPr lang="en-US" altLang="zh-CN" sz="1800" b="1" dirty="0">
                <a:latin typeface="宋体" panose="02010600030101010101" pitchFamily="2" charset="-122"/>
              </a:rPr>
              <a:t>[</a:t>
            </a:r>
            <a:r>
              <a:rPr lang="zh-CN" altLang="en-US" sz="1800" b="1" dirty="0">
                <a:latin typeface="宋体" panose="02010600030101010101" pitchFamily="2" charset="-122"/>
              </a:rPr>
              <a:t>如磁盘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]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或工作紊乱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sp>
        <p:nvSpPr>
          <p:cNvPr id="385429" name="Text Box 405"/>
          <p:cNvSpPr txBox="1">
            <a:spLocks noChangeArrowheads="1"/>
          </p:cNvSpPr>
          <p:nvPr/>
        </p:nvSpPr>
        <p:spPr bwMode="auto">
          <a:xfrm>
            <a:off x="1403648" y="4581128"/>
            <a:ext cx="7416950" cy="13111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1524000" indent="-1524000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传输效率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较高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工作效率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高</a:t>
            </a:r>
            <a:r>
              <a:rPr lang="zh-CN" altLang="en-US" b="1" dirty="0">
                <a:latin typeface="宋体" panose="02010600030101010101" pitchFamily="2" charset="-122"/>
              </a:rPr>
              <a:t>，控制略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复杂</a:t>
            </a:r>
            <a:r>
              <a:rPr lang="zh-CN" altLang="en-US" b="1" dirty="0" smtClean="0">
                <a:latin typeface="宋体" panose="02010600030101010101" pitchFamily="2" charset="-122"/>
              </a:rPr>
              <a:t>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  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传送基本不用等</a:t>
            </a:r>
            <a:r>
              <a:rPr lang="en-US" altLang="zh-CN" sz="1600" b="1" dirty="0">
                <a:latin typeface="宋体" panose="02010600030101010101" pitchFamily="2" charset="-122"/>
              </a:rPr>
              <a:t>)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  </a:t>
            </a:r>
            <a:r>
              <a:rPr lang="en-US" altLang="zh-CN" sz="1600" b="1" dirty="0">
                <a:latin typeface="宋体" panose="02010600030101010101" pitchFamily="2" charset="-122"/>
              </a:rPr>
              <a:t>(</a:t>
            </a:r>
            <a:r>
              <a:rPr lang="zh-CN" altLang="en-US" sz="1600" b="1" dirty="0">
                <a:latin typeface="宋体" panose="02010600030101010101" pitchFamily="2" charset="-122"/>
              </a:rPr>
              <a:t>总线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空闲</a:t>
            </a:r>
            <a:r>
              <a:rPr lang="zh-CN" altLang="en-US" sz="1600" b="1" dirty="0">
                <a:latin typeface="宋体" panose="02010600030101010101" pitchFamily="2" charset="-122"/>
              </a:rPr>
              <a:t>就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能</a:t>
            </a:r>
            <a:r>
              <a:rPr lang="zh-CN" altLang="en-US" sz="1600" b="1" dirty="0">
                <a:latin typeface="宋体" panose="02010600030101010101" pitchFamily="2" charset="-122"/>
              </a:rPr>
              <a:t>用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 </a:t>
            </a:r>
            <a:r>
              <a:rPr lang="en-US" altLang="zh-CN" sz="1600" b="1" dirty="0">
                <a:latin typeface="宋体" panose="02010600030101010101" pitchFamily="2" charset="-122"/>
              </a:rPr>
              <a:t>(m</a:t>
            </a:r>
            <a:r>
              <a:rPr lang="zh-CN" altLang="en-US" sz="1600" b="1" dirty="0">
                <a:latin typeface="宋体" panose="02010600030101010101" pitchFamily="2" charset="-122"/>
              </a:rPr>
              <a:t>次请求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应答</a:t>
            </a:r>
            <a:r>
              <a:rPr lang="en-US" altLang="zh-CN" sz="1600" b="1" dirty="0">
                <a:latin typeface="宋体" panose="02010600030101010101" pitchFamily="2" charset="-122"/>
              </a:rPr>
              <a:t>)</a:t>
            </a:r>
            <a:endParaRPr lang="en-US" altLang="zh-CN" sz="1600" b="1" dirty="0" smtClean="0">
              <a:latin typeface="宋体" panose="02010600030101010101" pitchFamily="2" charset="-122"/>
            </a:endParaRPr>
          </a:p>
          <a:p>
            <a:pPr marL="1524000" indent="-1524000" algn="l">
              <a:lnSpc>
                <a:spcPct val="13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适用于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外设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速度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＜主存速度</a:t>
            </a:r>
            <a:r>
              <a:rPr lang="zh-CN" altLang="en-US" b="1" dirty="0" smtClean="0">
                <a:latin typeface="宋体" panose="02010600030101010101" pitchFamily="2" charset="-122"/>
              </a:rPr>
              <a:t>的场合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85434" name="AutoShape 41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7824" y="6525344"/>
            <a:ext cx="287337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5435" name="AutoShape 41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9" name="组合 88"/>
          <p:cNvGrpSpPr/>
          <p:nvPr/>
        </p:nvGrpSpPr>
        <p:grpSpPr>
          <a:xfrm>
            <a:off x="827584" y="1771375"/>
            <a:ext cx="7344024" cy="1945657"/>
            <a:chOff x="827584" y="2204007"/>
            <a:chExt cx="7344024" cy="1945657"/>
          </a:xfrm>
        </p:grpSpPr>
        <p:sp>
          <p:nvSpPr>
            <p:cNvPr id="90" name="AutoShape 187"/>
            <p:cNvSpPr>
              <a:spLocks noChangeArrowheads="1"/>
            </p:cNvSpPr>
            <p:nvPr/>
          </p:nvSpPr>
          <p:spPr bwMode="auto">
            <a:xfrm>
              <a:off x="2915816" y="2276872"/>
              <a:ext cx="719560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91" name="Line 189"/>
            <p:cNvSpPr>
              <a:spLocks noChangeShapeType="1"/>
            </p:cNvSpPr>
            <p:nvPr/>
          </p:nvSpPr>
          <p:spPr bwMode="auto">
            <a:xfrm>
              <a:off x="3203575" y="2707245"/>
              <a:ext cx="0" cy="8662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201"/>
            <p:cNvSpPr>
              <a:spLocks noChangeShapeType="1"/>
            </p:cNvSpPr>
            <p:nvPr/>
          </p:nvSpPr>
          <p:spPr bwMode="auto">
            <a:xfrm flipH="1">
              <a:off x="3635375" y="2204007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AutoShape 204"/>
            <p:cNvSpPr/>
            <p:nvPr/>
          </p:nvSpPr>
          <p:spPr bwMode="auto">
            <a:xfrm>
              <a:off x="1690266" y="2348470"/>
              <a:ext cx="73025" cy="431800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" name="Text Box 208"/>
            <p:cNvSpPr txBox="1">
              <a:spLocks noChangeArrowheads="1"/>
            </p:cNvSpPr>
            <p:nvPr/>
          </p:nvSpPr>
          <p:spPr bwMode="auto">
            <a:xfrm>
              <a:off x="1474366" y="3788332"/>
              <a:ext cx="1296988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总线使用权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Rectangle 225"/>
            <p:cNvSpPr>
              <a:spLocks noChangeArrowheads="1"/>
            </p:cNvSpPr>
            <p:nvPr/>
          </p:nvSpPr>
          <p:spPr bwMode="auto">
            <a:xfrm>
              <a:off x="7668220" y="3859770"/>
              <a:ext cx="503387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l"/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96" name="AutoShape 226"/>
            <p:cNvSpPr>
              <a:spLocks noChangeArrowheads="1"/>
            </p:cNvSpPr>
            <p:nvPr/>
          </p:nvSpPr>
          <p:spPr bwMode="auto">
            <a:xfrm rot="16200000">
              <a:off x="7452320" y="3931207"/>
              <a:ext cx="287338" cy="144463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Line 235"/>
            <p:cNvSpPr>
              <a:spLocks noChangeShapeType="1"/>
            </p:cNvSpPr>
            <p:nvPr/>
          </p:nvSpPr>
          <p:spPr bwMode="auto">
            <a:xfrm flipH="1" flipV="1">
              <a:off x="7452320" y="3067607"/>
              <a:ext cx="73025" cy="2174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Text Box 250"/>
            <p:cNvSpPr txBox="1">
              <a:spLocks noChangeArrowheads="1"/>
            </p:cNvSpPr>
            <p:nvPr/>
          </p:nvSpPr>
          <p:spPr bwMode="auto">
            <a:xfrm>
              <a:off x="1187029" y="2419907"/>
              <a:ext cx="431800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99" name="Text Box 251"/>
            <p:cNvSpPr txBox="1">
              <a:spLocks noChangeArrowheads="1"/>
            </p:cNvSpPr>
            <p:nvPr/>
          </p:nvSpPr>
          <p:spPr bwMode="auto">
            <a:xfrm>
              <a:off x="1763688" y="2275445"/>
              <a:ext cx="1079500" cy="6477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工作状态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145000"/>
                </a:lnSpc>
              </a:pPr>
              <a:r>
                <a:rPr lang="zh-CN" altLang="en-US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应答</a:t>
              </a:r>
              <a:r>
                <a:rPr lang="en-US" altLang="zh-CN" sz="1800" b="1" dirty="0">
                  <a:solidFill>
                    <a:schemeClr val="accent2"/>
                  </a:solidFill>
                  <a:latin typeface="宋体" panose="02010600030101010101" pitchFamily="2" charset="-122"/>
                </a:rPr>
                <a:t>HLDA</a:t>
              </a:r>
              <a:endParaRPr lang="en-US" altLang="zh-CN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00" name="Text Box 252"/>
            <p:cNvSpPr txBox="1">
              <a:spLocks noChangeArrowheads="1"/>
            </p:cNvSpPr>
            <p:nvPr/>
          </p:nvSpPr>
          <p:spPr bwMode="auto">
            <a:xfrm>
              <a:off x="1763291" y="2996258"/>
              <a:ext cx="1079500" cy="7191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8000" rIns="18000" bIns="10800"/>
            <a:lstStyle/>
            <a:p>
              <a:pPr algn="l">
                <a:lnSpc>
                  <a:spcPct val="110000"/>
                </a:lnSpc>
              </a:pPr>
              <a:r>
                <a:rPr lang="zh-CN" altLang="en-US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请求</a:t>
              </a:r>
              <a:r>
                <a:rPr lang="en-US" altLang="zh-CN" sz="1800" b="1" dirty="0">
                  <a:solidFill>
                    <a:srgbClr val="CC3300"/>
                  </a:solidFill>
                  <a:latin typeface="宋体" panose="02010600030101010101" pitchFamily="2" charset="-122"/>
                </a:rPr>
                <a:t>HRQ</a:t>
              </a:r>
              <a:endParaRPr lang="en-US" altLang="zh-CN" sz="1800" b="1" dirty="0">
                <a:solidFill>
                  <a:srgbClr val="CC3300"/>
                </a:solidFill>
                <a:latin typeface="宋体" panose="02010600030101010101" pitchFamily="2" charset="-122"/>
              </a:endParaRPr>
            </a:p>
            <a:p>
              <a:pPr algn="l">
                <a:lnSpc>
                  <a:spcPct val="14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工作状态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1" name="Text Box 253"/>
            <p:cNvSpPr txBox="1">
              <a:spLocks noChangeArrowheads="1"/>
            </p:cNvSpPr>
            <p:nvPr/>
          </p:nvSpPr>
          <p:spPr bwMode="auto">
            <a:xfrm>
              <a:off x="827584" y="3212070"/>
              <a:ext cx="862682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AutoShape 254"/>
            <p:cNvSpPr/>
            <p:nvPr/>
          </p:nvSpPr>
          <p:spPr bwMode="auto">
            <a:xfrm>
              <a:off x="1691854" y="3140632"/>
              <a:ext cx="73025" cy="431800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" name="Line 256"/>
            <p:cNvSpPr>
              <a:spLocks noChangeShapeType="1"/>
            </p:cNvSpPr>
            <p:nvPr/>
          </p:nvSpPr>
          <p:spPr bwMode="auto">
            <a:xfrm flipV="1">
              <a:off x="3562871" y="2707245"/>
              <a:ext cx="73025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AutoShape 257"/>
            <p:cNvSpPr>
              <a:spLocks noChangeArrowheads="1"/>
            </p:cNvSpPr>
            <p:nvPr/>
          </p:nvSpPr>
          <p:spPr bwMode="auto">
            <a:xfrm>
              <a:off x="3635375" y="3427970"/>
              <a:ext cx="720601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05" name="Line 259"/>
            <p:cNvSpPr>
              <a:spLocks noChangeShapeType="1"/>
            </p:cNvSpPr>
            <p:nvPr/>
          </p:nvSpPr>
          <p:spPr bwMode="auto">
            <a:xfrm>
              <a:off x="2771775" y="2419113"/>
              <a:ext cx="144041" cy="7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260"/>
            <p:cNvSpPr>
              <a:spLocks noChangeShapeType="1"/>
            </p:cNvSpPr>
            <p:nvPr/>
          </p:nvSpPr>
          <p:spPr bwMode="auto">
            <a:xfrm>
              <a:off x="2771775" y="2923145"/>
              <a:ext cx="791096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263"/>
            <p:cNvSpPr>
              <a:spLocks noChangeShapeType="1"/>
            </p:cNvSpPr>
            <p:nvPr/>
          </p:nvSpPr>
          <p:spPr bwMode="auto">
            <a:xfrm>
              <a:off x="3635896" y="2707245"/>
              <a:ext cx="72109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265"/>
            <p:cNvSpPr>
              <a:spLocks noChangeShapeType="1"/>
            </p:cNvSpPr>
            <p:nvPr/>
          </p:nvSpPr>
          <p:spPr bwMode="auto">
            <a:xfrm flipV="1">
              <a:off x="3203575" y="3067607"/>
              <a:ext cx="73025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266"/>
            <p:cNvSpPr>
              <a:spLocks noChangeShapeType="1"/>
            </p:cNvSpPr>
            <p:nvPr/>
          </p:nvSpPr>
          <p:spPr bwMode="auto">
            <a:xfrm>
              <a:off x="2771775" y="3283507"/>
              <a:ext cx="43180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268"/>
            <p:cNvSpPr>
              <a:spLocks noChangeShapeType="1"/>
            </p:cNvSpPr>
            <p:nvPr/>
          </p:nvSpPr>
          <p:spPr bwMode="auto">
            <a:xfrm>
              <a:off x="3276600" y="3067607"/>
              <a:ext cx="100736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AutoShape 269"/>
            <p:cNvSpPr>
              <a:spLocks noChangeArrowheads="1"/>
            </p:cNvSpPr>
            <p:nvPr/>
          </p:nvSpPr>
          <p:spPr bwMode="auto">
            <a:xfrm>
              <a:off x="2915816" y="3858182"/>
              <a:ext cx="719560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2" name="Line 271"/>
            <p:cNvSpPr>
              <a:spLocks noChangeShapeType="1"/>
            </p:cNvSpPr>
            <p:nvPr/>
          </p:nvSpPr>
          <p:spPr bwMode="auto">
            <a:xfrm>
              <a:off x="2771775" y="4003439"/>
              <a:ext cx="144041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72"/>
            <p:cNvSpPr>
              <a:spLocks noChangeShapeType="1"/>
            </p:cNvSpPr>
            <p:nvPr/>
          </p:nvSpPr>
          <p:spPr bwMode="auto">
            <a:xfrm>
              <a:off x="2771775" y="3572432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273"/>
            <p:cNvSpPr>
              <a:spLocks noChangeShapeType="1"/>
            </p:cNvSpPr>
            <p:nvPr/>
          </p:nvSpPr>
          <p:spPr bwMode="auto">
            <a:xfrm flipH="1">
              <a:off x="2914229" y="2204007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Text Box 279"/>
            <p:cNvSpPr txBox="1">
              <a:spLocks noChangeArrowheads="1"/>
            </p:cNvSpPr>
            <p:nvPr/>
          </p:nvSpPr>
          <p:spPr bwMode="auto">
            <a:xfrm>
              <a:off x="4372405" y="3284984"/>
              <a:ext cx="863601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等待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就绪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AutoShape 280"/>
            <p:cNvSpPr>
              <a:spLocks noChangeArrowheads="1"/>
            </p:cNvSpPr>
            <p:nvPr/>
          </p:nvSpPr>
          <p:spPr bwMode="auto">
            <a:xfrm>
              <a:off x="6804248" y="3427970"/>
              <a:ext cx="720155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17" name="Line 282"/>
            <p:cNvSpPr>
              <a:spLocks noChangeShapeType="1"/>
            </p:cNvSpPr>
            <p:nvPr/>
          </p:nvSpPr>
          <p:spPr bwMode="auto">
            <a:xfrm>
              <a:off x="7523758" y="3283507"/>
              <a:ext cx="64784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83"/>
            <p:cNvSpPr>
              <a:spLocks noChangeShapeType="1"/>
            </p:cNvSpPr>
            <p:nvPr/>
          </p:nvSpPr>
          <p:spPr bwMode="auto">
            <a:xfrm flipH="1">
              <a:off x="7523758" y="2204864"/>
              <a:ext cx="0" cy="194310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84"/>
            <p:cNvSpPr>
              <a:spLocks noChangeShapeType="1"/>
            </p:cNvSpPr>
            <p:nvPr/>
          </p:nvSpPr>
          <p:spPr bwMode="auto">
            <a:xfrm flipH="1" flipV="1">
              <a:off x="7523758" y="2707245"/>
              <a:ext cx="73025" cy="2174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Line 285"/>
            <p:cNvSpPr>
              <a:spLocks noChangeShapeType="1"/>
            </p:cNvSpPr>
            <p:nvPr/>
          </p:nvSpPr>
          <p:spPr bwMode="auto">
            <a:xfrm>
              <a:off x="7595196" y="2923145"/>
              <a:ext cx="57641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" name="Line 286"/>
            <p:cNvSpPr>
              <a:spLocks noChangeShapeType="1"/>
            </p:cNvSpPr>
            <p:nvPr/>
          </p:nvSpPr>
          <p:spPr bwMode="auto">
            <a:xfrm>
              <a:off x="7666633" y="3859770"/>
              <a:ext cx="5049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287"/>
            <p:cNvSpPr>
              <a:spLocks noChangeShapeType="1"/>
            </p:cNvSpPr>
            <p:nvPr/>
          </p:nvSpPr>
          <p:spPr bwMode="auto">
            <a:xfrm>
              <a:off x="7668220" y="4147106"/>
              <a:ext cx="503387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288"/>
            <p:cNvSpPr>
              <a:spLocks noChangeShapeType="1"/>
            </p:cNvSpPr>
            <p:nvPr/>
          </p:nvSpPr>
          <p:spPr bwMode="auto">
            <a:xfrm>
              <a:off x="7523758" y="4004232"/>
              <a:ext cx="144463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289"/>
            <p:cNvSpPr>
              <a:spLocks noChangeShapeType="1"/>
            </p:cNvSpPr>
            <p:nvPr/>
          </p:nvSpPr>
          <p:spPr bwMode="auto">
            <a:xfrm flipV="1">
              <a:off x="7523758" y="3859770"/>
              <a:ext cx="144463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Rectangle 291"/>
            <p:cNvSpPr>
              <a:spLocks noChangeArrowheads="1"/>
            </p:cNvSpPr>
            <p:nvPr/>
          </p:nvSpPr>
          <p:spPr bwMode="auto">
            <a:xfrm>
              <a:off x="7668221" y="2276873"/>
              <a:ext cx="503386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l"/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26" name="AutoShape 292"/>
            <p:cNvSpPr>
              <a:spLocks noChangeArrowheads="1"/>
            </p:cNvSpPr>
            <p:nvPr/>
          </p:nvSpPr>
          <p:spPr bwMode="auto">
            <a:xfrm rot="16200000">
              <a:off x="7452320" y="2348310"/>
              <a:ext cx="287338" cy="144463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7" name="Line 293"/>
            <p:cNvSpPr>
              <a:spLocks noChangeShapeType="1"/>
            </p:cNvSpPr>
            <p:nvPr/>
          </p:nvSpPr>
          <p:spPr bwMode="auto">
            <a:xfrm flipV="1">
              <a:off x="7666633" y="2276872"/>
              <a:ext cx="50497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Line 294"/>
            <p:cNvSpPr>
              <a:spLocks noChangeShapeType="1"/>
            </p:cNvSpPr>
            <p:nvPr/>
          </p:nvSpPr>
          <p:spPr bwMode="auto">
            <a:xfrm>
              <a:off x="7668220" y="2564210"/>
              <a:ext cx="503388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95"/>
            <p:cNvSpPr>
              <a:spLocks noChangeShapeType="1"/>
            </p:cNvSpPr>
            <p:nvPr/>
          </p:nvSpPr>
          <p:spPr bwMode="auto">
            <a:xfrm>
              <a:off x="7523758" y="2421335"/>
              <a:ext cx="144463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96"/>
            <p:cNvSpPr>
              <a:spLocks noChangeShapeType="1"/>
            </p:cNvSpPr>
            <p:nvPr/>
          </p:nvSpPr>
          <p:spPr bwMode="auto">
            <a:xfrm flipV="1">
              <a:off x="7523758" y="2276873"/>
              <a:ext cx="144463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AutoShape 298"/>
            <p:cNvSpPr>
              <a:spLocks noChangeArrowheads="1"/>
            </p:cNvSpPr>
            <p:nvPr/>
          </p:nvSpPr>
          <p:spPr bwMode="auto">
            <a:xfrm>
              <a:off x="3635376" y="3859770"/>
              <a:ext cx="737030" cy="287338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32" name="Line 300"/>
            <p:cNvSpPr>
              <a:spLocks noChangeShapeType="1"/>
            </p:cNvSpPr>
            <p:nvPr/>
          </p:nvSpPr>
          <p:spPr bwMode="auto">
            <a:xfrm>
              <a:off x="7523758" y="3572432"/>
              <a:ext cx="64784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259"/>
            <p:cNvSpPr>
              <a:spLocks noChangeShapeType="1"/>
            </p:cNvSpPr>
            <p:nvPr/>
          </p:nvSpPr>
          <p:spPr bwMode="auto">
            <a:xfrm flipV="1">
              <a:off x="3635896" y="2419113"/>
              <a:ext cx="736509" cy="1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AutoShape 257"/>
            <p:cNvSpPr>
              <a:spLocks noChangeArrowheads="1"/>
            </p:cNvSpPr>
            <p:nvPr/>
          </p:nvSpPr>
          <p:spPr bwMode="auto">
            <a:xfrm>
              <a:off x="5235931" y="3428306"/>
              <a:ext cx="720155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35" name="Line 259"/>
            <p:cNvSpPr>
              <a:spLocks noChangeShapeType="1"/>
            </p:cNvSpPr>
            <p:nvPr/>
          </p:nvSpPr>
          <p:spPr bwMode="auto">
            <a:xfrm flipV="1">
              <a:off x="4355976" y="3571975"/>
              <a:ext cx="879881" cy="15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Line 259"/>
            <p:cNvSpPr>
              <a:spLocks noChangeShapeType="1"/>
            </p:cNvSpPr>
            <p:nvPr/>
          </p:nvSpPr>
          <p:spPr bwMode="auto">
            <a:xfrm flipV="1">
              <a:off x="5940152" y="3571628"/>
              <a:ext cx="864096" cy="6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Text Box 279"/>
            <p:cNvSpPr txBox="1">
              <a:spLocks noChangeArrowheads="1"/>
            </p:cNvSpPr>
            <p:nvPr/>
          </p:nvSpPr>
          <p:spPr bwMode="auto">
            <a:xfrm>
              <a:off x="5940647" y="3284290"/>
              <a:ext cx="863601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600" b="1" dirty="0" smtClean="0">
                  <a:latin typeface="宋体" panose="02010600030101010101" pitchFamily="2" charset="-122"/>
                </a:rPr>
                <a:t>等待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就绪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8" name="Line 235"/>
            <p:cNvSpPr>
              <a:spLocks noChangeShapeType="1"/>
            </p:cNvSpPr>
            <p:nvPr/>
          </p:nvSpPr>
          <p:spPr bwMode="auto">
            <a:xfrm flipH="1" flipV="1">
              <a:off x="4283968" y="3069282"/>
              <a:ext cx="73025" cy="2174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Line 284"/>
            <p:cNvSpPr>
              <a:spLocks noChangeShapeType="1"/>
            </p:cNvSpPr>
            <p:nvPr/>
          </p:nvSpPr>
          <p:spPr bwMode="auto">
            <a:xfrm flipH="1" flipV="1">
              <a:off x="4355406" y="2708920"/>
              <a:ext cx="73025" cy="2174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Line 260"/>
            <p:cNvSpPr>
              <a:spLocks noChangeShapeType="1"/>
            </p:cNvSpPr>
            <p:nvPr/>
          </p:nvSpPr>
          <p:spPr bwMode="auto">
            <a:xfrm>
              <a:off x="4428976" y="2923356"/>
              <a:ext cx="791096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Line 256"/>
            <p:cNvSpPr>
              <a:spLocks noChangeShapeType="1"/>
            </p:cNvSpPr>
            <p:nvPr/>
          </p:nvSpPr>
          <p:spPr bwMode="auto">
            <a:xfrm flipV="1">
              <a:off x="5220072" y="2708920"/>
              <a:ext cx="73025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Line 263"/>
            <p:cNvSpPr>
              <a:spLocks noChangeShapeType="1"/>
            </p:cNvSpPr>
            <p:nvPr/>
          </p:nvSpPr>
          <p:spPr bwMode="auto">
            <a:xfrm>
              <a:off x="5292080" y="2708919"/>
              <a:ext cx="648071" cy="16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Line 265"/>
            <p:cNvSpPr>
              <a:spLocks noChangeShapeType="1"/>
            </p:cNvSpPr>
            <p:nvPr/>
          </p:nvSpPr>
          <p:spPr bwMode="auto">
            <a:xfrm flipV="1">
              <a:off x="5148064" y="3069282"/>
              <a:ext cx="73025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Line 268"/>
            <p:cNvSpPr>
              <a:spLocks noChangeShapeType="1"/>
            </p:cNvSpPr>
            <p:nvPr/>
          </p:nvSpPr>
          <p:spPr bwMode="auto">
            <a:xfrm flipV="1">
              <a:off x="5221089" y="3068960"/>
              <a:ext cx="647055" cy="32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Line 235"/>
            <p:cNvSpPr>
              <a:spLocks noChangeShapeType="1"/>
            </p:cNvSpPr>
            <p:nvPr/>
          </p:nvSpPr>
          <p:spPr bwMode="auto">
            <a:xfrm flipH="1" flipV="1">
              <a:off x="5868144" y="3070957"/>
              <a:ext cx="73025" cy="21748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Line 284"/>
            <p:cNvSpPr>
              <a:spLocks noChangeShapeType="1"/>
            </p:cNvSpPr>
            <p:nvPr/>
          </p:nvSpPr>
          <p:spPr bwMode="auto">
            <a:xfrm flipH="1" flipV="1">
              <a:off x="5940152" y="2710595"/>
              <a:ext cx="73025" cy="2174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Line 260"/>
            <p:cNvSpPr>
              <a:spLocks noChangeShapeType="1"/>
            </p:cNvSpPr>
            <p:nvPr/>
          </p:nvSpPr>
          <p:spPr bwMode="auto">
            <a:xfrm>
              <a:off x="6012160" y="2925031"/>
              <a:ext cx="791096" cy="1588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Line 266"/>
            <p:cNvSpPr>
              <a:spLocks noChangeShapeType="1"/>
            </p:cNvSpPr>
            <p:nvPr/>
          </p:nvSpPr>
          <p:spPr bwMode="auto">
            <a:xfrm flipV="1">
              <a:off x="4356224" y="3283508"/>
              <a:ext cx="791840" cy="147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Line 189"/>
            <p:cNvSpPr>
              <a:spLocks noChangeShapeType="1"/>
            </p:cNvSpPr>
            <p:nvPr/>
          </p:nvSpPr>
          <p:spPr bwMode="auto">
            <a:xfrm>
              <a:off x="5220072" y="2707245"/>
              <a:ext cx="0" cy="10186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Line 189"/>
            <p:cNvSpPr>
              <a:spLocks noChangeShapeType="1"/>
            </p:cNvSpPr>
            <p:nvPr/>
          </p:nvSpPr>
          <p:spPr bwMode="auto">
            <a:xfrm flipH="1">
              <a:off x="5940152" y="2707246"/>
              <a:ext cx="1017" cy="101194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Line 265"/>
            <p:cNvSpPr>
              <a:spLocks noChangeShapeType="1"/>
            </p:cNvSpPr>
            <p:nvPr/>
          </p:nvSpPr>
          <p:spPr bwMode="auto">
            <a:xfrm flipV="1">
              <a:off x="6730950" y="3068960"/>
              <a:ext cx="73025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Line 268"/>
            <p:cNvSpPr>
              <a:spLocks noChangeShapeType="1"/>
            </p:cNvSpPr>
            <p:nvPr/>
          </p:nvSpPr>
          <p:spPr bwMode="auto">
            <a:xfrm>
              <a:off x="6803975" y="3068959"/>
              <a:ext cx="648345" cy="199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Line 266"/>
            <p:cNvSpPr>
              <a:spLocks noChangeShapeType="1"/>
            </p:cNvSpPr>
            <p:nvPr/>
          </p:nvSpPr>
          <p:spPr bwMode="auto">
            <a:xfrm flipV="1">
              <a:off x="5940400" y="3284984"/>
              <a:ext cx="791840" cy="1476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Line 256"/>
            <p:cNvSpPr>
              <a:spLocks noChangeShapeType="1"/>
            </p:cNvSpPr>
            <p:nvPr/>
          </p:nvSpPr>
          <p:spPr bwMode="auto">
            <a:xfrm flipV="1">
              <a:off x="6804248" y="2708921"/>
              <a:ext cx="73025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Line 263"/>
            <p:cNvSpPr>
              <a:spLocks noChangeShapeType="1"/>
            </p:cNvSpPr>
            <p:nvPr/>
          </p:nvSpPr>
          <p:spPr bwMode="auto">
            <a:xfrm>
              <a:off x="6876256" y="2708920"/>
              <a:ext cx="648071" cy="167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AutoShape 269"/>
            <p:cNvSpPr>
              <a:spLocks noChangeArrowheads="1"/>
            </p:cNvSpPr>
            <p:nvPr/>
          </p:nvSpPr>
          <p:spPr bwMode="auto">
            <a:xfrm>
              <a:off x="4356496" y="3861048"/>
              <a:ext cx="863576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57" name="AutoShape 298"/>
            <p:cNvSpPr>
              <a:spLocks noChangeArrowheads="1"/>
            </p:cNvSpPr>
            <p:nvPr/>
          </p:nvSpPr>
          <p:spPr bwMode="auto">
            <a:xfrm>
              <a:off x="5219552" y="3861048"/>
              <a:ext cx="737030" cy="287338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58" name="AutoShape 269"/>
            <p:cNvSpPr>
              <a:spLocks noChangeArrowheads="1"/>
            </p:cNvSpPr>
            <p:nvPr/>
          </p:nvSpPr>
          <p:spPr bwMode="auto">
            <a:xfrm>
              <a:off x="5940672" y="3862326"/>
              <a:ext cx="863576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59" name="AutoShape 298"/>
            <p:cNvSpPr>
              <a:spLocks noChangeArrowheads="1"/>
            </p:cNvSpPr>
            <p:nvPr/>
          </p:nvSpPr>
          <p:spPr bwMode="auto">
            <a:xfrm>
              <a:off x="6787298" y="3861048"/>
              <a:ext cx="737030" cy="287338"/>
            </a:xfrm>
            <a:prstGeom prst="hexagon">
              <a:avLst>
                <a:gd name="adj" fmla="val 43079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60" name="AutoShape 187"/>
            <p:cNvSpPr>
              <a:spLocks noChangeArrowheads="1"/>
            </p:cNvSpPr>
            <p:nvPr/>
          </p:nvSpPr>
          <p:spPr bwMode="auto">
            <a:xfrm>
              <a:off x="4355976" y="2276872"/>
              <a:ext cx="863576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61" name="Line 259"/>
            <p:cNvSpPr>
              <a:spLocks noChangeShapeType="1"/>
            </p:cNvSpPr>
            <p:nvPr/>
          </p:nvSpPr>
          <p:spPr bwMode="auto">
            <a:xfrm flipV="1">
              <a:off x="5220592" y="2419113"/>
              <a:ext cx="736509" cy="1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AutoShape 187"/>
            <p:cNvSpPr>
              <a:spLocks noChangeArrowheads="1"/>
            </p:cNvSpPr>
            <p:nvPr/>
          </p:nvSpPr>
          <p:spPr bwMode="auto">
            <a:xfrm>
              <a:off x="5940672" y="2276872"/>
              <a:ext cx="863576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63" name="Line 259"/>
            <p:cNvSpPr>
              <a:spLocks noChangeShapeType="1"/>
            </p:cNvSpPr>
            <p:nvPr/>
          </p:nvSpPr>
          <p:spPr bwMode="auto">
            <a:xfrm flipV="1">
              <a:off x="6787819" y="2419808"/>
              <a:ext cx="736509" cy="10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5109" grpId="0"/>
      <p:bldP spid="38542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855B91-5E2A-4696-8164-8069992D9F0C}" type="slidenum">
              <a:rPr lang="en-US" altLang="zh-CN"/>
            </a:fld>
            <a:endParaRPr lang="en-US" altLang="zh-CN"/>
          </a:p>
        </p:txBody>
      </p:sp>
      <p:sp>
        <p:nvSpPr>
          <p:cNvPr id="386052" name="Text Box 4"/>
          <p:cNvSpPr txBox="1">
            <a:spLocks noChangeArrowheads="1"/>
          </p:cNvSpPr>
          <p:nvPr/>
        </p:nvSpPr>
        <p:spPr bwMode="auto">
          <a:xfrm>
            <a:off x="179388" y="356455"/>
            <a:ext cx="8785225" cy="35548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、分时交替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访问方式  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--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又称透明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方式</a:t>
            </a:r>
            <a:endParaRPr lang="zh-CN" altLang="en-US" b="1" dirty="0">
              <a:solidFill>
                <a:srgbClr val="FF3399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latin typeface="宋体" panose="02010600030101010101" pitchFamily="2" charset="-122"/>
              </a:rPr>
              <a:t> 总线使用权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定时地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轮流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分配</a:t>
            </a:r>
            <a:r>
              <a:rPr lang="zh-CN" altLang="en-US" b="1" dirty="0">
                <a:latin typeface="宋体" panose="02010600030101010101" pitchFamily="2" charset="-122"/>
              </a:rPr>
              <a:t>给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及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接口使用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2000"/>
              </a:spcBef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特点：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sp>
        <p:nvSpPr>
          <p:cNvPr id="386094" name="Text Box 46"/>
          <p:cNvSpPr txBox="1">
            <a:spLocks noChangeArrowheads="1"/>
          </p:cNvSpPr>
          <p:nvPr/>
        </p:nvSpPr>
        <p:spPr bwMode="auto">
          <a:xfrm>
            <a:off x="1475656" y="3349441"/>
            <a:ext cx="7346057" cy="13234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控制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最简单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</a:rPr>
              <a:t>传输</a:t>
            </a:r>
            <a:r>
              <a:rPr lang="zh-CN" altLang="en-US" b="1" dirty="0" smtClean="0">
                <a:latin typeface="宋体" panose="02010600030101010101" pitchFamily="2" charset="-122"/>
              </a:rPr>
              <a:t>效率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低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工作效率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较高</a:t>
            </a:r>
            <a:r>
              <a:rPr lang="zh-CN" altLang="en-US" b="1" dirty="0" smtClean="0">
                <a:latin typeface="宋体" panose="02010600030101010101" pitchFamily="2" charset="-122"/>
              </a:rPr>
              <a:t>；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5000"/>
              </a:lnSpc>
            </a:pPr>
            <a:r>
              <a:rPr lang="en-US" altLang="zh-CN" sz="16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无需请求</a:t>
            </a:r>
            <a:r>
              <a:rPr lang="en-US" altLang="zh-CN" sz="1600" b="1" dirty="0">
                <a:latin typeface="宋体" panose="02010600030101010101" pitchFamily="2" charset="-122"/>
              </a:rPr>
              <a:t>/</a:t>
            </a:r>
            <a:r>
              <a:rPr lang="zh-CN" altLang="en-US" sz="1600" b="1" dirty="0">
                <a:latin typeface="宋体" panose="02010600030101010101" pitchFamily="2" charset="-122"/>
              </a:rPr>
              <a:t>应答</a:t>
            </a:r>
            <a:r>
              <a:rPr lang="en-US" altLang="zh-CN" sz="1600" b="1" dirty="0">
                <a:latin typeface="宋体" panose="02010600030101010101" pitchFamily="2" charset="-122"/>
              </a:rPr>
              <a:t>)  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 (2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次传送间隔大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       (2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次访存间隔大</a:t>
            </a:r>
            <a:r>
              <a:rPr lang="en-US" altLang="zh-CN" sz="1600" b="1" dirty="0" smtClean="0">
                <a:latin typeface="宋体" panose="02010600030101010101" pitchFamily="2" charset="-122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适于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访存间隔＞主存周期</a:t>
            </a:r>
            <a:r>
              <a:rPr lang="en-US" altLang="zh-CN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×2</a:t>
            </a:r>
            <a:r>
              <a:rPr lang="zh-CN" altLang="en-US" b="1" dirty="0" smtClean="0">
                <a:latin typeface="宋体" panose="02010600030101010101" pitchFamily="2" charset="-122"/>
              </a:rPr>
              <a:t>的场合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0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很少使用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)</a:t>
            </a:r>
            <a:endParaRPr lang="zh-CN" altLang="en-US" sz="2000" b="1" dirty="0">
              <a:latin typeface="宋体" panose="02010600030101010101" pitchFamily="2" charset="-122"/>
            </a:endParaRPr>
          </a:p>
        </p:txBody>
      </p:sp>
      <p:sp>
        <p:nvSpPr>
          <p:cNvPr id="386226" name="AutoShape 178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7944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6228" name="Text Box 180"/>
          <p:cNvSpPr txBox="1">
            <a:spLocks noChangeArrowheads="1"/>
          </p:cNvSpPr>
          <p:nvPr/>
        </p:nvSpPr>
        <p:spPr bwMode="auto">
          <a:xfrm>
            <a:off x="179388" y="4653136"/>
            <a:ext cx="8785225" cy="129159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常用的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传送方式：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支持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多种</a:t>
            </a:r>
            <a:r>
              <a:rPr lang="zh-CN" altLang="en-US" b="1" dirty="0" smtClean="0">
                <a:latin typeface="宋体" panose="02010600030101010101" pitchFamily="2" charset="-122"/>
              </a:rPr>
              <a:t>传送方式，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 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时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指定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适当</a:t>
            </a:r>
            <a:r>
              <a:rPr lang="zh-CN" altLang="en-US" b="1" dirty="0" smtClean="0">
                <a:latin typeface="宋体" panose="02010600030101010101" pitchFamily="2" charset="-122"/>
              </a:rPr>
              <a:t>的传送方式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00000"/>
              </a:lnSpc>
            </a:pPr>
            <a:r>
              <a:rPr lang="en-US" altLang="zh-CN" sz="1800" b="1" dirty="0">
                <a:latin typeface="宋体" panose="02010600030101010101" pitchFamily="2" charset="-122"/>
              </a:rPr>
              <a:t>                                     </a:t>
            </a:r>
            <a:r>
              <a:rPr lang="en-US" altLang="zh-CN" sz="1800" dirty="0">
                <a:latin typeface="宋体" panose="02010600030101010101" pitchFamily="2" charset="-122"/>
              </a:rPr>
              <a:t>└</a:t>
            </a:r>
            <a:r>
              <a:rPr lang="en-US" altLang="zh-CN" sz="1800" b="1" dirty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软件</a:t>
            </a:r>
            <a:r>
              <a:rPr lang="zh-CN" altLang="en-US" sz="1800" b="1" dirty="0">
                <a:latin typeface="宋体" panose="02010600030101010101" pitchFamily="2" charset="-122"/>
              </a:rPr>
              <a:t>在传送准备时指定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99592" y="1396296"/>
            <a:ext cx="7560840" cy="1888688"/>
            <a:chOff x="899592" y="1340768"/>
            <a:chExt cx="7560840" cy="1888688"/>
          </a:xfrm>
        </p:grpSpPr>
        <p:sp>
          <p:nvSpPr>
            <p:cNvPr id="386099" name="Line 51"/>
            <p:cNvSpPr>
              <a:spLocks noChangeShapeType="1"/>
            </p:cNvSpPr>
            <p:nvPr/>
          </p:nvSpPr>
          <p:spPr bwMode="auto">
            <a:xfrm flipH="1">
              <a:off x="3852441" y="1344517"/>
              <a:ext cx="0" cy="15822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00" name="AutoShape 52"/>
            <p:cNvSpPr/>
            <p:nvPr/>
          </p:nvSpPr>
          <p:spPr bwMode="auto">
            <a:xfrm>
              <a:off x="2482751" y="2294418"/>
              <a:ext cx="73025" cy="431800"/>
            </a:xfrm>
            <a:prstGeom prst="leftBrace">
              <a:avLst>
                <a:gd name="adj1" fmla="val 49275"/>
                <a:gd name="adj2" fmla="val 50000"/>
              </a:avLst>
            </a:prstGeom>
            <a:noFill/>
            <a:ln w="158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6101" name="Text Box 53"/>
            <p:cNvSpPr txBox="1">
              <a:spLocks noChangeArrowheads="1"/>
            </p:cNvSpPr>
            <p:nvPr/>
          </p:nvSpPr>
          <p:spPr bwMode="auto">
            <a:xfrm>
              <a:off x="1619374" y="2943706"/>
              <a:ext cx="1296987" cy="28575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总线使用权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6105" name="Text Box 57"/>
            <p:cNvSpPr txBox="1">
              <a:spLocks noChangeArrowheads="1"/>
            </p:cNvSpPr>
            <p:nvPr/>
          </p:nvSpPr>
          <p:spPr bwMode="auto">
            <a:xfrm>
              <a:off x="1043906" y="2365855"/>
              <a:ext cx="1439862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l"/>
              <a:r>
                <a:rPr lang="zh-CN" altLang="en-US" sz="1800" b="1" dirty="0">
                  <a:latin typeface="宋体" panose="02010600030101010101" pitchFamily="2" charset="-122"/>
                </a:rPr>
                <a:t>分时控制信号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6106" name="Text Box 58"/>
            <p:cNvSpPr txBox="1">
              <a:spLocks noChangeArrowheads="1"/>
            </p:cNvSpPr>
            <p:nvPr/>
          </p:nvSpPr>
          <p:spPr bwMode="auto">
            <a:xfrm>
              <a:off x="1332508" y="1357793"/>
              <a:ext cx="1511300" cy="272089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 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工作状态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6107" name="Text Box 59"/>
            <p:cNvSpPr txBox="1">
              <a:spLocks noChangeArrowheads="1"/>
            </p:cNvSpPr>
            <p:nvPr/>
          </p:nvSpPr>
          <p:spPr bwMode="auto">
            <a:xfrm>
              <a:off x="2556470" y="2221393"/>
              <a:ext cx="287338" cy="5762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0" rIns="18000" bIns="10800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C1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 algn="l">
                <a:lnSpc>
                  <a:spcPct val="90000"/>
                </a:lnSpc>
                <a:spcBef>
                  <a:spcPts val="600"/>
                </a:spcBef>
              </a:pPr>
              <a:r>
                <a:rPr lang="en-US" altLang="zh-CN" sz="1800" b="1" dirty="0">
                  <a:latin typeface="宋体" panose="02010600030101010101" pitchFamily="2" charset="-122"/>
                </a:rPr>
                <a:t>C2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6113" name="Line 65"/>
            <p:cNvSpPr>
              <a:spLocks noChangeShapeType="1"/>
            </p:cNvSpPr>
            <p:nvPr/>
          </p:nvSpPr>
          <p:spPr bwMode="auto">
            <a:xfrm>
              <a:off x="2916361" y="1486213"/>
              <a:ext cx="144463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16" name="Line 68"/>
            <p:cNvSpPr>
              <a:spLocks noChangeShapeType="1"/>
            </p:cNvSpPr>
            <p:nvPr/>
          </p:nvSpPr>
          <p:spPr bwMode="auto">
            <a:xfrm>
              <a:off x="3059237" y="22213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17" name="Line 69"/>
            <p:cNvSpPr>
              <a:spLocks noChangeShapeType="1"/>
            </p:cNvSpPr>
            <p:nvPr/>
          </p:nvSpPr>
          <p:spPr bwMode="auto">
            <a:xfrm flipV="1">
              <a:off x="3851399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18" name="Line 70"/>
            <p:cNvSpPr>
              <a:spLocks noChangeShapeType="1"/>
            </p:cNvSpPr>
            <p:nvPr/>
          </p:nvSpPr>
          <p:spPr bwMode="auto">
            <a:xfrm>
              <a:off x="3059237" y="27976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20" name="Line 72"/>
            <p:cNvSpPr>
              <a:spLocks noChangeShapeType="1"/>
            </p:cNvSpPr>
            <p:nvPr/>
          </p:nvSpPr>
          <p:spPr bwMode="auto">
            <a:xfrm>
              <a:off x="3851399" y="25817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23" name="Line 75"/>
            <p:cNvSpPr>
              <a:spLocks noChangeShapeType="1"/>
            </p:cNvSpPr>
            <p:nvPr/>
          </p:nvSpPr>
          <p:spPr bwMode="auto">
            <a:xfrm>
              <a:off x="2916361" y="3070736"/>
              <a:ext cx="1434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24" name="Line 76"/>
            <p:cNvSpPr>
              <a:spLocks noChangeShapeType="1"/>
            </p:cNvSpPr>
            <p:nvPr/>
          </p:nvSpPr>
          <p:spPr bwMode="auto">
            <a:xfrm>
              <a:off x="2916361" y="1918261"/>
              <a:ext cx="935038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25" name="Line 77"/>
            <p:cNvSpPr>
              <a:spLocks noChangeShapeType="1"/>
            </p:cNvSpPr>
            <p:nvPr/>
          </p:nvSpPr>
          <p:spPr bwMode="auto">
            <a:xfrm flipH="1">
              <a:off x="3060823" y="1340768"/>
              <a:ext cx="1" cy="1586645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33" name="Line 85"/>
            <p:cNvSpPr>
              <a:spLocks noChangeShapeType="1"/>
            </p:cNvSpPr>
            <p:nvPr/>
          </p:nvSpPr>
          <p:spPr bwMode="auto">
            <a:xfrm flipH="1">
              <a:off x="7813946" y="1344517"/>
              <a:ext cx="1" cy="1582203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48" name="Line 100"/>
            <p:cNvSpPr>
              <a:spLocks noChangeShapeType="1"/>
            </p:cNvSpPr>
            <p:nvPr/>
          </p:nvSpPr>
          <p:spPr bwMode="auto">
            <a:xfrm>
              <a:off x="7813946" y="1918608"/>
              <a:ext cx="64648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49" name="Line 101"/>
            <p:cNvSpPr>
              <a:spLocks noChangeShapeType="1"/>
            </p:cNvSpPr>
            <p:nvPr/>
          </p:nvSpPr>
          <p:spPr bwMode="auto">
            <a:xfrm>
              <a:off x="4642495" y="1357793"/>
              <a:ext cx="1513" cy="1568927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50" name="Line 102"/>
            <p:cNvSpPr>
              <a:spLocks noChangeShapeType="1"/>
            </p:cNvSpPr>
            <p:nvPr/>
          </p:nvSpPr>
          <p:spPr bwMode="auto">
            <a:xfrm flipH="1">
              <a:off x="7021785" y="1357793"/>
              <a:ext cx="0" cy="156892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0" name="Text Box 122"/>
            <p:cNvSpPr txBox="1">
              <a:spLocks noChangeArrowheads="1"/>
            </p:cNvSpPr>
            <p:nvPr/>
          </p:nvSpPr>
          <p:spPr bwMode="auto">
            <a:xfrm>
              <a:off x="899592" y="1789593"/>
              <a:ext cx="1944216" cy="272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/>
            <a:lstStyle/>
            <a:p>
              <a:pPr algn="r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 工作状态</a:t>
              </a:r>
              <a:endParaRPr lang="zh-CN" altLang="en-US" sz="1800" b="1" dirty="0">
                <a:solidFill>
                  <a:schemeClr val="accent2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6171" name="Line 123"/>
            <p:cNvSpPr>
              <a:spLocks noChangeShapeType="1"/>
            </p:cNvSpPr>
            <p:nvPr/>
          </p:nvSpPr>
          <p:spPr bwMode="auto">
            <a:xfrm flipV="1">
              <a:off x="3851399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2" name="Line 124"/>
            <p:cNvSpPr>
              <a:spLocks noChangeShapeType="1"/>
            </p:cNvSpPr>
            <p:nvPr/>
          </p:nvSpPr>
          <p:spPr bwMode="auto">
            <a:xfrm>
              <a:off x="3851399" y="24372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5" name="Line 127"/>
            <p:cNvSpPr>
              <a:spLocks noChangeShapeType="1"/>
            </p:cNvSpPr>
            <p:nvPr/>
          </p:nvSpPr>
          <p:spPr bwMode="auto">
            <a:xfrm flipV="1">
              <a:off x="4643562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6" name="Line 128"/>
            <p:cNvSpPr>
              <a:spLocks noChangeShapeType="1"/>
            </p:cNvSpPr>
            <p:nvPr/>
          </p:nvSpPr>
          <p:spPr bwMode="auto">
            <a:xfrm>
              <a:off x="4643562" y="22213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7" name="Line 129"/>
            <p:cNvSpPr>
              <a:spLocks noChangeShapeType="1"/>
            </p:cNvSpPr>
            <p:nvPr/>
          </p:nvSpPr>
          <p:spPr bwMode="auto">
            <a:xfrm flipV="1">
              <a:off x="4643562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8" name="Line 130"/>
            <p:cNvSpPr>
              <a:spLocks noChangeShapeType="1"/>
            </p:cNvSpPr>
            <p:nvPr/>
          </p:nvSpPr>
          <p:spPr bwMode="auto">
            <a:xfrm>
              <a:off x="4643562" y="27976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79" name="Line 131"/>
            <p:cNvSpPr>
              <a:spLocks noChangeShapeType="1"/>
            </p:cNvSpPr>
            <p:nvPr/>
          </p:nvSpPr>
          <p:spPr bwMode="auto">
            <a:xfrm flipV="1">
              <a:off x="5435724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1" name="Line 133"/>
            <p:cNvSpPr>
              <a:spLocks noChangeShapeType="1"/>
            </p:cNvSpPr>
            <p:nvPr/>
          </p:nvSpPr>
          <p:spPr bwMode="auto">
            <a:xfrm flipV="1">
              <a:off x="5435724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3" name="Line 135"/>
            <p:cNvSpPr>
              <a:spLocks noChangeShapeType="1"/>
            </p:cNvSpPr>
            <p:nvPr/>
          </p:nvSpPr>
          <p:spPr bwMode="auto">
            <a:xfrm>
              <a:off x="5435724" y="25817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4" name="Line 136"/>
            <p:cNvSpPr>
              <a:spLocks noChangeShapeType="1"/>
            </p:cNvSpPr>
            <p:nvPr/>
          </p:nvSpPr>
          <p:spPr bwMode="auto">
            <a:xfrm>
              <a:off x="5435724" y="24372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5" name="Line 137"/>
            <p:cNvSpPr>
              <a:spLocks noChangeShapeType="1"/>
            </p:cNvSpPr>
            <p:nvPr/>
          </p:nvSpPr>
          <p:spPr bwMode="auto">
            <a:xfrm flipV="1">
              <a:off x="6227887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6" name="Line 138"/>
            <p:cNvSpPr>
              <a:spLocks noChangeShapeType="1"/>
            </p:cNvSpPr>
            <p:nvPr/>
          </p:nvSpPr>
          <p:spPr bwMode="auto">
            <a:xfrm>
              <a:off x="6227887" y="22213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7" name="Line 139"/>
            <p:cNvSpPr>
              <a:spLocks noChangeShapeType="1"/>
            </p:cNvSpPr>
            <p:nvPr/>
          </p:nvSpPr>
          <p:spPr bwMode="auto">
            <a:xfrm flipV="1">
              <a:off x="6227887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8" name="Line 140"/>
            <p:cNvSpPr>
              <a:spLocks noChangeShapeType="1"/>
            </p:cNvSpPr>
            <p:nvPr/>
          </p:nvSpPr>
          <p:spPr bwMode="auto">
            <a:xfrm>
              <a:off x="6227887" y="27976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89" name="Line 141"/>
            <p:cNvSpPr>
              <a:spLocks noChangeShapeType="1"/>
            </p:cNvSpPr>
            <p:nvPr/>
          </p:nvSpPr>
          <p:spPr bwMode="auto">
            <a:xfrm flipV="1">
              <a:off x="7020049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0" name="Line 142"/>
            <p:cNvSpPr>
              <a:spLocks noChangeShapeType="1"/>
            </p:cNvSpPr>
            <p:nvPr/>
          </p:nvSpPr>
          <p:spPr bwMode="auto">
            <a:xfrm flipV="1">
              <a:off x="7020049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1" name="Line 143"/>
            <p:cNvSpPr>
              <a:spLocks noChangeShapeType="1"/>
            </p:cNvSpPr>
            <p:nvPr/>
          </p:nvSpPr>
          <p:spPr bwMode="auto">
            <a:xfrm flipV="1">
              <a:off x="3059237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2" name="Line 144"/>
            <p:cNvSpPr>
              <a:spLocks noChangeShapeType="1"/>
            </p:cNvSpPr>
            <p:nvPr/>
          </p:nvSpPr>
          <p:spPr bwMode="auto">
            <a:xfrm flipV="1">
              <a:off x="3059237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3" name="Line 145"/>
            <p:cNvSpPr>
              <a:spLocks noChangeShapeType="1"/>
            </p:cNvSpPr>
            <p:nvPr/>
          </p:nvSpPr>
          <p:spPr bwMode="auto">
            <a:xfrm>
              <a:off x="2916361" y="2437293"/>
              <a:ext cx="141288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4" name="Line 146"/>
            <p:cNvSpPr>
              <a:spLocks noChangeShapeType="1"/>
            </p:cNvSpPr>
            <p:nvPr/>
          </p:nvSpPr>
          <p:spPr bwMode="auto">
            <a:xfrm>
              <a:off x="2916361" y="2581755"/>
              <a:ext cx="14128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5" name="Line 147"/>
            <p:cNvSpPr>
              <a:spLocks noChangeShapeType="1"/>
            </p:cNvSpPr>
            <p:nvPr/>
          </p:nvSpPr>
          <p:spPr bwMode="auto">
            <a:xfrm>
              <a:off x="7020049" y="2581755"/>
              <a:ext cx="792162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6" name="Line 148"/>
            <p:cNvSpPr>
              <a:spLocks noChangeShapeType="1"/>
            </p:cNvSpPr>
            <p:nvPr/>
          </p:nvSpPr>
          <p:spPr bwMode="auto">
            <a:xfrm>
              <a:off x="7020049" y="2437293"/>
              <a:ext cx="7921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7" name="Line 149"/>
            <p:cNvSpPr>
              <a:spLocks noChangeShapeType="1"/>
            </p:cNvSpPr>
            <p:nvPr/>
          </p:nvSpPr>
          <p:spPr bwMode="auto">
            <a:xfrm flipV="1">
              <a:off x="7812212" y="2221393"/>
              <a:ext cx="0" cy="2159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8" name="Line 150"/>
            <p:cNvSpPr>
              <a:spLocks noChangeShapeType="1"/>
            </p:cNvSpPr>
            <p:nvPr/>
          </p:nvSpPr>
          <p:spPr bwMode="auto">
            <a:xfrm>
              <a:off x="7812212" y="2221393"/>
              <a:ext cx="64822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199" name="Line 151"/>
            <p:cNvSpPr>
              <a:spLocks noChangeShapeType="1"/>
            </p:cNvSpPr>
            <p:nvPr/>
          </p:nvSpPr>
          <p:spPr bwMode="auto">
            <a:xfrm flipV="1">
              <a:off x="7812212" y="2581755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200" name="Line 152"/>
            <p:cNvSpPr>
              <a:spLocks noChangeShapeType="1"/>
            </p:cNvSpPr>
            <p:nvPr/>
          </p:nvSpPr>
          <p:spPr bwMode="auto">
            <a:xfrm>
              <a:off x="7812212" y="2797655"/>
              <a:ext cx="648220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209" name="Line 161"/>
            <p:cNvSpPr>
              <a:spLocks noChangeShapeType="1"/>
            </p:cNvSpPr>
            <p:nvPr/>
          </p:nvSpPr>
          <p:spPr bwMode="auto">
            <a:xfrm flipV="1">
              <a:off x="4643562" y="1918261"/>
              <a:ext cx="791021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212" name="Line 164"/>
            <p:cNvSpPr>
              <a:spLocks noChangeShapeType="1"/>
            </p:cNvSpPr>
            <p:nvPr/>
          </p:nvSpPr>
          <p:spPr bwMode="auto">
            <a:xfrm>
              <a:off x="6227887" y="1918608"/>
              <a:ext cx="7921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215" name="Line 167"/>
            <p:cNvSpPr>
              <a:spLocks noChangeShapeType="1"/>
            </p:cNvSpPr>
            <p:nvPr/>
          </p:nvSpPr>
          <p:spPr bwMode="auto">
            <a:xfrm>
              <a:off x="5434584" y="1344517"/>
              <a:ext cx="0" cy="158220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6216" name="Line 168"/>
            <p:cNvSpPr>
              <a:spLocks noChangeShapeType="1"/>
            </p:cNvSpPr>
            <p:nvPr/>
          </p:nvSpPr>
          <p:spPr bwMode="auto">
            <a:xfrm>
              <a:off x="6225679" y="1342544"/>
              <a:ext cx="5010" cy="1584176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prstDash val="sysDash"/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225"/>
            <p:cNvSpPr>
              <a:spLocks noChangeArrowheads="1"/>
            </p:cNvSpPr>
            <p:nvPr/>
          </p:nvSpPr>
          <p:spPr bwMode="auto">
            <a:xfrm>
              <a:off x="7813947" y="2927414"/>
              <a:ext cx="646484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04" name="Line 286"/>
            <p:cNvSpPr>
              <a:spLocks noChangeShapeType="1"/>
            </p:cNvSpPr>
            <p:nvPr/>
          </p:nvSpPr>
          <p:spPr bwMode="auto">
            <a:xfrm flipV="1">
              <a:off x="7812359" y="2926720"/>
              <a:ext cx="648071" cy="69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287"/>
            <p:cNvSpPr>
              <a:spLocks noChangeShapeType="1"/>
            </p:cNvSpPr>
            <p:nvPr/>
          </p:nvSpPr>
          <p:spPr bwMode="auto">
            <a:xfrm>
              <a:off x="7813947" y="3212974"/>
              <a:ext cx="646484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Rectangle 291"/>
            <p:cNvSpPr>
              <a:spLocks noChangeArrowheads="1"/>
            </p:cNvSpPr>
            <p:nvPr/>
          </p:nvSpPr>
          <p:spPr bwMode="auto">
            <a:xfrm>
              <a:off x="7957045" y="1344517"/>
              <a:ext cx="503386" cy="28733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pPr algn="l"/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09" name="AutoShape 292"/>
            <p:cNvSpPr>
              <a:spLocks noChangeArrowheads="1"/>
            </p:cNvSpPr>
            <p:nvPr/>
          </p:nvSpPr>
          <p:spPr bwMode="auto">
            <a:xfrm rot="16200000">
              <a:off x="7741144" y="1415954"/>
              <a:ext cx="287338" cy="144463"/>
            </a:xfrm>
            <a:prstGeom prst="triangle">
              <a:avLst>
                <a:gd name="adj" fmla="val 50000"/>
              </a:avLst>
            </a:prstGeom>
            <a:solidFill>
              <a:srgbClr val="FFCCFF">
                <a:alpha val="80000"/>
              </a:srgbClr>
            </a:solidFill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0" name="Line 293"/>
            <p:cNvSpPr>
              <a:spLocks noChangeShapeType="1"/>
            </p:cNvSpPr>
            <p:nvPr/>
          </p:nvSpPr>
          <p:spPr bwMode="auto">
            <a:xfrm flipV="1">
              <a:off x="7955457" y="1344516"/>
              <a:ext cx="504974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294"/>
            <p:cNvSpPr>
              <a:spLocks noChangeShapeType="1"/>
            </p:cNvSpPr>
            <p:nvPr/>
          </p:nvSpPr>
          <p:spPr bwMode="auto">
            <a:xfrm>
              <a:off x="7957044" y="1631854"/>
              <a:ext cx="503388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295"/>
            <p:cNvSpPr>
              <a:spLocks noChangeShapeType="1"/>
            </p:cNvSpPr>
            <p:nvPr/>
          </p:nvSpPr>
          <p:spPr bwMode="auto">
            <a:xfrm>
              <a:off x="7812582" y="1488979"/>
              <a:ext cx="144463" cy="142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296"/>
            <p:cNvSpPr>
              <a:spLocks noChangeShapeType="1"/>
            </p:cNvSpPr>
            <p:nvPr/>
          </p:nvSpPr>
          <p:spPr bwMode="auto">
            <a:xfrm flipV="1">
              <a:off x="7812582" y="1344517"/>
              <a:ext cx="144463" cy="1444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Rectangle 225"/>
            <p:cNvSpPr>
              <a:spLocks noChangeArrowheads="1"/>
            </p:cNvSpPr>
            <p:nvPr/>
          </p:nvSpPr>
          <p:spPr bwMode="auto">
            <a:xfrm>
              <a:off x="3060824" y="2927414"/>
              <a:ext cx="790575" cy="28556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19" name="Rectangle 225"/>
            <p:cNvSpPr>
              <a:spLocks noChangeArrowheads="1"/>
            </p:cNvSpPr>
            <p:nvPr/>
          </p:nvSpPr>
          <p:spPr bwMode="auto">
            <a:xfrm>
              <a:off x="3851920" y="2926720"/>
              <a:ext cx="790575" cy="286254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0" name="Rectangle 225"/>
            <p:cNvSpPr>
              <a:spLocks noChangeArrowheads="1"/>
            </p:cNvSpPr>
            <p:nvPr/>
          </p:nvSpPr>
          <p:spPr bwMode="auto">
            <a:xfrm>
              <a:off x="4644008" y="2926720"/>
              <a:ext cx="790575" cy="2862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1" name="Rectangle 225"/>
            <p:cNvSpPr>
              <a:spLocks noChangeArrowheads="1"/>
            </p:cNvSpPr>
            <p:nvPr/>
          </p:nvSpPr>
          <p:spPr bwMode="auto">
            <a:xfrm>
              <a:off x="5435104" y="2927414"/>
              <a:ext cx="790575" cy="28556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2" name="Rectangle 225"/>
            <p:cNvSpPr>
              <a:spLocks noChangeArrowheads="1"/>
            </p:cNvSpPr>
            <p:nvPr/>
          </p:nvSpPr>
          <p:spPr bwMode="auto">
            <a:xfrm>
              <a:off x="6230689" y="2926720"/>
              <a:ext cx="790575" cy="286254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CPU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3" name="Rectangle 225"/>
            <p:cNvSpPr>
              <a:spLocks noChangeArrowheads="1"/>
            </p:cNvSpPr>
            <p:nvPr/>
          </p:nvSpPr>
          <p:spPr bwMode="auto">
            <a:xfrm>
              <a:off x="7021785" y="2925638"/>
              <a:ext cx="790575" cy="287338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en-US" altLang="zh-CN" sz="1800" b="1" dirty="0" smtClean="0">
                  <a:latin typeface="+mn-ea"/>
                  <a:ea typeface="+mn-ea"/>
                </a:rPr>
                <a:t>DMA</a:t>
              </a:r>
              <a:endParaRPr lang="zh-CN" altLang="en-US" sz="1800" b="1" dirty="0">
                <a:latin typeface="+mn-ea"/>
                <a:ea typeface="+mn-ea"/>
              </a:endParaRPr>
            </a:p>
          </p:txBody>
        </p:sp>
        <p:sp>
          <p:nvSpPr>
            <p:cNvPr id="125" name="AutoShape 257"/>
            <p:cNvSpPr>
              <a:spLocks noChangeArrowheads="1"/>
            </p:cNvSpPr>
            <p:nvPr/>
          </p:nvSpPr>
          <p:spPr bwMode="auto">
            <a:xfrm>
              <a:off x="3851399" y="1775286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26" name="AutoShape 257"/>
            <p:cNvSpPr>
              <a:spLocks noChangeArrowheads="1"/>
            </p:cNvSpPr>
            <p:nvPr/>
          </p:nvSpPr>
          <p:spPr bwMode="auto">
            <a:xfrm>
              <a:off x="7019751" y="1774592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27" name="AutoShape 257"/>
            <p:cNvSpPr>
              <a:spLocks noChangeArrowheads="1"/>
            </p:cNvSpPr>
            <p:nvPr/>
          </p:nvSpPr>
          <p:spPr bwMode="auto">
            <a:xfrm>
              <a:off x="5435575" y="1774592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99CC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传送</a:t>
              </a:r>
              <a:endParaRPr lang="zh-CN" altLang="en-US" sz="1800" b="1" dirty="0"/>
            </a:p>
          </p:txBody>
        </p:sp>
        <p:sp>
          <p:nvSpPr>
            <p:cNvPr id="128" name="AutoShape 257"/>
            <p:cNvSpPr>
              <a:spLocks noChangeArrowheads="1"/>
            </p:cNvSpPr>
            <p:nvPr/>
          </p:nvSpPr>
          <p:spPr bwMode="auto">
            <a:xfrm>
              <a:off x="3059832" y="1342544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29" name="AutoShape 257"/>
            <p:cNvSpPr>
              <a:spLocks noChangeArrowheads="1"/>
            </p:cNvSpPr>
            <p:nvPr/>
          </p:nvSpPr>
          <p:spPr bwMode="auto">
            <a:xfrm>
              <a:off x="4643487" y="1342544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30" name="AutoShape 257"/>
            <p:cNvSpPr>
              <a:spLocks noChangeArrowheads="1"/>
            </p:cNvSpPr>
            <p:nvPr/>
          </p:nvSpPr>
          <p:spPr bwMode="auto">
            <a:xfrm>
              <a:off x="6227663" y="1342544"/>
              <a:ext cx="792609" cy="287338"/>
            </a:xfrm>
            <a:prstGeom prst="hexagon">
              <a:avLst>
                <a:gd name="adj" fmla="val 42541"/>
                <a:gd name="vf" fmla="val 115470"/>
              </a:avLst>
            </a:prstGeom>
            <a:solidFill>
              <a:srgbClr val="FFCCFF">
                <a:alpha val="80000"/>
              </a:srgbClr>
            </a:solidFill>
            <a:ln w="19050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lIns="18000" tIns="10800" rIns="18000" bIns="10800" anchor="ctr"/>
            <a:lstStyle/>
            <a:p>
              <a:r>
                <a:rPr lang="zh-CN" altLang="en-US" sz="1800" b="1" dirty="0" smtClean="0"/>
                <a:t>访存</a:t>
              </a:r>
              <a:endParaRPr lang="zh-CN" altLang="en-US" sz="1800" b="1" dirty="0"/>
            </a:p>
          </p:txBody>
        </p:sp>
        <p:sp>
          <p:nvSpPr>
            <p:cNvPr id="131" name="Line 161"/>
            <p:cNvSpPr>
              <a:spLocks noChangeShapeType="1"/>
            </p:cNvSpPr>
            <p:nvPr/>
          </p:nvSpPr>
          <p:spPr bwMode="auto">
            <a:xfrm flipV="1">
              <a:off x="3851920" y="1486213"/>
              <a:ext cx="791021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Line 161"/>
            <p:cNvSpPr>
              <a:spLocks noChangeShapeType="1"/>
            </p:cNvSpPr>
            <p:nvPr/>
          </p:nvSpPr>
          <p:spPr bwMode="auto">
            <a:xfrm flipV="1">
              <a:off x="5437163" y="1486560"/>
              <a:ext cx="791021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Line 161"/>
            <p:cNvSpPr>
              <a:spLocks noChangeShapeType="1"/>
            </p:cNvSpPr>
            <p:nvPr/>
          </p:nvSpPr>
          <p:spPr bwMode="auto">
            <a:xfrm flipV="1">
              <a:off x="7021339" y="1486560"/>
              <a:ext cx="791021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3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6228531" y="6524997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49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6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6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94" grpId="0"/>
      <p:bldP spid="386228" grpId="0" bldLvl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Box 242"/>
          <p:cNvSpPr txBox="1">
            <a:spLocks noChangeArrowheads="1"/>
          </p:cNvSpPr>
          <p:nvPr/>
        </p:nvSpPr>
        <p:spPr bwMode="auto">
          <a:xfrm>
            <a:off x="179705" y="908685"/>
            <a:ext cx="4033520" cy="54387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接口功能：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spc="-100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spc="-100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接口结构：</a:t>
            </a:r>
            <a:endParaRPr lang="zh-CN" altLang="en-US" b="1" spc="-100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接口逻辑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000" b="1" spc="-100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DMA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传送控制逻辑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—</a:t>
            </a:r>
            <a:endParaRPr lang="zh-CN" altLang="en-US" b="1" spc="-100" dirty="0">
              <a:latin typeface="宋体" panose="02010600030101010101" pitchFamily="2" charset="-122"/>
            </a:endParaRPr>
          </a:p>
        </p:txBody>
      </p:sp>
      <p:sp>
        <p:nvSpPr>
          <p:cNvPr id="9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29B4D-A33F-4B37-AE79-0E5C52B1CB1A}" type="slidenum">
              <a:rPr lang="en-US" altLang="zh-CN"/>
            </a:fld>
            <a:endParaRPr lang="en-US" altLang="zh-CN" dirty="0"/>
          </a:p>
        </p:txBody>
      </p:sp>
      <p:sp>
        <p:nvSpPr>
          <p:cNvPr id="13497" name="Text Box 185"/>
          <p:cNvSpPr txBox="1">
            <a:spLocks noChangeArrowheads="1"/>
          </p:cNvSpPr>
          <p:nvPr/>
        </p:nvSpPr>
        <p:spPr bwMode="auto">
          <a:xfrm>
            <a:off x="179388" y="435442"/>
            <a:ext cx="8819356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二、</a:t>
            </a:r>
            <a:r>
              <a:rPr lang="en-US" altLang="zh-CN" dirty="0"/>
              <a:t>DMA</a:t>
            </a:r>
            <a:r>
              <a:rPr lang="zh-CN" altLang="en-US" dirty="0"/>
              <a:t>接口的功能与结构</a:t>
            </a:r>
            <a:endParaRPr lang="zh-CN" altLang="en-US" dirty="0"/>
          </a:p>
        </p:txBody>
      </p:sp>
      <p:sp>
        <p:nvSpPr>
          <p:cNvPr id="13554" name="Text Box 242"/>
          <p:cNvSpPr txBox="1">
            <a:spLocks noChangeArrowheads="1"/>
          </p:cNvSpPr>
          <p:nvPr/>
        </p:nvSpPr>
        <p:spPr bwMode="auto">
          <a:xfrm>
            <a:off x="2484000" y="908685"/>
            <a:ext cx="6477000" cy="228409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①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设备</a:t>
            </a:r>
            <a:r>
              <a:rPr lang="en-US" altLang="zh-CN" b="1" dirty="0" smtClean="0">
                <a:latin typeface="宋体" panose="02010600030101010101" pitchFamily="2" charset="-122"/>
                <a:sym typeface="+mn-ea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接口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常规功能、传送结束时产生中断请求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  <a:sym typeface="+mn-ea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②</a:t>
            </a:r>
            <a:r>
              <a:rPr lang="en-US" altLang="zh-CN" b="1" dirty="0">
                <a:latin typeface="宋体" panose="02010600030101010101" pitchFamily="2" charset="-122"/>
                <a:sym typeface="+mn-ea"/>
              </a:rPr>
              <a:t>DMA</a:t>
            </a:r>
            <a:r>
              <a:rPr lang="zh-CN" altLang="en-US" b="1" dirty="0">
                <a:latin typeface="宋体" panose="02010600030101010101" pitchFamily="2" charset="-122"/>
                <a:sym typeface="+mn-ea"/>
              </a:rPr>
              <a:t>传送</a:t>
            </a:r>
            <a:r>
              <a:rPr lang="zh-CN" altLang="en-US" b="1" dirty="0" smtClean="0">
                <a:latin typeface="宋体" panose="02010600030101010101" pitchFamily="2" charset="-122"/>
                <a:sym typeface="+mn-ea"/>
              </a:rPr>
              <a:t>控制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  <a:sym typeface="+mn-ea"/>
              </a:rPr>
              <a:t>总线请求、总线传输、批量管理</a:t>
            </a:r>
            <a:r>
              <a:rPr lang="en-US" altLang="zh-CN" sz="1800" b="1" dirty="0" smtClean="0">
                <a:latin typeface="宋体" panose="02010600030101010101" pitchFamily="2" charset="-122"/>
                <a:sym typeface="+mn-ea"/>
              </a:rPr>
              <a:t>)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latin typeface="宋体" panose="02010600030101010101" pitchFamily="2" charset="-122"/>
              </a:rPr>
              <a:t>中断式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endParaRPr lang="zh-CN" altLang="en-US" b="1" dirty="0" smtClean="0">
              <a:latin typeface="宋体" panose="02010600030101010101" pitchFamily="2" charset="-122"/>
            </a:endParaRPr>
          </a:p>
        </p:txBody>
      </p:sp>
      <p:sp>
        <p:nvSpPr>
          <p:cNvPr id="13632" name="Text Box 320"/>
          <p:cNvSpPr txBox="1">
            <a:spLocks noChangeArrowheads="1"/>
          </p:cNvSpPr>
          <p:nvPr/>
        </p:nvSpPr>
        <p:spPr bwMode="auto">
          <a:xfrm>
            <a:off x="3491880" y="5724000"/>
            <a:ext cx="5184701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spc="-70" dirty="0" smtClean="0">
                <a:latin typeface="宋体" panose="02010600030101010101" pitchFamily="2" charset="-122"/>
              </a:rPr>
              <a:t>MAC</a:t>
            </a:r>
            <a:r>
              <a:rPr lang="zh-CN" altLang="en-US" b="1" spc="-70" dirty="0">
                <a:latin typeface="宋体" panose="02010600030101010101" pitchFamily="2" charset="-122"/>
              </a:rPr>
              <a:t>及</a:t>
            </a:r>
            <a:r>
              <a:rPr lang="en-US" altLang="zh-CN" b="1" spc="-70" dirty="0">
                <a:latin typeface="宋体" panose="02010600030101010101" pitchFamily="2" charset="-122"/>
              </a:rPr>
              <a:t>WC</a:t>
            </a:r>
            <a:r>
              <a:rPr lang="zh-CN" altLang="en-US" b="1" spc="-70" dirty="0" smtClean="0">
                <a:latin typeface="宋体" panose="02010600030101010101" pitchFamily="2" charset="-122"/>
              </a:rPr>
              <a:t>，总线控制，</a:t>
            </a:r>
            <a:r>
              <a:rPr lang="en-US" altLang="zh-CN" b="1" spc="-70" dirty="0" smtClean="0">
                <a:latin typeface="宋体" panose="02010600030101010101" pitchFamily="2" charset="-122"/>
              </a:rPr>
              <a:t>DMA</a:t>
            </a:r>
            <a:r>
              <a:rPr lang="zh-CN" altLang="en-US" b="1" spc="-70" dirty="0" smtClean="0">
                <a:latin typeface="宋体" panose="02010600030101010101" pitchFamily="2" charset="-122"/>
              </a:rPr>
              <a:t>控制</a:t>
            </a:r>
            <a:r>
              <a:rPr lang="en-US" altLang="zh-CN" sz="1800" b="1" spc="-7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70" dirty="0" smtClean="0">
                <a:latin typeface="宋体" panose="02010600030101010101" pitchFamily="2" charset="-122"/>
              </a:rPr>
              <a:t>含请求</a:t>
            </a:r>
            <a:r>
              <a:rPr lang="en-US" altLang="zh-CN" sz="1800" b="1" spc="-70" dirty="0" smtClean="0">
                <a:latin typeface="宋体" panose="02010600030101010101" pitchFamily="2" charset="-122"/>
              </a:rPr>
              <a:t>)</a:t>
            </a:r>
            <a:endParaRPr lang="zh-CN" altLang="en-US" b="1" spc="-70" dirty="0">
              <a:latin typeface="宋体" panose="02010600030101010101" pitchFamily="2" charset="-122"/>
            </a:endParaRPr>
          </a:p>
        </p:txBody>
      </p:sp>
      <p:sp>
        <p:nvSpPr>
          <p:cNvPr id="13748" name="AutoShape 43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1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49" name="AutoShape 437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863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8" name="Text Box 200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114970" y="1908000"/>
            <a:ext cx="7704000" cy="288290"/>
          </a:xfrm>
          <a:prstGeom prst="rect">
            <a:avLst/>
          </a:prstGeom>
          <a:noFill/>
          <a:ln w="12700">
            <a:solidFill>
              <a:srgbClr val="990099"/>
            </a:solidFill>
            <a:prstDash val="sysDash"/>
            <a:miter lim="800000"/>
          </a:ln>
          <a:effectLst/>
        </p:spPr>
        <p:txBody>
          <a:bodyPr wrap="square" lIns="36195" tIns="17780" rIns="36195" bIns="0" anchor="ctr" anchorCtr="0">
            <a:noAutofit/>
          </a:bodyPr>
          <a:p>
            <a:pPr marL="805180" indent="-80518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solidFill>
                  <a:srgbClr val="990099"/>
                </a:solidFill>
                <a:latin typeface="+mn-ea"/>
                <a:ea typeface="+mn-ea"/>
              </a:rPr>
              <a:t>思考：</a:t>
            </a:r>
            <a:r>
              <a:rPr lang="zh-CN" sz="1800" b="1" dirty="0">
                <a:latin typeface="宋体" panose="02010600030101010101" pitchFamily="2" charset="-122"/>
              </a:rPr>
              <a:t>总线传送</a:t>
            </a:r>
            <a:r>
              <a:rPr lang="en-US" altLang="zh-CN" sz="1800" b="1" dirty="0">
                <a:latin typeface="宋体" panose="02010600030101010101" pitchFamily="2" charset="-122"/>
              </a:rPr>
              <a:t>1</a:t>
            </a:r>
            <a:r>
              <a:rPr lang="zh-CN" altLang="en-US" sz="1800" b="1" dirty="0">
                <a:latin typeface="宋体" panose="02010600030101010101" pitchFamily="2" charset="-122"/>
              </a:rPr>
              <a:t>个数据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次，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批量管理</a:t>
            </a:r>
            <a:r>
              <a:rPr lang="zh-CN" sz="1800" b="1" dirty="0">
                <a:latin typeface="宋体" panose="02010600030101010101" pitchFamily="2" charset="-122"/>
                <a:sym typeface="+mn-ea"/>
              </a:rPr>
              <a:t>如何传送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？接口需要哪些器件支持？</a:t>
            </a:r>
            <a:endParaRPr lang="zh-CN" altLang="en-US" sz="1800" b="1" dirty="0" smtClean="0">
              <a:latin typeface="宋体" panose="02010600030101010101" pitchFamily="2" charset="-122"/>
            </a:endParaRPr>
          </a:p>
        </p:txBody>
      </p:sp>
      <p:sp>
        <p:nvSpPr>
          <p:cNvPr id="549" name="Text Box 9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009795" y="2232000"/>
            <a:ext cx="2844000" cy="270000"/>
          </a:xfrm>
          <a:prstGeom prst="rect">
            <a:avLst/>
          </a:prstGeom>
          <a:noFill/>
          <a:ln w="12700">
            <a:noFill/>
            <a:prstDash val="sysDash"/>
            <a:miter lim="800000"/>
          </a:ln>
          <a:effectLst/>
        </p:spPr>
        <p:txBody>
          <a:bodyPr lIns="18000" tIns="10800" rIns="18000" bIns="10800" anchor="ctr"/>
          <a:p>
            <a:pPr>
              <a:lnSpc>
                <a:spcPct val="90000"/>
              </a:lnSpc>
            </a:pP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循环方式</a:t>
            </a:r>
            <a:r>
              <a:rPr lang="zh-CN" altLang="en-US" sz="1600" b="1" dirty="0" smtClean="0">
                <a:latin typeface="宋体" panose="02010600030101010101" pitchFamily="2" charset="-122"/>
              </a:rPr>
              <a:t>传送，设置</a:t>
            </a:r>
            <a:r>
              <a:rPr lang="en-US" altLang="zh-CN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2</a:t>
            </a:r>
            <a:r>
              <a:rPr lang="zh-CN" altLang="en-US" sz="1600" b="1" dirty="0" smtClean="0">
                <a:solidFill>
                  <a:srgbClr val="0070C0"/>
                </a:solidFill>
                <a:latin typeface="宋体" panose="02010600030101010101" pitchFamily="2" charset="-122"/>
              </a:rPr>
              <a:t>个计数器</a:t>
            </a:r>
            <a:endParaRPr lang="zh-CN" altLang="en-US" sz="1600" b="1" dirty="0" smtClean="0">
              <a:solidFill>
                <a:srgbClr val="0070C0"/>
              </a:solidFill>
              <a:latin typeface="宋体" panose="02010600030101010101" pitchFamily="2" charset="-122"/>
            </a:endParaRPr>
          </a:p>
        </p:txBody>
      </p:sp>
      <p:grpSp>
        <p:nvGrpSpPr>
          <p:cNvPr id="670" name="组合 669"/>
          <p:cNvGrpSpPr/>
          <p:nvPr/>
        </p:nvGrpSpPr>
        <p:grpSpPr>
          <a:xfrm>
            <a:off x="4175760" y="3203265"/>
            <a:ext cx="1403350" cy="612140"/>
            <a:chOff x="6576" y="4309"/>
            <a:chExt cx="2210" cy="964"/>
          </a:xfrm>
        </p:grpSpPr>
        <p:sp>
          <p:nvSpPr>
            <p:cNvPr id="669" name="Rectangle 33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6576" y="4309"/>
              <a:ext cx="2211" cy="964"/>
            </a:xfrm>
            <a:prstGeom prst="rect">
              <a:avLst/>
            </a:prstGeom>
            <a:solidFill>
              <a:srgbClr val="CCCCFF"/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cxnSp>
          <p:nvCxnSpPr>
            <p:cNvPr id="663" name="直接连接符 662"/>
            <p:cNvCxnSpPr/>
            <p:nvPr>
              <p:custDataLst>
                <p:tags r:id="rId5"/>
              </p:custDataLst>
            </p:nvPr>
          </p:nvCxnSpPr>
          <p:spPr bwMode="auto">
            <a:xfrm flipH="1" flipV="1">
              <a:off x="6690" y="4422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64" name="直接连接符 663"/>
            <p:cNvCxnSpPr/>
            <p:nvPr>
              <p:custDataLst>
                <p:tags r:id="rId6"/>
              </p:custDataLst>
            </p:nvPr>
          </p:nvCxnSpPr>
          <p:spPr bwMode="auto">
            <a:xfrm flipH="1" flipV="1">
              <a:off x="6803" y="4422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65" name="Text Box 398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6860" y="4535"/>
              <a:ext cx="153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MEMR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/MEMW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66" name="直接连接符 665"/>
            <p:cNvCxnSpPr/>
            <p:nvPr>
              <p:custDataLst>
                <p:tags r:id="rId8"/>
              </p:custDataLst>
            </p:nvPr>
          </p:nvCxnSpPr>
          <p:spPr bwMode="auto">
            <a:xfrm>
              <a:off x="6917" y="4535"/>
              <a:ext cx="595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直接连接符 666"/>
            <p:cNvCxnSpPr/>
            <p:nvPr>
              <p:custDataLst>
                <p:tags r:id="rId9"/>
              </p:custDataLst>
            </p:nvPr>
          </p:nvCxnSpPr>
          <p:spPr bwMode="auto">
            <a:xfrm>
              <a:off x="7710" y="4535"/>
              <a:ext cx="652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直接连接符 667"/>
            <p:cNvCxnSpPr/>
            <p:nvPr>
              <p:custDataLst>
                <p:tags r:id="rId10"/>
              </p:custDataLst>
            </p:nvPr>
          </p:nvCxnSpPr>
          <p:spPr bwMode="auto">
            <a:xfrm flipV="1">
              <a:off x="8674" y="4422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656" name="组合 655"/>
          <p:cNvGrpSpPr/>
          <p:nvPr/>
        </p:nvGrpSpPr>
        <p:grpSpPr>
          <a:xfrm>
            <a:off x="4211955" y="3815070"/>
            <a:ext cx="3023870" cy="1260475"/>
            <a:chOff x="6633" y="5215"/>
            <a:chExt cx="4762" cy="1985"/>
          </a:xfrm>
        </p:grpSpPr>
        <p:sp>
          <p:nvSpPr>
            <p:cNvPr id="635" name="Rectangle 322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6633" y="5499"/>
              <a:ext cx="3118" cy="113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38" name="Text Box 33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6746" y="5613"/>
              <a:ext cx="2893" cy="3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主存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地址计数器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MAC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639" name="Text Box 417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6746" y="6123"/>
              <a:ext cx="2893" cy="39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marL="0" indent="0" algn="ctr" eaLnBrk="1" latinLnBrk="0" hangingPunct="1">
                <a:lnSpc>
                  <a:spcPct val="90000"/>
                </a:lnSpc>
              </a:pPr>
              <a:r>
                <a:rPr lang="zh-CN" altLang="en-US" sz="1600" b="1" dirty="0">
                  <a:latin typeface="宋体" panose="02010600030101010101" pitchFamily="2" charset="-122"/>
                </a:rPr>
                <a:t>传送字数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计数器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WC</a:t>
              </a:r>
              <a:endParaRPr lang="en-US" altLang="zh-CN" sz="1600" b="1" dirty="0" smtClean="0">
                <a:latin typeface="宋体" panose="02010600030101010101" pitchFamily="2" charset="-122"/>
              </a:endParaRPr>
            </a:p>
          </p:txBody>
        </p:sp>
        <p:cxnSp>
          <p:nvCxnSpPr>
            <p:cNvPr id="641" name="直接连接符 640"/>
            <p:cNvCxnSpPr/>
            <p:nvPr>
              <p:custDataLst>
                <p:tags r:id="rId14"/>
              </p:custDataLst>
            </p:nvPr>
          </p:nvCxnSpPr>
          <p:spPr bwMode="auto">
            <a:xfrm flipV="1">
              <a:off x="8674" y="5215"/>
              <a:ext cx="0" cy="397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42" name="直接连接符 641"/>
            <p:cNvCxnSpPr/>
            <p:nvPr>
              <p:custDataLst>
                <p:tags r:id="rId15"/>
              </p:custDataLst>
            </p:nvPr>
          </p:nvCxnSpPr>
          <p:spPr bwMode="auto">
            <a:xfrm flipV="1">
              <a:off x="9638" y="5839"/>
              <a:ext cx="39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3" name="直接连接符 642"/>
            <p:cNvCxnSpPr/>
            <p:nvPr>
              <p:custDataLst>
                <p:tags r:id="rId16"/>
              </p:custDataLst>
            </p:nvPr>
          </p:nvCxnSpPr>
          <p:spPr bwMode="auto">
            <a:xfrm flipV="1">
              <a:off x="9638" y="6293"/>
              <a:ext cx="39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50" name="Text Box 416"/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787" y="6689"/>
              <a:ext cx="1361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400" b="1" dirty="0" smtClean="0">
                  <a:latin typeface="宋体" panose="02010600030101010101" pitchFamily="2" charset="-122"/>
                </a:rPr>
                <a:t>EOP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(</a:t>
              </a:r>
              <a:r>
                <a:rPr lang="zh-CN" altLang="en-US" sz="1400" b="1" dirty="0" smtClean="0">
                  <a:latin typeface="宋体" panose="02010600030101010101" pitchFamily="2" charset="-122"/>
                  <a:sym typeface="+mn-ea"/>
                </a:rPr>
                <a:t>结束</a:t>
              </a:r>
              <a:r>
                <a:rPr lang="en-US" altLang="zh-CN" sz="1400" b="1" dirty="0" smtClean="0">
                  <a:latin typeface="宋体" panose="02010600030101010101" pitchFamily="2" charset="-122"/>
                  <a:sym typeface="+mn-ea"/>
                </a:rPr>
                <a:t>)</a:t>
              </a:r>
              <a:endParaRPr lang="en-US" altLang="zh-CN" sz="1400" b="1" dirty="0" smtClean="0">
                <a:latin typeface="宋体" panose="02010600030101010101" pitchFamily="2" charset="-122"/>
                <a:sym typeface="+mn-ea"/>
              </a:endParaRPr>
            </a:p>
          </p:txBody>
        </p:sp>
        <p:cxnSp>
          <p:nvCxnSpPr>
            <p:cNvPr id="651" name="直接连接符 650"/>
            <p:cNvCxnSpPr/>
            <p:nvPr>
              <p:custDataLst>
                <p:tags r:id="rId18"/>
              </p:custDataLst>
            </p:nvPr>
          </p:nvCxnSpPr>
          <p:spPr bwMode="auto">
            <a:xfrm>
              <a:off x="8787" y="6520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4" name="直接连接符 653"/>
            <p:cNvCxnSpPr/>
            <p:nvPr>
              <p:custDataLst>
                <p:tags r:id="rId19"/>
              </p:custDataLst>
            </p:nvPr>
          </p:nvCxnSpPr>
          <p:spPr bwMode="auto">
            <a:xfrm>
              <a:off x="11395" y="6973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55" name="直接连接符 654"/>
            <p:cNvCxnSpPr/>
            <p:nvPr>
              <p:custDataLst>
                <p:tags r:id="rId20"/>
              </p:custDataLst>
            </p:nvPr>
          </p:nvCxnSpPr>
          <p:spPr bwMode="auto">
            <a:xfrm flipV="1">
              <a:off x="8787" y="6973"/>
              <a:ext cx="2608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97" name="组合 696"/>
          <p:cNvGrpSpPr/>
          <p:nvPr/>
        </p:nvGrpSpPr>
        <p:grpSpPr>
          <a:xfrm>
            <a:off x="3131820" y="4823265"/>
            <a:ext cx="3780155" cy="791210"/>
            <a:chOff x="4932" y="6917"/>
            <a:chExt cx="5953" cy="1246"/>
          </a:xfrm>
        </p:grpSpPr>
        <p:sp>
          <p:nvSpPr>
            <p:cNvPr id="672" name="Rectangle 322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5783" y="7370"/>
              <a:ext cx="5102" cy="680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9525">
              <a:solidFill>
                <a:schemeClr val="tx1"/>
              </a:solidFill>
              <a:prstDash val="sysDash"/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673" name="Text Box 420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843" y="7540"/>
              <a:ext cx="1928" cy="397"/>
            </a:xfrm>
            <a:prstGeom prst="rect">
              <a:avLst/>
            </a:prstGeom>
            <a:solidFill>
              <a:srgbClr val="CCFF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请求逻辑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6" name="Text Box 423"/>
            <p:cNvSpPr txBox="1"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7994" y="7370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DREQ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77" name="Text Box 424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7994" y="7767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DACK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0" name="Text Box 427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4989" y="7426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HRQ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1" name="Text Box 428"/>
            <p:cNvSpPr txBox="1"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4989" y="7880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HLDA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682" name="Text Box 430"/>
            <p:cNvSpPr txBox="1"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5953" y="7540"/>
              <a:ext cx="1928" cy="39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控制逻辑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90" name="直接连接符 689"/>
            <p:cNvCxnSpPr/>
            <p:nvPr>
              <p:custDataLst>
                <p:tags r:id="rId28"/>
              </p:custDataLst>
            </p:nvPr>
          </p:nvCxnSpPr>
          <p:spPr bwMode="auto">
            <a:xfrm flipH="1">
              <a:off x="7880" y="7653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1" name="直接连接符 690"/>
            <p:cNvCxnSpPr/>
            <p:nvPr>
              <p:custDataLst>
                <p:tags r:id="rId29"/>
              </p:custDataLst>
            </p:nvPr>
          </p:nvCxnSpPr>
          <p:spPr bwMode="auto">
            <a:xfrm>
              <a:off x="7880" y="7767"/>
              <a:ext cx="964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2" name="直接连接符 691"/>
            <p:cNvCxnSpPr/>
            <p:nvPr>
              <p:custDataLst>
                <p:tags r:id="rId30"/>
              </p:custDataLst>
            </p:nvPr>
          </p:nvCxnSpPr>
          <p:spPr bwMode="auto">
            <a:xfrm flipH="1">
              <a:off x="4932" y="7710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93" name="直接连接符 692"/>
            <p:cNvCxnSpPr/>
            <p:nvPr>
              <p:custDataLst>
                <p:tags r:id="rId31"/>
              </p:custDataLst>
            </p:nvPr>
          </p:nvCxnSpPr>
          <p:spPr bwMode="auto">
            <a:xfrm>
              <a:off x="4932" y="7823"/>
              <a:ext cx="102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94" name="Text Box 427"/>
            <p:cNvSpPr txBox="1">
              <a:spLocks noChangeArrowheads="1"/>
            </p:cNvSpPr>
            <p:nvPr>
              <p:custDataLst>
                <p:tags r:id="rId32"/>
              </p:custDataLst>
            </p:nvPr>
          </p:nvSpPr>
          <p:spPr bwMode="auto">
            <a:xfrm>
              <a:off x="5783" y="7087"/>
              <a:ext cx="124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总线控制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sp>
          <p:nvSpPr>
            <p:cNvPr id="695" name="Text Box 427"/>
            <p:cNvSpPr txBox="1">
              <a:spLocks noChangeArrowheads="1"/>
            </p:cNvSpPr>
            <p:nvPr>
              <p:custDataLst>
                <p:tags r:id="rId33"/>
              </p:custDataLst>
            </p:nvPr>
          </p:nvSpPr>
          <p:spPr bwMode="auto">
            <a:xfrm>
              <a:off x="7200" y="7087"/>
              <a:ext cx="1474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400" b="1" dirty="0">
                  <a:latin typeface="宋体" panose="02010600030101010101" pitchFamily="2" charset="-122"/>
                </a:rPr>
                <a:t>计数器控制</a:t>
              </a:r>
              <a:endParaRPr lang="zh-CN" altLang="en-US" sz="14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89" name="直接连接符 688"/>
            <p:cNvCxnSpPr/>
            <p:nvPr>
              <p:custDataLst>
                <p:tags r:id="rId34"/>
              </p:custDataLst>
            </p:nvPr>
          </p:nvCxnSpPr>
          <p:spPr bwMode="auto">
            <a:xfrm>
              <a:off x="10602" y="6917"/>
              <a:ext cx="0" cy="624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7" name="直接连接符 686"/>
            <p:cNvCxnSpPr/>
            <p:nvPr>
              <p:custDataLst>
                <p:tags r:id="rId35"/>
              </p:custDataLst>
            </p:nvPr>
          </p:nvCxnSpPr>
          <p:spPr bwMode="auto">
            <a:xfrm flipH="1" flipV="1">
              <a:off x="7030" y="6973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88" name="直接连接符 687"/>
            <p:cNvCxnSpPr/>
            <p:nvPr>
              <p:custDataLst>
                <p:tags r:id="rId36"/>
              </p:custDataLst>
            </p:nvPr>
          </p:nvCxnSpPr>
          <p:spPr bwMode="auto">
            <a:xfrm flipH="1" flipV="1">
              <a:off x="7200" y="6973"/>
              <a:ext cx="0" cy="567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02" name="组合 701"/>
          <p:cNvGrpSpPr/>
          <p:nvPr/>
        </p:nvGrpSpPr>
        <p:grpSpPr>
          <a:xfrm>
            <a:off x="1871980" y="3275330"/>
            <a:ext cx="6443345" cy="2411730"/>
            <a:chOff x="2948" y="4819"/>
            <a:chExt cx="10147" cy="3798"/>
          </a:xfrm>
        </p:grpSpPr>
        <p:sp>
          <p:nvSpPr>
            <p:cNvPr id="551" name="Rectangle 356"/>
            <p:cNvSpPr>
              <a:spLocks noChangeArrowheads="1"/>
            </p:cNvSpPr>
            <p:nvPr>
              <p:custDataLst>
                <p:tags r:id="rId37"/>
              </p:custDataLst>
            </p:nvPr>
          </p:nvSpPr>
          <p:spPr bwMode="auto">
            <a:xfrm>
              <a:off x="5726" y="5273"/>
              <a:ext cx="6633" cy="3231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p>
              <a:endParaRPr lang="zh-CN" altLang="en-US"/>
            </a:p>
          </p:txBody>
        </p:sp>
        <p:sp>
          <p:nvSpPr>
            <p:cNvPr id="552" name="Text Box 357"/>
            <p:cNvSpPr txBox="1">
              <a:spLocks noChangeArrowheads="1"/>
            </p:cNvSpPr>
            <p:nvPr>
              <p:custDataLst>
                <p:tags r:id="rId38"/>
              </p:custDataLst>
            </p:nvPr>
          </p:nvSpPr>
          <p:spPr bwMode="auto">
            <a:xfrm>
              <a:off x="10261" y="6350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>
                  <a:latin typeface="宋体" panose="02010600030101010101" pitchFamily="2" charset="-122"/>
                </a:rPr>
                <a:t>控制</a:t>
              </a:r>
              <a:r>
                <a:rPr lang="en-US" altLang="zh-CN" sz="1600" b="1">
                  <a:latin typeface="宋体" panose="02010600030101010101" pitchFamily="2" charset="-122"/>
                </a:rPr>
                <a:t>REG</a:t>
              </a:r>
              <a:endParaRPr lang="en-US" altLang="zh-CN" sz="1600" b="1">
                <a:latin typeface="宋体" panose="02010600030101010101" pitchFamily="2" charset="-122"/>
              </a:endParaRPr>
            </a:p>
          </p:txBody>
        </p:sp>
        <p:sp>
          <p:nvSpPr>
            <p:cNvPr id="553" name="Text Box 358"/>
            <p:cNvSpPr txBox="1">
              <a:spLocks noChangeArrowheads="1"/>
            </p:cNvSpPr>
            <p:nvPr>
              <p:custDataLst>
                <p:tags r:id="rId39"/>
              </p:custDataLst>
            </p:nvPr>
          </p:nvSpPr>
          <p:spPr bwMode="auto">
            <a:xfrm>
              <a:off x="10261" y="5272"/>
              <a:ext cx="1928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DBus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缓冲器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56" name="Text Box 361"/>
            <p:cNvSpPr txBox="1">
              <a:spLocks noChangeArrowheads="1"/>
            </p:cNvSpPr>
            <p:nvPr>
              <p:custDataLst>
                <p:tags r:id="rId40"/>
              </p:custDataLst>
            </p:nvPr>
          </p:nvSpPr>
          <p:spPr bwMode="auto">
            <a:xfrm>
              <a:off x="10261" y="5839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数据缓冲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57" name="Text Box 362"/>
            <p:cNvSpPr txBox="1">
              <a:spLocks noChangeArrowheads="1"/>
            </p:cNvSpPr>
            <p:nvPr>
              <p:custDataLst>
                <p:tags r:id="rId41"/>
              </p:custDataLst>
            </p:nvPr>
          </p:nvSpPr>
          <p:spPr bwMode="auto">
            <a:xfrm>
              <a:off x="10261" y="6860"/>
              <a:ext cx="1928" cy="39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状态</a:t>
              </a:r>
              <a:r>
                <a:rPr lang="en-US" altLang="zh-CN" sz="1600" b="1" dirty="0">
                  <a:latin typeface="宋体" panose="02010600030101010101" pitchFamily="2" charset="-122"/>
                </a:rPr>
                <a:t>REG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58" name="Text Box 363"/>
            <p:cNvSpPr txBox="1">
              <a:spLocks noChangeArrowheads="1"/>
            </p:cNvSpPr>
            <p:nvPr>
              <p:custDataLst>
                <p:tags r:id="rId42"/>
              </p:custDataLst>
            </p:nvPr>
          </p:nvSpPr>
          <p:spPr bwMode="auto">
            <a:xfrm>
              <a:off x="11112" y="7654"/>
              <a:ext cx="1077" cy="737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600" b="1" dirty="0">
                  <a:latin typeface="宋体" panose="02010600030101010101" pitchFamily="2" charset="-122"/>
                </a:rPr>
                <a:t>中断请求逻辑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62" name="Text Box 367"/>
            <p:cNvSpPr txBox="1">
              <a:spLocks noChangeArrowheads="1"/>
            </p:cNvSpPr>
            <p:nvPr>
              <p:custDataLst>
                <p:tags r:id="rId43"/>
              </p:custDataLst>
            </p:nvPr>
          </p:nvSpPr>
          <p:spPr bwMode="auto">
            <a:xfrm>
              <a:off x="12643" y="5896"/>
              <a:ext cx="453" cy="1361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外  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64" name="Text Box 369"/>
            <p:cNvSpPr txBox="1">
              <a:spLocks noChangeArrowheads="1"/>
            </p:cNvSpPr>
            <p:nvPr>
              <p:custDataLst>
                <p:tags r:id="rId44"/>
              </p:custDataLst>
            </p:nvPr>
          </p:nvSpPr>
          <p:spPr bwMode="auto">
            <a:xfrm>
              <a:off x="7767" y="5272"/>
              <a:ext cx="1701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 smtClean="0">
                  <a:latin typeface="宋体" panose="02010600030101010101" pitchFamily="2" charset="-122"/>
                </a:rPr>
                <a:t>ABus</a:t>
              </a:r>
              <a:r>
                <a:rPr lang="zh-CN" altLang="en-US" sz="1600" b="1" dirty="0" smtClean="0">
                  <a:latin typeface="宋体" panose="02010600030101010101" pitchFamily="2" charset="-122"/>
                </a:rPr>
                <a:t>锁存器</a:t>
              </a:r>
              <a:endParaRPr lang="zh-CN" altLang="en-US" sz="1600" b="1" dirty="0" smtClean="0">
                <a:latin typeface="宋体" panose="02010600030101010101" pitchFamily="2" charset="-122"/>
              </a:endParaRPr>
            </a:p>
          </p:txBody>
        </p:sp>
        <p:sp>
          <p:nvSpPr>
            <p:cNvPr id="570" name="Text Box 375"/>
            <p:cNvSpPr txBox="1">
              <a:spLocks noChangeArrowheads="1"/>
            </p:cNvSpPr>
            <p:nvPr>
              <p:custDataLst>
                <p:tags r:id="rId45"/>
              </p:custDataLst>
            </p:nvPr>
          </p:nvSpPr>
          <p:spPr bwMode="auto">
            <a:xfrm>
              <a:off x="5840" y="5272"/>
              <a:ext cx="1474" cy="397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7780" rIns="18000" bIns="0" anchor="ctr"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 err="1">
                  <a:latin typeface="宋体" panose="02010600030101010101" pitchFamily="2" charset="-122"/>
                </a:rPr>
                <a:t>CBus</a:t>
              </a:r>
              <a:r>
                <a:rPr lang="zh-CN" altLang="en-US" sz="1600" b="1" dirty="0">
                  <a:latin typeface="宋体" panose="02010600030101010101" pitchFamily="2" charset="-122"/>
                </a:rPr>
                <a:t>逻辑</a:t>
              </a:r>
              <a:endParaRPr lang="zh-CN" altLang="en-US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80" name="Text Box 385"/>
            <p:cNvSpPr txBox="1">
              <a:spLocks noChangeArrowheads="1"/>
            </p:cNvSpPr>
            <p:nvPr>
              <p:custDataLst>
                <p:tags r:id="rId46"/>
              </p:custDataLst>
            </p:nvPr>
          </p:nvSpPr>
          <p:spPr bwMode="auto">
            <a:xfrm>
              <a:off x="3118" y="7994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88" name="Text Box 393"/>
            <p:cNvSpPr txBox="1">
              <a:spLocks noChangeArrowheads="1"/>
            </p:cNvSpPr>
            <p:nvPr>
              <p:custDataLst>
                <p:tags r:id="rId47"/>
              </p:custDataLst>
            </p:nvPr>
          </p:nvSpPr>
          <p:spPr bwMode="auto">
            <a:xfrm>
              <a:off x="2948" y="5272"/>
              <a:ext cx="680" cy="2041"/>
            </a:xfrm>
            <a:prstGeom prst="rect">
              <a:avLst/>
            </a:prstGeom>
            <a:solidFill>
              <a:srgbClr val="99CCFF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主</a:t>
              </a:r>
              <a:endParaRPr lang="zh-CN" altLang="en-US" sz="1800" b="1">
                <a:latin typeface="宋体" panose="02010600030101010101" pitchFamily="2" charset="-122"/>
              </a:endParaRPr>
            </a:p>
            <a:p>
              <a:pPr algn="ctr"/>
              <a:endParaRPr lang="zh-CN" altLang="en-US" sz="1800" b="1">
                <a:latin typeface="宋体" panose="02010600030101010101" pitchFamily="2" charset="-122"/>
              </a:endParaRPr>
            </a:p>
            <a:p>
              <a:pPr algn="ctr"/>
              <a:r>
                <a:rPr lang="zh-CN" altLang="en-US" sz="1800" b="1">
                  <a:latin typeface="宋体" panose="02010600030101010101" pitchFamily="2" charset="-122"/>
                </a:rPr>
                <a:t>存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593" name="Text Box 398"/>
            <p:cNvSpPr txBox="1">
              <a:spLocks noChangeArrowheads="1"/>
            </p:cNvSpPr>
            <p:nvPr>
              <p:custDataLst>
                <p:tags r:id="rId48"/>
              </p:custDataLst>
            </p:nvPr>
          </p:nvSpPr>
          <p:spPr bwMode="auto">
            <a:xfrm>
              <a:off x="5102" y="4932"/>
              <a:ext cx="1191" cy="34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7780" rIns="18000" bIns="0" anchor="ctr"/>
            <a:p>
              <a:pPr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1600" b="1" dirty="0">
                  <a:latin typeface="宋体" panose="02010600030101010101" pitchFamily="2" charset="-122"/>
                </a:rPr>
                <a:t>IOR</a:t>
              </a:r>
              <a:r>
                <a:rPr lang="en-US" altLang="zh-CN" sz="1600" b="1" dirty="0" smtClean="0">
                  <a:latin typeface="宋体" panose="02010600030101010101" pitchFamily="2" charset="-122"/>
                </a:rPr>
                <a:t>/IOW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594" name="Text Box 399"/>
            <p:cNvSpPr txBox="1">
              <a:spLocks noChangeArrowheads="1"/>
            </p:cNvSpPr>
            <p:nvPr>
              <p:custDataLst>
                <p:tags r:id="rId49"/>
              </p:custDataLst>
            </p:nvPr>
          </p:nvSpPr>
          <p:spPr bwMode="auto">
            <a:xfrm>
              <a:off x="3969" y="5273"/>
              <a:ext cx="964" cy="3231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p>
              <a:pPr algn="ctr"/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cxnSp>
          <p:nvCxnSpPr>
            <p:cNvPr id="596" name="直接连接符 595"/>
            <p:cNvCxnSpPr/>
            <p:nvPr>
              <p:custDataLst>
                <p:tags r:id="rId50"/>
              </p:custDataLst>
            </p:nvPr>
          </p:nvCxnSpPr>
          <p:spPr bwMode="auto">
            <a:xfrm>
              <a:off x="6350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7" name="直接连接符 596"/>
            <p:cNvCxnSpPr/>
            <p:nvPr>
              <p:custDataLst>
                <p:tags r:id="rId51"/>
              </p:custDataLst>
            </p:nvPr>
          </p:nvCxnSpPr>
          <p:spPr bwMode="auto">
            <a:xfrm>
              <a:off x="2948" y="4819"/>
              <a:ext cx="9468" cy="0"/>
            </a:xfrm>
            <a:prstGeom prst="line">
              <a:avLst/>
            </a:prstGeom>
            <a:noFill/>
            <a:ln w="25400" cap="flat" cmpd="dbl" algn="ctr">
              <a:solidFill>
                <a:schemeClr val="tx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8" name="直接连接符 597"/>
            <p:cNvCxnSpPr/>
            <p:nvPr>
              <p:custDataLst>
                <p:tags r:id="rId52"/>
              </p:custDataLst>
            </p:nvPr>
          </p:nvCxnSpPr>
          <p:spPr bwMode="auto">
            <a:xfrm>
              <a:off x="6463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9" name="直接连接符 598"/>
            <p:cNvCxnSpPr/>
            <p:nvPr>
              <p:custDataLst>
                <p:tags r:id="rId53"/>
              </p:custDataLst>
            </p:nvPr>
          </p:nvCxnSpPr>
          <p:spPr bwMode="auto">
            <a:xfrm>
              <a:off x="5159" y="4932"/>
              <a:ext cx="4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0" name="直接连接符 599"/>
            <p:cNvCxnSpPr/>
            <p:nvPr>
              <p:custDataLst>
                <p:tags r:id="rId54"/>
              </p:custDataLst>
            </p:nvPr>
          </p:nvCxnSpPr>
          <p:spPr bwMode="auto">
            <a:xfrm>
              <a:off x="5783" y="4932"/>
              <a:ext cx="454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1" name="直接连接符 600"/>
            <p:cNvCxnSpPr/>
            <p:nvPr>
              <p:custDataLst>
                <p:tags r:id="rId55"/>
              </p:custDataLst>
            </p:nvPr>
          </p:nvCxnSpPr>
          <p:spPr bwMode="auto">
            <a:xfrm flipV="1">
              <a:off x="10035" y="5499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2" name="直接连接符 601"/>
            <p:cNvCxnSpPr/>
            <p:nvPr>
              <p:custDataLst>
                <p:tags r:id="rId56"/>
              </p:custDataLst>
            </p:nvPr>
          </p:nvCxnSpPr>
          <p:spPr bwMode="auto">
            <a:xfrm>
              <a:off x="8674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3" name="直接连接符 602"/>
            <p:cNvCxnSpPr/>
            <p:nvPr>
              <p:custDataLst>
                <p:tags r:id="rId57"/>
              </p:custDataLst>
            </p:nvPr>
          </p:nvCxnSpPr>
          <p:spPr bwMode="auto">
            <a:xfrm>
              <a:off x="11169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04" name="直接连接符 603"/>
            <p:cNvCxnSpPr>
              <a:endCxn id="557" idx="1"/>
            </p:cNvCxnSpPr>
            <p:nvPr>
              <p:custDataLst>
                <p:tags r:id="rId58"/>
              </p:custDataLst>
            </p:nvPr>
          </p:nvCxnSpPr>
          <p:spPr bwMode="auto">
            <a:xfrm>
              <a:off x="10035" y="5499"/>
              <a:ext cx="0" cy="1531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5" name="直接连接符 604"/>
            <p:cNvCxnSpPr/>
            <p:nvPr>
              <p:custDataLst>
                <p:tags r:id="rId59"/>
              </p:custDataLst>
            </p:nvPr>
          </p:nvCxnSpPr>
          <p:spPr bwMode="auto">
            <a:xfrm flipV="1">
              <a:off x="10035" y="6066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6" name="直接连接符 605"/>
            <p:cNvCxnSpPr/>
            <p:nvPr>
              <p:custDataLst>
                <p:tags r:id="rId60"/>
              </p:custDataLst>
            </p:nvPr>
          </p:nvCxnSpPr>
          <p:spPr bwMode="auto">
            <a:xfrm flipV="1">
              <a:off x="10035" y="6576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7" name="直接连接符 606"/>
            <p:cNvCxnSpPr/>
            <p:nvPr>
              <p:custDataLst>
                <p:tags r:id="rId61"/>
              </p:custDataLst>
            </p:nvPr>
          </p:nvCxnSpPr>
          <p:spPr bwMode="auto">
            <a:xfrm flipV="1">
              <a:off x="10035" y="7030"/>
              <a:ext cx="227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8" name="直接连接符 607"/>
            <p:cNvCxnSpPr/>
            <p:nvPr>
              <p:custDataLst>
                <p:tags r:id="rId62"/>
              </p:custDataLst>
            </p:nvPr>
          </p:nvCxnSpPr>
          <p:spPr bwMode="auto">
            <a:xfrm>
              <a:off x="11849" y="7257"/>
              <a:ext cx="0" cy="397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9" name="直接连接符 608"/>
            <p:cNvCxnSpPr/>
            <p:nvPr>
              <p:custDataLst>
                <p:tags r:id="rId63"/>
              </p:custDataLst>
            </p:nvPr>
          </p:nvCxnSpPr>
          <p:spPr bwMode="auto">
            <a:xfrm flipV="1">
              <a:off x="12189" y="6066"/>
              <a:ext cx="454" cy="0"/>
            </a:xfrm>
            <a:prstGeom prst="line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直接连接符 609"/>
            <p:cNvCxnSpPr/>
            <p:nvPr>
              <p:custDataLst>
                <p:tags r:id="rId64"/>
              </p:custDataLst>
            </p:nvPr>
          </p:nvCxnSpPr>
          <p:spPr bwMode="auto">
            <a:xfrm>
              <a:off x="12189" y="6576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1" name="直接连接符 610"/>
            <p:cNvCxnSpPr/>
            <p:nvPr>
              <p:custDataLst>
                <p:tags r:id="rId65"/>
              </p:custDataLst>
            </p:nvPr>
          </p:nvCxnSpPr>
          <p:spPr bwMode="auto">
            <a:xfrm flipH="1">
              <a:off x="12190" y="7059"/>
              <a:ext cx="45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4" name="直接连接符 613"/>
            <p:cNvCxnSpPr/>
            <p:nvPr>
              <p:custDataLst>
                <p:tags r:id="rId66"/>
              </p:custDataLst>
            </p:nvPr>
          </p:nvCxnSpPr>
          <p:spPr bwMode="auto">
            <a:xfrm>
              <a:off x="11679" y="8391"/>
              <a:ext cx="0" cy="227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5" name="直接连接符 614"/>
            <p:cNvCxnSpPr/>
            <p:nvPr>
              <p:custDataLst>
                <p:tags r:id="rId67"/>
              </p:custDataLst>
            </p:nvPr>
          </p:nvCxnSpPr>
          <p:spPr bwMode="auto">
            <a:xfrm flipH="1" flipV="1">
              <a:off x="3118" y="8617"/>
              <a:ext cx="8561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6" name="直接连接符 615"/>
            <p:cNvCxnSpPr/>
            <p:nvPr>
              <p:custDataLst>
                <p:tags r:id="rId68"/>
              </p:custDataLst>
            </p:nvPr>
          </p:nvCxnSpPr>
          <p:spPr bwMode="auto">
            <a:xfrm flipH="1" flipV="1">
              <a:off x="4082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8" name="直接连接符 617"/>
            <p:cNvCxnSpPr/>
            <p:nvPr>
              <p:custDataLst>
                <p:tags r:id="rId69"/>
              </p:custDataLst>
            </p:nvPr>
          </p:nvCxnSpPr>
          <p:spPr bwMode="auto">
            <a:xfrm flipH="1" flipV="1">
              <a:off x="4195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9" name="直接连接符 618"/>
            <p:cNvCxnSpPr/>
            <p:nvPr>
              <p:custDataLst>
                <p:tags r:id="rId70"/>
              </p:custDataLst>
            </p:nvPr>
          </p:nvCxnSpPr>
          <p:spPr bwMode="auto">
            <a:xfrm flipH="1" flipV="1">
              <a:off x="4309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0" name="直接连接符 619"/>
            <p:cNvCxnSpPr/>
            <p:nvPr>
              <p:custDataLst>
                <p:tags r:id="rId71"/>
              </p:custDataLst>
            </p:nvPr>
          </p:nvCxnSpPr>
          <p:spPr bwMode="auto">
            <a:xfrm flipH="1" flipV="1">
              <a:off x="4422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2" name="直接连接符 621"/>
            <p:cNvCxnSpPr/>
            <p:nvPr>
              <p:custDataLst>
                <p:tags r:id="rId72"/>
              </p:custDataLst>
            </p:nvPr>
          </p:nvCxnSpPr>
          <p:spPr bwMode="auto">
            <a:xfrm flipH="1" flipV="1">
              <a:off x="4622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3" name="直接连接符 622"/>
            <p:cNvCxnSpPr/>
            <p:nvPr>
              <p:custDataLst>
                <p:tags r:id="rId73"/>
              </p:custDataLst>
            </p:nvPr>
          </p:nvCxnSpPr>
          <p:spPr bwMode="auto">
            <a:xfrm>
              <a:off x="4818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4" name="直接连接符 623"/>
            <p:cNvCxnSpPr/>
            <p:nvPr>
              <p:custDataLst>
                <p:tags r:id="rId74"/>
              </p:custDataLst>
            </p:nvPr>
          </p:nvCxnSpPr>
          <p:spPr bwMode="auto">
            <a:xfrm>
              <a:off x="3061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5" name="直接连接符 624"/>
            <p:cNvCxnSpPr/>
            <p:nvPr>
              <p:custDataLst>
                <p:tags r:id="rId75"/>
              </p:custDataLst>
            </p:nvPr>
          </p:nvCxnSpPr>
          <p:spPr bwMode="auto">
            <a:xfrm>
              <a:off x="3175" y="4819"/>
              <a:ext cx="0" cy="454"/>
            </a:xfrm>
            <a:prstGeom prst="line">
              <a:avLst/>
            </a:prstGeom>
            <a:noFill/>
            <a:ln w="12700" cap="flat" cmpd="sng" algn="ctr">
              <a:solidFill>
                <a:srgbClr val="FF33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6" name="直接连接符 625"/>
            <p:cNvCxnSpPr/>
            <p:nvPr>
              <p:custDataLst>
                <p:tags r:id="rId76"/>
              </p:custDataLst>
            </p:nvPr>
          </p:nvCxnSpPr>
          <p:spPr bwMode="auto">
            <a:xfrm>
              <a:off x="3345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7" name="直接连接符 626"/>
            <p:cNvCxnSpPr/>
            <p:nvPr>
              <p:custDataLst>
                <p:tags r:id="rId77"/>
              </p:custDataLst>
            </p:nvPr>
          </p:nvCxnSpPr>
          <p:spPr bwMode="auto">
            <a:xfrm>
              <a:off x="3515" y="4819"/>
              <a:ext cx="0" cy="454"/>
            </a:xfrm>
            <a:prstGeom prst="line">
              <a:avLst/>
            </a:prstGeom>
            <a:noFill/>
            <a:ln w="15875" cap="flat" cmpd="sng" algn="ctr">
              <a:solidFill>
                <a:schemeClr val="accent2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628" name="直接连接符 627"/>
            <p:cNvCxnSpPr/>
            <p:nvPr>
              <p:custDataLst>
                <p:tags r:id="rId78"/>
              </p:custDataLst>
            </p:nvPr>
          </p:nvCxnSpPr>
          <p:spPr bwMode="auto">
            <a:xfrm>
              <a:off x="3118" y="8277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29" name="直接连接符 628"/>
            <p:cNvCxnSpPr/>
            <p:nvPr>
              <p:custDataLst>
                <p:tags r:id="rId79"/>
              </p:custDataLst>
            </p:nvPr>
          </p:nvCxnSpPr>
          <p:spPr bwMode="auto">
            <a:xfrm flipH="1" flipV="1">
              <a:off x="3119" y="7937"/>
              <a:ext cx="850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0" name="Text Box 385"/>
            <p:cNvSpPr txBox="1">
              <a:spLocks noChangeArrowheads="1"/>
            </p:cNvSpPr>
            <p:nvPr>
              <p:custDataLst>
                <p:tags r:id="rId80"/>
              </p:custDataLst>
            </p:nvPr>
          </p:nvSpPr>
          <p:spPr bwMode="auto">
            <a:xfrm>
              <a:off x="3175" y="7654"/>
              <a:ext cx="737" cy="283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p>
              <a:pPr algn="ctr"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INTA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631" name="直接连接符 630"/>
            <p:cNvCxnSpPr/>
            <p:nvPr>
              <p:custDataLst>
                <p:tags r:id="rId81"/>
              </p:custDataLst>
            </p:nvPr>
          </p:nvCxnSpPr>
          <p:spPr bwMode="auto">
            <a:xfrm>
              <a:off x="3268" y="7618"/>
              <a:ext cx="567" cy="0"/>
            </a:xfrm>
            <a:prstGeom prst="lin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2" name="直接连接符 631"/>
            <p:cNvCxnSpPr/>
            <p:nvPr>
              <p:custDataLst>
                <p:tags r:id="rId82"/>
              </p:custDataLst>
            </p:nvPr>
          </p:nvCxnSpPr>
          <p:spPr bwMode="auto">
            <a:xfrm>
              <a:off x="3117" y="8277"/>
              <a:ext cx="0" cy="340"/>
            </a:xfrm>
            <a:prstGeom prst="line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0" name="直接连接符 699"/>
            <p:cNvCxnSpPr/>
            <p:nvPr>
              <p:custDataLst>
                <p:tags r:id="rId83"/>
              </p:custDataLst>
            </p:nvPr>
          </p:nvCxnSpPr>
          <p:spPr bwMode="auto">
            <a:xfrm>
              <a:off x="9071" y="5669"/>
              <a:ext cx="0" cy="17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01" name="直接连接符 700"/>
            <p:cNvCxnSpPr/>
            <p:nvPr>
              <p:custDataLst>
                <p:tags r:id="rId84"/>
              </p:custDataLst>
            </p:nvPr>
          </p:nvCxnSpPr>
          <p:spPr bwMode="auto">
            <a:xfrm flipV="1">
              <a:off x="9071" y="5839"/>
              <a:ext cx="794" cy="0"/>
            </a:xfrm>
            <a:prstGeom prst="line">
              <a:avLst/>
            </a:prstGeom>
            <a:noFill/>
            <a:ln w="1270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100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10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32" grpId="0" bldLvl="0" animBg="1"/>
      <p:bldP spid="548" grpId="0" bldLvl="0" animBg="1"/>
      <p:bldP spid="549" grpId="0" bldLvl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3E7C-2AF6-410F-8937-821A511B1688}" type="slidenum">
              <a:rPr lang="en-US" altLang="zh-CN"/>
            </a:fld>
            <a:endParaRPr lang="en-US" altLang="zh-CN"/>
          </a:p>
        </p:txBody>
      </p:sp>
      <p:sp>
        <p:nvSpPr>
          <p:cNvPr id="388485" name="Text Box 389"/>
          <p:cNvSpPr txBox="1">
            <a:spLocks noChangeArrowheads="1"/>
          </p:cNvSpPr>
          <p:nvPr/>
        </p:nvSpPr>
        <p:spPr bwMode="auto">
          <a:xfrm>
            <a:off x="179388" y="363434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三、</a:t>
            </a:r>
            <a:r>
              <a:rPr lang="en-US" altLang="zh-CN" dirty="0"/>
              <a:t>DMA</a:t>
            </a:r>
            <a:r>
              <a:rPr lang="zh-CN" altLang="en-US" dirty="0"/>
              <a:t>的传送过程</a:t>
            </a:r>
            <a:endParaRPr lang="zh-CN" altLang="en-US" dirty="0"/>
          </a:p>
        </p:txBody>
      </p:sp>
      <p:sp>
        <p:nvSpPr>
          <p:cNvPr id="388486" name="Text Box 390"/>
          <p:cNvSpPr txBox="1">
            <a:spLocks noChangeArrowheads="1"/>
          </p:cNvSpPr>
          <p:nvPr/>
        </p:nvSpPr>
        <p:spPr bwMode="auto">
          <a:xfrm>
            <a:off x="179388" y="3140968"/>
            <a:ext cx="8785225" cy="8154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例：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传送需求如图所示，假设磁盘适配器的控制</a:t>
            </a:r>
            <a:r>
              <a:rPr lang="zh-CN" altLang="en-US" sz="2200" b="1" dirty="0">
                <a:latin typeface="宋体" panose="02010600030101010101" pitchFamily="2" charset="-122"/>
              </a:rPr>
              <a:t>口为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RegC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，暂</a:t>
            </a:r>
            <a:r>
              <a:rPr lang="zh-CN" altLang="en-US" sz="2200" b="1" dirty="0">
                <a:latin typeface="宋体" panose="02010600030101010101" pitchFamily="2" charset="-122"/>
              </a:rPr>
              <a:t>存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磁道号、扇区号的端口为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RegT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 err="1" smtClean="0">
                <a:latin typeface="宋体" panose="02010600030101010101" pitchFamily="2" charset="-122"/>
              </a:rPr>
              <a:t>RegF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388487" name="Text Box 391"/>
          <p:cNvSpPr txBox="1">
            <a:spLocks noChangeArrowheads="1"/>
          </p:cNvSpPr>
          <p:nvPr/>
        </p:nvSpPr>
        <p:spPr bwMode="auto">
          <a:xfrm>
            <a:off x="179387" y="836712"/>
            <a:ext cx="7992763" cy="240065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、预处理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(DMA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初始化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)</a:t>
            </a:r>
            <a:endParaRPr lang="en-US" altLang="zh-CN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任务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使用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指令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设置</a:t>
            </a:r>
            <a:r>
              <a:rPr lang="zh-CN" altLang="en-US" b="1" dirty="0" smtClean="0">
                <a:latin typeface="宋体" panose="02010600030101010101" pitchFamily="2" charset="-122"/>
              </a:rPr>
              <a:t>传送参数、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外设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设置传送参数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与外设特性</a:t>
            </a:r>
            <a:r>
              <a:rPr lang="zh-CN" altLang="en-US" sz="18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无关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启动外设：                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1800" b="1" dirty="0">
                <a:latin typeface="宋体" panose="02010600030101010101" pitchFamily="2" charset="-122"/>
              </a:rPr>
              <a:t>与外设特性</a:t>
            </a:r>
            <a:r>
              <a:rPr lang="zh-CN" altLang="en-US" sz="1800" b="1" dirty="0">
                <a:solidFill>
                  <a:srgbClr val="990099"/>
                </a:solidFill>
                <a:latin typeface="宋体" panose="02010600030101010101" pitchFamily="2" charset="-122"/>
              </a:rPr>
              <a:t>有关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88488" name="Text Box 392"/>
          <p:cNvSpPr txBox="1">
            <a:spLocks noChangeArrowheads="1"/>
          </p:cNvSpPr>
          <p:nvPr/>
        </p:nvSpPr>
        <p:spPr bwMode="auto">
          <a:xfrm>
            <a:off x="827584" y="2204864"/>
            <a:ext cx="7417073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设置缓冲区首址、传送字数、传送方向及传送方式等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   发送</a:t>
            </a:r>
            <a:r>
              <a:rPr lang="zh-CN" altLang="en-US" b="1" dirty="0">
                <a:latin typeface="宋体" panose="02010600030101010101" pitchFamily="2" charset="-122"/>
              </a:rPr>
              <a:t>操作命令及</a:t>
            </a:r>
            <a:r>
              <a:rPr lang="zh-CN" altLang="en-US" b="1" dirty="0" smtClean="0">
                <a:latin typeface="宋体" panose="02010600030101010101" pitchFamily="2" charset="-122"/>
              </a:rPr>
              <a:t>参数</a:t>
            </a:r>
            <a:endParaRPr lang="zh-CN" altLang="en-US" sz="2000" b="1" dirty="0">
              <a:solidFill>
                <a:srgbClr val="990099"/>
              </a:solidFill>
              <a:latin typeface="宋体" panose="02010600030101010101" pitchFamily="2" charset="-122"/>
            </a:endParaRPr>
          </a:p>
        </p:txBody>
      </p:sp>
      <p:sp>
        <p:nvSpPr>
          <p:cNvPr id="388552" name="Text Box 456"/>
          <p:cNvSpPr txBox="1">
            <a:spLocks noChangeArrowheads="1"/>
          </p:cNvSpPr>
          <p:nvPr/>
        </p:nvSpPr>
        <p:spPr bwMode="auto">
          <a:xfrm>
            <a:off x="1691359" y="5301208"/>
            <a:ext cx="3312864" cy="1079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①</a:t>
            </a:r>
            <a:r>
              <a:rPr lang="en-US" altLang="zh-CN" sz="2000" b="1" dirty="0" err="1">
                <a:latin typeface="宋体" panose="02010600030101010101" pitchFamily="2" charset="-122"/>
              </a:rPr>
              <a:t>MAC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←b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②WC←512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③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RegC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←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写主存、</a:t>
            </a:r>
            <a:r>
              <a:rPr lang="zh-CN" altLang="en-US" sz="2000" b="1" dirty="0">
                <a:latin typeface="宋体" panose="02010600030101010101" pitchFamily="2" charset="-122"/>
              </a:rPr>
              <a:t>周期</a:t>
            </a:r>
            <a:r>
              <a:rPr lang="zh-CN" altLang="en-US" sz="2000" b="1" dirty="0"/>
              <a:t>挪用</a:t>
            </a:r>
            <a:endParaRPr lang="zh-CN" altLang="en-US" sz="2000" b="1" dirty="0"/>
          </a:p>
        </p:txBody>
      </p:sp>
      <p:sp>
        <p:nvSpPr>
          <p:cNvPr id="388553" name="Text Box 457"/>
          <p:cNvSpPr txBox="1">
            <a:spLocks noChangeArrowheads="1"/>
          </p:cNvSpPr>
          <p:nvPr/>
        </p:nvSpPr>
        <p:spPr bwMode="auto">
          <a:xfrm>
            <a:off x="5292901" y="5301208"/>
            <a:ext cx="3095698" cy="10795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18000" tIns="10800" rIns="18000" bIns="10800"/>
          <a:lstStyle/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④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RegT←x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000" b="1" dirty="0">
                <a:latin typeface="宋体" panose="02010600030101010101" pitchFamily="2" charset="-122"/>
              </a:rPr>
              <a:t>⑤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RegF←y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000" b="1" dirty="0" smtClean="0">
                <a:latin typeface="宋体" panose="02010600030101010101" pitchFamily="2" charset="-122"/>
              </a:rPr>
              <a:t>⑥</a:t>
            </a:r>
            <a:r>
              <a:rPr lang="en-US" altLang="zh-CN" sz="2000" b="1" dirty="0" err="1" smtClean="0">
                <a:latin typeface="宋体" panose="02010600030101010101" pitchFamily="2" charset="-122"/>
              </a:rPr>
              <a:t>RegC←</a:t>
            </a:r>
            <a:r>
              <a:rPr lang="en-US" altLang="zh-CN" sz="2000" b="1" dirty="0" err="1">
                <a:latin typeface="宋体" panose="02010600030101010101" pitchFamily="2" charset="-122"/>
              </a:rPr>
              <a:t>DMA</a:t>
            </a:r>
            <a:r>
              <a:rPr lang="zh-CN" altLang="en-US" sz="2000" b="1" dirty="0">
                <a:latin typeface="宋体" panose="02010600030101010101" pitchFamily="2" charset="-122"/>
              </a:rPr>
              <a:t>方式、读磁盘</a:t>
            </a:r>
            <a:endParaRPr lang="zh-CN" altLang="en-US" sz="2000" b="1" dirty="0"/>
          </a:p>
        </p:txBody>
      </p:sp>
      <p:grpSp>
        <p:nvGrpSpPr>
          <p:cNvPr id="388554" name="Group 458"/>
          <p:cNvGrpSpPr/>
          <p:nvPr/>
        </p:nvGrpSpPr>
        <p:grpSpPr bwMode="auto">
          <a:xfrm>
            <a:off x="6155930" y="4365920"/>
            <a:ext cx="1800225" cy="863600"/>
            <a:chOff x="3560" y="2069"/>
            <a:chExt cx="1134" cy="544"/>
          </a:xfrm>
        </p:grpSpPr>
        <p:sp>
          <p:nvSpPr>
            <p:cNvPr id="388555" name="Text Box 459"/>
            <p:cNvSpPr txBox="1">
              <a:spLocks noChangeArrowheads="1"/>
            </p:cNvSpPr>
            <p:nvPr/>
          </p:nvSpPr>
          <p:spPr bwMode="auto">
            <a:xfrm>
              <a:off x="3560" y="2069"/>
              <a:ext cx="408" cy="272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x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磁道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y</a:t>
              </a: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扇区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8556" name="AutoShape 460"/>
            <p:cNvSpPr>
              <a:spLocks noChangeArrowheads="1"/>
            </p:cNvSpPr>
            <p:nvPr/>
          </p:nvSpPr>
          <p:spPr bwMode="auto">
            <a:xfrm>
              <a:off x="3560" y="2341"/>
              <a:ext cx="1134" cy="91"/>
            </a:xfrm>
            <a:prstGeom prst="rightArrow">
              <a:avLst>
                <a:gd name="adj1" fmla="val 42861"/>
                <a:gd name="adj2" fmla="val 101772"/>
              </a:avLst>
            </a:prstGeom>
            <a:noFill/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57" name="Text Box 461"/>
            <p:cNvSpPr txBox="1">
              <a:spLocks noChangeArrowheads="1"/>
            </p:cNvSpPr>
            <p:nvPr/>
          </p:nvSpPr>
          <p:spPr bwMode="auto">
            <a:xfrm>
              <a:off x="4104" y="2069"/>
              <a:ext cx="590" cy="272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缓冲区首址为</a:t>
              </a:r>
              <a:r>
                <a:rPr lang="en-US" altLang="zh-CN" sz="1600" b="1" dirty="0" smtClean="0">
                  <a:solidFill>
                    <a:srgbClr val="990099"/>
                  </a:solidFill>
                  <a:latin typeface="宋体" panose="02010600030101010101" pitchFamily="2" charset="-122"/>
                </a:rPr>
                <a:t>b</a:t>
              </a:r>
              <a:endParaRPr lang="en-US" altLang="zh-CN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388558" name="Text Box 462"/>
            <p:cNvSpPr txBox="1">
              <a:spLocks noChangeArrowheads="1"/>
            </p:cNvSpPr>
            <p:nvPr/>
          </p:nvSpPr>
          <p:spPr bwMode="auto">
            <a:xfrm>
              <a:off x="3742" y="2432"/>
              <a:ext cx="726" cy="181"/>
            </a:xfrm>
            <a:prstGeom prst="rect">
              <a:avLst/>
            </a:prstGeom>
            <a:noFill/>
            <a:ln w="19050">
              <a:noFill/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512B</a:t>
              </a:r>
              <a:r>
                <a:rPr lang="zh-CN" altLang="en-US" sz="16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大小</a:t>
              </a:r>
              <a:endParaRPr lang="zh-CN" altLang="en-US" sz="16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15616" y="4005064"/>
            <a:ext cx="7633023" cy="1226047"/>
            <a:chOff x="755650" y="3789040"/>
            <a:chExt cx="7633023" cy="1226047"/>
          </a:xfrm>
        </p:grpSpPr>
        <p:sp>
          <p:nvSpPr>
            <p:cNvPr id="388531" name="Text Box 435"/>
            <p:cNvSpPr txBox="1">
              <a:spLocks noChangeArrowheads="1"/>
            </p:cNvSpPr>
            <p:nvPr/>
          </p:nvSpPr>
          <p:spPr bwMode="auto">
            <a:xfrm>
              <a:off x="4789488" y="4149899"/>
              <a:ext cx="935038" cy="863600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8532" name="Text Box 436"/>
            <p:cNvSpPr txBox="1">
              <a:spLocks noChangeArrowheads="1"/>
            </p:cNvSpPr>
            <p:nvPr/>
          </p:nvSpPr>
          <p:spPr bwMode="auto">
            <a:xfrm>
              <a:off x="755650" y="4149899"/>
              <a:ext cx="865188" cy="86518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8533" name="Line 437"/>
            <p:cNvSpPr>
              <a:spLocks noChangeShapeType="1"/>
            </p:cNvSpPr>
            <p:nvPr/>
          </p:nvSpPr>
          <p:spPr bwMode="auto">
            <a:xfrm>
              <a:off x="755650" y="3789536"/>
              <a:ext cx="7633023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4" name="Text Box 438"/>
            <p:cNvSpPr txBox="1">
              <a:spLocks noChangeArrowheads="1"/>
            </p:cNvSpPr>
            <p:nvPr/>
          </p:nvSpPr>
          <p:spPr bwMode="auto">
            <a:xfrm>
              <a:off x="7668344" y="4149899"/>
              <a:ext cx="720329" cy="863600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主存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388536" name="Line 440"/>
            <p:cNvSpPr>
              <a:spLocks noChangeShapeType="1"/>
            </p:cNvSpPr>
            <p:nvPr/>
          </p:nvSpPr>
          <p:spPr bwMode="auto">
            <a:xfrm>
              <a:off x="8028384" y="3789536"/>
              <a:ext cx="0" cy="360363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none" w="sm" len="med"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8" name="Rectangle 442"/>
            <p:cNvSpPr>
              <a:spLocks noChangeArrowheads="1"/>
            </p:cNvSpPr>
            <p:nvPr/>
          </p:nvSpPr>
          <p:spPr bwMode="auto">
            <a:xfrm>
              <a:off x="1908175" y="4149899"/>
              <a:ext cx="2447925" cy="86518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39" name="Text Box 443"/>
            <p:cNvSpPr txBox="1">
              <a:spLocks noChangeArrowheads="1"/>
            </p:cNvSpPr>
            <p:nvPr/>
          </p:nvSpPr>
          <p:spPr bwMode="auto">
            <a:xfrm>
              <a:off x="2052638" y="4294361"/>
              <a:ext cx="935038" cy="4318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8540" name="Text Box 444"/>
            <p:cNvSpPr txBox="1">
              <a:spLocks noChangeArrowheads="1"/>
            </p:cNvSpPr>
            <p:nvPr/>
          </p:nvSpPr>
          <p:spPr bwMode="auto">
            <a:xfrm>
              <a:off x="3132138" y="4294361"/>
              <a:ext cx="1008063" cy="43180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I/O</a:t>
              </a:r>
              <a:r>
                <a:rPr lang="zh-CN" altLang="en-US" sz="1800" b="1">
                  <a:latin typeface="宋体" panose="02010600030101010101" pitchFamily="2" charset="-122"/>
                </a:rPr>
                <a:t>逻辑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388541" name="Text Box 445"/>
            <p:cNvSpPr txBox="1">
              <a:spLocks noChangeArrowheads="1"/>
            </p:cNvSpPr>
            <p:nvPr/>
          </p:nvSpPr>
          <p:spPr bwMode="auto">
            <a:xfrm>
              <a:off x="1979613" y="4726161"/>
              <a:ext cx="230505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磁盘适配器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(DMA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)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8542" name="AutoShape 446"/>
            <p:cNvSpPr>
              <a:spLocks noChangeArrowheads="1"/>
            </p:cNvSpPr>
            <p:nvPr/>
          </p:nvSpPr>
          <p:spPr bwMode="auto">
            <a:xfrm>
              <a:off x="4140200" y="4581699"/>
              <a:ext cx="647700" cy="71438"/>
            </a:xfrm>
            <a:prstGeom prst="leftRightArrow">
              <a:avLst>
                <a:gd name="adj1" fmla="val 50000"/>
                <a:gd name="adj2" fmla="val 89670"/>
              </a:avLst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8550" name="Line 454"/>
            <p:cNvSpPr>
              <a:spLocks noChangeShapeType="1"/>
            </p:cNvSpPr>
            <p:nvPr/>
          </p:nvSpPr>
          <p:spPr bwMode="auto">
            <a:xfrm>
              <a:off x="4140200" y="4365799"/>
              <a:ext cx="647700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51" name="Line 455"/>
            <p:cNvSpPr>
              <a:spLocks noChangeShapeType="1"/>
            </p:cNvSpPr>
            <p:nvPr/>
          </p:nvSpPr>
          <p:spPr bwMode="auto">
            <a:xfrm>
              <a:off x="4140200" y="4510261"/>
              <a:ext cx="647700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headEnd type="triangle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35" name="Line 439"/>
            <p:cNvSpPr>
              <a:spLocks noChangeShapeType="1"/>
            </p:cNvSpPr>
            <p:nvPr/>
          </p:nvSpPr>
          <p:spPr bwMode="auto">
            <a:xfrm flipV="1">
              <a:off x="1116013" y="3789040"/>
              <a:ext cx="1587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5" name="Line 449"/>
            <p:cNvSpPr>
              <a:spLocks noChangeShapeType="1"/>
            </p:cNvSpPr>
            <p:nvPr/>
          </p:nvSpPr>
          <p:spPr bwMode="auto">
            <a:xfrm flipV="1">
              <a:off x="900113" y="3789040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6" name="Line 450"/>
            <p:cNvSpPr>
              <a:spLocks noChangeShapeType="1"/>
            </p:cNvSpPr>
            <p:nvPr/>
          </p:nvSpPr>
          <p:spPr bwMode="auto">
            <a:xfrm flipV="1">
              <a:off x="1331913" y="3789040"/>
              <a:ext cx="1587" cy="360363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48" name="Line 452"/>
            <p:cNvSpPr>
              <a:spLocks noChangeShapeType="1"/>
            </p:cNvSpPr>
            <p:nvPr/>
          </p:nvSpPr>
          <p:spPr bwMode="auto">
            <a:xfrm>
              <a:off x="2915816" y="3789040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61" name="Line 465"/>
            <p:cNvSpPr>
              <a:spLocks noChangeShapeType="1"/>
            </p:cNvSpPr>
            <p:nvPr/>
          </p:nvSpPr>
          <p:spPr bwMode="auto">
            <a:xfrm>
              <a:off x="3203848" y="3789040"/>
              <a:ext cx="0" cy="36244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562" name="Line 466"/>
            <p:cNvSpPr>
              <a:spLocks noChangeShapeType="1"/>
            </p:cNvSpPr>
            <p:nvPr/>
          </p:nvSpPr>
          <p:spPr bwMode="auto">
            <a:xfrm>
              <a:off x="3059832" y="3789040"/>
              <a:ext cx="0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8568" name="AutoShape 472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4451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8569" name="AutoShape 473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622887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8570" name="AutoShape 474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4067945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411612" y="4078089"/>
            <a:ext cx="1152451" cy="432296"/>
            <a:chOff x="2051646" y="3862065"/>
            <a:chExt cx="1152451" cy="432296"/>
          </a:xfrm>
        </p:grpSpPr>
        <p:sp>
          <p:nvSpPr>
            <p:cNvPr id="388564" name="Text Box 468"/>
            <p:cNvSpPr txBox="1">
              <a:spLocks noChangeArrowheads="1"/>
            </p:cNvSpPr>
            <p:nvPr/>
          </p:nvSpPr>
          <p:spPr bwMode="auto">
            <a:xfrm>
              <a:off x="2051646" y="3862065"/>
              <a:ext cx="792162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①②③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" name="直接箭头连接符 3"/>
            <p:cNvCxnSpPr/>
            <p:nvPr/>
          </p:nvCxnSpPr>
          <p:spPr bwMode="auto">
            <a:xfrm flipH="1">
              <a:off x="2916064" y="4151487"/>
              <a:ext cx="288033" cy="142874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sm" len="sm"/>
            </a:ln>
          </p:spPr>
        </p:cxnSp>
      </p:grpSp>
      <p:grpSp>
        <p:nvGrpSpPr>
          <p:cNvPr id="8" name="组合 7"/>
          <p:cNvGrpSpPr/>
          <p:nvPr/>
        </p:nvGrpSpPr>
        <p:grpSpPr>
          <a:xfrm>
            <a:off x="3564063" y="4077072"/>
            <a:ext cx="935930" cy="430906"/>
            <a:chOff x="3204097" y="3861048"/>
            <a:chExt cx="935930" cy="430906"/>
          </a:xfrm>
        </p:grpSpPr>
        <p:sp>
          <p:nvSpPr>
            <p:cNvPr id="388566" name="Text Box 470"/>
            <p:cNvSpPr txBox="1">
              <a:spLocks noChangeArrowheads="1"/>
            </p:cNvSpPr>
            <p:nvPr/>
          </p:nvSpPr>
          <p:spPr bwMode="auto">
            <a:xfrm>
              <a:off x="3347864" y="3861048"/>
              <a:ext cx="792163" cy="215900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④⑤⑥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 bwMode="auto">
            <a:xfrm>
              <a:off x="3204097" y="4151487"/>
              <a:ext cx="216023" cy="140467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sm" len="sm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8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8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884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8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38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38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38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486" grpId="0"/>
      <p:bldP spid="388487" grpId="0"/>
      <p:bldP spid="388552" grpId="0"/>
      <p:bldP spid="38855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4139952" y="1845889"/>
            <a:ext cx="431800" cy="360363"/>
            <a:chOff x="8108131" y="2069232"/>
            <a:chExt cx="431800" cy="360363"/>
          </a:xfrm>
        </p:grpSpPr>
        <p:sp>
          <p:nvSpPr>
            <p:cNvPr id="70" name="Line 47"/>
            <p:cNvSpPr>
              <a:spLocks noChangeShapeType="1"/>
            </p:cNvSpPr>
            <p:nvPr/>
          </p:nvSpPr>
          <p:spPr bwMode="auto">
            <a:xfrm>
              <a:off x="8539931" y="2069232"/>
              <a:ext cx="0" cy="360363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62"/>
            <p:cNvSpPr>
              <a:spLocks noChangeShapeType="1"/>
            </p:cNvSpPr>
            <p:nvPr/>
          </p:nvSpPr>
          <p:spPr bwMode="auto">
            <a:xfrm>
              <a:off x="8324031" y="2069232"/>
              <a:ext cx="0" cy="360363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63"/>
            <p:cNvSpPr>
              <a:spLocks noChangeShapeType="1"/>
            </p:cNvSpPr>
            <p:nvPr/>
          </p:nvSpPr>
          <p:spPr bwMode="auto">
            <a:xfrm>
              <a:off x="8108131" y="2069232"/>
              <a:ext cx="0" cy="360363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76CBD-9B29-4471-8B21-D4E2941ED726}" type="slidenum">
              <a:rPr lang="en-US" altLang="zh-CN"/>
            </a:fld>
            <a:endParaRPr lang="en-US" altLang="zh-CN" dirty="0"/>
          </a:p>
        </p:txBody>
      </p:sp>
      <p:sp>
        <p:nvSpPr>
          <p:cNvPr id="390172" name="Text Box 28"/>
          <p:cNvSpPr txBox="1">
            <a:spLocks noChangeArrowheads="1"/>
          </p:cNvSpPr>
          <p:nvPr/>
        </p:nvSpPr>
        <p:spPr bwMode="auto">
          <a:xfrm>
            <a:off x="179388" y="332656"/>
            <a:ext cx="8785225" cy="455509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、数据传送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(DMA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传送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任务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循环地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 smtClean="0">
                <a:latin typeface="宋体" panose="02010600030101010101" pitchFamily="2" charset="-122"/>
              </a:rPr>
              <a:t>数据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一个字</a:t>
            </a:r>
            <a:r>
              <a:rPr lang="en-US" altLang="zh-CN" sz="1800" b="1" dirty="0">
                <a:latin typeface="宋体" panose="02010600030101010101" pitchFamily="2" charset="-122"/>
              </a:rPr>
              <a:t>/</a:t>
            </a:r>
            <a:r>
              <a:rPr lang="zh-CN" altLang="en-US" sz="1800" b="1" dirty="0">
                <a:latin typeface="宋体" panose="02010600030101010101" pitchFamily="2" charset="-122"/>
              </a:rPr>
              <a:t>次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>
                <a:latin typeface="宋体" panose="02010600030101010101" pitchFamily="2" charset="-122"/>
              </a:rPr>
              <a:t>直至</a:t>
            </a:r>
            <a:r>
              <a:rPr lang="zh-CN" altLang="en-US" b="1" dirty="0" smtClean="0">
                <a:latin typeface="宋体" panose="02010600030101010101" pitchFamily="2" charset="-122"/>
              </a:rPr>
              <a:t>传送完毕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申请总线使用权：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500"/>
              </a:spcBef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传送数据：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实现循环：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  <p:grpSp>
        <p:nvGrpSpPr>
          <p:cNvPr id="390258" name="Group 114"/>
          <p:cNvGrpSpPr/>
          <p:nvPr/>
        </p:nvGrpSpPr>
        <p:grpSpPr bwMode="auto">
          <a:xfrm>
            <a:off x="2196281" y="2061789"/>
            <a:ext cx="1728787" cy="288925"/>
            <a:chOff x="1111" y="1570"/>
            <a:chExt cx="1089" cy="182"/>
          </a:xfrm>
        </p:grpSpPr>
        <p:sp>
          <p:nvSpPr>
            <p:cNvPr id="390181" name="Text Box 37"/>
            <p:cNvSpPr txBox="1">
              <a:spLocks noChangeArrowheads="1"/>
            </p:cNvSpPr>
            <p:nvPr/>
          </p:nvSpPr>
          <p:spPr bwMode="auto">
            <a:xfrm>
              <a:off x="1247" y="1570"/>
              <a:ext cx="59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②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HRQ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↑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182" name="Line 38"/>
            <p:cNvSpPr>
              <a:spLocks noChangeShapeType="1"/>
            </p:cNvSpPr>
            <p:nvPr/>
          </p:nvSpPr>
          <p:spPr bwMode="auto">
            <a:xfrm flipH="1">
              <a:off x="1111" y="1752"/>
              <a:ext cx="1089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7" name="Group 113"/>
          <p:cNvGrpSpPr/>
          <p:nvPr/>
        </p:nvGrpSpPr>
        <p:grpSpPr bwMode="auto">
          <a:xfrm>
            <a:off x="2196281" y="2493589"/>
            <a:ext cx="1728787" cy="287338"/>
            <a:chOff x="1111" y="1842"/>
            <a:chExt cx="1089" cy="181"/>
          </a:xfrm>
        </p:grpSpPr>
        <p:sp>
          <p:nvSpPr>
            <p:cNvPr id="390183" name="Line 39"/>
            <p:cNvSpPr>
              <a:spLocks noChangeShapeType="1"/>
            </p:cNvSpPr>
            <p:nvPr/>
          </p:nvSpPr>
          <p:spPr bwMode="auto">
            <a:xfrm flipV="1">
              <a:off x="1111" y="1842"/>
              <a:ext cx="1089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4" name="Text Box 40"/>
            <p:cNvSpPr txBox="1">
              <a:spLocks noChangeArrowheads="1"/>
            </p:cNvSpPr>
            <p:nvPr/>
          </p:nvSpPr>
          <p:spPr bwMode="auto">
            <a:xfrm>
              <a:off x="1247" y="1842"/>
              <a:ext cx="636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③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HLDA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↑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90199" name="Text Box 55"/>
          <p:cNvSpPr txBox="1">
            <a:spLocks noChangeArrowheads="1"/>
          </p:cNvSpPr>
          <p:nvPr/>
        </p:nvSpPr>
        <p:spPr bwMode="auto">
          <a:xfrm>
            <a:off x="2987824" y="1268760"/>
            <a:ext cx="597666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spc="-100" dirty="0">
                <a:latin typeface="宋体" panose="02010600030101010101" pitchFamily="2" charset="-122"/>
              </a:rPr>
              <a:t>申请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时机与</a:t>
            </a:r>
            <a:r>
              <a:rPr lang="zh-CN" altLang="en-US" b="1" spc="-100" dirty="0">
                <a:latin typeface="宋体" panose="02010600030101010101" pitchFamily="2" charset="-122"/>
              </a:rPr>
              <a:t>传送方式有关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以周期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挪用方式为</a:t>
            </a:r>
            <a:r>
              <a:rPr lang="zh-CN" altLang="en-US" sz="1800" b="1" dirty="0">
                <a:latin typeface="宋体" panose="02010600030101010101" pitchFamily="2" charset="-122"/>
              </a:rPr>
              <a:t>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grpSp>
        <p:nvGrpSpPr>
          <p:cNvPr id="390211" name="Group 67"/>
          <p:cNvGrpSpPr/>
          <p:nvPr/>
        </p:nvGrpSpPr>
        <p:grpSpPr bwMode="auto">
          <a:xfrm>
            <a:off x="4139381" y="1845889"/>
            <a:ext cx="431800" cy="360363"/>
            <a:chOff x="2064" y="2160"/>
            <a:chExt cx="272" cy="227"/>
          </a:xfrm>
        </p:grpSpPr>
        <p:sp>
          <p:nvSpPr>
            <p:cNvPr id="390190" name="Line 46"/>
            <p:cNvSpPr>
              <a:spLocks noChangeShapeType="1"/>
            </p:cNvSpPr>
            <p:nvPr/>
          </p:nvSpPr>
          <p:spPr bwMode="auto">
            <a:xfrm flipV="1">
              <a:off x="2200" y="2160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prstDash val="sysDot"/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4" name="Line 60"/>
            <p:cNvSpPr>
              <a:spLocks noChangeShapeType="1"/>
            </p:cNvSpPr>
            <p:nvPr/>
          </p:nvSpPr>
          <p:spPr bwMode="auto">
            <a:xfrm flipV="1">
              <a:off x="2064" y="2160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ysDot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5" name="Line 61"/>
            <p:cNvSpPr>
              <a:spLocks noChangeShapeType="1"/>
            </p:cNvSpPr>
            <p:nvPr/>
          </p:nvSpPr>
          <p:spPr bwMode="auto">
            <a:xfrm>
              <a:off x="2336" y="2160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prstDash val="sysDot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5" name="Group 111"/>
          <p:cNvGrpSpPr/>
          <p:nvPr/>
        </p:nvGrpSpPr>
        <p:grpSpPr bwMode="auto">
          <a:xfrm>
            <a:off x="4931543" y="2493590"/>
            <a:ext cx="1439863" cy="287338"/>
            <a:chOff x="2834" y="1842"/>
            <a:chExt cx="907" cy="181"/>
          </a:xfrm>
        </p:grpSpPr>
        <p:sp>
          <p:nvSpPr>
            <p:cNvPr id="390200" name="Line 56"/>
            <p:cNvSpPr>
              <a:spLocks noChangeShapeType="1"/>
            </p:cNvSpPr>
            <p:nvPr/>
          </p:nvSpPr>
          <p:spPr bwMode="auto">
            <a:xfrm flipH="1">
              <a:off x="2834" y="1842"/>
              <a:ext cx="907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3" name="Text Box 59"/>
            <p:cNvSpPr txBox="1">
              <a:spLocks noChangeArrowheads="1"/>
            </p:cNvSpPr>
            <p:nvPr/>
          </p:nvSpPr>
          <p:spPr bwMode="auto">
            <a:xfrm>
              <a:off x="2970" y="1842"/>
              <a:ext cx="635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①就绪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390256" name="Group 112"/>
          <p:cNvGrpSpPr/>
          <p:nvPr/>
        </p:nvGrpSpPr>
        <p:grpSpPr bwMode="auto">
          <a:xfrm>
            <a:off x="1259656" y="1845889"/>
            <a:ext cx="7416800" cy="863600"/>
            <a:chOff x="521" y="1434"/>
            <a:chExt cx="4672" cy="544"/>
          </a:xfrm>
        </p:grpSpPr>
        <p:sp>
          <p:nvSpPr>
            <p:cNvPr id="390177" name="Text Box 33"/>
            <p:cNvSpPr txBox="1">
              <a:spLocks noChangeArrowheads="1"/>
            </p:cNvSpPr>
            <p:nvPr/>
          </p:nvSpPr>
          <p:spPr bwMode="auto">
            <a:xfrm>
              <a:off x="2199" y="1661"/>
              <a:ext cx="635" cy="31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178" name="Text Box 34"/>
            <p:cNvSpPr txBox="1">
              <a:spLocks noChangeArrowheads="1"/>
            </p:cNvSpPr>
            <p:nvPr/>
          </p:nvSpPr>
          <p:spPr bwMode="auto">
            <a:xfrm>
              <a:off x="3741" y="1661"/>
              <a:ext cx="589" cy="31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179" name="Text Box 35"/>
            <p:cNvSpPr txBox="1">
              <a:spLocks noChangeArrowheads="1"/>
            </p:cNvSpPr>
            <p:nvPr/>
          </p:nvSpPr>
          <p:spPr bwMode="auto">
            <a:xfrm>
              <a:off x="521" y="1661"/>
              <a:ext cx="591" cy="31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186" name="Line 42"/>
            <p:cNvSpPr>
              <a:spLocks noChangeShapeType="1"/>
            </p:cNvSpPr>
            <p:nvPr/>
          </p:nvSpPr>
          <p:spPr bwMode="auto">
            <a:xfrm>
              <a:off x="521" y="1434"/>
              <a:ext cx="46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187" name="Text Box 43"/>
            <p:cNvSpPr txBox="1">
              <a:spLocks noChangeArrowheads="1"/>
            </p:cNvSpPr>
            <p:nvPr/>
          </p:nvSpPr>
          <p:spPr bwMode="auto">
            <a:xfrm>
              <a:off x="4558" y="1661"/>
              <a:ext cx="635" cy="31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191" name="Line 47"/>
            <p:cNvSpPr>
              <a:spLocks noChangeShapeType="1"/>
            </p:cNvSpPr>
            <p:nvPr/>
          </p:nvSpPr>
          <p:spPr bwMode="auto">
            <a:xfrm>
              <a:off x="5011" y="1434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6" name="Line 62"/>
            <p:cNvSpPr>
              <a:spLocks noChangeShapeType="1"/>
            </p:cNvSpPr>
            <p:nvPr/>
          </p:nvSpPr>
          <p:spPr bwMode="auto">
            <a:xfrm>
              <a:off x="4875" y="1434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7" name="Line 63"/>
            <p:cNvSpPr>
              <a:spLocks noChangeShapeType="1"/>
            </p:cNvSpPr>
            <p:nvPr/>
          </p:nvSpPr>
          <p:spPr bwMode="auto">
            <a:xfrm>
              <a:off x="4739" y="1434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16" name="Group 72"/>
          <p:cNvGrpSpPr/>
          <p:nvPr/>
        </p:nvGrpSpPr>
        <p:grpSpPr bwMode="auto">
          <a:xfrm>
            <a:off x="1548581" y="1845889"/>
            <a:ext cx="431800" cy="360363"/>
            <a:chOff x="748" y="1480"/>
            <a:chExt cx="272" cy="227"/>
          </a:xfrm>
        </p:grpSpPr>
        <p:sp>
          <p:nvSpPr>
            <p:cNvPr id="390208" name="Line 64"/>
            <p:cNvSpPr>
              <a:spLocks noChangeShapeType="1"/>
            </p:cNvSpPr>
            <p:nvPr/>
          </p:nvSpPr>
          <p:spPr bwMode="auto">
            <a:xfrm flipV="1">
              <a:off x="884" y="1480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09" name="Line 65"/>
            <p:cNvSpPr>
              <a:spLocks noChangeShapeType="1"/>
            </p:cNvSpPr>
            <p:nvPr/>
          </p:nvSpPr>
          <p:spPr bwMode="auto">
            <a:xfrm flipV="1">
              <a:off x="748" y="1480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10" name="Line 66"/>
            <p:cNvSpPr>
              <a:spLocks noChangeShapeType="1"/>
            </p:cNvSpPr>
            <p:nvPr/>
          </p:nvSpPr>
          <p:spPr bwMode="auto">
            <a:xfrm>
              <a:off x="1020" y="1480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90218" name="Text Box 74"/>
          <p:cNvSpPr txBox="1">
            <a:spLocks noChangeArrowheads="1"/>
          </p:cNvSpPr>
          <p:nvPr/>
        </p:nvSpPr>
        <p:spPr bwMode="auto">
          <a:xfrm>
            <a:off x="2051720" y="2730986"/>
            <a:ext cx="6840885" cy="490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操作命令与</a:t>
            </a:r>
            <a:r>
              <a:rPr lang="zh-CN" altLang="en-US" b="1" dirty="0">
                <a:latin typeface="宋体" panose="02010600030101010101" pitchFamily="2" charset="-122"/>
              </a:rPr>
              <a:t>传送方向有关</a:t>
            </a:r>
            <a:r>
              <a:rPr lang="en-US" altLang="zh-CN" sz="1800" b="1" dirty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以外设→</a:t>
            </a:r>
            <a:r>
              <a:rPr lang="en-US" altLang="zh-CN" sz="1800" b="1" dirty="0">
                <a:latin typeface="宋体" panose="02010600030101010101" pitchFamily="2" charset="-122"/>
              </a:rPr>
              <a:t>MEM</a:t>
            </a:r>
            <a:r>
              <a:rPr lang="zh-CN" altLang="en-US" sz="1800" b="1" dirty="0">
                <a:latin typeface="宋体" panose="02010600030101010101" pitchFamily="2" charset="-122"/>
              </a:rPr>
              <a:t>为例</a:t>
            </a:r>
            <a:r>
              <a:rPr lang="en-US" altLang="zh-CN" sz="1800" b="1" dirty="0">
                <a:latin typeface="宋体" panose="02010600030101010101" pitchFamily="2" charset="-122"/>
              </a:rPr>
              <a:t>)</a:t>
            </a: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90252" name="Group 108"/>
          <p:cNvGrpSpPr/>
          <p:nvPr/>
        </p:nvGrpSpPr>
        <p:grpSpPr bwMode="auto">
          <a:xfrm>
            <a:off x="3347219" y="3285307"/>
            <a:ext cx="5040312" cy="360363"/>
            <a:chOff x="1837" y="2478"/>
            <a:chExt cx="3175" cy="227"/>
          </a:xfrm>
        </p:grpSpPr>
        <p:sp>
          <p:nvSpPr>
            <p:cNvPr id="390233" name="Line 89"/>
            <p:cNvSpPr>
              <a:spLocks noChangeShapeType="1"/>
            </p:cNvSpPr>
            <p:nvPr/>
          </p:nvSpPr>
          <p:spPr bwMode="auto">
            <a:xfrm flipV="1">
              <a:off x="2472" y="2478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4" name="Line 90"/>
            <p:cNvSpPr>
              <a:spLocks noChangeShapeType="1"/>
            </p:cNvSpPr>
            <p:nvPr/>
          </p:nvSpPr>
          <p:spPr bwMode="auto">
            <a:xfrm flipV="1">
              <a:off x="2336" y="2478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5" name="Line 91"/>
            <p:cNvSpPr>
              <a:spLocks noChangeShapeType="1"/>
            </p:cNvSpPr>
            <p:nvPr/>
          </p:nvSpPr>
          <p:spPr bwMode="auto">
            <a:xfrm flipV="1">
              <a:off x="2608" y="2478"/>
              <a:ext cx="0" cy="226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6" name="Text Box 92"/>
            <p:cNvSpPr txBox="1">
              <a:spLocks noChangeArrowheads="1"/>
            </p:cNvSpPr>
            <p:nvPr/>
          </p:nvSpPr>
          <p:spPr bwMode="auto">
            <a:xfrm>
              <a:off x="1837" y="2523"/>
              <a:ext cx="499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MEMW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25" name="Line 81"/>
            <p:cNvSpPr>
              <a:spLocks noChangeShapeType="1"/>
            </p:cNvSpPr>
            <p:nvPr/>
          </p:nvSpPr>
          <p:spPr bwMode="auto">
            <a:xfrm>
              <a:off x="5012" y="2478"/>
              <a:ext cx="0" cy="227"/>
            </a:xfrm>
            <a:prstGeom prst="line">
              <a:avLst/>
            </a:prstGeom>
            <a:noFill/>
            <a:ln w="38100" cmpd="dbl">
              <a:solidFill>
                <a:schemeClr val="accent2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0" name="Line 86"/>
            <p:cNvSpPr>
              <a:spLocks noChangeShapeType="1"/>
            </p:cNvSpPr>
            <p:nvPr/>
          </p:nvSpPr>
          <p:spPr bwMode="auto">
            <a:xfrm>
              <a:off x="4876" y="2478"/>
              <a:ext cx="0" cy="227"/>
            </a:xfrm>
            <a:prstGeom prst="line">
              <a:avLst/>
            </a:prstGeom>
            <a:noFill/>
            <a:ln w="38100" cmpd="dbl">
              <a:solidFill>
                <a:srgbClr val="CC3300"/>
              </a:solidFill>
              <a:round/>
              <a:headEnd type="none" w="sm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31" name="Line 87"/>
            <p:cNvSpPr>
              <a:spLocks noChangeShapeType="1"/>
            </p:cNvSpPr>
            <p:nvPr/>
          </p:nvSpPr>
          <p:spPr bwMode="auto">
            <a:xfrm>
              <a:off x="4740" y="2478"/>
              <a:ext cx="0" cy="227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51" name="Group 107"/>
          <p:cNvGrpSpPr/>
          <p:nvPr/>
        </p:nvGrpSpPr>
        <p:grpSpPr bwMode="auto">
          <a:xfrm>
            <a:off x="1258069" y="3285307"/>
            <a:ext cx="7418387" cy="863600"/>
            <a:chOff x="521" y="2478"/>
            <a:chExt cx="4673" cy="544"/>
          </a:xfrm>
        </p:grpSpPr>
        <p:sp>
          <p:nvSpPr>
            <p:cNvPr id="390220" name="Text Box 76"/>
            <p:cNvSpPr txBox="1">
              <a:spLocks noChangeArrowheads="1"/>
            </p:cNvSpPr>
            <p:nvPr/>
          </p:nvSpPr>
          <p:spPr bwMode="auto">
            <a:xfrm>
              <a:off x="2200" y="2705"/>
              <a:ext cx="635" cy="31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21" name="Text Box 77"/>
            <p:cNvSpPr txBox="1">
              <a:spLocks noChangeArrowheads="1"/>
            </p:cNvSpPr>
            <p:nvPr/>
          </p:nvSpPr>
          <p:spPr bwMode="auto">
            <a:xfrm>
              <a:off x="3742" y="2705"/>
              <a:ext cx="589" cy="31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22" name="Text Box 78"/>
            <p:cNvSpPr txBox="1">
              <a:spLocks noChangeArrowheads="1"/>
            </p:cNvSpPr>
            <p:nvPr/>
          </p:nvSpPr>
          <p:spPr bwMode="auto">
            <a:xfrm>
              <a:off x="521" y="2705"/>
              <a:ext cx="591" cy="317"/>
            </a:xfrm>
            <a:prstGeom prst="rect">
              <a:avLst/>
            </a:prstGeom>
            <a:solidFill>
              <a:srgbClr val="FF99CC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23" name="Line 79"/>
            <p:cNvSpPr>
              <a:spLocks noChangeShapeType="1"/>
            </p:cNvSpPr>
            <p:nvPr/>
          </p:nvSpPr>
          <p:spPr bwMode="auto">
            <a:xfrm>
              <a:off x="521" y="2478"/>
              <a:ext cx="467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24" name="Text Box 80"/>
            <p:cNvSpPr txBox="1">
              <a:spLocks noChangeArrowheads="1"/>
            </p:cNvSpPr>
            <p:nvPr/>
          </p:nvSpPr>
          <p:spPr bwMode="auto">
            <a:xfrm>
              <a:off x="4559" y="2705"/>
              <a:ext cx="635" cy="317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39" name="Line 95"/>
            <p:cNvSpPr>
              <a:spLocks noChangeShapeType="1"/>
            </p:cNvSpPr>
            <p:nvPr/>
          </p:nvSpPr>
          <p:spPr bwMode="auto">
            <a:xfrm flipH="1">
              <a:off x="1111" y="2795"/>
              <a:ext cx="1088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0241" name="Line 97"/>
            <p:cNvSpPr>
              <a:spLocks noChangeShapeType="1"/>
            </p:cNvSpPr>
            <p:nvPr/>
          </p:nvSpPr>
          <p:spPr bwMode="auto">
            <a:xfrm flipV="1">
              <a:off x="1111" y="2885"/>
              <a:ext cx="1088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0247" name="Group 103"/>
          <p:cNvGrpSpPr/>
          <p:nvPr/>
        </p:nvGrpSpPr>
        <p:grpSpPr bwMode="auto">
          <a:xfrm>
            <a:off x="2551881" y="3501207"/>
            <a:ext cx="938213" cy="719138"/>
            <a:chOff x="1336" y="2614"/>
            <a:chExt cx="591" cy="453"/>
          </a:xfrm>
        </p:grpSpPr>
        <p:sp>
          <p:nvSpPr>
            <p:cNvPr id="390238" name="Text Box 94"/>
            <p:cNvSpPr txBox="1">
              <a:spLocks noChangeArrowheads="1"/>
            </p:cNvSpPr>
            <p:nvPr/>
          </p:nvSpPr>
          <p:spPr bwMode="auto">
            <a:xfrm>
              <a:off x="1337" y="2614"/>
              <a:ext cx="59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＝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42" name="Text Box 98"/>
            <p:cNvSpPr txBox="1">
              <a:spLocks noChangeArrowheads="1"/>
            </p:cNvSpPr>
            <p:nvPr/>
          </p:nvSpPr>
          <p:spPr bwMode="auto">
            <a:xfrm>
              <a:off x="1336" y="2886"/>
              <a:ext cx="591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HLDA</a:t>
              </a:r>
              <a:r>
                <a:rPr lang="zh-CN" altLang="en-US" sz="1800" b="1">
                  <a:latin typeface="宋体" panose="02010600030101010101" pitchFamily="2" charset="-122"/>
                </a:rPr>
                <a:t>＝</a:t>
              </a:r>
              <a:r>
                <a:rPr lang="en-US" altLang="zh-CN" sz="1800" b="1">
                  <a:latin typeface="宋体" panose="02010600030101010101" pitchFamily="2" charset="-122"/>
                </a:rPr>
                <a:t>1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</p:grpSp>
      <p:grpSp>
        <p:nvGrpSpPr>
          <p:cNvPr id="390253" name="Group 109"/>
          <p:cNvGrpSpPr/>
          <p:nvPr/>
        </p:nvGrpSpPr>
        <p:grpSpPr bwMode="auto">
          <a:xfrm>
            <a:off x="2338784" y="3501207"/>
            <a:ext cx="1081088" cy="717550"/>
            <a:chOff x="1202" y="3250"/>
            <a:chExt cx="681" cy="452"/>
          </a:xfrm>
        </p:grpSpPr>
        <p:sp>
          <p:nvSpPr>
            <p:cNvPr id="390243" name="Text Box 99"/>
            <p:cNvSpPr txBox="1">
              <a:spLocks noChangeArrowheads="1"/>
            </p:cNvSpPr>
            <p:nvPr/>
          </p:nvSpPr>
          <p:spPr bwMode="auto">
            <a:xfrm>
              <a:off x="1202" y="3250"/>
              <a:ext cx="680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⑤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HRQ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↓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0244" name="Text Box 100"/>
            <p:cNvSpPr txBox="1">
              <a:spLocks noChangeArrowheads="1"/>
            </p:cNvSpPr>
            <p:nvPr/>
          </p:nvSpPr>
          <p:spPr bwMode="auto">
            <a:xfrm>
              <a:off x="1202" y="3521"/>
              <a:ext cx="681" cy="18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⑤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HLDA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↓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390259" name="Oval 115"/>
          <p:cNvSpPr>
            <a:spLocks noChangeArrowheads="1"/>
          </p:cNvSpPr>
          <p:nvPr/>
        </p:nvSpPr>
        <p:spPr bwMode="auto">
          <a:xfrm>
            <a:off x="1259656" y="1845889"/>
            <a:ext cx="1008062" cy="360363"/>
          </a:xfrm>
          <a:prstGeom prst="ellipse">
            <a:avLst/>
          </a:prstGeom>
          <a:noFill/>
          <a:ln w="15875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260" name="Text Box 116"/>
          <p:cNvSpPr txBox="1">
            <a:spLocks noChangeArrowheads="1"/>
          </p:cNvSpPr>
          <p:nvPr/>
        </p:nvSpPr>
        <p:spPr bwMode="auto">
          <a:xfrm>
            <a:off x="2123354" y="4294720"/>
            <a:ext cx="6697118" cy="13665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⑥</a:t>
            </a:r>
            <a:r>
              <a:rPr lang="en-US" altLang="zh-CN" b="1" dirty="0" smtClean="0">
                <a:latin typeface="宋体" panose="02010600030101010101" pitchFamily="2" charset="-122"/>
              </a:rPr>
              <a:t>MAC</a:t>
            </a:r>
            <a:r>
              <a:rPr lang="en-US" altLang="zh-CN" b="1" dirty="0">
                <a:latin typeface="宋体" panose="02010600030101010101" pitchFamily="2" charset="-122"/>
              </a:rPr>
              <a:t>←(MAC</a:t>
            </a:r>
            <a:r>
              <a:rPr lang="en-US" altLang="zh-CN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＋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r>
              <a:rPr lang="zh-CN" altLang="en-US" b="1" dirty="0"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latin typeface="宋体" panose="02010600030101010101" pitchFamily="2" charset="-122"/>
              </a:rPr>
              <a:t>WC←(WC)</a:t>
            </a:r>
            <a:r>
              <a:rPr lang="zh-CN" altLang="en-US" b="1" dirty="0">
                <a:latin typeface="宋体" panose="02010600030101010101" pitchFamily="2" charset="-122"/>
              </a:rPr>
              <a:t>－</a:t>
            </a:r>
            <a:r>
              <a:rPr lang="en-US" altLang="zh-CN" b="1" dirty="0" smtClean="0">
                <a:latin typeface="宋体" panose="02010600030101010101" pitchFamily="2" charset="-122"/>
              </a:rPr>
              <a:t>1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⑦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WC≠0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启动</a:t>
            </a:r>
            <a:r>
              <a:rPr lang="zh-CN" altLang="en-US" b="1" dirty="0" smtClean="0">
                <a:latin typeface="宋体" panose="02010600030101010101" pitchFamily="2" charset="-122"/>
              </a:rPr>
              <a:t>外设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开始下一字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等待</a:t>
            </a:r>
            <a:r>
              <a:rPr lang="zh-CN" altLang="en-US" b="1" dirty="0" smtClean="0">
                <a:latin typeface="宋体" panose="02010600030101010101" pitchFamily="2" charset="-122"/>
              </a:rPr>
              <a:t>转入①；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若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WC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＝</a:t>
            </a:r>
            <a:r>
              <a:rPr lang="en-US" altLang="zh-CN" b="1" dirty="0">
                <a:solidFill>
                  <a:srgbClr val="990099"/>
                </a:solidFill>
                <a:latin typeface="宋体" panose="02010600030101010101" pitchFamily="2" charset="-122"/>
              </a:rPr>
              <a:t>0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产生</a:t>
            </a:r>
            <a:r>
              <a:rPr lang="zh-CN" altLang="en-US" b="1" dirty="0" smtClean="0">
                <a:latin typeface="宋体" panose="02010600030101010101" pitchFamily="2" charset="-122"/>
              </a:rPr>
              <a:t>中断请求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已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传送完毕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90264" name="AutoShape 1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6228878" y="6502097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0266" name="AutoShape 122">
            <a:hlinkClick r:id="rId1" action="ppaction://hlinksldjump" highlightClick="1"/>
          </p:cNvPr>
          <p:cNvSpPr>
            <a:spLocks noChangeArrowheads="1"/>
          </p:cNvSpPr>
          <p:nvPr/>
        </p:nvSpPr>
        <p:spPr bwMode="auto">
          <a:xfrm rot="10800000">
            <a:off x="5148758" y="6524450"/>
            <a:ext cx="287338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utoShape 16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298851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Oval 115"/>
          <p:cNvSpPr>
            <a:spLocks noChangeArrowheads="1"/>
          </p:cNvSpPr>
          <p:nvPr/>
        </p:nvSpPr>
        <p:spPr bwMode="auto">
          <a:xfrm>
            <a:off x="4068813" y="3284984"/>
            <a:ext cx="647203" cy="360363"/>
          </a:xfrm>
          <a:prstGeom prst="ellipse">
            <a:avLst/>
          </a:prstGeom>
          <a:noFill/>
          <a:ln w="15875">
            <a:solidFill>
              <a:schemeClr val="tx1"/>
            </a:solidFill>
            <a:prstDash val="sysDot"/>
            <a:rou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>
            <a:off x="4932040" y="3502025"/>
            <a:ext cx="1439863" cy="287338"/>
            <a:chOff x="4932040" y="3645718"/>
            <a:chExt cx="1439863" cy="287338"/>
          </a:xfrm>
        </p:grpSpPr>
        <p:sp>
          <p:nvSpPr>
            <p:cNvPr id="76" name="Line 57"/>
            <p:cNvSpPr>
              <a:spLocks noChangeShapeType="1"/>
            </p:cNvSpPr>
            <p:nvPr/>
          </p:nvSpPr>
          <p:spPr bwMode="auto">
            <a:xfrm flipV="1">
              <a:off x="4932040" y="3933055"/>
              <a:ext cx="14398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Text Box 58"/>
            <p:cNvSpPr txBox="1">
              <a:spLocks noChangeArrowheads="1"/>
            </p:cNvSpPr>
            <p:nvPr/>
          </p:nvSpPr>
          <p:spPr bwMode="auto">
            <a:xfrm>
              <a:off x="5147940" y="3645718"/>
              <a:ext cx="1008063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⑦启动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931544" y="2063377"/>
            <a:ext cx="1439863" cy="287338"/>
            <a:chOff x="4931544" y="2134320"/>
            <a:chExt cx="1439863" cy="287338"/>
          </a:xfrm>
        </p:grpSpPr>
        <p:sp>
          <p:nvSpPr>
            <p:cNvPr id="78" name="Line 57"/>
            <p:cNvSpPr>
              <a:spLocks noChangeShapeType="1"/>
            </p:cNvSpPr>
            <p:nvPr/>
          </p:nvSpPr>
          <p:spPr bwMode="auto">
            <a:xfrm flipV="1">
              <a:off x="4931544" y="2421657"/>
              <a:ext cx="1439863" cy="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Text Box 58"/>
            <p:cNvSpPr txBox="1">
              <a:spLocks noChangeArrowheads="1"/>
            </p:cNvSpPr>
            <p:nvPr/>
          </p:nvSpPr>
          <p:spPr bwMode="auto">
            <a:xfrm>
              <a:off x="5147444" y="2134320"/>
              <a:ext cx="1008063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 algn="l"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启动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81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4103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54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80" name="Text Box 42"/>
          <p:cNvSpPr txBox="1">
            <a:spLocks noChangeArrowheads="1"/>
          </p:cNvSpPr>
          <p:nvPr/>
        </p:nvSpPr>
        <p:spPr bwMode="auto">
          <a:xfrm>
            <a:off x="179388" y="5373216"/>
            <a:ext cx="8964612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、后处理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                       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任务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spc="-100" dirty="0" smtClean="0">
                <a:latin typeface="宋体" panose="02010600030101010101" pitchFamily="2" charset="-122"/>
              </a:rPr>
              <a:t>CPU</a:t>
            </a:r>
            <a:r>
              <a:rPr lang="zh-CN" altLang="en-US" b="1" u="sng" spc="-100" dirty="0">
                <a:solidFill>
                  <a:schemeClr val="accent2"/>
                </a:solidFill>
                <a:latin typeface="宋体" panose="02010600030101010101" pitchFamily="2" charset="-122"/>
              </a:rPr>
              <a:t>响应</a:t>
            </a:r>
            <a:r>
              <a:rPr lang="zh-CN" altLang="en-US" b="1" spc="-100" dirty="0">
                <a:latin typeface="宋体" panose="02010600030101010101" pitchFamily="2" charset="-122"/>
              </a:rPr>
              <a:t>中断请求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，完成结束</a:t>
            </a:r>
            <a:r>
              <a:rPr lang="zh-CN" altLang="en-US" b="1" spc="-100" dirty="0">
                <a:latin typeface="宋体" panose="02010600030101010101" pitchFamily="2" charset="-122"/>
              </a:rPr>
              <a:t>处理</a:t>
            </a:r>
            <a:r>
              <a:rPr lang="zh-CN" altLang="en-US" b="1" spc="-100" dirty="0" smtClean="0">
                <a:latin typeface="宋体" panose="02010600030101010101" pitchFamily="2" charset="-122"/>
              </a:rPr>
              <a:t>工作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spc="-100" dirty="0">
                <a:latin typeface="宋体" panose="02010600030101010101" pitchFamily="2" charset="-122"/>
              </a:rPr>
              <a:t>如数据校验、开始</a:t>
            </a:r>
            <a:r>
              <a:rPr lang="zh-CN" altLang="en-US" sz="1800" b="1" spc="-100" dirty="0" smtClean="0">
                <a:latin typeface="宋体" panose="02010600030101010101" pitchFamily="2" charset="-122"/>
              </a:rPr>
              <a:t>下次</a:t>
            </a:r>
            <a:r>
              <a:rPr lang="en-US" altLang="zh-CN" sz="1800" b="1" spc="-100" dirty="0" smtClean="0">
                <a:latin typeface="宋体" panose="02010600030101010101" pitchFamily="2" charset="-122"/>
              </a:rPr>
              <a:t>)</a:t>
            </a:r>
            <a:endParaRPr lang="zh-CN" altLang="en-US" sz="2000" b="1" spc="-10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9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9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750"/>
                                        <p:tgtEl>
                                          <p:spTgt spid="39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6" presetClass="entr" presetSubtype="2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750"/>
                                        <p:tgtEl>
                                          <p:spTgt spid="39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750"/>
                                        <p:tgtEl>
                                          <p:spTgt spid="39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90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11111E-6 L 0.28368 -1.11111E-6 " pathEditMode="relative" rAng="0" ptsTypes="AA">
                                      <p:cBhvr>
                                        <p:cTn id="46" dur="1500" fill="hold"/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184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5" presetClass="entr" presetSubtype="1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9" dur="500"/>
                                        <p:tgtEl>
                                          <p:spTgt spid="390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5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39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90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5" dur="500"/>
                                        <p:tgtEl>
                                          <p:spTgt spid="3902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71" dur="750"/>
                                        <p:tgtEl>
                                          <p:spTgt spid="39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5" dur="500"/>
                                        <p:tgtEl>
                                          <p:spTgt spid="3902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8" dur="500"/>
                                        <p:tgtEl>
                                          <p:spTgt spid="390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5" presetClass="entr" presetSubtype="1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750"/>
                                        <p:tgtEl>
                                          <p:spTgt spid="39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750"/>
                            </p:stCondLst>
                            <p:childTnLst>
                              <p:par>
                                <p:cTn id="85" presetID="63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4.07407E-6 L -0.29132 0.00116 " pathEditMode="relative" rAng="0" ptsTypes="AA">
                                      <p:cBhvr>
                                        <p:cTn id="86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66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390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390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90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6" presetClass="entr" presetSubtype="2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99" grpId="0"/>
      <p:bldP spid="390218" grpId="0"/>
      <p:bldP spid="390259" grpId="0" animBg="1"/>
      <p:bldP spid="390259" grpId="1" animBg="1"/>
      <p:bldP spid="390259" grpId="2" animBg="1"/>
      <p:bldP spid="75" grpId="0" animBg="1"/>
      <p:bldP spid="75" grpId="2" animBg="1"/>
      <p:bldP spid="8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96109-367B-41F5-B3B0-C0A98F48424B}" type="slidenum">
              <a:rPr lang="en-US" altLang="zh-CN"/>
            </a:fld>
            <a:endParaRPr lang="en-US" altLang="zh-CN"/>
          </a:p>
        </p:txBody>
      </p:sp>
      <p:sp>
        <p:nvSpPr>
          <p:cNvPr id="389277" name="Text Box 157"/>
          <p:cNvSpPr txBox="1">
            <a:spLocks noChangeArrowheads="1"/>
          </p:cNvSpPr>
          <p:nvPr/>
        </p:nvSpPr>
        <p:spPr bwMode="auto">
          <a:xfrm>
            <a:off x="179388" y="352549"/>
            <a:ext cx="8785225" cy="2407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14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例</a:t>
            </a: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sz="2200" b="1" dirty="0">
                <a:latin typeface="宋体" panose="02010600030101010101" pitchFamily="2" charset="-122"/>
              </a:rPr>
              <a:t>某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主频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500MHz</a:t>
            </a:r>
            <a:r>
              <a:rPr lang="zh-CN" altLang="en-US" sz="2200" b="1" dirty="0">
                <a:latin typeface="宋体" panose="02010600030101010101" pitchFamily="2" charset="-122"/>
              </a:rPr>
              <a:t>、</a:t>
            </a:r>
            <a:r>
              <a:rPr lang="en-US" altLang="zh-CN" sz="2200" b="1" dirty="0">
                <a:latin typeface="宋体" panose="02010600030101010101" pitchFamily="2" charset="-122"/>
              </a:rPr>
              <a:t>CPI</a:t>
            </a:r>
            <a:r>
              <a:rPr lang="zh-CN" altLang="en-US" sz="2200" b="1" dirty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5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zh-CN" altLang="en-US" sz="2200" b="1" dirty="0">
                <a:latin typeface="宋体" panose="02010600030101010101" pitchFamily="2" charset="-122"/>
              </a:rPr>
              <a:t>中断响应开销相当于</a:t>
            </a:r>
            <a:r>
              <a:rPr lang="en-US" altLang="zh-CN" sz="2200" b="1" dirty="0">
                <a:latin typeface="宋体" panose="02010600030101010101" pitchFamily="2" charset="-122"/>
              </a:rPr>
              <a:t>2</a:t>
            </a:r>
            <a:r>
              <a:rPr lang="zh-CN" altLang="en-US" sz="2200" b="1" dirty="0">
                <a:latin typeface="宋体" panose="02010600030101010101" pitchFamily="2" charset="-122"/>
              </a:rPr>
              <a:t>条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指令执行时间。若外设的</a:t>
            </a:r>
            <a:r>
              <a:rPr lang="zh-CN" altLang="en-US" sz="2200" b="1" dirty="0">
                <a:latin typeface="宋体" panose="02010600030101010101" pitchFamily="2" charset="-122"/>
              </a:rPr>
              <a:t>数据传输率＝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0.5MB/s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，其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sz="2200" b="1" dirty="0">
                <a:latin typeface="宋体" panose="02010600030101010101" pitchFamily="2" charset="-122"/>
              </a:rPr>
              <a:t>所连总线宽度＝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32bit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、数据</a:t>
            </a:r>
            <a:r>
              <a:rPr lang="zh-CN" altLang="en-US" sz="2200" b="1" dirty="0">
                <a:latin typeface="宋体" panose="02010600030101010101" pitchFamily="2" charset="-122"/>
              </a:rPr>
              <a:t>缓冲器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大小＝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4B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，中断处理程序有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18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条指令。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(1)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中断</a:t>
            </a:r>
            <a:r>
              <a:rPr lang="zh-CN" altLang="en-US" sz="2200" b="1" dirty="0">
                <a:latin typeface="宋体" panose="02010600030101010101" pitchFamily="2" charset="-122"/>
              </a:rPr>
              <a:t>方式下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，该</a:t>
            </a:r>
            <a:r>
              <a:rPr lang="zh-CN" altLang="en-US" sz="2200" b="1" dirty="0">
                <a:latin typeface="宋体" panose="02010600030101010101" pitchFamily="2" charset="-122"/>
              </a:rPr>
              <a:t>外设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所占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时间的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？</a:t>
            </a:r>
            <a:endParaRPr lang="zh-CN" altLang="en-US" sz="2200" b="1" dirty="0">
              <a:latin typeface="宋体" panose="02010600030101010101" pitchFamily="2" charset="-122"/>
            </a:endParaRPr>
          </a:p>
          <a:p>
            <a:pPr algn="l">
              <a:lnSpc>
                <a:spcPct val="114000"/>
              </a:lnSpc>
            </a:pPr>
            <a:r>
              <a:rPr lang="zh-CN" altLang="en-US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(2)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若</a:t>
            </a:r>
            <a:r>
              <a:rPr lang="zh-CN" altLang="en-US" sz="2200" b="1" dirty="0">
                <a:latin typeface="宋体" panose="02010600030101010101" pitchFamily="2" charset="-122"/>
              </a:rPr>
              <a:t>外设数据传输率提高到</a:t>
            </a:r>
            <a:r>
              <a:rPr lang="en-US" altLang="zh-CN" sz="2200" b="1" dirty="0">
                <a:latin typeface="宋体" panose="02010600030101010101" pitchFamily="2" charset="-122"/>
              </a:rPr>
              <a:t>5MB/s</a:t>
            </a:r>
            <a:r>
              <a:rPr lang="zh-CN" altLang="en-US" sz="2200" b="1" dirty="0">
                <a:latin typeface="宋体" panose="02010600030101010101" pitchFamily="2" charset="-122"/>
              </a:rPr>
              <a:t>，改用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方式，</a:t>
            </a:r>
            <a:r>
              <a:rPr lang="en-US" altLang="zh-CN" sz="2200" b="1" dirty="0">
                <a:latin typeface="宋体" panose="02010600030101010101" pitchFamily="2" charset="-122"/>
              </a:rPr>
              <a:t>DMA</a:t>
            </a:r>
            <a:r>
              <a:rPr lang="zh-CN" altLang="en-US" sz="2200" b="1" dirty="0">
                <a:latin typeface="宋体" panose="02010600030101010101" pitchFamily="2" charset="-122"/>
              </a:rPr>
              <a:t>传送预处理及后处理共需</a:t>
            </a:r>
            <a:r>
              <a:rPr lang="en-US" altLang="zh-CN" sz="2200" b="1" dirty="0">
                <a:latin typeface="宋体" panose="02010600030101010101" pitchFamily="2" charset="-122"/>
              </a:rPr>
              <a:t>500T</a:t>
            </a:r>
            <a:r>
              <a:rPr lang="en-US" altLang="zh-CN" sz="2200" b="1" baseline="-14000" dirty="0">
                <a:latin typeface="宋体" panose="02010600030101010101" pitchFamily="2" charset="-122"/>
              </a:rPr>
              <a:t>C</a:t>
            </a:r>
            <a:r>
              <a:rPr lang="zh-CN" altLang="en-US" sz="2200" b="1" dirty="0">
                <a:latin typeface="宋体" panose="02010600030101010101" pitchFamily="2" charset="-122"/>
              </a:rPr>
              <a:t>、块大小＝</a:t>
            </a:r>
            <a:r>
              <a:rPr lang="en-US" altLang="zh-CN" sz="2200" b="1" dirty="0">
                <a:latin typeface="宋体" panose="02010600030101010101" pitchFamily="2" charset="-122"/>
              </a:rPr>
              <a:t>5000B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，该外设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所占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时间的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？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6" name="AutoShape 120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2988518" y="6526038"/>
            <a:ext cx="287338" cy="287338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79388" y="2697450"/>
            <a:ext cx="7272931" cy="938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    </a:t>
            </a:r>
            <a:r>
              <a:rPr lang="zh-CN" altLang="en-US" sz="2200" b="1" dirty="0">
                <a:solidFill>
                  <a:srgbClr val="990099"/>
                </a:solidFill>
                <a:latin typeface="宋体" panose="02010600030101010101" pitchFamily="2" charset="-122"/>
              </a:rPr>
              <a:t>解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—(1)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    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INT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                           </a:t>
            </a:r>
            <a:r>
              <a:rPr lang="en-US" altLang="zh-CN" sz="2200" b="1" dirty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的时间</a:t>
            </a:r>
            <a:r>
              <a:rPr lang="en-US" altLang="zh-CN" sz="2200" b="1" dirty="0">
                <a:latin typeface="宋体" panose="02010600030101010101" pitchFamily="2" charset="-122"/>
              </a:rPr>
              <a:t>%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1439527" y="3091026"/>
            <a:ext cx="7525085" cy="55399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(2</a:t>
            </a:r>
            <a:r>
              <a:rPr lang="en-US" altLang="zh-CN" b="1" dirty="0" smtClean="0">
                <a:latin typeface="+mn-lt"/>
              </a:rPr>
              <a:t>+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18)</a:t>
            </a:r>
            <a:r>
              <a:rPr lang="en-US" altLang="zh-CN" sz="2200" b="1" dirty="0" smtClean="0">
                <a:latin typeface="+mn-ea"/>
                <a:ea typeface="+mn-ea"/>
              </a:rPr>
              <a:t>*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5/(500*10</a:t>
            </a:r>
            <a:r>
              <a:rPr lang="en-US" altLang="zh-CN" sz="2200" b="1" baseline="30000" dirty="0" smtClean="0">
                <a:latin typeface="宋体" panose="02010600030101010101" pitchFamily="2" charset="-122"/>
              </a:rPr>
              <a:t>6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0.2</a:t>
            </a:r>
            <a:r>
              <a:rPr lang="en-US" altLang="zh-CN" sz="2200" dirty="0" smtClean="0">
                <a:latin typeface="+mn-lt"/>
              </a:rPr>
              <a:t>μ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    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0.2/8</a:t>
            </a:r>
            <a:r>
              <a:rPr lang="zh-CN" altLang="en-US" sz="2000" b="1" dirty="0">
                <a:latin typeface="宋体" panose="02010600030101010101" pitchFamily="2" charset="-122"/>
              </a:rPr>
              <a:t>＝</a:t>
            </a:r>
            <a:r>
              <a:rPr lang="en-US" altLang="zh-CN" sz="2000" b="1" dirty="0">
                <a:latin typeface="宋体" panose="02010600030101010101" pitchFamily="2" charset="-122"/>
              </a:rPr>
              <a:t>2.5%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6154416" y="4412259"/>
            <a:ext cx="358775" cy="287337"/>
          </a:xfrm>
          <a:prstGeom prst="rect">
            <a:avLst/>
          </a:prstGeom>
          <a:noFill/>
          <a:ln w="15875">
            <a:noFill/>
            <a:miter lim="800000"/>
          </a:ln>
          <a:effectLst/>
        </p:spPr>
        <p:txBody>
          <a:bodyPr lIns="18000" tIns="10800" rIns="18000" bIns="10800" anchor="ctr"/>
          <a:lstStyle/>
          <a:p>
            <a:pPr>
              <a:lnSpc>
                <a:spcPct val="105000"/>
              </a:lnSpc>
            </a:pPr>
            <a:endParaRPr lang="en-US" altLang="zh-CN" sz="1800" b="1" dirty="0">
              <a:latin typeface="宋体" panose="02010600030101010101" pitchFamily="2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107504" y="3718323"/>
            <a:ext cx="4175275" cy="1394246"/>
            <a:chOff x="396925" y="2898155"/>
            <a:chExt cx="4175275" cy="1394246"/>
          </a:xfrm>
        </p:grpSpPr>
        <p:sp>
          <p:nvSpPr>
            <p:cNvPr id="35" name="Text Box 9"/>
            <p:cNvSpPr txBox="1">
              <a:spLocks noChangeArrowheads="1"/>
            </p:cNvSpPr>
            <p:nvPr/>
          </p:nvSpPr>
          <p:spPr bwMode="auto">
            <a:xfrm>
              <a:off x="2053109" y="2898155"/>
              <a:ext cx="1942828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次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6" name="Text Box 10"/>
            <p:cNvSpPr txBox="1">
              <a:spLocks noChangeArrowheads="1"/>
            </p:cNvSpPr>
            <p:nvPr/>
          </p:nvSpPr>
          <p:spPr bwMode="auto">
            <a:xfrm>
              <a:off x="1838250" y="3401392"/>
              <a:ext cx="1074491" cy="288925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中断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7" name="Text Box 11"/>
            <p:cNvSpPr txBox="1">
              <a:spLocks noChangeArrowheads="1"/>
            </p:cNvSpPr>
            <p:nvPr/>
          </p:nvSpPr>
          <p:spPr bwMode="auto">
            <a:xfrm>
              <a:off x="2915816" y="3401392"/>
              <a:ext cx="1080120" cy="288925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其它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8" name="Text Box 12"/>
            <p:cNvSpPr txBox="1">
              <a:spLocks noChangeArrowheads="1"/>
            </p:cNvSpPr>
            <p:nvPr/>
          </p:nvSpPr>
          <p:spPr bwMode="auto">
            <a:xfrm>
              <a:off x="396925" y="2898155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外设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" name="Text Box 13"/>
            <p:cNvSpPr txBox="1">
              <a:spLocks noChangeArrowheads="1"/>
            </p:cNvSpPr>
            <p:nvPr/>
          </p:nvSpPr>
          <p:spPr bwMode="auto">
            <a:xfrm>
              <a:off x="396925" y="3329955"/>
              <a:ext cx="574675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0" name="Line 14"/>
            <p:cNvSpPr>
              <a:spLocks noChangeShapeType="1"/>
            </p:cNvSpPr>
            <p:nvPr/>
          </p:nvSpPr>
          <p:spPr bwMode="auto">
            <a:xfrm flipV="1">
              <a:off x="2053109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15"/>
            <p:cNvSpPr>
              <a:spLocks noChangeShapeType="1"/>
            </p:cNvSpPr>
            <p:nvPr/>
          </p:nvSpPr>
          <p:spPr bwMode="auto">
            <a:xfrm>
              <a:off x="1256978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1256978" y="3401392"/>
              <a:ext cx="578718" cy="2873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43" name="Line 18"/>
            <p:cNvSpPr>
              <a:spLocks noChangeShapeType="1"/>
            </p:cNvSpPr>
            <p:nvPr/>
          </p:nvSpPr>
          <p:spPr bwMode="auto">
            <a:xfrm>
              <a:off x="3995936" y="3185492"/>
              <a:ext cx="0" cy="2159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19"/>
            <p:cNvSpPr>
              <a:spLocks noChangeShapeType="1"/>
            </p:cNvSpPr>
            <p:nvPr/>
          </p:nvSpPr>
          <p:spPr bwMode="auto">
            <a:xfrm>
              <a:off x="969642" y="3761754"/>
              <a:ext cx="3602558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Line 21"/>
            <p:cNvSpPr>
              <a:spLocks noChangeShapeType="1"/>
            </p:cNvSpPr>
            <p:nvPr/>
          </p:nvSpPr>
          <p:spPr bwMode="auto">
            <a:xfrm>
              <a:off x="1255391" y="3761755"/>
              <a:ext cx="0" cy="5306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2915816" y="3761755"/>
              <a:ext cx="0" cy="2873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23"/>
            <p:cNvSpPr>
              <a:spLocks noChangeShapeType="1"/>
            </p:cNvSpPr>
            <p:nvPr/>
          </p:nvSpPr>
          <p:spPr bwMode="auto">
            <a:xfrm flipH="1">
              <a:off x="3995936" y="3761755"/>
              <a:ext cx="1588" cy="53064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Box 24"/>
            <p:cNvSpPr txBox="1">
              <a:spLocks noChangeArrowheads="1"/>
            </p:cNvSpPr>
            <p:nvPr/>
          </p:nvSpPr>
          <p:spPr bwMode="auto">
            <a:xfrm>
              <a:off x="1763688" y="3761755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INT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49" name="Text Box 25"/>
            <p:cNvSpPr txBox="1">
              <a:spLocks noChangeArrowheads="1"/>
            </p:cNvSpPr>
            <p:nvPr/>
          </p:nvSpPr>
          <p:spPr bwMode="auto">
            <a:xfrm>
              <a:off x="2339752" y="4005064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I/O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50" name="Line 26"/>
            <p:cNvSpPr>
              <a:spLocks noChangeShapeType="1"/>
            </p:cNvSpPr>
            <p:nvPr/>
          </p:nvSpPr>
          <p:spPr bwMode="auto">
            <a:xfrm>
              <a:off x="2339753" y="3906217"/>
              <a:ext cx="57606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Line 27"/>
            <p:cNvSpPr>
              <a:spLocks noChangeShapeType="1"/>
            </p:cNvSpPr>
            <p:nvPr/>
          </p:nvSpPr>
          <p:spPr bwMode="auto">
            <a:xfrm flipH="1">
              <a:off x="1256978" y="3906217"/>
              <a:ext cx="53975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Line 28"/>
            <p:cNvSpPr>
              <a:spLocks noChangeShapeType="1"/>
            </p:cNvSpPr>
            <p:nvPr/>
          </p:nvSpPr>
          <p:spPr bwMode="auto">
            <a:xfrm>
              <a:off x="2915816" y="4193555"/>
              <a:ext cx="10817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29"/>
            <p:cNvSpPr>
              <a:spLocks noChangeShapeType="1"/>
            </p:cNvSpPr>
            <p:nvPr/>
          </p:nvSpPr>
          <p:spPr bwMode="auto">
            <a:xfrm flipH="1">
              <a:off x="1255391" y="4149080"/>
              <a:ext cx="115637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Box 33"/>
            <p:cNvSpPr txBox="1">
              <a:spLocks noChangeArrowheads="1"/>
            </p:cNvSpPr>
            <p:nvPr/>
          </p:nvSpPr>
          <p:spPr bwMode="auto">
            <a:xfrm>
              <a:off x="3995936" y="3402980"/>
              <a:ext cx="576263" cy="287337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响应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5" name="Rectangle 34"/>
            <p:cNvSpPr>
              <a:spLocks noChangeArrowheads="1"/>
            </p:cNvSpPr>
            <p:nvPr/>
          </p:nvSpPr>
          <p:spPr bwMode="auto">
            <a:xfrm>
              <a:off x="969641" y="2898155"/>
              <a:ext cx="288925" cy="28892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9050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355976" y="3717032"/>
            <a:ext cx="4680520" cy="1369443"/>
            <a:chOff x="2123728" y="4579838"/>
            <a:chExt cx="4680520" cy="1369443"/>
          </a:xfrm>
        </p:grpSpPr>
        <p:sp>
          <p:nvSpPr>
            <p:cNvPr id="57" name="Text Box 38"/>
            <p:cNvSpPr txBox="1">
              <a:spLocks noChangeArrowheads="1"/>
            </p:cNvSpPr>
            <p:nvPr/>
          </p:nvSpPr>
          <p:spPr bwMode="auto">
            <a:xfrm>
              <a:off x="3851921" y="4581426"/>
              <a:ext cx="1080120" cy="287338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传送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8" name="Text Box 39"/>
            <p:cNvSpPr txBox="1">
              <a:spLocks noChangeArrowheads="1"/>
            </p:cNvSpPr>
            <p:nvPr/>
          </p:nvSpPr>
          <p:spPr bwMode="auto">
            <a:xfrm>
              <a:off x="3851921" y="5084663"/>
              <a:ext cx="1080119" cy="287338"/>
            </a:xfrm>
            <a:prstGeom prst="rect">
              <a:avLst/>
            </a:prstGeom>
            <a:solidFill>
              <a:srgbClr val="FF99CC">
                <a:alpha val="7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其它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程序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9" name="Text Box 40"/>
            <p:cNvSpPr txBox="1">
              <a:spLocks noChangeArrowheads="1"/>
            </p:cNvSpPr>
            <p:nvPr/>
          </p:nvSpPr>
          <p:spPr bwMode="auto">
            <a:xfrm>
              <a:off x="2123728" y="4581426"/>
              <a:ext cx="936104" cy="2619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0" name="Text Box 41"/>
            <p:cNvSpPr txBox="1">
              <a:spLocks noChangeArrowheads="1"/>
            </p:cNvSpPr>
            <p:nvPr/>
          </p:nvSpPr>
          <p:spPr bwMode="auto">
            <a:xfrm>
              <a:off x="2195736" y="5085878"/>
              <a:ext cx="793527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61" name="Line 42"/>
            <p:cNvSpPr>
              <a:spLocks noChangeShapeType="1"/>
            </p:cNvSpPr>
            <p:nvPr/>
          </p:nvSpPr>
          <p:spPr bwMode="auto">
            <a:xfrm flipV="1">
              <a:off x="3060700" y="4868763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43"/>
            <p:cNvSpPr>
              <a:spLocks noChangeShapeType="1"/>
            </p:cNvSpPr>
            <p:nvPr/>
          </p:nvSpPr>
          <p:spPr bwMode="auto">
            <a:xfrm>
              <a:off x="4932040" y="4868763"/>
              <a:ext cx="0" cy="215900"/>
            </a:xfrm>
            <a:prstGeom prst="line">
              <a:avLst/>
            </a:prstGeom>
            <a:noFill/>
            <a:ln w="2540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Box 44"/>
            <p:cNvSpPr txBox="1">
              <a:spLocks noChangeArrowheads="1"/>
            </p:cNvSpPr>
            <p:nvPr/>
          </p:nvSpPr>
          <p:spPr bwMode="auto">
            <a:xfrm>
              <a:off x="3060700" y="5084663"/>
              <a:ext cx="791419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预处理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64" name="Line 45"/>
            <p:cNvSpPr>
              <a:spLocks noChangeShapeType="1"/>
            </p:cNvSpPr>
            <p:nvPr/>
          </p:nvSpPr>
          <p:spPr bwMode="auto">
            <a:xfrm>
              <a:off x="2989263" y="5445026"/>
              <a:ext cx="367096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Line 47"/>
            <p:cNvSpPr>
              <a:spLocks noChangeShapeType="1"/>
            </p:cNvSpPr>
            <p:nvPr/>
          </p:nvSpPr>
          <p:spPr bwMode="auto">
            <a:xfrm flipH="1">
              <a:off x="3850531" y="5445027"/>
              <a:ext cx="1389" cy="504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48"/>
            <p:cNvSpPr>
              <a:spLocks noChangeShapeType="1"/>
            </p:cNvSpPr>
            <p:nvPr/>
          </p:nvSpPr>
          <p:spPr bwMode="auto">
            <a:xfrm>
              <a:off x="4932040" y="5445026"/>
              <a:ext cx="0" cy="2873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49"/>
            <p:cNvSpPr>
              <a:spLocks noChangeShapeType="1"/>
            </p:cNvSpPr>
            <p:nvPr/>
          </p:nvSpPr>
          <p:spPr bwMode="auto">
            <a:xfrm flipH="1">
              <a:off x="6513190" y="5445027"/>
              <a:ext cx="2704" cy="504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4499992" y="5661942"/>
              <a:ext cx="576263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105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>
                  <a:latin typeface="宋体" panose="02010600030101010101" pitchFamily="2" charset="-122"/>
                </a:rPr>
                <a:t>I/O</a:t>
              </a:r>
              <a:endParaRPr lang="en-US" altLang="zh-CN" sz="1800" b="1" baseline="-18000">
                <a:latin typeface="宋体" panose="02010600030101010101" pitchFamily="2" charset="-122"/>
              </a:endParaRPr>
            </a:p>
          </p:txBody>
        </p:sp>
        <p:sp>
          <p:nvSpPr>
            <p:cNvPr id="69" name="Text Box 51"/>
            <p:cNvSpPr txBox="1">
              <a:spLocks noChangeArrowheads="1"/>
            </p:cNvSpPr>
            <p:nvPr/>
          </p:nvSpPr>
          <p:spPr bwMode="auto">
            <a:xfrm>
              <a:off x="5436096" y="5445026"/>
              <a:ext cx="576263" cy="28733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T</a:t>
              </a:r>
              <a:r>
                <a:rPr lang="en-US" altLang="zh-CN" sz="1800" b="1" baseline="-18000" dirty="0">
                  <a:latin typeface="宋体" panose="02010600030101010101" pitchFamily="2" charset="-122"/>
                </a:rPr>
                <a:t>DMA</a:t>
              </a:r>
              <a:endParaRPr lang="en-US" altLang="zh-CN" sz="1800" b="1" baseline="-18000" dirty="0">
                <a:latin typeface="宋体" panose="02010600030101010101" pitchFamily="2" charset="-122"/>
              </a:endParaRPr>
            </a:p>
          </p:txBody>
        </p:sp>
        <p:sp>
          <p:nvSpPr>
            <p:cNvPr id="70" name="Line 52"/>
            <p:cNvSpPr>
              <a:spLocks noChangeShapeType="1"/>
            </p:cNvSpPr>
            <p:nvPr/>
          </p:nvSpPr>
          <p:spPr bwMode="auto">
            <a:xfrm>
              <a:off x="5148063" y="5805264"/>
              <a:ext cx="136512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53"/>
            <p:cNvSpPr>
              <a:spLocks noChangeShapeType="1"/>
            </p:cNvSpPr>
            <p:nvPr/>
          </p:nvSpPr>
          <p:spPr bwMode="auto">
            <a:xfrm flipH="1">
              <a:off x="3852118" y="5805264"/>
              <a:ext cx="6478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54"/>
            <p:cNvSpPr>
              <a:spLocks noChangeShapeType="1"/>
            </p:cNvSpPr>
            <p:nvPr/>
          </p:nvSpPr>
          <p:spPr bwMode="auto">
            <a:xfrm>
              <a:off x="6012160" y="5588695"/>
              <a:ext cx="501031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 flipH="1" flipV="1">
              <a:off x="4932040" y="5588695"/>
              <a:ext cx="505148" cy="7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Text Box 57"/>
            <p:cNvSpPr txBox="1">
              <a:spLocks noChangeArrowheads="1"/>
            </p:cNvSpPr>
            <p:nvPr/>
          </p:nvSpPr>
          <p:spPr bwMode="auto">
            <a:xfrm>
              <a:off x="3060700" y="4579838"/>
              <a:ext cx="791419" cy="288925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收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需求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5" name="Line 58"/>
            <p:cNvSpPr>
              <a:spLocks noChangeShapeType="1"/>
            </p:cNvSpPr>
            <p:nvPr/>
          </p:nvSpPr>
          <p:spPr bwMode="auto">
            <a:xfrm flipV="1">
              <a:off x="6516216" y="4868763"/>
              <a:ext cx="0" cy="215900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Text Box 59"/>
            <p:cNvSpPr txBox="1">
              <a:spLocks noChangeArrowheads="1"/>
            </p:cNvSpPr>
            <p:nvPr/>
          </p:nvSpPr>
          <p:spPr bwMode="auto">
            <a:xfrm>
              <a:off x="4932040" y="5084663"/>
              <a:ext cx="792088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后处理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  <p:sp>
          <p:nvSpPr>
            <p:cNvPr id="77" name="Text Box 61"/>
            <p:cNvSpPr txBox="1">
              <a:spLocks noChangeArrowheads="1"/>
            </p:cNvSpPr>
            <p:nvPr/>
          </p:nvSpPr>
          <p:spPr bwMode="auto">
            <a:xfrm>
              <a:off x="6516216" y="4581426"/>
              <a:ext cx="288032" cy="287338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收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8" name="Text Box 62"/>
            <p:cNvSpPr txBox="1">
              <a:spLocks noChangeArrowheads="1"/>
            </p:cNvSpPr>
            <p:nvPr/>
          </p:nvSpPr>
          <p:spPr bwMode="auto">
            <a:xfrm>
              <a:off x="5723532" y="5085184"/>
              <a:ext cx="792684" cy="287338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prstDash val="sysDot"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预处理</a:t>
              </a:r>
              <a:endParaRPr lang="zh-CN" altLang="en-US" sz="1800" b="1">
                <a:latin typeface="宋体" panose="02010600030101010101" pitchFamily="2" charset="-122"/>
              </a:endParaRPr>
            </a:p>
          </p:txBody>
        </p:sp>
      </p:grpSp>
      <p:sp>
        <p:nvSpPr>
          <p:cNvPr id="79" name="Text Box 63"/>
          <p:cNvSpPr txBox="1">
            <a:spLocks noChangeArrowheads="1"/>
          </p:cNvSpPr>
          <p:nvPr/>
        </p:nvSpPr>
        <p:spPr bwMode="auto">
          <a:xfrm>
            <a:off x="179389" y="5150280"/>
            <a:ext cx="6552852" cy="87100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   </a:t>
            </a:r>
            <a:r>
              <a:rPr lang="en-US" altLang="zh-CN" sz="2200" b="1" dirty="0" smtClean="0">
                <a:solidFill>
                  <a:srgbClr val="990099"/>
                </a:solidFill>
                <a:latin typeface="宋体" panose="02010600030101010101" pitchFamily="2" charset="-122"/>
              </a:rPr>
              <a:t>(2) </a:t>
            </a:r>
            <a:r>
              <a:rPr lang="en-US" altLang="zh-CN" sz="2200" b="1" dirty="0">
                <a:latin typeface="宋体" panose="02010600030101010101" pitchFamily="2" charset="-122"/>
              </a:rPr>
              <a:t>T</a:t>
            </a:r>
            <a:r>
              <a:rPr lang="en-US" altLang="zh-CN" sz="2200" b="1" baseline="-18000" dirty="0">
                <a:latin typeface="宋体" panose="02010600030101010101" pitchFamily="2" charset="-122"/>
              </a:rPr>
              <a:t>I/O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en-US" altLang="zh-CN" sz="22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15000"/>
              </a:lnSpc>
            </a:pPr>
            <a:r>
              <a:rPr lang="en-US" altLang="zh-CN" sz="2200" b="1" dirty="0">
                <a:latin typeface="宋体" panose="02010600030101010101" pitchFamily="2" charset="-122"/>
              </a:rPr>
              <a:t>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T</a:t>
            </a:r>
            <a:r>
              <a:rPr lang="en-US" altLang="zh-CN" sz="2200" b="1" baseline="-18000" dirty="0" smtClean="0">
                <a:latin typeface="宋体" panose="02010600030101010101" pitchFamily="2" charset="-122"/>
              </a:rPr>
              <a:t>DMA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                 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CPU</a:t>
            </a:r>
            <a:r>
              <a:rPr lang="zh-CN" altLang="en-US" sz="2200" b="1" dirty="0">
                <a:latin typeface="宋体" panose="02010600030101010101" pitchFamily="2" charset="-122"/>
              </a:rPr>
              <a:t>的时间</a:t>
            </a:r>
            <a:r>
              <a:rPr lang="en-US" altLang="zh-CN" sz="2200" b="1" dirty="0">
                <a:latin typeface="宋体" panose="02010600030101010101" pitchFamily="2" charset="-122"/>
              </a:rPr>
              <a:t>%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81" name="Text Box 63"/>
          <p:cNvSpPr txBox="1">
            <a:spLocks noChangeArrowheads="1"/>
          </p:cNvSpPr>
          <p:nvPr/>
        </p:nvSpPr>
        <p:spPr bwMode="auto">
          <a:xfrm>
            <a:off x="1475657" y="5539618"/>
            <a:ext cx="7560840" cy="4816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500/(</a:t>
            </a:r>
            <a:r>
              <a:rPr lang="en-US" altLang="zh-CN" sz="2200" b="1" dirty="0">
                <a:latin typeface="宋体" panose="02010600030101010101" pitchFamily="2" charset="-122"/>
              </a:rPr>
              <a:t>500×10</a:t>
            </a:r>
            <a:r>
              <a:rPr lang="en-US" altLang="zh-CN" sz="2200" b="1" baseline="30000" dirty="0">
                <a:latin typeface="宋体" panose="02010600030101010101" pitchFamily="2" charset="-122"/>
              </a:rPr>
              <a:t>6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    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        1</a:t>
            </a:r>
            <a:r>
              <a:rPr lang="en-US" altLang="zh-CN" sz="2200" dirty="0" smtClean="0"/>
              <a:t>μs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/1ms=0.1</a:t>
            </a:r>
            <a:r>
              <a:rPr lang="en-US" altLang="zh-CN" sz="2200" b="1" dirty="0">
                <a:latin typeface="宋体" panose="02010600030101010101" pitchFamily="2" charset="-122"/>
              </a:rPr>
              <a:t>%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82" name="Text Box 6"/>
          <p:cNvSpPr txBox="1">
            <a:spLocks noChangeArrowheads="1"/>
          </p:cNvSpPr>
          <p:nvPr/>
        </p:nvSpPr>
        <p:spPr bwMode="auto">
          <a:xfrm>
            <a:off x="2627437" y="2697450"/>
            <a:ext cx="2952675" cy="5155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1/(0.5MB/4B)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8</a:t>
            </a:r>
            <a:r>
              <a:rPr lang="en-US" altLang="zh-CN" sz="2200" dirty="0" smtClean="0"/>
              <a:t>μ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en-US" altLang="zh-CN" sz="2200" b="1" dirty="0">
              <a:latin typeface="宋体" panose="02010600030101010101" pitchFamily="2" charset="-122"/>
            </a:endParaRPr>
          </a:p>
        </p:txBody>
      </p:sp>
      <p:sp>
        <p:nvSpPr>
          <p:cNvPr id="83" name="Text Box 63"/>
          <p:cNvSpPr txBox="1">
            <a:spLocks noChangeArrowheads="1"/>
          </p:cNvSpPr>
          <p:nvPr/>
        </p:nvSpPr>
        <p:spPr bwMode="auto">
          <a:xfrm>
            <a:off x="2051720" y="5157192"/>
            <a:ext cx="3088084" cy="4816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200" b="1" dirty="0" smtClean="0">
                <a:latin typeface="宋体" panose="02010600030101010101" pitchFamily="2" charset="-122"/>
              </a:rPr>
              <a:t>1/(5MB/5000B)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＝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1ms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，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79" grpId="0"/>
      <p:bldP spid="81" grpId="0"/>
      <p:bldP spid="82" grpId="0"/>
      <p:bldP spid="8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E2640-5917-426C-BF82-0A115917F80D}" type="slidenum">
              <a:rPr lang="en-US" altLang="zh-CN"/>
            </a:fld>
            <a:endParaRPr lang="en-US" altLang="zh-CN"/>
          </a:p>
        </p:txBody>
      </p:sp>
      <p:sp>
        <p:nvSpPr>
          <p:cNvPr id="394244" name="Text Box 4"/>
          <p:cNvSpPr txBox="1">
            <a:spLocks noChangeArrowheads="1"/>
          </p:cNvSpPr>
          <p:nvPr/>
        </p:nvSpPr>
        <p:spPr bwMode="auto">
          <a:xfrm>
            <a:off x="179388" y="404664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方式与中断方式的比较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lvl="0" algn="l">
              <a:lnSpc>
                <a:spcPct val="125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相同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①</a:t>
            </a:r>
            <a:r>
              <a:rPr lang="zh-CN" altLang="en-US" b="1" dirty="0" smtClean="0">
                <a:latin typeface="宋体" panose="02010600030101010101" pitchFamily="2" charset="-122"/>
              </a:rPr>
              <a:t>与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的联络，都采用</a:t>
            </a:r>
            <a:r>
              <a:rPr lang="zh-CN" altLang="en-US" b="1" u="sng" dirty="0">
                <a:latin typeface="宋体" panose="02010600030101010101" pitchFamily="2" charset="-122"/>
              </a:rPr>
              <a:t>请求</a:t>
            </a:r>
            <a:r>
              <a:rPr lang="en-US" altLang="zh-CN" b="1" u="sng" dirty="0">
                <a:latin typeface="宋体" panose="02010600030101010101" pitchFamily="2" charset="-122"/>
              </a:rPr>
              <a:t>-</a:t>
            </a:r>
            <a:r>
              <a:rPr lang="zh-CN" altLang="en-US" b="1" u="sng" dirty="0">
                <a:latin typeface="宋体" panose="02010600030101010101" pitchFamily="2" charset="-122"/>
              </a:rPr>
              <a:t>响应</a:t>
            </a:r>
            <a:r>
              <a:rPr lang="zh-CN" altLang="en-US" b="1" dirty="0" smtClean="0">
                <a:latin typeface="宋体" panose="02010600030101010101" pitchFamily="2" charset="-122"/>
              </a:rPr>
              <a:t>方式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lvl="0"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  </a:t>
            </a:r>
            <a:r>
              <a:rPr lang="zh-CN" altLang="en-US" b="1" dirty="0" smtClean="0">
                <a:latin typeface="宋体" panose="02010600030101010101" pitchFamily="2" charset="-122"/>
              </a:rPr>
              <a:t>     </a:t>
            </a:r>
            <a:r>
              <a:rPr lang="zh-CN" altLang="en-US" b="1" dirty="0" smtClean="0">
                <a:latin typeface="宋体" panose="02010600030101010101" pitchFamily="2" charset="-122"/>
              </a:rPr>
              <a:t>②</a:t>
            </a:r>
            <a:r>
              <a:rPr lang="en-US" altLang="zh-CN" b="1" dirty="0" smtClean="0">
                <a:latin typeface="宋体" panose="02010600030101010101" pitchFamily="2" charset="-122"/>
              </a:rPr>
              <a:t>I/O</a:t>
            </a:r>
            <a:r>
              <a:rPr lang="zh-CN" altLang="en-US" b="1" dirty="0" smtClean="0">
                <a:latin typeface="宋体" panose="02010600030101010101" pitchFamily="2" charset="-122"/>
              </a:rPr>
              <a:t>的过程，都由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软硬件</a:t>
            </a:r>
            <a:r>
              <a:rPr lang="zh-CN" altLang="en-US" b="1" u="sng" dirty="0">
                <a:latin typeface="宋体" panose="02010600030101010101" pitchFamily="2" charset="-122"/>
              </a:rPr>
              <a:t>共同</a:t>
            </a:r>
            <a:r>
              <a:rPr lang="zh-CN" altLang="en-US" b="1" dirty="0">
                <a:latin typeface="宋体" panose="02010600030101010101" pitchFamily="2" charset="-122"/>
              </a:rPr>
              <a:t>完成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不同点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</p:txBody>
      </p:sp>
      <p:graphicFrame>
        <p:nvGraphicFramePr>
          <p:cNvPr id="38" name="表格 3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67510" y="1907510"/>
          <a:ext cx="6048375" cy="292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225"/>
                <a:gridCol w="1520190"/>
                <a:gridCol w="1927225"/>
                <a:gridCol w="1943735"/>
              </a:tblGrid>
              <a:tr h="292100">
                <a:tc gridSpan="2">
                  <a:txBody>
                    <a:bodyPr/>
                    <a:p>
                      <a:pPr algn="ctr"/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中断方式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DMA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方式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</a:tr>
              <a:tr h="292100">
                <a:tc gridSpan="2"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r>
                        <a:rPr kumimoji="1" 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适用设备</a:t>
                      </a:r>
                      <a:endParaRPr kumimoji="1" 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FFFF"/>
                    </a:solidFill>
                  </a:tcPr>
                </a:tc>
                <a:tc hMerge="1"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9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个字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启动</a:t>
                      </a:r>
                      <a:endParaRPr lang="zh-CN" altLang="en-US" b="1" baseline="30000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多个字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/</a:t>
                      </a: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启动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rowSpan="2">
                  <a:txBody>
                    <a:bodyPr/>
                    <a:p>
                      <a:pPr algn="ctr"/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数据传送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传送实现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软件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lang="en-US" altLang="zh-CN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CPU</a:t>
                      </a:r>
                      <a:r>
                        <a:rPr lang="en-US" altLang="zh-CN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lang="zh-CN" altLang="en-US" b="1" dirty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硬件</a:t>
                      </a: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(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DMA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接口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vMerge="1"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对</a:t>
                      </a: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CPU</a:t>
                      </a: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的影响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99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暂停执行程序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暂停使用总线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row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请求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响应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请求优先级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kumimoji="1" lang="en-US" altLang="zh-CN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DMA</a:t>
                      </a: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  <a:sym typeface="+mn-ea"/>
                        </a:rPr>
                        <a:t>＞中断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vMerge="1"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响应时机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指令周期结束时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总线周期结束时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rowSpan="2">
                  <a:txBody>
                    <a:bodyPr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b="1" baseline="0" dirty="0">
                          <a:latin typeface="宋体" panose="02010600030101010101" pitchFamily="2" charset="-122"/>
                        </a:rPr>
                        <a:t>I/O</a:t>
                      </a:r>
                      <a:endParaRPr lang="en-US" altLang="zh-CN" b="1" baseline="0" dirty="0">
                        <a:latin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baseline="0" dirty="0">
                          <a:latin typeface="宋体" panose="02010600030101010101" pitchFamily="2" charset="-122"/>
                        </a:rPr>
                        <a:t>性能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传送速度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＞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个指令周期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＝</a:t>
                      </a:r>
                      <a:r>
                        <a:rPr kumimoji="1" lang="en-US" altLang="zh-CN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个总线周期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2100">
                <a:tc vMerge="1"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CC99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错误处理能力</a:t>
                      </a:r>
                      <a:endParaRPr kumimoji="1" lang="zh-CN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  <a:sym typeface="+mn-ea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CC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p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有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1" dirty="0" smtClean="0">
                          <a:solidFill>
                            <a:schemeClr val="tx1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</a:t>
                      </a:r>
                      <a:endParaRPr lang="zh-CN" altLang="en-US" b="1" dirty="0" smtClean="0">
                        <a:solidFill>
                          <a:schemeClr val="tx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36195" marR="36195" marT="17780" marB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E8ECE-44AF-40F0-B69C-812902B36399}" type="slidenum">
              <a:rPr lang="en-US" altLang="zh-CN"/>
            </a:fld>
            <a:endParaRPr lang="en-US" altLang="zh-CN"/>
          </a:p>
        </p:txBody>
      </p:sp>
      <p:sp>
        <p:nvSpPr>
          <p:cNvPr id="391172" name="Text Box 4"/>
          <p:cNvSpPr txBox="1">
            <a:spLocks noChangeArrowheads="1"/>
          </p:cNvSpPr>
          <p:nvPr/>
        </p:nvSpPr>
        <p:spPr bwMode="auto">
          <a:xfrm>
            <a:off x="179388" y="420386"/>
            <a:ext cx="8785225" cy="461665"/>
          </a:xfrm>
          <a:prstGeom prst="rect">
            <a:avLst/>
          </a:prstGeom>
          <a:solidFill>
            <a:srgbClr val="FFCC99">
              <a:alpha val="80000"/>
            </a:srgbClr>
          </a:solidFill>
          <a:ln w="9525">
            <a:noFill/>
            <a:miter lim="800000"/>
          </a:ln>
          <a:effectLst/>
        </p:spPr>
        <p:txBody>
          <a:bodyPr anchor="ctr" anchorCtr="0">
            <a:spAutoFit/>
          </a:bodyPr>
          <a:lstStyle>
            <a:defPPr>
              <a:defRPr lang="zh-CN"/>
            </a:defPPr>
            <a:lvl1pPr algn="l">
              <a:defRPr b="1">
                <a:solidFill>
                  <a:srgbClr val="FF3300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r>
              <a:rPr lang="zh-CN" altLang="en-US" dirty="0"/>
              <a:t>四、</a:t>
            </a:r>
            <a:r>
              <a:rPr lang="en-US" altLang="zh-CN" dirty="0"/>
              <a:t>DMA</a:t>
            </a:r>
            <a:r>
              <a:rPr lang="zh-CN" altLang="en-US" dirty="0"/>
              <a:t>接口的组织</a:t>
            </a:r>
            <a:endParaRPr lang="zh-CN" altLang="en-US" dirty="0"/>
          </a:p>
        </p:txBody>
      </p:sp>
      <p:sp>
        <p:nvSpPr>
          <p:cNvPr id="391173" name="Text Box 5"/>
          <p:cNvSpPr txBox="1">
            <a:spLocks noChangeArrowheads="1"/>
          </p:cNvSpPr>
          <p:nvPr/>
        </p:nvSpPr>
        <p:spPr bwMode="auto">
          <a:xfrm>
            <a:off x="179388" y="908720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、通用型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接口的组织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基本组成：</a:t>
            </a:r>
            <a:r>
              <a:rPr lang="zh-CN" altLang="en-US" b="1" dirty="0" smtClean="0">
                <a:latin typeface="宋体" panose="02010600030101010101" pitchFamily="2" charset="-122"/>
              </a:rPr>
              <a:t>只具有</a:t>
            </a:r>
            <a:r>
              <a:rPr lang="en-US" altLang="zh-CN" b="1" u="sng" dirty="0" smtClean="0">
                <a:latin typeface="宋体" panose="02010600030101010101" pitchFamily="2" charset="-122"/>
              </a:rPr>
              <a:t>DMA</a:t>
            </a:r>
            <a:r>
              <a:rPr lang="zh-CN" altLang="en-US" b="1" u="sng" dirty="0">
                <a:latin typeface="宋体" panose="02010600030101010101" pitchFamily="2" charset="-122"/>
              </a:rPr>
              <a:t>传送</a:t>
            </a:r>
            <a:r>
              <a:rPr lang="zh-CN" altLang="en-US" b="1" u="sng" dirty="0" smtClean="0">
                <a:latin typeface="宋体" panose="02010600030101010101" pitchFamily="2" charset="-122"/>
              </a:rPr>
              <a:t>控制</a:t>
            </a:r>
            <a:r>
              <a:rPr lang="zh-CN" altLang="en-US" b="1" dirty="0" smtClean="0">
                <a:latin typeface="宋体" panose="02010600030101010101" pitchFamily="2" charset="-122"/>
              </a:rPr>
              <a:t>功能</a:t>
            </a:r>
            <a:r>
              <a:rPr lang="en-US" altLang="zh-CN" b="1" dirty="0" smtClean="0">
                <a:latin typeface="宋体" panose="02010600030101010101" pitchFamily="2" charset="-122"/>
              </a:rPr>
              <a:t>        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←提高通用性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391308" name="Text Box 140"/>
          <p:cNvSpPr txBox="1">
            <a:spLocks noChangeArrowheads="1"/>
          </p:cNvSpPr>
          <p:nvPr/>
        </p:nvSpPr>
        <p:spPr bwMode="auto">
          <a:xfrm>
            <a:off x="179388" y="4079435"/>
            <a:ext cx="8785225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传送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过程的变化：</a:t>
            </a:r>
            <a:endParaRPr lang="zh-CN" altLang="en-US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预 处 理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 smtClean="0">
                <a:latin typeface="宋体" panose="02010600030101010101" pitchFamily="2" charset="-122"/>
              </a:rPr>
              <a:t>CPU</a:t>
            </a:r>
            <a:r>
              <a:rPr lang="zh-CN" altLang="en-US" b="1" dirty="0" smtClean="0">
                <a:latin typeface="宋体" panose="02010600030101010101" pitchFamily="2" charset="-122"/>
              </a:rPr>
              <a:t>对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接口、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b="1" dirty="0">
                <a:latin typeface="宋体" panose="02010600030101010101" pitchFamily="2" charset="-122"/>
              </a:rPr>
              <a:t>进行</a:t>
            </a:r>
            <a:r>
              <a:rPr lang="zh-CN" altLang="en-US" b="1" dirty="0" smtClean="0">
                <a:latin typeface="宋体" panose="02010600030101010101" pitchFamily="2" charset="-122"/>
              </a:rPr>
              <a:t>操作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数据传送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接口发出</a:t>
            </a:r>
            <a:r>
              <a:rPr lang="en-US" altLang="zh-CN" b="1" dirty="0" smtClean="0">
                <a:latin typeface="宋体" panose="02010600030101010101" pitchFamily="2" charset="-122"/>
              </a:rPr>
              <a:t>MEM</a:t>
            </a:r>
            <a:r>
              <a:rPr lang="zh-CN" altLang="en-US" b="1" dirty="0" smtClean="0">
                <a:latin typeface="宋体" panose="02010600030101010101" pitchFamily="2" charset="-122"/>
              </a:rPr>
              <a:t>地址及命令、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IO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命令</a:t>
            </a:r>
            <a:r>
              <a:rPr lang="zh-CN" altLang="en-US" b="1" dirty="0">
                <a:latin typeface="宋体" panose="02010600030101010101" pitchFamily="2" charset="-122"/>
              </a:rPr>
              <a:t>及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DACK</a:t>
            </a:r>
            <a:r>
              <a:rPr lang="zh-CN" altLang="en-US" b="1" dirty="0" smtClean="0">
                <a:latin typeface="宋体" panose="02010600030101010101" pitchFamily="2" charset="-122"/>
              </a:rPr>
              <a:t>，</a:t>
            </a:r>
            <a:endParaRPr lang="zh-CN" altLang="en-US" b="1" dirty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     </a:t>
            </a:r>
            <a:r>
              <a:rPr lang="zh-CN" altLang="en-US" b="1" dirty="0" smtClean="0">
                <a:latin typeface="宋体" panose="02010600030101010101" pitchFamily="2" charset="-122"/>
              </a:rPr>
              <a:t>结束时</a:t>
            </a:r>
            <a:r>
              <a:rPr lang="en-US" altLang="zh-CN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I/O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接口</a:t>
            </a:r>
            <a:r>
              <a:rPr lang="zh-CN" altLang="en-US" b="1" dirty="0">
                <a:latin typeface="宋体" panose="02010600030101010101" pitchFamily="2" charset="-122"/>
              </a:rPr>
              <a:t>提出</a:t>
            </a:r>
            <a:r>
              <a:rPr lang="zh-CN" altLang="en-US" b="1" dirty="0" smtClean="0">
                <a:latin typeface="宋体" panose="02010600030101010101" pitchFamily="2" charset="-122"/>
              </a:rPr>
              <a:t>中断请求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71600" y="1924383"/>
            <a:ext cx="7920880" cy="2096789"/>
            <a:chOff x="971600" y="1916832"/>
            <a:chExt cx="7920880" cy="2096789"/>
          </a:xfrm>
        </p:grpSpPr>
        <p:sp>
          <p:nvSpPr>
            <p:cNvPr id="76" name="Text Box 88"/>
            <p:cNvSpPr txBox="1">
              <a:spLocks noChangeArrowheads="1"/>
            </p:cNvSpPr>
            <p:nvPr/>
          </p:nvSpPr>
          <p:spPr bwMode="auto">
            <a:xfrm>
              <a:off x="3779516" y="1990055"/>
              <a:ext cx="1437779" cy="2508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MEMW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#/MEMR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#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77" name="Rectangle 89"/>
            <p:cNvSpPr>
              <a:spLocks noChangeArrowheads="1"/>
            </p:cNvSpPr>
            <p:nvPr/>
          </p:nvSpPr>
          <p:spPr bwMode="auto">
            <a:xfrm>
              <a:off x="2915966" y="2278856"/>
              <a:ext cx="4320008" cy="1655762"/>
            </a:xfrm>
            <a:prstGeom prst="rect">
              <a:avLst/>
            </a:prstGeom>
            <a:solidFill>
              <a:srgbClr val="CCFFFF">
                <a:alpha val="8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Line 90"/>
            <p:cNvSpPr>
              <a:spLocks noChangeShapeType="1"/>
            </p:cNvSpPr>
            <p:nvPr/>
          </p:nvSpPr>
          <p:spPr bwMode="auto">
            <a:xfrm flipH="1">
              <a:off x="1043584" y="4006279"/>
              <a:ext cx="7128990" cy="734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Line 92"/>
            <p:cNvSpPr>
              <a:spLocks noChangeShapeType="1"/>
            </p:cNvSpPr>
            <p:nvPr/>
          </p:nvSpPr>
          <p:spPr bwMode="auto">
            <a:xfrm flipV="1">
              <a:off x="971600" y="1916832"/>
              <a:ext cx="7920880" cy="1215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Line 93"/>
            <p:cNvSpPr>
              <a:spLocks noChangeShapeType="1"/>
            </p:cNvSpPr>
            <p:nvPr/>
          </p:nvSpPr>
          <p:spPr bwMode="auto">
            <a:xfrm flipV="1">
              <a:off x="1692672" y="1918043"/>
              <a:ext cx="0" cy="36081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Line 94"/>
            <p:cNvSpPr>
              <a:spLocks noChangeShapeType="1"/>
            </p:cNvSpPr>
            <p:nvPr/>
          </p:nvSpPr>
          <p:spPr bwMode="auto">
            <a:xfrm flipH="1" flipV="1">
              <a:off x="1764110" y="1918046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Line 95"/>
            <p:cNvSpPr>
              <a:spLocks noChangeShapeType="1"/>
            </p:cNvSpPr>
            <p:nvPr/>
          </p:nvSpPr>
          <p:spPr bwMode="auto">
            <a:xfrm flipV="1">
              <a:off x="1835547" y="1918044"/>
              <a:ext cx="0" cy="36081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Line 96"/>
            <p:cNvSpPr>
              <a:spLocks noChangeShapeType="1"/>
            </p:cNvSpPr>
            <p:nvPr/>
          </p:nvSpPr>
          <p:spPr bwMode="auto">
            <a:xfrm flipH="1" flipV="1">
              <a:off x="1908572" y="1918046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97"/>
            <p:cNvSpPr>
              <a:spLocks noChangeShapeType="1"/>
            </p:cNvSpPr>
            <p:nvPr/>
          </p:nvSpPr>
          <p:spPr bwMode="auto">
            <a:xfrm flipV="1">
              <a:off x="2053035" y="1918045"/>
              <a:ext cx="3124" cy="360810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98"/>
            <p:cNvSpPr>
              <a:spLocks noChangeShapeType="1"/>
            </p:cNvSpPr>
            <p:nvPr/>
          </p:nvSpPr>
          <p:spPr bwMode="auto">
            <a:xfrm flipH="1">
              <a:off x="2197496" y="1918046"/>
              <a:ext cx="3125" cy="360810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Text Box 99"/>
            <p:cNvSpPr txBox="1">
              <a:spLocks noChangeArrowheads="1"/>
            </p:cNvSpPr>
            <p:nvPr/>
          </p:nvSpPr>
          <p:spPr bwMode="auto">
            <a:xfrm>
              <a:off x="973733" y="2278856"/>
              <a:ext cx="504627" cy="934639"/>
            </a:xfrm>
            <a:prstGeom prst="rect">
              <a:avLst/>
            </a:prstGeom>
            <a:solidFill>
              <a:srgbClr val="99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主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endParaRPr lang="zh-CN" altLang="en-US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存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87" name="Line 100"/>
            <p:cNvSpPr>
              <a:spLocks noChangeShapeType="1"/>
            </p:cNvSpPr>
            <p:nvPr/>
          </p:nvSpPr>
          <p:spPr bwMode="auto">
            <a:xfrm>
              <a:off x="1261864" y="1918046"/>
              <a:ext cx="273" cy="360809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101"/>
            <p:cNvSpPr>
              <a:spLocks noChangeShapeType="1"/>
            </p:cNvSpPr>
            <p:nvPr/>
          </p:nvSpPr>
          <p:spPr bwMode="auto">
            <a:xfrm>
              <a:off x="1406525" y="1918043"/>
              <a:ext cx="0" cy="360813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102"/>
            <p:cNvSpPr>
              <a:spLocks noChangeShapeType="1"/>
            </p:cNvSpPr>
            <p:nvPr/>
          </p:nvSpPr>
          <p:spPr bwMode="auto">
            <a:xfrm>
              <a:off x="1118121" y="1918047"/>
              <a:ext cx="0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Line 103"/>
            <p:cNvSpPr>
              <a:spLocks noChangeShapeType="1"/>
            </p:cNvSpPr>
            <p:nvPr/>
          </p:nvSpPr>
          <p:spPr bwMode="auto">
            <a:xfrm>
              <a:off x="1045369" y="1918047"/>
              <a:ext cx="744" cy="360809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Text Box 104"/>
            <p:cNvSpPr txBox="1">
              <a:spLocks noChangeArrowheads="1"/>
            </p:cNvSpPr>
            <p:nvPr/>
          </p:nvSpPr>
          <p:spPr bwMode="auto">
            <a:xfrm>
              <a:off x="1621235" y="2277268"/>
              <a:ext cx="646113" cy="1656308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2" name="Text Box 105"/>
            <p:cNvSpPr txBox="1">
              <a:spLocks noChangeArrowheads="1"/>
            </p:cNvSpPr>
            <p:nvPr/>
          </p:nvSpPr>
          <p:spPr bwMode="auto">
            <a:xfrm>
              <a:off x="7740875" y="2205831"/>
              <a:ext cx="1151605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I/O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3" name="Text Box 106"/>
            <p:cNvSpPr txBox="1">
              <a:spLocks noChangeArrowheads="1"/>
            </p:cNvSpPr>
            <p:nvPr/>
          </p:nvSpPr>
          <p:spPr bwMode="auto">
            <a:xfrm>
              <a:off x="2268017" y="3358902"/>
              <a:ext cx="647700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4" name="Text Box 107"/>
            <p:cNvSpPr txBox="1">
              <a:spLocks noChangeArrowheads="1"/>
            </p:cNvSpPr>
            <p:nvPr/>
          </p:nvSpPr>
          <p:spPr bwMode="auto">
            <a:xfrm>
              <a:off x="2268266" y="3718942"/>
              <a:ext cx="647451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5" name="Line 108"/>
            <p:cNvSpPr>
              <a:spLocks noChangeShapeType="1"/>
            </p:cNvSpPr>
            <p:nvPr/>
          </p:nvSpPr>
          <p:spPr bwMode="auto">
            <a:xfrm flipH="1">
              <a:off x="2267347" y="3646239"/>
              <a:ext cx="792087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96" name="Line 109"/>
            <p:cNvSpPr>
              <a:spLocks noChangeShapeType="1"/>
            </p:cNvSpPr>
            <p:nvPr/>
          </p:nvSpPr>
          <p:spPr bwMode="auto">
            <a:xfrm>
              <a:off x="2268266" y="3718247"/>
              <a:ext cx="791168" cy="47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Text Box 110"/>
            <p:cNvSpPr txBox="1">
              <a:spLocks noChangeArrowheads="1"/>
            </p:cNvSpPr>
            <p:nvPr/>
          </p:nvSpPr>
          <p:spPr bwMode="auto">
            <a:xfrm>
              <a:off x="4716016" y="2924944"/>
              <a:ext cx="1043495" cy="574673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地址计数器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98" name="Line 111"/>
            <p:cNvSpPr>
              <a:spLocks noChangeShapeType="1"/>
            </p:cNvSpPr>
            <p:nvPr/>
          </p:nvSpPr>
          <p:spPr bwMode="auto">
            <a:xfrm flipV="1">
              <a:off x="3706763" y="1916832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Line 112"/>
            <p:cNvSpPr>
              <a:spLocks noChangeShapeType="1"/>
            </p:cNvSpPr>
            <p:nvPr/>
          </p:nvSpPr>
          <p:spPr bwMode="auto">
            <a:xfrm flipV="1">
              <a:off x="3777928" y="1916832"/>
              <a:ext cx="1588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113"/>
            <p:cNvSpPr>
              <a:spLocks noChangeShapeType="1"/>
            </p:cNvSpPr>
            <p:nvPr/>
          </p:nvSpPr>
          <p:spPr bwMode="auto">
            <a:xfrm flipH="1">
              <a:off x="5362898" y="1918046"/>
              <a:ext cx="794" cy="506859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Text Box 114"/>
            <p:cNvSpPr txBox="1">
              <a:spLocks noChangeArrowheads="1"/>
            </p:cNvSpPr>
            <p:nvPr/>
          </p:nvSpPr>
          <p:spPr bwMode="auto">
            <a:xfrm>
              <a:off x="5795740" y="2422104"/>
              <a:ext cx="1296988" cy="35999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 smtClean="0">
                  <a:latin typeface="宋体" panose="02010600030101010101" pitchFamily="2" charset="-122"/>
                </a:rPr>
                <a:t>DBus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缓冲器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2" name="Text Box 115"/>
            <p:cNvSpPr txBox="1">
              <a:spLocks noChangeArrowheads="1"/>
            </p:cNvSpPr>
            <p:nvPr/>
          </p:nvSpPr>
          <p:spPr bwMode="auto">
            <a:xfrm>
              <a:off x="4355580" y="2422104"/>
              <a:ext cx="1296988" cy="35999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 smtClean="0">
                  <a:latin typeface="宋体" panose="02010600030101010101" pitchFamily="2" charset="-122"/>
                </a:rPr>
                <a:t>ABus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锁存器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3" name="Text Box 116"/>
            <p:cNvSpPr txBox="1">
              <a:spLocks noChangeArrowheads="1"/>
            </p:cNvSpPr>
            <p:nvPr/>
          </p:nvSpPr>
          <p:spPr bwMode="auto">
            <a:xfrm>
              <a:off x="3060429" y="2422104"/>
              <a:ext cx="1150938" cy="360040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 err="1">
                  <a:latin typeface="宋体" panose="02010600030101010101" pitchFamily="2" charset="-122"/>
                </a:rPr>
                <a:t>CBus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4" name="Line 117"/>
            <p:cNvSpPr>
              <a:spLocks noChangeShapeType="1"/>
            </p:cNvSpPr>
            <p:nvPr/>
          </p:nvSpPr>
          <p:spPr bwMode="auto">
            <a:xfrm flipH="1">
              <a:off x="6298929" y="1918046"/>
              <a:ext cx="742" cy="505272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118"/>
            <p:cNvSpPr>
              <a:spLocks noChangeShapeType="1"/>
            </p:cNvSpPr>
            <p:nvPr/>
          </p:nvSpPr>
          <p:spPr bwMode="auto">
            <a:xfrm>
              <a:off x="3491484" y="1918047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19"/>
            <p:cNvSpPr>
              <a:spLocks noChangeShapeType="1"/>
            </p:cNvSpPr>
            <p:nvPr/>
          </p:nvSpPr>
          <p:spPr bwMode="auto">
            <a:xfrm>
              <a:off x="3564459" y="1918047"/>
              <a:ext cx="0" cy="5052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Text Box 120"/>
            <p:cNvSpPr txBox="1">
              <a:spLocks noChangeArrowheads="1"/>
            </p:cNvSpPr>
            <p:nvPr/>
          </p:nvSpPr>
          <p:spPr bwMode="auto">
            <a:xfrm>
              <a:off x="2267348" y="1990055"/>
              <a:ext cx="1154113" cy="25241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8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IOW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#/IOR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#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08" name="Line 121"/>
            <p:cNvSpPr>
              <a:spLocks noChangeShapeType="1"/>
            </p:cNvSpPr>
            <p:nvPr/>
          </p:nvSpPr>
          <p:spPr bwMode="auto">
            <a:xfrm flipH="1" flipV="1">
              <a:off x="7092727" y="3212976"/>
              <a:ext cx="717646" cy="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non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Text Box 122"/>
            <p:cNvSpPr txBox="1">
              <a:spLocks noChangeArrowheads="1"/>
            </p:cNvSpPr>
            <p:nvPr/>
          </p:nvSpPr>
          <p:spPr bwMode="auto">
            <a:xfrm>
              <a:off x="7235527" y="2924944"/>
              <a:ext cx="504825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solidFill>
                    <a:srgbClr val="990099"/>
                  </a:solidFill>
                  <a:latin typeface="宋体" panose="02010600030101010101" pitchFamily="2" charset="-122"/>
                </a:rPr>
                <a:t>EOP</a:t>
              </a:r>
              <a:endParaRPr lang="en-US" altLang="zh-CN" sz="1800" b="1" dirty="0">
                <a:solidFill>
                  <a:srgbClr val="990099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10" name="Text Box 123"/>
            <p:cNvSpPr txBox="1">
              <a:spLocks noChangeArrowheads="1"/>
            </p:cNvSpPr>
            <p:nvPr/>
          </p:nvSpPr>
          <p:spPr bwMode="auto">
            <a:xfrm>
              <a:off x="6047120" y="2924944"/>
              <a:ext cx="1045608" cy="574674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传送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字数计数器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1" name="Line 125"/>
            <p:cNvSpPr>
              <a:spLocks noChangeShapeType="1"/>
            </p:cNvSpPr>
            <p:nvPr/>
          </p:nvSpPr>
          <p:spPr bwMode="auto">
            <a:xfrm flipH="1">
              <a:off x="4139552" y="3647032"/>
              <a:ext cx="3815139" cy="79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26"/>
            <p:cNvSpPr>
              <a:spLocks noChangeShapeType="1"/>
            </p:cNvSpPr>
            <p:nvPr/>
          </p:nvSpPr>
          <p:spPr bwMode="auto">
            <a:xfrm flipV="1">
              <a:off x="4139556" y="3718247"/>
              <a:ext cx="388724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Text Box 127"/>
            <p:cNvSpPr txBox="1">
              <a:spLocks noChangeArrowheads="1"/>
            </p:cNvSpPr>
            <p:nvPr/>
          </p:nvSpPr>
          <p:spPr bwMode="auto">
            <a:xfrm>
              <a:off x="7236296" y="3434369"/>
              <a:ext cx="576263" cy="2111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DREQ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128"/>
            <p:cNvSpPr txBox="1">
              <a:spLocks noChangeArrowheads="1"/>
            </p:cNvSpPr>
            <p:nvPr/>
          </p:nvSpPr>
          <p:spPr bwMode="auto">
            <a:xfrm>
              <a:off x="7236296" y="3718247"/>
              <a:ext cx="576263" cy="21637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DACK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Text Box 130"/>
            <p:cNvSpPr txBox="1">
              <a:spLocks noChangeArrowheads="1"/>
            </p:cNvSpPr>
            <p:nvPr/>
          </p:nvSpPr>
          <p:spPr bwMode="auto">
            <a:xfrm>
              <a:off x="3059436" y="3358356"/>
              <a:ext cx="1080120" cy="504825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DMA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控制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6" name="Line 131"/>
            <p:cNvSpPr>
              <a:spLocks noChangeShapeType="1"/>
            </p:cNvSpPr>
            <p:nvPr/>
          </p:nvSpPr>
          <p:spPr bwMode="auto">
            <a:xfrm>
              <a:off x="7956376" y="2853531"/>
              <a:ext cx="0" cy="79270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132"/>
            <p:cNvSpPr>
              <a:spLocks noChangeShapeType="1"/>
            </p:cNvSpPr>
            <p:nvPr/>
          </p:nvSpPr>
          <p:spPr bwMode="auto">
            <a:xfrm flipV="1">
              <a:off x="8026796" y="2855116"/>
              <a:ext cx="1588" cy="86382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133"/>
            <p:cNvSpPr>
              <a:spLocks noChangeShapeType="1"/>
            </p:cNvSpPr>
            <p:nvPr/>
          </p:nvSpPr>
          <p:spPr bwMode="auto">
            <a:xfrm flipV="1">
              <a:off x="7810373" y="2855118"/>
              <a:ext cx="2980" cy="357162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134"/>
            <p:cNvSpPr>
              <a:spLocks noChangeShapeType="1"/>
            </p:cNvSpPr>
            <p:nvPr/>
          </p:nvSpPr>
          <p:spPr bwMode="auto">
            <a:xfrm>
              <a:off x="8172400" y="2855118"/>
              <a:ext cx="0" cy="1158503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Text Box 135"/>
            <p:cNvSpPr txBox="1">
              <a:spLocks noChangeArrowheads="1"/>
            </p:cNvSpPr>
            <p:nvPr/>
          </p:nvSpPr>
          <p:spPr bwMode="auto">
            <a:xfrm>
              <a:off x="8316416" y="3285331"/>
              <a:ext cx="576064" cy="649287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80000"/>
              </a:scheme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外部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21" name="Line 136"/>
            <p:cNvSpPr>
              <a:spLocks noChangeShapeType="1"/>
            </p:cNvSpPr>
            <p:nvPr/>
          </p:nvSpPr>
          <p:spPr bwMode="auto">
            <a:xfrm>
              <a:off x="8460878" y="2855118"/>
              <a:ext cx="0" cy="43180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" name="Line 137"/>
            <p:cNvSpPr>
              <a:spLocks noChangeShapeType="1"/>
            </p:cNvSpPr>
            <p:nvPr/>
          </p:nvSpPr>
          <p:spPr bwMode="auto">
            <a:xfrm flipV="1">
              <a:off x="8605341" y="2855118"/>
              <a:ext cx="0" cy="431800"/>
            </a:xfrm>
            <a:prstGeom prst="line">
              <a:avLst/>
            </a:prstGeom>
            <a:noFill/>
            <a:ln w="19050">
              <a:solidFill>
                <a:srgbClr val="9900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" name="Line 138"/>
            <p:cNvSpPr>
              <a:spLocks noChangeShapeType="1"/>
            </p:cNvSpPr>
            <p:nvPr/>
          </p:nvSpPr>
          <p:spPr bwMode="auto">
            <a:xfrm flipV="1">
              <a:off x="8749803" y="2855118"/>
              <a:ext cx="0" cy="43180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Line 142"/>
            <p:cNvSpPr>
              <a:spLocks noChangeShapeType="1"/>
            </p:cNvSpPr>
            <p:nvPr/>
          </p:nvSpPr>
          <p:spPr bwMode="auto">
            <a:xfrm flipH="1">
              <a:off x="8316155" y="1918047"/>
              <a:ext cx="261" cy="289371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Line 143"/>
            <p:cNvSpPr>
              <a:spLocks noChangeShapeType="1"/>
            </p:cNvSpPr>
            <p:nvPr/>
          </p:nvSpPr>
          <p:spPr bwMode="auto">
            <a:xfrm>
              <a:off x="8530852" y="1916832"/>
              <a:ext cx="1588" cy="290586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Line 144"/>
            <p:cNvSpPr>
              <a:spLocks noChangeShapeType="1"/>
            </p:cNvSpPr>
            <p:nvPr/>
          </p:nvSpPr>
          <p:spPr bwMode="auto">
            <a:xfrm flipH="1">
              <a:off x="8101409" y="1916832"/>
              <a:ext cx="2061" cy="290586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Line 145"/>
            <p:cNvSpPr>
              <a:spLocks noChangeShapeType="1"/>
            </p:cNvSpPr>
            <p:nvPr/>
          </p:nvSpPr>
          <p:spPr bwMode="auto">
            <a:xfrm flipH="1">
              <a:off x="8028384" y="1918047"/>
              <a:ext cx="1487" cy="289371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Text Box 110"/>
            <p:cNvSpPr txBox="1">
              <a:spLocks noChangeArrowheads="1"/>
            </p:cNvSpPr>
            <p:nvPr/>
          </p:nvSpPr>
          <p:spPr bwMode="auto">
            <a:xfrm>
              <a:off x="3275459" y="2926159"/>
              <a:ext cx="1080121" cy="287337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控制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30" name="Line 108"/>
            <p:cNvSpPr>
              <a:spLocks noChangeShapeType="1"/>
            </p:cNvSpPr>
            <p:nvPr/>
          </p:nvSpPr>
          <p:spPr bwMode="auto">
            <a:xfrm>
              <a:off x="3635500" y="3213495"/>
              <a:ext cx="0" cy="145653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1" name="Line 108"/>
            <p:cNvSpPr>
              <a:spLocks noChangeShapeType="1"/>
            </p:cNvSpPr>
            <p:nvPr/>
          </p:nvSpPr>
          <p:spPr bwMode="auto">
            <a:xfrm flipV="1">
              <a:off x="3635500" y="2782144"/>
              <a:ext cx="0" cy="144412"/>
            </a:xfrm>
            <a:prstGeom prst="line">
              <a:avLst/>
            </a:prstGeom>
            <a:noFill/>
            <a:ln w="2540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2" name="Line 108"/>
            <p:cNvSpPr>
              <a:spLocks noChangeShapeType="1"/>
            </p:cNvSpPr>
            <p:nvPr/>
          </p:nvSpPr>
          <p:spPr bwMode="auto">
            <a:xfrm>
              <a:off x="4572000" y="2782143"/>
              <a:ext cx="0" cy="217438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3" name="Line 108"/>
            <p:cNvSpPr>
              <a:spLocks noChangeShapeType="1"/>
            </p:cNvSpPr>
            <p:nvPr/>
          </p:nvSpPr>
          <p:spPr bwMode="auto">
            <a:xfrm flipV="1">
              <a:off x="5363692" y="2782143"/>
              <a:ext cx="0" cy="144015"/>
            </a:xfrm>
            <a:prstGeom prst="line">
              <a:avLst/>
            </a:prstGeom>
            <a:noFill/>
            <a:ln w="28575" cmpd="dbl">
              <a:solidFill>
                <a:srgbClr val="C00000"/>
              </a:solidFill>
              <a:round/>
              <a:tailEnd type="triangle" w="med" len="sm"/>
            </a:ln>
            <a:effectLst/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134" name="Line 383"/>
            <p:cNvSpPr>
              <a:spLocks noChangeShapeType="1"/>
            </p:cNvSpPr>
            <p:nvPr/>
          </p:nvSpPr>
          <p:spPr bwMode="auto">
            <a:xfrm flipH="1">
              <a:off x="1045369" y="3516387"/>
              <a:ext cx="372" cy="497234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Line 384"/>
            <p:cNvSpPr>
              <a:spLocks noChangeShapeType="1"/>
            </p:cNvSpPr>
            <p:nvPr/>
          </p:nvSpPr>
          <p:spPr bwMode="auto">
            <a:xfrm flipV="1">
              <a:off x="1045741" y="3516387"/>
              <a:ext cx="576263" cy="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Text Box 385"/>
            <p:cNvSpPr txBox="1">
              <a:spLocks noChangeArrowheads="1"/>
            </p:cNvSpPr>
            <p:nvPr/>
          </p:nvSpPr>
          <p:spPr bwMode="auto">
            <a:xfrm>
              <a:off x="1047328" y="3286199"/>
              <a:ext cx="503238" cy="217488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600" b="1" dirty="0">
                  <a:latin typeface="宋体" panose="02010600030101010101" pitchFamily="2" charset="-122"/>
                </a:rPr>
                <a:t>INTR</a:t>
              </a:r>
              <a:endParaRPr lang="en-US" altLang="zh-CN" sz="1600" b="1" dirty="0">
                <a:latin typeface="宋体" panose="02010600030101010101" pitchFamily="2" charset="-122"/>
              </a:endParaRPr>
            </a:p>
          </p:txBody>
        </p:sp>
        <p:sp>
          <p:nvSpPr>
            <p:cNvPr id="137" name="Line 370"/>
            <p:cNvSpPr>
              <a:spLocks noChangeShapeType="1"/>
            </p:cNvSpPr>
            <p:nvPr/>
          </p:nvSpPr>
          <p:spPr bwMode="auto">
            <a:xfrm>
              <a:off x="5940152" y="2782118"/>
              <a:ext cx="0" cy="431378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9" name="线形标注 2 138"/>
          <p:cNvSpPr/>
          <p:nvPr/>
        </p:nvSpPr>
        <p:spPr bwMode="auto">
          <a:xfrm>
            <a:off x="5796136" y="5956831"/>
            <a:ext cx="1836143" cy="343415"/>
          </a:xfrm>
          <a:prstGeom prst="borderCallout2">
            <a:avLst>
              <a:gd name="adj1" fmla="val 52616"/>
              <a:gd name="adj2" fmla="val 99559"/>
              <a:gd name="adj3" fmla="val 56224"/>
              <a:gd name="adj4" fmla="val 107677"/>
              <a:gd name="adj5" fmla="val -145256"/>
              <a:gd name="adj6" fmla="val 124143"/>
            </a:avLst>
          </a:prstGeom>
          <a:noFill/>
          <a:ln w="12700" cap="flat" cmpd="sng" algn="ctr">
            <a:solidFill>
              <a:srgbClr val="990099"/>
            </a:solidFill>
            <a:prstDash val="sysDash"/>
            <a:round/>
            <a:headEnd type="none" w="med" len="med"/>
            <a:tailEnd type="arrow" w="sm" len="sm"/>
          </a:ln>
          <a:effectLst/>
        </p:spPr>
        <p:txBody>
          <a:bodyPr vert="horz" wrap="square" lIns="36000" tIns="18000" rIns="36000" bIns="18000" numCol="1" rtlCol="0" anchor="t" anchorCtr="0" compatLnSpc="1"/>
          <a:lstStyle/>
          <a:p>
            <a:pPr algn="l">
              <a:lnSpc>
                <a:spcPct val="115000"/>
              </a:lnSpc>
            </a:pPr>
            <a:r>
              <a:rPr lang="zh-CN" altLang="en-US" sz="1800" b="1" dirty="0" smtClean="0">
                <a:latin typeface="宋体" panose="02010600030101010101" pitchFamily="2" charset="-122"/>
              </a:rPr>
              <a:t>代替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I/O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端口地址</a:t>
            </a:r>
            <a:endParaRPr lang="zh-CN" altLang="en-US" sz="1800" b="1" dirty="0">
              <a:latin typeface="宋体" panose="02010600030101010101" pitchFamily="2" charset="-122"/>
            </a:endParaRPr>
          </a:p>
        </p:txBody>
      </p:sp>
      <p:sp>
        <p:nvSpPr>
          <p:cNvPr id="141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4068291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 smtClean="0">
                <a:solidFill>
                  <a:schemeClr val="bg2"/>
                </a:solidFill>
              </a:rPr>
              <a:t>55</a:t>
            </a:r>
            <a:endParaRPr lang="zh-CN" altLang="en-US" sz="1600" dirty="0">
              <a:solidFill>
                <a:schemeClr val="bg2"/>
              </a:solidFill>
            </a:endParaRPr>
          </a:p>
        </p:txBody>
      </p:sp>
      <p:sp>
        <p:nvSpPr>
          <p:cNvPr id="142" name="AutoShape 62">
            <a:hlinkClick r:id="rId2" action="ppaction://hlinksldjump"/>
          </p:cNvPr>
          <p:cNvSpPr>
            <a:spLocks noChangeArrowheads="1"/>
          </p:cNvSpPr>
          <p:nvPr/>
        </p:nvSpPr>
        <p:spPr bwMode="auto">
          <a:xfrm rot="16200000">
            <a:off x="5148412" y="6525691"/>
            <a:ext cx="287337" cy="288032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eaVert" wrap="none" lIns="0" tIns="0" rIns="0" bIns="0" anchor="ctr"/>
          <a:lstStyle/>
          <a:p>
            <a:pPr algn="ctr"/>
            <a:r>
              <a:rPr lang="en-US" altLang="zh-CN" sz="1600" dirty="0">
                <a:solidFill>
                  <a:schemeClr val="bg2"/>
                </a:solidFill>
              </a:rPr>
              <a:t>56</a:t>
            </a:r>
            <a:endParaRPr lang="en-US" altLang="zh-CN" sz="160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1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/>
      <p:bldP spid="391308" grpId="0"/>
      <p:bldP spid="13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B2BEC-31CD-4C9D-92D4-62FC8D1A3937}" type="slidenum">
              <a:rPr lang="en-US" altLang="zh-CN"/>
            </a:fld>
            <a:endParaRPr lang="en-US" altLang="zh-CN"/>
          </a:p>
        </p:txBody>
      </p:sp>
      <p:sp>
        <p:nvSpPr>
          <p:cNvPr id="392321" name="Text Box 129"/>
          <p:cNvSpPr txBox="1">
            <a:spLocks noChangeArrowheads="1"/>
          </p:cNvSpPr>
          <p:nvPr/>
        </p:nvSpPr>
        <p:spPr bwMode="auto">
          <a:xfrm>
            <a:off x="179388" y="332656"/>
            <a:ext cx="8785225" cy="40164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FF3399"/>
                </a:solidFill>
                <a:latin typeface="宋体" panose="02010600030101010101" pitchFamily="2" charset="-122"/>
              </a:rPr>
              <a:t>请求判优的组织</a:t>
            </a:r>
            <a:endParaRPr lang="zh-CN" altLang="en-US" b="1" dirty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任务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r>
              <a:rPr lang="zh-CN" altLang="en-US" b="1" dirty="0" smtClean="0">
                <a:latin typeface="宋体" panose="02010600030101010101" pitchFamily="2" charset="-122"/>
              </a:rPr>
              <a:t>处理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</a:t>
            </a:r>
            <a:r>
              <a:rPr lang="zh-CN" altLang="en-US" b="1" u="sng" dirty="0">
                <a:solidFill>
                  <a:srgbClr val="990099"/>
                </a:solidFill>
                <a:latin typeface="宋体" panose="02010600030101010101" pitchFamily="2" charset="-122"/>
              </a:rPr>
              <a:t>个</a:t>
            </a:r>
            <a:r>
              <a:rPr lang="en-US" altLang="zh-CN" b="1" dirty="0"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latin typeface="宋体" panose="02010600030101010101" pitchFamily="2" charset="-122"/>
              </a:rPr>
              <a:t>接口与</a:t>
            </a:r>
            <a:r>
              <a:rPr lang="en-US" altLang="zh-CN" b="1" dirty="0">
                <a:latin typeface="宋体" panose="02010600030101010101" pitchFamily="2" charset="-122"/>
              </a:rPr>
              <a:t>CPU</a:t>
            </a:r>
            <a:r>
              <a:rPr lang="zh-CN" altLang="en-US" b="1" dirty="0">
                <a:latin typeface="宋体" panose="02010600030101010101" pitchFamily="2" charset="-122"/>
              </a:rPr>
              <a:t>的连接及</a:t>
            </a:r>
            <a:r>
              <a:rPr lang="zh-CN" altLang="en-US" b="1" dirty="0" smtClean="0">
                <a:latin typeface="宋体" panose="02010600030101010101" pitchFamily="2" charset="-122"/>
              </a:rPr>
              <a:t>响应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请求的连接方式： 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endParaRPr lang="en-US" altLang="zh-CN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  <a:spcBef>
                <a:spcPts val="1600"/>
              </a:spcBef>
            </a:pP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请求的判优方式：</a:t>
            </a:r>
            <a:r>
              <a:rPr lang="zh-CN" altLang="en-US" b="1" dirty="0">
                <a:latin typeface="宋体" panose="02010600030101010101" pitchFamily="2" charset="-122"/>
              </a:rPr>
              <a:t> 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2322" name="Text Box 130"/>
          <p:cNvSpPr txBox="1">
            <a:spLocks noChangeArrowheads="1"/>
          </p:cNvSpPr>
          <p:nvPr/>
        </p:nvSpPr>
        <p:spPr bwMode="auto">
          <a:xfrm>
            <a:off x="755576" y="1340768"/>
            <a:ext cx="7343997" cy="90024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1800" b="1" dirty="0" smtClean="0">
                <a:latin typeface="宋体" panose="02010600030101010101" pitchFamily="2" charset="-122"/>
              </a:rPr>
              <a:t>                                (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类似中断请求的连接方式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有共用请求式、独立请求式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latin typeface="宋体" panose="02010600030101010101" pitchFamily="2" charset="-122"/>
              </a:rPr>
              <a:t>种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2323" name="Text Box 131"/>
          <p:cNvSpPr txBox="1">
            <a:spLocks noChangeArrowheads="1"/>
          </p:cNvSpPr>
          <p:nvPr/>
        </p:nvSpPr>
        <p:spPr bwMode="auto">
          <a:xfrm>
            <a:off x="755576" y="3717032"/>
            <a:ext cx="7346529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                       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类似中断请求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的判优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en-US" altLang="zh-CN" sz="1800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有串行判优、并行判优</a:t>
            </a:r>
            <a:r>
              <a:rPr lang="en-US" altLang="zh-CN" b="1" dirty="0" smtClean="0">
                <a:latin typeface="宋体" panose="02010600030101010101" pitchFamily="2" charset="-122"/>
              </a:rPr>
              <a:t>2</a:t>
            </a:r>
            <a:r>
              <a:rPr lang="zh-CN" altLang="en-US" b="1" dirty="0" smtClean="0">
                <a:latin typeface="宋体" panose="02010600030101010101" pitchFamily="2" charset="-122"/>
              </a:rPr>
              <a:t>种，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接口</a:t>
            </a:r>
            <a:r>
              <a:rPr lang="zh-CN" altLang="en-US" b="1" u="sng" dirty="0">
                <a:solidFill>
                  <a:schemeClr val="accent2"/>
                </a:solidFill>
                <a:latin typeface="宋体" panose="02010600030101010101" pitchFamily="2" charset="-122"/>
              </a:rPr>
              <a:t>无需</a:t>
            </a:r>
            <a:r>
              <a:rPr lang="zh-CN" altLang="en-US" b="1" u="sng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给出</a:t>
            </a:r>
            <a:r>
              <a:rPr lang="zh-CN" altLang="en-US" b="1" dirty="0" smtClean="0">
                <a:latin typeface="宋体" panose="02010600030101010101" pitchFamily="2" charset="-122"/>
              </a:rPr>
              <a:t>类型号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2324" name="Text Box 132"/>
          <p:cNvSpPr txBox="1">
            <a:spLocks noChangeArrowheads="1"/>
          </p:cNvSpPr>
          <p:nvPr/>
        </p:nvSpPr>
        <p:spPr bwMode="auto">
          <a:xfrm>
            <a:off x="182563" y="4717593"/>
            <a:ext cx="8785225" cy="95218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※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常用的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请求及判优方法： 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1800" b="1" dirty="0">
                <a:latin typeface="宋体" panose="02010600030101010101" pitchFamily="2" charset="-122"/>
              </a:rPr>
              <a:t>类似中断请求</a:t>
            </a:r>
            <a:r>
              <a:rPr lang="zh-CN" altLang="en-US" sz="1800" b="1" dirty="0" smtClean="0">
                <a:latin typeface="宋体" panose="02010600030101010101" pitchFamily="2" charset="-122"/>
              </a:rPr>
              <a:t>的选择</a:t>
            </a:r>
            <a:r>
              <a:rPr lang="en-US" altLang="zh-CN" sz="1800" b="1" dirty="0" smtClean="0">
                <a:latin typeface="宋体" panose="02010600030101010101" pitchFamily="2" charset="-122"/>
              </a:rPr>
              <a:t>)</a:t>
            </a:r>
            <a:endParaRPr lang="zh-CN" altLang="en-US" sz="1800" b="1" dirty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</a:rPr>
              <a:t>    </a:t>
            </a:r>
            <a:r>
              <a:rPr lang="zh-CN" altLang="en-US" b="1" dirty="0" smtClean="0"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latin typeface="宋体" panose="02010600030101010101" pitchFamily="2" charset="-122"/>
              </a:rPr>
              <a:t>共用请求式连接、并行判优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(</a:t>
            </a:r>
            <a:r>
              <a:rPr lang="zh-CN" altLang="en-US" sz="2200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需增设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DMA</a:t>
            </a:r>
            <a:r>
              <a:rPr lang="zh-CN" altLang="en-US" sz="2200" b="1" dirty="0" smtClean="0">
                <a:latin typeface="宋体" panose="02010600030101010101" pitchFamily="2" charset="-122"/>
              </a:rPr>
              <a:t>控制器</a:t>
            </a:r>
            <a:r>
              <a:rPr lang="en-US" altLang="zh-CN" sz="2200" b="1" dirty="0" smtClean="0">
                <a:latin typeface="宋体" panose="02010600030101010101" pitchFamily="2" charset="-122"/>
              </a:rPr>
              <a:t>)</a:t>
            </a:r>
            <a:endParaRPr lang="zh-CN" altLang="en-US" sz="2200" b="1" dirty="0">
              <a:latin typeface="宋体" panose="02010600030101010101" pitchFamily="2" charset="-122"/>
            </a:endParaRPr>
          </a:p>
        </p:txBody>
      </p:sp>
      <p:sp>
        <p:nvSpPr>
          <p:cNvPr id="392468" name="AutoShape 27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 rot="10800000">
            <a:off x="4068639" y="6524450"/>
            <a:ext cx="287337" cy="288925"/>
          </a:xfrm>
          <a:prstGeom prst="actionButtonReturn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611188" y="2275930"/>
            <a:ext cx="8281987" cy="1513110"/>
            <a:chOff x="611188" y="1872309"/>
            <a:chExt cx="8281987" cy="1513110"/>
          </a:xfrm>
        </p:grpSpPr>
        <p:sp>
          <p:nvSpPr>
            <p:cNvPr id="392328" name="Text Box 136"/>
            <p:cNvSpPr txBox="1">
              <a:spLocks noChangeArrowheads="1"/>
            </p:cNvSpPr>
            <p:nvPr/>
          </p:nvSpPr>
          <p:spPr bwMode="auto">
            <a:xfrm>
              <a:off x="2266950" y="2232671"/>
              <a:ext cx="719137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332" name="Line 140"/>
            <p:cNvSpPr>
              <a:spLocks noChangeShapeType="1"/>
            </p:cNvSpPr>
            <p:nvPr/>
          </p:nvSpPr>
          <p:spPr bwMode="auto">
            <a:xfrm>
              <a:off x="1550988" y="2521596"/>
              <a:ext cx="715962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3" name="Text Box 141"/>
            <p:cNvSpPr txBox="1">
              <a:spLocks noChangeArrowheads="1"/>
            </p:cNvSpPr>
            <p:nvPr/>
          </p:nvSpPr>
          <p:spPr bwMode="auto">
            <a:xfrm>
              <a:off x="1619250" y="2232671"/>
              <a:ext cx="576262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HLDA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334" name="Line 142"/>
            <p:cNvSpPr>
              <a:spLocks noChangeShapeType="1"/>
            </p:cNvSpPr>
            <p:nvPr/>
          </p:nvSpPr>
          <p:spPr bwMode="auto">
            <a:xfrm>
              <a:off x="611188" y="1873896"/>
              <a:ext cx="3960812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6" name="Line 144"/>
            <p:cNvSpPr>
              <a:spLocks noChangeShapeType="1"/>
            </p:cNvSpPr>
            <p:nvPr/>
          </p:nvSpPr>
          <p:spPr bwMode="auto">
            <a:xfrm>
              <a:off x="1116013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38" name="Line 146"/>
            <p:cNvSpPr>
              <a:spLocks noChangeShapeType="1"/>
            </p:cNvSpPr>
            <p:nvPr/>
          </p:nvSpPr>
          <p:spPr bwMode="auto">
            <a:xfrm>
              <a:off x="2625725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47" name="Line 155"/>
            <p:cNvSpPr>
              <a:spLocks noChangeShapeType="1"/>
            </p:cNvSpPr>
            <p:nvPr/>
          </p:nvSpPr>
          <p:spPr bwMode="auto">
            <a:xfrm flipV="1">
              <a:off x="1187450" y="2808934"/>
              <a:ext cx="0" cy="288925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48" name="Line 156"/>
            <p:cNvSpPr>
              <a:spLocks noChangeShapeType="1"/>
            </p:cNvSpPr>
            <p:nvPr/>
          </p:nvSpPr>
          <p:spPr bwMode="auto">
            <a:xfrm flipV="1">
              <a:off x="1189038" y="3097859"/>
              <a:ext cx="3022600" cy="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75" name="Text Box 183"/>
            <p:cNvSpPr txBox="1">
              <a:spLocks noChangeArrowheads="1"/>
            </p:cNvSpPr>
            <p:nvPr/>
          </p:nvSpPr>
          <p:spPr bwMode="auto">
            <a:xfrm>
              <a:off x="3851275" y="2232671"/>
              <a:ext cx="719137" cy="647700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DMA</a:t>
              </a:r>
              <a:endParaRPr lang="en-US" altLang="zh-CN" sz="1800" b="1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r>
                <a:rPr lang="en-US" altLang="zh-CN" sz="1800" b="1">
                  <a:latin typeface="宋体" panose="02010600030101010101" pitchFamily="2" charset="-122"/>
                </a:rPr>
                <a:t>n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392376" name="Line 184"/>
            <p:cNvSpPr>
              <a:spLocks noChangeShapeType="1"/>
            </p:cNvSpPr>
            <p:nvPr/>
          </p:nvSpPr>
          <p:spPr bwMode="auto">
            <a:xfrm>
              <a:off x="4210050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77" name="Text Box 185"/>
            <p:cNvSpPr txBox="1">
              <a:spLocks noChangeArrowheads="1"/>
            </p:cNvSpPr>
            <p:nvPr/>
          </p:nvSpPr>
          <p:spPr bwMode="auto">
            <a:xfrm>
              <a:off x="5221015" y="2232671"/>
              <a:ext cx="719137" cy="57626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endParaRPr lang="en-US" altLang="zh-CN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378" name="Text Box 186"/>
            <p:cNvSpPr txBox="1">
              <a:spLocks noChangeArrowheads="1"/>
            </p:cNvSpPr>
            <p:nvPr/>
          </p:nvSpPr>
          <p:spPr bwMode="auto">
            <a:xfrm>
              <a:off x="6516688" y="2232671"/>
              <a:ext cx="939800" cy="57626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392379" name="Line 187"/>
            <p:cNvSpPr>
              <a:spLocks noChangeShapeType="1"/>
            </p:cNvSpPr>
            <p:nvPr/>
          </p:nvSpPr>
          <p:spPr bwMode="auto">
            <a:xfrm flipV="1">
              <a:off x="8388424" y="2808933"/>
              <a:ext cx="0" cy="3320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0" name="Text Box 188"/>
            <p:cNvSpPr txBox="1">
              <a:spLocks noChangeArrowheads="1"/>
            </p:cNvSpPr>
            <p:nvPr/>
          </p:nvSpPr>
          <p:spPr bwMode="auto">
            <a:xfrm>
              <a:off x="5940153" y="2807346"/>
              <a:ext cx="576064" cy="261936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HRQ1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381" name="Line 189"/>
            <p:cNvSpPr>
              <a:spLocks noChangeShapeType="1"/>
            </p:cNvSpPr>
            <p:nvPr/>
          </p:nvSpPr>
          <p:spPr bwMode="auto">
            <a:xfrm flipV="1">
              <a:off x="5076825" y="1873896"/>
              <a:ext cx="3816350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2" name="Line 190"/>
            <p:cNvSpPr>
              <a:spLocks noChangeShapeType="1"/>
            </p:cNvSpPr>
            <p:nvPr/>
          </p:nvSpPr>
          <p:spPr bwMode="auto">
            <a:xfrm>
              <a:off x="7019925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3" name="Line 191"/>
            <p:cNvSpPr>
              <a:spLocks noChangeShapeType="1"/>
            </p:cNvSpPr>
            <p:nvPr/>
          </p:nvSpPr>
          <p:spPr bwMode="auto">
            <a:xfrm>
              <a:off x="5506021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4" name="Line 192"/>
            <p:cNvSpPr>
              <a:spLocks noChangeShapeType="1"/>
            </p:cNvSpPr>
            <p:nvPr/>
          </p:nvSpPr>
          <p:spPr bwMode="auto">
            <a:xfrm flipH="1" flipV="1">
              <a:off x="7307262" y="2807346"/>
              <a:ext cx="1587" cy="254000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5" name="Line 193"/>
            <p:cNvSpPr>
              <a:spLocks noChangeShapeType="1"/>
            </p:cNvSpPr>
            <p:nvPr/>
          </p:nvSpPr>
          <p:spPr bwMode="auto">
            <a:xfrm flipV="1">
              <a:off x="7307263" y="3065152"/>
              <a:ext cx="1009153" cy="3807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6" name="Text Box 194"/>
            <p:cNvSpPr txBox="1">
              <a:spLocks noChangeArrowheads="1"/>
            </p:cNvSpPr>
            <p:nvPr/>
          </p:nvSpPr>
          <p:spPr bwMode="auto">
            <a:xfrm>
              <a:off x="8028384" y="2232671"/>
              <a:ext cx="719137" cy="576262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>
                  <a:latin typeface="宋体" panose="02010600030101010101" pitchFamily="2" charset="-122"/>
                </a:rPr>
                <a:t>DMA</a:t>
              </a:r>
              <a:endParaRPr lang="en-US" altLang="zh-CN" sz="1800" b="1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>
                  <a:latin typeface="宋体" panose="02010600030101010101" pitchFamily="2" charset="-122"/>
                </a:rPr>
                <a:t>接口</a:t>
              </a:r>
              <a:r>
                <a:rPr lang="en-US" altLang="zh-CN" sz="1800" b="1">
                  <a:latin typeface="宋体" panose="02010600030101010101" pitchFamily="2" charset="-122"/>
                </a:rPr>
                <a:t>n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392387" name="Line 195"/>
            <p:cNvSpPr>
              <a:spLocks noChangeShapeType="1"/>
            </p:cNvSpPr>
            <p:nvPr/>
          </p:nvSpPr>
          <p:spPr bwMode="auto">
            <a:xfrm>
              <a:off x="8387159" y="1872309"/>
              <a:ext cx="0" cy="360362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  <a:headEnd type="triangle" w="sm" len="med"/>
              <a:tailEnd type="triangle" w="sm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8" name="Line 196"/>
            <p:cNvSpPr>
              <a:spLocks noChangeShapeType="1"/>
            </p:cNvSpPr>
            <p:nvPr/>
          </p:nvSpPr>
          <p:spPr bwMode="auto">
            <a:xfrm>
              <a:off x="8316416" y="2808934"/>
              <a:ext cx="0" cy="260348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89" name="Line 197"/>
            <p:cNvSpPr>
              <a:spLocks noChangeShapeType="1"/>
            </p:cNvSpPr>
            <p:nvPr/>
          </p:nvSpPr>
          <p:spPr bwMode="auto">
            <a:xfrm>
              <a:off x="7237164" y="3140967"/>
              <a:ext cx="1151260" cy="2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0" name="Line 198"/>
            <p:cNvSpPr>
              <a:spLocks noChangeShapeType="1"/>
            </p:cNvSpPr>
            <p:nvPr/>
          </p:nvSpPr>
          <p:spPr bwMode="auto">
            <a:xfrm>
              <a:off x="7236196" y="2808935"/>
              <a:ext cx="0" cy="33203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1" name="Line 199"/>
            <p:cNvSpPr>
              <a:spLocks noChangeShapeType="1"/>
            </p:cNvSpPr>
            <p:nvPr/>
          </p:nvSpPr>
          <p:spPr bwMode="auto">
            <a:xfrm flipV="1">
              <a:off x="6659562" y="2808934"/>
              <a:ext cx="1" cy="260026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2" name="Line 200"/>
            <p:cNvSpPr>
              <a:spLocks noChangeShapeType="1"/>
            </p:cNvSpPr>
            <p:nvPr/>
          </p:nvSpPr>
          <p:spPr bwMode="auto">
            <a:xfrm>
              <a:off x="6732240" y="2808935"/>
              <a:ext cx="0" cy="332034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7" name="Line 205"/>
            <p:cNvSpPr>
              <a:spLocks noChangeShapeType="1"/>
            </p:cNvSpPr>
            <p:nvPr/>
          </p:nvSpPr>
          <p:spPr bwMode="auto">
            <a:xfrm flipH="1" flipV="1">
              <a:off x="5580112" y="2808934"/>
              <a:ext cx="0" cy="33203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8" name="Line 206"/>
            <p:cNvSpPr>
              <a:spLocks noChangeShapeType="1"/>
            </p:cNvSpPr>
            <p:nvPr/>
          </p:nvSpPr>
          <p:spPr bwMode="auto">
            <a:xfrm>
              <a:off x="5652120" y="2808934"/>
              <a:ext cx="0" cy="25241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399" name="Line 207"/>
            <p:cNvSpPr>
              <a:spLocks noChangeShapeType="1"/>
            </p:cNvSpPr>
            <p:nvPr/>
          </p:nvSpPr>
          <p:spPr bwMode="auto">
            <a:xfrm flipV="1">
              <a:off x="5652120" y="3068960"/>
              <a:ext cx="1007442" cy="322"/>
            </a:xfrm>
            <a:prstGeom prst="line">
              <a:avLst/>
            </a:prstGeom>
            <a:noFill/>
            <a:ln w="15875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00" name="Line 208"/>
            <p:cNvSpPr>
              <a:spLocks noChangeShapeType="1"/>
            </p:cNvSpPr>
            <p:nvPr/>
          </p:nvSpPr>
          <p:spPr bwMode="auto">
            <a:xfrm flipV="1">
              <a:off x="5580112" y="3140968"/>
              <a:ext cx="1152128" cy="1"/>
            </a:xfrm>
            <a:prstGeom prst="line">
              <a:avLst/>
            </a:prstGeom>
            <a:noFill/>
            <a:ln w="15875">
              <a:solidFill>
                <a:schemeClr val="accent2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01" name="Text Box 209"/>
            <p:cNvSpPr txBox="1">
              <a:spLocks noChangeArrowheads="1"/>
            </p:cNvSpPr>
            <p:nvPr/>
          </p:nvSpPr>
          <p:spPr bwMode="auto">
            <a:xfrm>
              <a:off x="5940152" y="3140968"/>
              <a:ext cx="648072" cy="24445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HLDA1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405" name="Text Box 213"/>
            <p:cNvSpPr txBox="1">
              <a:spLocks noChangeArrowheads="1"/>
            </p:cNvSpPr>
            <p:nvPr/>
          </p:nvSpPr>
          <p:spPr bwMode="auto">
            <a:xfrm>
              <a:off x="6012433" y="2348558"/>
              <a:ext cx="431775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392406" name="Text Box 214"/>
            <p:cNvSpPr txBox="1">
              <a:spLocks noChangeArrowheads="1"/>
            </p:cNvSpPr>
            <p:nvPr/>
          </p:nvSpPr>
          <p:spPr bwMode="auto">
            <a:xfrm>
              <a:off x="7524328" y="2348558"/>
              <a:ext cx="431229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392407" name="Text Box 215"/>
            <p:cNvSpPr txBox="1">
              <a:spLocks noChangeArrowheads="1"/>
            </p:cNvSpPr>
            <p:nvPr/>
          </p:nvSpPr>
          <p:spPr bwMode="auto">
            <a:xfrm>
              <a:off x="611188" y="2232671"/>
              <a:ext cx="939800" cy="576262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CPU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2408" name="Text Box 216"/>
            <p:cNvSpPr txBox="1">
              <a:spLocks noChangeArrowheads="1"/>
            </p:cNvSpPr>
            <p:nvPr/>
          </p:nvSpPr>
          <p:spPr bwMode="auto">
            <a:xfrm>
              <a:off x="3203575" y="2348559"/>
              <a:ext cx="431800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392409" name="Text Box 217"/>
            <p:cNvSpPr txBox="1">
              <a:spLocks noChangeArrowheads="1"/>
            </p:cNvSpPr>
            <p:nvPr/>
          </p:nvSpPr>
          <p:spPr bwMode="auto">
            <a:xfrm>
              <a:off x="6804025" y="2737496"/>
              <a:ext cx="360362" cy="360362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2000" b="1">
                  <a:latin typeface="Times New Roman" panose="02020603050405020304"/>
                </a:rPr>
                <a:t>…</a:t>
              </a:r>
              <a:endParaRPr lang="en-US" altLang="zh-CN" sz="2000" b="1">
                <a:latin typeface="宋体" panose="02010600030101010101" pitchFamily="2" charset="-122"/>
              </a:endParaRPr>
            </a:p>
          </p:txBody>
        </p:sp>
        <p:sp>
          <p:nvSpPr>
            <p:cNvPr id="392410" name="Line 218"/>
            <p:cNvSpPr>
              <a:spLocks noChangeShapeType="1"/>
            </p:cNvSpPr>
            <p:nvPr/>
          </p:nvSpPr>
          <p:spPr bwMode="auto">
            <a:xfrm>
              <a:off x="4211638" y="2881959"/>
              <a:ext cx="0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1" name="Line 219"/>
            <p:cNvSpPr>
              <a:spLocks noChangeShapeType="1"/>
            </p:cNvSpPr>
            <p:nvPr/>
          </p:nvSpPr>
          <p:spPr bwMode="auto">
            <a:xfrm>
              <a:off x="2625725" y="2881959"/>
              <a:ext cx="1587" cy="215900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oval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2" name="Line 220"/>
            <p:cNvSpPr>
              <a:spLocks noChangeShapeType="1"/>
            </p:cNvSpPr>
            <p:nvPr/>
          </p:nvSpPr>
          <p:spPr bwMode="auto">
            <a:xfrm flipV="1">
              <a:off x="2987675" y="2521596"/>
              <a:ext cx="2159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2413" name="Line 221"/>
            <p:cNvSpPr>
              <a:spLocks noChangeShapeType="1"/>
            </p:cNvSpPr>
            <p:nvPr/>
          </p:nvSpPr>
          <p:spPr bwMode="auto">
            <a:xfrm flipV="1">
              <a:off x="3635375" y="2521596"/>
              <a:ext cx="2159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Text Box 141"/>
            <p:cNvSpPr txBox="1">
              <a:spLocks noChangeArrowheads="1"/>
            </p:cNvSpPr>
            <p:nvPr/>
          </p:nvSpPr>
          <p:spPr bwMode="auto">
            <a:xfrm>
              <a:off x="1619672" y="2853631"/>
              <a:ext cx="432048" cy="24422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HRQ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4" name="Text Box 188"/>
            <p:cNvSpPr txBox="1">
              <a:spLocks noChangeArrowheads="1"/>
            </p:cNvSpPr>
            <p:nvPr/>
          </p:nvSpPr>
          <p:spPr bwMode="auto">
            <a:xfrm>
              <a:off x="7456488" y="2807024"/>
              <a:ext cx="571871" cy="261936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HRQ1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55" name="Text Box 209"/>
            <p:cNvSpPr txBox="1">
              <a:spLocks noChangeArrowheads="1"/>
            </p:cNvSpPr>
            <p:nvPr/>
          </p:nvSpPr>
          <p:spPr bwMode="auto">
            <a:xfrm>
              <a:off x="7456489" y="3140968"/>
              <a:ext cx="643904" cy="244451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HLDA1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9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9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322" grpId="0"/>
      <p:bldP spid="392323" grpId="0"/>
      <p:bldP spid="39232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Box 140"/>
          <p:cNvSpPr txBox="1">
            <a:spLocks noChangeArrowheads="1"/>
          </p:cNvSpPr>
          <p:nvPr/>
        </p:nvSpPr>
        <p:spPr bwMode="auto">
          <a:xfrm>
            <a:off x="179512" y="1273984"/>
            <a:ext cx="4608512" cy="193899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增强型</a:t>
            </a: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接口的类型：</a:t>
            </a:r>
            <a:endParaRPr lang="en-US" altLang="zh-CN" b="1" dirty="0" smtClean="0">
              <a:solidFill>
                <a:srgbClr val="C000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选择型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zh-CN" altLang="en-US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  </a:t>
            </a:r>
            <a:r>
              <a:rPr lang="zh-CN" altLang="en-US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多路型</a:t>
            </a:r>
            <a:r>
              <a:rPr lang="en-US" altLang="zh-CN" b="1" dirty="0" smtClean="0">
                <a:solidFill>
                  <a:schemeClr val="accent2"/>
                </a:solidFill>
                <a:latin typeface="宋体" panose="02010600030101010101" pitchFamily="2" charset="-122"/>
              </a:rPr>
              <a:t>—</a:t>
            </a:r>
            <a:endParaRPr lang="en-US" altLang="zh-CN" b="1" dirty="0" smtClean="0">
              <a:solidFill>
                <a:schemeClr val="accent2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*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增强型</a:t>
            </a:r>
            <a:r>
              <a:rPr lang="en-US" altLang="zh-CN" b="1" dirty="0">
                <a:solidFill>
                  <a:srgbClr val="C00000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>
                <a:solidFill>
                  <a:srgbClr val="C00000"/>
                </a:solidFill>
                <a:latin typeface="宋体" panose="02010600030101010101" pitchFamily="2" charset="-122"/>
              </a:rPr>
              <a:t>接口的结构：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6292" name="Text Box 4"/>
          <p:cNvSpPr txBox="1">
            <a:spLocks noChangeArrowheads="1"/>
          </p:cNvSpPr>
          <p:nvPr/>
        </p:nvSpPr>
        <p:spPr bwMode="auto">
          <a:xfrm>
            <a:off x="179388" y="332656"/>
            <a:ext cx="8785225" cy="10156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3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、增强型</a:t>
            </a:r>
            <a:r>
              <a:rPr lang="en-US" altLang="zh-CN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solidFill>
                  <a:srgbClr val="FF3399"/>
                </a:solidFill>
                <a:latin typeface="宋体" panose="02010600030101010101" pitchFamily="2" charset="-122"/>
              </a:rPr>
              <a:t>接口</a:t>
            </a:r>
            <a:endParaRPr lang="zh-CN" altLang="en-US" b="1" dirty="0" smtClean="0">
              <a:solidFill>
                <a:srgbClr val="CC3300"/>
              </a:solidFill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可实现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多个外设</a:t>
            </a:r>
            <a:r>
              <a:rPr lang="zh-CN" altLang="en-US" b="1" dirty="0" smtClean="0">
                <a:latin typeface="宋体" panose="02010600030101010101" pitchFamily="2" charset="-122"/>
              </a:rPr>
              <a:t>的</a:t>
            </a:r>
            <a:r>
              <a:rPr lang="en-US" altLang="zh-CN" b="1" dirty="0" smtClean="0">
                <a:latin typeface="宋体" panose="02010600030101010101" pitchFamily="2" charset="-122"/>
              </a:rPr>
              <a:t>DMA</a:t>
            </a:r>
            <a:r>
              <a:rPr lang="zh-CN" altLang="en-US" b="1" dirty="0" smtClean="0">
                <a:latin typeface="宋体" panose="02010600030101010101" pitchFamily="2" charset="-122"/>
              </a:rPr>
              <a:t>传送控制           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←即</a:t>
            </a:r>
            <a:r>
              <a:rPr lang="en-US" altLang="zh-CN" sz="2000" b="1" dirty="0" smtClean="0">
                <a:latin typeface="宋体" panose="02010600030101010101" pitchFamily="2" charset="-122"/>
              </a:rPr>
              <a:t>DMA</a:t>
            </a:r>
            <a:r>
              <a:rPr lang="zh-CN" altLang="en-US" sz="2000" b="1" dirty="0" smtClean="0">
                <a:latin typeface="宋体" panose="02010600030101010101" pitchFamily="2" charset="-122"/>
              </a:rPr>
              <a:t>控制器</a:t>
            </a:r>
            <a:endParaRPr lang="zh-CN" altLang="en-US" b="1" dirty="0">
              <a:latin typeface="宋体" panose="02010600030101010101" pitchFamily="2" charset="-122"/>
            </a:endParaRPr>
          </a:p>
        </p:txBody>
      </p:sp>
      <p:sp>
        <p:nvSpPr>
          <p:cNvPr id="396349" name="Text Box 61"/>
          <p:cNvSpPr txBox="1">
            <a:spLocks noChangeArrowheads="1"/>
          </p:cNvSpPr>
          <p:nvPr/>
        </p:nvSpPr>
        <p:spPr bwMode="auto">
          <a:xfrm>
            <a:off x="2123728" y="1735648"/>
            <a:ext cx="6521130" cy="147732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一段</a:t>
            </a:r>
            <a:r>
              <a:rPr lang="zh-CN" altLang="en-US" b="1" dirty="0">
                <a:latin typeface="宋体" panose="02010600030101010101" pitchFamily="2" charset="-122"/>
              </a:rPr>
              <a:t>时间</a:t>
            </a:r>
            <a:r>
              <a:rPr lang="zh-CN" altLang="en-US" b="1" dirty="0" smtClean="0">
                <a:latin typeface="宋体" panose="02010600030101010101" pitchFamily="2" charset="-122"/>
              </a:rPr>
              <a:t>内仅为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一个</a:t>
            </a:r>
            <a:r>
              <a:rPr lang="zh-CN" altLang="en-US" b="1" dirty="0" smtClean="0">
                <a:latin typeface="宋体" panose="02010600030101010101" pitchFamily="2" charset="-122"/>
              </a:rPr>
              <a:t>外设服务，用于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快速</a:t>
            </a:r>
            <a:r>
              <a:rPr lang="zh-CN" altLang="en-US" b="1" dirty="0" smtClean="0">
                <a:latin typeface="宋体" panose="02010600030101010101" pitchFamily="2" charset="-122"/>
              </a:rPr>
              <a:t>外设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一段时间内可为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多个</a:t>
            </a:r>
            <a:r>
              <a:rPr lang="zh-CN" altLang="en-US" b="1" dirty="0" smtClean="0">
                <a:latin typeface="宋体" panose="02010600030101010101" pitchFamily="2" charset="-122"/>
              </a:rPr>
              <a:t>外设服务，用于</a:t>
            </a:r>
            <a:r>
              <a:rPr lang="zh-CN" altLang="en-US" b="1" u="sng" dirty="0" smtClean="0">
                <a:solidFill>
                  <a:srgbClr val="990099"/>
                </a:solidFill>
                <a:latin typeface="宋体" panose="02010600030101010101" pitchFamily="2" charset="-122"/>
              </a:rPr>
              <a:t>中速</a:t>
            </a:r>
            <a:r>
              <a:rPr lang="zh-CN" altLang="en-US" b="1" dirty="0" smtClean="0">
                <a:latin typeface="宋体" panose="02010600030101010101" pitchFamily="2" charset="-122"/>
              </a:rPr>
              <a:t>外设</a:t>
            </a:r>
            <a:endParaRPr lang="en-US" altLang="zh-CN" b="1" dirty="0" smtClean="0">
              <a:latin typeface="宋体" panose="02010600030101010101" pitchFamily="2" charset="-122"/>
            </a:endParaRPr>
          </a:p>
          <a:p>
            <a:pPr algn="l">
              <a:lnSpc>
                <a:spcPct val="125000"/>
              </a:lnSpc>
            </a:pPr>
            <a:r>
              <a:rPr lang="zh-CN" altLang="en-US" b="1" dirty="0" smtClean="0">
                <a:latin typeface="宋体" panose="02010600030101010101" pitchFamily="2" charset="-122"/>
              </a:rPr>
              <a:t>          增设</a:t>
            </a:r>
            <a:r>
              <a:rPr lang="zh-CN" altLang="en-US" b="1" dirty="0">
                <a:latin typeface="宋体" panose="02010600030101010101" pitchFamily="2" charset="-122"/>
              </a:rPr>
              <a:t>寄存器</a:t>
            </a:r>
            <a:r>
              <a:rPr lang="zh-CN" altLang="en-US" b="1" dirty="0">
                <a:solidFill>
                  <a:srgbClr val="990099"/>
                </a:solidFill>
                <a:latin typeface="宋体" panose="02010600030101010101" pitchFamily="2" charset="-122"/>
              </a:rPr>
              <a:t>组</a:t>
            </a:r>
            <a:r>
              <a:rPr lang="zh-CN" altLang="en-US" b="1" dirty="0">
                <a:latin typeface="宋体" panose="02010600030101010101" pitchFamily="2" charset="-122"/>
              </a:rPr>
              <a:t>、判优逻辑</a:t>
            </a:r>
            <a:r>
              <a:rPr lang="zh-CN" altLang="en-US" b="1" dirty="0" smtClean="0">
                <a:latin typeface="宋体" panose="02010600030101010101" pitchFamily="2" charset="-122"/>
              </a:rPr>
              <a:t>等</a:t>
            </a:r>
            <a:endParaRPr lang="en-US" altLang="zh-CN" sz="2000" b="1" dirty="0">
              <a:latin typeface="宋体" panose="02010600030101010101" pitchFamily="2" charset="-122"/>
            </a:endParaRPr>
          </a:p>
        </p:txBody>
      </p:sp>
      <p:sp>
        <p:nvSpPr>
          <p:cNvPr id="396532" name="AutoShape 244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 rot="5400000">
            <a:off x="4068638" y="6526038"/>
            <a:ext cx="287338" cy="287337"/>
          </a:xfrm>
          <a:prstGeom prst="actionButtonBackPrevious">
            <a:avLst/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6" name="组合 55"/>
          <p:cNvGrpSpPr/>
          <p:nvPr/>
        </p:nvGrpSpPr>
        <p:grpSpPr>
          <a:xfrm>
            <a:off x="683568" y="3212976"/>
            <a:ext cx="8136904" cy="2592288"/>
            <a:chOff x="683568" y="3284984"/>
            <a:chExt cx="8136904" cy="2592288"/>
          </a:xfrm>
        </p:grpSpPr>
        <p:sp>
          <p:nvSpPr>
            <p:cNvPr id="396472" name="Rectangle 184"/>
            <p:cNvSpPr>
              <a:spLocks noChangeArrowheads="1"/>
            </p:cNvSpPr>
            <p:nvPr/>
          </p:nvSpPr>
          <p:spPr bwMode="auto">
            <a:xfrm>
              <a:off x="2053036" y="3645346"/>
              <a:ext cx="4392613" cy="2231926"/>
            </a:xfrm>
            <a:prstGeom prst="rect">
              <a:avLst/>
            </a:prstGeom>
            <a:solidFill>
              <a:srgbClr val="CCFFFF">
                <a:alpha val="70000"/>
              </a:srgbClr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6473" name="Line 185"/>
            <p:cNvSpPr>
              <a:spLocks noChangeShapeType="1"/>
            </p:cNvSpPr>
            <p:nvPr/>
          </p:nvSpPr>
          <p:spPr bwMode="auto">
            <a:xfrm>
              <a:off x="683568" y="3284984"/>
              <a:ext cx="8136904" cy="0"/>
            </a:xfrm>
            <a:prstGeom prst="line">
              <a:avLst/>
            </a:prstGeom>
            <a:noFill/>
            <a:ln w="38100" cmpd="dbl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4" name="Text Box 186"/>
            <p:cNvSpPr txBox="1">
              <a:spLocks noChangeArrowheads="1"/>
            </p:cNvSpPr>
            <p:nvPr/>
          </p:nvSpPr>
          <p:spPr bwMode="auto">
            <a:xfrm>
              <a:off x="1405610" y="3789040"/>
              <a:ext cx="471044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HRQ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75" name="Text Box 187"/>
            <p:cNvSpPr txBox="1">
              <a:spLocks noChangeArrowheads="1"/>
            </p:cNvSpPr>
            <p:nvPr/>
          </p:nvSpPr>
          <p:spPr bwMode="auto">
            <a:xfrm>
              <a:off x="1405609" y="4148385"/>
              <a:ext cx="576263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HLDA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76" name="Line 188"/>
            <p:cNvSpPr>
              <a:spLocks noChangeShapeType="1"/>
            </p:cNvSpPr>
            <p:nvPr/>
          </p:nvSpPr>
          <p:spPr bwMode="auto">
            <a:xfrm flipH="1" flipV="1">
              <a:off x="1332584" y="4074790"/>
              <a:ext cx="865188" cy="1587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7" name="Line 189"/>
            <p:cNvSpPr>
              <a:spLocks noChangeShapeType="1"/>
            </p:cNvSpPr>
            <p:nvPr/>
          </p:nvSpPr>
          <p:spPr bwMode="auto">
            <a:xfrm>
              <a:off x="1332584" y="4150940"/>
              <a:ext cx="863600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8" name="Line 190"/>
            <p:cNvSpPr>
              <a:spLocks noChangeShapeType="1"/>
            </p:cNvSpPr>
            <p:nvPr/>
          </p:nvSpPr>
          <p:spPr bwMode="auto">
            <a:xfrm flipV="1">
              <a:off x="3637212" y="3286570"/>
              <a:ext cx="0" cy="358775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79" name="Line 191"/>
            <p:cNvSpPr>
              <a:spLocks noChangeShapeType="1"/>
            </p:cNvSpPr>
            <p:nvPr/>
          </p:nvSpPr>
          <p:spPr bwMode="auto">
            <a:xfrm flipV="1">
              <a:off x="3781675" y="3286571"/>
              <a:ext cx="0" cy="358774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0" name="Line 192"/>
            <p:cNvSpPr>
              <a:spLocks noChangeShapeType="1"/>
            </p:cNvSpPr>
            <p:nvPr/>
          </p:nvSpPr>
          <p:spPr bwMode="auto">
            <a:xfrm flipH="1">
              <a:off x="4429300" y="3286571"/>
              <a:ext cx="0" cy="358775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1" name="Line 193"/>
            <p:cNvSpPr>
              <a:spLocks noChangeShapeType="1"/>
            </p:cNvSpPr>
            <p:nvPr/>
          </p:nvSpPr>
          <p:spPr bwMode="auto">
            <a:xfrm>
              <a:off x="4789340" y="3284984"/>
              <a:ext cx="1588" cy="360361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2" name="Line 194"/>
            <p:cNvSpPr>
              <a:spLocks noChangeShapeType="1"/>
            </p:cNvSpPr>
            <p:nvPr/>
          </p:nvSpPr>
          <p:spPr bwMode="auto">
            <a:xfrm>
              <a:off x="3995987" y="3284984"/>
              <a:ext cx="1588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3" name="Line 195"/>
            <p:cNvSpPr>
              <a:spLocks noChangeShapeType="1"/>
            </p:cNvSpPr>
            <p:nvPr/>
          </p:nvSpPr>
          <p:spPr bwMode="auto">
            <a:xfrm>
              <a:off x="4140450" y="3284984"/>
              <a:ext cx="0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486" name="Text Box 198"/>
            <p:cNvSpPr txBox="1">
              <a:spLocks noChangeArrowheads="1"/>
            </p:cNvSpPr>
            <p:nvPr/>
          </p:nvSpPr>
          <p:spPr bwMode="auto">
            <a:xfrm>
              <a:off x="2701108" y="4654327"/>
              <a:ext cx="1008063" cy="575468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主存地址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REGs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88" name="Text Box 200"/>
            <p:cNvSpPr txBox="1">
              <a:spLocks noChangeArrowheads="1"/>
            </p:cNvSpPr>
            <p:nvPr/>
          </p:nvSpPr>
          <p:spPr bwMode="auto">
            <a:xfrm>
              <a:off x="6518947" y="4221088"/>
              <a:ext cx="6477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DREQ0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89" name="Text Box 201"/>
            <p:cNvSpPr txBox="1">
              <a:spLocks noChangeArrowheads="1"/>
            </p:cNvSpPr>
            <p:nvPr/>
          </p:nvSpPr>
          <p:spPr bwMode="auto">
            <a:xfrm>
              <a:off x="6516216" y="4581823"/>
              <a:ext cx="649288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DACK0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90" name="Text Box 202"/>
            <p:cNvSpPr txBox="1">
              <a:spLocks noChangeArrowheads="1"/>
            </p:cNvSpPr>
            <p:nvPr/>
          </p:nvSpPr>
          <p:spPr bwMode="auto">
            <a:xfrm>
              <a:off x="5149380" y="4653136"/>
              <a:ext cx="604615" cy="576659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状态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REGs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91" name="Text Box 203"/>
            <p:cNvSpPr txBox="1">
              <a:spLocks noChangeArrowheads="1"/>
            </p:cNvSpPr>
            <p:nvPr/>
          </p:nvSpPr>
          <p:spPr bwMode="auto">
            <a:xfrm>
              <a:off x="2197772" y="3789809"/>
              <a:ext cx="359320" cy="1439068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>
                  <a:latin typeface="宋体" panose="02010600030101010101" pitchFamily="2" charset="-122"/>
                </a:rPr>
                <a:t>控制逻辑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92" name="Text Box 204"/>
            <p:cNvSpPr txBox="1">
              <a:spLocks noChangeArrowheads="1"/>
            </p:cNvSpPr>
            <p:nvPr/>
          </p:nvSpPr>
          <p:spPr bwMode="auto">
            <a:xfrm>
              <a:off x="6948341" y="3645024"/>
              <a:ext cx="720003" cy="5752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0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95" name="Text Box 207"/>
            <p:cNvSpPr txBox="1">
              <a:spLocks noChangeArrowheads="1"/>
            </p:cNvSpPr>
            <p:nvPr/>
          </p:nvSpPr>
          <p:spPr bwMode="auto">
            <a:xfrm>
              <a:off x="7668592" y="3789040"/>
              <a:ext cx="431800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horz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sp>
          <p:nvSpPr>
            <p:cNvPr id="396496" name="Text Box 208"/>
            <p:cNvSpPr txBox="1">
              <a:spLocks noChangeArrowheads="1"/>
            </p:cNvSpPr>
            <p:nvPr/>
          </p:nvSpPr>
          <p:spPr bwMode="auto">
            <a:xfrm>
              <a:off x="2701108" y="5445919"/>
              <a:ext cx="1008063" cy="2873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 dirty="0">
                  <a:latin typeface="宋体" panose="02010600030101010101" pitchFamily="2" charset="-122"/>
                </a:rPr>
                <a:t>MAC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497" name="Text Box 209"/>
            <p:cNvSpPr txBox="1">
              <a:spLocks noChangeArrowheads="1"/>
            </p:cNvSpPr>
            <p:nvPr/>
          </p:nvSpPr>
          <p:spPr bwMode="auto">
            <a:xfrm>
              <a:off x="3925244" y="5445919"/>
              <a:ext cx="1008063" cy="2873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latin typeface="宋体" panose="02010600030101010101" pitchFamily="2" charset="-122"/>
                </a:rPr>
                <a:t>WC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396498" name="Text Box 210"/>
            <p:cNvSpPr txBox="1">
              <a:spLocks noChangeArrowheads="1"/>
            </p:cNvSpPr>
            <p:nvPr/>
          </p:nvSpPr>
          <p:spPr bwMode="auto">
            <a:xfrm>
              <a:off x="3925244" y="4653136"/>
              <a:ext cx="1008063" cy="574675"/>
            </a:xfrm>
            <a:prstGeom prst="rect">
              <a:avLst/>
            </a:prstGeom>
            <a:solidFill>
              <a:srgbClr val="FFFF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</a:rPr>
                <a:t>传送字数</a:t>
              </a:r>
              <a:endParaRPr lang="zh-CN" altLang="en-US" sz="1800" b="1" dirty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宋体" panose="02010600030101010101" pitchFamily="2" charset="-122"/>
                </a:rPr>
                <a:t>REGs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396500" name="Line 212"/>
            <p:cNvSpPr>
              <a:spLocks noChangeShapeType="1"/>
            </p:cNvSpPr>
            <p:nvPr/>
          </p:nvSpPr>
          <p:spPr bwMode="auto">
            <a:xfrm flipV="1">
              <a:off x="4645696" y="3861246"/>
              <a:ext cx="1296491" cy="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01" name="Line 213"/>
            <p:cNvSpPr>
              <a:spLocks noChangeShapeType="1"/>
            </p:cNvSpPr>
            <p:nvPr/>
          </p:nvSpPr>
          <p:spPr bwMode="auto">
            <a:xfrm flipH="1">
              <a:off x="2557092" y="3844949"/>
              <a:ext cx="9365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09" name="Line 221"/>
            <p:cNvSpPr>
              <a:spLocks noChangeShapeType="1"/>
            </p:cNvSpPr>
            <p:nvPr/>
          </p:nvSpPr>
          <p:spPr bwMode="auto">
            <a:xfrm flipH="1">
              <a:off x="7308304" y="3286571"/>
              <a:ext cx="0" cy="358776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0" name="Line 222"/>
            <p:cNvSpPr>
              <a:spLocks noChangeShapeType="1"/>
            </p:cNvSpPr>
            <p:nvPr/>
          </p:nvSpPr>
          <p:spPr bwMode="auto">
            <a:xfrm>
              <a:off x="7524328" y="3284984"/>
              <a:ext cx="0" cy="360041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1" name="Line 223"/>
            <p:cNvSpPr>
              <a:spLocks noChangeShapeType="1"/>
            </p:cNvSpPr>
            <p:nvPr/>
          </p:nvSpPr>
          <p:spPr bwMode="auto">
            <a:xfrm flipH="1">
              <a:off x="7164288" y="3284985"/>
              <a:ext cx="0" cy="36004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2" name="Line 224"/>
            <p:cNvSpPr>
              <a:spLocks noChangeShapeType="1"/>
            </p:cNvSpPr>
            <p:nvPr/>
          </p:nvSpPr>
          <p:spPr bwMode="auto">
            <a:xfrm>
              <a:off x="7092280" y="3284985"/>
              <a:ext cx="2359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8" name="Line 230"/>
            <p:cNvSpPr>
              <a:spLocks noChangeShapeType="1"/>
            </p:cNvSpPr>
            <p:nvPr/>
          </p:nvSpPr>
          <p:spPr bwMode="auto">
            <a:xfrm flipH="1" flipV="1">
              <a:off x="756322" y="3284984"/>
              <a:ext cx="0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19" name="Line 231"/>
            <p:cNvSpPr>
              <a:spLocks noChangeShapeType="1"/>
            </p:cNvSpPr>
            <p:nvPr/>
          </p:nvSpPr>
          <p:spPr bwMode="auto">
            <a:xfrm flipH="1" flipV="1">
              <a:off x="827759" y="3284984"/>
              <a:ext cx="3175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0" name="Line 232"/>
            <p:cNvSpPr>
              <a:spLocks noChangeShapeType="1"/>
            </p:cNvSpPr>
            <p:nvPr/>
          </p:nvSpPr>
          <p:spPr bwMode="auto">
            <a:xfrm flipH="1" flipV="1">
              <a:off x="899197" y="3284984"/>
              <a:ext cx="3175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1" name="Line 233"/>
            <p:cNvSpPr>
              <a:spLocks noChangeShapeType="1"/>
            </p:cNvSpPr>
            <p:nvPr/>
          </p:nvSpPr>
          <p:spPr bwMode="auto">
            <a:xfrm flipH="1" flipV="1">
              <a:off x="972222" y="3284984"/>
              <a:ext cx="1588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2" name="Line 234"/>
            <p:cNvSpPr>
              <a:spLocks noChangeShapeType="1"/>
            </p:cNvSpPr>
            <p:nvPr/>
          </p:nvSpPr>
          <p:spPr bwMode="auto">
            <a:xfrm flipH="1" flipV="1">
              <a:off x="1116684" y="3284984"/>
              <a:ext cx="1588" cy="360362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round/>
              <a:headEnd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3" name="Line 235"/>
            <p:cNvSpPr>
              <a:spLocks noChangeShapeType="1"/>
            </p:cNvSpPr>
            <p:nvPr/>
          </p:nvSpPr>
          <p:spPr bwMode="auto">
            <a:xfrm>
              <a:off x="1261147" y="3284984"/>
              <a:ext cx="1588" cy="360362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6524" name="Text Box 236"/>
            <p:cNvSpPr txBox="1">
              <a:spLocks noChangeArrowheads="1"/>
            </p:cNvSpPr>
            <p:nvPr/>
          </p:nvSpPr>
          <p:spPr bwMode="auto">
            <a:xfrm>
              <a:off x="684884" y="3645346"/>
              <a:ext cx="648072" cy="2231926"/>
            </a:xfrm>
            <a:prstGeom prst="rect">
              <a:avLst/>
            </a:prstGeom>
            <a:solidFill>
              <a:srgbClr val="FFCC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en-US" altLang="zh-CN" sz="1800" b="1">
                  <a:latin typeface="宋体" panose="02010600030101010101" pitchFamily="2" charset="-122"/>
                </a:rPr>
                <a:t>CPU</a:t>
              </a:r>
              <a:endParaRPr lang="en-US" altLang="zh-CN" sz="1800" b="1">
                <a:latin typeface="宋体" panose="02010600030101010101" pitchFamily="2" charset="-122"/>
              </a:endParaRPr>
            </a:p>
          </p:txBody>
        </p:sp>
        <p:sp>
          <p:nvSpPr>
            <p:cNvPr id="111" name="Text Box 209"/>
            <p:cNvSpPr txBox="1">
              <a:spLocks noChangeArrowheads="1"/>
            </p:cNvSpPr>
            <p:nvPr/>
          </p:nvSpPr>
          <p:spPr bwMode="auto">
            <a:xfrm>
              <a:off x="4358035" y="4221783"/>
              <a:ext cx="1295401" cy="2873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>
                  <a:latin typeface="宋体" panose="02010600030101010101" pitchFamily="2" charset="-122"/>
                </a:rPr>
                <a:t>设备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号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4" name="Text Box 209"/>
            <p:cNvSpPr txBox="1">
              <a:spLocks noChangeArrowheads="1"/>
            </p:cNvSpPr>
            <p:nvPr/>
          </p:nvSpPr>
          <p:spPr bwMode="auto">
            <a:xfrm>
              <a:off x="3493617" y="3717727"/>
              <a:ext cx="1151385" cy="287337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r>
                <a:rPr lang="zh-CN" altLang="en-US" sz="1800" b="1" dirty="0" smtClean="0">
                  <a:latin typeface="宋体" panose="02010600030101010101" pitchFamily="2" charset="-122"/>
                </a:rPr>
                <a:t>控制</a:t>
              </a:r>
              <a:r>
                <a:rPr lang="en-US" altLang="zh-CN" sz="1800" b="1" dirty="0" smtClean="0">
                  <a:latin typeface="宋体" panose="02010600030101010101" pitchFamily="2" charset="-122"/>
                </a:rPr>
                <a:t>REG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5" name="Line 188"/>
            <p:cNvSpPr>
              <a:spLocks noChangeShapeType="1"/>
            </p:cNvSpPr>
            <p:nvPr/>
          </p:nvSpPr>
          <p:spPr bwMode="auto">
            <a:xfrm flipH="1" flipV="1">
              <a:off x="2557092" y="4075483"/>
              <a:ext cx="3385096" cy="1662"/>
            </a:xfrm>
            <a:prstGeom prst="line">
              <a:avLst/>
            </a:prstGeom>
            <a:noFill/>
            <a:ln w="19050">
              <a:solidFill>
                <a:srgbClr val="CC33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189"/>
            <p:cNvSpPr>
              <a:spLocks noChangeShapeType="1"/>
            </p:cNvSpPr>
            <p:nvPr/>
          </p:nvSpPr>
          <p:spPr bwMode="auto">
            <a:xfrm flipV="1">
              <a:off x="2557092" y="4148582"/>
              <a:ext cx="3385096" cy="158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Text Box 203"/>
            <p:cNvSpPr txBox="1">
              <a:spLocks noChangeArrowheads="1"/>
            </p:cNvSpPr>
            <p:nvPr/>
          </p:nvSpPr>
          <p:spPr bwMode="auto">
            <a:xfrm>
              <a:off x="5942188" y="3789040"/>
              <a:ext cx="359320" cy="1800200"/>
            </a:xfrm>
            <a:prstGeom prst="rect">
              <a:avLst/>
            </a:prstGeom>
            <a:solidFill>
              <a:srgbClr val="CC99FF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vert="ea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DMA</a:t>
              </a:r>
              <a:r>
                <a:rPr lang="zh-CN" altLang="en-US" sz="1800" b="1" dirty="0" smtClean="0">
                  <a:latin typeface="宋体" panose="02010600030101010101" pitchFamily="2" charset="-122"/>
                </a:rPr>
                <a:t>请求判优逻辑</a:t>
              </a:r>
              <a:endParaRPr lang="zh-CN" altLang="en-US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18" name="Line 212"/>
            <p:cNvSpPr>
              <a:spLocks noChangeShapeType="1"/>
            </p:cNvSpPr>
            <p:nvPr/>
          </p:nvSpPr>
          <p:spPr bwMode="auto">
            <a:xfrm flipH="1">
              <a:off x="4501308" y="4509120"/>
              <a:ext cx="0" cy="14520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0" name="直接箭头连接符 9"/>
            <p:cNvCxnSpPr>
              <a:stCxn id="111" idx="1"/>
              <a:endCxn id="396486" idx="0"/>
            </p:cNvCxnSpPr>
            <p:nvPr/>
          </p:nvCxnSpPr>
          <p:spPr bwMode="auto">
            <a:xfrm rot="10800000" flipV="1">
              <a:off x="3205141" y="4365451"/>
              <a:ext cx="1152895" cy="288875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27" name="Line 212"/>
            <p:cNvSpPr>
              <a:spLocks noChangeShapeType="1"/>
            </p:cNvSpPr>
            <p:nvPr/>
          </p:nvSpPr>
          <p:spPr bwMode="auto">
            <a:xfrm flipH="1">
              <a:off x="5437412" y="4509120"/>
              <a:ext cx="0" cy="145207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Line 212"/>
            <p:cNvSpPr>
              <a:spLocks noChangeShapeType="1"/>
            </p:cNvSpPr>
            <p:nvPr/>
          </p:nvSpPr>
          <p:spPr bwMode="auto">
            <a:xfrm flipH="1">
              <a:off x="4429300" y="5228009"/>
              <a:ext cx="0" cy="217562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Line 212"/>
            <p:cNvSpPr>
              <a:spLocks noChangeShapeType="1"/>
            </p:cNvSpPr>
            <p:nvPr/>
          </p:nvSpPr>
          <p:spPr bwMode="auto">
            <a:xfrm flipH="1">
              <a:off x="3205164" y="5229200"/>
              <a:ext cx="0" cy="217562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31" name="直接箭头连接符 9"/>
            <p:cNvCxnSpPr>
              <a:stCxn id="396497" idx="2"/>
            </p:cNvCxnSpPr>
            <p:nvPr/>
          </p:nvCxnSpPr>
          <p:spPr bwMode="auto">
            <a:xfrm rot="5400000">
              <a:off x="2845112" y="4221100"/>
              <a:ext cx="72008" cy="3096320"/>
            </a:xfrm>
            <a:prstGeom prst="bentConnector2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36" name="直接箭头连接符 9"/>
            <p:cNvCxnSpPr>
              <a:stCxn id="396497" idx="3"/>
              <a:endCxn id="396490" idx="2"/>
            </p:cNvCxnSpPr>
            <p:nvPr/>
          </p:nvCxnSpPr>
          <p:spPr bwMode="auto">
            <a:xfrm flipV="1">
              <a:off x="4933307" y="5229795"/>
              <a:ext cx="518381" cy="359793"/>
            </a:xfrm>
            <a:prstGeom prst="bentConnector2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0" name="直接箭头连接符 9"/>
            <p:cNvCxnSpPr>
              <a:endCxn id="396490" idx="3"/>
            </p:cNvCxnSpPr>
            <p:nvPr/>
          </p:nvCxnSpPr>
          <p:spPr bwMode="auto">
            <a:xfrm flipH="1">
              <a:off x="5753995" y="4940473"/>
              <a:ext cx="188193" cy="993"/>
            </a:xfrm>
            <a:prstGeom prst="straightConnector1">
              <a:avLst/>
            </a:prstGeom>
            <a:noFill/>
            <a:ln w="19050" cap="flat" cmpd="sng" algn="ctr">
              <a:solidFill>
                <a:srgbClr val="990099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43" name="直接箭头连接符 9"/>
            <p:cNvCxnSpPr/>
            <p:nvPr/>
          </p:nvCxnSpPr>
          <p:spPr bwMode="auto">
            <a:xfrm rot="10800000" flipV="1">
              <a:off x="6304785" y="4220318"/>
              <a:ext cx="930109" cy="288454"/>
            </a:xfrm>
            <a:prstGeom prst="bentConnector3">
              <a:avLst>
                <a:gd name="adj1" fmla="val -66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50" name="直接箭头连接符 9"/>
            <p:cNvCxnSpPr/>
            <p:nvPr/>
          </p:nvCxnSpPr>
          <p:spPr bwMode="auto">
            <a:xfrm flipV="1">
              <a:off x="6304784" y="4220319"/>
              <a:ext cx="1075528" cy="360808"/>
            </a:xfrm>
            <a:prstGeom prst="bentConnector3">
              <a:avLst>
                <a:gd name="adj1" fmla="val 99594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57" name="Text Box 204"/>
            <p:cNvSpPr txBox="1">
              <a:spLocks noChangeArrowheads="1"/>
            </p:cNvSpPr>
            <p:nvPr/>
          </p:nvSpPr>
          <p:spPr bwMode="auto">
            <a:xfrm>
              <a:off x="8100469" y="3645024"/>
              <a:ext cx="720003" cy="575295"/>
            </a:xfrm>
            <a:prstGeom prst="rect">
              <a:avLst/>
            </a:prstGeom>
            <a:solidFill>
              <a:srgbClr val="FFCC99">
                <a:alpha val="80000"/>
              </a:srgbClr>
            </a:solidFill>
            <a:ln w="15875">
              <a:solidFill>
                <a:schemeClr val="tx1"/>
              </a:solidFill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I/O</a:t>
              </a:r>
              <a:endParaRPr lang="en-US" altLang="zh-CN" sz="1800" b="1" dirty="0" smtClean="0">
                <a:latin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</a:pPr>
              <a:r>
                <a:rPr lang="zh-CN" altLang="en-US" sz="1800" b="1" dirty="0" smtClean="0">
                  <a:latin typeface="宋体" panose="02010600030101010101" pitchFamily="2" charset="-122"/>
                </a:rPr>
                <a:t>接口</a:t>
              </a:r>
              <a:r>
                <a:rPr lang="en-US" altLang="zh-CN" sz="1800" b="1" dirty="0">
                  <a:latin typeface="宋体" panose="02010600030101010101" pitchFamily="2" charset="-122"/>
                </a:rPr>
                <a:t>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58" name="Line 221"/>
            <p:cNvSpPr>
              <a:spLocks noChangeShapeType="1"/>
            </p:cNvSpPr>
            <p:nvPr/>
          </p:nvSpPr>
          <p:spPr bwMode="auto">
            <a:xfrm flipH="1">
              <a:off x="8460432" y="3286571"/>
              <a:ext cx="0" cy="358776"/>
            </a:xfrm>
            <a:prstGeom prst="line">
              <a:avLst/>
            </a:prstGeom>
            <a:noFill/>
            <a:ln w="28575" cmpd="dbl">
              <a:solidFill>
                <a:srgbClr val="CC3300"/>
              </a:solidFill>
              <a:prstDash val="solid"/>
              <a:round/>
              <a:headEnd type="non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Line 222"/>
            <p:cNvSpPr>
              <a:spLocks noChangeShapeType="1"/>
            </p:cNvSpPr>
            <p:nvPr/>
          </p:nvSpPr>
          <p:spPr bwMode="auto">
            <a:xfrm>
              <a:off x="8676456" y="3284984"/>
              <a:ext cx="0" cy="360041"/>
            </a:xfrm>
            <a:prstGeom prst="line">
              <a:avLst/>
            </a:prstGeom>
            <a:noFill/>
            <a:ln w="28575" cmpd="dbl">
              <a:solidFill>
                <a:schemeClr val="accent2"/>
              </a:solidFill>
              <a:prstDash val="solid"/>
              <a:round/>
              <a:headEnd type="triangle" w="med" len="sm"/>
              <a:tailEnd type="triangle" w="med" len="sm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Line 223"/>
            <p:cNvSpPr>
              <a:spLocks noChangeShapeType="1"/>
            </p:cNvSpPr>
            <p:nvPr/>
          </p:nvSpPr>
          <p:spPr bwMode="auto">
            <a:xfrm flipH="1">
              <a:off x="8316416" y="3284985"/>
              <a:ext cx="0" cy="360040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Line 224"/>
            <p:cNvSpPr>
              <a:spLocks noChangeShapeType="1"/>
            </p:cNvSpPr>
            <p:nvPr/>
          </p:nvSpPr>
          <p:spPr bwMode="auto">
            <a:xfrm>
              <a:off x="8244408" y="3284985"/>
              <a:ext cx="2359" cy="360362"/>
            </a:xfrm>
            <a:prstGeom prst="line">
              <a:avLst/>
            </a:prstGeom>
            <a:noFill/>
            <a:ln w="19050">
              <a:solidFill>
                <a:srgbClr val="FF3399"/>
              </a:solidFill>
              <a:prstDash val="solid"/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Text Box 200"/>
            <p:cNvSpPr txBox="1">
              <a:spLocks noChangeArrowheads="1"/>
            </p:cNvSpPr>
            <p:nvPr/>
          </p:nvSpPr>
          <p:spPr bwMode="auto">
            <a:xfrm>
              <a:off x="6516216" y="5084986"/>
              <a:ext cx="647700" cy="28892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DREQ3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sp>
          <p:nvSpPr>
            <p:cNvPr id="163" name="Text Box 201"/>
            <p:cNvSpPr txBox="1">
              <a:spLocks noChangeArrowheads="1"/>
            </p:cNvSpPr>
            <p:nvPr/>
          </p:nvSpPr>
          <p:spPr bwMode="auto">
            <a:xfrm>
              <a:off x="6518947" y="5445919"/>
              <a:ext cx="649288" cy="287337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 smtClean="0">
                  <a:latin typeface="宋体" panose="02010600030101010101" pitchFamily="2" charset="-122"/>
                </a:rPr>
                <a:t>DACK3</a:t>
              </a:r>
              <a:endParaRPr lang="en-US" altLang="zh-CN" sz="1800" b="1" dirty="0">
                <a:latin typeface="宋体" panose="02010600030101010101" pitchFamily="2" charset="-122"/>
              </a:endParaRPr>
            </a:p>
          </p:txBody>
        </p:sp>
        <p:cxnSp>
          <p:nvCxnSpPr>
            <p:cNvPr id="164" name="直接箭头连接符 9"/>
            <p:cNvCxnSpPr/>
            <p:nvPr/>
          </p:nvCxnSpPr>
          <p:spPr bwMode="auto">
            <a:xfrm rot="10800000" flipV="1">
              <a:off x="6301509" y="4221086"/>
              <a:ext cx="2084077" cy="1152129"/>
            </a:xfrm>
            <a:prstGeom prst="bentConnector3">
              <a:avLst>
                <a:gd name="adj1" fmla="val 31"/>
              </a:avLst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</p:spPr>
        </p:cxnSp>
        <p:cxnSp>
          <p:nvCxnSpPr>
            <p:cNvPr id="165" name="直接箭头连接符 9"/>
            <p:cNvCxnSpPr/>
            <p:nvPr/>
          </p:nvCxnSpPr>
          <p:spPr bwMode="auto">
            <a:xfrm flipV="1">
              <a:off x="6301508" y="4221089"/>
              <a:ext cx="2229492" cy="1224135"/>
            </a:xfrm>
            <a:prstGeom prst="bentConnector3">
              <a:avLst>
                <a:gd name="adj1" fmla="val 100128"/>
              </a:avLst>
            </a:prstGeom>
            <a:noFill/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triangle"/>
            </a:ln>
          </p:spPr>
        </p:cxnSp>
        <p:sp>
          <p:nvSpPr>
            <p:cNvPr id="178" name="Text Box 207"/>
            <p:cNvSpPr txBox="1">
              <a:spLocks noChangeArrowheads="1"/>
            </p:cNvSpPr>
            <p:nvPr/>
          </p:nvSpPr>
          <p:spPr bwMode="auto">
            <a:xfrm>
              <a:off x="6732240" y="4798417"/>
              <a:ext cx="253604" cy="358775"/>
            </a:xfrm>
            <a:prstGeom prst="rect">
              <a:avLst/>
            </a:prstGeom>
            <a:noFill/>
            <a:ln w="15875">
              <a:noFill/>
              <a:miter lim="800000"/>
            </a:ln>
            <a:effectLst/>
          </p:spPr>
          <p:txBody>
            <a:bodyPr vert="vert" lIns="18000" tIns="10800" rIns="18000" bIns="10800" anchor="ctr"/>
            <a:lstStyle/>
            <a:p>
              <a:pPr>
                <a:lnSpc>
                  <a:spcPct val="90000"/>
                </a:lnSpc>
              </a:pPr>
              <a:r>
                <a:rPr lang="en-US" altLang="zh-CN" sz="1800" b="1" dirty="0">
                  <a:latin typeface="+mn-ea"/>
                  <a:ea typeface="+mn-ea"/>
                </a:rPr>
                <a:t>…</a:t>
              </a:r>
              <a:endParaRPr lang="en-US" altLang="zh-CN" sz="1800" b="1" dirty="0">
                <a:latin typeface="+mn-ea"/>
                <a:ea typeface="+mn-ea"/>
              </a:endParaRPr>
            </a:p>
          </p:txBody>
        </p:sp>
        <p:cxnSp>
          <p:nvCxnSpPr>
            <p:cNvPr id="190" name="直接箭头连接符 9"/>
            <p:cNvCxnSpPr/>
            <p:nvPr/>
          </p:nvCxnSpPr>
          <p:spPr bwMode="auto">
            <a:xfrm flipH="1">
              <a:off x="5651400" y="4438105"/>
              <a:ext cx="288752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CC3300"/>
              </a:solidFill>
              <a:prstDash val="solid"/>
              <a:round/>
              <a:headEnd type="none" w="med" len="med"/>
              <a:tailEnd type="triangle"/>
            </a:ln>
          </p:spPr>
        </p:cxnSp>
      </p:grpSp>
      <p:sp>
        <p:nvSpPr>
          <p:cNvPr id="69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100392" y="6453336"/>
            <a:ext cx="1043608" cy="360040"/>
          </a:xfrm>
        </p:spPr>
        <p:txBody>
          <a:bodyPr/>
          <a:lstStyle/>
          <a:p>
            <a:fld id="{834B2BEC-31CD-4C9D-92D4-62FC8D1A3937}" type="slidenum">
              <a:rPr lang="en-US" altLang="zh-CN"/>
            </a:fld>
            <a:endParaRPr lang="en-US" altLang="zh-CN"/>
          </a:p>
        </p:txBody>
      </p:sp>
      <p:sp>
        <p:nvSpPr>
          <p:cNvPr id="70" name="Text Box 362"/>
          <p:cNvSpPr txBox="1">
            <a:spLocks noChangeArrowheads="1"/>
          </p:cNvSpPr>
          <p:nvPr/>
        </p:nvSpPr>
        <p:spPr bwMode="auto">
          <a:xfrm>
            <a:off x="753690" y="5949280"/>
            <a:ext cx="3602286" cy="461665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作业</a:t>
            </a:r>
            <a:r>
              <a:rPr lang="en-US" altLang="zh-CN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7-3</a:t>
            </a:r>
            <a:r>
              <a:rPr lang="zh-CN" altLang="en-US" b="1" dirty="0" smtClean="0">
                <a:solidFill>
                  <a:srgbClr val="CC3300"/>
                </a:solidFill>
                <a:latin typeface="宋体" panose="02010600030101010101" pitchFamily="2" charset="-122"/>
              </a:rPr>
              <a:t>：</a:t>
            </a:r>
            <a:r>
              <a:rPr lang="en-US" altLang="zh-CN" b="1" dirty="0">
                <a:latin typeface="宋体" panose="02010600030101010101" pitchFamily="2" charset="-122"/>
              </a:rPr>
              <a:t>P294—</a:t>
            </a:r>
            <a:r>
              <a:rPr lang="en-US" altLang="zh-CN" b="1" dirty="0">
                <a:solidFill>
                  <a:srgbClr val="CC3300"/>
                </a:solidFill>
                <a:latin typeface="宋体" panose="02010600030101010101" pitchFamily="2" charset="-122"/>
              </a:rPr>
              <a:t> </a:t>
            </a:r>
            <a:r>
              <a:rPr lang="en-US" altLang="zh-CN" b="1" dirty="0" smtClean="0">
                <a:latin typeface="宋体" panose="02010600030101010101" pitchFamily="2" charset="-122"/>
              </a:rPr>
              <a:t>25</a:t>
            </a:r>
            <a:r>
              <a:rPr lang="zh-CN" altLang="en-US" b="1" dirty="0" smtClean="0">
                <a:latin typeface="宋体" panose="02010600030101010101" pitchFamily="2" charset="-122"/>
              </a:rPr>
              <a:t>、</a:t>
            </a:r>
            <a:r>
              <a:rPr lang="en-US" altLang="zh-CN" b="1" dirty="0" smtClean="0">
                <a:latin typeface="宋体" panose="02010600030101010101" pitchFamily="2" charset="-122"/>
              </a:rPr>
              <a:t>29</a:t>
            </a:r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72" name="AutoShape 62">
            <a:hlinkClick r:id="rId1" action="ppaction://hlinksldjump"/>
          </p:cNvPr>
          <p:cNvSpPr>
            <a:spLocks noChangeArrowheads="1"/>
          </p:cNvSpPr>
          <p:nvPr/>
        </p:nvSpPr>
        <p:spPr bwMode="auto">
          <a:xfrm rot="16200000">
            <a:off x="7452669" y="6237657"/>
            <a:ext cx="287337" cy="864098"/>
          </a:xfrm>
          <a:prstGeom prst="homePlate">
            <a:avLst>
              <a:gd name="adj" fmla="val 25000"/>
            </a:avLst>
          </a:prstGeom>
          <a:noFill/>
          <a:ln w="19050">
            <a:solidFill>
              <a:srgbClr val="808080"/>
            </a:solidFill>
            <a:miter lim="800000"/>
          </a:ln>
          <a:effectLst/>
        </p:spPr>
        <p:txBody>
          <a:bodyPr vert="vert" wrap="none" lIns="0" tIns="0" rIns="0" bIns="0" anchor="ctr"/>
          <a:lstStyle/>
          <a:p>
            <a:pPr algn="ctr"/>
            <a:r>
              <a:rPr lang="zh-CN" altLang="en-US" sz="1600" u="none" dirty="0" smtClean="0">
                <a:solidFill>
                  <a:schemeClr val="bg2"/>
                </a:solidFill>
                <a:latin typeface="+mn-ea"/>
                <a:ea typeface="+mn-ea"/>
              </a:rPr>
              <a:t>回目录</a:t>
            </a:r>
            <a:endParaRPr lang="zh-CN" altLang="en-US" sz="1600" u="none" dirty="0">
              <a:solidFill>
                <a:schemeClr val="bg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96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96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  <p:tag name="TABLE_ENDDRAG_ORIGIN_RECT" val="582*135"/>
  <p:tag name="TABLE_ENDDRAG_RECT" val="87*265*582*135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BEAUTIFY_FLAG" val=""/>
</p:tagLst>
</file>

<file path=ppt/tags/tag318.xml><?xml version="1.0" encoding="utf-8"?>
<p:tagLst xmlns:p="http://schemas.openxmlformats.org/presentationml/2006/main">
  <p:tag name="KSO_WM_BEAUTIFY_FLAG" val="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M_BEAUTIFY_FLAG" val=""/>
</p:tagLst>
</file>

<file path=ppt/tags/tag389.xml><?xml version="1.0" encoding="utf-8"?>
<p:tagLst xmlns:p="http://schemas.openxmlformats.org/presentationml/2006/main">
  <p:tag name="KSO_WM_BEAUTIFY_FLAG" val=""/>
</p:tagLst>
</file>

<file path=ppt/tags/tag390.xml><?xml version="1.0" encoding="utf-8"?>
<p:tagLst xmlns:p="http://schemas.openxmlformats.org/presentationml/2006/main">
  <p:tag name="KSO_WM_BEAUTIFY_FLAG" val=""/>
</p:tagLst>
</file>

<file path=ppt/tags/tag391.xml><?xml version="1.0" encoding="utf-8"?>
<p:tagLst xmlns:p="http://schemas.openxmlformats.org/presentationml/2006/main">
  <p:tag name="KSO_WM_BEAUTIFY_FLAG" val=""/>
</p:tagLst>
</file>

<file path=ppt/tags/tag392.xml><?xml version="1.0" encoding="utf-8"?>
<p:tagLst xmlns:p="http://schemas.openxmlformats.org/presentationml/2006/main">
  <p:tag name="KSO_WM_BEAUTIFY_FLAG" val=""/>
</p:tagLst>
</file>

<file path=ppt/tags/tag393.xml><?xml version="1.0" encoding="utf-8"?>
<p:tagLst xmlns:p="http://schemas.openxmlformats.org/presentationml/2006/main">
  <p:tag name="KSO_WM_BEAUTIFY_FLAG" val=""/>
</p:tagLst>
</file>

<file path=ppt/tags/tag394.xml><?xml version="1.0" encoding="utf-8"?>
<p:tagLst xmlns:p="http://schemas.openxmlformats.org/presentationml/2006/main">
  <p:tag name="KSO_WM_BEAUTIFY_FLAG" val=""/>
</p:tagLst>
</file>

<file path=ppt/tags/tag395.xml><?xml version="1.0" encoding="utf-8"?>
<p:tagLst xmlns:p="http://schemas.openxmlformats.org/presentationml/2006/main">
  <p:tag name="KSO_WM_BEAUTIFY_FLAG" val=""/>
</p:tagLst>
</file>

<file path=ppt/tags/tag396.xml><?xml version="1.0" encoding="utf-8"?>
<p:tagLst xmlns:p="http://schemas.openxmlformats.org/presentationml/2006/main">
  <p:tag name="KSO_WM_BEAUTIFY_FLAG" val=""/>
</p:tagLst>
</file>

<file path=ppt/tags/tag397.xml><?xml version="1.0" encoding="utf-8"?>
<p:tagLst xmlns:p="http://schemas.openxmlformats.org/presentationml/2006/main">
  <p:tag name="KSO_WM_BEAUTIFY_FLAG" val=""/>
</p:tagLst>
</file>

<file path=ppt/tags/tag398.xml><?xml version="1.0" encoding="utf-8"?>
<p:tagLst xmlns:p="http://schemas.openxmlformats.org/presentationml/2006/main">
  <p:tag name="KSO_WM_BEAUTIFY_FLAG" val=""/>
</p:tagLst>
</file>

<file path=ppt/tags/tag399.xml><?xml version="1.0" encoding="utf-8"?>
<p:tagLst xmlns:p="http://schemas.openxmlformats.org/presentationml/2006/main">
  <p:tag name="KSO_WM_BEAUTIFY_FLAG" val=""/>
</p:tagLst>
</file>

<file path=ppt/tags/tag400.xml><?xml version="1.0" encoding="utf-8"?>
<p:tagLst xmlns:p="http://schemas.openxmlformats.org/presentationml/2006/main">
  <p:tag name="KSO_WM_BEAUTIFY_FLAG" val=""/>
</p:tagLst>
</file>

<file path=ppt/tags/tag401.xml><?xml version="1.0" encoding="utf-8"?>
<p:tagLst xmlns:p="http://schemas.openxmlformats.org/presentationml/2006/main">
  <p:tag name="KSO_WM_BEAUTIFY_FLAG" val=""/>
</p:tagLst>
</file>

<file path=ppt/tags/tag402.xml><?xml version="1.0" encoding="utf-8"?>
<p:tagLst xmlns:p="http://schemas.openxmlformats.org/presentationml/2006/main">
  <p:tag name="KSO_WM_BEAUTIFY_FLAG" val=""/>
</p:tagLst>
</file>

<file path=ppt/tags/tag403.xml><?xml version="1.0" encoding="utf-8"?>
<p:tagLst xmlns:p="http://schemas.openxmlformats.org/presentationml/2006/main">
  <p:tag name="KSO_WM_BEAUTIFY_FLAG" val=""/>
</p:tagLst>
</file>

<file path=ppt/tags/tag404.xml><?xml version="1.0" encoding="utf-8"?>
<p:tagLst xmlns:p="http://schemas.openxmlformats.org/presentationml/2006/main">
  <p:tag name="KSO_WM_BEAUTIFY_FLAG" val=""/>
</p:tagLst>
</file>

<file path=ppt/tags/tag405.xml><?xml version="1.0" encoding="utf-8"?>
<p:tagLst xmlns:p="http://schemas.openxmlformats.org/presentationml/2006/main">
  <p:tag name="KSO_WM_BEAUTIFY_FLAG" val=""/>
</p:tagLst>
</file>

<file path=ppt/tags/tag406.xml><?xml version="1.0" encoding="utf-8"?>
<p:tagLst xmlns:p="http://schemas.openxmlformats.org/presentationml/2006/main">
  <p:tag name="KSO_WM_BEAUTIFY_FLAG" val=""/>
</p:tagLst>
</file>

<file path=ppt/tags/tag407.xml><?xml version="1.0" encoding="utf-8"?>
<p:tagLst xmlns:p="http://schemas.openxmlformats.org/presentationml/2006/main">
  <p:tag name="KSO_WM_BEAUTIFY_FLAG" val=""/>
</p:tagLst>
</file>

<file path=ppt/tags/tag408.xml><?xml version="1.0" encoding="utf-8"?>
<p:tagLst xmlns:p="http://schemas.openxmlformats.org/presentationml/2006/main">
  <p:tag name="KSO_WM_BEAUTIFY_FLAG" val=""/>
</p:tagLst>
</file>

<file path=ppt/tags/tag409.xml><?xml version="1.0" encoding="utf-8"?>
<p:tagLst xmlns:p="http://schemas.openxmlformats.org/presentationml/2006/main">
  <p:tag name="KSO_WM_BEAUTIFY_FLAG" val=""/>
</p:tagLst>
</file>

<file path=ppt/tags/tag410.xml><?xml version="1.0" encoding="utf-8"?>
<p:tagLst xmlns:p="http://schemas.openxmlformats.org/presentationml/2006/main">
  <p:tag name="KSO_WM_BEAUTIFY_FLAG" val=""/>
</p:tagLst>
</file>

<file path=ppt/tags/tag411.xml><?xml version="1.0" encoding="utf-8"?>
<p:tagLst xmlns:p="http://schemas.openxmlformats.org/presentationml/2006/main">
  <p:tag name="KSO_WM_BEAUTIFY_FLAG" val=""/>
</p:tagLst>
</file>

<file path=ppt/tags/tag412.xml><?xml version="1.0" encoding="utf-8"?>
<p:tagLst xmlns:p="http://schemas.openxmlformats.org/presentationml/2006/main">
  <p:tag name="KSO_WM_BEAUTIFY_FLAG" val=""/>
</p:tagLst>
</file>

<file path=ppt/tags/tag413.xml><?xml version="1.0" encoding="utf-8"?>
<p:tagLst xmlns:p="http://schemas.openxmlformats.org/presentationml/2006/main">
  <p:tag name="KSO_WM_BEAUTIFY_FLAG" val="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</p:tagLst>
</file>

<file path=ppt/tags/tag416.xml><?xml version="1.0" encoding="utf-8"?>
<p:tagLst xmlns:p="http://schemas.openxmlformats.org/presentationml/2006/main">
  <p:tag name="KSO_WM_BEAUTIFY_FLAG" val=""/>
</p:tagLst>
</file>

<file path=ppt/tags/tag417.xml><?xml version="1.0" encoding="utf-8"?>
<p:tagLst xmlns:p="http://schemas.openxmlformats.org/presentationml/2006/main">
  <p:tag name="KSO_WM_BEAUTIFY_FLAG" val=""/>
</p:tagLst>
</file>

<file path=ppt/tags/tag418.xml><?xml version="1.0" encoding="utf-8"?>
<p:tagLst xmlns:p="http://schemas.openxmlformats.org/presentationml/2006/main">
  <p:tag name="KSO_WM_BEAUTIFY_FLAG" val=""/>
</p:tagLst>
</file>

<file path=ppt/tags/tag419.xml><?xml version="1.0" encoding="utf-8"?>
<p:tagLst xmlns:p="http://schemas.openxmlformats.org/presentationml/2006/main">
  <p:tag name="KSO_WM_BEAUTIFY_FLAG" val=""/>
</p:tagLst>
</file>

<file path=ppt/tags/tag420.xml><?xml version="1.0" encoding="utf-8"?>
<p:tagLst xmlns:p="http://schemas.openxmlformats.org/presentationml/2006/main">
  <p:tag name="KSO_WM_BEAUTIFY_FLAG" val=""/>
</p:tagLst>
</file>

<file path=ppt/tags/tag421.xml><?xml version="1.0" encoding="utf-8"?>
<p:tagLst xmlns:p="http://schemas.openxmlformats.org/presentationml/2006/main">
  <p:tag name="KSO_WM_BEAUTIFY_FLAG" val=""/>
</p:tagLst>
</file>

<file path=ppt/tags/tag422.xml><?xml version="1.0" encoding="utf-8"?>
<p:tagLst xmlns:p="http://schemas.openxmlformats.org/presentationml/2006/main">
  <p:tag name="KSO_WM_BEAUTIFY_FLAG" val=""/>
</p:tagLst>
</file>

<file path=ppt/tags/tag423.xml><?xml version="1.0" encoding="utf-8"?>
<p:tagLst xmlns:p="http://schemas.openxmlformats.org/presentationml/2006/main">
  <p:tag name="KSO_WM_BEAUTIFY_FLAG" val=""/>
</p:tagLst>
</file>

<file path=ppt/tags/tag424.xml><?xml version="1.0" encoding="utf-8"?>
<p:tagLst xmlns:p="http://schemas.openxmlformats.org/presentationml/2006/main">
  <p:tag name="KSO_WM_BEAUTIFY_FLAG" val=""/>
</p:tagLst>
</file>

<file path=ppt/tags/tag425.xml><?xml version="1.0" encoding="utf-8"?>
<p:tagLst xmlns:p="http://schemas.openxmlformats.org/presentationml/2006/main">
  <p:tag name="KSO_WM_BEAUTIFY_FLAG" val=""/>
</p:tagLst>
</file>

<file path=ppt/tags/tag426.xml><?xml version="1.0" encoding="utf-8"?>
<p:tagLst xmlns:p="http://schemas.openxmlformats.org/presentationml/2006/main">
  <p:tag name="KSO_WM_BEAUTIFY_FLAG" val=""/>
</p:tagLst>
</file>

<file path=ppt/tags/tag427.xml><?xml version="1.0" encoding="utf-8"?>
<p:tagLst xmlns:p="http://schemas.openxmlformats.org/presentationml/2006/main">
  <p:tag name="KSO_WM_BEAUTIFY_FLAG" val=""/>
</p:tagLst>
</file>

<file path=ppt/tags/tag428.xml><?xml version="1.0" encoding="utf-8"?>
<p:tagLst xmlns:p="http://schemas.openxmlformats.org/presentationml/2006/main">
  <p:tag name="KSO_WM_BEAUTIFY_FLAG" val=""/>
</p:tagLst>
</file>

<file path=ppt/tags/tag429.xml><?xml version="1.0" encoding="utf-8"?>
<p:tagLst xmlns:p="http://schemas.openxmlformats.org/presentationml/2006/main">
  <p:tag name="KSO_WM_BEAUTIFY_FLAG" val=""/>
</p:tagLst>
</file>

<file path=ppt/tags/tag430.xml><?xml version="1.0" encoding="utf-8"?>
<p:tagLst xmlns:p="http://schemas.openxmlformats.org/presentationml/2006/main">
  <p:tag name="KSO_WM_BEAUTIFY_FLAG" val=""/>
</p:tagLst>
</file>

<file path=ppt/tags/tag431.xml><?xml version="1.0" encoding="utf-8"?>
<p:tagLst xmlns:p="http://schemas.openxmlformats.org/presentationml/2006/main">
  <p:tag name="KSO_WM_BEAUTIFY_FLAG" val=""/>
</p:tagLst>
</file>

<file path=ppt/tags/tag432.xml><?xml version="1.0" encoding="utf-8"?>
<p:tagLst xmlns:p="http://schemas.openxmlformats.org/presentationml/2006/main">
  <p:tag name="KSO_WM_BEAUTIFY_FLAG" val=""/>
</p:tagLst>
</file>

<file path=ppt/tags/tag433.xml><?xml version="1.0" encoding="utf-8"?>
<p:tagLst xmlns:p="http://schemas.openxmlformats.org/presentationml/2006/main">
  <p:tag name="KSO_WM_BEAUTIFY_FLAG" val="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</p:tagLst>
</file>

<file path=ppt/tags/tag436.xml><?xml version="1.0" encoding="utf-8"?>
<p:tagLst xmlns:p="http://schemas.openxmlformats.org/presentationml/2006/main">
  <p:tag name="KSO_WM_BEAUTIFY_FLAG" val=""/>
</p:tagLst>
</file>

<file path=ppt/tags/tag437.xml><?xml version="1.0" encoding="utf-8"?>
<p:tagLst xmlns:p="http://schemas.openxmlformats.org/presentationml/2006/main">
  <p:tag name="KSO_WM_BEAUTIFY_FLAG" val=""/>
</p:tagLst>
</file>

<file path=ppt/tags/tag438.xml><?xml version="1.0" encoding="utf-8"?>
<p:tagLst xmlns:p="http://schemas.openxmlformats.org/presentationml/2006/main">
  <p:tag name="KSO_WM_BEAUTIFY_FLAG" val=""/>
</p:tagLst>
</file>

<file path=ppt/tags/tag439.xml><?xml version="1.0" encoding="utf-8"?>
<p:tagLst xmlns:p="http://schemas.openxmlformats.org/presentationml/2006/main">
  <p:tag name="KSO_WM_BEAUTIFY_FLAG" val=""/>
</p:tagLst>
</file>

<file path=ppt/tags/tag440.xml><?xml version="1.0" encoding="utf-8"?>
<p:tagLst xmlns:p="http://schemas.openxmlformats.org/presentationml/2006/main">
  <p:tag name="KSO_WM_BEAUTIFY_FLAG" val=""/>
</p:tagLst>
</file>

<file path=ppt/tags/tag441.xml><?xml version="1.0" encoding="utf-8"?>
<p:tagLst xmlns:p="http://schemas.openxmlformats.org/presentationml/2006/main">
  <p:tag name="KSO_WM_BEAUTIFY_FLAG" val=""/>
</p:tagLst>
</file>

<file path=ppt/tags/tag442.xml><?xml version="1.0" encoding="utf-8"?>
<p:tagLst xmlns:p="http://schemas.openxmlformats.org/presentationml/2006/main">
  <p:tag name="KSO_WM_BEAUTIFY_FLAG" val=""/>
</p:tagLst>
</file>

<file path=ppt/tags/tag443.xml><?xml version="1.0" encoding="utf-8"?>
<p:tagLst xmlns:p="http://schemas.openxmlformats.org/presentationml/2006/main">
  <p:tag name="KSO_WM_BEAUTIFY_FLAG" val=""/>
</p:tagLst>
</file>

<file path=ppt/tags/tag444.xml><?xml version="1.0" encoding="utf-8"?>
<p:tagLst xmlns:p="http://schemas.openxmlformats.org/presentationml/2006/main">
  <p:tag name="KSO_WM_BEAUTIFY_FLAG" val=""/>
</p:tagLst>
</file>

<file path=ppt/tags/tag445.xml><?xml version="1.0" encoding="utf-8"?>
<p:tagLst xmlns:p="http://schemas.openxmlformats.org/presentationml/2006/main">
  <p:tag name="KSO_WM_BEAUTIFY_FLAG" val=""/>
</p:tagLst>
</file>

<file path=ppt/tags/tag446.xml><?xml version="1.0" encoding="utf-8"?>
<p:tagLst xmlns:p="http://schemas.openxmlformats.org/presentationml/2006/main">
  <p:tag name="KSO_WM_BEAUTIFY_FLAG" val=""/>
</p:tagLst>
</file>

<file path=ppt/tags/tag447.xml><?xml version="1.0" encoding="utf-8"?>
<p:tagLst xmlns:p="http://schemas.openxmlformats.org/presentationml/2006/main">
  <p:tag name="KSO_WM_BEAUTIFY_FLAG" val=""/>
</p:tagLst>
</file>

<file path=ppt/tags/tag448.xml><?xml version="1.0" encoding="utf-8"?>
<p:tagLst xmlns:p="http://schemas.openxmlformats.org/presentationml/2006/main">
  <p:tag name="KSO_WM_BEAUTIFY_FLAG" val=""/>
</p:tagLst>
</file>

<file path=ppt/tags/tag449.xml><?xml version="1.0" encoding="utf-8"?>
<p:tagLst xmlns:p="http://schemas.openxmlformats.org/presentationml/2006/main">
  <p:tag name="KSO_WM_BEAUTIFY_FLAG" val=""/>
</p:tagLst>
</file>

<file path=ppt/tags/tag450.xml><?xml version="1.0" encoding="utf-8"?>
<p:tagLst xmlns:p="http://schemas.openxmlformats.org/presentationml/2006/main">
  <p:tag name="KSO_WM_BEAUTIFY_FLAG" val=""/>
</p:tagLst>
</file>

<file path=ppt/tags/tag451.xml><?xml version="1.0" encoding="utf-8"?>
<p:tagLst xmlns:p="http://schemas.openxmlformats.org/presentationml/2006/main">
  <p:tag name="KSO_WM_BEAUTIFY_FLAG" val=""/>
</p:tagLst>
</file>

<file path=ppt/tags/tag452.xml><?xml version="1.0" encoding="utf-8"?>
<p:tagLst xmlns:p="http://schemas.openxmlformats.org/presentationml/2006/main">
  <p:tag name="KSO_WM_BEAUTIFY_FLAG" val=""/>
</p:tagLst>
</file>

<file path=ppt/tags/tag453.xml><?xml version="1.0" encoding="utf-8"?>
<p:tagLst xmlns:p="http://schemas.openxmlformats.org/presentationml/2006/main">
  <p:tag name="KSO_WM_BEAUTIFY_FLAG" val="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</p:tagLst>
</file>

<file path=ppt/tags/tag456.xml><?xml version="1.0" encoding="utf-8"?>
<p:tagLst xmlns:p="http://schemas.openxmlformats.org/presentationml/2006/main">
  <p:tag name="KSO_WM_BEAUTIFY_FLAG" val=""/>
</p:tagLst>
</file>

<file path=ppt/tags/tag457.xml><?xml version="1.0" encoding="utf-8"?>
<p:tagLst xmlns:p="http://schemas.openxmlformats.org/presentationml/2006/main">
  <p:tag name="KSO_WM_BEAUTIFY_FLAG" val=""/>
</p:tagLst>
</file>

<file path=ppt/tags/tag458.xml><?xml version="1.0" encoding="utf-8"?>
<p:tagLst xmlns:p="http://schemas.openxmlformats.org/presentationml/2006/main">
  <p:tag name="KSO_WM_BEAUTIFY_FLAG" val=""/>
</p:tagLst>
</file>

<file path=ppt/tags/tag459.xml><?xml version="1.0" encoding="utf-8"?>
<p:tagLst xmlns:p="http://schemas.openxmlformats.org/presentationml/2006/main">
  <p:tag name="KSO_WM_BEAUTIFY_FLAG" val=""/>
</p:tagLst>
</file>

<file path=ppt/tags/tag460.xml><?xml version="1.0" encoding="utf-8"?>
<p:tagLst xmlns:p="http://schemas.openxmlformats.org/presentationml/2006/main">
  <p:tag name="KSO_WM_BEAUTIFY_FLAG" val=""/>
</p:tagLst>
</file>

<file path=ppt/tags/tag461.xml><?xml version="1.0" encoding="utf-8"?>
<p:tagLst xmlns:p="http://schemas.openxmlformats.org/presentationml/2006/main">
  <p:tag name="KSO_WM_BEAUTIFY_FLAG" val=""/>
</p:tagLst>
</file>

<file path=ppt/tags/tag462.xml><?xml version="1.0" encoding="utf-8"?>
<p:tagLst xmlns:p="http://schemas.openxmlformats.org/presentationml/2006/main">
  <p:tag name="KSO_WM_BEAUTIFY_FLAG" val=""/>
</p:tagLst>
</file>

<file path=ppt/tags/tag463.xml><?xml version="1.0" encoding="utf-8"?>
<p:tagLst xmlns:p="http://schemas.openxmlformats.org/presentationml/2006/main">
  <p:tag name="KSO_WM_BEAUTIFY_FLAG" val=""/>
</p:tagLst>
</file>

<file path=ppt/tags/tag464.xml><?xml version="1.0" encoding="utf-8"?>
<p:tagLst xmlns:p="http://schemas.openxmlformats.org/presentationml/2006/main">
  <p:tag name="KSO_WM_BEAUTIFY_FLAG" val=""/>
</p:tagLst>
</file>

<file path=ppt/tags/tag465.xml><?xml version="1.0" encoding="utf-8"?>
<p:tagLst xmlns:p="http://schemas.openxmlformats.org/presentationml/2006/main">
  <p:tag name="KSO_WM_BEAUTIFY_FLAG" val=""/>
</p:tagLst>
</file>

<file path=ppt/tags/tag466.xml><?xml version="1.0" encoding="utf-8"?>
<p:tagLst xmlns:p="http://schemas.openxmlformats.org/presentationml/2006/main">
  <p:tag name="KSO_WM_BEAUTIFY_FLAG" val=""/>
</p:tagLst>
</file>

<file path=ppt/tags/tag467.xml><?xml version="1.0" encoding="utf-8"?>
<p:tagLst xmlns:p="http://schemas.openxmlformats.org/presentationml/2006/main">
  <p:tag name="KSO_WM_BEAUTIFY_FLAG" val=""/>
</p:tagLst>
</file>

<file path=ppt/tags/tag468.xml><?xml version="1.0" encoding="utf-8"?>
<p:tagLst xmlns:p="http://schemas.openxmlformats.org/presentationml/2006/main">
  <p:tag name="KSO_WM_BEAUTIFY_FLAG" val=""/>
</p:tagLst>
</file>

<file path=ppt/tags/tag469.xml><?xml version="1.0" encoding="utf-8"?>
<p:tagLst xmlns:p="http://schemas.openxmlformats.org/presentationml/2006/main">
  <p:tag name="KSO_WM_BEAUTIFY_FLAG" val=""/>
</p:tagLst>
</file>

<file path=ppt/tags/tag470.xml><?xml version="1.0" encoding="utf-8"?>
<p:tagLst xmlns:p="http://schemas.openxmlformats.org/presentationml/2006/main">
  <p:tag name="KSO_WM_BEAUTIFY_FLAG" val=""/>
</p:tagLst>
</file>

<file path=ppt/tags/tag471.xml><?xml version="1.0" encoding="utf-8"?>
<p:tagLst xmlns:p="http://schemas.openxmlformats.org/presentationml/2006/main">
  <p:tag name="KSO_WM_BEAUTIFY_FLAG" val=""/>
</p:tagLst>
</file>

<file path=ppt/tags/tag472.xml><?xml version="1.0" encoding="utf-8"?>
<p:tagLst xmlns:p="http://schemas.openxmlformats.org/presentationml/2006/main">
  <p:tag name="KSO_WM_BEAUTIFY_FLAG" val=""/>
</p:tagLst>
</file>

<file path=ppt/tags/tag473.xml><?xml version="1.0" encoding="utf-8"?>
<p:tagLst xmlns:p="http://schemas.openxmlformats.org/presentationml/2006/main">
  <p:tag name="KSO_WM_BEAUTIFY_FLAG" val="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</p:tagLst>
</file>

<file path=ppt/tags/tag476.xml><?xml version="1.0" encoding="utf-8"?>
<p:tagLst xmlns:p="http://schemas.openxmlformats.org/presentationml/2006/main">
  <p:tag name="KSO_WM_BEAUTIFY_FLAG" val=""/>
</p:tagLst>
</file>

<file path=ppt/tags/tag477.xml><?xml version="1.0" encoding="utf-8"?>
<p:tagLst xmlns:p="http://schemas.openxmlformats.org/presentationml/2006/main">
  <p:tag name="KSO_WM_BEAUTIFY_FLAG" val=""/>
</p:tagLst>
</file>

<file path=ppt/tags/tag478.xml><?xml version="1.0" encoding="utf-8"?>
<p:tagLst xmlns:p="http://schemas.openxmlformats.org/presentationml/2006/main">
  <p:tag name="KSO_WM_BEAUTIFY_FLAG" val=""/>
</p:tagLst>
</file>

<file path=ppt/tags/tag479.xml><?xml version="1.0" encoding="utf-8"?>
<p:tagLst xmlns:p="http://schemas.openxmlformats.org/presentationml/2006/main">
  <p:tag name="KSO_WM_BEAUTIFY_FLAG" val=""/>
</p:tagLst>
</file>

<file path=ppt/tags/tag480.xml><?xml version="1.0" encoding="utf-8"?>
<p:tagLst xmlns:p="http://schemas.openxmlformats.org/presentationml/2006/main">
  <p:tag name="KSO_WM_BEAUTIFY_FLAG" val=""/>
</p:tagLst>
</file>

<file path=ppt/tags/tag481.xml><?xml version="1.0" encoding="utf-8"?>
<p:tagLst xmlns:p="http://schemas.openxmlformats.org/presentationml/2006/main">
  <p:tag name="KSO_WM_BEAUTIFY_FLAG" val=""/>
</p:tagLst>
</file>

<file path=ppt/tags/tag482.xml><?xml version="1.0" encoding="utf-8"?>
<p:tagLst xmlns:p="http://schemas.openxmlformats.org/presentationml/2006/main">
  <p:tag name="KSO_WM_BEAUTIFY_FLAG" val=""/>
</p:tagLst>
</file>

<file path=ppt/tags/tag483.xml><?xml version="1.0" encoding="utf-8"?>
<p:tagLst xmlns:p="http://schemas.openxmlformats.org/presentationml/2006/main">
  <p:tag name="KSO_WM_BEAUTIFY_FLAG" val=""/>
</p:tagLst>
</file>

<file path=ppt/tags/tag484.xml><?xml version="1.0" encoding="utf-8"?>
<p:tagLst xmlns:p="http://schemas.openxmlformats.org/presentationml/2006/main">
  <p:tag name="KSO_WM_BEAUTIFY_FLAG" val=""/>
</p:tagLst>
</file>

<file path=ppt/tags/tag485.xml><?xml version="1.0" encoding="utf-8"?>
<p:tagLst xmlns:p="http://schemas.openxmlformats.org/presentationml/2006/main">
  <p:tag name="KSO_WM_BEAUTIFY_FLAG" val=""/>
</p:tagLst>
</file>

<file path=ppt/tags/tag486.xml><?xml version="1.0" encoding="utf-8"?>
<p:tagLst xmlns:p="http://schemas.openxmlformats.org/presentationml/2006/main">
  <p:tag name="KSO_WM_BEAUTIFY_FLAG" val=""/>
</p:tagLst>
</file>

<file path=ppt/tags/tag487.xml><?xml version="1.0" encoding="utf-8"?>
<p:tagLst xmlns:p="http://schemas.openxmlformats.org/presentationml/2006/main">
  <p:tag name="KSO_WM_BEAUTIFY_FLAG" val=""/>
</p:tagLst>
</file>

<file path=ppt/tags/tag488.xml><?xml version="1.0" encoding="utf-8"?>
<p:tagLst xmlns:p="http://schemas.openxmlformats.org/presentationml/2006/main">
  <p:tag name="KSO_WM_BEAUTIFY_FLAG" val=""/>
</p:tagLst>
</file>

<file path=ppt/tags/tag489.xml><?xml version="1.0" encoding="utf-8"?>
<p:tagLst xmlns:p="http://schemas.openxmlformats.org/presentationml/2006/main">
  <p:tag name="KSO_WM_BEAUTIFY_FLAG" val=""/>
</p:tagLst>
</file>

<file path=ppt/tags/tag490.xml><?xml version="1.0" encoding="utf-8"?>
<p:tagLst xmlns:p="http://schemas.openxmlformats.org/presentationml/2006/main">
  <p:tag name="KSO_WM_BEAUTIFY_FLAG" val=""/>
</p:tagLst>
</file>

<file path=ppt/tags/tag491.xml><?xml version="1.0" encoding="utf-8"?>
<p:tagLst xmlns:p="http://schemas.openxmlformats.org/presentationml/2006/main">
  <p:tag name="KSO_WM_BEAUTIFY_FLAG" val=""/>
</p:tagLst>
</file>

<file path=ppt/tags/tag492.xml><?xml version="1.0" encoding="utf-8"?>
<p:tagLst xmlns:p="http://schemas.openxmlformats.org/presentationml/2006/main">
  <p:tag name="KSO_WM_BEAUTIFY_FLAG" val=""/>
</p:tagLst>
</file>

<file path=ppt/tags/tag493.xml><?xml version="1.0" encoding="utf-8"?>
<p:tagLst xmlns:p="http://schemas.openxmlformats.org/presentationml/2006/main">
  <p:tag name="KSO_WM_BEAUTIFY_FLAG" val=""/>
</p:tagLst>
</file>

<file path=ppt/tags/tag494.xml><?xml version="1.0" encoding="utf-8"?>
<p:tagLst xmlns:p="http://schemas.openxmlformats.org/presentationml/2006/main">
  <p:tag name="KSO_WM_BEAUTIFY_FLAG" val=""/>
</p:tagLst>
</file>

<file path=ppt/tags/tag495.xml><?xml version="1.0" encoding="utf-8"?>
<p:tagLst xmlns:p="http://schemas.openxmlformats.org/presentationml/2006/main">
  <p:tag name="KSO_WM_BEAUTIFY_FLAG" val=""/>
</p:tagLst>
</file>

<file path=ppt/tags/tag496.xml><?xml version="1.0" encoding="utf-8"?>
<p:tagLst xmlns:p="http://schemas.openxmlformats.org/presentationml/2006/main">
  <p:tag name="KSO_WM_BEAUTIFY_FLAG" val=""/>
</p:tagLst>
</file>

<file path=ppt/tags/tag497.xml><?xml version="1.0" encoding="utf-8"?>
<p:tagLst xmlns:p="http://schemas.openxmlformats.org/presentationml/2006/main">
  <p:tag name="KSO_WM_BEAUTIFY_FLAG" val=""/>
</p:tagLst>
</file>

<file path=ppt/tags/tag498.xml><?xml version="1.0" encoding="utf-8"?>
<p:tagLst xmlns:p="http://schemas.openxmlformats.org/presentationml/2006/main">
  <p:tag name="KSO_WM_BEAUTIFY_FLAG" val=""/>
</p:tagLst>
</file>

<file path=ppt/tags/tag499.xml><?xml version="1.0" encoding="utf-8"?>
<p:tagLst xmlns:p="http://schemas.openxmlformats.org/presentationml/2006/main">
  <p:tag name="KSO_WM_BEAUTIFY_FLAG" val=""/>
</p:tagLst>
</file>

<file path=ppt/tags/tag500.xml><?xml version="1.0" encoding="utf-8"?>
<p:tagLst xmlns:p="http://schemas.openxmlformats.org/presentationml/2006/main">
  <p:tag name="KSO_WM_BEAUTIFY_FLAG" val=""/>
</p:tagLst>
</file>

<file path=ppt/tags/tag501.xml><?xml version="1.0" encoding="utf-8"?>
<p:tagLst xmlns:p="http://schemas.openxmlformats.org/presentationml/2006/main">
  <p:tag name="KSO_WM_BEAUTIFY_FLAG" val=""/>
</p:tagLst>
</file>

<file path=ppt/tags/tag502.xml><?xml version="1.0" encoding="utf-8"?>
<p:tagLst xmlns:p="http://schemas.openxmlformats.org/presentationml/2006/main">
  <p:tag name="KSO_WM_BEAUTIFY_FLAG" val=""/>
</p:tagLst>
</file>

<file path=ppt/tags/tag503.xml><?xml version="1.0" encoding="utf-8"?>
<p:tagLst xmlns:p="http://schemas.openxmlformats.org/presentationml/2006/main">
  <p:tag name="KSO_WM_BEAUTIFY_FLAG" val=""/>
</p:tagLst>
</file>

<file path=ppt/tags/tag504.xml><?xml version="1.0" encoding="utf-8"?>
<p:tagLst xmlns:p="http://schemas.openxmlformats.org/presentationml/2006/main">
  <p:tag name="KSO_WM_BEAUTIFY_FLAG" val=""/>
</p:tagLst>
</file>

<file path=ppt/tags/tag505.xml><?xml version="1.0" encoding="utf-8"?>
<p:tagLst xmlns:p="http://schemas.openxmlformats.org/presentationml/2006/main">
  <p:tag name="KSO_WM_BEAUTIFY_FLAG" val=""/>
</p:tagLst>
</file>

<file path=ppt/tags/tag506.xml><?xml version="1.0" encoding="utf-8"?>
<p:tagLst xmlns:p="http://schemas.openxmlformats.org/presentationml/2006/main">
  <p:tag name="KSO_WM_BEAUTIFY_FLAG" val=""/>
</p:tagLst>
</file>

<file path=ppt/tags/tag507.xml><?xml version="1.0" encoding="utf-8"?>
<p:tagLst xmlns:p="http://schemas.openxmlformats.org/presentationml/2006/main">
  <p:tag name="KSO_WM_BEAUTIFY_FLAG" val=""/>
</p:tagLst>
</file>

<file path=ppt/tags/tag508.xml><?xml version="1.0" encoding="utf-8"?>
<p:tagLst xmlns:p="http://schemas.openxmlformats.org/presentationml/2006/main">
  <p:tag name="KSO_WM_BEAUTIFY_FLAG" val=""/>
</p:tagLst>
</file>

<file path=ppt/tags/tag509.xml><?xml version="1.0" encoding="utf-8"?>
<p:tagLst xmlns:p="http://schemas.openxmlformats.org/presentationml/2006/main">
  <p:tag name="KSO_WM_BEAUTIFY_FLAG" val=""/>
</p:tagLst>
</file>

<file path=ppt/tags/tag510.xml><?xml version="1.0" encoding="utf-8"?>
<p:tagLst xmlns:p="http://schemas.openxmlformats.org/presentationml/2006/main">
  <p:tag name="KSO_WM_BEAUTIFY_FLAG" val=""/>
</p:tagLst>
</file>

<file path=ppt/tags/tag511.xml><?xml version="1.0" encoding="utf-8"?>
<p:tagLst xmlns:p="http://schemas.openxmlformats.org/presentationml/2006/main">
  <p:tag name="KSO_WM_BEAUTIFY_FLAG" val=""/>
</p:tagLst>
</file>

<file path=ppt/tags/tag512.xml><?xml version="1.0" encoding="utf-8"?>
<p:tagLst xmlns:p="http://schemas.openxmlformats.org/presentationml/2006/main">
  <p:tag name="KSO_WM_BEAUTIFY_FLAG" val=""/>
</p:tagLst>
</file>

<file path=ppt/tags/tag513.xml><?xml version="1.0" encoding="utf-8"?>
<p:tagLst xmlns:p="http://schemas.openxmlformats.org/presentationml/2006/main">
  <p:tag name="KSO_WM_BEAUTIFY_FLAG" val=""/>
</p:tagLst>
</file>

<file path=ppt/tags/tag514.xml><?xml version="1.0" encoding="utf-8"?>
<p:tagLst xmlns:p="http://schemas.openxmlformats.org/presentationml/2006/main">
  <p:tag name="KSO_WM_BEAUTIFY_FLAG" val=""/>
</p:tagLst>
</file>

<file path=ppt/tags/tag515.xml><?xml version="1.0" encoding="utf-8"?>
<p:tagLst xmlns:p="http://schemas.openxmlformats.org/presentationml/2006/main">
  <p:tag name="KSO_WM_BEAUTIFY_FLAG" val=""/>
</p:tagLst>
</file>

<file path=ppt/tags/tag516.xml><?xml version="1.0" encoding="utf-8"?>
<p:tagLst xmlns:p="http://schemas.openxmlformats.org/presentationml/2006/main">
  <p:tag name="KSO_WM_BEAUTIFY_FLAG" val=""/>
</p:tagLst>
</file>

<file path=ppt/tags/tag517.xml><?xml version="1.0" encoding="utf-8"?>
<p:tagLst xmlns:p="http://schemas.openxmlformats.org/presentationml/2006/main">
  <p:tag name="KSO_WM_BEAUTIFY_FLAG" val=""/>
</p:tagLst>
</file>

<file path=ppt/tags/tag518.xml><?xml version="1.0" encoding="utf-8"?>
<p:tagLst xmlns:p="http://schemas.openxmlformats.org/presentationml/2006/main">
  <p:tag name="KSO_WM_BEAUTIFY_FLAG" val=""/>
</p:tagLst>
</file>

<file path=ppt/tags/tag519.xml><?xml version="1.0" encoding="utf-8"?>
<p:tagLst xmlns:p="http://schemas.openxmlformats.org/presentationml/2006/main">
  <p:tag name="KSO_WM_BEAUTIFY_FLAG" val=""/>
</p:tagLst>
</file>

<file path=ppt/tags/tag520.xml><?xml version="1.0" encoding="utf-8"?>
<p:tagLst xmlns:p="http://schemas.openxmlformats.org/presentationml/2006/main">
  <p:tag name="KSO_WM_BEAUTIFY_FLAG" val=""/>
</p:tagLst>
</file>

<file path=ppt/tags/tag521.xml><?xml version="1.0" encoding="utf-8"?>
<p:tagLst xmlns:p="http://schemas.openxmlformats.org/presentationml/2006/main">
  <p:tag name="KSO_WM_BEAUTIFY_FLAG" val=""/>
</p:tagLst>
</file>

<file path=ppt/tags/tag522.xml><?xml version="1.0" encoding="utf-8"?>
<p:tagLst xmlns:p="http://schemas.openxmlformats.org/presentationml/2006/main">
  <p:tag name="KSO_WM_BEAUTIFY_FLAG" val=""/>
</p:tagLst>
</file>

<file path=ppt/tags/tag523.xml><?xml version="1.0" encoding="utf-8"?>
<p:tagLst xmlns:p="http://schemas.openxmlformats.org/presentationml/2006/main">
  <p:tag name="KSO_WM_BEAUTIFY_FLAG" val=""/>
</p:tagLst>
</file>

<file path=ppt/tags/tag524.xml><?xml version="1.0" encoding="utf-8"?>
<p:tagLst xmlns:p="http://schemas.openxmlformats.org/presentationml/2006/main">
  <p:tag name="KSO_WM_BEAUTIFY_FLAG" val=""/>
</p:tagLst>
</file>

<file path=ppt/tags/tag525.xml><?xml version="1.0" encoding="utf-8"?>
<p:tagLst xmlns:p="http://schemas.openxmlformats.org/presentationml/2006/main">
  <p:tag name="KSO_WM_BEAUTIFY_FLAG" val=""/>
</p:tagLst>
</file>

<file path=ppt/tags/tag526.xml><?xml version="1.0" encoding="utf-8"?>
<p:tagLst xmlns:p="http://schemas.openxmlformats.org/presentationml/2006/main">
  <p:tag name="KSO_WM_BEAUTIFY_FLAG" val=""/>
</p:tagLst>
</file>

<file path=ppt/tags/tag527.xml><?xml version="1.0" encoding="utf-8"?>
<p:tagLst xmlns:p="http://schemas.openxmlformats.org/presentationml/2006/main">
  <p:tag name="KSO_WM_BEAUTIFY_FLAG" val=""/>
</p:tagLst>
</file>

<file path=ppt/tags/tag528.xml><?xml version="1.0" encoding="utf-8"?>
<p:tagLst xmlns:p="http://schemas.openxmlformats.org/presentationml/2006/main">
  <p:tag name="KSO_WM_BEAUTIFY_FLAG" val=""/>
</p:tagLst>
</file>

<file path=ppt/tags/tag529.xml><?xml version="1.0" encoding="utf-8"?>
<p:tagLst xmlns:p="http://schemas.openxmlformats.org/presentationml/2006/main">
  <p:tag name="KSO_WM_BEAUTIFY_FLAG" val=""/>
</p:tagLst>
</file>

<file path=ppt/tags/tag530.xml><?xml version="1.0" encoding="utf-8"?>
<p:tagLst xmlns:p="http://schemas.openxmlformats.org/presentationml/2006/main">
  <p:tag name="KSO_WM_BEAUTIFY_FLAG" val=""/>
</p:tagLst>
</file>

<file path=ppt/tags/tag531.xml><?xml version="1.0" encoding="utf-8"?>
<p:tagLst xmlns:p="http://schemas.openxmlformats.org/presentationml/2006/main">
  <p:tag name="KSO_WM_BEAUTIFY_FLAG" val=""/>
</p:tagLst>
</file>

<file path=ppt/tags/tag532.xml><?xml version="1.0" encoding="utf-8"?>
<p:tagLst xmlns:p="http://schemas.openxmlformats.org/presentationml/2006/main">
  <p:tag name="KSO_WM_BEAUTIFY_FLAG" val=""/>
</p:tagLst>
</file>

<file path=ppt/tags/tag533.xml><?xml version="1.0" encoding="utf-8"?>
<p:tagLst xmlns:p="http://schemas.openxmlformats.org/presentationml/2006/main">
  <p:tag name="KSO_WM_BEAUTIFY_FLAG" val=""/>
</p:tagLst>
</file>

<file path=ppt/tags/tag534.xml><?xml version="1.0" encoding="utf-8"?>
<p:tagLst xmlns:p="http://schemas.openxmlformats.org/presentationml/2006/main">
  <p:tag name="KSO_WM_BEAUTIFY_FLAG" val=""/>
</p:tagLst>
</file>

<file path=ppt/tags/tag535.xml><?xml version="1.0" encoding="utf-8"?>
<p:tagLst xmlns:p="http://schemas.openxmlformats.org/presentationml/2006/main">
  <p:tag name="KSO_WM_BEAUTIFY_FLAG" val=""/>
</p:tagLst>
</file>

<file path=ppt/tags/tag536.xml><?xml version="1.0" encoding="utf-8"?>
<p:tagLst xmlns:p="http://schemas.openxmlformats.org/presentationml/2006/main">
  <p:tag name="KSO_WM_BEAUTIFY_FLAG" val=""/>
</p:tagLst>
</file>

<file path=ppt/tags/tag537.xml><?xml version="1.0" encoding="utf-8"?>
<p:tagLst xmlns:p="http://schemas.openxmlformats.org/presentationml/2006/main">
  <p:tag name="KSO_WM_BEAUTIFY_FLAG" val=""/>
</p:tagLst>
</file>

<file path=ppt/tags/tag538.xml><?xml version="1.0" encoding="utf-8"?>
<p:tagLst xmlns:p="http://schemas.openxmlformats.org/presentationml/2006/main">
  <p:tag name="KSO_WM_BEAUTIFY_FLAG" val=""/>
</p:tagLst>
</file>

<file path=ppt/tags/tag539.xml><?xml version="1.0" encoding="utf-8"?>
<p:tagLst xmlns:p="http://schemas.openxmlformats.org/presentationml/2006/main">
  <p:tag name="KSO_WM_BEAUTIFY_FLAG" val=""/>
</p:tagLst>
</file>

<file path=ppt/tags/tag540.xml><?xml version="1.0" encoding="utf-8"?>
<p:tagLst xmlns:p="http://schemas.openxmlformats.org/presentationml/2006/main">
  <p:tag name="KSO_WM_BEAUTIFY_FLAG" val=""/>
</p:tagLst>
</file>

<file path=ppt/tags/tag541.xml><?xml version="1.0" encoding="utf-8"?>
<p:tagLst xmlns:p="http://schemas.openxmlformats.org/presentationml/2006/main">
  <p:tag name="KSO_WM_BEAUTIFY_FLAG" val=""/>
</p:tagLst>
</file>

<file path=ppt/tags/tag542.xml><?xml version="1.0" encoding="utf-8"?>
<p:tagLst xmlns:p="http://schemas.openxmlformats.org/presentationml/2006/main">
  <p:tag name="KSO_WM_BEAUTIFY_FLAG" val=""/>
</p:tagLst>
</file>

<file path=ppt/tags/tag543.xml><?xml version="1.0" encoding="utf-8"?>
<p:tagLst xmlns:p="http://schemas.openxmlformats.org/presentationml/2006/main">
  <p:tag name="KSO_WM_BEAUTIFY_FLAG" val=""/>
</p:tagLst>
</file>

<file path=ppt/tags/tag544.xml><?xml version="1.0" encoding="utf-8"?>
<p:tagLst xmlns:p="http://schemas.openxmlformats.org/presentationml/2006/main">
  <p:tag name="KSO_WM_BEAUTIFY_FLAG" val=""/>
</p:tagLst>
</file>

<file path=ppt/tags/tag545.xml><?xml version="1.0" encoding="utf-8"?>
<p:tagLst xmlns:p="http://schemas.openxmlformats.org/presentationml/2006/main">
  <p:tag name="KSO_WM_BEAUTIFY_FLAG" val=""/>
</p:tagLst>
</file>

<file path=ppt/tags/tag546.xml><?xml version="1.0" encoding="utf-8"?>
<p:tagLst xmlns:p="http://schemas.openxmlformats.org/presentationml/2006/main">
  <p:tag name="KSO_WM_BEAUTIFY_FLAG" val=""/>
</p:tagLst>
</file>

<file path=ppt/tags/tag547.xml><?xml version="1.0" encoding="utf-8"?>
<p:tagLst xmlns:p="http://schemas.openxmlformats.org/presentationml/2006/main">
  <p:tag name="KSO_WM_BEAUTIFY_FLAG" val=""/>
</p:tagLst>
</file>

<file path=ppt/tags/tag548.xml><?xml version="1.0" encoding="utf-8"?>
<p:tagLst xmlns:p="http://schemas.openxmlformats.org/presentationml/2006/main">
  <p:tag name="KSO_WM_BEAUTIFY_FLAG" val=""/>
</p:tagLst>
</file>

<file path=ppt/tags/tag549.xml><?xml version="1.0" encoding="utf-8"?>
<p:tagLst xmlns:p="http://schemas.openxmlformats.org/presentationml/2006/main">
  <p:tag name="KSO_WM_BEAUTIFY_FLAG" val=""/>
</p:tagLst>
</file>

<file path=ppt/tags/tag550.xml><?xml version="1.0" encoding="utf-8"?>
<p:tagLst xmlns:p="http://schemas.openxmlformats.org/presentationml/2006/main">
  <p:tag name="KSO_WM_BEAUTIFY_FLAG" val=""/>
</p:tagLst>
</file>

<file path=ppt/tags/tag551.xml><?xml version="1.0" encoding="utf-8"?>
<p:tagLst xmlns:p="http://schemas.openxmlformats.org/presentationml/2006/main">
  <p:tag name="KSO_WM_BEAUTIFY_FLAG" val=""/>
</p:tagLst>
</file>

<file path=ppt/tags/tag552.xml><?xml version="1.0" encoding="utf-8"?>
<p:tagLst xmlns:p="http://schemas.openxmlformats.org/presentationml/2006/main">
  <p:tag name="KSO_WM_BEAUTIFY_FLAG" val=""/>
</p:tagLst>
</file>

<file path=ppt/tags/tag553.xml><?xml version="1.0" encoding="utf-8"?>
<p:tagLst xmlns:p="http://schemas.openxmlformats.org/presentationml/2006/main">
  <p:tag name="KSO_WM_BEAUTIFY_FLAG" val=""/>
</p:tagLst>
</file>

<file path=ppt/tags/tag554.xml><?xml version="1.0" encoding="utf-8"?>
<p:tagLst xmlns:p="http://schemas.openxmlformats.org/presentationml/2006/main">
  <p:tag name="KSO_WM_BEAUTIFY_FLAG" val=""/>
</p:tagLst>
</file>

<file path=ppt/tags/tag555.xml><?xml version="1.0" encoding="utf-8"?>
<p:tagLst xmlns:p="http://schemas.openxmlformats.org/presentationml/2006/main">
  <p:tag name="KSO_WM_BEAUTIFY_FLAG" val=""/>
</p:tagLst>
</file>

<file path=ppt/tags/tag556.xml><?xml version="1.0" encoding="utf-8"?>
<p:tagLst xmlns:p="http://schemas.openxmlformats.org/presentationml/2006/main">
  <p:tag name="KSO_WM_BEAUTIFY_FLAG" val=""/>
</p:tagLst>
</file>

<file path=ppt/tags/tag557.xml><?xml version="1.0" encoding="utf-8"?>
<p:tagLst xmlns:p="http://schemas.openxmlformats.org/presentationml/2006/main">
  <p:tag name="KSO_WM_BEAUTIFY_FLAG" val=""/>
</p:tagLst>
</file>

<file path=ppt/tags/tag558.xml><?xml version="1.0" encoding="utf-8"?>
<p:tagLst xmlns:p="http://schemas.openxmlformats.org/presentationml/2006/main">
  <p:tag name="KSO_WM_BEAUTIFY_FLAG" val=""/>
</p:tagLst>
</file>

<file path=ppt/tags/tag559.xml><?xml version="1.0" encoding="utf-8"?>
<p:tagLst xmlns:p="http://schemas.openxmlformats.org/presentationml/2006/main">
  <p:tag name="KSO_WM_BEAUTIFY_FLAG" val=""/>
</p:tagLst>
</file>

<file path=ppt/tags/tag560.xml><?xml version="1.0" encoding="utf-8"?>
<p:tagLst xmlns:p="http://schemas.openxmlformats.org/presentationml/2006/main">
  <p:tag name="KSO_WM_BEAUTIFY_FLAG" val=""/>
</p:tagLst>
</file>

<file path=ppt/tags/tag561.xml><?xml version="1.0" encoding="utf-8"?>
<p:tagLst xmlns:p="http://schemas.openxmlformats.org/presentationml/2006/main">
  <p:tag name="KSO_WM_BEAUTIFY_FLAG" val=""/>
</p:tagLst>
</file>

<file path=ppt/tags/tag562.xml><?xml version="1.0" encoding="utf-8"?>
<p:tagLst xmlns:p="http://schemas.openxmlformats.org/presentationml/2006/main">
  <p:tag name="KSO_WM_BEAUTIFY_FLAG" val=""/>
</p:tagLst>
</file>

<file path=ppt/tags/tag563.xml><?xml version="1.0" encoding="utf-8"?>
<p:tagLst xmlns:p="http://schemas.openxmlformats.org/presentationml/2006/main">
  <p:tag name="KSO_WM_BEAUTIFY_FLAG" val=""/>
</p:tagLst>
</file>

<file path=ppt/tags/tag564.xml><?xml version="1.0" encoding="utf-8"?>
<p:tagLst xmlns:p="http://schemas.openxmlformats.org/presentationml/2006/main">
  <p:tag name="KSO_WM_BEAUTIFY_FLAG" val=""/>
</p:tagLst>
</file>

<file path=ppt/tags/tag565.xml><?xml version="1.0" encoding="utf-8"?>
<p:tagLst xmlns:p="http://schemas.openxmlformats.org/presentationml/2006/main">
  <p:tag name="KSO_WM_BEAUTIFY_FLAG" val=""/>
</p:tagLst>
</file>

<file path=ppt/tags/tag566.xml><?xml version="1.0" encoding="utf-8"?>
<p:tagLst xmlns:p="http://schemas.openxmlformats.org/presentationml/2006/main">
  <p:tag name="KSO_WM_BEAUTIFY_FLAG" val=""/>
</p:tagLst>
</file>

<file path=ppt/tags/tag567.xml><?xml version="1.0" encoding="utf-8"?>
<p:tagLst xmlns:p="http://schemas.openxmlformats.org/presentationml/2006/main">
  <p:tag name="KSO_WM_BEAUTIFY_FLAG" val=""/>
</p:tagLst>
</file>

<file path=ppt/tags/tag568.xml><?xml version="1.0" encoding="utf-8"?>
<p:tagLst xmlns:p="http://schemas.openxmlformats.org/presentationml/2006/main">
  <p:tag name="KSO_WM_BEAUTIFY_FLAG" val=""/>
</p:tagLst>
</file>

<file path=ppt/tags/tag569.xml><?xml version="1.0" encoding="utf-8"?>
<p:tagLst xmlns:p="http://schemas.openxmlformats.org/presentationml/2006/main">
  <p:tag name="KSO_WM_BEAUTIFY_FLAG" val=""/>
</p:tagLst>
</file>

<file path=ppt/tags/tag570.xml><?xml version="1.0" encoding="utf-8"?>
<p:tagLst xmlns:p="http://schemas.openxmlformats.org/presentationml/2006/main">
  <p:tag name="KSO_WM_BEAUTIFY_FLAG" val=""/>
</p:tagLst>
</file>

<file path=ppt/tags/tag571.xml><?xml version="1.0" encoding="utf-8"?>
<p:tagLst xmlns:p="http://schemas.openxmlformats.org/presentationml/2006/main">
  <p:tag name="KSO_WM_BEAUTIFY_FLAG" val=""/>
</p:tagLst>
</file>

<file path=ppt/tags/tag572.xml><?xml version="1.0" encoding="utf-8"?>
<p:tagLst xmlns:p="http://schemas.openxmlformats.org/presentationml/2006/main">
  <p:tag name="KSO_WM_BEAUTIFY_FLAG" val=""/>
</p:tagLst>
</file>

<file path=ppt/tags/tag573.xml><?xml version="1.0" encoding="utf-8"?>
<p:tagLst xmlns:p="http://schemas.openxmlformats.org/presentationml/2006/main">
  <p:tag name="KSO_WM_BEAUTIFY_FLAG" val=""/>
</p:tagLst>
</file>

<file path=ppt/tags/tag574.xml><?xml version="1.0" encoding="utf-8"?>
<p:tagLst xmlns:p="http://schemas.openxmlformats.org/presentationml/2006/main">
  <p:tag name="KSO_WM_BEAUTIFY_FLAG" val=""/>
</p:tagLst>
</file>

<file path=ppt/tags/tag575.xml><?xml version="1.0" encoding="utf-8"?>
<p:tagLst xmlns:p="http://schemas.openxmlformats.org/presentationml/2006/main">
  <p:tag name="KSO_WM_BEAUTIFY_FLAG" val=""/>
</p:tagLst>
</file>

<file path=ppt/tags/tag576.xml><?xml version="1.0" encoding="utf-8"?>
<p:tagLst xmlns:p="http://schemas.openxmlformats.org/presentationml/2006/main">
  <p:tag name="KSO_WM_BEAUTIFY_FLAG" val=""/>
</p:tagLst>
</file>

<file path=ppt/tags/tag577.xml><?xml version="1.0" encoding="utf-8"?>
<p:tagLst xmlns:p="http://schemas.openxmlformats.org/presentationml/2006/main">
  <p:tag name="KSO_WM_BEAUTIFY_FLAG" val=""/>
</p:tagLst>
</file>

<file path=ppt/tags/tag578.xml><?xml version="1.0" encoding="utf-8"?>
<p:tagLst xmlns:p="http://schemas.openxmlformats.org/presentationml/2006/main">
  <p:tag name="KSO_WM_BEAUTIFY_FLAG" val=""/>
</p:tagLst>
</file>

<file path=ppt/tags/tag579.xml><?xml version="1.0" encoding="utf-8"?>
<p:tagLst xmlns:p="http://schemas.openxmlformats.org/presentationml/2006/main">
  <p:tag name="KSO_WM_BEAUTIFY_FLAG" val=""/>
</p:tagLst>
</file>

<file path=ppt/tags/tag580.xml><?xml version="1.0" encoding="utf-8"?>
<p:tagLst xmlns:p="http://schemas.openxmlformats.org/presentationml/2006/main">
  <p:tag name="KSO_WM_BEAUTIFY_FLAG" val=""/>
</p:tagLst>
</file>

<file path=ppt/tags/tag581.xml><?xml version="1.0" encoding="utf-8"?>
<p:tagLst xmlns:p="http://schemas.openxmlformats.org/presentationml/2006/main">
  <p:tag name="KSO_WM_BEAUTIFY_FLAG" val=""/>
</p:tagLst>
</file>

<file path=ppt/tags/tag582.xml><?xml version="1.0" encoding="utf-8"?>
<p:tagLst xmlns:p="http://schemas.openxmlformats.org/presentationml/2006/main">
  <p:tag name="KSO_WM_BEAUTIFY_FLAG" val=""/>
</p:tagLst>
</file>

<file path=ppt/tags/tag583.xml><?xml version="1.0" encoding="utf-8"?>
<p:tagLst xmlns:p="http://schemas.openxmlformats.org/presentationml/2006/main">
  <p:tag name="KSO_WM_BEAUTIFY_FLAG" val=""/>
</p:tagLst>
</file>

<file path=ppt/tags/tag584.xml><?xml version="1.0" encoding="utf-8"?>
<p:tagLst xmlns:p="http://schemas.openxmlformats.org/presentationml/2006/main">
  <p:tag name="KSO_WM_BEAUTIFY_FLAG" val=""/>
</p:tagLst>
</file>

<file path=ppt/tags/tag585.xml><?xml version="1.0" encoding="utf-8"?>
<p:tagLst xmlns:p="http://schemas.openxmlformats.org/presentationml/2006/main">
  <p:tag name="KSO_WM_BEAUTIFY_FLAG" val=""/>
</p:tagLst>
</file>

<file path=ppt/tags/tag586.xml><?xml version="1.0" encoding="utf-8"?>
<p:tagLst xmlns:p="http://schemas.openxmlformats.org/presentationml/2006/main">
  <p:tag name="KSO_WM_BEAUTIFY_FLAG" val=""/>
</p:tagLst>
</file>

<file path=ppt/tags/tag587.xml><?xml version="1.0" encoding="utf-8"?>
<p:tagLst xmlns:p="http://schemas.openxmlformats.org/presentationml/2006/main">
  <p:tag name="KSO_WM_BEAUTIFY_FLAG" val=""/>
</p:tagLst>
</file>

<file path=ppt/tags/tag588.xml><?xml version="1.0" encoding="utf-8"?>
<p:tagLst xmlns:p="http://schemas.openxmlformats.org/presentationml/2006/main">
  <p:tag name="KSO_WM_BEAUTIFY_FLAG" val=""/>
</p:tagLst>
</file>

<file path=ppt/tags/tag589.xml><?xml version="1.0" encoding="utf-8"?>
<p:tagLst xmlns:p="http://schemas.openxmlformats.org/presentationml/2006/main">
  <p:tag name="KSO_WM_BEAUTIFY_FLAG" val=""/>
</p:tagLst>
</file>

<file path=ppt/tags/tag590.xml><?xml version="1.0" encoding="utf-8"?>
<p:tagLst xmlns:p="http://schemas.openxmlformats.org/presentationml/2006/main">
  <p:tag name="KSO_WM_BEAUTIFY_FLAG" val=""/>
</p:tagLst>
</file>

<file path=ppt/tags/tag591.xml><?xml version="1.0" encoding="utf-8"?>
<p:tagLst xmlns:p="http://schemas.openxmlformats.org/presentationml/2006/main">
  <p:tag name="KSO_WM_BEAUTIFY_FLAG" val=""/>
</p:tagLst>
</file>

<file path=ppt/tags/tag592.xml><?xml version="1.0" encoding="utf-8"?>
<p:tagLst xmlns:p="http://schemas.openxmlformats.org/presentationml/2006/main">
  <p:tag name="KSO_WM_BEAUTIFY_FLAG" val=""/>
</p:tagLst>
</file>

<file path=ppt/tags/tag593.xml><?xml version="1.0" encoding="utf-8"?>
<p:tagLst xmlns:p="http://schemas.openxmlformats.org/presentationml/2006/main">
  <p:tag name="KSO_WM_BEAUTIFY_FLAG" val=""/>
</p:tagLst>
</file>

<file path=ppt/tags/tag594.xml><?xml version="1.0" encoding="utf-8"?>
<p:tagLst xmlns:p="http://schemas.openxmlformats.org/presentationml/2006/main">
  <p:tag name="KSO_WM_BEAUTIFY_FLAG" val=""/>
</p:tagLst>
</file>

<file path=ppt/tags/tag595.xml><?xml version="1.0" encoding="utf-8"?>
<p:tagLst xmlns:p="http://schemas.openxmlformats.org/presentationml/2006/main">
  <p:tag name="KSO_WM_BEAUTIFY_FLAG" val=""/>
</p:tagLst>
</file>

<file path=ppt/tags/tag596.xml><?xml version="1.0" encoding="utf-8"?>
<p:tagLst xmlns:p="http://schemas.openxmlformats.org/presentationml/2006/main">
  <p:tag name="KSO_WM_BEAUTIFY_FLAG" val=""/>
</p:tagLst>
</file>

<file path=ppt/tags/tag597.xml><?xml version="1.0" encoding="utf-8"?>
<p:tagLst xmlns:p="http://schemas.openxmlformats.org/presentationml/2006/main">
  <p:tag name="KSO_WM_BEAUTIFY_FLAG" val=""/>
</p:tagLst>
</file>

<file path=ppt/tags/tag598.xml><?xml version="1.0" encoding="utf-8"?>
<p:tagLst xmlns:p="http://schemas.openxmlformats.org/presentationml/2006/main">
  <p:tag name="KSO_WM_BEAUTIFY_FLAG" val=""/>
</p:tagLst>
</file>

<file path=ppt/tags/tag599.xml><?xml version="1.0" encoding="utf-8"?>
<p:tagLst xmlns:p="http://schemas.openxmlformats.org/presentationml/2006/main">
  <p:tag name="KSO_WM_BEAUTIFY_FLAG" val=""/>
</p:tagLst>
</file>

<file path=ppt/tags/tag600.xml><?xml version="1.0" encoding="utf-8"?>
<p:tagLst xmlns:p="http://schemas.openxmlformats.org/presentationml/2006/main">
  <p:tag name="KSO_WM_BEAUTIFY_FLAG" val=""/>
</p:tagLst>
</file>

<file path=ppt/tags/tag601.xml><?xml version="1.0" encoding="utf-8"?>
<p:tagLst xmlns:p="http://schemas.openxmlformats.org/presentationml/2006/main">
  <p:tag name="KSO_WM_BEAUTIFY_FLAG" val=""/>
</p:tagLst>
</file>

<file path=ppt/tags/tag602.xml><?xml version="1.0" encoding="utf-8"?>
<p:tagLst xmlns:p="http://schemas.openxmlformats.org/presentationml/2006/main">
  <p:tag name="KSO_WM_BEAUTIFY_FLAG" val=""/>
</p:tagLst>
</file>

<file path=ppt/tags/tag603.xml><?xml version="1.0" encoding="utf-8"?>
<p:tagLst xmlns:p="http://schemas.openxmlformats.org/presentationml/2006/main">
  <p:tag name="KSO_WM_BEAUTIFY_FLAG" val=""/>
</p:tagLst>
</file>

<file path=ppt/tags/tag604.xml><?xml version="1.0" encoding="utf-8"?>
<p:tagLst xmlns:p="http://schemas.openxmlformats.org/presentationml/2006/main">
  <p:tag name="KSO_WM_BEAUTIFY_FLAG" val=""/>
</p:tagLst>
</file>

<file path=ppt/tags/tag605.xml><?xml version="1.0" encoding="utf-8"?>
<p:tagLst xmlns:p="http://schemas.openxmlformats.org/presentationml/2006/main">
  <p:tag name="KSO_WM_BEAUTIFY_FLAG" val=""/>
</p:tagLst>
</file>

<file path=ppt/tags/tag606.xml><?xml version="1.0" encoding="utf-8"?>
<p:tagLst xmlns:p="http://schemas.openxmlformats.org/presentationml/2006/main">
  <p:tag name="KSO_WM_BEAUTIFY_FLAG" val=""/>
</p:tagLst>
</file>

<file path=ppt/tags/tag607.xml><?xml version="1.0" encoding="utf-8"?>
<p:tagLst xmlns:p="http://schemas.openxmlformats.org/presentationml/2006/main">
  <p:tag name="KSO_WM_BEAUTIFY_FLAG" val=""/>
</p:tagLst>
</file>

<file path=ppt/tags/tag608.xml><?xml version="1.0" encoding="utf-8"?>
<p:tagLst xmlns:p="http://schemas.openxmlformats.org/presentationml/2006/main">
  <p:tag name="KSO_WM_BEAUTIFY_FLAG" val=""/>
</p:tagLst>
</file>

<file path=ppt/tags/tag609.xml><?xml version="1.0" encoding="utf-8"?>
<p:tagLst xmlns:p="http://schemas.openxmlformats.org/presentationml/2006/main">
  <p:tag name="KSO_WM_BEAUTIFY_FLAG" val=""/>
</p:tagLst>
</file>

<file path=ppt/tags/tag610.xml><?xml version="1.0" encoding="utf-8"?>
<p:tagLst xmlns:p="http://schemas.openxmlformats.org/presentationml/2006/main">
  <p:tag name="KSO_WM_BEAUTIFY_FLAG" val=""/>
</p:tagLst>
</file>

<file path=ppt/tags/tag611.xml><?xml version="1.0" encoding="utf-8"?>
<p:tagLst xmlns:p="http://schemas.openxmlformats.org/presentationml/2006/main">
  <p:tag name="KSO_WM_BEAUTIFY_FLAG" val=""/>
</p:tagLst>
</file>

<file path=ppt/tags/tag612.xml><?xml version="1.0" encoding="utf-8"?>
<p:tagLst xmlns:p="http://schemas.openxmlformats.org/presentationml/2006/main">
  <p:tag name="KSO_WM_BEAUTIFY_FLAG" val=""/>
</p:tagLst>
</file>

<file path=ppt/tags/tag613.xml><?xml version="1.0" encoding="utf-8"?>
<p:tagLst xmlns:p="http://schemas.openxmlformats.org/presentationml/2006/main">
  <p:tag name="KSO_WM_BEAUTIFY_FLAG" val=""/>
</p:tagLst>
</file>

<file path=ppt/tags/tag614.xml><?xml version="1.0" encoding="utf-8"?>
<p:tagLst xmlns:p="http://schemas.openxmlformats.org/presentationml/2006/main">
  <p:tag name="KSO_WM_BEAUTIFY_FLAG" val=""/>
</p:tagLst>
</file>

<file path=ppt/tags/tag615.xml><?xml version="1.0" encoding="utf-8"?>
<p:tagLst xmlns:p="http://schemas.openxmlformats.org/presentationml/2006/main">
  <p:tag name="KSO_WM_BEAUTIFY_FLAG" val=""/>
</p:tagLst>
</file>

<file path=ppt/tags/tag616.xml><?xml version="1.0" encoding="utf-8"?>
<p:tagLst xmlns:p="http://schemas.openxmlformats.org/presentationml/2006/main">
  <p:tag name="KSO_WM_BEAUTIFY_FLAG" val=""/>
</p:tagLst>
</file>

<file path=ppt/tags/tag617.xml><?xml version="1.0" encoding="utf-8"?>
<p:tagLst xmlns:p="http://schemas.openxmlformats.org/presentationml/2006/main">
  <p:tag name="KSO_WM_BEAUTIFY_FLAG" val=""/>
</p:tagLst>
</file>

<file path=ppt/tags/tag618.xml><?xml version="1.0" encoding="utf-8"?>
<p:tagLst xmlns:p="http://schemas.openxmlformats.org/presentationml/2006/main">
  <p:tag name="KSO_WM_BEAUTIFY_FLAG" val=""/>
</p:tagLst>
</file>

<file path=ppt/tags/tag619.xml><?xml version="1.0" encoding="utf-8"?>
<p:tagLst xmlns:p="http://schemas.openxmlformats.org/presentationml/2006/main">
  <p:tag name="KSO_WM_BEAUTIFY_FLAG" val=""/>
</p:tagLst>
</file>

<file path=ppt/tags/tag620.xml><?xml version="1.0" encoding="utf-8"?>
<p:tagLst xmlns:p="http://schemas.openxmlformats.org/presentationml/2006/main">
  <p:tag name="KSO_WM_BEAUTIFY_FLAG" val=""/>
</p:tagLst>
</file>

<file path=ppt/tags/tag621.xml><?xml version="1.0" encoding="utf-8"?>
<p:tagLst xmlns:p="http://schemas.openxmlformats.org/presentationml/2006/main">
  <p:tag name="KSO_WM_BEAUTIFY_FLAG" val=""/>
</p:tagLst>
</file>

<file path=ppt/tags/tag622.xml><?xml version="1.0" encoding="utf-8"?>
<p:tagLst xmlns:p="http://schemas.openxmlformats.org/presentationml/2006/main">
  <p:tag name="KSO_WM_BEAUTIFY_FLAG" val=""/>
</p:tagLst>
</file>

<file path=ppt/tags/tag623.xml><?xml version="1.0" encoding="utf-8"?>
<p:tagLst xmlns:p="http://schemas.openxmlformats.org/presentationml/2006/main">
  <p:tag name="KSO_WM_BEAUTIFY_FLAG" val=""/>
</p:tagLst>
</file>

<file path=ppt/tags/tag624.xml><?xml version="1.0" encoding="utf-8"?>
<p:tagLst xmlns:p="http://schemas.openxmlformats.org/presentationml/2006/main">
  <p:tag name="KSO_WM_BEAUTIFY_FLAG" val=""/>
</p:tagLst>
</file>

<file path=ppt/tags/tag625.xml><?xml version="1.0" encoding="utf-8"?>
<p:tagLst xmlns:p="http://schemas.openxmlformats.org/presentationml/2006/main">
  <p:tag name="KSO_WM_BEAUTIFY_FLAG" val=""/>
</p:tagLst>
</file>

<file path=ppt/tags/tag626.xml><?xml version="1.0" encoding="utf-8"?>
<p:tagLst xmlns:p="http://schemas.openxmlformats.org/presentationml/2006/main">
  <p:tag name="KSO_WM_BEAUTIFY_FLAG" val=""/>
</p:tagLst>
</file>

<file path=ppt/tags/tag627.xml><?xml version="1.0" encoding="utf-8"?>
<p:tagLst xmlns:p="http://schemas.openxmlformats.org/presentationml/2006/main">
  <p:tag name="KSO_WM_BEAUTIFY_FLAG" val=""/>
</p:tagLst>
</file>

<file path=ppt/tags/tag628.xml><?xml version="1.0" encoding="utf-8"?>
<p:tagLst xmlns:p="http://schemas.openxmlformats.org/presentationml/2006/main">
  <p:tag name="KSO_WM_BEAUTIFY_FLAG" val=""/>
</p:tagLst>
</file>

<file path=ppt/tags/tag629.xml><?xml version="1.0" encoding="utf-8"?>
<p:tagLst xmlns:p="http://schemas.openxmlformats.org/presentationml/2006/main">
  <p:tag name="KSO_WM_BEAUTIFY_FLAG" val=""/>
</p:tagLst>
</file>

<file path=ppt/tags/tag630.xml><?xml version="1.0" encoding="utf-8"?>
<p:tagLst xmlns:p="http://schemas.openxmlformats.org/presentationml/2006/main">
  <p:tag name="KSO_WM_BEAUTIFY_FLAG" val=""/>
</p:tagLst>
</file>

<file path=ppt/tags/tag631.xml><?xml version="1.0" encoding="utf-8"?>
<p:tagLst xmlns:p="http://schemas.openxmlformats.org/presentationml/2006/main">
  <p:tag name="KSO_WM_BEAUTIFY_FLAG" val=""/>
</p:tagLst>
</file>

<file path=ppt/tags/tag632.xml><?xml version="1.0" encoding="utf-8"?>
<p:tagLst xmlns:p="http://schemas.openxmlformats.org/presentationml/2006/main">
  <p:tag name="KSO_WM_BEAUTIFY_FLAG" val=""/>
</p:tagLst>
</file>

<file path=ppt/tags/tag633.xml><?xml version="1.0" encoding="utf-8"?>
<p:tagLst xmlns:p="http://schemas.openxmlformats.org/presentationml/2006/main">
  <p:tag name="KSO_WM_BEAUTIFY_FLAG" val=""/>
</p:tagLst>
</file>

<file path=ppt/tags/tag634.xml><?xml version="1.0" encoding="utf-8"?>
<p:tagLst xmlns:p="http://schemas.openxmlformats.org/presentationml/2006/main">
  <p:tag name="KSO_WM_BEAUTIFY_FLAG" val=""/>
</p:tagLst>
</file>

<file path=ppt/tags/tag635.xml><?xml version="1.0" encoding="utf-8"?>
<p:tagLst xmlns:p="http://schemas.openxmlformats.org/presentationml/2006/main">
  <p:tag name="KSO_WM_BEAUTIFY_FLAG" val=""/>
</p:tagLst>
</file>

<file path=ppt/tags/tag636.xml><?xml version="1.0" encoding="utf-8"?>
<p:tagLst xmlns:p="http://schemas.openxmlformats.org/presentationml/2006/main">
  <p:tag name="KSO_WM_BEAUTIFY_FLAG" val=""/>
</p:tagLst>
</file>

<file path=ppt/tags/tag637.xml><?xml version="1.0" encoding="utf-8"?>
<p:tagLst xmlns:p="http://schemas.openxmlformats.org/presentationml/2006/main">
  <p:tag name="KSO_WM_BEAUTIFY_FLAG" val=""/>
</p:tagLst>
</file>

<file path=ppt/tags/tag638.xml><?xml version="1.0" encoding="utf-8"?>
<p:tagLst xmlns:p="http://schemas.openxmlformats.org/presentationml/2006/main">
  <p:tag name="KSO_WM_BEAUTIFY_FLAG" val=""/>
</p:tagLst>
</file>

<file path=ppt/tags/tag639.xml><?xml version="1.0" encoding="utf-8"?>
<p:tagLst xmlns:p="http://schemas.openxmlformats.org/presentationml/2006/main">
  <p:tag name="KSO_WM_BEAUTIFY_FLAG" val=""/>
</p:tagLst>
</file>

<file path=ppt/tags/tag640.xml><?xml version="1.0" encoding="utf-8"?>
<p:tagLst xmlns:p="http://schemas.openxmlformats.org/presentationml/2006/main">
  <p:tag name="KSO_WM_BEAUTIFY_FLAG" val=""/>
</p:tagLst>
</file>

<file path=ppt/tags/tag641.xml><?xml version="1.0" encoding="utf-8"?>
<p:tagLst xmlns:p="http://schemas.openxmlformats.org/presentationml/2006/main">
  <p:tag name="KSO_WM_BEAUTIFY_FLAG" val=""/>
</p:tagLst>
</file>

<file path=ppt/tags/tag642.xml><?xml version="1.0" encoding="utf-8"?>
<p:tagLst xmlns:p="http://schemas.openxmlformats.org/presentationml/2006/main">
  <p:tag name="KSO_WM_BEAUTIFY_FLAG" val=""/>
</p:tagLst>
</file>

<file path=ppt/tags/tag643.xml><?xml version="1.0" encoding="utf-8"?>
<p:tagLst xmlns:p="http://schemas.openxmlformats.org/presentationml/2006/main">
  <p:tag name="KSO_WM_BEAUTIFY_FLAG" val=""/>
</p:tagLst>
</file>

<file path=ppt/tags/tag644.xml><?xml version="1.0" encoding="utf-8"?>
<p:tagLst xmlns:p="http://schemas.openxmlformats.org/presentationml/2006/main">
  <p:tag name="KSO_WM_BEAUTIFY_FLAG" val=""/>
</p:tagLst>
</file>

<file path=ppt/tags/tag645.xml><?xml version="1.0" encoding="utf-8"?>
<p:tagLst xmlns:p="http://schemas.openxmlformats.org/presentationml/2006/main">
  <p:tag name="KSO_WM_BEAUTIFY_FLAG" val=""/>
</p:tagLst>
</file>

<file path=ppt/tags/tag646.xml><?xml version="1.0" encoding="utf-8"?>
<p:tagLst xmlns:p="http://schemas.openxmlformats.org/presentationml/2006/main">
  <p:tag name="KSO_WM_BEAUTIFY_FLAG" val=""/>
</p:tagLst>
</file>

<file path=ppt/tags/tag647.xml><?xml version="1.0" encoding="utf-8"?>
<p:tagLst xmlns:p="http://schemas.openxmlformats.org/presentationml/2006/main">
  <p:tag name="KSO_WM_BEAUTIFY_FLAG" val=""/>
</p:tagLst>
</file>

<file path=ppt/tags/tag648.xml><?xml version="1.0" encoding="utf-8"?>
<p:tagLst xmlns:p="http://schemas.openxmlformats.org/presentationml/2006/main">
  <p:tag name="KSO_WM_BEAUTIFY_FLAG" val=""/>
</p:tagLst>
</file>

<file path=ppt/tags/tag649.xml><?xml version="1.0" encoding="utf-8"?>
<p:tagLst xmlns:p="http://schemas.openxmlformats.org/presentationml/2006/main">
  <p:tag name="KSO_WM_BEAUTIFY_FLAG" val=""/>
</p:tagLst>
</file>

<file path=ppt/tags/tag650.xml><?xml version="1.0" encoding="utf-8"?>
<p:tagLst xmlns:p="http://schemas.openxmlformats.org/presentationml/2006/main">
  <p:tag name="KSO_WM_BEAUTIFY_FLAG" val=""/>
</p:tagLst>
</file>

<file path=ppt/tags/tag651.xml><?xml version="1.0" encoding="utf-8"?>
<p:tagLst xmlns:p="http://schemas.openxmlformats.org/presentationml/2006/main">
  <p:tag name="KSO_WM_BEAUTIFY_FLAG" val=""/>
</p:tagLst>
</file>

<file path=ppt/tags/tag652.xml><?xml version="1.0" encoding="utf-8"?>
<p:tagLst xmlns:p="http://schemas.openxmlformats.org/presentationml/2006/main">
  <p:tag name="KSO_WM_BEAUTIFY_FLAG" val=""/>
</p:tagLst>
</file>

<file path=ppt/tags/tag653.xml><?xml version="1.0" encoding="utf-8"?>
<p:tagLst xmlns:p="http://schemas.openxmlformats.org/presentationml/2006/main">
  <p:tag name="KSO_WM_BEAUTIFY_FLAG" val=""/>
</p:tagLst>
</file>

<file path=ppt/tags/tag654.xml><?xml version="1.0" encoding="utf-8"?>
<p:tagLst xmlns:p="http://schemas.openxmlformats.org/presentationml/2006/main">
  <p:tag name="KSO_WM_BEAUTIFY_FLAG" val=""/>
</p:tagLst>
</file>

<file path=ppt/tags/tag655.xml><?xml version="1.0" encoding="utf-8"?>
<p:tagLst xmlns:p="http://schemas.openxmlformats.org/presentationml/2006/main">
  <p:tag name="KSO_WM_BEAUTIFY_FLAG" val=""/>
</p:tagLst>
</file>

<file path=ppt/tags/tag656.xml><?xml version="1.0" encoding="utf-8"?>
<p:tagLst xmlns:p="http://schemas.openxmlformats.org/presentationml/2006/main">
  <p:tag name="KSO_WM_BEAUTIFY_FLAG" val=""/>
</p:tagLst>
</file>

<file path=ppt/tags/tag657.xml><?xml version="1.0" encoding="utf-8"?>
<p:tagLst xmlns:p="http://schemas.openxmlformats.org/presentationml/2006/main">
  <p:tag name="KSO_WM_BEAUTIFY_FLAG" val=""/>
</p:tagLst>
</file>

<file path=ppt/tags/tag658.xml><?xml version="1.0" encoding="utf-8"?>
<p:tagLst xmlns:p="http://schemas.openxmlformats.org/presentationml/2006/main">
  <p:tag name="KSO_WM_BEAUTIFY_FLAG" val=""/>
</p:tagLst>
</file>

<file path=ppt/tags/tag659.xml><?xml version="1.0" encoding="utf-8"?>
<p:tagLst xmlns:p="http://schemas.openxmlformats.org/presentationml/2006/main">
  <p:tag name="KSO_WM_BEAUTIFY_FLAG" val=""/>
</p:tagLst>
</file>

<file path=ppt/tags/tag660.xml><?xml version="1.0" encoding="utf-8"?>
<p:tagLst xmlns:p="http://schemas.openxmlformats.org/presentationml/2006/main">
  <p:tag name="KSO_WM_BEAUTIFY_FLAG" val=""/>
</p:tagLst>
</file>

<file path=ppt/tags/tag661.xml><?xml version="1.0" encoding="utf-8"?>
<p:tagLst xmlns:p="http://schemas.openxmlformats.org/presentationml/2006/main">
  <p:tag name="KSO_WM_BEAUTIFY_FLAG" val=""/>
</p:tagLst>
</file>

<file path=ppt/tags/tag662.xml><?xml version="1.0" encoding="utf-8"?>
<p:tagLst xmlns:p="http://schemas.openxmlformats.org/presentationml/2006/main">
  <p:tag name="KSO_WM_BEAUTIFY_FLAG" val=""/>
</p:tagLst>
</file>

<file path=ppt/tags/tag663.xml><?xml version="1.0" encoding="utf-8"?>
<p:tagLst xmlns:p="http://schemas.openxmlformats.org/presentationml/2006/main">
  <p:tag name="KSO_WM_BEAUTIFY_FLAG" val=""/>
</p:tagLst>
</file>

<file path=ppt/tags/tag664.xml><?xml version="1.0" encoding="utf-8"?>
<p:tagLst xmlns:p="http://schemas.openxmlformats.org/presentationml/2006/main">
  <p:tag name="KSO_WM_BEAUTIFY_FLAG" val=""/>
</p:tagLst>
</file>

<file path=ppt/tags/tag665.xml><?xml version="1.0" encoding="utf-8"?>
<p:tagLst xmlns:p="http://schemas.openxmlformats.org/presentationml/2006/main">
  <p:tag name="KSO_WM_BEAUTIFY_FLAG" val=""/>
</p:tagLst>
</file>

<file path=ppt/tags/tag666.xml><?xml version="1.0" encoding="utf-8"?>
<p:tagLst xmlns:p="http://schemas.openxmlformats.org/presentationml/2006/main">
  <p:tag name="KSO_WM_BEAUTIFY_FLAG" val=""/>
</p:tagLst>
</file>

<file path=ppt/tags/tag667.xml><?xml version="1.0" encoding="utf-8"?>
<p:tagLst xmlns:p="http://schemas.openxmlformats.org/presentationml/2006/main">
  <p:tag name="KSO_WM_BEAUTIFY_FLAG" val=""/>
</p:tagLst>
</file>

<file path=ppt/tags/tag668.xml><?xml version="1.0" encoding="utf-8"?>
<p:tagLst xmlns:p="http://schemas.openxmlformats.org/presentationml/2006/main">
  <p:tag name="KSO_WM_BEAUTIFY_FLAG" val=""/>
</p:tagLst>
</file>

<file path=ppt/tags/tag669.xml><?xml version="1.0" encoding="utf-8"?>
<p:tagLst xmlns:p="http://schemas.openxmlformats.org/presentationml/2006/main">
  <p:tag name="KSO_WM_BEAUTIFY_FLAG" val=""/>
</p:tagLst>
</file>

<file path=ppt/tags/tag670.xml><?xml version="1.0" encoding="utf-8"?>
<p:tagLst xmlns:p="http://schemas.openxmlformats.org/presentationml/2006/main">
  <p:tag name="KSO_WM_BEAUTIFY_FLAG" val=""/>
</p:tagLst>
</file>

<file path=ppt/tags/tag671.xml><?xml version="1.0" encoding="utf-8"?>
<p:tagLst xmlns:p="http://schemas.openxmlformats.org/presentationml/2006/main">
  <p:tag name="KSO_WM_BEAUTIFY_FLAG" val=""/>
</p:tagLst>
</file>

<file path=ppt/tags/tag672.xml><?xml version="1.0" encoding="utf-8"?>
<p:tagLst xmlns:p="http://schemas.openxmlformats.org/presentationml/2006/main">
  <p:tag name="KSO_WM_BEAUTIFY_FLAG" val=""/>
</p:tagLst>
</file>

<file path=ppt/tags/tag673.xml><?xml version="1.0" encoding="utf-8"?>
<p:tagLst xmlns:p="http://schemas.openxmlformats.org/presentationml/2006/main">
  <p:tag name="KSO_WM_BEAUTIFY_FLAG" val=""/>
</p:tagLst>
</file>

<file path=ppt/tags/tag674.xml><?xml version="1.0" encoding="utf-8"?>
<p:tagLst xmlns:p="http://schemas.openxmlformats.org/presentationml/2006/main">
  <p:tag name="KSO_WM_BEAUTIFY_FLAG" val=""/>
</p:tagLst>
</file>

<file path=ppt/tags/tag675.xml><?xml version="1.0" encoding="utf-8"?>
<p:tagLst xmlns:p="http://schemas.openxmlformats.org/presentationml/2006/main">
  <p:tag name="KSO_WM_BEAUTIFY_FLAG" val=""/>
</p:tagLst>
</file>

<file path=ppt/tags/tag676.xml><?xml version="1.0" encoding="utf-8"?>
<p:tagLst xmlns:p="http://schemas.openxmlformats.org/presentationml/2006/main">
  <p:tag name="KSO_WM_BEAUTIFY_FLAG" val=""/>
</p:tagLst>
</file>

<file path=ppt/tags/tag677.xml><?xml version="1.0" encoding="utf-8"?>
<p:tagLst xmlns:p="http://schemas.openxmlformats.org/presentationml/2006/main">
  <p:tag name="KSO_WM_BEAUTIFY_FLAG" val=""/>
</p:tagLst>
</file>

<file path=ppt/tags/tag678.xml><?xml version="1.0" encoding="utf-8"?>
<p:tagLst xmlns:p="http://schemas.openxmlformats.org/presentationml/2006/main">
  <p:tag name="KSO_WM_BEAUTIFY_FLAG" val=""/>
</p:tagLst>
</file>

<file path=ppt/tags/tag679.xml><?xml version="1.0" encoding="utf-8"?>
<p:tagLst xmlns:p="http://schemas.openxmlformats.org/presentationml/2006/main">
  <p:tag name="KSO_WM_BEAUTIFY_FLAG" val=""/>
</p:tagLst>
</file>

<file path=ppt/tags/tag680.xml><?xml version="1.0" encoding="utf-8"?>
<p:tagLst xmlns:p="http://schemas.openxmlformats.org/presentationml/2006/main">
  <p:tag name="KSO_WM_BEAUTIFY_FLAG" val=""/>
</p:tagLst>
</file>

<file path=ppt/tags/tag681.xml><?xml version="1.0" encoding="utf-8"?>
<p:tagLst xmlns:p="http://schemas.openxmlformats.org/presentationml/2006/main">
  <p:tag name="KSO_WM_BEAUTIFY_FLAG" val=""/>
</p:tagLst>
</file>

<file path=ppt/tags/tag682.xml><?xml version="1.0" encoding="utf-8"?>
<p:tagLst xmlns:p="http://schemas.openxmlformats.org/presentationml/2006/main">
  <p:tag name="KSO_WM_BEAUTIFY_FLAG" val=""/>
</p:tagLst>
</file>

<file path=ppt/tags/tag683.xml><?xml version="1.0" encoding="utf-8"?>
<p:tagLst xmlns:p="http://schemas.openxmlformats.org/presentationml/2006/main">
  <p:tag name="KSO_WM_BEAUTIFY_FLAG" val=""/>
</p:tagLst>
</file>

<file path=ppt/tags/tag684.xml><?xml version="1.0" encoding="utf-8"?>
<p:tagLst xmlns:p="http://schemas.openxmlformats.org/presentationml/2006/main">
  <p:tag name="KSO_WM_BEAUTIFY_FLAG" val=""/>
</p:tagLst>
</file>

<file path=ppt/tags/tag685.xml><?xml version="1.0" encoding="utf-8"?>
<p:tagLst xmlns:p="http://schemas.openxmlformats.org/presentationml/2006/main">
  <p:tag name="KSO_WM_BEAUTIFY_FLAG" val=""/>
</p:tagLst>
</file>

<file path=ppt/tags/tag686.xml><?xml version="1.0" encoding="utf-8"?>
<p:tagLst xmlns:p="http://schemas.openxmlformats.org/presentationml/2006/main">
  <p:tag name="KSO_WM_BEAUTIFY_FLAG" val=""/>
</p:tagLst>
</file>

<file path=ppt/tags/tag687.xml><?xml version="1.0" encoding="utf-8"?>
<p:tagLst xmlns:p="http://schemas.openxmlformats.org/presentationml/2006/main">
  <p:tag name="KSO_WM_BEAUTIFY_FLAG" val=""/>
</p:tagLst>
</file>

<file path=ppt/tags/tag688.xml><?xml version="1.0" encoding="utf-8"?>
<p:tagLst xmlns:p="http://schemas.openxmlformats.org/presentationml/2006/main">
  <p:tag name="KSO_WM_BEAUTIFY_FLAG" val=""/>
</p:tagLst>
</file>

<file path=ppt/tags/tag689.xml><?xml version="1.0" encoding="utf-8"?>
<p:tagLst xmlns:p="http://schemas.openxmlformats.org/presentationml/2006/main">
  <p:tag name="KSO_WM_BEAUTIFY_FLAG" val=""/>
</p:tagLst>
</file>

<file path=ppt/tags/tag690.xml><?xml version="1.0" encoding="utf-8"?>
<p:tagLst xmlns:p="http://schemas.openxmlformats.org/presentationml/2006/main">
  <p:tag name="KSO_WM_BEAUTIFY_FLAG" val=""/>
</p:tagLst>
</file>

<file path=ppt/tags/tag691.xml><?xml version="1.0" encoding="utf-8"?>
<p:tagLst xmlns:p="http://schemas.openxmlformats.org/presentationml/2006/main">
  <p:tag name="KSO_WM_BEAUTIFY_FLAG" val=""/>
</p:tagLst>
</file>

<file path=ppt/tags/tag692.xml><?xml version="1.0" encoding="utf-8"?>
<p:tagLst xmlns:p="http://schemas.openxmlformats.org/presentationml/2006/main">
  <p:tag name="KSO_WM_BEAUTIFY_FLAG" val=""/>
</p:tagLst>
</file>

<file path=ppt/tags/tag693.xml><?xml version="1.0" encoding="utf-8"?>
<p:tagLst xmlns:p="http://schemas.openxmlformats.org/presentationml/2006/main">
  <p:tag name="KSO_WM_BEAUTIFY_FLAG" val=""/>
</p:tagLst>
</file>

<file path=ppt/tags/tag694.xml><?xml version="1.0" encoding="utf-8"?>
<p:tagLst xmlns:p="http://schemas.openxmlformats.org/presentationml/2006/main">
  <p:tag name="KSO_WM_BEAUTIFY_FLAG" val=""/>
</p:tagLst>
</file>

<file path=ppt/tags/tag695.xml><?xml version="1.0" encoding="utf-8"?>
<p:tagLst xmlns:p="http://schemas.openxmlformats.org/presentationml/2006/main">
  <p:tag name="KSO_WM_BEAUTIFY_FLAG" val=""/>
</p:tagLst>
</file>

<file path=ppt/tags/tag696.xml><?xml version="1.0" encoding="utf-8"?>
<p:tagLst xmlns:p="http://schemas.openxmlformats.org/presentationml/2006/main">
  <p:tag name="KSO_WM_BEAUTIFY_FLAG" val=""/>
</p:tagLst>
</file>

<file path=ppt/tags/tag697.xml><?xml version="1.0" encoding="utf-8"?>
<p:tagLst xmlns:p="http://schemas.openxmlformats.org/presentationml/2006/main">
  <p:tag name="KSO_WM_BEAUTIFY_FLAG" val=""/>
</p:tagLst>
</file>

<file path=ppt/tags/tag698.xml><?xml version="1.0" encoding="utf-8"?>
<p:tagLst xmlns:p="http://schemas.openxmlformats.org/presentationml/2006/main">
  <p:tag name="KSO_WM_BEAUTIFY_FLAG" val=""/>
</p:tagLst>
</file>

<file path=ppt/tags/tag699.xml><?xml version="1.0" encoding="utf-8"?>
<p:tagLst xmlns:p="http://schemas.openxmlformats.org/presentationml/2006/main">
  <p:tag name="KSO_WM_BEAUTIFY_FLAG" val=""/>
</p:tagLst>
</file>

<file path=ppt/tags/tag700.xml><?xml version="1.0" encoding="utf-8"?>
<p:tagLst xmlns:p="http://schemas.openxmlformats.org/presentationml/2006/main">
  <p:tag name="KSO_WM_BEAUTIFY_FLAG" val=""/>
</p:tagLst>
</file>

<file path=ppt/tags/tag701.xml><?xml version="1.0" encoding="utf-8"?>
<p:tagLst xmlns:p="http://schemas.openxmlformats.org/presentationml/2006/main">
  <p:tag name="KSO_WM_BEAUTIFY_FLAG" val=""/>
</p:tagLst>
</file>

<file path=ppt/tags/tag702.xml><?xml version="1.0" encoding="utf-8"?>
<p:tagLst xmlns:p="http://schemas.openxmlformats.org/presentationml/2006/main">
  <p:tag name="KSO_WM_BEAUTIFY_FLAG" val=""/>
</p:tagLst>
</file>

<file path=ppt/tags/tag703.xml><?xml version="1.0" encoding="utf-8"?>
<p:tagLst xmlns:p="http://schemas.openxmlformats.org/presentationml/2006/main">
  <p:tag name="KSO_WM_BEAUTIFY_FLAG" val=""/>
</p:tagLst>
</file>

<file path=ppt/tags/tag704.xml><?xml version="1.0" encoding="utf-8"?>
<p:tagLst xmlns:p="http://schemas.openxmlformats.org/presentationml/2006/main">
  <p:tag name="KSO_WM_BEAUTIFY_FLAG" val=""/>
</p:tagLst>
</file>

<file path=ppt/tags/tag705.xml><?xml version="1.0" encoding="utf-8"?>
<p:tagLst xmlns:p="http://schemas.openxmlformats.org/presentationml/2006/main">
  <p:tag name="KSO_WM_BEAUTIFY_FLAG" val=""/>
</p:tagLst>
</file>

<file path=ppt/tags/tag706.xml><?xml version="1.0" encoding="utf-8"?>
<p:tagLst xmlns:p="http://schemas.openxmlformats.org/presentationml/2006/main">
  <p:tag name="KSO_WM_BEAUTIFY_FLAG" val=""/>
</p:tagLst>
</file>

<file path=ppt/tags/tag707.xml><?xml version="1.0" encoding="utf-8"?>
<p:tagLst xmlns:p="http://schemas.openxmlformats.org/presentationml/2006/main">
  <p:tag name="KSO_WM_BEAUTIFY_FLAG" val=""/>
</p:tagLst>
</file>

<file path=ppt/tags/tag708.xml><?xml version="1.0" encoding="utf-8"?>
<p:tagLst xmlns:p="http://schemas.openxmlformats.org/presentationml/2006/main">
  <p:tag name="KSO_WM_BEAUTIFY_FLAG" val=""/>
</p:tagLst>
</file>

<file path=ppt/tags/tag709.xml><?xml version="1.0" encoding="utf-8"?>
<p:tagLst xmlns:p="http://schemas.openxmlformats.org/presentationml/2006/main">
  <p:tag name="KSO_WM_BEAUTIFY_FLAG" val=""/>
</p:tagLst>
</file>

<file path=ppt/tags/tag710.xml><?xml version="1.0" encoding="utf-8"?>
<p:tagLst xmlns:p="http://schemas.openxmlformats.org/presentationml/2006/main">
  <p:tag name="KSO_WM_BEAUTIFY_FLAG" val=""/>
</p:tagLst>
</file>

<file path=ppt/tags/tag711.xml><?xml version="1.0" encoding="utf-8"?>
<p:tagLst xmlns:p="http://schemas.openxmlformats.org/presentationml/2006/main">
  <p:tag name="KSO_WM_BEAUTIFY_FLAG" val=""/>
</p:tagLst>
</file>

<file path=ppt/tags/tag712.xml><?xml version="1.0" encoding="utf-8"?>
<p:tagLst xmlns:p="http://schemas.openxmlformats.org/presentationml/2006/main">
  <p:tag name="KSO_WM_BEAUTIFY_FLAG" val=""/>
</p:tagLst>
</file>

<file path=ppt/tags/tag713.xml><?xml version="1.0" encoding="utf-8"?>
<p:tagLst xmlns:p="http://schemas.openxmlformats.org/presentationml/2006/main">
  <p:tag name="KSO_WM_BEAUTIFY_FLAG" val=""/>
</p:tagLst>
</file>

<file path=ppt/tags/tag714.xml><?xml version="1.0" encoding="utf-8"?>
<p:tagLst xmlns:p="http://schemas.openxmlformats.org/presentationml/2006/main">
  <p:tag name="KSO_WM_BEAUTIFY_FLAG" val=""/>
</p:tagLst>
</file>

<file path=ppt/tags/tag715.xml><?xml version="1.0" encoding="utf-8"?>
<p:tagLst xmlns:p="http://schemas.openxmlformats.org/presentationml/2006/main">
  <p:tag name="KSO_WM_BEAUTIFY_FLAG" val=""/>
</p:tagLst>
</file>

<file path=ppt/tags/tag716.xml><?xml version="1.0" encoding="utf-8"?>
<p:tagLst xmlns:p="http://schemas.openxmlformats.org/presentationml/2006/main">
  <p:tag name="KSO_WM_BEAUTIFY_FLAG" val=""/>
</p:tagLst>
</file>

<file path=ppt/tags/tag717.xml><?xml version="1.0" encoding="utf-8"?>
<p:tagLst xmlns:p="http://schemas.openxmlformats.org/presentationml/2006/main">
  <p:tag name="KSO_WM_BEAUTIFY_FLAG" val=""/>
</p:tagLst>
</file>

<file path=ppt/tags/tag718.xml><?xml version="1.0" encoding="utf-8"?>
<p:tagLst xmlns:p="http://schemas.openxmlformats.org/presentationml/2006/main">
  <p:tag name="KSO_WM_BEAUTIFY_FLAG" val=""/>
</p:tagLst>
</file>

<file path=ppt/tags/tag719.xml><?xml version="1.0" encoding="utf-8"?>
<p:tagLst xmlns:p="http://schemas.openxmlformats.org/presentationml/2006/main">
  <p:tag name="KSO_WM_BEAUTIFY_FLAG" val=""/>
</p:tagLst>
</file>

<file path=ppt/tags/tag720.xml><?xml version="1.0" encoding="utf-8"?>
<p:tagLst xmlns:p="http://schemas.openxmlformats.org/presentationml/2006/main">
  <p:tag name="KSO_WM_BEAUTIFY_FLAG" val=""/>
</p:tagLst>
</file>

<file path=ppt/tags/tag721.xml><?xml version="1.0" encoding="utf-8"?>
<p:tagLst xmlns:p="http://schemas.openxmlformats.org/presentationml/2006/main">
  <p:tag name="KSO_WM_BEAUTIFY_FLAG" val=""/>
</p:tagLst>
</file>

<file path=ppt/tags/tag722.xml><?xml version="1.0" encoding="utf-8"?>
<p:tagLst xmlns:p="http://schemas.openxmlformats.org/presentationml/2006/main">
  <p:tag name="KSO_WM_BEAUTIFY_FLAG" val=""/>
</p:tagLst>
</file>

<file path=ppt/tags/tag723.xml><?xml version="1.0" encoding="utf-8"?>
<p:tagLst xmlns:p="http://schemas.openxmlformats.org/presentationml/2006/main">
  <p:tag name="KSO_WM_BEAUTIFY_FLAG" val=""/>
</p:tagLst>
</file>

<file path=ppt/tags/tag724.xml><?xml version="1.0" encoding="utf-8"?>
<p:tagLst xmlns:p="http://schemas.openxmlformats.org/presentationml/2006/main">
  <p:tag name="KSO_WM_BEAUTIFY_FLAG" val=""/>
</p:tagLst>
</file>

<file path=ppt/tags/tag725.xml><?xml version="1.0" encoding="utf-8"?>
<p:tagLst xmlns:p="http://schemas.openxmlformats.org/presentationml/2006/main">
  <p:tag name="KSO_WM_BEAUTIFY_FLAG" val=""/>
</p:tagLst>
</file>

<file path=ppt/tags/tag726.xml><?xml version="1.0" encoding="utf-8"?>
<p:tagLst xmlns:p="http://schemas.openxmlformats.org/presentationml/2006/main">
  <p:tag name="KSO_WM_BEAUTIFY_FLAG" val=""/>
</p:tagLst>
</file>

<file path=ppt/tags/tag727.xml><?xml version="1.0" encoding="utf-8"?>
<p:tagLst xmlns:p="http://schemas.openxmlformats.org/presentationml/2006/main">
  <p:tag name="KSO_WM_BEAUTIFY_FLAG" val=""/>
</p:tagLst>
</file>

<file path=ppt/tags/tag728.xml><?xml version="1.0" encoding="utf-8"?>
<p:tagLst xmlns:p="http://schemas.openxmlformats.org/presentationml/2006/main">
  <p:tag name="KSO_WM_BEAUTIFY_FLAG" val=""/>
</p:tagLst>
</file>

<file path=ppt/tags/tag729.xml><?xml version="1.0" encoding="utf-8"?>
<p:tagLst xmlns:p="http://schemas.openxmlformats.org/presentationml/2006/main">
  <p:tag name="KSO_WM_BEAUTIFY_FLAG" val=""/>
</p:tagLst>
</file>

<file path=ppt/tags/tag730.xml><?xml version="1.0" encoding="utf-8"?>
<p:tagLst xmlns:p="http://schemas.openxmlformats.org/presentationml/2006/main">
  <p:tag name="KSO_WM_BEAUTIFY_FLAG" val=""/>
</p:tagLst>
</file>

<file path=ppt/tags/tag731.xml><?xml version="1.0" encoding="utf-8"?>
<p:tagLst xmlns:p="http://schemas.openxmlformats.org/presentationml/2006/main">
  <p:tag name="KSO_WM_BEAUTIFY_FLAG" val=""/>
</p:tagLst>
</file>

<file path=ppt/tags/tag732.xml><?xml version="1.0" encoding="utf-8"?>
<p:tagLst xmlns:p="http://schemas.openxmlformats.org/presentationml/2006/main">
  <p:tag name="KSO_WM_BEAUTIFY_FLAG" val=""/>
</p:tagLst>
</file>

<file path=ppt/tags/tag733.xml><?xml version="1.0" encoding="utf-8"?>
<p:tagLst xmlns:p="http://schemas.openxmlformats.org/presentationml/2006/main">
  <p:tag name="KSO_WM_BEAUTIFY_FLAG" val=""/>
</p:tagLst>
</file>

<file path=ppt/tags/tag734.xml><?xml version="1.0" encoding="utf-8"?>
<p:tagLst xmlns:p="http://schemas.openxmlformats.org/presentationml/2006/main">
  <p:tag name="KSO_WM_BEAUTIFY_FLAG" val=""/>
</p:tagLst>
</file>

<file path=ppt/tags/tag735.xml><?xml version="1.0" encoding="utf-8"?>
<p:tagLst xmlns:p="http://schemas.openxmlformats.org/presentationml/2006/main">
  <p:tag name="KSO_WM_BEAUTIFY_FLAG" val=""/>
</p:tagLst>
</file>

<file path=ppt/tags/tag736.xml><?xml version="1.0" encoding="utf-8"?>
<p:tagLst xmlns:p="http://schemas.openxmlformats.org/presentationml/2006/main">
  <p:tag name="KSO_WM_BEAUTIFY_FLAG" val=""/>
</p:tagLst>
</file>

<file path=ppt/tags/tag737.xml><?xml version="1.0" encoding="utf-8"?>
<p:tagLst xmlns:p="http://schemas.openxmlformats.org/presentationml/2006/main">
  <p:tag name="KSO_WM_BEAUTIFY_FLAG" val=""/>
</p:tagLst>
</file>

<file path=ppt/tags/tag738.xml><?xml version="1.0" encoding="utf-8"?>
<p:tagLst xmlns:p="http://schemas.openxmlformats.org/presentationml/2006/main">
  <p:tag name="KSO_WM_BEAUTIFY_FLAG" val=""/>
</p:tagLst>
</file>

<file path=ppt/tags/tag739.xml><?xml version="1.0" encoding="utf-8"?>
<p:tagLst xmlns:p="http://schemas.openxmlformats.org/presentationml/2006/main">
  <p:tag name="KSO_WM_BEAUTIFY_FLAG" val=""/>
</p:tagLst>
</file>

<file path=ppt/tags/tag740.xml><?xml version="1.0" encoding="utf-8"?>
<p:tagLst xmlns:p="http://schemas.openxmlformats.org/presentationml/2006/main">
  <p:tag name="KSO_WM_BEAUTIFY_FLAG" val=""/>
</p:tagLst>
</file>

<file path=ppt/tags/tag741.xml><?xml version="1.0" encoding="utf-8"?>
<p:tagLst xmlns:p="http://schemas.openxmlformats.org/presentationml/2006/main">
  <p:tag name="KSO_WM_BEAUTIFY_FLAG" val=""/>
</p:tagLst>
</file>

<file path=ppt/tags/tag742.xml><?xml version="1.0" encoding="utf-8"?>
<p:tagLst xmlns:p="http://schemas.openxmlformats.org/presentationml/2006/main">
  <p:tag name="KSO_WM_BEAUTIFY_FLAG" val=""/>
</p:tagLst>
</file>

<file path=ppt/tags/tag743.xml><?xml version="1.0" encoding="utf-8"?>
<p:tagLst xmlns:p="http://schemas.openxmlformats.org/presentationml/2006/main">
  <p:tag name="KSO_WM_BEAUTIFY_FLAG" val=""/>
</p:tagLst>
</file>

<file path=ppt/tags/tag744.xml><?xml version="1.0" encoding="utf-8"?>
<p:tagLst xmlns:p="http://schemas.openxmlformats.org/presentationml/2006/main">
  <p:tag name="KSO_WM_BEAUTIFY_FLAG" val=""/>
</p:tagLst>
</file>

<file path=ppt/tags/tag745.xml><?xml version="1.0" encoding="utf-8"?>
<p:tagLst xmlns:p="http://schemas.openxmlformats.org/presentationml/2006/main">
  <p:tag name="KSO_WM_BEAUTIFY_FLAG" val=""/>
</p:tagLst>
</file>

<file path=ppt/tags/tag746.xml><?xml version="1.0" encoding="utf-8"?>
<p:tagLst xmlns:p="http://schemas.openxmlformats.org/presentationml/2006/main">
  <p:tag name="KSO_WM_BEAUTIFY_FLAG" val=""/>
</p:tagLst>
</file>

<file path=ppt/tags/tag747.xml><?xml version="1.0" encoding="utf-8"?>
<p:tagLst xmlns:p="http://schemas.openxmlformats.org/presentationml/2006/main">
  <p:tag name="KSO_WM_BEAUTIFY_FLAG" val=""/>
</p:tagLst>
</file>

<file path=ppt/tags/tag748.xml><?xml version="1.0" encoding="utf-8"?>
<p:tagLst xmlns:p="http://schemas.openxmlformats.org/presentationml/2006/main">
  <p:tag name="KSO_WM_BEAUTIFY_FLAG" val=""/>
</p:tagLst>
</file>

<file path=ppt/tags/tag749.xml><?xml version="1.0" encoding="utf-8"?>
<p:tagLst xmlns:p="http://schemas.openxmlformats.org/presentationml/2006/main">
  <p:tag name="KSO_WM_BEAUTIFY_FLAG" val=""/>
</p:tagLst>
</file>

<file path=ppt/tags/tag750.xml><?xml version="1.0" encoding="utf-8"?>
<p:tagLst xmlns:p="http://schemas.openxmlformats.org/presentationml/2006/main">
  <p:tag name="KSO_WM_BEAUTIFY_FLAG" val=""/>
  <p:tag name="TABLE_ENDDRAG_ORIGIN_RECT" val="476*107"/>
  <p:tag name="TABLE_ENDDRAG_RECT" val="133*184*476*107"/>
</p:tagLst>
</file>

<file path=ppt/tags/tag751.xml><?xml version="1.0" encoding="utf-8"?>
<p:tagLst xmlns:p="http://schemas.openxmlformats.org/presentationml/2006/main">
  <p:tag name="COMMONDATA" val="eyJoZGlkIjoiY2ZiYjY4MjU5YzBkYmJmZjUyNGJiOWY1ZTc3NzM1MGY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21344</Words>
  <Application>WPS 演示</Application>
  <PresentationFormat>全屏显示(4:3)</PresentationFormat>
  <Paragraphs>3535</Paragraphs>
  <Slides>61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61</vt:i4>
      </vt:variant>
    </vt:vector>
  </HeadingPairs>
  <TitlesOfParts>
    <vt:vector size="72" baseType="lpstr">
      <vt:lpstr>Arial</vt:lpstr>
      <vt:lpstr>宋体</vt:lpstr>
      <vt:lpstr>Wingdings</vt:lpstr>
      <vt:lpstr>Times New Roman</vt:lpstr>
      <vt:lpstr>MS Gothic</vt:lpstr>
      <vt:lpstr>黑体</vt:lpstr>
      <vt:lpstr>Times New Roman</vt:lpstr>
      <vt:lpstr>Symbol</vt:lpstr>
      <vt:lpstr>微软雅黑</vt:lpstr>
      <vt:lpstr>Arial Unicode MS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PowerPoint 演示文稿</dc:title>
  <cp:revision>1348</cp:revision>
</cp:coreProperties>
</file>

<file path=docProps/custom.xml><?xml version="1.0" encoding="utf-8"?>
<Properties xmlns="http://schemas.openxmlformats.org/officeDocument/2006/custom-properties"/>
</file>