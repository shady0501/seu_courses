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422" r:id="rId2"/>
    <p:sldId id="449" r:id="rId3"/>
    <p:sldId id="448" r:id="rId4"/>
    <p:sldId id="454" r:id="rId5"/>
    <p:sldId id="435" r:id="rId6"/>
    <p:sldId id="408" r:id="rId7"/>
    <p:sldId id="453" r:id="rId8"/>
    <p:sldId id="450" r:id="rId9"/>
    <p:sldId id="451" r:id="rId10"/>
    <p:sldId id="444" r:id="rId11"/>
    <p:sldId id="445" r:id="rId12"/>
    <p:sldId id="446" r:id="rId13"/>
    <p:sldId id="447" r:id="rId14"/>
    <p:sldId id="432" r:id="rId15"/>
    <p:sldId id="433" r:id="rId16"/>
    <p:sldId id="456" r:id="rId17"/>
    <p:sldId id="458" r:id="rId18"/>
    <p:sldId id="431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33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image" Target="../media/image42.wmf"/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12" Type="http://schemas.openxmlformats.org/officeDocument/2006/relationships/image" Target="../media/image41.wmf"/><Relationship Id="rId2" Type="http://schemas.openxmlformats.org/officeDocument/2006/relationships/image" Target="../media/image31.wmf"/><Relationship Id="rId16" Type="http://schemas.openxmlformats.org/officeDocument/2006/relationships/image" Target="../media/image45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11" Type="http://schemas.openxmlformats.org/officeDocument/2006/relationships/image" Target="../media/image40.wmf"/><Relationship Id="rId5" Type="http://schemas.openxmlformats.org/officeDocument/2006/relationships/image" Target="../media/image34.wmf"/><Relationship Id="rId15" Type="http://schemas.openxmlformats.org/officeDocument/2006/relationships/image" Target="../media/image44.wmf"/><Relationship Id="rId10" Type="http://schemas.openxmlformats.org/officeDocument/2006/relationships/image" Target="../media/image39.wmf"/><Relationship Id="rId4" Type="http://schemas.openxmlformats.org/officeDocument/2006/relationships/image" Target="../media/image33.wmf"/><Relationship Id="rId9" Type="http://schemas.openxmlformats.org/officeDocument/2006/relationships/image" Target="../media/image38.wmf"/><Relationship Id="rId14" Type="http://schemas.openxmlformats.org/officeDocument/2006/relationships/image" Target="../media/image4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E0A96-EAD0-4857-8EDC-F55EDC60E973}" type="datetimeFigureOut">
              <a:rPr lang="zh-CN" altLang="en-US" smtClean="0"/>
              <a:t>2021-5-18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E25E0D-0069-4CED-96C4-5E8F48A891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963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6684963" y="6440488"/>
            <a:ext cx="2133600" cy="412750"/>
          </a:xfrm>
        </p:spPr>
        <p:txBody>
          <a:bodyPr/>
          <a:lstStyle>
            <a:lvl1pPr>
              <a:defRPr/>
            </a:lvl1pPr>
          </a:lstStyle>
          <a:p>
            <a:fld id="{4C3371D0-DF74-405C-B5DB-78C23D13137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3721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2021-5-18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5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8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5.bin"/><Relationship Id="rId18" Type="http://schemas.openxmlformats.org/officeDocument/2006/relationships/image" Target="../media/image37.wmf"/><Relationship Id="rId26" Type="http://schemas.openxmlformats.org/officeDocument/2006/relationships/oleObject" Target="../embeddings/oleObject41.bin"/><Relationship Id="rId3" Type="http://schemas.openxmlformats.org/officeDocument/2006/relationships/oleObject" Target="../embeddings/oleObject30.bin"/><Relationship Id="rId21" Type="http://schemas.openxmlformats.org/officeDocument/2006/relationships/image" Target="../media/image46.jpeg"/><Relationship Id="rId34" Type="http://schemas.openxmlformats.org/officeDocument/2006/relationships/oleObject" Target="../embeddings/oleObject45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37.bin"/><Relationship Id="rId25" Type="http://schemas.openxmlformats.org/officeDocument/2006/relationships/image" Target="../media/image40.wmf"/><Relationship Id="rId33" Type="http://schemas.openxmlformats.org/officeDocument/2006/relationships/image" Target="../media/image4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.wmf"/><Relationship Id="rId20" Type="http://schemas.openxmlformats.org/officeDocument/2006/relationships/image" Target="../media/image38.wmf"/><Relationship Id="rId29" Type="http://schemas.openxmlformats.org/officeDocument/2006/relationships/image" Target="../media/image42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4.bin"/><Relationship Id="rId24" Type="http://schemas.openxmlformats.org/officeDocument/2006/relationships/oleObject" Target="../embeddings/oleObject40.bin"/><Relationship Id="rId32" Type="http://schemas.openxmlformats.org/officeDocument/2006/relationships/oleObject" Target="../embeddings/oleObject4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23" Type="http://schemas.openxmlformats.org/officeDocument/2006/relationships/image" Target="../media/image39.wmf"/><Relationship Id="rId28" Type="http://schemas.openxmlformats.org/officeDocument/2006/relationships/oleObject" Target="../embeddings/oleObject42.bin"/><Relationship Id="rId10" Type="http://schemas.openxmlformats.org/officeDocument/2006/relationships/image" Target="../media/image33.wmf"/><Relationship Id="rId19" Type="http://schemas.openxmlformats.org/officeDocument/2006/relationships/oleObject" Target="../embeddings/oleObject38.bin"/><Relationship Id="rId31" Type="http://schemas.openxmlformats.org/officeDocument/2006/relationships/image" Target="../media/image4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5.wmf"/><Relationship Id="rId22" Type="http://schemas.openxmlformats.org/officeDocument/2006/relationships/oleObject" Target="../embeddings/oleObject39.bin"/><Relationship Id="rId27" Type="http://schemas.openxmlformats.org/officeDocument/2006/relationships/image" Target="../media/image41.wmf"/><Relationship Id="rId30" Type="http://schemas.openxmlformats.org/officeDocument/2006/relationships/oleObject" Target="../embeddings/oleObject43.bin"/><Relationship Id="rId35" Type="http://schemas.openxmlformats.org/officeDocument/2006/relationships/image" Target="../media/image45.wmf"/><Relationship Id="rId8" Type="http://schemas.openxmlformats.org/officeDocument/2006/relationships/image" Target="../media/image32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4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4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2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54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3528" y="476672"/>
            <a:ext cx="864096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练习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一宇宙飞船相对地面以速度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作匀速直线飞行，某一时刻飞船头部的宇航员向船尾发出一光信号，经过</a:t>
            </a:r>
            <a:r>
              <a:rPr lang="el-GR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（飞船上的钟）时间后，被尾部的接收器收到，则由此可知飞船的固有长度为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  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]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9068111"/>
              </p:ext>
            </p:extLst>
          </p:nvPr>
        </p:nvGraphicFramePr>
        <p:xfrm>
          <a:off x="1001342" y="2453768"/>
          <a:ext cx="2994594" cy="21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89" name="Equation" r:id="rId3" imgW="1396800" imgH="1015920" progId="Equation.DSMT4">
                  <p:embed/>
                </p:oleObj>
              </mc:Choice>
              <mc:Fallback>
                <p:oleObj name="Equation" r:id="rId3" imgW="1396800" imgH="1015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1342" y="2453768"/>
                        <a:ext cx="2994594" cy="2177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337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3528" y="476672"/>
            <a:ext cx="864096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练习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惯性系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S’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相对于惯性系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以速率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0.2c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沿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轴正方向匀速运动。惯性系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中的观察者观测到，一物体以速率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0.5c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匀速运动，则在惯性系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S’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中观察到该物体速度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方向分量不可能为 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]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027648"/>
              </p:ext>
            </p:extLst>
          </p:nvPr>
        </p:nvGraphicFramePr>
        <p:xfrm>
          <a:off x="899592" y="2564904"/>
          <a:ext cx="2006377" cy="479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71" name="Equation" r:id="rId3" imgW="850680" imgH="203040" progId="Equation.DSMT4">
                  <p:embed/>
                </p:oleObj>
              </mc:Choice>
              <mc:Fallback>
                <p:oleObj name="Equation" r:id="rId3" imgW="850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9592" y="2564904"/>
                        <a:ext cx="2006377" cy="4791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492729"/>
              </p:ext>
            </p:extLst>
          </p:nvPr>
        </p:nvGraphicFramePr>
        <p:xfrm>
          <a:off x="4964113" y="2565400"/>
          <a:ext cx="10779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72" name="Equation" r:id="rId5" imgW="457200" imgH="203040" progId="Equation.DSMT4">
                  <p:embed/>
                </p:oleObj>
              </mc:Choice>
              <mc:Fallback>
                <p:oleObj name="Equation" r:id="rId5" imgW="457200" imgH="20304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4113" y="2565400"/>
                        <a:ext cx="1077912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689932"/>
              </p:ext>
            </p:extLst>
          </p:nvPr>
        </p:nvGraphicFramePr>
        <p:xfrm>
          <a:off x="1049338" y="3573463"/>
          <a:ext cx="17081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73" name="Equation" r:id="rId7" imgW="723600" imgH="203040" progId="Equation.DSMT4">
                  <p:embed/>
                </p:oleObj>
              </mc:Choice>
              <mc:Fallback>
                <p:oleObj name="Equation" r:id="rId7" imgW="723600" imgH="20304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338" y="3573463"/>
                        <a:ext cx="17081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353979"/>
              </p:ext>
            </p:extLst>
          </p:nvPr>
        </p:nvGraphicFramePr>
        <p:xfrm>
          <a:off x="4902200" y="3573463"/>
          <a:ext cx="18875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74" name="Equation" r:id="rId9" imgW="799920" imgH="203040" progId="Equation.DSMT4">
                  <p:embed/>
                </p:oleObj>
              </mc:Choice>
              <mc:Fallback>
                <p:oleObj name="Equation" r:id="rId9" imgW="799920" imgH="20304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200" y="3573463"/>
                        <a:ext cx="188753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947302"/>
              </p:ext>
            </p:extLst>
          </p:nvPr>
        </p:nvGraphicFramePr>
        <p:xfrm>
          <a:off x="236314" y="4581128"/>
          <a:ext cx="8815387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75" name="Equation" r:id="rId11" imgW="3733560" imgH="431640" progId="Equation.DSMT4">
                  <p:embed/>
                </p:oleObj>
              </mc:Choice>
              <mc:Fallback>
                <p:oleObj name="Equation" r:id="rId11" imgW="3733560" imgH="43164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314" y="4581128"/>
                        <a:ext cx="8815387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413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9512" y="159950"/>
            <a:ext cx="8496944" cy="2332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练习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="1" dirty="0" smtClean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有一列火车以速率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相对于地面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匀速运动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，火车上一相对火车静止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的光源竖直向上发出一束激光，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在地面上的人看来，激光的速度大小和与地面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夹角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 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2" name="对象 1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703847"/>
              </p:ext>
            </p:extLst>
          </p:nvPr>
        </p:nvGraphicFramePr>
        <p:xfrm>
          <a:off x="395536" y="2708920"/>
          <a:ext cx="38512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65" name="Equation" r:id="rId3" imgW="1638000" imgH="393480" progId="Equation.DSMT4">
                  <p:embed/>
                </p:oleObj>
              </mc:Choice>
              <mc:Fallback>
                <p:oleObj name="Equation" r:id="rId3" imgW="1638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2708920"/>
                        <a:ext cx="385127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891846"/>
              </p:ext>
            </p:extLst>
          </p:nvPr>
        </p:nvGraphicFramePr>
        <p:xfrm>
          <a:off x="4965032" y="2636912"/>
          <a:ext cx="2776537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66" name="Equation" r:id="rId5" imgW="1180800" imgH="393480" progId="Equation.DSMT4">
                  <p:embed/>
                </p:oleObj>
              </mc:Choice>
              <mc:Fallback>
                <p:oleObj name="Equation" r:id="rId5" imgW="1180800" imgH="393480" progId="Equation.DSMT4">
                  <p:embed/>
                  <p:pic>
                    <p:nvPicPr>
                      <p:cNvPr id="0" name="对象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5032" y="2636912"/>
                        <a:ext cx="2776537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995673"/>
              </p:ext>
            </p:extLst>
          </p:nvPr>
        </p:nvGraphicFramePr>
        <p:xfrm>
          <a:off x="423863" y="3708400"/>
          <a:ext cx="1909762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67" name="Equation" r:id="rId7" imgW="812520" imgH="393480" progId="Equation.DSMT4">
                  <p:embed/>
                </p:oleObj>
              </mc:Choice>
              <mc:Fallback>
                <p:oleObj name="Equation" r:id="rId7" imgW="812520" imgH="39348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3" y="3708400"/>
                        <a:ext cx="1909762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747445"/>
              </p:ext>
            </p:extLst>
          </p:nvPr>
        </p:nvGraphicFramePr>
        <p:xfrm>
          <a:off x="4918075" y="3573463"/>
          <a:ext cx="3881438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68" name="Equation" r:id="rId9" imgW="1650960" imgH="393480" progId="Equation.DSMT4">
                  <p:embed/>
                </p:oleObj>
              </mc:Choice>
              <mc:Fallback>
                <p:oleObj name="Equation" r:id="rId9" imgW="1650960" imgH="393480" progId="Equation.DSMT4">
                  <p:embed/>
                  <p:pic>
                    <p:nvPicPr>
                      <p:cNvPr id="0" name="对象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8075" y="3573463"/>
                        <a:ext cx="3881438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646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35"/>
          <p:cNvSpPr txBox="1">
            <a:spLocks noChangeArrowheads="1"/>
          </p:cNvSpPr>
          <p:nvPr/>
        </p:nvSpPr>
        <p:spPr bwMode="auto">
          <a:xfrm>
            <a:off x="179512" y="103272"/>
            <a:ext cx="8856984" cy="216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练习</a:t>
            </a:r>
            <a:r>
              <a:rPr lang="en-US" altLang="zh-CN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在地球（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系）中的观测者发现，飞船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S’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系）以速率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=c/2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沿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轴正方向匀速运动，而飞船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的速度落在</a:t>
            </a:r>
            <a:r>
              <a:rPr lang="en-US" altLang="zh-C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平面内且与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轴正方向的夹角为</a:t>
            </a:r>
            <a:r>
              <a:rPr lang="el-GR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l-GR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/4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，速率为      ，问在飞船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上的宇航员看来，飞船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的速度为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  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]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039697"/>
              </p:ext>
            </p:extLst>
          </p:nvPr>
        </p:nvGraphicFramePr>
        <p:xfrm>
          <a:off x="8032234" y="1210575"/>
          <a:ext cx="653366" cy="462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00" name="Equation" r:id="rId3" imgW="304560" imgH="215640" progId="Equation.DSMT4">
                  <p:embed/>
                </p:oleObj>
              </mc:Choice>
              <mc:Fallback>
                <p:oleObj name="Equation" r:id="rId3" imgW="304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32234" y="1210575"/>
                        <a:ext cx="653366" cy="4628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679512"/>
              </p:ext>
            </p:extLst>
          </p:nvPr>
        </p:nvGraphicFramePr>
        <p:xfrm>
          <a:off x="899592" y="2420888"/>
          <a:ext cx="1760538" cy="354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01" name="Equation" r:id="rId5" imgW="749160" imgH="1498320" progId="Equation.DSMT4">
                  <p:embed/>
                </p:oleObj>
              </mc:Choice>
              <mc:Fallback>
                <p:oleObj name="Equation" r:id="rId5" imgW="749160" imgH="1498320" progId="Equation.DSMT4">
                  <p:embed/>
                  <p:pic>
                    <p:nvPicPr>
                      <p:cNvPr id="0" name="对象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420888"/>
                        <a:ext cx="1760538" cy="354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577028"/>
              </p:ext>
            </p:extLst>
          </p:nvPr>
        </p:nvGraphicFramePr>
        <p:xfrm>
          <a:off x="3131840" y="3780329"/>
          <a:ext cx="2814638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02" name="Equation" r:id="rId7" imgW="1231560" imgH="431640" progId="Equation.DSMT4">
                  <p:embed/>
                </p:oleObj>
              </mc:Choice>
              <mc:Fallback>
                <p:oleObj name="Equation" r:id="rId7" imgW="1231560" imgH="4316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3780329"/>
                        <a:ext cx="2814638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115150"/>
              </p:ext>
            </p:extLst>
          </p:nvPr>
        </p:nvGraphicFramePr>
        <p:xfrm>
          <a:off x="3059832" y="2783316"/>
          <a:ext cx="4351337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03" name="Equation" r:id="rId9" imgW="1904760" imgH="419040" progId="Equation.DSMT4">
                  <p:embed/>
                </p:oleObj>
              </mc:Choice>
              <mc:Fallback>
                <p:oleObj name="Equation" r:id="rId9" imgW="1904760" imgH="41904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2783316"/>
                        <a:ext cx="4351337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5444448"/>
              </p:ext>
            </p:extLst>
          </p:nvPr>
        </p:nvGraphicFramePr>
        <p:xfrm>
          <a:off x="3203848" y="4797152"/>
          <a:ext cx="3656012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04" name="Equation" r:id="rId11" imgW="1676160" imgH="507960" progId="Equation.DSMT4">
                  <p:embed/>
                </p:oleObj>
              </mc:Choice>
              <mc:Fallback>
                <p:oleObj name="Equation" r:id="rId11" imgW="1676160" imgH="50796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4797152"/>
                        <a:ext cx="3656012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7113029" y="2556193"/>
            <a:ext cx="1923467" cy="2024935"/>
            <a:chOff x="6156176" y="1700808"/>
            <a:chExt cx="1923467" cy="2024935"/>
          </a:xfrm>
        </p:grpSpPr>
        <p:cxnSp>
          <p:nvCxnSpPr>
            <p:cNvPr id="10" name="直接箭头连接符 9"/>
            <p:cNvCxnSpPr/>
            <p:nvPr/>
          </p:nvCxnSpPr>
          <p:spPr>
            <a:xfrm>
              <a:off x="6156176" y="3284984"/>
              <a:ext cx="19234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flipV="1">
              <a:off x="6516216" y="1700808"/>
              <a:ext cx="0" cy="19442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>
              <a:off x="6876256" y="3284984"/>
              <a:ext cx="792088" cy="0"/>
            </a:xfrm>
            <a:prstGeom prst="straightConnector1">
              <a:avLst/>
            </a:prstGeom>
            <a:ln w="57150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flipV="1">
              <a:off x="6876256" y="2220318"/>
              <a:ext cx="720080" cy="704626"/>
            </a:xfrm>
            <a:prstGeom prst="straightConnector1">
              <a:avLst/>
            </a:prstGeom>
            <a:ln w="57150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7596336" y="3140968"/>
              <a:ext cx="3674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zh-CN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689793" y="1927931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endParaRPr lang="zh-CN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923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7504" y="476672"/>
            <a:ext cx="8928992" cy="4327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惯性系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S’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相对于惯性系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以速率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沿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轴正方向匀速运动，且两者在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t=t’=0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时重合，惯性系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中的观察者测量到，事件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先于事件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发生，则在惯性系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S’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中观察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  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]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AutoNum type="alphaUcParenBoth"/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这两个事件不可能是同时发生的；</a:t>
            </a:r>
            <a:endParaRPr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AutoNum type="alphaUcParenBoth"/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事件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一定也是先于事件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发生；</a:t>
            </a:r>
            <a:endParaRPr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AutoNum type="alphaUcParenBoth"/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这两个事件不可能是同地发生的；</a:t>
            </a:r>
            <a:endParaRPr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AutoNum type="alphaUcParenBoth"/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条件不足，无法判断。</a:t>
            </a:r>
            <a:endParaRPr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68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504" y="116632"/>
            <a:ext cx="8784976" cy="5053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 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按照相对论的时空观，下列叙述中正确的是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 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惯性系中先后发生的两个事件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，在另一惯性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系中一定颠倒循序     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一个惯性系中先后发生的两个事件，在另一惯性系中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一定不颠倒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循序 </a:t>
            </a:r>
            <a:endParaRPr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一个惯性系中同时不同地发生的两个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事件，在另一惯性系中一定同地不同时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在一个惯性系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中同时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同地发生的两个事件，在另一惯性系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中一定是同时事件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072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3528" y="714176"/>
            <a:ext cx="8640960" cy="4844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有一直尺固定在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S’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系中，它与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Ox’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轴的夹角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S’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系以速度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沿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Ox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轴方向相对于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系运动，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系中观察者测得该尺与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Ox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轴的夹角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]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AutoNum type="alphaUcParenBoth"/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大于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b="1" dirty="0" smtClean="0">
                <a:latin typeface="Times New Roman"/>
                <a:cs typeface="Times New Roman"/>
              </a:rPr>
              <a:t>°</a:t>
            </a:r>
            <a:endParaRPr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AutoNum type="alphaUcParenBoth"/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小于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b="1" dirty="0" smtClean="0">
                <a:latin typeface="Times New Roman"/>
                <a:cs typeface="Times New Roman"/>
              </a:rPr>
              <a:t>°</a:t>
            </a:r>
            <a:endParaRPr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AutoNum type="alphaUcParenBoth"/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b="1" dirty="0" smtClean="0">
                <a:latin typeface="Times New Roman"/>
                <a:cs typeface="Times New Roman"/>
              </a:rPr>
              <a:t>°</a:t>
            </a:r>
            <a:endParaRPr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AutoNum type="alphaUcParenBoth"/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S’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系沿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Ox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正方向运动时大于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b="1" dirty="0" smtClean="0">
                <a:latin typeface="Times New Roman"/>
                <a:cs typeface="Times New Roman"/>
              </a:rPr>
              <a:t>°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，而当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S’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系沿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Ox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负方向运动时小于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 </a:t>
            </a:r>
            <a:r>
              <a:rPr lang="en-US" altLang="zh-CN" sz="2800" b="1" dirty="0" smtClean="0">
                <a:latin typeface="Times New Roman"/>
                <a:cs typeface="Times New Roman"/>
              </a:rPr>
              <a:t>°</a:t>
            </a:r>
            <a:endParaRPr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742979"/>
              </p:ext>
            </p:extLst>
          </p:nvPr>
        </p:nvGraphicFramePr>
        <p:xfrm>
          <a:off x="7505841" y="819388"/>
          <a:ext cx="1170615" cy="381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56" name="Equation" r:id="rId3" imgW="545760" imgH="177480" progId="Equation.DSMT4">
                  <p:embed/>
                </p:oleObj>
              </mc:Choice>
              <mc:Fallback>
                <p:oleObj name="Equation" r:id="rId3" imgW="5457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05841" y="819388"/>
                        <a:ext cx="1170615" cy="381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5461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3528" y="188640"/>
            <a:ext cx="8640960" cy="216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一列高速火车以速度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驶过车站时，固定在站台上的两只机械手在车厢上同时划出两个痕迹，静止在站台上的观察者测出两痕迹之间的距离为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，而车厢上的观察者测出这两个痕迹之间的距离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  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]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595748"/>
              </p:ext>
            </p:extLst>
          </p:nvPr>
        </p:nvGraphicFramePr>
        <p:xfrm>
          <a:off x="827584" y="2708920"/>
          <a:ext cx="2954337" cy="287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497" name="Equation" r:id="rId3" imgW="1257120" imgH="1218960" progId="Equation.DSMT4">
                  <p:embed/>
                </p:oleObj>
              </mc:Choice>
              <mc:Fallback>
                <p:oleObj name="Equation" r:id="rId3" imgW="1257120" imgH="121896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708920"/>
                        <a:ext cx="2954337" cy="287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672872"/>
              </p:ext>
            </p:extLst>
          </p:nvPr>
        </p:nvGraphicFramePr>
        <p:xfrm>
          <a:off x="6516216" y="3861048"/>
          <a:ext cx="14382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498" name="Equation" r:id="rId5" imgW="609480" imgH="203040" progId="Equation.DSMT4">
                  <p:embed/>
                </p:oleObj>
              </mc:Choice>
              <mc:Fallback>
                <p:oleObj name="Equation" r:id="rId5" imgW="609480" imgH="20304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216" y="3861048"/>
                        <a:ext cx="143827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692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3528" y="188640"/>
            <a:ext cx="8640960" cy="4799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一飞船以速率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v=0.8c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匀速飞离地球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地面上的工作人员向飞船发射了两个无线电脉冲信号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两信号的时间间隔为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3s(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地球时间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则飞船上的宇航员测到两信号发射的时间间隔为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  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]</a:t>
            </a: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AutoNum type="alphaUcParenBoth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 s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AutoNum type="alphaUcParenBoth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5 s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AutoNum type="alphaUcParenBoth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1.8 s</a:t>
            </a:r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buAutoNum type="alphaUcParenBoth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3.8 s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324747"/>
              </p:ext>
            </p:extLst>
          </p:nvPr>
        </p:nvGraphicFramePr>
        <p:xfrm>
          <a:off x="3923928" y="3140968"/>
          <a:ext cx="3789363" cy="1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583" name="Equation" r:id="rId3" imgW="1612800" imgH="660240" progId="Equation.DSMT4">
                  <p:embed/>
                </p:oleObj>
              </mc:Choice>
              <mc:Fallback>
                <p:oleObj name="Equation" r:id="rId3" imgW="1612800" imgH="66024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3140968"/>
                        <a:ext cx="3789363" cy="155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2009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5536" y="44624"/>
            <a:ext cx="813690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地面上有一个长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的飞机跑道，一架飞机从起点高速驶向终点用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l-GR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然后起飞。现有一艘飞船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以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的速度沿着跑道正方向飞过，则根据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飞船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中的宇航员测量， 跑道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长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以及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飞机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从起点到终点驶过的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距离分别为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]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505956"/>
              </p:ext>
            </p:extLst>
          </p:nvPr>
        </p:nvGraphicFramePr>
        <p:xfrm>
          <a:off x="338664" y="2708920"/>
          <a:ext cx="4795694" cy="623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7" name="Equation" r:id="rId3" imgW="2070000" imgH="279360" progId="Equation.DSMT4">
                  <p:embed/>
                </p:oleObj>
              </mc:Choice>
              <mc:Fallback>
                <p:oleObj name="Equation" r:id="rId3" imgW="20700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664" y="2708920"/>
                        <a:ext cx="4795694" cy="623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695573"/>
              </p:ext>
            </p:extLst>
          </p:nvPr>
        </p:nvGraphicFramePr>
        <p:xfrm>
          <a:off x="313941" y="3429000"/>
          <a:ext cx="5266171" cy="623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8" name="Equation" r:id="rId5" imgW="2273040" imgH="279360" progId="Equation.DSMT4">
                  <p:embed/>
                </p:oleObj>
              </mc:Choice>
              <mc:Fallback>
                <p:oleObj name="Equation" r:id="rId5" imgW="2273040" imgH="27936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941" y="3429000"/>
                        <a:ext cx="5266171" cy="623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647531"/>
              </p:ext>
            </p:extLst>
          </p:nvPr>
        </p:nvGraphicFramePr>
        <p:xfrm>
          <a:off x="310272" y="5201259"/>
          <a:ext cx="4707659" cy="964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9" name="Equation" r:id="rId7" imgW="2031840" imgH="431640" progId="Equation.DSMT4">
                  <p:embed/>
                </p:oleObj>
              </mc:Choice>
              <mc:Fallback>
                <p:oleObj name="Equation" r:id="rId7" imgW="2031840" imgH="43164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272" y="5201259"/>
                        <a:ext cx="4707659" cy="964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026984"/>
              </p:ext>
            </p:extLst>
          </p:nvPr>
        </p:nvGraphicFramePr>
        <p:xfrm>
          <a:off x="311921" y="4139245"/>
          <a:ext cx="4914034" cy="964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0" name="Equation" r:id="rId9" imgW="2120760" imgH="431640" progId="Equation.DSMT4">
                  <p:embed/>
                </p:oleObj>
              </mc:Choice>
              <mc:Fallback>
                <p:oleObj name="Equation" r:id="rId9" imgW="2120760" imgH="43164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921" y="4139245"/>
                        <a:ext cx="4914034" cy="964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512608"/>
              </p:ext>
            </p:extLst>
          </p:nvPr>
        </p:nvGraphicFramePr>
        <p:xfrm>
          <a:off x="6228184" y="2924944"/>
          <a:ext cx="2655887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1" name="Equation" r:id="rId11" imgW="1130040" imgH="901440" progId="Equation.DSMT4">
                  <p:embed/>
                </p:oleObj>
              </mc:Choice>
              <mc:Fallback>
                <p:oleObj name="Equation" r:id="rId11" imgW="1130040" imgH="90144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2924944"/>
                        <a:ext cx="2655887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6508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5536" y="44624"/>
            <a:ext cx="8280920" cy="216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原长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的飞船以速度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相对某惯性系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高速运动，从飞船头部发出一光信号，则飞船上观察者以及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系中观察者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认为光信号到达尾部需要的时间</a:t>
            </a:r>
            <a:r>
              <a:rPr lang="el-GR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i="1" dirty="0" smtClean="0">
                <a:latin typeface="Times New Roman"/>
                <a:cs typeface="Times New Roman"/>
              </a:rPr>
              <a:t>'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l-GR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分别为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605247"/>
              </p:ext>
            </p:extLst>
          </p:nvPr>
        </p:nvGraphicFramePr>
        <p:xfrm>
          <a:off x="468234" y="4797152"/>
          <a:ext cx="4648489" cy="991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32" name="Equation" r:id="rId3" imgW="2006280" imgH="444240" progId="Equation.DSMT4">
                  <p:embed/>
                </p:oleObj>
              </mc:Choice>
              <mc:Fallback>
                <p:oleObj name="Equation" r:id="rId3" imgW="2006280" imgH="44424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234" y="4797152"/>
                        <a:ext cx="4648489" cy="991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24123"/>
              </p:ext>
            </p:extLst>
          </p:nvPr>
        </p:nvGraphicFramePr>
        <p:xfrm>
          <a:off x="398416" y="2996952"/>
          <a:ext cx="5501409" cy="622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33" name="Equation" r:id="rId5" imgW="2374560" imgH="279360" progId="Equation.DSMT4">
                  <p:embed/>
                </p:oleObj>
              </mc:Choice>
              <mc:Fallback>
                <p:oleObj name="Equation" r:id="rId5" imgW="2374560" imgH="27936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416" y="2996952"/>
                        <a:ext cx="5501409" cy="622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586139"/>
              </p:ext>
            </p:extLst>
          </p:nvPr>
        </p:nvGraphicFramePr>
        <p:xfrm>
          <a:off x="449786" y="3717032"/>
          <a:ext cx="5088659" cy="962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34" name="Equation" r:id="rId7" imgW="2197080" imgH="431640" progId="Equation.DSMT4">
                  <p:embed/>
                </p:oleObj>
              </mc:Choice>
              <mc:Fallback>
                <p:oleObj name="Equation" r:id="rId7" imgW="2197080" imgH="43164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786" y="3717032"/>
                        <a:ext cx="5088659" cy="9626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793453"/>
              </p:ext>
            </p:extLst>
          </p:nvPr>
        </p:nvGraphicFramePr>
        <p:xfrm>
          <a:off x="395536" y="2204864"/>
          <a:ext cx="5501410" cy="62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35" name="Equation" r:id="rId9" imgW="2374560" imgH="279360" progId="Equation.DSMT4">
                  <p:embed/>
                </p:oleObj>
              </mc:Choice>
              <mc:Fallback>
                <p:oleObj name="Equation" r:id="rId9" imgW="2374560" imgH="27936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2204864"/>
                        <a:ext cx="5501410" cy="62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646664"/>
              </p:ext>
            </p:extLst>
          </p:nvPr>
        </p:nvGraphicFramePr>
        <p:xfrm>
          <a:off x="6228184" y="1796752"/>
          <a:ext cx="2746375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36" name="Equation" r:id="rId11" imgW="1168200" imgH="2031840" progId="Equation.DSMT4">
                  <p:embed/>
                </p:oleObj>
              </mc:Choice>
              <mc:Fallback>
                <p:oleObj name="Equation" r:id="rId11" imgW="1168200" imgH="203184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1796752"/>
                        <a:ext cx="2746375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716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3528" y="44624"/>
            <a:ext cx="8424936" cy="223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某星球到地球的距离为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光年，设一宇宙飞船从地球出发，以速率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=0.6c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匀速飞行。当飞船抵达星球时，飞船上的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钟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显示整个飞行过程耗时  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  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]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  2.4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年        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  3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年        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  4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年        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  5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年     </a:t>
            </a:r>
            <a:endParaRPr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397398"/>
              </p:ext>
            </p:extLst>
          </p:nvPr>
        </p:nvGraphicFramePr>
        <p:xfrm>
          <a:off x="683568" y="2420888"/>
          <a:ext cx="17383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39" name="Equation" r:id="rId3" imgW="736560" imgH="203040" progId="Equation.DSMT4">
                  <p:embed/>
                </p:oleObj>
              </mc:Choice>
              <mc:Fallback>
                <p:oleObj name="Equation" r:id="rId3" imgW="736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420888"/>
                        <a:ext cx="1738312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156476"/>
              </p:ext>
            </p:extLst>
          </p:nvPr>
        </p:nvGraphicFramePr>
        <p:xfrm>
          <a:off x="4283968" y="2204864"/>
          <a:ext cx="125888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40" name="Equation" r:id="rId5" imgW="533160" imgH="393480" progId="Equation.DSMT4">
                  <p:embed/>
                </p:oleObj>
              </mc:Choice>
              <mc:Fallback>
                <p:oleObj name="Equation" r:id="rId5" imgW="533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2204864"/>
                        <a:ext cx="1258887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5424682"/>
              </p:ext>
            </p:extLst>
          </p:nvPr>
        </p:nvGraphicFramePr>
        <p:xfrm>
          <a:off x="4283968" y="3200400"/>
          <a:ext cx="5683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41" name="Equation" r:id="rId7" imgW="241200" imgH="177480" progId="Equation.DSMT4">
                  <p:embed/>
                </p:oleObj>
              </mc:Choice>
              <mc:Fallback>
                <p:oleObj name="Equation" r:id="rId7" imgW="2412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3200400"/>
                        <a:ext cx="56832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555777" y="2383436"/>
            <a:ext cx="10801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latin typeface="宋体" pitchFamily="2" charset="-122"/>
              </a:rPr>
              <a:t>原长</a:t>
            </a:r>
            <a:endParaRPr lang="en-US" altLang="zh-CN" sz="28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508555"/>
              </p:ext>
            </p:extLst>
          </p:nvPr>
        </p:nvGraphicFramePr>
        <p:xfrm>
          <a:off x="755576" y="3212976"/>
          <a:ext cx="11382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42" name="Equation" r:id="rId9" imgW="482400" imgH="177480" progId="Equation.DSMT4">
                  <p:embed/>
                </p:oleObj>
              </mc:Choice>
              <mc:Fallback>
                <p:oleObj name="Equation" r:id="rId9" imgW="4824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3212976"/>
                        <a:ext cx="113823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178441"/>
              </p:ext>
            </p:extLst>
          </p:nvPr>
        </p:nvGraphicFramePr>
        <p:xfrm>
          <a:off x="300260" y="3789040"/>
          <a:ext cx="6503988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43" name="Equation" r:id="rId11" imgW="2755800" imgH="253800" progId="Equation.DSMT4">
                  <p:embed/>
                </p:oleObj>
              </mc:Choice>
              <mc:Fallback>
                <p:oleObj name="Equation" r:id="rId11" imgW="27558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260" y="3789040"/>
                        <a:ext cx="6503988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868144" y="3140968"/>
            <a:ext cx="10801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latin typeface="宋体" pitchFamily="2" charset="-122"/>
              </a:rPr>
              <a:t>原时</a:t>
            </a:r>
            <a:endParaRPr lang="en-US" altLang="zh-CN" sz="28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094380"/>
              </p:ext>
            </p:extLst>
          </p:nvPr>
        </p:nvGraphicFramePr>
        <p:xfrm>
          <a:off x="5607544" y="2392580"/>
          <a:ext cx="900112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44" name="Equation" r:id="rId13" imgW="380880" imgH="203040" progId="Equation.DSMT4">
                  <p:embed/>
                </p:oleObj>
              </mc:Choice>
              <mc:Fallback>
                <p:oleObj name="Equation" r:id="rId13" imgW="380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7544" y="2392580"/>
                        <a:ext cx="900112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119392"/>
              </p:ext>
            </p:extLst>
          </p:nvPr>
        </p:nvGraphicFramePr>
        <p:xfrm>
          <a:off x="309884" y="4436691"/>
          <a:ext cx="8510588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45" name="Equation" r:id="rId15" imgW="3606480" imgH="393480" progId="Equation.DSMT4">
                  <p:embed/>
                </p:oleObj>
              </mc:Choice>
              <mc:Fallback>
                <p:oleObj name="Equation" r:id="rId15" imgW="3606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4" y="4436691"/>
                        <a:ext cx="8510588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083440"/>
              </p:ext>
            </p:extLst>
          </p:nvPr>
        </p:nvGraphicFramePr>
        <p:xfrm>
          <a:off x="298376" y="5373216"/>
          <a:ext cx="593407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46" name="Equation" r:id="rId17" imgW="2514600" imgH="419040" progId="Equation.DSMT4">
                  <p:embed/>
                </p:oleObj>
              </mc:Choice>
              <mc:Fallback>
                <p:oleObj name="Equation" r:id="rId17" imgW="25146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376" y="5373216"/>
                        <a:ext cx="593407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124836"/>
              </p:ext>
            </p:extLst>
          </p:nvPr>
        </p:nvGraphicFramePr>
        <p:xfrm>
          <a:off x="4788024" y="3177282"/>
          <a:ext cx="8382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47" name="Equation" r:id="rId19" imgW="355320" imgH="228600" progId="Equation.DSMT4">
                  <p:embed/>
                </p:oleObj>
              </mc:Choice>
              <mc:Fallback>
                <p:oleObj name="Equation" r:id="rId19" imgW="355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3177282"/>
                        <a:ext cx="8382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/>
          <p:cNvGrpSpPr/>
          <p:nvPr/>
        </p:nvGrpSpPr>
        <p:grpSpPr>
          <a:xfrm>
            <a:off x="6324658" y="5445224"/>
            <a:ext cx="2927862" cy="1073369"/>
            <a:chOff x="6324658" y="5615357"/>
            <a:chExt cx="2927862" cy="1073369"/>
          </a:xfrm>
        </p:grpSpPr>
        <p:grpSp>
          <p:nvGrpSpPr>
            <p:cNvPr id="19" name="组合 18"/>
            <p:cNvGrpSpPr/>
            <p:nvPr/>
          </p:nvGrpSpPr>
          <p:grpSpPr>
            <a:xfrm>
              <a:off x="6387502" y="5759373"/>
              <a:ext cx="2865018" cy="929353"/>
              <a:chOff x="5931365" y="4206103"/>
              <a:chExt cx="2865018" cy="929353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5931365" y="4479111"/>
                <a:ext cx="2865018" cy="656345"/>
                <a:chOff x="5931365" y="4479111"/>
                <a:chExt cx="2865018" cy="656345"/>
              </a:xfrm>
            </p:grpSpPr>
            <p:pic>
              <p:nvPicPr>
                <p:cNvPr id="29" name="Picture 20" descr="C:\Users\liuch\Desktop\u=1180488570,3636520158&amp;fm=26&amp;gp=0.jpg"/>
                <p:cNvPicPr>
                  <a:picLocks noChangeAspect="1" noChangeArrowheads="1"/>
                </p:cNvPicPr>
                <p:nvPr/>
              </p:nvPicPr>
              <p:blipFill rotWithShape="1"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1294" t="29231" r="19059" b="32000"/>
                <a:stretch/>
              </p:blipFill>
              <p:spPr bwMode="auto">
                <a:xfrm>
                  <a:off x="6228184" y="4479111"/>
                  <a:ext cx="932680" cy="32999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30" name="组合 29"/>
                <p:cNvGrpSpPr/>
                <p:nvPr/>
              </p:nvGrpSpPr>
              <p:grpSpPr>
                <a:xfrm>
                  <a:off x="5931365" y="4705920"/>
                  <a:ext cx="2865018" cy="429536"/>
                  <a:chOff x="5410516" y="4260379"/>
                  <a:chExt cx="2865018" cy="429536"/>
                </a:xfrm>
              </p:grpSpPr>
              <p:sp>
                <p:nvSpPr>
                  <p:cNvPr id="31" name="Line 7"/>
                  <p:cNvSpPr>
                    <a:spLocks noChangeShapeType="1"/>
                  </p:cNvSpPr>
                  <p:nvPr/>
                </p:nvSpPr>
                <p:spPr bwMode="auto">
                  <a:xfrm>
                    <a:off x="5594920" y="4369915"/>
                    <a:ext cx="2534399" cy="1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32" name="Object 9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635402187"/>
                      </p:ext>
                    </p:extLst>
                  </p:nvPr>
                </p:nvGraphicFramePr>
                <p:xfrm>
                  <a:off x="7913295" y="4382517"/>
                  <a:ext cx="362239" cy="30739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45548" name="公式" r:id="rId22" imgW="177480" imgH="190440" progId="Equation.3">
                          <p:embed/>
                        </p:oleObj>
                      </mc:Choice>
                      <mc:Fallback>
                        <p:oleObj name="公式" r:id="rId22" imgW="177480" imgH="19044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7913295" y="4382517"/>
                                <a:ext cx="362239" cy="30739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3" name="Object 11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295823851"/>
                      </p:ext>
                    </p:extLst>
                  </p:nvPr>
                </p:nvGraphicFramePr>
                <p:xfrm>
                  <a:off x="5410516" y="4334396"/>
                  <a:ext cx="368808" cy="33615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45549" name="Equation" r:id="rId24" imgW="164880" imgH="190440" progId="Equation.3">
                          <p:embed/>
                        </p:oleObj>
                      </mc:Choice>
                      <mc:Fallback>
                        <p:oleObj name="Equation" r:id="rId24" imgW="164880" imgH="19044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410516" y="4334396"/>
                                <a:ext cx="368808" cy="336153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34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5617215" y="4260379"/>
                    <a:ext cx="2276872" cy="109538"/>
                  </a:xfrm>
                  <a:prstGeom prst="rect">
                    <a:avLst/>
                  </a:prstGeom>
                  <a:solidFill>
                    <a:srgbClr val="0099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28" name="Line 47"/>
              <p:cNvSpPr>
                <a:spLocks noChangeShapeType="1"/>
              </p:cNvSpPr>
              <p:nvPr/>
            </p:nvSpPr>
            <p:spPr bwMode="auto">
              <a:xfrm flipV="1">
                <a:off x="6131008" y="4206103"/>
                <a:ext cx="0" cy="60300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  <p:graphicFrame>
          <p:nvGraphicFramePr>
            <p:cNvPr id="22" name="Object 10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740274"/>
                </p:ext>
              </p:extLst>
            </p:nvPr>
          </p:nvGraphicFramePr>
          <p:xfrm>
            <a:off x="6324658" y="5772448"/>
            <a:ext cx="333375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550" name="Equation" r:id="rId26" imgW="139680" imgH="190440" progId="Equation.3">
                    <p:embed/>
                  </p:oleObj>
                </mc:Choice>
                <mc:Fallback>
                  <p:oleObj name="Equation" r:id="rId26" imgW="13968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24658" y="5772448"/>
                          <a:ext cx="333375" cy="361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" name="组合 34"/>
            <p:cNvGrpSpPr/>
            <p:nvPr/>
          </p:nvGrpSpPr>
          <p:grpSpPr>
            <a:xfrm>
              <a:off x="6628493" y="5615357"/>
              <a:ext cx="2341972" cy="837979"/>
              <a:chOff x="6784644" y="5342310"/>
              <a:chExt cx="2341972" cy="837979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6791553" y="5342310"/>
                <a:ext cx="2335063" cy="837979"/>
                <a:chOff x="6701433" y="3815157"/>
                <a:chExt cx="2335063" cy="837979"/>
              </a:xfrm>
            </p:grpSpPr>
            <p:sp>
              <p:nvSpPr>
                <p:cNvPr id="23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7013450" y="4418159"/>
                  <a:ext cx="1624583" cy="635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7028689" y="3815157"/>
                  <a:ext cx="0" cy="60300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anchor="ctr">
                  <a:spAutoFit/>
                </a:bodyPr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5" name="对象 2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28244525"/>
                    </p:ext>
                  </p:extLst>
                </p:nvPr>
              </p:nvGraphicFramePr>
              <p:xfrm>
                <a:off x="8528337" y="4188633"/>
                <a:ext cx="508159" cy="46450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45551" name="Equation" r:id="rId28" imgW="177480" imgH="177480" progId="Equation.DSMT4">
                        <p:embed/>
                      </p:oleObj>
                    </mc:Choice>
                    <mc:Fallback>
                      <p:oleObj name="Equation" r:id="rId28" imgW="177480" imgH="1774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528337" y="4188633"/>
                              <a:ext cx="508159" cy="464503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  <a:miter lim="800000"/>
                              <a:headEnd/>
                              <a:tailEnd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6" name="对象 25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7183955"/>
                    </p:ext>
                  </p:extLst>
                </p:nvPr>
              </p:nvGraphicFramePr>
              <p:xfrm>
                <a:off x="6701433" y="4274984"/>
                <a:ext cx="327256" cy="28634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45552" name="Equation" r:id="rId30" imgW="203040" imgH="177480" progId="Equation.DSMT4">
                        <p:embed/>
                      </p:oleObj>
                    </mc:Choice>
                    <mc:Fallback>
                      <p:oleObj name="Equation" r:id="rId30" imgW="203040" imgH="17748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3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701433" y="4274984"/>
                              <a:ext cx="327256" cy="28634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21" name="Object 10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84372680"/>
                  </p:ext>
                </p:extLst>
              </p:nvPr>
            </p:nvGraphicFramePr>
            <p:xfrm>
              <a:off x="6784644" y="5342310"/>
              <a:ext cx="315913" cy="419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553" name="Equation" r:id="rId32" imgW="177480" imgH="241200" progId="Equation.3">
                      <p:embed/>
                    </p:oleObj>
                  </mc:Choice>
                  <mc:Fallback>
                    <p:oleObj name="Equation" r:id="rId32" imgW="17748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84644" y="5342310"/>
                            <a:ext cx="315913" cy="4191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Line 47"/>
              <p:cNvSpPr>
                <a:spLocks noChangeShapeType="1"/>
              </p:cNvSpPr>
              <p:nvPr/>
            </p:nvSpPr>
            <p:spPr bwMode="auto">
              <a:xfrm flipV="1">
                <a:off x="7118809" y="5669399"/>
                <a:ext cx="64465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18" name="对象 1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60532065"/>
                  </p:ext>
                </p:extLst>
              </p:nvPr>
            </p:nvGraphicFramePr>
            <p:xfrm>
              <a:off x="7660168" y="5512147"/>
              <a:ext cx="327025" cy="3651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554" name="Equation" r:id="rId34" imgW="114120" imgH="139680" progId="Equation.DSMT4">
                      <p:embed/>
                    </p:oleObj>
                  </mc:Choice>
                  <mc:Fallback>
                    <p:oleObj name="Equation" r:id="rId34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60168" y="5512147"/>
                            <a:ext cx="327025" cy="3651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346640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07504" y="435958"/>
            <a:ext cx="8892480" cy="4361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</a:pPr>
            <a:r>
              <a:rPr kumimoji="1" lang="en-US" altLang="zh-CN" sz="2600" b="1" dirty="0" smtClean="0">
                <a:latin typeface="Times New Roman"/>
              </a:rPr>
              <a:t>13.  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/>
              </a:rPr>
              <a:t>一火车以</a:t>
            </a:r>
            <a:r>
              <a:rPr kumimoji="1" lang="en-US" altLang="zh-CN" sz="2600" b="1" dirty="0" smtClean="0">
                <a:solidFill>
                  <a:srgbClr val="000000"/>
                </a:solidFill>
                <a:latin typeface="Times New Roman"/>
              </a:rPr>
              <a:t>0.1c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/>
              </a:rPr>
              <a:t>的速度通过隧道，火车和隧道的静长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/>
              </a:rPr>
              <a:t>均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/>
              </a:rPr>
              <a:t>为</a:t>
            </a:r>
            <a:r>
              <a:rPr kumimoji="1" lang="en-US" altLang="zh-CN" sz="2600" b="1" i="1" dirty="0" smtClean="0">
                <a:solidFill>
                  <a:srgbClr val="000000"/>
                </a:solidFill>
                <a:latin typeface="Times New Roman"/>
              </a:rPr>
              <a:t>l</a:t>
            </a:r>
            <a:r>
              <a:rPr kumimoji="1" lang="en-US" altLang="zh-CN" sz="2600" b="1" baseline="-25000" dirty="0" smtClean="0">
                <a:solidFill>
                  <a:srgbClr val="000000"/>
                </a:solidFill>
                <a:latin typeface="Times New Roman"/>
              </a:rPr>
              <a:t>0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/>
              </a:rPr>
              <a:t>。从地面上看，当火车头刚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/>
              </a:rPr>
              <a:t>要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/>
              </a:rPr>
              <a:t>驶出隧道的同时，有一道闪电恰好击中隧道的另一端。则下列说法正确的是  </a:t>
            </a:r>
            <a:r>
              <a:rPr kumimoji="1" lang="en-US" altLang="zh-CN" sz="2600" b="1" dirty="0" smtClean="0">
                <a:solidFill>
                  <a:srgbClr val="000000"/>
                </a:solidFill>
                <a:latin typeface="Times New Roman"/>
              </a:rPr>
              <a:t>[    </a:t>
            </a:r>
            <a:r>
              <a:rPr kumimoji="1" lang="en-US" altLang="zh-CN" sz="2600" b="1" dirty="0" smtClean="0">
                <a:solidFill>
                  <a:srgbClr val="FF0000"/>
                </a:solidFill>
                <a:latin typeface="Times New Roman"/>
              </a:rPr>
              <a:t>C</a:t>
            </a:r>
            <a:r>
              <a:rPr kumimoji="1" lang="en-US" altLang="zh-CN" sz="2600" b="1" dirty="0" smtClean="0">
                <a:solidFill>
                  <a:srgbClr val="000000"/>
                </a:solidFill>
                <a:latin typeface="Times New Roman"/>
              </a:rPr>
              <a:t>     ]</a:t>
            </a:r>
          </a:p>
          <a:p>
            <a:pPr fontAlgn="base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kumimoji="1" lang="en-US" altLang="zh-CN" sz="2600" b="1" dirty="0" smtClean="0">
                <a:solidFill>
                  <a:srgbClr val="000000"/>
                </a:solidFill>
                <a:latin typeface="Times New Roman"/>
              </a:rPr>
              <a:t>A)   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/>
              </a:rPr>
              <a:t>从地面上看闪电会击中火车，从火车上看闪电不会击中火车</a:t>
            </a:r>
            <a:endParaRPr kumimoji="1" lang="en-US" altLang="zh-CN" sz="2600" b="1" dirty="0" smtClean="0">
              <a:solidFill>
                <a:srgbClr val="000000"/>
              </a:solidFill>
              <a:latin typeface="Times New Roman"/>
            </a:endParaRPr>
          </a:p>
          <a:p>
            <a:pPr fontAlgn="base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</a:pPr>
            <a:r>
              <a:rPr kumimoji="1" lang="en-US" altLang="zh-CN" sz="2600" b="1" dirty="0" smtClean="0">
                <a:solidFill>
                  <a:srgbClr val="000000"/>
                </a:solidFill>
                <a:latin typeface="Times New Roman"/>
              </a:rPr>
              <a:t>(B)   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/>
              </a:rPr>
              <a:t>从地面上看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/>
              </a:rPr>
              <a:t>闪电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/>
              </a:rPr>
              <a:t>不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/>
              </a:rPr>
              <a:t>会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/>
              </a:rPr>
              <a:t>击中火车，从火车上看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/>
              </a:rPr>
              <a:t>闪电会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/>
              </a:rPr>
              <a:t>击中火车</a:t>
            </a:r>
            <a:endParaRPr kumimoji="1" lang="en-US" altLang="zh-CN" sz="2600" b="1" dirty="0">
              <a:solidFill>
                <a:srgbClr val="000000"/>
              </a:solidFill>
              <a:latin typeface="Times New Roman"/>
            </a:endParaRPr>
          </a:p>
          <a:p>
            <a:pPr fontAlgn="base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</a:pPr>
            <a:r>
              <a:rPr kumimoji="1" lang="en-US" altLang="zh-CN" sz="2600" b="1" dirty="0" smtClean="0">
                <a:solidFill>
                  <a:srgbClr val="000000"/>
                </a:solidFill>
                <a:latin typeface="Times New Roman"/>
              </a:rPr>
              <a:t>(C)   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/>
              </a:rPr>
              <a:t>无论从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/>
              </a:rPr>
              <a:t>地面上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/>
              </a:rPr>
              <a:t>看还是从火车上看，闪电都不会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/>
              </a:rPr>
              <a:t>击中火车</a:t>
            </a:r>
            <a:endParaRPr kumimoji="1" lang="en-US" altLang="zh-CN" sz="2600" b="1" dirty="0">
              <a:solidFill>
                <a:srgbClr val="000000"/>
              </a:solidFill>
              <a:latin typeface="Times New Roman"/>
            </a:endParaRPr>
          </a:p>
          <a:p>
            <a:pPr fontAlgn="base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</a:pPr>
            <a:r>
              <a:rPr kumimoji="1" lang="en-US" altLang="zh-CN" sz="2600" b="1" dirty="0" smtClean="0">
                <a:solidFill>
                  <a:srgbClr val="000000"/>
                </a:solidFill>
                <a:latin typeface="Times New Roman"/>
              </a:rPr>
              <a:t>(D)   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/>
              </a:rPr>
              <a:t>无论从地面上看还是从火车上看，闪电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/>
              </a:rPr>
              <a:t>都会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/>
              </a:rPr>
              <a:t>击中</a:t>
            </a:r>
            <a:r>
              <a:rPr kumimoji="1" lang="zh-CN" altLang="en-US" sz="2600" b="1" dirty="0" smtClean="0">
                <a:solidFill>
                  <a:srgbClr val="000000"/>
                </a:solidFill>
                <a:latin typeface="Times New Roman"/>
              </a:rPr>
              <a:t>火车</a:t>
            </a:r>
            <a:endParaRPr kumimoji="1" lang="en-US" altLang="zh-CN" sz="2600" b="1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80281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3528" y="476672"/>
            <a:ext cx="8640960" cy="436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40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14.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有两个静止质量都是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的粒子甲、乙以相同的速率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0.8c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相向运动，则甲相对乙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的速度大小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     ]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；设两个粒子碰撞后合成一个新粒子，则这个新粒子的静止质量为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/>
              </a:rPr>
              <a:t>[    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/>
              </a:rPr>
              <a:t>A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Times New Roman"/>
              </a:rPr>
              <a:t>    ]</a:t>
            </a:r>
          </a:p>
          <a:p>
            <a:pPr marL="514350" indent="-514350" fontAlgn="base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AutoNum type="alphaUcParenBoth"/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Times New Roman"/>
              </a:rPr>
              <a:t>  0.976c;    3.33m</a:t>
            </a:r>
            <a:r>
              <a:rPr kumimoji="1" lang="en-US" altLang="zh-CN" sz="2800" b="1" baseline="-25000" dirty="0" smtClean="0">
                <a:solidFill>
                  <a:srgbClr val="000000"/>
                </a:solidFill>
                <a:latin typeface="Times New Roman"/>
              </a:rPr>
              <a:t>0</a:t>
            </a:r>
          </a:p>
          <a:p>
            <a:pPr marL="514350" indent="-514350" fontAlgn="base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Tx/>
              <a:buAutoNum type="alphaUcParenBoth"/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Times New Roman"/>
              </a:rPr>
              <a:t>  0.976c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/>
              </a:rPr>
              <a:t>; 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Times New Roman"/>
              </a:rPr>
              <a:t>   2m</a:t>
            </a:r>
            <a:r>
              <a:rPr kumimoji="1" lang="en-US" altLang="zh-CN" sz="2800" b="1" baseline="-25000" dirty="0" smtClean="0">
                <a:solidFill>
                  <a:srgbClr val="000000"/>
                </a:solidFill>
                <a:latin typeface="Times New Roman"/>
              </a:rPr>
              <a:t>0</a:t>
            </a:r>
          </a:p>
          <a:p>
            <a:pPr marL="514350" indent="-514350" fontAlgn="base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AutoNum type="alphaUcParenBoth"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Times New Roman"/>
              </a:rPr>
              <a:t> 1.6c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/>
              </a:rPr>
              <a:t>;    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Times New Roman"/>
              </a:rPr>
              <a:t>2m</a:t>
            </a:r>
            <a:r>
              <a:rPr kumimoji="1" lang="en-US" altLang="zh-CN" sz="2800" b="1" baseline="-25000" dirty="0" smtClean="0">
                <a:solidFill>
                  <a:srgbClr val="000000"/>
                </a:solidFill>
                <a:latin typeface="Times New Roman"/>
              </a:rPr>
              <a:t>0</a:t>
            </a:r>
            <a:endParaRPr kumimoji="1" lang="en-US" altLang="zh-CN" sz="2800" b="1" baseline="-25000" dirty="0">
              <a:solidFill>
                <a:srgbClr val="000000"/>
              </a:solidFill>
              <a:latin typeface="Times New Roman"/>
            </a:endParaRPr>
          </a:p>
          <a:p>
            <a:pPr marL="514350" indent="-514350" fontAlgn="base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Tx/>
              <a:buAutoNum type="alphaUcParenBoth"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/>
              </a:rPr>
              <a:t>  0.976c;    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Times New Roman"/>
              </a:rPr>
              <a:t>1.2m</a:t>
            </a:r>
            <a:r>
              <a:rPr kumimoji="1" lang="en-US" altLang="zh-CN" sz="2800" b="1" baseline="-25000" dirty="0" smtClean="0">
                <a:solidFill>
                  <a:srgbClr val="000000"/>
                </a:solidFill>
                <a:latin typeface="Times New Roman"/>
              </a:rPr>
              <a:t>0</a:t>
            </a:r>
            <a:endParaRPr kumimoji="1" lang="en-US" altLang="zh-CN" sz="2800" b="1" baseline="-25000" dirty="0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735898"/>
              </p:ext>
            </p:extLst>
          </p:nvPr>
        </p:nvGraphicFramePr>
        <p:xfrm>
          <a:off x="4187036" y="4437112"/>
          <a:ext cx="4806950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09" name="Equation" r:id="rId3" imgW="2044440" imgH="685800" progId="Equation.DSMT4">
                  <p:embed/>
                </p:oleObj>
              </mc:Choice>
              <mc:Fallback>
                <p:oleObj name="Equation" r:id="rId3" imgW="2044440" imgH="685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7036" y="4437112"/>
                        <a:ext cx="4806950" cy="162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7558484"/>
              </p:ext>
            </p:extLst>
          </p:nvPr>
        </p:nvGraphicFramePr>
        <p:xfrm>
          <a:off x="4932040" y="2204864"/>
          <a:ext cx="3249612" cy="174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0" name="Equation" r:id="rId5" imgW="1422360" imgH="838080" progId="Equation.DSMT4">
                  <p:embed/>
                </p:oleObj>
              </mc:Choice>
              <mc:Fallback>
                <p:oleObj name="Equation" r:id="rId5" imgW="1422360" imgH="83808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2204864"/>
                        <a:ext cx="3249612" cy="174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71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3528" y="260648"/>
            <a:ext cx="8640960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40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15.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一个静止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量为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=0.511MeV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的电子以速率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0.6c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运动，则该电子的动量为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/>
              </a:rPr>
              <a:t>[   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/>
              </a:rPr>
              <a:t>A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/>
              </a:rPr>
              <a:t>    ]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3872701"/>
              </p:ext>
            </p:extLst>
          </p:nvPr>
        </p:nvGraphicFramePr>
        <p:xfrm>
          <a:off x="539552" y="1408601"/>
          <a:ext cx="3324000" cy="539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83" name="Equation" r:id="rId3" imgW="1409400" imgH="228600" progId="Equation.DSMT4">
                  <p:embed/>
                </p:oleObj>
              </mc:Choice>
              <mc:Fallback>
                <p:oleObj name="Equation" r:id="rId3" imgW="1409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552" y="1408601"/>
                        <a:ext cx="3324000" cy="5390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633776"/>
              </p:ext>
            </p:extLst>
          </p:nvPr>
        </p:nvGraphicFramePr>
        <p:xfrm>
          <a:off x="564040" y="2255392"/>
          <a:ext cx="4075112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84" name="Equation" r:id="rId5" imgW="1726920" imgH="965160" progId="Equation.DSMT4">
                  <p:embed/>
                </p:oleObj>
              </mc:Choice>
              <mc:Fallback>
                <p:oleObj name="Equation" r:id="rId5" imgW="1726920" imgH="965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040" y="2255392"/>
                        <a:ext cx="4075112" cy="227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6230856"/>
              </p:ext>
            </p:extLst>
          </p:nvPr>
        </p:nvGraphicFramePr>
        <p:xfrm>
          <a:off x="683568" y="4869160"/>
          <a:ext cx="5462587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85" name="Equation" r:id="rId7" imgW="2323800" imgH="685800" progId="Equation.DSMT4">
                  <p:embed/>
                </p:oleObj>
              </mc:Choice>
              <mc:Fallback>
                <p:oleObj name="Equation" r:id="rId7" imgW="2323800" imgH="685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4869160"/>
                        <a:ext cx="5462587" cy="162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107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3528" y="714176"/>
            <a:ext cx="8640960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4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16.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某惯性系中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静质量为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的粒子动能为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1.6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为真空中的光速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则该粒子的动量为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/>
              </a:rPr>
              <a:t>[    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/>
              </a:rPr>
              <a:t>B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Times New Roman"/>
              </a:rPr>
              <a:t>    ]</a:t>
            </a:r>
            <a:endParaRPr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2026375"/>
              </p:ext>
            </p:extLst>
          </p:nvPr>
        </p:nvGraphicFramePr>
        <p:xfrm>
          <a:off x="971600" y="2132856"/>
          <a:ext cx="2217737" cy="215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15" name="Equation" r:id="rId3" imgW="939600" imgH="914400" progId="Equation.DSMT4">
                  <p:embed/>
                </p:oleObj>
              </mc:Choice>
              <mc:Fallback>
                <p:oleObj name="Equation" r:id="rId3" imgW="939600" imgH="9144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2132856"/>
                        <a:ext cx="2217737" cy="215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694496"/>
              </p:ext>
            </p:extLst>
          </p:nvPr>
        </p:nvGraphicFramePr>
        <p:xfrm>
          <a:off x="4211960" y="2348880"/>
          <a:ext cx="4208463" cy="168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16" name="Equation" r:id="rId5" imgW="1790640" imgH="711000" progId="Equation.DSMT4">
                  <p:embed/>
                </p:oleObj>
              </mc:Choice>
              <mc:Fallback>
                <p:oleObj name="Equation" r:id="rId5" imgW="1790640" imgH="711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2348880"/>
                        <a:ext cx="4208463" cy="168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098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3528" y="714176"/>
            <a:ext cx="8640960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40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17.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当静止质量为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的粒子的动量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=0.75m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时，粒子的速率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、能量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、动能</a:t>
            </a:r>
            <a:r>
              <a:rPr lang="en-US" altLang="zh-CN" sz="2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分别为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Times New Roman"/>
              </a:rPr>
              <a:t>[    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/>
              </a:rPr>
              <a:t>D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Times New Roman"/>
              </a:rPr>
              <a:t>    ]</a:t>
            </a:r>
            <a:endParaRPr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322507"/>
              </p:ext>
            </p:extLst>
          </p:nvPr>
        </p:nvGraphicFramePr>
        <p:xfrm>
          <a:off x="468313" y="2565400"/>
          <a:ext cx="6772275" cy="233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35" name="Equation" r:id="rId3" imgW="2869920" imgH="990360" progId="Equation.DSMT4">
                  <p:embed/>
                </p:oleObj>
              </mc:Choice>
              <mc:Fallback>
                <p:oleObj name="Equation" r:id="rId3" imgW="2869920" imgH="99036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565400"/>
                        <a:ext cx="6772275" cy="233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5134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3528" y="188640"/>
            <a:ext cx="8640960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40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18.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如将电子从静止加速到速率为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0.1c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，需要对它做功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，如将电子由速率为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0.2c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加速到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0.3c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，需要对它做功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，则两次做功的关系为 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  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]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491680"/>
              </p:ext>
            </p:extLst>
          </p:nvPr>
        </p:nvGraphicFramePr>
        <p:xfrm>
          <a:off x="611560" y="2039368"/>
          <a:ext cx="2455862" cy="215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18" name="Equation" r:id="rId3" imgW="1041120" imgH="914400" progId="Equation.DSMT4">
                  <p:embed/>
                </p:oleObj>
              </mc:Choice>
              <mc:Fallback>
                <p:oleObj name="Equation" r:id="rId3" imgW="104112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039368"/>
                        <a:ext cx="2455862" cy="215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4499992" y="1999878"/>
            <a:ext cx="4565650" cy="4071938"/>
            <a:chOff x="4499992" y="1999878"/>
            <a:chExt cx="4565650" cy="4071938"/>
          </a:xfrm>
        </p:grpSpPr>
        <p:grpSp>
          <p:nvGrpSpPr>
            <p:cNvPr id="7" name="Group 53"/>
            <p:cNvGrpSpPr>
              <a:grpSpLocks/>
            </p:cNvGrpSpPr>
            <p:nvPr/>
          </p:nvGrpSpPr>
          <p:grpSpPr bwMode="auto">
            <a:xfrm>
              <a:off x="4499992" y="1999878"/>
              <a:ext cx="4565650" cy="4071938"/>
              <a:chOff x="2472" y="1257"/>
              <a:chExt cx="3219" cy="2968"/>
            </a:xfrm>
          </p:grpSpPr>
          <p:sp>
            <p:nvSpPr>
              <p:cNvPr id="8" name="Freeform 54"/>
              <p:cNvSpPr>
                <a:spLocks/>
              </p:cNvSpPr>
              <p:nvPr/>
            </p:nvSpPr>
            <p:spPr bwMode="auto">
              <a:xfrm>
                <a:off x="2722" y="1344"/>
                <a:ext cx="2833" cy="2545"/>
              </a:xfrm>
              <a:custGeom>
                <a:avLst/>
                <a:gdLst>
                  <a:gd name="T0" fmla="*/ 0 w 2833"/>
                  <a:gd name="T1" fmla="*/ 0 h 2545"/>
                  <a:gd name="T2" fmla="*/ 0 w 2833"/>
                  <a:gd name="T3" fmla="*/ 2544 h 2545"/>
                  <a:gd name="T4" fmla="*/ 2832 w 2833"/>
                  <a:gd name="T5" fmla="*/ 2544 h 2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33" h="2545">
                    <a:moveTo>
                      <a:pt x="0" y="0"/>
                    </a:moveTo>
                    <a:lnTo>
                      <a:pt x="0" y="2544"/>
                    </a:lnTo>
                    <a:lnTo>
                      <a:pt x="2832" y="2544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stealth" w="med" len="lg"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Line 55"/>
              <p:cNvSpPr>
                <a:spLocks noChangeShapeType="1"/>
              </p:cNvSpPr>
              <p:nvPr/>
            </p:nvSpPr>
            <p:spPr bwMode="auto">
              <a:xfrm>
                <a:off x="2722" y="2448"/>
                <a:ext cx="2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" name="Line 56"/>
              <p:cNvSpPr>
                <a:spLocks noChangeShapeType="1"/>
              </p:cNvSpPr>
              <p:nvPr/>
            </p:nvSpPr>
            <p:spPr bwMode="auto">
              <a:xfrm>
                <a:off x="2722" y="2928"/>
                <a:ext cx="2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Line 57"/>
              <p:cNvSpPr>
                <a:spLocks noChangeShapeType="1"/>
              </p:cNvSpPr>
              <p:nvPr/>
            </p:nvSpPr>
            <p:spPr bwMode="auto">
              <a:xfrm>
                <a:off x="2722" y="3408"/>
                <a:ext cx="2400" cy="0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Line 58"/>
              <p:cNvSpPr>
                <a:spLocks noChangeShapeType="1"/>
              </p:cNvSpPr>
              <p:nvPr/>
            </p:nvSpPr>
            <p:spPr bwMode="auto">
              <a:xfrm>
                <a:off x="2722" y="1968"/>
                <a:ext cx="2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Line 59"/>
              <p:cNvSpPr>
                <a:spLocks noChangeShapeType="1"/>
              </p:cNvSpPr>
              <p:nvPr/>
            </p:nvSpPr>
            <p:spPr bwMode="auto">
              <a:xfrm>
                <a:off x="5122" y="1968"/>
                <a:ext cx="0" cy="19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Line 60"/>
              <p:cNvSpPr>
                <a:spLocks noChangeShapeType="1"/>
              </p:cNvSpPr>
              <p:nvPr/>
            </p:nvSpPr>
            <p:spPr bwMode="auto">
              <a:xfrm>
                <a:off x="4162" y="1968"/>
                <a:ext cx="0" cy="19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Line 61"/>
              <p:cNvSpPr>
                <a:spLocks noChangeShapeType="1"/>
              </p:cNvSpPr>
              <p:nvPr/>
            </p:nvSpPr>
            <p:spPr bwMode="auto">
              <a:xfrm>
                <a:off x="3682" y="1968"/>
                <a:ext cx="0" cy="19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Line 62"/>
              <p:cNvSpPr>
                <a:spLocks noChangeShapeType="1"/>
              </p:cNvSpPr>
              <p:nvPr/>
            </p:nvSpPr>
            <p:spPr bwMode="auto">
              <a:xfrm>
                <a:off x="3202" y="1968"/>
                <a:ext cx="0" cy="19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Line 63"/>
              <p:cNvSpPr>
                <a:spLocks noChangeShapeType="1"/>
              </p:cNvSpPr>
              <p:nvPr/>
            </p:nvSpPr>
            <p:spPr bwMode="auto">
              <a:xfrm>
                <a:off x="4642" y="1968"/>
                <a:ext cx="0" cy="19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Rectangle 64"/>
              <p:cNvSpPr>
                <a:spLocks noChangeArrowheads="1"/>
              </p:cNvSpPr>
              <p:nvPr/>
            </p:nvSpPr>
            <p:spPr bwMode="auto">
              <a:xfrm>
                <a:off x="3192" y="1257"/>
                <a:ext cx="324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CN" sz="3600" i="1" dirty="0">
                    <a:latin typeface="Times New Roman" pitchFamily="18" charset="0"/>
                  </a:rPr>
                  <a:t>m</a:t>
                </a:r>
              </a:p>
            </p:txBody>
          </p:sp>
          <p:sp>
            <p:nvSpPr>
              <p:cNvPr id="19" name="Rectangle 65"/>
              <p:cNvSpPr>
                <a:spLocks noChangeArrowheads="1"/>
              </p:cNvSpPr>
              <p:nvPr/>
            </p:nvSpPr>
            <p:spPr bwMode="auto">
              <a:xfrm>
                <a:off x="3414" y="1440"/>
                <a:ext cx="20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CN" sz="1600" b="1" dirty="0">
                    <a:latin typeface="Bookman Old Style" pitchFamily="18" charset="0"/>
                  </a:rPr>
                  <a:t>0</a:t>
                </a:r>
              </a:p>
            </p:txBody>
          </p:sp>
          <p:sp>
            <p:nvSpPr>
              <p:cNvPr id="20" name="Rectangle 66"/>
              <p:cNvSpPr>
                <a:spLocks noChangeArrowheads="1"/>
              </p:cNvSpPr>
              <p:nvPr/>
            </p:nvSpPr>
            <p:spPr bwMode="auto">
              <a:xfrm>
                <a:off x="2760" y="1257"/>
                <a:ext cx="369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CN" sz="3600" i="1" dirty="0">
                    <a:latin typeface="Times New Roman" pitchFamily="18" charset="0"/>
                  </a:rPr>
                  <a:t>m</a:t>
                </a:r>
              </a:p>
            </p:txBody>
          </p:sp>
          <p:sp>
            <p:nvSpPr>
              <p:cNvPr id="21" name="Line 67"/>
              <p:cNvSpPr>
                <a:spLocks noChangeShapeType="1"/>
              </p:cNvSpPr>
              <p:nvPr/>
            </p:nvSpPr>
            <p:spPr bwMode="auto">
              <a:xfrm flipH="1">
                <a:off x="3026" y="1380"/>
                <a:ext cx="192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Rectangle 68"/>
              <p:cNvSpPr>
                <a:spLocks noChangeArrowheads="1"/>
              </p:cNvSpPr>
              <p:nvPr/>
            </p:nvSpPr>
            <p:spPr bwMode="auto">
              <a:xfrm>
                <a:off x="2472" y="325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CN" sz="2400" b="1" dirty="0"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23" name="Rectangle 69"/>
              <p:cNvSpPr>
                <a:spLocks noChangeArrowheads="1"/>
              </p:cNvSpPr>
              <p:nvPr/>
            </p:nvSpPr>
            <p:spPr bwMode="auto">
              <a:xfrm>
                <a:off x="2472" y="277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CN" sz="2400" b="1" dirty="0"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24" name="Rectangle 70"/>
              <p:cNvSpPr>
                <a:spLocks noChangeArrowheads="1"/>
              </p:cNvSpPr>
              <p:nvPr/>
            </p:nvSpPr>
            <p:spPr bwMode="auto">
              <a:xfrm>
                <a:off x="2472" y="234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CN" sz="2400" b="1" dirty="0"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25" name="Rectangle 71"/>
              <p:cNvSpPr>
                <a:spLocks noChangeArrowheads="1"/>
              </p:cNvSpPr>
              <p:nvPr/>
            </p:nvSpPr>
            <p:spPr bwMode="auto">
              <a:xfrm>
                <a:off x="2472" y="186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CN" sz="2400" b="1" dirty="0">
                    <a:latin typeface="Times New Roman" pitchFamily="18" charset="0"/>
                  </a:rPr>
                  <a:t>4</a:t>
                </a:r>
              </a:p>
            </p:txBody>
          </p:sp>
          <p:sp>
            <p:nvSpPr>
              <p:cNvPr id="26" name="Rectangle 72"/>
              <p:cNvSpPr>
                <a:spLocks noChangeArrowheads="1"/>
              </p:cNvSpPr>
              <p:nvPr/>
            </p:nvSpPr>
            <p:spPr bwMode="auto">
              <a:xfrm>
                <a:off x="2952" y="3926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CN" sz="2400" b="1" dirty="0">
                    <a:latin typeface="Times New Roman" pitchFamily="18" charset="0"/>
                  </a:rPr>
                  <a:t>0.2</a:t>
                </a:r>
              </a:p>
            </p:txBody>
          </p:sp>
          <p:sp>
            <p:nvSpPr>
              <p:cNvPr id="27" name="Rectangle 73"/>
              <p:cNvSpPr>
                <a:spLocks noChangeArrowheads="1"/>
              </p:cNvSpPr>
              <p:nvPr/>
            </p:nvSpPr>
            <p:spPr bwMode="auto">
              <a:xfrm>
                <a:off x="3480" y="3936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CN" sz="2400" b="1" dirty="0">
                    <a:latin typeface="Times New Roman" pitchFamily="18" charset="0"/>
                  </a:rPr>
                  <a:t>0.4</a:t>
                </a:r>
              </a:p>
            </p:txBody>
          </p:sp>
          <p:sp>
            <p:nvSpPr>
              <p:cNvPr id="28" name="Rectangle 74"/>
              <p:cNvSpPr>
                <a:spLocks noChangeArrowheads="1"/>
              </p:cNvSpPr>
              <p:nvPr/>
            </p:nvSpPr>
            <p:spPr bwMode="auto">
              <a:xfrm>
                <a:off x="4920" y="3936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CN" sz="2400" b="1" dirty="0">
                    <a:latin typeface="Times New Roman" pitchFamily="18" charset="0"/>
                  </a:rPr>
                  <a:t>1.0</a:t>
                </a:r>
              </a:p>
            </p:txBody>
          </p:sp>
          <p:sp>
            <p:nvSpPr>
              <p:cNvPr id="29" name="Rectangle 75"/>
              <p:cNvSpPr>
                <a:spLocks noChangeArrowheads="1"/>
              </p:cNvSpPr>
              <p:nvPr/>
            </p:nvSpPr>
            <p:spPr bwMode="auto">
              <a:xfrm>
                <a:off x="2520" y="3841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CN" sz="2400" b="1" dirty="0"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30" name="Rectangle 76"/>
              <p:cNvSpPr>
                <a:spLocks noChangeArrowheads="1"/>
              </p:cNvSpPr>
              <p:nvPr/>
            </p:nvSpPr>
            <p:spPr bwMode="auto">
              <a:xfrm>
                <a:off x="3960" y="3937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CN" sz="2400" b="1" dirty="0">
                    <a:latin typeface="Times New Roman" pitchFamily="18" charset="0"/>
                  </a:rPr>
                  <a:t>0.6</a:t>
                </a:r>
              </a:p>
            </p:txBody>
          </p:sp>
          <p:sp>
            <p:nvSpPr>
              <p:cNvPr id="31" name="Rectangle 77"/>
              <p:cNvSpPr>
                <a:spLocks noChangeArrowheads="1"/>
              </p:cNvSpPr>
              <p:nvPr/>
            </p:nvSpPr>
            <p:spPr bwMode="auto">
              <a:xfrm>
                <a:off x="4440" y="3936"/>
                <a:ext cx="43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CN" sz="2400" b="1" dirty="0">
                    <a:latin typeface="Times New Roman" pitchFamily="18" charset="0"/>
                  </a:rPr>
                  <a:t>0.8</a:t>
                </a:r>
              </a:p>
            </p:txBody>
          </p:sp>
          <p:sp>
            <p:nvSpPr>
              <p:cNvPr id="32" name="Rectangle 78"/>
              <p:cNvSpPr>
                <a:spLocks noChangeArrowheads="1"/>
              </p:cNvSpPr>
              <p:nvPr/>
            </p:nvSpPr>
            <p:spPr bwMode="auto">
              <a:xfrm>
                <a:off x="5230" y="3474"/>
                <a:ext cx="236" cy="3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CN" sz="3600" i="1" dirty="0">
                    <a:latin typeface="Book Antiqua" pitchFamily="18" charset="0"/>
                  </a:rPr>
                  <a:t>v</a:t>
                </a:r>
              </a:p>
            </p:txBody>
          </p:sp>
          <p:sp>
            <p:nvSpPr>
              <p:cNvPr id="33" name="Rectangle 79"/>
              <p:cNvSpPr>
                <a:spLocks noChangeArrowheads="1"/>
              </p:cNvSpPr>
              <p:nvPr/>
            </p:nvSpPr>
            <p:spPr bwMode="auto">
              <a:xfrm>
                <a:off x="5469" y="3474"/>
                <a:ext cx="222" cy="3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CN" sz="3600" i="1" dirty="0">
                    <a:latin typeface="Times New Roman" pitchFamily="18" charset="0"/>
                  </a:rPr>
                  <a:t>c</a:t>
                </a:r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auto">
              <a:xfrm flipV="1">
                <a:off x="5414" y="3582"/>
                <a:ext cx="144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4854578" y="2763872"/>
              <a:ext cx="3406090" cy="2206090"/>
              <a:chOff x="4352928" y="1024642"/>
              <a:chExt cx="3406090" cy="2206090"/>
            </a:xfrm>
          </p:grpSpPr>
          <p:sp>
            <p:nvSpPr>
              <p:cNvPr id="36" name="Freeform 52"/>
              <p:cNvSpPr>
                <a:spLocks/>
              </p:cNvSpPr>
              <p:nvPr/>
            </p:nvSpPr>
            <p:spPr bwMode="auto">
              <a:xfrm>
                <a:off x="4354992" y="1024642"/>
                <a:ext cx="3404026" cy="2206090"/>
              </a:xfrm>
              <a:custGeom>
                <a:avLst/>
                <a:gdLst>
                  <a:gd name="T0" fmla="*/ 0 w 2400"/>
                  <a:gd name="T1" fmla="*/ 1584 h 1608"/>
                  <a:gd name="T2" fmla="*/ 768 w 2400"/>
                  <a:gd name="T3" fmla="*/ 1584 h 1608"/>
                  <a:gd name="T4" fmla="*/ 1536 w 2400"/>
                  <a:gd name="T5" fmla="*/ 1440 h 1608"/>
                  <a:gd name="T6" fmla="*/ 2112 w 2400"/>
                  <a:gd name="T7" fmla="*/ 912 h 1608"/>
                  <a:gd name="T8" fmla="*/ 2400 w 2400"/>
                  <a:gd name="T9" fmla="*/ 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00" h="1608">
                    <a:moveTo>
                      <a:pt x="0" y="1584"/>
                    </a:moveTo>
                    <a:cubicBezTo>
                      <a:pt x="256" y="1596"/>
                      <a:pt x="512" y="1608"/>
                      <a:pt x="768" y="1584"/>
                    </a:cubicBezTo>
                    <a:cubicBezTo>
                      <a:pt x="1024" y="1560"/>
                      <a:pt x="1312" y="1552"/>
                      <a:pt x="1536" y="1440"/>
                    </a:cubicBezTo>
                    <a:cubicBezTo>
                      <a:pt x="1760" y="1328"/>
                      <a:pt x="1968" y="1152"/>
                      <a:pt x="2112" y="912"/>
                    </a:cubicBezTo>
                    <a:cubicBezTo>
                      <a:pt x="2256" y="672"/>
                      <a:pt x="2328" y="336"/>
                      <a:pt x="2400" y="0"/>
                    </a:cubicBezTo>
                  </a:path>
                </a:pathLst>
              </a:custGeom>
              <a:noFill/>
              <a:ln w="28575" cap="flat" cmpd="sng">
                <a:solidFill>
                  <a:srgbClr val="FF0033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37" name="直接连接符 36"/>
              <p:cNvCxnSpPr/>
              <p:nvPr/>
            </p:nvCxnSpPr>
            <p:spPr>
              <a:xfrm>
                <a:off x="4352928" y="3215742"/>
                <a:ext cx="1002281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810411"/>
              </p:ext>
            </p:extLst>
          </p:nvPr>
        </p:nvGraphicFramePr>
        <p:xfrm>
          <a:off x="971600" y="4840267"/>
          <a:ext cx="24733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19" name="Equation" r:id="rId5" imgW="1015920" imgH="203040" progId="Equation.DSMT4">
                  <p:embed/>
                </p:oleObj>
              </mc:Choice>
              <mc:Fallback>
                <p:oleObj name="Equation" r:id="rId5" imgW="1015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4840267"/>
                        <a:ext cx="24733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332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1137</Words>
  <Application>Microsoft Office PowerPoint</Application>
  <PresentationFormat>全屏显示(4:3)</PresentationFormat>
  <Paragraphs>62</Paragraphs>
  <Slides>18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Office 主题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>
  <dc:title>PowerPoint 演示文稿</dc:title>
  <cp:revision>173</cp:revision>
</cp:coreProperties>
</file>