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"/>
  </p:notesMasterIdLst>
  <p:sldIdLst>
    <p:sldId id="1261" r:id="rId3"/>
    <p:sldId id="1262" r:id="rId4"/>
    <p:sldId id="1263" r:id="rId5"/>
    <p:sldId id="1176" r:id="rId6"/>
    <p:sldId id="1252" r:id="rId7"/>
    <p:sldId id="1253" r:id="rId8"/>
    <p:sldId id="1304" r:id="rId9"/>
    <p:sldId id="1306" r:id="rId10"/>
    <p:sldId id="1297" r:id="rId11"/>
    <p:sldId id="1320" r:id="rId12"/>
    <p:sldId id="1307" r:id="rId13"/>
    <p:sldId id="1314" r:id="rId14"/>
    <p:sldId id="1321" r:id="rId15"/>
    <p:sldId id="1296" r:id="rId16"/>
    <p:sldId id="1308" r:id="rId17"/>
    <p:sldId id="1309" r:id="rId18"/>
    <p:sldId id="1310" r:id="rId19"/>
    <p:sldId id="1313" r:id="rId20"/>
    <p:sldId id="1293" r:id="rId21"/>
    <p:sldId id="1285" r:id="rId22"/>
    <p:sldId id="1291" r:id="rId23"/>
    <p:sldId id="1294" r:id="rId24"/>
    <p:sldId id="1186" r:id="rId2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99"/>
    <a:srgbClr val="FFFF99"/>
    <a:srgbClr val="006600"/>
    <a:srgbClr val="FFC000"/>
    <a:srgbClr val="DDDDDD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2" autoAdjust="0"/>
    <p:restoredTop sz="98413" autoAdjust="0"/>
  </p:normalViewPr>
  <p:slideViewPr>
    <p:cSldViewPr>
      <p:cViewPr>
        <p:scale>
          <a:sx n="66" d="100"/>
          <a:sy n="66" d="100"/>
        </p:scale>
        <p:origin x="-1882" y="-43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image" Target="../media/image28.wmf"/><Relationship Id="rId3" Type="http://schemas.openxmlformats.org/officeDocument/2006/relationships/image" Target="../media/image18.emf"/><Relationship Id="rId7" Type="http://schemas.openxmlformats.org/officeDocument/2006/relationships/image" Target="../media/image22.wmf"/><Relationship Id="rId12" Type="http://schemas.openxmlformats.org/officeDocument/2006/relationships/image" Target="../media/image27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11" Type="http://schemas.openxmlformats.org/officeDocument/2006/relationships/image" Target="../media/image26.wmf"/><Relationship Id="rId5" Type="http://schemas.openxmlformats.org/officeDocument/2006/relationships/image" Target="../media/image20.wmf"/><Relationship Id="rId10" Type="http://schemas.openxmlformats.org/officeDocument/2006/relationships/image" Target="../media/image25.wmf"/><Relationship Id="rId4" Type="http://schemas.openxmlformats.org/officeDocument/2006/relationships/image" Target="../media/image19.wmf"/><Relationship Id="rId9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image" Target="../media/image42.wmf"/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12" Type="http://schemas.openxmlformats.org/officeDocument/2006/relationships/image" Target="../media/image41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11" Type="http://schemas.openxmlformats.org/officeDocument/2006/relationships/image" Target="../media/image40.wmf"/><Relationship Id="rId5" Type="http://schemas.openxmlformats.org/officeDocument/2006/relationships/image" Target="../media/image34.wmf"/><Relationship Id="rId10" Type="http://schemas.openxmlformats.org/officeDocument/2006/relationships/image" Target="../media/image39.wmf"/><Relationship Id="rId4" Type="http://schemas.openxmlformats.org/officeDocument/2006/relationships/image" Target="../media/image33.wmf"/><Relationship Id="rId9" Type="http://schemas.openxmlformats.org/officeDocument/2006/relationships/image" Target="../media/image38.wmf"/><Relationship Id="rId14" Type="http://schemas.openxmlformats.org/officeDocument/2006/relationships/image" Target="../media/image43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image" Target="../media/image43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12" Type="http://schemas.openxmlformats.org/officeDocument/2006/relationships/image" Target="../media/image42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11" Type="http://schemas.openxmlformats.org/officeDocument/2006/relationships/image" Target="../media/image53.wmf"/><Relationship Id="rId5" Type="http://schemas.openxmlformats.org/officeDocument/2006/relationships/image" Target="../media/image48.wmf"/><Relationship Id="rId10" Type="http://schemas.openxmlformats.org/officeDocument/2006/relationships/image" Target="../media/image52.wmf"/><Relationship Id="rId4" Type="http://schemas.openxmlformats.org/officeDocument/2006/relationships/image" Target="../media/image47.wmf"/><Relationship Id="rId9" Type="http://schemas.openxmlformats.org/officeDocument/2006/relationships/image" Target="../media/image5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4" Type="http://schemas.openxmlformats.org/officeDocument/2006/relationships/image" Target="../media/image10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9AEBD-65D8-4BAA-9548-96829CEF2B53}" type="datetimeFigureOut">
              <a:rPr lang="zh-CN" altLang="en-US" smtClean="0"/>
              <a:t>2021-5-15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A5BC2A-34AC-42C4-8653-F2C5B6325A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29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2021-5-15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sz="4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ACB79B-E0C0-441D-A2E3-749263594FD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218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5650CB-C6CA-45BF-9207-CC9C84FF4C8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747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ABB672-E811-4570-9A20-0B9FECA38BAA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3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46D2F-F527-4937-A57E-64A071372DE3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627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186F2-AB52-413D-BC42-D98D8498F666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293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25E0B0-36B3-4E12-8788-4645D8737B78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2231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BCE2F1-1618-472D-BBD3-E3B3C00EE015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7625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47577-21D9-4BCC-BD8A-E0F1735B0B31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340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1B0C3F-1D98-454E-96E3-729A356CFEEC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3086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90217-38B8-408B-8BC1-7AD07BBE55C7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3968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B1C0E-583B-42F3-B9EF-EF9D0479D53E}" type="slidenum">
              <a:rPr lang="en-US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514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2021-5-15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AB6B806-92AE-4204-AA37-4088A825211E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56612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6633"/>
        </a:buClr>
        <a:buSzPct val="70000"/>
        <a:buFont typeface="Wingdings" pitchFamily="2" charset="2"/>
        <a:buChar char="z"/>
        <a:defRPr kumimoji="1" sz="3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996633"/>
        </a:buClr>
        <a:buSzPct val="70000"/>
        <a:buFont typeface="Wingdings" pitchFamily="2" charset="2"/>
        <a:buChar char="z"/>
        <a:defRPr kumimoji="1" sz="28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96633"/>
        </a:buClr>
        <a:buSzPct val="70000"/>
        <a:buFont typeface="Wingdings" pitchFamily="2" charset="2"/>
        <a:buChar char="z"/>
        <a:defRPr kumimoji="1"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996633"/>
        </a:buClr>
        <a:buSzPct val="70000"/>
        <a:buFont typeface="Wingdings" pitchFamily="2" charset="2"/>
        <a:buChar char="z"/>
        <a:defRPr kumimoji="1"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6633"/>
        </a:buClr>
        <a:buSzPct val="70000"/>
        <a:buFont typeface="Wingdings" pitchFamily="2" charset="2"/>
        <a:buChar char="z"/>
        <a:defRPr kumimoji="1"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96633"/>
        </a:buClr>
        <a:buSzPct val="70000"/>
        <a:buFont typeface="Wingdings" pitchFamily="2" charset="2"/>
        <a:buChar char="z"/>
        <a:defRPr kumimoji="1"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96633"/>
        </a:buClr>
        <a:buSzPct val="70000"/>
        <a:buFont typeface="Wingdings" pitchFamily="2" charset="2"/>
        <a:buChar char="z"/>
        <a:defRPr kumimoji="1"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96633"/>
        </a:buClr>
        <a:buSzPct val="70000"/>
        <a:buFont typeface="Wingdings" pitchFamily="2" charset="2"/>
        <a:buChar char="z"/>
        <a:defRPr kumimoji="1"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96633"/>
        </a:buClr>
        <a:buSzPct val="70000"/>
        <a:buFont typeface="Wingdings" pitchFamily="2" charset="2"/>
        <a:buChar char="z"/>
        <a:defRPr kumimoji="1"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8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image" Target="../media/image20.wmf"/><Relationship Id="rId18" Type="http://schemas.openxmlformats.org/officeDocument/2006/relationships/oleObject" Target="../embeddings/oleObject23.bin"/><Relationship Id="rId26" Type="http://schemas.openxmlformats.org/officeDocument/2006/relationships/oleObject" Target="../embeddings/oleObject28.bin"/><Relationship Id="rId3" Type="http://schemas.openxmlformats.org/officeDocument/2006/relationships/oleObject" Target="../embeddings/oleObject16.bin"/><Relationship Id="rId21" Type="http://schemas.openxmlformats.org/officeDocument/2006/relationships/oleObject" Target="../embeddings/oleObject25.bin"/><Relationship Id="rId7" Type="http://schemas.openxmlformats.org/officeDocument/2006/relationships/oleObject" Target="../embeddings/oleObject18.bin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2.wmf"/><Relationship Id="rId25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.bin"/><Relationship Id="rId20" Type="http://schemas.openxmlformats.org/officeDocument/2006/relationships/image" Target="../media/image23.wmf"/><Relationship Id="rId29" Type="http://schemas.openxmlformats.org/officeDocument/2006/relationships/image" Target="../media/image27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11" Type="http://schemas.openxmlformats.org/officeDocument/2006/relationships/image" Target="../media/image19.wmf"/><Relationship Id="rId24" Type="http://schemas.openxmlformats.org/officeDocument/2006/relationships/image" Target="../media/image25.wmf"/><Relationship Id="rId5" Type="http://schemas.openxmlformats.org/officeDocument/2006/relationships/oleObject" Target="../embeddings/oleObject17.bin"/><Relationship Id="rId15" Type="http://schemas.openxmlformats.org/officeDocument/2006/relationships/image" Target="../media/image21.wmf"/><Relationship Id="rId23" Type="http://schemas.openxmlformats.org/officeDocument/2006/relationships/oleObject" Target="../embeddings/oleObject26.bin"/><Relationship Id="rId28" Type="http://schemas.openxmlformats.org/officeDocument/2006/relationships/oleObject" Target="../embeddings/oleObject29.bin"/><Relationship Id="rId10" Type="http://schemas.openxmlformats.org/officeDocument/2006/relationships/oleObject" Target="../embeddings/oleObject19.bin"/><Relationship Id="rId19" Type="http://schemas.openxmlformats.org/officeDocument/2006/relationships/oleObject" Target="../embeddings/oleObject24.bin"/><Relationship Id="rId31" Type="http://schemas.openxmlformats.org/officeDocument/2006/relationships/image" Target="../media/image28.wmf"/><Relationship Id="rId4" Type="http://schemas.openxmlformats.org/officeDocument/2006/relationships/image" Target="../media/image16.wmf"/><Relationship Id="rId9" Type="http://schemas.openxmlformats.org/officeDocument/2006/relationships/image" Target="../media/image29.jpeg"/><Relationship Id="rId14" Type="http://schemas.openxmlformats.org/officeDocument/2006/relationships/oleObject" Target="../embeddings/oleObject21.bin"/><Relationship Id="rId22" Type="http://schemas.openxmlformats.org/officeDocument/2006/relationships/image" Target="../media/image24.wmf"/><Relationship Id="rId27" Type="http://schemas.openxmlformats.org/officeDocument/2006/relationships/image" Target="../media/image26.wmf"/><Relationship Id="rId30" Type="http://schemas.openxmlformats.org/officeDocument/2006/relationships/oleObject" Target="../embeddings/oleObject30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6.bin"/><Relationship Id="rId18" Type="http://schemas.openxmlformats.org/officeDocument/2006/relationships/image" Target="../media/image37.wmf"/><Relationship Id="rId26" Type="http://schemas.openxmlformats.org/officeDocument/2006/relationships/oleObject" Target="../embeddings/oleObject43.bin"/><Relationship Id="rId39" Type="http://schemas.openxmlformats.org/officeDocument/2006/relationships/oleObject" Target="../embeddings/oleObject53.bin"/><Relationship Id="rId21" Type="http://schemas.openxmlformats.org/officeDocument/2006/relationships/image" Target="../media/image38.wmf"/><Relationship Id="rId34" Type="http://schemas.openxmlformats.org/officeDocument/2006/relationships/oleObject" Target="../embeddings/oleObject48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38.bin"/><Relationship Id="rId25" Type="http://schemas.openxmlformats.org/officeDocument/2006/relationships/image" Target="../media/image40.wmf"/><Relationship Id="rId33" Type="http://schemas.openxmlformats.org/officeDocument/2006/relationships/oleObject" Target="../embeddings/oleObject47.bin"/><Relationship Id="rId38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.wmf"/><Relationship Id="rId20" Type="http://schemas.openxmlformats.org/officeDocument/2006/relationships/oleObject" Target="../embeddings/oleObject40.bin"/><Relationship Id="rId29" Type="http://schemas.openxmlformats.org/officeDocument/2006/relationships/image" Target="../media/image42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5.bin"/><Relationship Id="rId24" Type="http://schemas.openxmlformats.org/officeDocument/2006/relationships/oleObject" Target="../embeddings/oleObject42.bin"/><Relationship Id="rId32" Type="http://schemas.openxmlformats.org/officeDocument/2006/relationships/image" Target="../media/image43.wmf"/><Relationship Id="rId37" Type="http://schemas.openxmlformats.org/officeDocument/2006/relationships/oleObject" Target="../embeddings/oleObject51.bin"/><Relationship Id="rId40" Type="http://schemas.openxmlformats.org/officeDocument/2006/relationships/oleObject" Target="../embeddings/oleObject54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23" Type="http://schemas.openxmlformats.org/officeDocument/2006/relationships/image" Target="../media/image39.wmf"/><Relationship Id="rId28" Type="http://schemas.openxmlformats.org/officeDocument/2006/relationships/oleObject" Target="../embeddings/oleObject44.bin"/><Relationship Id="rId36" Type="http://schemas.openxmlformats.org/officeDocument/2006/relationships/oleObject" Target="../embeddings/oleObject50.bin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39.bin"/><Relationship Id="rId31" Type="http://schemas.openxmlformats.org/officeDocument/2006/relationships/oleObject" Target="../embeddings/oleObject46.bin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35.wmf"/><Relationship Id="rId22" Type="http://schemas.openxmlformats.org/officeDocument/2006/relationships/oleObject" Target="../embeddings/oleObject41.bin"/><Relationship Id="rId27" Type="http://schemas.openxmlformats.org/officeDocument/2006/relationships/image" Target="../media/image41.wmf"/><Relationship Id="rId30" Type="http://schemas.openxmlformats.org/officeDocument/2006/relationships/oleObject" Target="../embeddings/oleObject45.bin"/><Relationship Id="rId35" Type="http://schemas.openxmlformats.org/officeDocument/2006/relationships/oleObject" Target="../embeddings/oleObject49.bin"/><Relationship Id="rId8" Type="http://schemas.openxmlformats.org/officeDocument/2006/relationships/image" Target="../media/image32.wmf"/><Relationship Id="rId3" Type="http://schemas.openxmlformats.org/officeDocument/2006/relationships/oleObject" Target="../embeddings/oleObject31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0.bin"/><Relationship Id="rId18" Type="http://schemas.openxmlformats.org/officeDocument/2006/relationships/image" Target="../media/image37.wmf"/><Relationship Id="rId26" Type="http://schemas.openxmlformats.org/officeDocument/2006/relationships/oleObject" Target="../embeddings/oleObject67.bin"/><Relationship Id="rId39" Type="http://schemas.openxmlformats.org/officeDocument/2006/relationships/oleObject" Target="../embeddings/oleObject78.bin"/><Relationship Id="rId21" Type="http://schemas.openxmlformats.org/officeDocument/2006/relationships/image" Target="../media/image51.wmf"/><Relationship Id="rId34" Type="http://schemas.openxmlformats.org/officeDocument/2006/relationships/oleObject" Target="../embeddings/oleObject73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62.bin"/><Relationship Id="rId25" Type="http://schemas.openxmlformats.org/officeDocument/2006/relationships/image" Target="../media/image53.wmf"/><Relationship Id="rId33" Type="http://schemas.openxmlformats.org/officeDocument/2006/relationships/oleObject" Target="../embeddings/oleObject72.bin"/><Relationship Id="rId38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.wmf"/><Relationship Id="rId20" Type="http://schemas.openxmlformats.org/officeDocument/2006/relationships/oleObject" Target="../embeddings/oleObject64.bin"/><Relationship Id="rId29" Type="http://schemas.openxmlformats.org/officeDocument/2006/relationships/image" Target="../media/image43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59.bin"/><Relationship Id="rId24" Type="http://schemas.openxmlformats.org/officeDocument/2006/relationships/oleObject" Target="../embeddings/oleObject66.bin"/><Relationship Id="rId32" Type="http://schemas.openxmlformats.org/officeDocument/2006/relationships/oleObject" Target="../embeddings/oleObject71.bin"/><Relationship Id="rId37" Type="http://schemas.openxmlformats.org/officeDocument/2006/relationships/oleObject" Target="../embeddings/oleObject76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23" Type="http://schemas.openxmlformats.org/officeDocument/2006/relationships/image" Target="../media/image52.wmf"/><Relationship Id="rId28" Type="http://schemas.openxmlformats.org/officeDocument/2006/relationships/oleObject" Target="../embeddings/oleObject68.bin"/><Relationship Id="rId36" Type="http://schemas.openxmlformats.org/officeDocument/2006/relationships/oleObject" Target="../embeddings/oleObject75.bin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63.bin"/><Relationship Id="rId31" Type="http://schemas.openxmlformats.org/officeDocument/2006/relationships/oleObject" Target="../embeddings/oleObject70.bin"/><Relationship Id="rId4" Type="http://schemas.openxmlformats.org/officeDocument/2006/relationships/image" Target="../media/image44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49.wmf"/><Relationship Id="rId22" Type="http://schemas.openxmlformats.org/officeDocument/2006/relationships/oleObject" Target="../embeddings/oleObject65.bin"/><Relationship Id="rId27" Type="http://schemas.openxmlformats.org/officeDocument/2006/relationships/image" Target="../media/image42.wmf"/><Relationship Id="rId30" Type="http://schemas.openxmlformats.org/officeDocument/2006/relationships/oleObject" Target="../embeddings/oleObject69.bin"/><Relationship Id="rId35" Type="http://schemas.openxmlformats.org/officeDocument/2006/relationships/oleObject" Target="../embeddings/oleObject74.bin"/><Relationship Id="rId8" Type="http://schemas.openxmlformats.org/officeDocument/2006/relationships/image" Target="../media/image46.wmf"/><Relationship Id="rId3" Type="http://schemas.openxmlformats.org/officeDocument/2006/relationships/oleObject" Target="../embeddings/oleObject55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12" Type="http://schemas.openxmlformats.org/officeDocument/2006/relationships/oleObject" Target="../embeddings/oleObject8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0.bin"/><Relationship Id="rId10" Type="http://schemas.openxmlformats.org/officeDocument/2006/relationships/oleObject" Target="../embeddings/oleObject83.bin"/><Relationship Id="rId4" Type="http://schemas.openxmlformats.org/officeDocument/2006/relationships/image" Target="../media/image55.wmf"/><Relationship Id="rId9" Type="http://schemas.openxmlformats.org/officeDocument/2006/relationships/image" Target="../media/image5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58.wmf"/><Relationship Id="rId4" Type="http://schemas.openxmlformats.org/officeDocument/2006/relationships/oleObject" Target="../embeddings/oleObject8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64.wmf"/><Relationship Id="rId3" Type="http://schemas.openxmlformats.org/officeDocument/2006/relationships/image" Target="../media/image65.png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63.wmf"/><Relationship Id="rId5" Type="http://schemas.openxmlformats.org/officeDocument/2006/relationships/image" Target="../media/image60.wmf"/><Relationship Id="rId10" Type="http://schemas.openxmlformats.org/officeDocument/2006/relationships/oleObject" Target="../embeddings/oleObject90.bin"/><Relationship Id="rId4" Type="http://schemas.openxmlformats.org/officeDocument/2006/relationships/oleObject" Target="../embeddings/oleObject87.bin"/><Relationship Id="rId9" Type="http://schemas.openxmlformats.org/officeDocument/2006/relationships/image" Target="../media/image62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97.bin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70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69.w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7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73.png"/><Relationship Id="rId4" Type="http://schemas.openxmlformats.org/officeDocument/2006/relationships/image" Target="../media/image7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7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7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7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79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78.wmf"/><Relationship Id="rId4" Type="http://schemas.openxmlformats.org/officeDocument/2006/relationships/oleObject" Target="../embeddings/oleObject10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110.bin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85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108.bin"/><Relationship Id="rId14" Type="http://schemas.openxmlformats.org/officeDocument/2006/relationships/image" Target="../media/image86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8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12.bin"/><Relationship Id="rId5" Type="http://schemas.openxmlformats.org/officeDocument/2006/relationships/image" Target="../media/image88.wmf"/><Relationship Id="rId4" Type="http://schemas.openxmlformats.org/officeDocument/2006/relationships/oleObject" Target="../embeddings/oleObject11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3" Type="http://schemas.openxmlformats.org/officeDocument/2006/relationships/image" Target="../media/image94.png"/><Relationship Id="rId7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14.bin"/><Relationship Id="rId5" Type="http://schemas.openxmlformats.org/officeDocument/2006/relationships/image" Target="../media/image91.wmf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9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13" Type="http://schemas.openxmlformats.org/officeDocument/2006/relationships/image" Target="../media/image99.wmf"/><Relationship Id="rId3" Type="http://schemas.openxmlformats.org/officeDocument/2006/relationships/image" Target="../media/image101.png"/><Relationship Id="rId7" Type="http://schemas.openxmlformats.org/officeDocument/2006/relationships/image" Target="../media/image96.wmf"/><Relationship Id="rId12" Type="http://schemas.openxmlformats.org/officeDocument/2006/relationships/oleObject" Target="../embeddings/oleObject1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17.bin"/><Relationship Id="rId11" Type="http://schemas.openxmlformats.org/officeDocument/2006/relationships/image" Target="../media/image98.wmf"/><Relationship Id="rId5" Type="http://schemas.openxmlformats.org/officeDocument/2006/relationships/image" Target="../media/image95.wmf"/><Relationship Id="rId15" Type="http://schemas.openxmlformats.org/officeDocument/2006/relationships/image" Target="../media/image100.wmf"/><Relationship Id="rId10" Type="http://schemas.openxmlformats.org/officeDocument/2006/relationships/oleObject" Target="../embeddings/oleObject119.bin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97.wmf"/><Relationship Id="rId14" Type="http://schemas.openxmlformats.org/officeDocument/2006/relationships/oleObject" Target="../embeddings/oleObject12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123.bin"/><Relationship Id="rId4" Type="http://schemas.openxmlformats.org/officeDocument/2006/relationships/image" Target="../media/image102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8.png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0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24.bin"/><Relationship Id="rId10" Type="http://schemas.openxmlformats.org/officeDocument/2006/relationships/image" Target="../media/image106.wmf"/><Relationship Id="rId4" Type="http://schemas.openxmlformats.org/officeDocument/2006/relationships/image" Target="../media/image109.png"/><Relationship Id="rId9" Type="http://schemas.openxmlformats.org/officeDocument/2006/relationships/oleObject" Target="../embeddings/oleObject12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764904" y="87869"/>
            <a:ext cx="32472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b="1" dirty="0" smtClean="0">
                <a:solidFill>
                  <a:srgbClr val="C00000"/>
                </a:solidFill>
                <a:latin typeface="宋体" pitchFamily="2" charset="-122"/>
              </a:rPr>
              <a:t>静电场中的导体</a:t>
            </a:r>
            <a:endParaRPr kumimoji="1" lang="zh-CN" altLang="en-US" sz="3200" b="1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51520" y="735941"/>
            <a:ext cx="39998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b="1" dirty="0" smtClean="0">
                <a:solidFill>
                  <a:srgbClr val="0000FF"/>
                </a:solidFill>
                <a:latin typeface="宋体" pitchFamily="2" charset="-122"/>
              </a:rPr>
              <a:t>1.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宋体" pitchFamily="2" charset="-122"/>
              </a:rPr>
              <a:t>导体静电平衡条件</a:t>
            </a:r>
            <a:endParaRPr kumimoji="1" lang="zh-CN" altLang="en-US" sz="2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892138"/>
              </p:ext>
            </p:extLst>
          </p:nvPr>
        </p:nvGraphicFramePr>
        <p:xfrm>
          <a:off x="899592" y="1287354"/>
          <a:ext cx="3109913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04" name="Equation" r:id="rId3" imgW="1193760" imgH="482400" progId="Equation.DSMT4">
                  <p:embed/>
                </p:oleObj>
              </mc:Choice>
              <mc:Fallback>
                <p:oleObj name="Equation" r:id="rId3" imgW="1193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287354"/>
                        <a:ext cx="3109913" cy="1101725"/>
                      </a:xfrm>
                      <a:prstGeom prst="rect">
                        <a:avLst/>
                      </a:prstGeom>
                      <a:noFill/>
                      <a:ln w="635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788024" y="1260006"/>
            <a:ext cx="3999892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 dirty="0" smtClean="0">
                <a:latin typeface="宋体" pitchFamily="2" charset="-122"/>
              </a:rPr>
              <a:t>导体是等势体</a:t>
            </a:r>
            <a:endParaRPr kumimoji="1" lang="en-US" altLang="zh-CN" sz="2800" b="1" dirty="0" smtClean="0">
              <a:latin typeface="宋体" pitchFamily="2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800" b="1" dirty="0" smtClean="0">
                <a:latin typeface="宋体" pitchFamily="2" charset="-122"/>
              </a:rPr>
              <a:t>导体表面是等势面</a:t>
            </a:r>
            <a:endParaRPr kumimoji="1" lang="zh-CN" altLang="en-US" sz="2800" b="1" dirty="0">
              <a:latin typeface="宋体" pitchFamily="2" charset="-122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51520" y="2420888"/>
            <a:ext cx="63367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b="1" dirty="0" smtClean="0">
                <a:solidFill>
                  <a:srgbClr val="0000FF"/>
                </a:solidFill>
                <a:latin typeface="宋体" pitchFamily="2" charset="-122"/>
              </a:rPr>
              <a:t>2.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宋体" pitchFamily="2" charset="-122"/>
              </a:rPr>
              <a:t>静电平衡时导体电荷分布</a:t>
            </a:r>
            <a:endParaRPr kumimoji="1" lang="zh-CN" altLang="en-US" sz="2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804934"/>
              </p:ext>
            </p:extLst>
          </p:nvPr>
        </p:nvGraphicFramePr>
        <p:xfrm>
          <a:off x="914786" y="2957513"/>
          <a:ext cx="6086475" cy="162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05" name="Equation" r:id="rId5" imgW="2336760" imgH="711000" progId="Equation.DSMT4">
                  <p:embed/>
                </p:oleObj>
              </mc:Choice>
              <mc:Fallback>
                <p:oleObj name="Equation" r:id="rId5" imgW="233676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786" y="2957513"/>
                        <a:ext cx="6086475" cy="162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251520" y="4509120"/>
            <a:ext cx="8568371" cy="6093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2800" b="1" dirty="0" smtClean="0">
                <a:solidFill>
                  <a:srgbClr val="0000FF"/>
                </a:solidFill>
                <a:latin typeface="Times New Roman" pitchFamily="18" charset="0"/>
              </a:rPr>
              <a:t>3.  </a:t>
            </a:r>
            <a:r>
              <a:rPr lang="zh-CN" altLang="en-US" sz="2800" b="1" dirty="0" smtClean="0">
                <a:solidFill>
                  <a:srgbClr val="0000FF"/>
                </a:solidFill>
                <a:latin typeface="Times New Roman" pitchFamily="18" charset="0"/>
              </a:rPr>
              <a:t>计算有导体存在时电场强度、电势和导体电荷分布</a:t>
            </a:r>
            <a:endParaRPr lang="en-US" altLang="zh-CN" sz="2800" b="1" dirty="0">
              <a:solidFill>
                <a:srgbClr val="0000FF"/>
              </a:solidFill>
              <a:latin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99592" y="5112708"/>
            <a:ext cx="7416824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600" b="1" dirty="0">
                <a:solidFill>
                  <a:srgbClr val="FF0000"/>
                </a:solidFill>
                <a:latin typeface="Times New Roman" pitchFamily="18" charset="0"/>
              </a:rPr>
              <a:t>依据：</a:t>
            </a:r>
            <a:r>
              <a:rPr lang="zh-CN" altLang="en-US" sz="2600" b="1" dirty="0">
                <a:solidFill>
                  <a:prstClr val="black"/>
                </a:solidFill>
                <a:latin typeface="Times New Roman" pitchFamily="18" charset="0"/>
              </a:rPr>
              <a:t>静电平衡条件</a:t>
            </a:r>
            <a:r>
              <a:rPr lang="zh-CN" altLang="en-US" sz="2600" b="1" dirty="0" smtClean="0">
                <a:solidFill>
                  <a:prstClr val="black"/>
                </a:solidFill>
                <a:latin typeface="Times New Roman" pitchFamily="18" charset="0"/>
              </a:rPr>
              <a:t>；</a:t>
            </a:r>
            <a:r>
              <a:rPr lang="en-US" altLang="zh-CN" sz="2600" b="1" dirty="0" smtClean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zh-CN" altLang="en-US" sz="2600" b="1" dirty="0">
                <a:solidFill>
                  <a:prstClr val="black"/>
                </a:solidFill>
                <a:latin typeface="Times New Roman" pitchFamily="18" charset="0"/>
              </a:rPr>
              <a:t>电荷</a:t>
            </a:r>
            <a:r>
              <a:rPr lang="zh-CN" altLang="en-US" sz="2600" b="1" dirty="0" smtClean="0">
                <a:solidFill>
                  <a:prstClr val="black"/>
                </a:solidFill>
                <a:latin typeface="Times New Roman" pitchFamily="18" charset="0"/>
              </a:rPr>
              <a:t>守恒</a:t>
            </a:r>
            <a:r>
              <a:rPr lang="en-US" altLang="zh-CN" sz="2600" b="1" dirty="0" smtClean="0">
                <a:solidFill>
                  <a:prstClr val="black"/>
                </a:solidFill>
                <a:latin typeface="Times New Roman" pitchFamily="18" charset="0"/>
              </a:rPr>
              <a:t>;   </a:t>
            </a:r>
            <a:r>
              <a:rPr lang="zh-CN" altLang="en-US" sz="2600" b="1" dirty="0" smtClean="0">
                <a:solidFill>
                  <a:prstClr val="black"/>
                </a:solidFill>
                <a:latin typeface="Times New Roman" pitchFamily="18" charset="0"/>
              </a:rPr>
              <a:t>电场线性质；</a:t>
            </a:r>
            <a:endParaRPr lang="en-US" altLang="zh-CN" sz="2600" b="1" dirty="0">
              <a:solidFill>
                <a:prstClr val="black"/>
              </a:solidFill>
              <a:latin typeface="Times New Roman" pitchFamily="18" charset="0"/>
            </a:endParaRPr>
          </a:p>
          <a:p>
            <a:pPr lvl="0">
              <a:lnSpc>
                <a:spcPct val="120000"/>
              </a:lnSpc>
            </a:pPr>
            <a:r>
              <a:rPr lang="en-US" altLang="zh-CN" sz="2600" b="1" dirty="0" smtClean="0">
                <a:solidFill>
                  <a:prstClr val="black"/>
                </a:solidFill>
                <a:latin typeface="Times New Roman" pitchFamily="18" charset="0"/>
              </a:rPr>
              <a:t>            </a:t>
            </a:r>
            <a:r>
              <a:rPr lang="zh-CN" altLang="en-US" sz="2600" b="1" dirty="0" smtClean="0">
                <a:solidFill>
                  <a:prstClr val="black"/>
                </a:solidFill>
                <a:latin typeface="Times New Roman" pitchFamily="18" charset="0"/>
              </a:rPr>
              <a:t>高斯定理；叠加原理；</a:t>
            </a:r>
            <a:endParaRPr lang="en-US" altLang="zh-CN" sz="2600" b="1" dirty="0" smtClean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38104" y="2564904"/>
            <a:ext cx="220589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600" b="1" dirty="0" smtClean="0">
                <a:latin typeface="Times New Roman" pitchFamily="18" charset="0"/>
              </a:rPr>
              <a:t>空腔导体：</a:t>
            </a:r>
            <a:r>
              <a:rPr lang="en-US" altLang="zh-CN" sz="2600" b="1" dirty="0" smtClean="0">
                <a:latin typeface="Times New Roman" pitchFamily="18" charset="0"/>
              </a:rPr>
              <a:t/>
            </a:r>
            <a:br>
              <a:rPr lang="en-US" altLang="zh-CN" sz="2600" b="1" dirty="0" smtClean="0">
                <a:latin typeface="Times New Roman" pitchFamily="18" charset="0"/>
              </a:rPr>
            </a:br>
            <a:r>
              <a:rPr lang="zh-CN" altLang="en-US" sz="2600" b="1" dirty="0" smtClean="0">
                <a:latin typeface="Times New Roman" pitchFamily="18" charset="0"/>
              </a:rPr>
              <a:t>静电屏蔽</a:t>
            </a:r>
            <a:endParaRPr lang="en-US" altLang="zh-CN" sz="2600" b="1" dirty="0" smtClean="0">
              <a:latin typeface="Times New Roman" pitchFamily="18" charset="0"/>
            </a:endParaRPr>
          </a:p>
          <a:p>
            <a:pPr lvl="0"/>
            <a:r>
              <a:rPr lang="zh-CN" altLang="en-US" sz="2600" b="1" dirty="0" smtClean="0">
                <a:latin typeface="Times New Roman" pitchFamily="18" charset="0"/>
              </a:rPr>
              <a:t>接地与不接地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5652120" y="3877215"/>
            <a:ext cx="2808312" cy="5598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zh-CN" altLang="en-US" sz="2600" b="1" dirty="0" smtClean="0">
                <a:latin typeface="Times New Roman" pitchFamily="18" charset="0"/>
              </a:rPr>
              <a:t>曲率大</a:t>
            </a:r>
            <a:r>
              <a:rPr lang="en-US" altLang="zh-CN" sz="2600" b="1" dirty="0" smtClean="0">
                <a:latin typeface="Times New Roman" pitchFamily="18" charset="0"/>
                <a:sym typeface="Wingdings" panose="05000000000000000000" pitchFamily="2" charset="2"/>
              </a:rPr>
              <a:t></a:t>
            </a:r>
            <a:r>
              <a:rPr lang="el-GR" altLang="zh-CN" sz="2800" b="1" dirty="0" smtClean="0">
                <a:latin typeface="Times New Roman" pitchFamily="18" charset="0"/>
                <a:sym typeface="Wingdings" panose="05000000000000000000" pitchFamily="2" charset="2"/>
              </a:rPr>
              <a:t>σ</a:t>
            </a:r>
            <a:r>
              <a:rPr lang="zh-CN" altLang="en-US" sz="2800" b="1" dirty="0" smtClean="0">
                <a:latin typeface="Times New Roman" pitchFamily="18" charset="0"/>
                <a:sym typeface="Wingdings" panose="05000000000000000000" pitchFamily="2" charset="2"/>
              </a:rPr>
              <a:t>、</a:t>
            </a:r>
            <a:r>
              <a:rPr lang="en-US" altLang="zh-CN" sz="2800" b="1" dirty="0" smtClean="0">
                <a:latin typeface="Times New Roman" pitchFamily="18" charset="0"/>
                <a:sym typeface="Wingdings" panose="05000000000000000000" pitchFamily="2" charset="2"/>
              </a:rPr>
              <a:t>E</a:t>
            </a:r>
            <a:r>
              <a:rPr lang="zh-CN" altLang="en-US" sz="2800" b="1" dirty="0">
                <a:latin typeface="Times New Roman" pitchFamily="18" charset="0"/>
                <a:sym typeface="Wingdings" panose="05000000000000000000" pitchFamily="2" charset="2"/>
              </a:rPr>
              <a:t>大</a:t>
            </a:r>
            <a:endParaRPr lang="en-US" altLang="zh-CN" sz="28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02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7" grpId="0" autoUpdateAnimBg="0"/>
      <p:bldP spid="8" grpId="0" autoUpdateAnimBg="0"/>
      <p:bldP spid="12" grpId="0"/>
      <p:bldP spid="15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1073229"/>
              </p:ext>
            </p:extLst>
          </p:nvPr>
        </p:nvGraphicFramePr>
        <p:xfrm>
          <a:off x="5216904" y="2445632"/>
          <a:ext cx="1376795" cy="525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28" name="Equation" r:id="rId3" imgW="622080" imgH="241200" progId="Equation.DSMT4">
                  <p:embed/>
                </p:oleObj>
              </mc:Choice>
              <mc:Fallback>
                <p:oleObj name="Equation" r:id="rId3" imgW="622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904" y="2445632"/>
                        <a:ext cx="1376795" cy="525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385669"/>
              </p:ext>
            </p:extLst>
          </p:nvPr>
        </p:nvGraphicFramePr>
        <p:xfrm>
          <a:off x="4355976" y="2963291"/>
          <a:ext cx="2488833" cy="906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29" name="Equation" r:id="rId5" imgW="1028254" imgH="431613" progId="Equation.DSMT4">
                  <p:embed/>
                </p:oleObj>
              </mc:Choice>
              <mc:Fallback>
                <p:oleObj name="Equation" r:id="rId5" imgW="1028254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2963291"/>
                        <a:ext cx="2488833" cy="90658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277160" y="3175957"/>
            <a:ext cx="39741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3.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有介质时的高斯定理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2980928" y="44624"/>
            <a:ext cx="360729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b="1" dirty="0" smtClean="0">
                <a:solidFill>
                  <a:srgbClr val="C00000"/>
                </a:solidFill>
                <a:latin typeface="宋体" pitchFamily="2" charset="-122"/>
              </a:rPr>
              <a:t>静电场中的电介质</a:t>
            </a:r>
            <a:endParaRPr kumimoji="1" lang="zh-CN" altLang="en-US" sz="3200" b="1" dirty="0">
              <a:solidFill>
                <a:srgbClr val="C00000"/>
              </a:solidFill>
              <a:latin typeface="宋体" pitchFamily="2" charset="-122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251520" y="673532"/>
            <a:ext cx="39998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b="1" dirty="0" smtClean="0">
                <a:solidFill>
                  <a:srgbClr val="0000FF"/>
                </a:solidFill>
                <a:latin typeface="宋体" pitchFamily="2" charset="-122"/>
              </a:rPr>
              <a:t>1.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宋体" pitchFamily="2" charset="-122"/>
              </a:rPr>
              <a:t>电介质的极化</a:t>
            </a:r>
            <a:endParaRPr kumimoji="1" lang="zh-CN" altLang="en-US" sz="2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3275892"/>
              </p:ext>
            </p:extLst>
          </p:nvPr>
        </p:nvGraphicFramePr>
        <p:xfrm>
          <a:off x="3167533" y="620688"/>
          <a:ext cx="4068763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30" name="Equation" r:id="rId7" imgW="1562040" imgH="482400" progId="Equation.DSMT4">
                  <p:embed/>
                </p:oleObj>
              </mc:Choice>
              <mc:Fallback>
                <p:oleObj name="Equation" r:id="rId7" imgW="15620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533" y="620688"/>
                        <a:ext cx="4068763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740905"/>
              </p:ext>
            </p:extLst>
          </p:nvPr>
        </p:nvGraphicFramePr>
        <p:xfrm>
          <a:off x="2988264" y="2204864"/>
          <a:ext cx="1448955" cy="945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31" name="Equation" r:id="rId9" imgW="622030" imgH="431613" progId="Equation.3">
                  <p:embed/>
                </p:oleObj>
              </mc:Choice>
              <mc:Fallback>
                <p:oleObj name="Equation" r:id="rId9" imgW="622030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8264" y="2204864"/>
                        <a:ext cx="1448955" cy="945284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251520" y="2329716"/>
            <a:ext cx="30963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b="1" dirty="0" smtClean="0">
                <a:solidFill>
                  <a:srgbClr val="0000FF"/>
                </a:solidFill>
                <a:latin typeface="宋体" pitchFamily="2" charset="-122"/>
              </a:rPr>
              <a:t>2.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宋体" pitchFamily="2" charset="-122"/>
              </a:rPr>
              <a:t>电极化强度</a:t>
            </a:r>
            <a:endParaRPr kumimoji="1" lang="zh-CN" altLang="en-US" sz="2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74380" y="4194942"/>
            <a:ext cx="7280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4. 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6728716"/>
              </p:ext>
            </p:extLst>
          </p:nvPr>
        </p:nvGraphicFramePr>
        <p:xfrm>
          <a:off x="899592" y="3782058"/>
          <a:ext cx="7188488" cy="1528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32" name="Equation" r:id="rId11" imgW="3035160" imgH="736560" progId="Equation.DSMT4">
                  <p:embed/>
                </p:oleObj>
              </mc:Choice>
              <mc:Fallback>
                <p:oleObj name="Equation" r:id="rId11" imgW="303516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782058"/>
                        <a:ext cx="7188488" cy="15283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63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/>
          <p:cNvSpPr/>
          <p:nvPr/>
        </p:nvSpPr>
        <p:spPr>
          <a:xfrm>
            <a:off x="274380" y="5138028"/>
            <a:ext cx="30732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5.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解题一般步骤</a:t>
            </a:r>
            <a:r>
              <a:rPr kumimoji="1" lang="en-US" altLang="zh-CN" sz="2800" b="1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425890"/>
              </p:ext>
            </p:extLst>
          </p:nvPr>
        </p:nvGraphicFramePr>
        <p:xfrm>
          <a:off x="251520" y="5570371"/>
          <a:ext cx="8795537" cy="882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33" name="Equation" r:id="rId13" imgW="4000320" imgH="431640" progId="Equation.DSMT4">
                  <p:embed/>
                </p:oleObj>
              </mc:Choice>
              <mc:Fallback>
                <p:oleObj name="Equation" r:id="rId13" imgW="4000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5570371"/>
                        <a:ext cx="8795537" cy="8829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539552" y="1700808"/>
            <a:ext cx="864096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1" dirty="0" smtClean="0"/>
              <a:t>内部和表面均极化，均匀各向同性介质极化电荷只出现在表面</a:t>
            </a:r>
            <a:endParaRPr lang="zh-CN" altLang="en-US" sz="2400" b="1" dirty="0"/>
          </a:p>
        </p:txBody>
      </p:sp>
      <p:sp>
        <p:nvSpPr>
          <p:cNvPr id="16" name="矩形 15"/>
          <p:cNvSpPr/>
          <p:nvPr/>
        </p:nvSpPr>
        <p:spPr>
          <a:xfrm>
            <a:off x="6876256" y="3150148"/>
            <a:ext cx="2016224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spcBef>
                <a:spcPts val="600"/>
              </a:spcBef>
            </a:pPr>
            <a:r>
              <a:rPr lang="zh-CN" altLang="en-US" sz="2400" b="1" dirty="0" smtClean="0"/>
              <a:t>（自由电荷）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4311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autoUpdateAnimBg="0"/>
      <p:bldP spid="21" grpId="0" autoUpdateAnimBg="0"/>
      <p:bldP spid="22" grpId="0"/>
      <p:bldP spid="23" grpId="0"/>
      <p:bldP spid="14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907704" y="25465"/>
            <a:ext cx="525658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3200" b="1" dirty="0" smtClean="0">
                <a:solidFill>
                  <a:srgbClr val="C00000"/>
                </a:solidFill>
                <a:latin typeface="宋体" pitchFamily="2" charset="-122"/>
              </a:rPr>
              <a:t>电容器的电容和电场的能量</a:t>
            </a:r>
            <a:endParaRPr kumimoji="1" lang="zh-CN" altLang="en-US" sz="3200" b="1" dirty="0">
              <a:solidFill>
                <a:srgbClr val="C00000"/>
              </a:solidFill>
              <a:latin typeface="宋体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36060"/>
              </p:ext>
            </p:extLst>
          </p:nvPr>
        </p:nvGraphicFramePr>
        <p:xfrm>
          <a:off x="3124153" y="476672"/>
          <a:ext cx="2290330" cy="913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7" name="Equation" r:id="rId3" imgW="1079032" imgH="431613" progId="Equation.3">
                  <p:embed/>
                </p:oleObj>
              </mc:Choice>
              <mc:Fallback>
                <p:oleObj name="Equation" r:id="rId3" imgW="1079032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153" y="476672"/>
                        <a:ext cx="2290330" cy="91353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193330"/>
              </p:ext>
            </p:extLst>
          </p:nvPr>
        </p:nvGraphicFramePr>
        <p:xfrm>
          <a:off x="6886052" y="1511525"/>
          <a:ext cx="1574380" cy="44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8" name="Equation" r:id="rId5" imgW="749160" imgH="215640" progId="Equation.3">
                  <p:embed/>
                </p:oleObj>
              </mc:Choice>
              <mc:Fallback>
                <p:oleObj name="Equation" r:id="rId5" imgW="749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6052" y="1511525"/>
                        <a:ext cx="1574380" cy="44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209738"/>
              </p:ext>
            </p:extLst>
          </p:nvPr>
        </p:nvGraphicFramePr>
        <p:xfrm>
          <a:off x="3099263" y="1340768"/>
          <a:ext cx="1889256" cy="89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9" name="Equation" r:id="rId7" imgW="838080" imgH="431640" progId="Equation.3">
                  <p:embed/>
                </p:oleObj>
              </mc:Choice>
              <mc:Fallback>
                <p:oleObj name="Equation" r:id="rId7" imgW="838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9263" y="1340768"/>
                        <a:ext cx="1889256" cy="89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614838"/>
              </p:ext>
            </p:extLst>
          </p:nvPr>
        </p:nvGraphicFramePr>
        <p:xfrm>
          <a:off x="3203848" y="2212446"/>
          <a:ext cx="3388591" cy="860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0" name="Equation" r:id="rId9" imgW="1651000" imgH="419100" progId="Equation.3">
                  <p:embed/>
                </p:oleObj>
              </mc:Choice>
              <mc:Fallback>
                <p:oleObj name="Equation" r:id="rId9" imgW="16510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212446"/>
                        <a:ext cx="3388591" cy="860136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234444"/>
              </p:ext>
            </p:extLst>
          </p:nvPr>
        </p:nvGraphicFramePr>
        <p:xfrm>
          <a:off x="3275856" y="3796622"/>
          <a:ext cx="3845424" cy="82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1" name="Equation" r:id="rId11" imgW="1650960" imgH="393480" progId="Equation.DSMT4">
                  <p:embed/>
                </p:oleObj>
              </mc:Choice>
              <mc:Fallback>
                <p:oleObj name="Equation" r:id="rId11" imgW="16509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3796622"/>
                        <a:ext cx="3845424" cy="82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1667658"/>
              </p:ext>
            </p:extLst>
          </p:nvPr>
        </p:nvGraphicFramePr>
        <p:xfrm>
          <a:off x="3275856" y="3059776"/>
          <a:ext cx="2929659" cy="829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2" name="Equation" r:id="rId13" imgW="1193760" imgH="393480" progId="Equation.3">
                  <p:embed/>
                </p:oleObj>
              </mc:Choice>
              <mc:Fallback>
                <p:oleObj name="Equation" r:id="rId13" imgW="1193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3059776"/>
                        <a:ext cx="2929659" cy="8291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35496" y="620688"/>
            <a:ext cx="29523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b="1" dirty="0" smtClean="0">
                <a:solidFill>
                  <a:srgbClr val="0000FF"/>
                </a:solidFill>
                <a:latin typeface="宋体" pitchFamily="2" charset="-122"/>
              </a:rPr>
              <a:t>1.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宋体" pitchFamily="2" charset="-122"/>
              </a:rPr>
              <a:t>电容的定义</a:t>
            </a:r>
            <a:endParaRPr kumimoji="1" lang="zh-CN" altLang="en-US" sz="2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35496" y="1367509"/>
            <a:ext cx="33123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b="1" dirty="0" smtClean="0">
                <a:solidFill>
                  <a:srgbClr val="0000FF"/>
                </a:solidFill>
                <a:latin typeface="宋体" pitchFamily="2" charset="-122"/>
              </a:rPr>
              <a:t>2.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宋体" pitchFamily="2" charset="-122"/>
              </a:rPr>
              <a:t>电容器的串联：</a:t>
            </a:r>
            <a:endParaRPr kumimoji="1" lang="zh-CN" altLang="en-US" sz="2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5589908" y="1367509"/>
            <a:ext cx="13681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000FF"/>
                </a:solidFill>
                <a:latin typeface="宋体" pitchFamily="2" charset="-122"/>
              </a:rPr>
              <a:t>并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宋体" pitchFamily="2" charset="-122"/>
              </a:rPr>
              <a:t>联：</a:t>
            </a:r>
            <a:endParaRPr kumimoji="1" lang="zh-CN" altLang="en-US" sz="2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35496" y="2327252"/>
            <a:ext cx="33123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b="1" dirty="0" smtClean="0">
                <a:solidFill>
                  <a:srgbClr val="0000FF"/>
                </a:solidFill>
                <a:latin typeface="宋体" pitchFamily="2" charset="-122"/>
              </a:rPr>
              <a:t>3.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宋体" pitchFamily="2" charset="-122"/>
              </a:rPr>
              <a:t>电容器的能量：</a:t>
            </a:r>
            <a:endParaRPr kumimoji="1" lang="zh-CN" altLang="en-US" sz="2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35496" y="3181074"/>
            <a:ext cx="33123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b="1" dirty="0" smtClean="0">
                <a:solidFill>
                  <a:srgbClr val="0000FF"/>
                </a:solidFill>
                <a:latin typeface="宋体" pitchFamily="2" charset="-122"/>
              </a:rPr>
              <a:t>4.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宋体" pitchFamily="2" charset="-122"/>
              </a:rPr>
              <a:t>电场能量密度：</a:t>
            </a:r>
            <a:endParaRPr kumimoji="1" lang="zh-CN" altLang="en-US" sz="2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591240" y="3883928"/>
            <a:ext cx="33123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 dirty="0" smtClean="0">
                <a:solidFill>
                  <a:srgbClr val="0000FF"/>
                </a:solidFill>
                <a:latin typeface="宋体" pitchFamily="2" charset="-122"/>
              </a:rPr>
              <a:t>静电场的能量：</a:t>
            </a:r>
            <a:endParaRPr kumimoji="1" lang="zh-CN" altLang="en-US" sz="2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35496" y="4472464"/>
            <a:ext cx="43204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b="1" dirty="0" smtClean="0">
                <a:solidFill>
                  <a:srgbClr val="0000FF"/>
                </a:solidFill>
                <a:latin typeface="宋体" pitchFamily="2" charset="-122"/>
              </a:rPr>
              <a:t>5.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宋体" pitchFamily="2" charset="-122"/>
              </a:rPr>
              <a:t>求电容器电容的步骤：</a:t>
            </a:r>
            <a:endParaRPr kumimoji="1" lang="zh-CN" altLang="en-US" sz="2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500742"/>
              </p:ext>
            </p:extLst>
          </p:nvPr>
        </p:nvGraphicFramePr>
        <p:xfrm>
          <a:off x="611560" y="4823893"/>
          <a:ext cx="6505575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3" name="Equation" r:id="rId15" imgW="2958840" imgH="393480" progId="Equation.DSMT4">
                  <p:embed/>
                </p:oleObj>
              </mc:Choice>
              <mc:Fallback>
                <p:oleObj name="Equation" r:id="rId15" imgW="29588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4823893"/>
                        <a:ext cx="6505575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35496" y="5433642"/>
            <a:ext cx="43204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b="1" dirty="0" smtClean="0">
                <a:solidFill>
                  <a:srgbClr val="0000FF"/>
                </a:solidFill>
                <a:latin typeface="宋体" pitchFamily="2" charset="-122"/>
              </a:rPr>
              <a:t>6.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宋体" pitchFamily="2" charset="-122"/>
              </a:rPr>
              <a:t>求电场能量：</a:t>
            </a:r>
            <a:endParaRPr kumimoji="1" lang="zh-CN" altLang="en-US" sz="2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611560" y="5946404"/>
            <a:ext cx="49685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 smtClean="0">
                <a:latin typeface="宋体" pitchFamily="2" charset="-122"/>
              </a:rPr>
              <a:t>能看成电容器：电容器能量公式；       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5364088" y="5946404"/>
            <a:ext cx="3456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 smtClean="0">
                <a:latin typeface="宋体" pitchFamily="2" charset="-122"/>
              </a:rPr>
              <a:t>其它：能量密度积分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24" name="Rectangle 3"/>
          <p:cNvSpPr>
            <a:spLocks noChangeArrowheads="1"/>
          </p:cNvSpPr>
          <p:nvPr/>
        </p:nvSpPr>
        <p:spPr bwMode="auto">
          <a:xfrm>
            <a:off x="1223628" y="1780393"/>
            <a:ext cx="14041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 smtClean="0">
                <a:latin typeface="宋体" pitchFamily="2" charset="-122"/>
              </a:rPr>
              <a:t>（</a:t>
            </a:r>
            <a:r>
              <a:rPr kumimoji="1" lang="en-US" altLang="zh-CN" sz="2400" b="1" dirty="0" smtClean="0">
                <a:latin typeface="宋体" pitchFamily="2" charset="-122"/>
              </a:rPr>
              <a:t>Q</a:t>
            </a:r>
            <a:r>
              <a:rPr kumimoji="1" lang="zh-CN" altLang="en-US" sz="2400" b="1" dirty="0" smtClean="0">
                <a:latin typeface="宋体" pitchFamily="2" charset="-122"/>
              </a:rPr>
              <a:t>相同）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25" name="Rectangle 3"/>
          <p:cNvSpPr>
            <a:spLocks noChangeArrowheads="1"/>
          </p:cNvSpPr>
          <p:nvPr/>
        </p:nvSpPr>
        <p:spPr bwMode="auto">
          <a:xfrm>
            <a:off x="5364088" y="1769940"/>
            <a:ext cx="14041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 smtClean="0">
                <a:latin typeface="宋体" pitchFamily="2" charset="-122"/>
              </a:rPr>
              <a:t>（</a:t>
            </a:r>
            <a:r>
              <a:rPr kumimoji="1" lang="en-US" altLang="zh-CN" sz="2400" b="1" dirty="0" smtClean="0">
                <a:latin typeface="宋体" pitchFamily="2" charset="-122"/>
              </a:rPr>
              <a:t>U</a:t>
            </a:r>
            <a:r>
              <a:rPr kumimoji="1" lang="zh-CN" altLang="en-US" sz="2400" b="1" dirty="0" smtClean="0">
                <a:latin typeface="宋体" pitchFamily="2" charset="-122"/>
              </a:rPr>
              <a:t>相同）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26" name="Rectangle 3"/>
          <p:cNvSpPr>
            <a:spLocks noChangeArrowheads="1"/>
          </p:cNvSpPr>
          <p:nvPr/>
        </p:nvSpPr>
        <p:spPr bwMode="auto">
          <a:xfrm>
            <a:off x="7281588" y="4406361"/>
            <a:ext cx="175490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 smtClean="0">
                <a:latin typeface="宋体" pitchFamily="2" charset="-122"/>
              </a:rPr>
              <a:t>断开电源：</a:t>
            </a:r>
            <a:r>
              <a:rPr kumimoji="1" lang="en-US" altLang="zh-CN" sz="2400" b="1" dirty="0" smtClean="0">
                <a:latin typeface="宋体" pitchFamily="2" charset="-122"/>
              </a:rPr>
              <a:t/>
            </a:r>
            <a:br>
              <a:rPr kumimoji="1" lang="en-US" altLang="zh-CN" sz="2400" b="1" dirty="0" smtClean="0">
                <a:latin typeface="宋体" pitchFamily="2" charset="-122"/>
              </a:rPr>
            </a:br>
            <a:r>
              <a:rPr kumimoji="1" lang="en-US" altLang="zh-CN" sz="2400" b="1" dirty="0" smtClean="0">
                <a:latin typeface="宋体" pitchFamily="2" charset="-122"/>
              </a:rPr>
              <a:t>Q</a:t>
            </a:r>
            <a:r>
              <a:rPr kumimoji="1" lang="zh-CN" altLang="en-US" sz="2400" b="1" dirty="0" smtClean="0">
                <a:latin typeface="宋体" pitchFamily="2" charset="-122"/>
              </a:rPr>
              <a:t>不变</a:t>
            </a:r>
            <a:endParaRPr kumimoji="1" lang="en-US" altLang="zh-CN" sz="2400" b="1" dirty="0" smtClean="0">
              <a:latin typeface="宋体" pitchFamily="2" charset="-122"/>
            </a:endParaRPr>
          </a:p>
          <a:p>
            <a:r>
              <a:rPr kumimoji="1" lang="zh-CN" altLang="en-US" sz="2400" b="1" dirty="0" smtClean="0">
                <a:latin typeface="宋体" pitchFamily="2" charset="-122"/>
              </a:rPr>
              <a:t>连接电源：</a:t>
            </a:r>
            <a:r>
              <a:rPr kumimoji="1" lang="en-US" altLang="zh-CN" sz="2400" b="1" dirty="0" smtClean="0">
                <a:latin typeface="宋体" pitchFamily="2" charset="-122"/>
              </a:rPr>
              <a:t/>
            </a:r>
            <a:br>
              <a:rPr kumimoji="1" lang="en-US" altLang="zh-CN" sz="2400" b="1" dirty="0" smtClean="0">
                <a:latin typeface="宋体" pitchFamily="2" charset="-122"/>
              </a:rPr>
            </a:br>
            <a:r>
              <a:rPr kumimoji="1" lang="en-US" altLang="zh-CN" sz="2400" b="1" dirty="0" smtClean="0">
                <a:latin typeface="宋体" pitchFamily="2" charset="-122"/>
              </a:rPr>
              <a:t>U</a:t>
            </a:r>
            <a:r>
              <a:rPr kumimoji="1" lang="zh-CN" altLang="en-US" sz="2400" b="1" dirty="0" smtClean="0">
                <a:latin typeface="宋体" pitchFamily="2" charset="-122"/>
              </a:rPr>
              <a:t>不变</a:t>
            </a:r>
            <a:endParaRPr kumimoji="1" lang="zh-CN" altLang="en-US" sz="2400" b="1" dirty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258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5" grpId="0" autoUpdateAnimBg="0"/>
      <p:bldP spid="16" grpId="0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  <p:bldP spid="23" grpId="0" autoUpdateAnimBg="0"/>
      <p:bldP spid="24" grpId="0" autoUpdateAnimBg="0"/>
      <p:bldP spid="25" grpId="0" autoUpdateAnimBg="0"/>
      <p:bldP spid="2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51520" y="116632"/>
            <a:ext cx="43204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b="1" dirty="0" smtClean="0">
                <a:solidFill>
                  <a:srgbClr val="0000FF"/>
                </a:solidFill>
                <a:latin typeface="宋体" pitchFamily="2" charset="-122"/>
              </a:rPr>
              <a:t>7.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宋体" pitchFamily="2" charset="-122"/>
              </a:rPr>
              <a:t>几种典型的电容器：</a:t>
            </a:r>
            <a:endParaRPr kumimoji="1" lang="zh-CN" altLang="en-US" sz="2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83568" y="1601618"/>
            <a:ext cx="158417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 dirty="0" smtClean="0">
                <a:latin typeface="宋体" pitchFamily="2" charset="-122"/>
              </a:rPr>
              <a:t>平行板</a:t>
            </a:r>
            <a:endParaRPr kumimoji="1" lang="zh-CN" altLang="en-US" sz="2800" b="1" dirty="0">
              <a:latin typeface="宋体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299108"/>
              </p:ext>
            </p:extLst>
          </p:nvPr>
        </p:nvGraphicFramePr>
        <p:xfrm>
          <a:off x="5580112" y="1433465"/>
          <a:ext cx="1697038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18" name="Equation" r:id="rId3" imgW="660240" imgH="393480" progId="Equation.DSMT4">
                  <p:embed/>
                </p:oleObj>
              </mc:Choice>
              <mc:Fallback>
                <p:oleObj name="Equation" r:id="rId3" imgW="660240" imgH="393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1433465"/>
                        <a:ext cx="1697038" cy="1008062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0"/>
          <p:cNvGrpSpPr>
            <a:grpSpLocks/>
          </p:cNvGrpSpPr>
          <p:nvPr/>
        </p:nvGrpSpPr>
        <p:grpSpPr bwMode="auto">
          <a:xfrm>
            <a:off x="3162386" y="1300444"/>
            <a:ext cx="1728240" cy="1074098"/>
            <a:chOff x="3456" y="1603"/>
            <a:chExt cx="1741" cy="1133"/>
          </a:xfrm>
        </p:grpSpPr>
        <p:graphicFrame>
          <p:nvGraphicFramePr>
            <p:cNvPr id="8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3450675"/>
                </p:ext>
              </p:extLst>
            </p:nvPr>
          </p:nvGraphicFramePr>
          <p:xfrm>
            <a:off x="4061" y="1603"/>
            <a:ext cx="211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19" name="Equation" r:id="rId5" imgW="190440" imgH="241200" progId="Equation.3">
                    <p:embed/>
                  </p:oleObj>
                </mc:Choice>
                <mc:Fallback>
                  <p:oleObj name="Equation" r:id="rId5" imgW="1904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1" y="1603"/>
                          <a:ext cx="211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40"/>
            <p:cNvSpPr>
              <a:spLocks noChangeArrowheads="1"/>
            </p:cNvSpPr>
            <p:nvPr/>
          </p:nvSpPr>
          <p:spPr bwMode="auto">
            <a:xfrm>
              <a:off x="3456" y="1872"/>
              <a:ext cx="1392" cy="14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41"/>
            <p:cNvSpPr>
              <a:spLocks noChangeShapeType="1"/>
            </p:cNvSpPr>
            <p:nvPr/>
          </p:nvSpPr>
          <p:spPr bwMode="auto">
            <a:xfrm flipV="1">
              <a:off x="4944" y="2016"/>
              <a:ext cx="0" cy="5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0583889"/>
                </p:ext>
              </p:extLst>
            </p:nvPr>
          </p:nvGraphicFramePr>
          <p:xfrm>
            <a:off x="4954" y="2152"/>
            <a:ext cx="243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20" name="Equation" r:id="rId7" imgW="190440" imgH="253800" progId="Equation.3">
                    <p:embed/>
                  </p:oleObj>
                </mc:Choice>
                <mc:Fallback>
                  <p:oleObj name="Equation" r:id="rId7" imgW="19044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4" y="2152"/>
                          <a:ext cx="243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Line 43"/>
            <p:cNvSpPr>
              <a:spLocks noChangeShapeType="1"/>
            </p:cNvSpPr>
            <p:nvPr/>
          </p:nvSpPr>
          <p:spPr bwMode="auto">
            <a:xfrm flipH="1" flipV="1">
              <a:off x="4848" y="2016"/>
              <a:ext cx="192" cy="0"/>
            </a:xfrm>
            <a:prstGeom prst="line">
              <a:avLst/>
            </a:prstGeom>
            <a:noFill/>
            <a:ln w="12700">
              <a:solidFill>
                <a:srgbClr val="CC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Rectangle 44" descr="蓝色砂纸"/>
            <p:cNvSpPr>
              <a:spLocks noChangeArrowheads="1"/>
            </p:cNvSpPr>
            <p:nvPr/>
          </p:nvSpPr>
          <p:spPr bwMode="auto">
            <a:xfrm>
              <a:off x="3456" y="2016"/>
              <a:ext cx="1392" cy="576"/>
            </a:xfrm>
            <a:prstGeom prst="rect">
              <a:avLst/>
            </a:prstGeom>
            <a:blipFill dpi="0" rotWithShape="0">
              <a:blip r:embed="rId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Rectangle 48"/>
            <p:cNvSpPr>
              <a:spLocks noChangeArrowheads="1"/>
            </p:cNvSpPr>
            <p:nvPr/>
          </p:nvSpPr>
          <p:spPr bwMode="auto">
            <a:xfrm>
              <a:off x="3456" y="2592"/>
              <a:ext cx="1392" cy="144"/>
            </a:xfrm>
            <a:prstGeom prst="rect">
              <a:avLst/>
            </a:prstGeom>
            <a:gradFill rotWithShape="0">
              <a:gsLst>
                <a:gs pos="0">
                  <a:srgbClr val="767676"/>
                </a:gs>
                <a:gs pos="50000">
                  <a:schemeClr val="bg1"/>
                </a:gs>
                <a:gs pos="100000">
                  <a:srgbClr val="767676"/>
                </a:gs>
              </a:gsLst>
              <a:lin ang="5400000" scaled="1"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7302332"/>
                </p:ext>
              </p:extLst>
            </p:nvPr>
          </p:nvGraphicFramePr>
          <p:xfrm>
            <a:off x="3586" y="2034"/>
            <a:ext cx="388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21" name="Equation" r:id="rId10" imgW="164880" imgH="215640" progId="Equation.3">
                    <p:embed/>
                  </p:oleObj>
                </mc:Choice>
                <mc:Fallback>
                  <p:oleObj name="Equation" r:id="rId10" imgW="164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6" y="2034"/>
                          <a:ext cx="388" cy="4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Line 53"/>
            <p:cNvSpPr>
              <a:spLocks noChangeShapeType="1"/>
            </p:cNvSpPr>
            <p:nvPr/>
          </p:nvSpPr>
          <p:spPr bwMode="auto">
            <a:xfrm flipH="1" flipV="1">
              <a:off x="4848" y="2592"/>
              <a:ext cx="192" cy="0"/>
            </a:xfrm>
            <a:prstGeom prst="line">
              <a:avLst/>
            </a:prstGeom>
            <a:noFill/>
            <a:ln w="12700">
              <a:solidFill>
                <a:srgbClr val="CC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683568" y="2690917"/>
            <a:ext cx="158417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 dirty="0" smtClean="0">
                <a:latin typeface="宋体" pitchFamily="2" charset="-122"/>
              </a:rPr>
              <a:t>圆柱形电容器</a:t>
            </a:r>
            <a:endParaRPr kumimoji="1" lang="zh-CN" altLang="en-US" sz="2800" b="1" dirty="0">
              <a:latin typeface="宋体" pitchFamily="2" charset="-122"/>
            </a:endParaRPr>
          </a:p>
        </p:txBody>
      </p:sp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9811818"/>
              </p:ext>
            </p:extLst>
          </p:nvPr>
        </p:nvGraphicFramePr>
        <p:xfrm>
          <a:off x="5629349" y="2682800"/>
          <a:ext cx="2759075" cy="153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22" name="Equation" r:id="rId12" imgW="1091880" imgH="609480" progId="Equation.DSMT4">
                  <p:embed/>
                </p:oleObj>
              </mc:Choice>
              <mc:Fallback>
                <p:oleObj name="Equation" r:id="rId12" imgW="1091880" imgH="6094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349" y="2682800"/>
                        <a:ext cx="2759075" cy="15382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Rectangle 3"/>
          <p:cNvSpPr>
            <a:spLocks noChangeArrowheads="1"/>
          </p:cNvSpPr>
          <p:nvPr/>
        </p:nvSpPr>
        <p:spPr bwMode="auto">
          <a:xfrm>
            <a:off x="683568" y="4347697"/>
            <a:ext cx="158417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 dirty="0" smtClean="0">
                <a:latin typeface="宋体" pitchFamily="2" charset="-122"/>
              </a:rPr>
              <a:t>球形</a:t>
            </a:r>
            <a:endParaRPr kumimoji="1" lang="en-US" altLang="zh-CN" sz="2800" b="1" dirty="0" smtClean="0">
              <a:latin typeface="宋体" pitchFamily="2" charset="-122"/>
            </a:endParaRPr>
          </a:p>
          <a:p>
            <a:r>
              <a:rPr kumimoji="1" lang="zh-CN" altLang="en-US" sz="2800" b="1" dirty="0" smtClean="0">
                <a:latin typeface="宋体" pitchFamily="2" charset="-122"/>
              </a:rPr>
              <a:t>电容器</a:t>
            </a:r>
            <a:endParaRPr kumimoji="1" lang="zh-CN" altLang="en-US" sz="2800" b="1" dirty="0">
              <a:latin typeface="宋体" pitchFamily="2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3002730" y="4234889"/>
            <a:ext cx="1694832" cy="1498367"/>
            <a:chOff x="3564465" y="4530421"/>
            <a:chExt cx="3380352" cy="3003035"/>
          </a:xfrm>
        </p:grpSpPr>
        <p:sp>
          <p:nvSpPr>
            <p:cNvPr id="53" name="Oval 4"/>
            <p:cNvSpPr>
              <a:spLocks noChangeArrowheads="1"/>
            </p:cNvSpPr>
            <p:nvPr/>
          </p:nvSpPr>
          <p:spPr bwMode="auto">
            <a:xfrm>
              <a:off x="4012704" y="4602931"/>
              <a:ext cx="2895601" cy="28956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76200" cmpd="tri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Oval 5"/>
            <p:cNvSpPr>
              <a:spLocks noChangeArrowheads="1"/>
            </p:cNvSpPr>
            <p:nvPr/>
          </p:nvSpPr>
          <p:spPr bwMode="auto">
            <a:xfrm>
              <a:off x="4752957" y="5364930"/>
              <a:ext cx="1419673" cy="1447800"/>
            </a:xfrm>
            <a:prstGeom prst="ellipse">
              <a:avLst/>
            </a:prstGeom>
            <a:solidFill>
              <a:schemeClr val="bg1"/>
            </a:solidFill>
            <a:ln w="76200" cmpd="tri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AutoShape 6" descr="浅色上对角线"/>
            <p:cNvSpPr>
              <a:spLocks noChangeArrowheads="1"/>
            </p:cNvSpPr>
            <p:nvPr/>
          </p:nvSpPr>
          <p:spPr bwMode="auto">
            <a:xfrm>
              <a:off x="4683698" y="5328418"/>
              <a:ext cx="1524000" cy="1524001"/>
            </a:xfrm>
            <a:custGeom>
              <a:avLst/>
              <a:gdLst>
                <a:gd name="G0" fmla="+- 775 0 0"/>
                <a:gd name="G1" fmla="+- 21600 0 775"/>
                <a:gd name="G2" fmla="+- 21600 0 775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775" y="10800"/>
                  </a:moveTo>
                  <a:cubicBezTo>
                    <a:pt x="775" y="16337"/>
                    <a:pt x="5263" y="20825"/>
                    <a:pt x="10800" y="20825"/>
                  </a:cubicBezTo>
                  <a:cubicBezTo>
                    <a:pt x="16337" y="20825"/>
                    <a:pt x="20825" y="16337"/>
                    <a:pt x="20825" y="10800"/>
                  </a:cubicBezTo>
                  <a:cubicBezTo>
                    <a:pt x="20825" y="5263"/>
                    <a:pt x="16337" y="775"/>
                    <a:pt x="10800" y="775"/>
                  </a:cubicBezTo>
                  <a:cubicBezTo>
                    <a:pt x="5263" y="775"/>
                    <a:pt x="775" y="5263"/>
                    <a:pt x="775" y="10800"/>
                  </a:cubicBezTo>
                  <a:close/>
                </a:path>
              </a:pathLst>
            </a:custGeom>
            <a:pattFill prst="ltUpDiag">
              <a:fgClr>
                <a:srgbClr val="5F5F5F"/>
              </a:fgClr>
              <a:bgClr>
                <a:srgbClr val="DDDDDD"/>
              </a:bgClr>
            </a:pattFill>
            <a:ln w="127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9"/>
            <p:cNvSpPr>
              <a:spLocks noChangeShapeType="1"/>
            </p:cNvSpPr>
            <p:nvPr/>
          </p:nvSpPr>
          <p:spPr bwMode="auto">
            <a:xfrm flipV="1">
              <a:off x="5458917" y="6050731"/>
              <a:ext cx="7635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57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9489805"/>
                </p:ext>
              </p:extLst>
            </p:nvPr>
          </p:nvGraphicFramePr>
          <p:xfrm>
            <a:off x="5437499" y="5398537"/>
            <a:ext cx="643821" cy="7809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23" name="Equation" r:id="rId14" imgW="177480" imgH="215640" progId="Equation.3">
                    <p:embed/>
                  </p:oleObj>
                </mc:Choice>
                <mc:Fallback>
                  <p:oleObj name="Equation" r:id="rId14" imgW="1774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37499" y="5398537"/>
                          <a:ext cx="643821" cy="7809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Line 11"/>
            <p:cNvSpPr>
              <a:spLocks noChangeShapeType="1"/>
            </p:cNvSpPr>
            <p:nvPr/>
          </p:nvSpPr>
          <p:spPr bwMode="auto">
            <a:xfrm flipH="1">
              <a:off x="4165104" y="6050731"/>
              <a:ext cx="1295400" cy="609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59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190040"/>
                </p:ext>
              </p:extLst>
            </p:nvPr>
          </p:nvGraphicFramePr>
          <p:xfrm>
            <a:off x="3564465" y="6497509"/>
            <a:ext cx="756777" cy="8590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24" name="Equation" r:id="rId16" imgW="190440" imgH="215640" progId="Equation.3">
                    <p:embed/>
                  </p:oleObj>
                </mc:Choice>
                <mc:Fallback>
                  <p:oleObj name="Equation" r:id="rId16" imgW="1904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4465" y="6497509"/>
                          <a:ext cx="756777" cy="8590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" name="AutoShape 7" descr="浅色上对角线"/>
            <p:cNvSpPr>
              <a:spLocks noChangeArrowheads="1"/>
            </p:cNvSpPr>
            <p:nvPr/>
          </p:nvSpPr>
          <p:spPr bwMode="auto">
            <a:xfrm>
              <a:off x="3973018" y="4561655"/>
              <a:ext cx="2971799" cy="2971801"/>
            </a:xfrm>
            <a:custGeom>
              <a:avLst/>
              <a:gdLst>
                <a:gd name="G0" fmla="+- 646 0 0"/>
                <a:gd name="G1" fmla="+- 21600 0 646"/>
                <a:gd name="G2" fmla="+- 21600 0 646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46" y="10800"/>
                  </a:moveTo>
                  <a:cubicBezTo>
                    <a:pt x="646" y="16408"/>
                    <a:pt x="5192" y="20954"/>
                    <a:pt x="10800" y="20954"/>
                  </a:cubicBezTo>
                  <a:cubicBezTo>
                    <a:pt x="16408" y="20954"/>
                    <a:pt x="20954" y="16408"/>
                    <a:pt x="20954" y="10800"/>
                  </a:cubicBezTo>
                  <a:cubicBezTo>
                    <a:pt x="20954" y="5192"/>
                    <a:pt x="16408" y="646"/>
                    <a:pt x="10800" y="646"/>
                  </a:cubicBezTo>
                  <a:cubicBezTo>
                    <a:pt x="5192" y="646"/>
                    <a:pt x="646" y="5192"/>
                    <a:pt x="646" y="10800"/>
                  </a:cubicBezTo>
                  <a:close/>
                </a:path>
              </a:pathLst>
            </a:custGeom>
            <a:pattFill prst="ltUpDiag">
              <a:fgClr>
                <a:srgbClr val="808080"/>
              </a:fgClr>
              <a:bgClr>
                <a:srgbClr val="DDDDDD"/>
              </a:bgClr>
            </a:pattFill>
            <a:ln w="127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3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9396499"/>
                </p:ext>
              </p:extLst>
            </p:nvPr>
          </p:nvGraphicFramePr>
          <p:xfrm>
            <a:off x="5578217" y="4530421"/>
            <a:ext cx="799307" cy="9864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25" name="Equation" r:id="rId18" imgW="164880" imgH="215640" progId="Equation.3">
                    <p:embed/>
                  </p:oleObj>
                </mc:Choice>
                <mc:Fallback>
                  <p:oleObj name="Equation" r:id="rId18" imgW="164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8217" y="4530421"/>
                          <a:ext cx="799307" cy="9864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5" name="组合 84"/>
          <p:cNvGrpSpPr/>
          <p:nvPr/>
        </p:nvGrpSpPr>
        <p:grpSpPr>
          <a:xfrm>
            <a:off x="3099548" y="2544645"/>
            <a:ext cx="1523542" cy="1618236"/>
            <a:chOff x="3082740" y="3290648"/>
            <a:chExt cx="1629560" cy="1860347"/>
          </a:xfrm>
        </p:grpSpPr>
        <p:grpSp>
          <p:nvGrpSpPr>
            <p:cNvPr id="5" name="组合 4"/>
            <p:cNvGrpSpPr/>
            <p:nvPr/>
          </p:nvGrpSpPr>
          <p:grpSpPr>
            <a:xfrm>
              <a:off x="3082740" y="3290648"/>
              <a:ext cx="1629560" cy="1860347"/>
              <a:chOff x="3000846" y="2959456"/>
              <a:chExt cx="2111364" cy="2667002"/>
            </a:xfrm>
          </p:grpSpPr>
          <p:sp>
            <p:nvSpPr>
              <p:cNvPr id="28" name="AutoShape 39"/>
              <p:cNvSpPr>
                <a:spLocks noChangeArrowheads="1"/>
              </p:cNvSpPr>
              <p:nvPr/>
            </p:nvSpPr>
            <p:spPr bwMode="auto">
              <a:xfrm>
                <a:off x="3816810" y="3071812"/>
                <a:ext cx="1066800" cy="2362200"/>
              </a:xfrm>
              <a:prstGeom prst="can">
                <a:avLst>
                  <a:gd name="adj" fmla="val 41364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41"/>
              <p:cNvSpPr>
                <a:spLocks noChangeShapeType="1"/>
              </p:cNvSpPr>
              <p:nvPr/>
            </p:nvSpPr>
            <p:spPr bwMode="auto">
              <a:xfrm>
                <a:off x="4350210" y="4443412"/>
                <a:ext cx="533400" cy="0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1" name="Object 4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63020316"/>
                  </p:ext>
                </p:extLst>
              </p:nvPr>
            </p:nvGraphicFramePr>
            <p:xfrm>
              <a:off x="4340005" y="3782103"/>
              <a:ext cx="553140" cy="7095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226" name="Equation" r:id="rId19" imgW="177480" imgH="228600" progId="Equation.DSMT4">
                      <p:embed/>
                    </p:oleObj>
                  </mc:Choice>
                  <mc:Fallback>
                    <p:oleObj name="Equation" r:id="rId19" imgW="177480" imgH="228600" progId="Equation.DSMT4">
                      <p:embed/>
                      <p:pic>
                        <p:nvPicPr>
                          <p:cNvPr id="0" name="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40005" y="3782103"/>
                            <a:ext cx="553140" cy="7095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" name="Line 43"/>
              <p:cNvSpPr>
                <a:spLocks noChangeShapeType="1"/>
              </p:cNvSpPr>
              <p:nvPr/>
            </p:nvSpPr>
            <p:spPr bwMode="auto">
              <a:xfrm>
                <a:off x="4350210" y="5205412"/>
                <a:ext cx="762000" cy="1588"/>
              </a:xfrm>
              <a:prstGeom prst="line">
                <a:avLst/>
              </a:prstGeom>
              <a:noFill/>
              <a:ln w="19050">
                <a:solidFill>
                  <a:srgbClr val="CC00CC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33" name="Group 44"/>
              <p:cNvGrpSpPr>
                <a:grpSpLocks/>
              </p:cNvGrpSpPr>
              <p:nvPr/>
            </p:nvGrpSpPr>
            <p:grpSpPr bwMode="auto">
              <a:xfrm>
                <a:off x="3000846" y="3300412"/>
                <a:ext cx="587376" cy="1905000"/>
                <a:chOff x="3854" y="2016"/>
                <a:chExt cx="370" cy="1200"/>
              </a:xfrm>
            </p:grpSpPr>
            <p:sp>
              <p:nvSpPr>
                <p:cNvPr id="34" name="Line 45"/>
                <p:cNvSpPr>
                  <a:spLocks noChangeShapeType="1"/>
                </p:cNvSpPr>
                <p:nvPr/>
              </p:nvSpPr>
              <p:spPr bwMode="auto">
                <a:xfrm>
                  <a:off x="3984" y="2016"/>
                  <a:ext cx="240" cy="0"/>
                </a:xfrm>
                <a:prstGeom prst="line">
                  <a:avLst/>
                </a:prstGeom>
                <a:noFill/>
                <a:ln w="12700">
                  <a:solidFill>
                    <a:srgbClr val="CC00CC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Line 46"/>
                <p:cNvSpPr>
                  <a:spLocks noChangeShapeType="1"/>
                </p:cNvSpPr>
                <p:nvPr/>
              </p:nvSpPr>
              <p:spPr bwMode="auto">
                <a:xfrm>
                  <a:off x="3984" y="3216"/>
                  <a:ext cx="240" cy="0"/>
                </a:xfrm>
                <a:prstGeom prst="line">
                  <a:avLst/>
                </a:prstGeom>
                <a:noFill/>
                <a:ln w="12700">
                  <a:solidFill>
                    <a:srgbClr val="CC00CC"/>
                  </a:solidFill>
                  <a:round/>
                  <a:headEnd type="none" w="sm" len="lg"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36" name="Object 4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058361046"/>
                    </p:ext>
                  </p:extLst>
                </p:nvPr>
              </p:nvGraphicFramePr>
              <p:xfrm>
                <a:off x="3854" y="2404"/>
                <a:ext cx="209" cy="4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6227" name="公式" r:id="rId21" imgW="88560" imgH="177480" progId="Equation.3">
                        <p:embed/>
                      </p:oleObj>
                    </mc:Choice>
                    <mc:Fallback>
                      <p:oleObj name="公式" r:id="rId21" imgW="88560" imgH="177480" progId="Equation.3">
                        <p:embed/>
                        <p:pic>
                          <p:nvPicPr>
                            <p:cNvPr id="0" name=""/>
                            <p:cNvPicPr preferRelativeResize="0"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854" y="2404"/>
                              <a:ext cx="209" cy="4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7" name="Line 48"/>
                <p:cNvSpPr>
                  <a:spLocks noChangeShapeType="1"/>
                </p:cNvSpPr>
                <p:nvPr/>
              </p:nvSpPr>
              <p:spPr bwMode="auto">
                <a:xfrm>
                  <a:off x="4080" y="2016"/>
                  <a:ext cx="0" cy="1200"/>
                </a:xfrm>
                <a:prstGeom prst="line">
                  <a:avLst/>
                </a:prstGeom>
                <a:noFill/>
                <a:ln w="12700">
                  <a:solidFill>
                    <a:srgbClr val="CC00CC"/>
                  </a:solidFill>
                  <a:round/>
                  <a:headEnd type="triangle" w="sm" len="lg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Oval 49"/>
              <p:cNvSpPr>
                <a:spLocks noChangeArrowheads="1"/>
              </p:cNvSpPr>
              <p:nvPr/>
            </p:nvSpPr>
            <p:spPr bwMode="auto">
              <a:xfrm>
                <a:off x="3588210" y="4824412"/>
                <a:ext cx="1524000" cy="7620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Oval 50"/>
              <p:cNvSpPr>
                <a:spLocks noChangeArrowheads="1"/>
              </p:cNvSpPr>
              <p:nvPr/>
            </p:nvSpPr>
            <p:spPr bwMode="auto">
              <a:xfrm>
                <a:off x="3816810" y="4976812"/>
                <a:ext cx="1066800" cy="4572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40" name="Object 5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30177840"/>
                  </p:ext>
                </p:extLst>
              </p:nvPr>
            </p:nvGraphicFramePr>
            <p:xfrm>
              <a:off x="4319964" y="4581973"/>
              <a:ext cx="593223" cy="7095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228" name="Equation" r:id="rId23" imgW="190440" imgH="228600" progId="Equation.DSMT4">
                      <p:embed/>
                    </p:oleObj>
                  </mc:Choice>
                  <mc:Fallback>
                    <p:oleObj name="Equation" r:id="rId23" imgW="190440" imgH="228600" progId="Equation.DSMT4">
                      <p:embed/>
                      <p:pic>
                        <p:nvPicPr>
                          <p:cNvPr id="0" name="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19964" y="4581973"/>
                            <a:ext cx="593223" cy="7095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9" name="AutoShape 61"/>
              <p:cNvSpPr>
                <a:spLocks noChangeArrowheads="1"/>
              </p:cNvSpPr>
              <p:nvPr/>
            </p:nvSpPr>
            <p:spPr bwMode="auto">
              <a:xfrm>
                <a:off x="3588210" y="2959456"/>
                <a:ext cx="1524000" cy="2667002"/>
              </a:xfrm>
              <a:prstGeom prst="can">
                <a:avLst>
                  <a:gd name="adj" fmla="val 50312"/>
                </a:avLst>
              </a:prstGeom>
              <a:solidFill>
                <a:schemeClr val="accent5">
                  <a:lumMod val="40000"/>
                  <a:lumOff val="60000"/>
                  <a:alpha val="50000"/>
                </a:schemeClr>
              </a:solidFill>
              <a:ln w="190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Oval 52"/>
              <p:cNvSpPr>
                <a:spLocks noChangeArrowheads="1"/>
              </p:cNvSpPr>
              <p:nvPr/>
            </p:nvSpPr>
            <p:spPr bwMode="auto">
              <a:xfrm>
                <a:off x="3816811" y="3077948"/>
                <a:ext cx="1066800" cy="457199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86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8419474"/>
                </p:ext>
              </p:extLst>
            </p:nvPr>
          </p:nvGraphicFramePr>
          <p:xfrm>
            <a:off x="3472457" y="3756041"/>
            <a:ext cx="480095" cy="5497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29" name="Equation" r:id="rId25" imgW="164880" imgH="215640" progId="Equation.3">
                    <p:embed/>
                  </p:oleObj>
                </mc:Choice>
                <mc:Fallback>
                  <p:oleObj name="Equation" r:id="rId25" imgW="164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2457" y="3756041"/>
                          <a:ext cx="480095" cy="5497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8" name="对象 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375797"/>
              </p:ext>
            </p:extLst>
          </p:nvPr>
        </p:nvGraphicFramePr>
        <p:xfrm>
          <a:off x="5614169" y="4389225"/>
          <a:ext cx="3062287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30" name="Equation" r:id="rId26" imgW="1218960" imgH="431640" progId="Equation.DSMT4">
                  <p:embed/>
                </p:oleObj>
              </mc:Choice>
              <mc:Fallback>
                <p:oleObj name="Equation" r:id="rId26" imgW="1218960" imgH="43164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4169" y="4389225"/>
                        <a:ext cx="3062287" cy="108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对象 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937124"/>
              </p:ext>
            </p:extLst>
          </p:nvPr>
        </p:nvGraphicFramePr>
        <p:xfrm>
          <a:off x="5767859" y="5795541"/>
          <a:ext cx="1468437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31" name="Equation" r:id="rId28" imgW="571320" imgH="228600" progId="Equation.DSMT4">
                  <p:embed/>
                </p:oleObj>
              </mc:Choice>
              <mc:Fallback>
                <p:oleObj name="Equation" r:id="rId28" imgW="571320" imgH="228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7859" y="5795541"/>
                        <a:ext cx="1468437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" name="Rectangle 3"/>
          <p:cNvSpPr>
            <a:spLocks noChangeArrowheads="1"/>
          </p:cNvSpPr>
          <p:nvPr/>
        </p:nvSpPr>
        <p:spPr bwMode="auto">
          <a:xfrm>
            <a:off x="683567" y="5780078"/>
            <a:ext cx="51125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 dirty="0" smtClean="0">
                <a:latin typeface="宋体" pitchFamily="2" charset="-122"/>
              </a:rPr>
              <a:t>有介质与无介质电容器的电容</a:t>
            </a:r>
            <a:endParaRPr kumimoji="1" lang="zh-CN" altLang="en-US" sz="2800" b="1" dirty="0">
              <a:latin typeface="宋体" pitchFamily="2" charset="-122"/>
            </a:endParaRPr>
          </a:p>
        </p:txBody>
      </p:sp>
      <p:sp>
        <p:nvSpPr>
          <p:cNvPr id="48" name="Rectangle 3"/>
          <p:cNvSpPr>
            <a:spLocks noChangeArrowheads="1"/>
          </p:cNvSpPr>
          <p:nvPr/>
        </p:nvSpPr>
        <p:spPr bwMode="auto">
          <a:xfrm>
            <a:off x="683568" y="620688"/>
            <a:ext cx="27023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 dirty="0" smtClean="0">
                <a:latin typeface="宋体" pitchFamily="2" charset="-122"/>
              </a:rPr>
              <a:t>孤立导体球</a:t>
            </a:r>
            <a:endParaRPr kumimoji="1" lang="zh-CN" altLang="en-US" sz="2800" b="1" dirty="0">
              <a:latin typeface="宋体" pitchFamily="2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286215"/>
              </p:ext>
            </p:extLst>
          </p:nvPr>
        </p:nvGraphicFramePr>
        <p:xfrm>
          <a:off x="5595515" y="697359"/>
          <a:ext cx="192881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32" name="Equation" r:id="rId30" imgW="698400" imgH="228600" progId="Equation.DSMT4">
                  <p:embed/>
                </p:oleObj>
              </mc:Choice>
              <mc:Fallback>
                <p:oleObj name="Equation" r:id="rId30" imgW="6984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515" y="697359"/>
                        <a:ext cx="1928813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3613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7504" y="188640"/>
            <a:ext cx="8856984" cy="319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一平行板电容器充电后，在不断开电源的情况下试定性讨论两板上的电荷、电容、板间电势差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、场强、电场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能量的变化。</a:t>
            </a:r>
            <a:endParaRPr kumimoji="1"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buAutoNum type="arabicParenBoth"/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将电容器的极板间距拉大，</a:t>
            </a:r>
            <a:endParaRPr kumimoji="1"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buAutoNum type="arabicParenBoth"/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将均匀介质充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满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极板间，</a:t>
            </a:r>
            <a:endParaRPr kumimoji="1"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buAutoNum type="arabicParenBoth"/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将一导体平板平行的插入两极板间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798117"/>
              </p:ext>
            </p:extLst>
          </p:nvPr>
        </p:nvGraphicFramePr>
        <p:xfrm>
          <a:off x="2582863" y="3429000"/>
          <a:ext cx="42735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58" name="Equation" r:id="rId3" imgW="1663560" imgH="203040" progId="Equation.DSMT4">
                  <p:embed/>
                </p:oleObj>
              </mc:Choice>
              <mc:Fallback>
                <p:oleObj name="Equation" r:id="rId3" imgW="1663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863" y="3429000"/>
                        <a:ext cx="42735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7587471"/>
              </p:ext>
            </p:extLst>
          </p:nvPr>
        </p:nvGraphicFramePr>
        <p:xfrm>
          <a:off x="395536" y="3909244"/>
          <a:ext cx="576064" cy="194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59" name="Equation" r:id="rId5" imgW="253800" imgH="660240" progId="Equation.DSMT4">
                  <p:embed/>
                </p:oleObj>
              </mc:Choice>
              <mc:Fallback>
                <p:oleObj name="Equation" r:id="rId5" imgW="25380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3909244"/>
                        <a:ext cx="576064" cy="1944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5268930" y="273483"/>
            <a:ext cx="1800200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3673406"/>
              </p:ext>
            </p:extLst>
          </p:nvPr>
        </p:nvGraphicFramePr>
        <p:xfrm>
          <a:off x="3844776" y="1277938"/>
          <a:ext cx="23114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0" name="Equation" r:id="rId7" imgW="990360" imgH="203040" progId="Equation.DSMT4">
                  <p:embed/>
                </p:oleObj>
              </mc:Choice>
              <mc:Fallback>
                <p:oleObj name="Equation" r:id="rId7" imgW="990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776" y="1277938"/>
                        <a:ext cx="23114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228768"/>
              </p:ext>
            </p:extLst>
          </p:nvPr>
        </p:nvGraphicFramePr>
        <p:xfrm>
          <a:off x="6215509" y="1299974"/>
          <a:ext cx="27844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1" name="Equation" r:id="rId9" imgW="1193760" imgH="203040" progId="Equation.DSMT4">
                  <p:embed/>
                </p:oleObj>
              </mc:Choice>
              <mc:Fallback>
                <p:oleObj name="Equation" r:id="rId9" imgW="1193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5509" y="1299974"/>
                        <a:ext cx="27844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358191"/>
              </p:ext>
            </p:extLst>
          </p:nvPr>
        </p:nvGraphicFramePr>
        <p:xfrm>
          <a:off x="5220072" y="1797825"/>
          <a:ext cx="23685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2" name="Equation" r:id="rId11" imgW="1015920" imgH="203040" progId="Equation.DSMT4">
                  <p:embed/>
                </p:oleObj>
              </mc:Choice>
              <mc:Fallback>
                <p:oleObj name="Equation" r:id="rId11" imgW="1015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0072" y="1797825"/>
                        <a:ext cx="23685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842465"/>
              </p:ext>
            </p:extLst>
          </p:nvPr>
        </p:nvGraphicFramePr>
        <p:xfrm>
          <a:off x="4532506" y="2286299"/>
          <a:ext cx="4655705" cy="531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3" name="Equation" r:id="rId13" imgW="1993680" imgH="228600" progId="Equation.DSMT4">
                  <p:embed/>
                </p:oleObj>
              </mc:Choice>
              <mc:Fallback>
                <p:oleObj name="Equation" r:id="rId13" imgW="1993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506" y="2286299"/>
                        <a:ext cx="4655705" cy="5310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928791"/>
              </p:ext>
            </p:extLst>
          </p:nvPr>
        </p:nvGraphicFramePr>
        <p:xfrm>
          <a:off x="4194993" y="3933916"/>
          <a:ext cx="8810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4" name="Equation" r:id="rId15" imgW="342720" imgH="203040" progId="Equation.DSMT4">
                  <p:embed/>
                </p:oleObj>
              </mc:Choice>
              <mc:Fallback>
                <p:oleObj name="Equation" r:id="rId15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4993" y="3933916"/>
                        <a:ext cx="88106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2050820"/>
              </p:ext>
            </p:extLst>
          </p:nvPr>
        </p:nvGraphicFramePr>
        <p:xfrm>
          <a:off x="4178026" y="4629323"/>
          <a:ext cx="8810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5" name="Equation" r:id="rId17" imgW="342720" imgH="203040" progId="Equation.DSMT4">
                  <p:embed/>
                </p:oleObj>
              </mc:Choice>
              <mc:Fallback>
                <p:oleObj name="Equation" r:id="rId17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026" y="4629323"/>
                        <a:ext cx="88106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959254"/>
              </p:ext>
            </p:extLst>
          </p:nvPr>
        </p:nvGraphicFramePr>
        <p:xfrm>
          <a:off x="4178026" y="5332759"/>
          <a:ext cx="8810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6" name="Equation" r:id="rId19" imgW="342751" imgH="203112" progId="Equation.DSMT4">
                  <p:embed/>
                </p:oleObj>
              </mc:Choice>
              <mc:Fallback>
                <p:oleObj name="Equation" r:id="rId19" imgW="34275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026" y="5332759"/>
                        <a:ext cx="88106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513476"/>
              </p:ext>
            </p:extLst>
          </p:nvPr>
        </p:nvGraphicFramePr>
        <p:xfrm>
          <a:off x="923925" y="3945753"/>
          <a:ext cx="685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7" name="Equation" r:id="rId20" imgW="266400" imgH="203040" progId="Equation.DSMT4">
                  <p:embed/>
                </p:oleObj>
              </mc:Choice>
              <mc:Fallback>
                <p:oleObj name="Equation" r:id="rId20" imgW="266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5" y="3945753"/>
                        <a:ext cx="685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9409554"/>
              </p:ext>
            </p:extLst>
          </p:nvPr>
        </p:nvGraphicFramePr>
        <p:xfrm>
          <a:off x="915988" y="4622106"/>
          <a:ext cx="6524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8" name="Equation" r:id="rId22" imgW="253800" imgH="203040" progId="Equation.DSMT4">
                  <p:embed/>
                </p:oleObj>
              </mc:Choice>
              <mc:Fallback>
                <p:oleObj name="Equation" r:id="rId22" imgW="253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988" y="4622106"/>
                        <a:ext cx="65246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291774"/>
              </p:ext>
            </p:extLst>
          </p:nvPr>
        </p:nvGraphicFramePr>
        <p:xfrm>
          <a:off x="899592" y="5277395"/>
          <a:ext cx="685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69" name="Equation" r:id="rId24" imgW="266400" imgH="203040" progId="Equation.DSMT4">
                  <p:embed/>
                </p:oleObj>
              </mc:Choice>
              <mc:Fallback>
                <p:oleObj name="Equation" r:id="rId24" imgW="266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5277395"/>
                        <a:ext cx="685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144963"/>
              </p:ext>
            </p:extLst>
          </p:nvPr>
        </p:nvGraphicFramePr>
        <p:xfrm>
          <a:off x="3491880" y="3909243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0" name="Equation" r:id="rId26" imgW="139680" imgH="203040" progId="Equation.DSMT4">
                  <p:embed/>
                </p:oleObj>
              </mc:Choice>
              <mc:Fallback>
                <p:oleObj name="Equation" r:id="rId26" imgW="139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3909243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601511"/>
              </p:ext>
            </p:extLst>
          </p:nvPr>
        </p:nvGraphicFramePr>
        <p:xfrm>
          <a:off x="2555776" y="3909243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1" name="Equation" r:id="rId28" imgW="139680" imgH="203040" progId="Equation.DSMT4">
                  <p:embed/>
                </p:oleObj>
              </mc:Choice>
              <mc:Fallback>
                <p:oleObj name="Equation" r:id="rId28" imgW="139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3909243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6977550"/>
              </p:ext>
            </p:extLst>
          </p:nvPr>
        </p:nvGraphicFramePr>
        <p:xfrm>
          <a:off x="6372200" y="3909243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2" name="Equation" r:id="rId30" imgW="139680" imgH="203040" progId="Equation.DSMT4">
                  <p:embed/>
                </p:oleObj>
              </mc:Choice>
              <mc:Fallback>
                <p:oleObj name="Equation" r:id="rId30" imgW="139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3909243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544802"/>
              </p:ext>
            </p:extLst>
          </p:nvPr>
        </p:nvGraphicFramePr>
        <p:xfrm>
          <a:off x="2555776" y="4612680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3" name="Equation" r:id="rId31" imgW="139680" imgH="203040" progId="Equation.DSMT4">
                  <p:embed/>
                </p:oleObj>
              </mc:Choice>
              <mc:Fallback>
                <p:oleObj name="Equation" r:id="rId31" imgW="139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4612680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86220"/>
              </p:ext>
            </p:extLst>
          </p:nvPr>
        </p:nvGraphicFramePr>
        <p:xfrm>
          <a:off x="3491880" y="4601043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4" name="Equation" r:id="rId33" imgW="139639" imgH="203112" progId="Equation.DSMT4">
                  <p:embed/>
                </p:oleObj>
              </mc:Choice>
              <mc:Fallback>
                <p:oleObj name="Equation" r:id="rId33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4601043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091281"/>
              </p:ext>
            </p:extLst>
          </p:nvPr>
        </p:nvGraphicFramePr>
        <p:xfrm>
          <a:off x="5131097" y="4612680"/>
          <a:ext cx="8810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5" name="Equation" r:id="rId34" imgW="342751" imgH="203112" progId="Equation.DSMT4">
                  <p:embed/>
                </p:oleObj>
              </mc:Choice>
              <mc:Fallback>
                <p:oleObj name="Equation" r:id="rId34" imgW="34275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1097" y="4612680"/>
                        <a:ext cx="88106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758468"/>
              </p:ext>
            </p:extLst>
          </p:nvPr>
        </p:nvGraphicFramePr>
        <p:xfrm>
          <a:off x="6372200" y="4566743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6" name="Equation" r:id="rId35" imgW="139639" imgH="203112" progId="Equation.DSMT4">
                  <p:embed/>
                </p:oleObj>
              </mc:Choice>
              <mc:Fallback>
                <p:oleObj name="Equation" r:id="rId35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4566743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147354"/>
              </p:ext>
            </p:extLst>
          </p:nvPr>
        </p:nvGraphicFramePr>
        <p:xfrm>
          <a:off x="3491880" y="5286823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7" name="Equation" r:id="rId36" imgW="139639" imgH="203112" progId="Equation.DSMT4">
                  <p:embed/>
                </p:oleObj>
              </mc:Choice>
              <mc:Fallback>
                <p:oleObj name="Equation" r:id="rId36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5286823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5838113"/>
              </p:ext>
            </p:extLst>
          </p:nvPr>
        </p:nvGraphicFramePr>
        <p:xfrm>
          <a:off x="2555776" y="5296250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8" name="Equation" r:id="rId37" imgW="139639" imgH="203112" progId="Equation.DSMT4">
                  <p:embed/>
                </p:oleObj>
              </mc:Choice>
              <mc:Fallback>
                <p:oleObj name="Equation" r:id="rId37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5296250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123908"/>
              </p:ext>
            </p:extLst>
          </p:nvPr>
        </p:nvGraphicFramePr>
        <p:xfrm>
          <a:off x="5401357" y="5284564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79" name="Equation" r:id="rId38" imgW="139639" imgH="203112" progId="Equation.DSMT4">
                  <p:embed/>
                </p:oleObj>
              </mc:Choice>
              <mc:Fallback>
                <p:oleObj name="Equation" r:id="rId38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1357" y="5284564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468514"/>
              </p:ext>
            </p:extLst>
          </p:nvPr>
        </p:nvGraphicFramePr>
        <p:xfrm>
          <a:off x="5359131" y="3925839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80" name="Equation" r:id="rId39" imgW="139639" imgH="203112" progId="Equation.DSMT4">
                  <p:embed/>
                </p:oleObj>
              </mc:Choice>
              <mc:Fallback>
                <p:oleObj name="Equation" r:id="rId39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131" y="3925839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2821549"/>
              </p:ext>
            </p:extLst>
          </p:nvPr>
        </p:nvGraphicFramePr>
        <p:xfrm>
          <a:off x="6372200" y="5301208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81" name="Equation" r:id="rId40" imgW="139639" imgH="203112" progId="Equation.DSMT4">
                  <p:embed/>
                </p:oleObj>
              </mc:Choice>
              <mc:Fallback>
                <p:oleObj name="Equation" r:id="rId40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5301208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48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467544" y="188640"/>
            <a:ext cx="7920881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若充电后与电源断开的情况下又如何？</a:t>
            </a:r>
            <a:endParaRPr kumimoji="1"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053797"/>
              </p:ext>
            </p:extLst>
          </p:nvPr>
        </p:nvGraphicFramePr>
        <p:xfrm>
          <a:off x="4283968" y="836712"/>
          <a:ext cx="23114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06" name="Equation" r:id="rId3" imgW="990360" imgH="203040" progId="Equation.DSMT4">
                  <p:embed/>
                </p:oleObj>
              </mc:Choice>
              <mc:Fallback>
                <p:oleObj name="Equation" r:id="rId3" imgW="990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836712"/>
                        <a:ext cx="2311400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239908"/>
              </p:ext>
            </p:extLst>
          </p:nvPr>
        </p:nvGraphicFramePr>
        <p:xfrm>
          <a:off x="4309368" y="1412776"/>
          <a:ext cx="27844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07" name="Equation" r:id="rId5" imgW="1193760" imgH="203040" progId="Equation.DSMT4">
                  <p:embed/>
                </p:oleObj>
              </mc:Choice>
              <mc:Fallback>
                <p:oleObj name="Equation" r:id="rId5" imgW="11937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9368" y="1412776"/>
                        <a:ext cx="27844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400042"/>
              </p:ext>
            </p:extLst>
          </p:nvPr>
        </p:nvGraphicFramePr>
        <p:xfrm>
          <a:off x="6685632" y="836712"/>
          <a:ext cx="23685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08" name="Equation" r:id="rId7" imgW="1015920" imgH="203040" progId="Equation.DSMT4">
                  <p:embed/>
                </p:oleObj>
              </mc:Choice>
              <mc:Fallback>
                <p:oleObj name="Equation" r:id="rId7" imgW="1015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5632" y="836712"/>
                        <a:ext cx="23685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002211"/>
              </p:ext>
            </p:extLst>
          </p:nvPr>
        </p:nvGraphicFramePr>
        <p:xfrm>
          <a:off x="4341689" y="1829916"/>
          <a:ext cx="465613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09" name="Equation" r:id="rId9" imgW="1993680" imgH="228600" progId="Equation.DSMT4">
                  <p:embed/>
                </p:oleObj>
              </mc:Choice>
              <mc:Fallback>
                <p:oleObj name="Equation" r:id="rId9" imgW="1993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1689" y="1829916"/>
                        <a:ext cx="4656137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814638"/>
              </p:ext>
            </p:extLst>
          </p:nvPr>
        </p:nvGraphicFramePr>
        <p:xfrm>
          <a:off x="2582863" y="2517055"/>
          <a:ext cx="42735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10" name="Equation" r:id="rId11" imgW="1663560" imgH="203040" progId="Equation.DSMT4">
                  <p:embed/>
                </p:oleObj>
              </mc:Choice>
              <mc:Fallback>
                <p:oleObj name="Equation" r:id="rId11" imgW="1663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863" y="2517055"/>
                        <a:ext cx="42735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3787"/>
              </p:ext>
            </p:extLst>
          </p:nvPr>
        </p:nvGraphicFramePr>
        <p:xfrm>
          <a:off x="395288" y="2998068"/>
          <a:ext cx="576262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11" name="Equation" r:id="rId13" imgW="253800" imgH="660240" progId="Equation.DSMT4">
                  <p:embed/>
                </p:oleObj>
              </mc:Choice>
              <mc:Fallback>
                <p:oleObj name="Equation" r:id="rId13" imgW="25380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998068"/>
                        <a:ext cx="576262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04827"/>
              </p:ext>
            </p:extLst>
          </p:nvPr>
        </p:nvGraphicFramePr>
        <p:xfrm>
          <a:off x="2357215" y="3021880"/>
          <a:ext cx="8810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12" name="Equation" r:id="rId15" imgW="342720" imgH="203040" progId="Equation.DSMT4">
                  <p:embed/>
                </p:oleObj>
              </mc:Choice>
              <mc:Fallback>
                <p:oleObj name="Equation" r:id="rId15" imgW="342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215" y="3021880"/>
                        <a:ext cx="88106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836914"/>
              </p:ext>
            </p:extLst>
          </p:nvPr>
        </p:nvGraphicFramePr>
        <p:xfrm>
          <a:off x="2339752" y="3717205"/>
          <a:ext cx="8810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13" name="Equation" r:id="rId17" imgW="342751" imgH="203112" progId="Equation.DSMT4">
                  <p:embed/>
                </p:oleObj>
              </mc:Choice>
              <mc:Fallback>
                <p:oleObj name="Equation" r:id="rId17" imgW="34275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3717205"/>
                        <a:ext cx="88106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054217"/>
              </p:ext>
            </p:extLst>
          </p:nvPr>
        </p:nvGraphicFramePr>
        <p:xfrm>
          <a:off x="2339752" y="4420468"/>
          <a:ext cx="8810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14" name="Equation" r:id="rId19" imgW="342751" imgH="203112" progId="Equation.DSMT4">
                  <p:embed/>
                </p:oleObj>
              </mc:Choice>
              <mc:Fallback>
                <p:oleObj name="Equation" r:id="rId19" imgW="34275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420468"/>
                        <a:ext cx="88106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258301"/>
              </p:ext>
            </p:extLst>
          </p:nvPr>
        </p:nvGraphicFramePr>
        <p:xfrm>
          <a:off x="923925" y="3034580"/>
          <a:ext cx="685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15" name="Equation" r:id="rId20" imgW="266400" imgH="203040" progId="Equation.DSMT4">
                  <p:embed/>
                </p:oleObj>
              </mc:Choice>
              <mc:Fallback>
                <p:oleObj name="Equation" r:id="rId20" imgW="266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925" y="3034580"/>
                        <a:ext cx="685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98888"/>
              </p:ext>
            </p:extLst>
          </p:nvPr>
        </p:nvGraphicFramePr>
        <p:xfrm>
          <a:off x="915988" y="3710855"/>
          <a:ext cx="6524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16" name="Equation" r:id="rId22" imgW="253800" imgH="203040" progId="Equation.DSMT4">
                  <p:embed/>
                </p:oleObj>
              </mc:Choice>
              <mc:Fallback>
                <p:oleObj name="Equation" r:id="rId22" imgW="253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988" y="3710855"/>
                        <a:ext cx="65246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026806"/>
              </p:ext>
            </p:extLst>
          </p:nvPr>
        </p:nvGraphicFramePr>
        <p:xfrm>
          <a:off x="900113" y="4364905"/>
          <a:ext cx="685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17" name="Equation" r:id="rId24" imgW="266400" imgH="203040" progId="Equation.DSMT4">
                  <p:embed/>
                </p:oleObj>
              </mc:Choice>
              <mc:Fallback>
                <p:oleObj name="Equation" r:id="rId24" imgW="266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364905"/>
                        <a:ext cx="685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210812"/>
              </p:ext>
            </p:extLst>
          </p:nvPr>
        </p:nvGraphicFramePr>
        <p:xfrm>
          <a:off x="3492500" y="2998068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18" name="Equation" r:id="rId26" imgW="139680" imgH="203040" progId="Equation.DSMT4">
                  <p:embed/>
                </p:oleObj>
              </mc:Choice>
              <mc:Fallback>
                <p:oleObj name="Equation" r:id="rId26" imgW="139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998068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028532"/>
              </p:ext>
            </p:extLst>
          </p:nvPr>
        </p:nvGraphicFramePr>
        <p:xfrm>
          <a:off x="3492500" y="3688630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19" name="Equation" r:id="rId28" imgW="139639" imgH="203112" progId="Equation.DSMT4">
                  <p:embed/>
                </p:oleObj>
              </mc:Choice>
              <mc:Fallback>
                <p:oleObj name="Equation" r:id="rId28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688630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828488"/>
              </p:ext>
            </p:extLst>
          </p:nvPr>
        </p:nvGraphicFramePr>
        <p:xfrm>
          <a:off x="5131097" y="2980308"/>
          <a:ext cx="8810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20" name="Equation" r:id="rId30" imgW="342751" imgH="203112" progId="Equation.DSMT4">
                  <p:embed/>
                </p:oleObj>
              </mc:Choice>
              <mc:Fallback>
                <p:oleObj name="Equation" r:id="rId30" imgW="34275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1097" y="2980308"/>
                        <a:ext cx="88106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7526994"/>
              </p:ext>
            </p:extLst>
          </p:nvPr>
        </p:nvGraphicFramePr>
        <p:xfrm>
          <a:off x="6373465" y="2996952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21" name="Equation" r:id="rId31" imgW="139639" imgH="203112" progId="Equation.DSMT4">
                  <p:embed/>
                </p:oleObj>
              </mc:Choice>
              <mc:Fallback>
                <p:oleObj name="Equation" r:id="rId31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465" y="2996952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336968"/>
              </p:ext>
            </p:extLst>
          </p:nvPr>
        </p:nvGraphicFramePr>
        <p:xfrm>
          <a:off x="3492500" y="4374430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22" name="Equation" r:id="rId32" imgW="139639" imgH="203112" progId="Equation.DSMT4">
                  <p:embed/>
                </p:oleObj>
              </mc:Choice>
              <mc:Fallback>
                <p:oleObj name="Equation" r:id="rId32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4374430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矩形 29"/>
          <p:cNvSpPr/>
          <p:nvPr/>
        </p:nvSpPr>
        <p:spPr>
          <a:xfrm>
            <a:off x="4211960" y="748537"/>
            <a:ext cx="4932040" cy="15283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979712" y="252564"/>
            <a:ext cx="1800200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138938"/>
              </p:ext>
            </p:extLst>
          </p:nvPr>
        </p:nvGraphicFramePr>
        <p:xfrm>
          <a:off x="4446838" y="3006379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23" name="Equation" r:id="rId33" imgW="139639" imgH="203112" progId="Equation.DSMT4">
                  <p:embed/>
                </p:oleObj>
              </mc:Choice>
              <mc:Fallback>
                <p:oleObj name="Equation" r:id="rId33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838" y="3006379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245437"/>
              </p:ext>
            </p:extLst>
          </p:nvPr>
        </p:nvGraphicFramePr>
        <p:xfrm>
          <a:off x="4427984" y="3717032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24" name="Equation" r:id="rId34" imgW="139639" imgH="203112" progId="Equation.DSMT4">
                  <p:embed/>
                </p:oleObj>
              </mc:Choice>
              <mc:Fallback>
                <p:oleObj name="Equation" r:id="rId34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3717032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752061"/>
              </p:ext>
            </p:extLst>
          </p:nvPr>
        </p:nvGraphicFramePr>
        <p:xfrm>
          <a:off x="5364088" y="3645024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25" name="Equation" r:id="rId35" imgW="139639" imgH="203112" progId="Equation.DSMT4">
                  <p:embed/>
                </p:oleObj>
              </mc:Choice>
              <mc:Fallback>
                <p:oleObj name="Equation" r:id="rId35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3645024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322734"/>
              </p:ext>
            </p:extLst>
          </p:nvPr>
        </p:nvGraphicFramePr>
        <p:xfrm>
          <a:off x="6373465" y="3645024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26" name="Equation" r:id="rId36" imgW="139639" imgH="203112" progId="Equation.DSMT4">
                  <p:embed/>
                </p:oleObj>
              </mc:Choice>
              <mc:Fallback>
                <p:oleObj name="Equation" r:id="rId36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465" y="3645024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874683"/>
              </p:ext>
            </p:extLst>
          </p:nvPr>
        </p:nvGraphicFramePr>
        <p:xfrm>
          <a:off x="4427984" y="4365104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27" name="Equation" r:id="rId37" imgW="139639" imgH="203112" progId="Equation.DSMT4">
                  <p:embed/>
                </p:oleObj>
              </mc:Choice>
              <mc:Fallback>
                <p:oleObj name="Equation" r:id="rId37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4365104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561811"/>
              </p:ext>
            </p:extLst>
          </p:nvPr>
        </p:nvGraphicFramePr>
        <p:xfrm>
          <a:off x="5148064" y="4365104"/>
          <a:ext cx="8810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28" name="Equation" r:id="rId38" imgW="342751" imgH="203112" progId="Equation.DSMT4">
                  <p:embed/>
                </p:oleObj>
              </mc:Choice>
              <mc:Fallback>
                <p:oleObj name="Equation" r:id="rId38" imgW="34275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4365104"/>
                        <a:ext cx="88106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9041329"/>
              </p:ext>
            </p:extLst>
          </p:nvPr>
        </p:nvGraphicFramePr>
        <p:xfrm>
          <a:off x="6372200" y="4329606"/>
          <a:ext cx="3587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29" name="Equation" r:id="rId39" imgW="139639" imgH="203112" progId="Equation.DSMT4">
                  <p:embed/>
                </p:oleObj>
              </mc:Choice>
              <mc:Fallback>
                <p:oleObj name="Equation" r:id="rId39" imgW="13963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4329606"/>
                        <a:ext cx="3587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326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15" t="5571" r="1496" b="38301"/>
          <a:stretch/>
        </p:blipFill>
        <p:spPr bwMode="auto">
          <a:xfrm>
            <a:off x="6026975" y="3949529"/>
            <a:ext cx="2765910" cy="2183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79512" y="214312"/>
            <a:ext cx="8856984" cy="3711785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Century Schoolbook" pitchFamily="18" charset="0"/>
              </a:rPr>
              <a:t>练习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Century Schoolbook" pitchFamily="18" charset="0"/>
              </a:rPr>
              <a:t>1. 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如图，将一试验电荷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+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Century Schoolbook" pitchFamily="18" charset="0"/>
              </a:rPr>
              <a:t>q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放置在带负电的导体附近的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P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点处，测得试验电荷所受的静电力为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Century Schoolbook" pitchFamily="18" charset="0"/>
              </a:rPr>
              <a:t>F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。若试验电荷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+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Century Schoolbook" pitchFamily="18" charset="0"/>
              </a:rPr>
              <a:t>q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的电场对导体电荷分布的影响不可忽略，则</a:t>
            </a:r>
            <a:endParaRPr kumimoji="1" lang="en-US" altLang="zh-CN" sz="2800" b="1" dirty="0" smtClean="0">
              <a:solidFill>
                <a:srgbClr val="000000"/>
              </a:solidFill>
              <a:latin typeface="Century Schoolbook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(A) 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Century Schoolbook" pitchFamily="18" charset="0"/>
              </a:rPr>
              <a:t>F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/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Century Schoolbook" pitchFamily="18" charset="0"/>
              </a:rPr>
              <a:t>q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比没有试验电荷时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P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点的场强数值小。</a:t>
            </a:r>
            <a:endParaRPr kumimoji="1" lang="en-US" altLang="zh-CN" sz="2800" b="1" dirty="0" smtClean="0">
              <a:solidFill>
                <a:srgbClr val="000000"/>
              </a:solidFill>
              <a:latin typeface="Century Schoolbook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(B)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Century Schoolbook" pitchFamily="18" charset="0"/>
              </a:rPr>
              <a:t>F</a:t>
            </a:r>
            <a:r>
              <a:rPr kumimoji="1" lang="en-US" altLang="zh-CN" sz="2800" b="1" dirty="0">
                <a:solidFill>
                  <a:srgbClr val="000000"/>
                </a:solidFill>
                <a:latin typeface="Century Schoolbook" pitchFamily="18" charset="0"/>
              </a:rPr>
              <a:t>/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Century Schoolbook" pitchFamily="18" charset="0"/>
              </a:rPr>
              <a:t>q</a:t>
            </a: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比没有试验电荷时</a:t>
            </a:r>
            <a:r>
              <a:rPr kumimoji="1" lang="en-US" altLang="zh-CN" sz="2800" b="1" dirty="0">
                <a:solidFill>
                  <a:srgbClr val="000000"/>
                </a:solidFill>
                <a:latin typeface="Century Schoolbook" pitchFamily="18" charset="0"/>
              </a:rPr>
              <a:t>P</a:t>
            </a: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点的场强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数值大。</a:t>
            </a:r>
            <a:endParaRPr kumimoji="1" lang="en-US" altLang="zh-CN" sz="2800" b="1" dirty="0" smtClean="0">
              <a:solidFill>
                <a:srgbClr val="000000"/>
              </a:solidFill>
              <a:latin typeface="Century Schoolbook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(C) 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Century Schoolbook" pitchFamily="18" charset="0"/>
              </a:rPr>
              <a:t>F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/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Century Schoolbook" pitchFamily="18" charset="0"/>
              </a:rPr>
              <a:t>q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与没有</a:t>
            </a: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试验电荷时</a:t>
            </a:r>
            <a:r>
              <a:rPr kumimoji="1" lang="en-US" altLang="zh-CN" sz="2800" b="1" dirty="0">
                <a:solidFill>
                  <a:srgbClr val="000000"/>
                </a:solidFill>
                <a:latin typeface="Century Schoolbook" pitchFamily="18" charset="0"/>
              </a:rPr>
              <a:t>P</a:t>
            </a: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点的场强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数值相等。</a:t>
            </a:r>
            <a:endParaRPr kumimoji="1" lang="en-US" altLang="zh-CN" sz="2800" b="1" dirty="0" smtClean="0">
              <a:solidFill>
                <a:srgbClr val="000000"/>
              </a:solidFill>
              <a:latin typeface="Century Schoolbook" pitchFamily="18" charset="0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(D) 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Century Schoolbook" pitchFamily="18" charset="0"/>
              </a:rPr>
              <a:t>F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/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Century Schoolbook" pitchFamily="18" charset="0"/>
              </a:rPr>
              <a:t>q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与没有</a:t>
            </a: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试验电荷时</a:t>
            </a:r>
            <a:r>
              <a:rPr kumimoji="1" lang="en-US" altLang="zh-CN" sz="2800" b="1" dirty="0">
                <a:solidFill>
                  <a:srgbClr val="000000"/>
                </a:solidFill>
                <a:latin typeface="Century Schoolbook" pitchFamily="18" charset="0"/>
              </a:rPr>
              <a:t>P</a:t>
            </a: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点的场强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数值关系无法确定。</a:t>
            </a:r>
            <a:endParaRPr kumimoji="1" lang="zh-CN" altLang="en-US" sz="2800" b="1" dirty="0">
              <a:solidFill>
                <a:srgbClr val="000000"/>
              </a:solidFill>
              <a:latin typeface="Century Schoolbook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503426" y="1772816"/>
            <a:ext cx="1180131" cy="584775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3300"/>
                </a:solidFill>
                <a:latin typeface="Century Schoolbook" pitchFamily="18" charset="0"/>
              </a:rPr>
              <a:t> [ </a:t>
            </a:r>
            <a:r>
              <a:rPr kumimoji="1" lang="en-US" altLang="zh-CN" sz="3200" b="1" dirty="0" smtClean="0">
                <a:solidFill>
                  <a:srgbClr val="FF3300"/>
                </a:solidFill>
                <a:latin typeface="Century Schoolbook" pitchFamily="18" charset="0"/>
              </a:rPr>
              <a:t>B </a:t>
            </a:r>
            <a:r>
              <a:rPr kumimoji="1" lang="en-US" altLang="zh-CN" sz="3200" b="1" dirty="0">
                <a:solidFill>
                  <a:srgbClr val="FF3300"/>
                </a:solidFill>
                <a:latin typeface="Century Schoolbook" pitchFamily="18" charset="0"/>
              </a:rPr>
              <a:t>]</a:t>
            </a:r>
          </a:p>
        </p:txBody>
      </p:sp>
      <p:sp>
        <p:nvSpPr>
          <p:cNvPr id="5" name="矩形 4"/>
          <p:cNvSpPr/>
          <p:nvPr/>
        </p:nvSpPr>
        <p:spPr>
          <a:xfrm>
            <a:off x="7524328" y="1772816"/>
            <a:ext cx="1317046" cy="711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585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5724128" y="5085184"/>
            <a:ext cx="2880320" cy="1440160"/>
            <a:chOff x="5004048" y="5085184"/>
            <a:chExt cx="2880320" cy="1440160"/>
          </a:xfrm>
        </p:grpSpPr>
        <p:sp>
          <p:nvSpPr>
            <p:cNvPr id="2" name="椭圆 1"/>
            <p:cNvSpPr/>
            <p:nvPr/>
          </p:nvSpPr>
          <p:spPr>
            <a:xfrm>
              <a:off x="5004048" y="5085184"/>
              <a:ext cx="1440160" cy="144016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/>
            <p:cNvSpPr/>
            <p:nvPr/>
          </p:nvSpPr>
          <p:spPr>
            <a:xfrm>
              <a:off x="5689403" y="577112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箭头连接符 5"/>
            <p:cNvCxnSpPr/>
            <p:nvPr/>
          </p:nvCxnSpPr>
          <p:spPr>
            <a:xfrm flipV="1">
              <a:off x="7380312" y="5477291"/>
              <a:ext cx="0" cy="61600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0952574"/>
                </p:ext>
              </p:extLst>
            </p:nvPr>
          </p:nvGraphicFramePr>
          <p:xfrm>
            <a:off x="5292080" y="5213766"/>
            <a:ext cx="987425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097" name="Equation" r:id="rId3" imgW="380880" imgH="203040" progId="Equation.DSMT4">
                    <p:embed/>
                  </p:oleObj>
                </mc:Choice>
                <mc:Fallback>
                  <p:oleObj name="Equation" r:id="rId3" imgW="380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2080" y="5213766"/>
                          <a:ext cx="987425" cy="527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4826413"/>
                </p:ext>
              </p:extLst>
            </p:nvPr>
          </p:nvGraphicFramePr>
          <p:xfrm>
            <a:off x="7449551" y="5157192"/>
            <a:ext cx="434817" cy="5430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098" name="Equation" r:id="rId5" imgW="152280" imgH="190440" progId="Equation.DSMT4">
                    <p:embed/>
                  </p:oleObj>
                </mc:Choice>
                <mc:Fallback>
                  <p:oleObj name="Equation" r:id="rId5" imgW="15228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49551" y="5157192"/>
                          <a:ext cx="434817" cy="5430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179512" y="214312"/>
            <a:ext cx="8856984" cy="5262979"/>
            <a:chOff x="179512" y="214312"/>
            <a:chExt cx="8856984" cy="5262979"/>
          </a:xfrm>
        </p:grpSpPr>
        <p:sp>
          <p:nvSpPr>
            <p:cNvPr id="3" name="Text Box 4"/>
            <p:cNvSpPr txBox="1">
              <a:spLocks noChangeArrowheads="1"/>
            </p:cNvSpPr>
            <p:nvPr/>
          </p:nvSpPr>
          <p:spPr bwMode="auto">
            <a:xfrm>
              <a:off x="179512" y="214312"/>
              <a:ext cx="8856984" cy="526297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med" len="lg"/>
            </a:ln>
          </p:spPr>
          <p:txBody>
            <a:bodyPr wrap="square">
              <a:spAutoFit/>
            </a:bodyPr>
            <a:lstStyle/>
            <a:p>
              <a:pPr algn="just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dirty="0" smtClean="0">
                  <a:solidFill>
                    <a:srgbClr val="FF0000"/>
                  </a:solidFill>
                  <a:latin typeface="Century Schoolbook" pitchFamily="18" charset="0"/>
                </a:rPr>
                <a:t>练习</a:t>
              </a:r>
              <a:r>
                <a:rPr kumimoji="1" lang="en-US" altLang="zh-CN" sz="2800" b="1" dirty="0" smtClean="0">
                  <a:solidFill>
                    <a:srgbClr val="FF0000"/>
                  </a:solidFill>
                  <a:latin typeface="Century Schoolbook" pitchFamily="18" charset="0"/>
                </a:rPr>
                <a:t>2. 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latin typeface="Century Schoolbook" pitchFamily="18" charset="0"/>
                </a:rPr>
                <a:t>在一个固定且均匀带正电的球体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Century Schoolbook" pitchFamily="18" charset="0"/>
                </a:rPr>
                <a:t>外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latin typeface="Century Schoolbook" pitchFamily="18" charset="0"/>
                </a:rPr>
                <a:t>放置一个电偶极子，其电偶极矩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Century Schoolbook" pitchFamily="18" charset="0"/>
                </a:rPr>
                <a:t> </a:t>
              </a:r>
              <a:r>
                <a:rPr kumimoji="1" lang="en-US" altLang="zh-CN" sz="2800" b="1" dirty="0" smtClean="0">
                  <a:solidFill>
                    <a:srgbClr val="000000"/>
                  </a:solidFill>
                  <a:latin typeface="Century Schoolbook" pitchFamily="18" charset="0"/>
                </a:rPr>
                <a:t>  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latin typeface="Century Schoolbook" pitchFamily="18" charset="0"/>
                </a:rPr>
                <a:t>的方向如图所示，当被释放后，该电偶极子开始时</a:t>
              </a:r>
              <a:endPara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endParaRPr>
            </a:p>
            <a:p>
              <a:pPr algn="just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 smtClean="0">
                  <a:solidFill>
                    <a:srgbClr val="000000"/>
                  </a:solidFill>
                  <a:latin typeface="Century Schoolbook" pitchFamily="18" charset="0"/>
                </a:rPr>
                <a:t>(A)  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latin typeface="Century Schoolbook" pitchFamily="18" charset="0"/>
                </a:rPr>
                <a:t>沿顺时针方向旋转直到电偶极矩    水平朝外而停止</a:t>
              </a:r>
              <a:endPara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endParaRPr>
            </a:p>
            <a:p>
              <a:pPr algn="just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 smtClean="0">
                  <a:solidFill>
                    <a:srgbClr val="000000"/>
                  </a:solidFill>
                  <a:latin typeface="Century Schoolbook" pitchFamily="18" charset="0"/>
                </a:rPr>
                <a:t>(B) 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latin typeface="Century Schoolbook" pitchFamily="18" charset="0"/>
                </a:rPr>
                <a:t>沿顺时针方向旋转至电偶极矩  水平朝外，同时沿电场线方向远离球面</a:t>
              </a:r>
              <a:endPara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endParaRPr>
            </a:p>
            <a:p>
              <a:pPr algn="just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 smtClean="0">
                  <a:solidFill>
                    <a:srgbClr val="000000"/>
                  </a:solidFill>
                  <a:latin typeface="Century Schoolbook" pitchFamily="18" charset="0"/>
                </a:rPr>
                <a:t>(C) 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latin typeface="Century Schoolbook" pitchFamily="18" charset="0"/>
                </a:rPr>
                <a:t>沿顺时针方向旋转至电偶极矩  水平朝外，同时逆电场线方向靠近球面</a:t>
              </a:r>
              <a:endPara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endParaRPr>
            </a:p>
            <a:p>
              <a:pPr algn="just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800" b="1" dirty="0" smtClean="0">
                  <a:solidFill>
                    <a:srgbClr val="000000"/>
                  </a:solidFill>
                  <a:latin typeface="Century Schoolbook" pitchFamily="18" charset="0"/>
                </a:rPr>
                <a:t>(D) 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latin typeface="Century Schoolbook" pitchFamily="18" charset="0"/>
                </a:rPr>
                <a:t>沿逆时针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Century Schoolbook" pitchFamily="18" charset="0"/>
                </a:rPr>
                <a:t>方向旋转至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latin typeface="Century Schoolbook" pitchFamily="18" charset="0"/>
                </a:rPr>
                <a:t>电偶极矩  水平指向球心，同时逆电场线方向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Century Schoolbook" pitchFamily="18" charset="0"/>
                </a:rPr>
                <a:t>靠近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latin typeface="Century Schoolbook" pitchFamily="18" charset="0"/>
                </a:rPr>
                <a:t>球面</a:t>
              </a:r>
              <a:endParaRPr kumimoji="1" lang="en-US" altLang="zh-CN" sz="2800" b="1" dirty="0">
                <a:solidFill>
                  <a:srgbClr val="000000"/>
                </a:solidFill>
                <a:latin typeface="Century Schoolbook" pitchFamily="18" charset="0"/>
              </a:endParaRP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3540556"/>
                </p:ext>
              </p:extLst>
            </p:nvPr>
          </p:nvGraphicFramePr>
          <p:xfrm>
            <a:off x="3168600" y="764704"/>
            <a:ext cx="395288" cy="493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099" name="Equation" r:id="rId7" imgW="152280" imgH="190440" progId="Equation.DSMT4">
                    <p:embed/>
                  </p:oleObj>
                </mc:Choice>
                <mc:Fallback>
                  <p:oleObj name="Equation" r:id="rId7" imgW="15228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600" y="764704"/>
                          <a:ext cx="395288" cy="493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9850692"/>
                </p:ext>
              </p:extLst>
            </p:nvPr>
          </p:nvGraphicFramePr>
          <p:xfrm>
            <a:off x="6048920" y="1819116"/>
            <a:ext cx="395288" cy="4937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00" name="Equation" r:id="rId8" imgW="152280" imgH="190440" progId="Equation.DSMT4">
                    <p:embed/>
                  </p:oleObj>
                </mc:Choice>
                <mc:Fallback>
                  <p:oleObj name="Equation" r:id="rId8" imgW="15228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48920" y="1819116"/>
                          <a:ext cx="395288" cy="4937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5727790"/>
                </p:ext>
              </p:extLst>
            </p:nvPr>
          </p:nvGraphicFramePr>
          <p:xfrm>
            <a:off x="5688880" y="2317363"/>
            <a:ext cx="395288" cy="493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01" name="Equation" r:id="rId10" imgW="152334" imgH="190417" progId="Equation.DSMT4">
                    <p:embed/>
                  </p:oleObj>
                </mc:Choice>
                <mc:Fallback>
                  <p:oleObj name="Equation" r:id="rId10" imgW="152334" imgH="19041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88880" y="2317363"/>
                          <a:ext cx="395288" cy="493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6954011"/>
                </p:ext>
              </p:extLst>
            </p:nvPr>
          </p:nvGraphicFramePr>
          <p:xfrm>
            <a:off x="5689112" y="3359550"/>
            <a:ext cx="395288" cy="493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02" name="Equation" r:id="rId11" imgW="152334" imgH="190417" progId="Equation.DSMT4">
                    <p:embed/>
                  </p:oleObj>
                </mc:Choice>
                <mc:Fallback>
                  <p:oleObj name="Equation" r:id="rId11" imgW="152334" imgH="19041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89112" y="3359550"/>
                          <a:ext cx="395288" cy="493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3011135"/>
                </p:ext>
              </p:extLst>
            </p:nvPr>
          </p:nvGraphicFramePr>
          <p:xfrm>
            <a:off x="5689112" y="4388254"/>
            <a:ext cx="395288" cy="493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103" name="Equation" r:id="rId12" imgW="152334" imgH="190417" progId="Equation.DSMT4">
                    <p:embed/>
                  </p:oleObj>
                </mc:Choice>
                <mc:Fallback>
                  <p:oleObj name="Equation" r:id="rId12" imgW="152334" imgH="19041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89112" y="4388254"/>
                          <a:ext cx="395288" cy="493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3563888" y="5361332"/>
            <a:ext cx="1180131" cy="584775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3300"/>
                </a:solidFill>
                <a:latin typeface="Century Schoolbook" pitchFamily="18" charset="0"/>
              </a:rPr>
              <a:t> [ </a:t>
            </a:r>
            <a:r>
              <a:rPr kumimoji="1" lang="en-US" altLang="zh-CN" sz="3200" b="1" dirty="0" smtClean="0">
                <a:solidFill>
                  <a:srgbClr val="FF3300"/>
                </a:solidFill>
                <a:latin typeface="Century Schoolbook" pitchFamily="18" charset="0"/>
              </a:rPr>
              <a:t>C </a:t>
            </a:r>
            <a:r>
              <a:rPr kumimoji="1" lang="en-US" altLang="zh-CN" sz="3200" b="1" dirty="0">
                <a:solidFill>
                  <a:srgbClr val="FF3300"/>
                </a:solidFill>
                <a:latin typeface="Century Schoolbook" pitchFamily="18" charset="0"/>
              </a:rPr>
              <a:t>]</a:t>
            </a:r>
          </a:p>
        </p:txBody>
      </p:sp>
      <p:sp>
        <p:nvSpPr>
          <p:cNvPr id="19" name="矩形 18"/>
          <p:cNvSpPr/>
          <p:nvPr/>
        </p:nvSpPr>
        <p:spPr>
          <a:xfrm>
            <a:off x="3563888" y="5373216"/>
            <a:ext cx="1317046" cy="711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51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97" t="35414" r="14644" b="24873"/>
          <a:stretch/>
        </p:blipFill>
        <p:spPr bwMode="auto">
          <a:xfrm>
            <a:off x="5739749" y="1485016"/>
            <a:ext cx="2592000" cy="20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084168" y="4077072"/>
            <a:ext cx="1039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[A]</a:t>
            </a:r>
            <a:endParaRPr lang="zh-CN" altLang="en-US" sz="4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39552" y="332656"/>
            <a:ext cx="7920881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A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为带电导体表面上的三点，静电平衡时，下述说法错误的是：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333734"/>
              </p:ext>
            </p:extLst>
          </p:nvPr>
        </p:nvGraphicFramePr>
        <p:xfrm>
          <a:off x="683568" y="1772816"/>
          <a:ext cx="3033713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855" name="Equation" r:id="rId4" imgW="1180800" imgH="685800" progId="Equation.DSMT4">
                  <p:embed/>
                </p:oleObj>
              </mc:Choice>
              <mc:Fallback>
                <p:oleObj name="Equation" r:id="rId4" imgW="11808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772816"/>
                        <a:ext cx="3033713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5883621" y="4104611"/>
            <a:ext cx="1239614" cy="8034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31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5496" y="44624"/>
            <a:ext cx="9036496" cy="646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中性导体球内有两个空腔，腔内中心各放一点电荷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，其中心连线与球心在一条直线上。另在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外有一点电荷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在两腔中心连线上，距球心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，两腔中心间距为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，求：</a:t>
            </a:r>
            <a:endParaRPr kumimoji="1"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 q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的作用力</a:t>
            </a:r>
            <a:endParaRPr kumimoji="1"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 q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作用力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受到的合力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作用力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(5) q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的作用力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682629" y="2000415"/>
            <a:ext cx="3353867" cy="1800200"/>
            <a:chOff x="4873534" y="2577765"/>
            <a:chExt cx="3786372" cy="2000250"/>
          </a:xfrm>
        </p:grpSpPr>
        <p:pic>
          <p:nvPicPr>
            <p:cNvPr id="6451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3534" y="2577765"/>
              <a:ext cx="1981202" cy="2000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4" name="直接连接符 3"/>
            <p:cNvCxnSpPr/>
            <p:nvPr/>
          </p:nvCxnSpPr>
          <p:spPr>
            <a:xfrm>
              <a:off x="5940152" y="3693882"/>
              <a:ext cx="2520280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8244408" y="2996952"/>
              <a:ext cx="415498" cy="64633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3600" b="1" i="1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CN" alt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36296" y="3142709"/>
              <a:ext cx="364202" cy="64633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3600" b="1" i="1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zh-CN" alt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980333"/>
              </p:ext>
            </p:extLst>
          </p:nvPr>
        </p:nvGraphicFramePr>
        <p:xfrm>
          <a:off x="3057525" y="1701800"/>
          <a:ext cx="234315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93" name="Equation" r:id="rId4" imgW="1002960" imgH="431640" progId="Equation.DSMT4">
                  <p:embed/>
                </p:oleObj>
              </mc:Choice>
              <mc:Fallback>
                <p:oleObj name="Equation" r:id="rId4" imgW="1002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1701800"/>
                        <a:ext cx="234315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171080"/>
              </p:ext>
            </p:extLst>
          </p:nvPr>
        </p:nvGraphicFramePr>
        <p:xfrm>
          <a:off x="3057525" y="2566988"/>
          <a:ext cx="234315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94" name="Equation" r:id="rId6" imgW="1002960" imgH="431640" progId="Equation.DSMT4">
                  <p:embed/>
                </p:oleObj>
              </mc:Choice>
              <mc:Fallback>
                <p:oleObj name="Equation" r:id="rId6" imgW="10029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2566988"/>
                        <a:ext cx="234315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4621532" y="3800615"/>
            <a:ext cx="4392488" cy="1284569"/>
            <a:chOff x="4067944" y="3800615"/>
            <a:chExt cx="4392488" cy="1284569"/>
          </a:xfrm>
          <a:solidFill>
            <a:schemeClr val="accent5">
              <a:lumMod val="60000"/>
              <a:lumOff val="40000"/>
              <a:alpha val="13000"/>
            </a:schemeClr>
          </a:solidFill>
        </p:grpSpPr>
        <p:sp>
          <p:nvSpPr>
            <p:cNvPr id="13" name="矩形标注 12"/>
            <p:cNvSpPr/>
            <p:nvPr/>
          </p:nvSpPr>
          <p:spPr>
            <a:xfrm>
              <a:off x="4067944" y="3800615"/>
              <a:ext cx="4392488" cy="1284569"/>
            </a:xfrm>
            <a:prstGeom prst="wedgeRectCallout">
              <a:avLst>
                <a:gd name="adj1" fmla="val -86711"/>
                <a:gd name="adj2" fmla="val 18348"/>
              </a:avLst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0202188"/>
                </p:ext>
              </p:extLst>
            </p:nvPr>
          </p:nvGraphicFramePr>
          <p:xfrm>
            <a:off x="4215262" y="3860800"/>
            <a:ext cx="4062413" cy="1125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295" name="Equation" r:id="rId8" imgW="1739880" imgH="482400" progId="Equation.DSMT4">
                    <p:embed/>
                  </p:oleObj>
                </mc:Choice>
                <mc:Fallback>
                  <p:oleObj name="Equation" r:id="rId8" imgW="173988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5262" y="3860800"/>
                          <a:ext cx="4062413" cy="1125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4402138" y="5229200"/>
            <a:ext cx="4064000" cy="1284569"/>
            <a:chOff x="4474146" y="3800615"/>
            <a:chExt cx="4064000" cy="1284569"/>
          </a:xfrm>
          <a:solidFill>
            <a:srgbClr val="FFC000">
              <a:alpha val="10000"/>
            </a:srgbClr>
          </a:solidFill>
        </p:grpSpPr>
        <p:sp>
          <p:nvSpPr>
            <p:cNvPr id="19" name="矩形标注 18"/>
            <p:cNvSpPr/>
            <p:nvPr/>
          </p:nvSpPr>
          <p:spPr>
            <a:xfrm>
              <a:off x="4499992" y="3800615"/>
              <a:ext cx="3960440" cy="1284569"/>
            </a:xfrm>
            <a:prstGeom prst="wedgeRectCallout">
              <a:avLst>
                <a:gd name="adj1" fmla="val -85302"/>
                <a:gd name="adj2" fmla="val -19496"/>
              </a:avLst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220882"/>
                </p:ext>
              </p:extLst>
            </p:nvPr>
          </p:nvGraphicFramePr>
          <p:xfrm>
            <a:off x="4474146" y="3860965"/>
            <a:ext cx="4064000" cy="1125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296" name="Equation" r:id="rId10" imgW="1739880" imgH="482400" progId="Equation.DSMT4">
                    <p:embed/>
                  </p:oleObj>
                </mc:Choice>
                <mc:Fallback>
                  <p:oleObj name="Equation" r:id="rId10" imgW="173988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4146" y="3860965"/>
                          <a:ext cx="4064000" cy="1125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4661275"/>
              </p:ext>
            </p:extLst>
          </p:nvPr>
        </p:nvGraphicFramePr>
        <p:xfrm>
          <a:off x="3060383" y="3542449"/>
          <a:ext cx="390476" cy="606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97" name="Equation" r:id="rId12" imgW="114120" imgH="177480" progId="Equation.DSMT4">
                  <p:embed/>
                </p:oleObj>
              </mc:Choice>
              <mc:Fallback>
                <p:oleObj name="Equation" r:id="rId12" imgW="1141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383" y="3542449"/>
                        <a:ext cx="390476" cy="6066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933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6882392" y="2035176"/>
            <a:ext cx="1180131" cy="584775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3300"/>
                </a:solidFill>
                <a:latin typeface="Century Schoolbook" pitchFamily="18" charset="0"/>
              </a:rPr>
              <a:t> [ C ]</a:t>
            </a:r>
          </a:p>
        </p:txBody>
      </p:sp>
      <p:grpSp>
        <p:nvGrpSpPr>
          <p:cNvPr id="7176" name="Group 3"/>
          <p:cNvGrpSpPr>
            <a:grpSpLocks/>
          </p:cNvGrpSpPr>
          <p:nvPr/>
        </p:nvGrpSpPr>
        <p:grpSpPr bwMode="auto">
          <a:xfrm>
            <a:off x="285750" y="116632"/>
            <a:ext cx="8534400" cy="5943601"/>
            <a:chOff x="192" y="-123"/>
            <a:chExt cx="5376" cy="3744"/>
          </a:xfrm>
        </p:grpSpPr>
        <p:sp>
          <p:nvSpPr>
            <p:cNvPr id="7178" name="Text Box 4"/>
            <p:cNvSpPr txBox="1">
              <a:spLocks noChangeArrowheads="1"/>
            </p:cNvSpPr>
            <p:nvPr/>
          </p:nvSpPr>
          <p:spPr bwMode="auto">
            <a:xfrm>
              <a:off x="192" y="-123"/>
              <a:ext cx="5376" cy="154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med" len="lg"/>
            </a:ln>
          </p:spPr>
          <p:txBody>
            <a:bodyPr>
              <a:spAutoFit/>
            </a:bodyPr>
            <a:lstStyle/>
            <a:p>
              <a:pPr algn="just" fontAlgn="base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3200" b="1" dirty="0" smtClean="0">
                  <a:solidFill>
                    <a:srgbClr val="FF0000"/>
                  </a:solidFill>
                  <a:latin typeface="Century Schoolbook" pitchFamily="18" charset="0"/>
                </a:rPr>
                <a:t>练习</a:t>
              </a:r>
              <a:r>
                <a:rPr kumimoji="1" lang="en-US" altLang="zh-CN" sz="3200" b="1" dirty="0" smtClean="0">
                  <a:solidFill>
                    <a:srgbClr val="FF0000"/>
                  </a:solidFill>
                  <a:latin typeface="Century Schoolbook" pitchFamily="18" charset="0"/>
                </a:rPr>
                <a:t>5. </a:t>
              </a:r>
              <a:r>
                <a:rPr kumimoji="1" lang="en-US" altLang="zh-CN" sz="3200" b="1" dirty="0" smtClean="0">
                  <a:latin typeface="Century Schoolbook" pitchFamily="18" charset="0"/>
                </a:rPr>
                <a:t> </a:t>
              </a:r>
              <a:r>
                <a:rPr kumimoji="1" lang="zh-CN" altLang="en-US" sz="3200" b="1" dirty="0" smtClean="0">
                  <a:latin typeface="Century Schoolbook" pitchFamily="18" charset="0"/>
                </a:rPr>
                <a:t>一</a:t>
              </a:r>
              <a:r>
                <a:rPr kumimoji="1" lang="zh-CN" altLang="en-US" sz="3200" b="1" dirty="0" smtClean="0">
                  <a:solidFill>
                    <a:srgbClr val="000000"/>
                  </a:solidFill>
                  <a:latin typeface="Century Schoolbook" pitchFamily="18" charset="0"/>
                </a:rPr>
                <a:t>无限大</a:t>
              </a:r>
              <a:r>
                <a:rPr kumimoji="1" lang="zh-CN" altLang="en-US" sz="3200" b="1" dirty="0">
                  <a:solidFill>
                    <a:srgbClr val="000000"/>
                  </a:solidFill>
                  <a:latin typeface="Century Schoolbook" pitchFamily="18" charset="0"/>
                </a:rPr>
                <a:t>均匀带电</a:t>
              </a:r>
              <a:r>
                <a:rPr kumimoji="1" lang="zh-CN" altLang="en-US" sz="3200" b="1" dirty="0" smtClean="0">
                  <a:solidFill>
                    <a:srgbClr val="000000"/>
                  </a:solidFill>
                  <a:latin typeface="Century Schoolbook" pitchFamily="18" charset="0"/>
                </a:rPr>
                <a:t>平面</a:t>
              </a:r>
              <a:r>
                <a:rPr kumimoji="1" lang="en-US" altLang="zh-CN" sz="3200" i="1" dirty="0" smtClean="0">
                  <a:solidFill>
                    <a:srgbClr val="000000"/>
                  </a:solidFill>
                  <a:latin typeface="Century Schoolbook" pitchFamily="18" charset="0"/>
                </a:rPr>
                <a:t>A</a:t>
              </a:r>
              <a:r>
                <a:rPr kumimoji="1" lang="zh-CN" altLang="en-US" sz="3200" b="1" dirty="0">
                  <a:solidFill>
                    <a:srgbClr val="000000"/>
                  </a:solidFill>
                  <a:latin typeface="Century Schoolbook" pitchFamily="18" charset="0"/>
                </a:rPr>
                <a:t>电荷面密度为</a:t>
              </a:r>
              <a:r>
                <a:rPr kumimoji="1" lang="en-US" altLang="zh-CN" sz="3200" b="1" dirty="0">
                  <a:solidFill>
                    <a:srgbClr val="000000"/>
                  </a:solidFill>
                  <a:latin typeface="Century Schoolbook" pitchFamily="18" charset="0"/>
                </a:rPr>
                <a:t>+</a:t>
              </a:r>
              <a:r>
                <a:rPr kumimoji="1" lang="en-US" altLang="zh-CN" sz="3200" i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</a:t>
              </a:r>
              <a:r>
                <a:rPr kumimoji="1" lang="zh-CN" altLang="en-US" sz="3200" b="1" dirty="0" smtClean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，其</a:t>
              </a:r>
              <a:r>
                <a:rPr kumimoji="1" lang="zh-CN" altLang="en-US" sz="3200" b="1" dirty="0" smtClean="0">
                  <a:solidFill>
                    <a:srgbClr val="000000"/>
                  </a:solidFill>
                  <a:latin typeface="Century Schoolbook" pitchFamily="18" charset="0"/>
                </a:rPr>
                <a:t>附近</a:t>
              </a:r>
              <a:r>
                <a:rPr kumimoji="1" lang="zh-CN" altLang="en-US" sz="3200" b="1" dirty="0">
                  <a:solidFill>
                    <a:srgbClr val="000000"/>
                  </a:solidFill>
                  <a:latin typeface="Century Schoolbook" pitchFamily="18" charset="0"/>
                </a:rPr>
                <a:t>平行放置有</a:t>
              </a:r>
              <a:r>
                <a:rPr kumimoji="1" lang="zh-CN" altLang="en-US" sz="3200" b="1" dirty="0" smtClean="0">
                  <a:solidFill>
                    <a:srgbClr val="000000"/>
                  </a:solidFill>
                  <a:latin typeface="Century Schoolbook" pitchFamily="18" charset="0"/>
                </a:rPr>
                <a:t>一原来不带电的无限大</a:t>
              </a:r>
              <a:r>
                <a:rPr kumimoji="1" lang="zh-CN" altLang="en-US" sz="3200" b="1" dirty="0">
                  <a:solidFill>
                    <a:srgbClr val="000000"/>
                  </a:solidFill>
                  <a:latin typeface="Century Schoolbook" pitchFamily="18" charset="0"/>
                </a:rPr>
                <a:t>平面导体</a:t>
              </a:r>
              <a:r>
                <a:rPr kumimoji="1" lang="zh-CN" altLang="en-US" sz="3200" b="1" dirty="0" smtClean="0">
                  <a:solidFill>
                    <a:srgbClr val="000000"/>
                  </a:solidFill>
                  <a:latin typeface="Century Schoolbook" pitchFamily="18" charset="0"/>
                </a:rPr>
                <a:t>板</a:t>
              </a:r>
              <a:r>
                <a:rPr kumimoji="1" lang="en-US" altLang="zh-CN" sz="3200" i="1" dirty="0" smtClean="0">
                  <a:solidFill>
                    <a:srgbClr val="000000"/>
                  </a:solidFill>
                  <a:latin typeface="Century Schoolbook" pitchFamily="18" charset="0"/>
                </a:rPr>
                <a:t>B</a:t>
              </a:r>
              <a:r>
                <a:rPr kumimoji="1" lang="zh-CN" altLang="en-US" sz="3200" b="1" dirty="0" smtClean="0">
                  <a:solidFill>
                    <a:srgbClr val="000000"/>
                  </a:solidFill>
                  <a:latin typeface="Century Schoolbook" pitchFamily="18" charset="0"/>
                </a:rPr>
                <a:t>，则</a:t>
              </a:r>
              <a:r>
                <a:rPr kumimoji="1" lang="en-US" altLang="zh-CN" sz="3200" i="1" dirty="0" smtClean="0">
                  <a:solidFill>
                    <a:srgbClr val="000000"/>
                  </a:solidFill>
                  <a:latin typeface="Century Schoolbook" pitchFamily="18" charset="0"/>
                </a:rPr>
                <a:t>B</a:t>
              </a:r>
              <a:r>
                <a:rPr kumimoji="1" lang="zh-CN" altLang="en-US" sz="3200" b="1" dirty="0" smtClean="0">
                  <a:solidFill>
                    <a:srgbClr val="000000"/>
                  </a:solidFill>
                  <a:latin typeface="Century Schoolbook" pitchFamily="18" charset="0"/>
                </a:rPr>
                <a:t>的</a:t>
              </a:r>
              <a:r>
                <a:rPr kumimoji="1" lang="zh-CN" altLang="en-US" sz="3200" b="1" dirty="0">
                  <a:solidFill>
                    <a:srgbClr val="000000"/>
                  </a:solidFill>
                  <a:latin typeface="Century Schoolbook" pitchFamily="18" charset="0"/>
                </a:rPr>
                <a:t>两个</a:t>
              </a:r>
              <a:r>
                <a:rPr kumimoji="1" lang="zh-CN" altLang="en-US" sz="3200" b="1" dirty="0" smtClean="0">
                  <a:solidFill>
                    <a:srgbClr val="000000"/>
                  </a:solidFill>
                  <a:latin typeface="Century Schoolbook" pitchFamily="18" charset="0"/>
                </a:rPr>
                <a:t>表面上</a:t>
              </a:r>
              <a:r>
                <a:rPr kumimoji="1" lang="zh-CN" altLang="en-US" sz="3200" b="1" dirty="0">
                  <a:solidFill>
                    <a:srgbClr val="000000"/>
                  </a:solidFill>
                  <a:latin typeface="Century Schoolbook" pitchFamily="18" charset="0"/>
                </a:rPr>
                <a:t>的感应电荷面密度为</a:t>
              </a:r>
            </a:p>
          </p:txBody>
        </p:sp>
        <p:grpSp>
          <p:nvGrpSpPr>
            <p:cNvPr id="7179" name="Group 5"/>
            <p:cNvGrpSpPr>
              <a:grpSpLocks/>
            </p:cNvGrpSpPr>
            <p:nvPr/>
          </p:nvGrpSpPr>
          <p:grpSpPr bwMode="auto">
            <a:xfrm>
              <a:off x="4368" y="1920"/>
              <a:ext cx="1129" cy="1701"/>
              <a:chOff x="4368" y="1920"/>
              <a:chExt cx="1129" cy="1701"/>
            </a:xfrm>
          </p:grpSpPr>
          <p:sp>
            <p:nvSpPr>
              <p:cNvPr id="7181" name="Line 6"/>
              <p:cNvSpPr>
                <a:spLocks noChangeShapeType="1"/>
              </p:cNvSpPr>
              <p:nvPr/>
            </p:nvSpPr>
            <p:spPr bwMode="auto">
              <a:xfrm>
                <a:off x="4574" y="2491"/>
                <a:ext cx="0" cy="829"/>
              </a:xfrm>
              <a:prstGeom prst="line">
                <a:avLst/>
              </a:prstGeom>
              <a:noFill/>
              <a:ln w="28575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3200">
                  <a:solidFill>
                    <a:srgbClr val="000000"/>
                  </a:solidFill>
                </a:endParaRPr>
              </a:p>
            </p:txBody>
          </p:sp>
          <p:sp>
            <p:nvSpPr>
              <p:cNvPr id="7182" name="Line 7"/>
              <p:cNvSpPr>
                <a:spLocks noChangeShapeType="1"/>
              </p:cNvSpPr>
              <p:nvPr/>
            </p:nvSpPr>
            <p:spPr bwMode="auto">
              <a:xfrm>
                <a:off x="5288" y="2482"/>
                <a:ext cx="0" cy="807"/>
              </a:xfrm>
              <a:prstGeom prst="line">
                <a:avLst/>
              </a:prstGeom>
              <a:noFill/>
              <a:ln w="28575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3200">
                  <a:solidFill>
                    <a:srgbClr val="000000"/>
                  </a:solidFill>
                </a:endParaRPr>
              </a:p>
            </p:txBody>
          </p:sp>
          <p:sp>
            <p:nvSpPr>
              <p:cNvPr id="7183" name="Line 8"/>
              <p:cNvSpPr>
                <a:spLocks noChangeShapeType="1"/>
              </p:cNvSpPr>
              <p:nvPr/>
            </p:nvSpPr>
            <p:spPr bwMode="auto">
              <a:xfrm flipV="1">
                <a:off x="4574" y="2228"/>
                <a:ext cx="0" cy="261"/>
              </a:xfrm>
              <a:prstGeom prst="line">
                <a:avLst/>
              </a:prstGeom>
              <a:noFill/>
              <a:ln w="19050">
                <a:solidFill>
                  <a:srgbClr val="FF99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3200">
                  <a:solidFill>
                    <a:srgbClr val="000000"/>
                  </a:solidFill>
                </a:endParaRPr>
              </a:p>
            </p:txBody>
          </p:sp>
          <p:sp>
            <p:nvSpPr>
              <p:cNvPr id="7184" name="Line 9"/>
              <p:cNvSpPr>
                <a:spLocks noChangeShapeType="1"/>
              </p:cNvSpPr>
              <p:nvPr/>
            </p:nvSpPr>
            <p:spPr bwMode="auto">
              <a:xfrm flipV="1">
                <a:off x="5070" y="2228"/>
                <a:ext cx="0" cy="261"/>
              </a:xfrm>
              <a:prstGeom prst="line">
                <a:avLst/>
              </a:prstGeom>
              <a:noFill/>
              <a:ln w="19050">
                <a:solidFill>
                  <a:srgbClr val="FF99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3200">
                  <a:solidFill>
                    <a:srgbClr val="000000"/>
                  </a:solidFill>
                </a:endParaRPr>
              </a:p>
            </p:txBody>
          </p:sp>
          <p:sp>
            <p:nvSpPr>
              <p:cNvPr id="7185" name="Line 10"/>
              <p:cNvSpPr>
                <a:spLocks noChangeShapeType="1"/>
              </p:cNvSpPr>
              <p:nvPr/>
            </p:nvSpPr>
            <p:spPr bwMode="auto">
              <a:xfrm flipV="1">
                <a:off x="5288" y="2221"/>
                <a:ext cx="0" cy="261"/>
              </a:xfrm>
              <a:prstGeom prst="line">
                <a:avLst/>
              </a:prstGeom>
              <a:noFill/>
              <a:ln w="19050">
                <a:solidFill>
                  <a:srgbClr val="FF99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3200">
                  <a:solidFill>
                    <a:srgbClr val="000000"/>
                  </a:solidFill>
                </a:endParaRPr>
              </a:p>
            </p:txBody>
          </p:sp>
          <p:sp>
            <p:nvSpPr>
              <p:cNvPr id="7186" name="Line 11"/>
              <p:cNvSpPr>
                <a:spLocks noChangeShapeType="1"/>
              </p:cNvSpPr>
              <p:nvPr/>
            </p:nvSpPr>
            <p:spPr bwMode="auto">
              <a:xfrm>
                <a:off x="5070" y="2489"/>
                <a:ext cx="0" cy="783"/>
              </a:xfrm>
              <a:prstGeom prst="line">
                <a:avLst/>
              </a:prstGeom>
              <a:noFill/>
              <a:ln w="28575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3200">
                  <a:solidFill>
                    <a:srgbClr val="000000"/>
                  </a:solidFill>
                </a:endParaRPr>
              </a:p>
            </p:txBody>
          </p:sp>
          <p:graphicFrame>
            <p:nvGraphicFramePr>
              <p:cNvPr id="7170" name="Object 12"/>
              <p:cNvGraphicFramePr>
                <a:graphicFrameLocks noChangeAspect="1"/>
              </p:cNvGraphicFramePr>
              <p:nvPr/>
            </p:nvGraphicFramePr>
            <p:xfrm>
              <a:off x="4368" y="2016"/>
              <a:ext cx="384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107" name="公式" r:id="rId3" imgW="698400" imgH="304560" progId="Equation.3">
                      <p:embed/>
                    </p:oleObj>
                  </mc:Choice>
                  <mc:Fallback>
                    <p:oleObj name="公式" r:id="rId3" imgW="698400" imgH="3045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2016"/>
                            <a:ext cx="384" cy="16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71" name="Object 13"/>
              <p:cNvGraphicFramePr>
                <a:graphicFrameLocks noChangeAspect="1"/>
              </p:cNvGraphicFramePr>
              <p:nvPr/>
            </p:nvGraphicFramePr>
            <p:xfrm>
              <a:off x="4885" y="1920"/>
              <a:ext cx="251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108" name="公式" r:id="rId5" imgW="457200" imgH="444240" progId="Equation.3">
                      <p:embed/>
                    </p:oleObj>
                  </mc:Choice>
                  <mc:Fallback>
                    <p:oleObj name="公式" r:id="rId5" imgW="457200" imgH="4442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85" y="1920"/>
                            <a:ext cx="251" cy="2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72" name="Object 14"/>
              <p:cNvGraphicFramePr>
                <a:graphicFrameLocks noChangeAspect="1"/>
              </p:cNvGraphicFramePr>
              <p:nvPr/>
            </p:nvGraphicFramePr>
            <p:xfrm>
              <a:off x="5232" y="1920"/>
              <a:ext cx="265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109" name="公式" r:id="rId7" imgW="482400" imgH="444240" progId="Equation.3">
                      <p:embed/>
                    </p:oleObj>
                  </mc:Choice>
                  <mc:Fallback>
                    <p:oleObj name="公式" r:id="rId7" imgW="482400" imgH="4442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2" y="1920"/>
                            <a:ext cx="265" cy="2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73" name="Object 15"/>
              <p:cNvGraphicFramePr>
                <a:graphicFrameLocks noChangeAspect="1"/>
              </p:cNvGraphicFramePr>
              <p:nvPr/>
            </p:nvGraphicFramePr>
            <p:xfrm>
              <a:off x="4464" y="3411"/>
              <a:ext cx="215" cy="2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110" name="公式" r:id="rId9" imgW="393480" imgH="380880" progId="Equation.3">
                      <p:embed/>
                    </p:oleObj>
                  </mc:Choice>
                  <mc:Fallback>
                    <p:oleObj name="公式" r:id="rId9" imgW="393480" imgH="380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64" y="3411"/>
                            <a:ext cx="215" cy="21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74" name="Object 16"/>
              <p:cNvGraphicFramePr>
                <a:graphicFrameLocks noChangeAspect="1"/>
              </p:cNvGraphicFramePr>
              <p:nvPr/>
            </p:nvGraphicFramePr>
            <p:xfrm>
              <a:off x="5081" y="3408"/>
              <a:ext cx="210" cy="2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111" name="公式" r:id="rId11" imgW="380880" imgH="380880" progId="Equation.3">
                      <p:embed/>
                    </p:oleObj>
                  </mc:Choice>
                  <mc:Fallback>
                    <p:oleObj name="公式" r:id="rId11" imgW="380880" imgH="380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1" y="3408"/>
                            <a:ext cx="210" cy="21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187" name="Rectangle 17"/>
              <p:cNvSpPr>
                <a:spLocks noChangeArrowheads="1"/>
              </p:cNvSpPr>
              <p:nvPr/>
            </p:nvSpPr>
            <p:spPr bwMode="auto">
              <a:xfrm>
                <a:off x="5081" y="2448"/>
                <a:ext cx="192" cy="816"/>
              </a:xfrm>
              <a:prstGeom prst="rect">
                <a:avLst/>
              </a:prstGeom>
              <a:gradFill rotWithShape="0">
                <a:gsLst>
                  <a:gs pos="0">
                    <a:srgbClr val="FFCC99"/>
                  </a:gs>
                  <a:gs pos="100000">
                    <a:srgbClr val="765E47"/>
                  </a:gs>
                </a:gsLst>
                <a:lin ang="2700000" scaled="1"/>
              </a:gradFill>
              <a:ln w="19050">
                <a:noFill/>
                <a:miter lim="800000"/>
                <a:headEnd/>
                <a:tailEnd type="none" w="med" len="lg"/>
              </a:ln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32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180" name="Rectangle 18"/>
            <p:cNvSpPr>
              <a:spLocks noChangeArrowheads="1"/>
            </p:cNvSpPr>
            <p:nvPr/>
          </p:nvSpPr>
          <p:spPr bwMode="auto">
            <a:xfrm>
              <a:off x="192" y="1284"/>
              <a:ext cx="2732" cy="163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dirty="0">
                  <a:solidFill>
                    <a:srgbClr val="000000"/>
                  </a:solidFill>
                  <a:latin typeface="Century Schoolbook" pitchFamily="18" charset="0"/>
                </a:rPr>
                <a:t>（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Century Schoolbook" pitchFamily="18" charset="0"/>
                </a:rPr>
                <a:t>A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Century Schoolbook" pitchFamily="18" charset="0"/>
                </a:rPr>
                <a:t>） </a:t>
              </a:r>
              <a:r>
                <a:rPr kumimoji="1" lang="zh-CN" altLang="en-US" sz="2800" i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aseline="-25000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1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=–</a:t>
              </a:r>
              <a:r>
                <a:rPr kumimoji="1" lang="en-US" altLang="zh-CN" sz="2800" i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,       </a:t>
              </a:r>
              <a:r>
                <a:rPr kumimoji="1" lang="en-US" altLang="zh-CN" sz="2800" i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aseline="-25000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2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=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0</a:t>
              </a:r>
              <a:endParaRPr kumimoji="1" lang="en-US" altLang="zh-CN" sz="2800" b="1" baseline="-25000" dirty="0">
                <a:solidFill>
                  <a:srgbClr val="000000"/>
                </a:solidFill>
                <a:latin typeface="Century Schoolbook" pitchFamily="18" charset="0"/>
              </a:endParaRPr>
            </a:p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dirty="0">
                  <a:solidFill>
                    <a:srgbClr val="000000"/>
                  </a:solidFill>
                  <a:latin typeface="Century Schoolbook" pitchFamily="18" charset="0"/>
                </a:rPr>
                <a:t>（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Century Schoolbook" pitchFamily="18" charset="0"/>
                </a:rPr>
                <a:t>B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Century Schoolbook" pitchFamily="18" charset="0"/>
                </a:rPr>
                <a:t>） </a:t>
              </a:r>
              <a:r>
                <a:rPr kumimoji="1" lang="zh-CN" altLang="en-US" sz="2800" i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aseline="-25000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1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=–</a:t>
              </a:r>
              <a:r>
                <a:rPr kumimoji="1" lang="en-US" altLang="zh-CN" sz="2800" i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,       </a:t>
              </a:r>
              <a:r>
                <a:rPr kumimoji="1" lang="en-US" altLang="zh-CN" sz="2800" i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aseline="-25000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2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=+</a:t>
              </a:r>
              <a:r>
                <a:rPr kumimoji="1" lang="en-US" altLang="zh-CN" sz="2800" i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, </a:t>
              </a:r>
              <a:endParaRPr kumimoji="1" lang="en-US" altLang="zh-CN" sz="2800" b="1" dirty="0">
                <a:solidFill>
                  <a:srgbClr val="000000"/>
                </a:solidFill>
                <a:latin typeface="Century Schoolbook" pitchFamily="18" charset="0"/>
              </a:endParaRPr>
            </a:p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dirty="0">
                  <a:solidFill>
                    <a:srgbClr val="000000"/>
                  </a:solidFill>
                  <a:latin typeface="Century Schoolbook" pitchFamily="18" charset="0"/>
                </a:rPr>
                <a:t>（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Century Schoolbook" pitchFamily="18" charset="0"/>
                </a:rPr>
                <a:t>C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Century Schoolbook" pitchFamily="18" charset="0"/>
                </a:rPr>
                <a:t>） </a:t>
              </a:r>
              <a:r>
                <a:rPr kumimoji="1" lang="zh-CN" altLang="en-US" sz="2800" i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aseline="-25000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1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=–</a:t>
              </a:r>
              <a:r>
                <a:rPr kumimoji="1" lang="en-US" altLang="zh-CN" sz="2800" i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 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/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2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Century Schoolbook" pitchFamily="18" charset="0"/>
                </a:rPr>
                <a:t> , </a:t>
              </a:r>
              <a:r>
                <a:rPr kumimoji="1" lang="en-US" altLang="zh-CN" sz="2800" i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aseline="-25000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2</a:t>
              </a:r>
              <a:r>
                <a:rPr kumimoji="1" lang="en-US" altLang="zh-CN" sz="2800" b="1" dirty="0" smtClean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=+</a:t>
              </a:r>
              <a:r>
                <a:rPr kumimoji="1" lang="en-US" altLang="zh-CN" sz="2800" i="1" dirty="0" smtClean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</a:t>
              </a:r>
              <a:r>
                <a:rPr kumimoji="1" lang="en-US" altLang="zh-CN" sz="2800" dirty="0" smtClean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 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/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2</a:t>
              </a:r>
              <a:endParaRPr kumimoji="1" lang="en-US" altLang="zh-CN" sz="2800" b="1" dirty="0">
                <a:solidFill>
                  <a:srgbClr val="000000"/>
                </a:solidFill>
                <a:latin typeface="Century Schoolbook" pitchFamily="18" charset="0"/>
              </a:endParaRPr>
            </a:p>
            <a:p>
              <a:pPr fontAlgn="base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 dirty="0">
                  <a:solidFill>
                    <a:srgbClr val="000000"/>
                  </a:solidFill>
                  <a:latin typeface="Century Schoolbook" pitchFamily="18" charset="0"/>
                </a:rPr>
                <a:t>（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Century Schoolbook" pitchFamily="18" charset="0"/>
                </a:rPr>
                <a:t>D</a:t>
              </a:r>
              <a:r>
                <a:rPr kumimoji="1" lang="zh-CN" altLang="en-US" sz="2800" dirty="0">
                  <a:solidFill>
                    <a:srgbClr val="000000"/>
                  </a:solidFill>
                  <a:latin typeface="Century Schoolbook" pitchFamily="18" charset="0"/>
                </a:rPr>
                <a:t>） </a:t>
              </a:r>
              <a:r>
                <a:rPr kumimoji="1" lang="zh-CN" altLang="en-US" sz="2800" i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aseline="-25000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1</a:t>
              </a:r>
              <a:r>
                <a:rPr kumimoji="1" lang="en-US" altLang="zh-CN" sz="2800" b="1" dirty="0" smtClean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=–</a:t>
              </a:r>
              <a:r>
                <a:rPr kumimoji="1" lang="en-US" altLang="zh-CN" sz="2800" i="1" dirty="0" smtClean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</a:t>
              </a:r>
              <a:r>
                <a:rPr kumimoji="1" lang="en-US" altLang="zh-CN" sz="2800" dirty="0" smtClean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 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/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2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Century Schoolbook" pitchFamily="18" charset="0"/>
                </a:rPr>
                <a:t> , </a:t>
              </a:r>
              <a:r>
                <a:rPr kumimoji="1" lang="en-US" altLang="zh-CN" sz="2800" i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aseline="-25000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2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=–</a:t>
              </a:r>
              <a:r>
                <a:rPr kumimoji="1" lang="en-US" altLang="zh-CN" sz="2800" i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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 /</a:t>
              </a:r>
              <a:r>
                <a:rPr kumimoji="1" lang="en-US" altLang="zh-CN" sz="2800" dirty="0">
                  <a:solidFill>
                    <a:srgbClr val="000000"/>
                  </a:solidFill>
                  <a:latin typeface="Century Schoolbook" pitchFamily="18" charset="0"/>
                  <a:sym typeface="Symbol" pitchFamily="18" charset="2"/>
                </a:rPr>
                <a:t>2</a:t>
              </a:r>
            </a:p>
          </p:txBody>
        </p:sp>
      </p:grpSp>
      <p:sp>
        <p:nvSpPr>
          <p:cNvPr id="23" name="矩形 22"/>
          <p:cNvSpPr/>
          <p:nvPr/>
        </p:nvSpPr>
        <p:spPr>
          <a:xfrm>
            <a:off x="6876256" y="2043329"/>
            <a:ext cx="1317046" cy="711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544850"/>
              </p:ext>
            </p:extLst>
          </p:nvPr>
        </p:nvGraphicFramePr>
        <p:xfrm>
          <a:off x="899592" y="4963270"/>
          <a:ext cx="2954193" cy="1658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12" name="Equation" r:id="rId13" imgW="1117440" imgH="685800" progId="Equation.DSMT4">
                  <p:embed/>
                </p:oleObj>
              </mc:Choice>
              <mc:Fallback>
                <p:oleObj name="Equation" r:id="rId13" imgW="1117440" imgH="685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963270"/>
                        <a:ext cx="2954193" cy="1658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021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16632"/>
            <a:ext cx="84969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图所示，把一块原来不带电的金属板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，移近一块已带有正电荷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的金属板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，平行放置。设两板面积都是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，板间距离为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，忽略边缘效应，当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板接地时，两板间电势差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8976185"/>
              </p:ext>
            </p:extLst>
          </p:nvPr>
        </p:nvGraphicFramePr>
        <p:xfrm>
          <a:off x="243840" y="2922563"/>
          <a:ext cx="5794375" cy="230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69" name="Equation" r:id="rId3" imgW="2234880" imgH="888840" progId="Equation.DSMT4">
                  <p:embed/>
                </p:oleObj>
              </mc:Choice>
              <mc:Fallback>
                <p:oleObj name="Equation" r:id="rId3" imgW="223488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" y="2922563"/>
                        <a:ext cx="5794375" cy="230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6372200" y="2276872"/>
            <a:ext cx="2478595" cy="3168352"/>
            <a:chOff x="6372200" y="2420888"/>
            <a:chExt cx="2478595" cy="3168352"/>
          </a:xfrm>
        </p:grpSpPr>
        <p:pic>
          <p:nvPicPr>
            <p:cNvPr id="110594" name="Picture 2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301" t="5473" b="11720"/>
            <a:stretch/>
          </p:blipFill>
          <p:spPr bwMode="auto">
            <a:xfrm>
              <a:off x="6372200" y="2420888"/>
              <a:ext cx="2478595" cy="316835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xtLst/>
          </p:spPr>
        </p:pic>
        <p:sp>
          <p:nvSpPr>
            <p:cNvPr id="4" name="矩形 3"/>
            <p:cNvSpPr/>
            <p:nvPr/>
          </p:nvSpPr>
          <p:spPr>
            <a:xfrm>
              <a:off x="6743815" y="5157192"/>
              <a:ext cx="648072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5061290" y="5221047"/>
            <a:ext cx="1180131" cy="584775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3300"/>
                </a:solidFill>
                <a:latin typeface="Century Schoolbook" pitchFamily="18" charset="0"/>
              </a:rPr>
              <a:t> [ C ]</a:t>
            </a:r>
          </a:p>
        </p:txBody>
      </p:sp>
      <p:sp>
        <p:nvSpPr>
          <p:cNvPr id="8" name="矩形 7"/>
          <p:cNvSpPr/>
          <p:nvPr/>
        </p:nvSpPr>
        <p:spPr>
          <a:xfrm>
            <a:off x="5055154" y="5229200"/>
            <a:ext cx="1317046" cy="711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101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23528" y="188640"/>
            <a:ext cx="8394327" cy="216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半径分别为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&lt;R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）的两个同心导体薄球壳，分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别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带电量为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，将内球壳用细导线与远处的半径为 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的导体球相连，导体球原来不带电，相连后导体球带电量为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87356"/>
              </p:ext>
            </p:extLst>
          </p:nvPr>
        </p:nvGraphicFramePr>
        <p:xfrm>
          <a:off x="566614" y="2607122"/>
          <a:ext cx="3424237" cy="344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74" name="Equation" r:id="rId3" imgW="1333440" imgH="1346040" progId="Equation.DSMT4">
                  <p:embed/>
                </p:oleObj>
              </mc:Choice>
              <mc:Fallback>
                <p:oleObj name="Equation" r:id="rId3" imgW="1333440" imgH="1346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614" y="2607122"/>
                        <a:ext cx="3424237" cy="344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5610722" y="1844824"/>
            <a:ext cx="3281758" cy="3455644"/>
            <a:chOff x="5652120" y="2457632"/>
            <a:chExt cx="3281758" cy="3455644"/>
          </a:xfrm>
        </p:grpSpPr>
        <p:grpSp>
          <p:nvGrpSpPr>
            <p:cNvPr id="9" name="组合 8"/>
            <p:cNvGrpSpPr/>
            <p:nvPr/>
          </p:nvGrpSpPr>
          <p:grpSpPr>
            <a:xfrm>
              <a:off x="5652120" y="2457632"/>
              <a:ext cx="3281758" cy="3455644"/>
              <a:chOff x="5652120" y="2457632"/>
              <a:chExt cx="3281758" cy="3455644"/>
            </a:xfrm>
          </p:grpSpPr>
          <p:sp>
            <p:nvSpPr>
              <p:cNvPr id="5" name="AutoShape 47"/>
              <p:cNvSpPr>
                <a:spLocks noChangeArrowheads="1"/>
              </p:cNvSpPr>
              <p:nvPr/>
            </p:nvSpPr>
            <p:spPr bwMode="auto">
              <a:xfrm>
                <a:off x="7416315" y="2457632"/>
                <a:ext cx="1517563" cy="1403416"/>
              </a:xfrm>
              <a:custGeom>
                <a:avLst/>
                <a:gdLst>
                  <a:gd name="G0" fmla="+- 2386 0 0"/>
                  <a:gd name="G1" fmla="+- 21600 0 2386"/>
                  <a:gd name="G2" fmla="+- 21600 0 2386"/>
                  <a:gd name="G3" fmla="*/ G0 2929 10000"/>
                  <a:gd name="G4" fmla="+- 21600 0 G3"/>
                  <a:gd name="G5" fmla="+- 21600 0 G3"/>
                  <a:gd name="T0" fmla="*/ 10800 w 21600"/>
                  <a:gd name="T1" fmla="*/ 0 h 21600"/>
                  <a:gd name="T2" fmla="*/ 3163 w 21600"/>
                  <a:gd name="T3" fmla="*/ 3163 h 21600"/>
                  <a:gd name="T4" fmla="*/ 0 w 21600"/>
                  <a:gd name="T5" fmla="*/ 10800 h 21600"/>
                  <a:gd name="T6" fmla="*/ 3163 w 21600"/>
                  <a:gd name="T7" fmla="*/ 18437 h 21600"/>
                  <a:gd name="T8" fmla="*/ 10800 w 21600"/>
                  <a:gd name="T9" fmla="*/ 21600 h 21600"/>
                  <a:gd name="T10" fmla="*/ 18437 w 21600"/>
                  <a:gd name="T11" fmla="*/ 18437 h 21600"/>
                  <a:gd name="T12" fmla="*/ 21600 w 21600"/>
                  <a:gd name="T13" fmla="*/ 10800 h 21600"/>
                  <a:gd name="T14" fmla="*/ 18437 w 21600"/>
                  <a:gd name="T15" fmla="*/ 3163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2386" y="10800"/>
                    </a:moveTo>
                    <a:cubicBezTo>
                      <a:pt x="2386" y="15447"/>
                      <a:pt x="6153" y="19214"/>
                      <a:pt x="10800" y="19214"/>
                    </a:cubicBezTo>
                    <a:cubicBezTo>
                      <a:pt x="15447" y="19214"/>
                      <a:pt x="19214" y="15447"/>
                      <a:pt x="19214" y="10800"/>
                    </a:cubicBezTo>
                    <a:cubicBezTo>
                      <a:pt x="19214" y="6153"/>
                      <a:pt x="15447" y="2386"/>
                      <a:pt x="10800" y="2386"/>
                    </a:cubicBezTo>
                    <a:cubicBezTo>
                      <a:pt x="6153" y="2386"/>
                      <a:pt x="2386" y="6153"/>
                      <a:pt x="2386" y="10800"/>
                    </a:cubicBezTo>
                    <a:close/>
                  </a:path>
                </a:pathLst>
              </a:custGeom>
              <a:noFill/>
              <a:ln w="19050">
                <a:solidFill>
                  <a:srgbClr val="663300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" name="Oval 3"/>
              <p:cNvSpPr>
                <a:spLocks noChangeArrowheads="1"/>
              </p:cNvSpPr>
              <p:nvPr/>
            </p:nvSpPr>
            <p:spPr bwMode="auto">
              <a:xfrm>
                <a:off x="5652120" y="5157192"/>
                <a:ext cx="792088" cy="756084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58039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7475470" y="2733349"/>
                <a:ext cx="128850" cy="10801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任意多边形 6"/>
              <p:cNvSpPr/>
              <p:nvPr/>
            </p:nvSpPr>
            <p:spPr>
              <a:xfrm>
                <a:off x="6118317" y="2636912"/>
                <a:ext cx="1555698" cy="2520280"/>
              </a:xfrm>
              <a:custGeom>
                <a:avLst/>
                <a:gdLst>
                  <a:gd name="connsiteX0" fmla="*/ 1555698 w 1555698"/>
                  <a:gd name="connsiteY0" fmla="*/ 205772 h 2254491"/>
                  <a:gd name="connsiteX1" fmla="*/ 1011688 w 1555698"/>
                  <a:gd name="connsiteY1" fmla="*/ 90025 h 2254491"/>
                  <a:gd name="connsiteX2" fmla="*/ 1243182 w 1555698"/>
                  <a:gd name="connsiteY2" fmla="*/ 1363240 h 2254491"/>
                  <a:gd name="connsiteX3" fmla="*/ 189886 w 1555698"/>
                  <a:gd name="connsiteY3" fmla="*/ 2022997 h 2254491"/>
                  <a:gd name="connsiteX4" fmla="*/ 4691 w 1555698"/>
                  <a:gd name="connsiteY4" fmla="*/ 2254491 h 2254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55698" h="2254491">
                    <a:moveTo>
                      <a:pt x="1555698" y="205772"/>
                    </a:moveTo>
                    <a:cubicBezTo>
                      <a:pt x="1309736" y="51443"/>
                      <a:pt x="1063774" y="-102886"/>
                      <a:pt x="1011688" y="90025"/>
                    </a:cubicBezTo>
                    <a:cubicBezTo>
                      <a:pt x="959602" y="282936"/>
                      <a:pt x="1380149" y="1041078"/>
                      <a:pt x="1243182" y="1363240"/>
                    </a:cubicBezTo>
                    <a:cubicBezTo>
                      <a:pt x="1106215" y="1685402"/>
                      <a:pt x="396301" y="1874455"/>
                      <a:pt x="189886" y="2022997"/>
                    </a:cubicBezTo>
                    <a:cubicBezTo>
                      <a:pt x="-16529" y="2171539"/>
                      <a:pt x="-5919" y="2213015"/>
                      <a:pt x="4691" y="2254491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 rot="18501678">
              <a:off x="6158191" y="4050793"/>
              <a:ext cx="19243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/>
                <a:t>相距很远</a:t>
              </a:r>
              <a:endParaRPr lang="zh-CN" altLang="en-US" sz="2800" b="1" dirty="0"/>
            </a:p>
          </p:txBody>
        </p:sp>
      </p:grp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4975903" y="2418781"/>
            <a:ext cx="1202573" cy="584775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3300"/>
                </a:solidFill>
                <a:latin typeface="Century Schoolbook" pitchFamily="18" charset="0"/>
              </a:rPr>
              <a:t> [ </a:t>
            </a:r>
            <a:r>
              <a:rPr kumimoji="1" lang="en-US" altLang="zh-CN" sz="3200" b="1" dirty="0" smtClean="0">
                <a:solidFill>
                  <a:srgbClr val="FF3300"/>
                </a:solidFill>
                <a:latin typeface="Century Schoolbook" pitchFamily="18" charset="0"/>
              </a:rPr>
              <a:t>D </a:t>
            </a:r>
            <a:r>
              <a:rPr kumimoji="1" lang="en-US" altLang="zh-CN" sz="3200" b="1" dirty="0">
                <a:solidFill>
                  <a:srgbClr val="FF3300"/>
                </a:solidFill>
                <a:latin typeface="Century Schoolbook" pitchFamily="18" charset="0"/>
              </a:rPr>
              <a:t>]</a:t>
            </a:r>
          </a:p>
        </p:txBody>
      </p:sp>
      <p:sp>
        <p:nvSpPr>
          <p:cNvPr id="13" name="矩形 12"/>
          <p:cNvSpPr/>
          <p:nvPr/>
        </p:nvSpPr>
        <p:spPr>
          <a:xfrm>
            <a:off x="4797732" y="2312136"/>
            <a:ext cx="1317046" cy="711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872953"/>
              </p:ext>
            </p:extLst>
          </p:nvPr>
        </p:nvGraphicFramePr>
        <p:xfrm>
          <a:off x="4783608" y="5300468"/>
          <a:ext cx="4143375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275" name="Equation" r:id="rId5" imgW="1612800" imgH="431640" progId="Equation.DSMT4">
                  <p:embed/>
                </p:oleObj>
              </mc:Choice>
              <mc:Fallback>
                <p:oleObj name="Equation" r:id="rId5" imgW="1612800" imgH="4316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3608" y="5300468"/>
                        <a:ext cx="4143375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123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188640"/>
            <a:ext cx="84969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封闭导体壳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内有两个导体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带电，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带负电，则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三导体的电势大小关系为 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     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]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979374"/>
              </p:ext>
            </p:extLst>
          </p:nvPr>
        </p:nvGraphicFramePr>
        <p:xfrm>
          <a:off x="683568" y="2425020"/>
          <a:ext cx="2784971" cy="2156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877" name="Equation" r:id="rId3" imgW="1180800" imgH="914400" progId="Equation.DSMT4">
                  <p:embed/>
                </p:oleObj>
              </mc:Choice>
              <mc:Fallback>
                <p:oleObj name="Equation" r:id="rId3" imgW="11808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3568" y="2425020"/>
                        <a:ext cx="2784971" cy="21561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4932040" y="1772816"/>
            <a:ext cx="3456384" cy="1800200"/>
            <a:chOff x="4860032" y="2204864"/>
            <a:chExt cx="3600400" cy="2088232"/>
          </a:xfrm>
        </p:grpSpPr>
        <p:sp>
          <p:nvSpPr>
            <p:cNvPr id="5" name="圆角矩形 4"/>
            <p:cNvSpPr/>
            <p:nvPr/>
          </p:nvSpPr>
          <p:spPr>
            <a:xfrm>
              <a:off x="4860032" y="2204864"/>
              <a:ext cx="3600400" cy="20882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5004048" y="2312876"/>
              <a:ext cx="3312368" cy="187220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椭圆 7"/>
          <p:cNvSpPr/>
          <p:nvPr/>
        </p:nvSpPr>
        <p:spPr>
          <a:xfrm>
            <a:off x="5730362" y="2340254"/>
            <a:ext cx="64807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164288" y="2314155"/>
            <a:ext cx="576064" cy="6480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214149" y="3429000"/>
            <a:ext cx="518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82101" y="2276872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64288" y="2315896"/>
            <a:ext cx="518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01107" y="1657081"/>
            <a:ext cx="720080" cy="467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5012432" y="4171927"/>
            <a:ext cx="3456384" cy="1800200"/>
            <a:chOff x="4860032" y="2204864"/>
            <a:chExt cx="3600400" cy="2088232"/>
          </a:xfrm>
        </p:grpSpPr>
        <p:sp>
          <p:nvSpPr>
            <p:cNvPr id="20" name="圆角矩形 19"/>
            <p:cNvSpPr/>
            <p:nvPr/>
          </p:nvSpPr>
          <p:spPr>
            <a:xfrm>
              <a:off x="4860032" y="2204864"/>
              <a:ext cx="3600400" cy="20882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5004048" y="2312876"/>
              <a:ext cx="3312368" cy="187220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椭圆 22"/>
          <p:cNvSpPr/>
          <p:nvPr/>
        </p:nvSpPr>
        <p:spPr>
          <a:xfrm>
            <a:off x="5810754" y="4739365"/>
            <a:ext cx="648072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7244680" y="4713266"/>
            <a:ext cx="576064" cy="6480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7380312" y="4653136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/>
          <p:cNvCxnSpPr>
            <a:endCxn id="24" idx="2"/>
          </p:cNvCxnSpPr>
          <p:nvPr/>
        </p:nvCxnSpPr>
        <p:spPr>
          <a:xfrm flipV="1">
            <a:off x="6464167" y="5037302"/>
            <a:ext cx="780513" cy="706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>
            <a:off x="7762771" y="5024770"/>
            <a:ext cx="567789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714701" y="4653136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zh-CN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140730" y="4651950"/>
            <a:ext cx="2438845" cy="692985"/>
            <a:chOff x="6140730" y="4795966"/>
            <a:chExt cx="2438845" cy="692985"/>
          </a:xfrm>
        </p:grpSpPr>
        <p:sp>
          <p:nvSpPr>
            <p:cNvPr id="32" name="TextBox 31"/>
            <p:cNvSpPr txBox="1"/>
            <p:nvPr/>
          </p:nvSpPr>
          <p:spPr>
            <a:xfrm>
              <a:off x="6140730" y="4842620"/>
              <a:ext cx="4475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8132017" y="4795966"/>
              <a:ext cx="4475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932040" y="4698604"/>
            <a:ext cx="879031" cy="646331"/>
            <a:chOff x="4932040" y="4842620"/>
            <a:chExt cx="879031" cy="646331"/>
          </a:xfrm>
        </p:grpSpPr>
        <p:cxnSp>
          <p:nvCxnSpPr>
            <p:cNvPr id="29" name="直接箭头连接符 28"/>
            <p:cNvCxnSpPr/>
            <p:nvPr/>
          </p:nvCxnSpPr>
          <p:spPr>
            <a:xfrm>
              <a:off x="5156448" y="5180039"/>
              <a:ext cx="65462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4932040" y="4842620"/>
              <a:ext cx="4475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277417" y="4581128"/>
            <a:ext cx="904292" cy="646331"/>
            <a:chOff x="4277417" y="4725144"/>
            <a:chExt cx="904292" cy="646331"/>
          </a:xfrm>
        </p:grpSpPr>
        <p:sp>
          <p:nvSpPr>
            <p:cNvPr id="35" name="TextBox 34"/>
            <p:cNvSpPr txBox="1"/>
            <p:nvPr/>
          </p:nvSpPr>
          <p:spPr>
            <a:xfrm>
              <a:off x="4843155" y="4725144"/>
              <a:ext cx="33855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7" name="直接箭头连接符 36"/>
            <p:cNvCxnSpPr/>
            <p:nvPr/>
          </p:nvCxnSpPr>
          <p:spPr>
            <a:xfrm>
              <a:off x="4277417" y="5120317"/>
              <a:ext cx="65462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>
          <a:xfrm>
            <a:off x="8330560" y="4537401"/>
            <a:ext cx="773806" cy="646331"/>
            <a:chOff x="8330560" y="4681417"/>
            <a:chExt cx="773806" cy="646331"/>
          </a:xfrm>
        </p:grpSpPr>
        <p:sp>
          <p:nvSpPr>
            <p:cNvPr id="36" name="TextBox 35"/>
            <p:cNvSpPr txBox="1"/>
            <p:nvPr/>
          </p:nvSpPr>
          <p:spPr>
            <a:xfrm>
              <a:off x="8330560" y="4681417"/>
              <a:ext cx="33855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6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zh-CN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9" name="直接箭头连接符 38"/>
            <p:cNvCxnSpPr/>
            <p:nvPr/>
          </p:nvCxnSpPr>
          <p:spPr>
            <a:xfrm flipH="1">
              <a:off x="8536577" y="5048309"/>
              <a:ext cx="56778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矩形 39"/>
          <p:cNvSpPr/>
          <p:nvPr/>
        </p:nvSpPr>
        <p:spPr>
          <a:xfrm>
            <a:off x="4086798" y="4075331"/>
            <a:ext cx="5040560" cy="2371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30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1" grpId="0"/>
      <p:bldP spid="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404664"/>
            <a:ext cx="87129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导体表面面元</a:t>
            </a:r>
            <a:r>
              <a:rPr lang="el-GR" altLang="zh-CN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受到其余电荷作用的电场力大小约为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810315"/>
              </p:ext>
            </p:extLst>
          </p:nvPr>
        </p:nvGraphicFramePr>
        <p:xfrm>
          <a:off x="755576" y="2204864"/>
          <a:ext cx="2701925" cy="349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43" name="Equation" r:id="rId3" imgW="1041120" imgH="1346040" progId="Equation.DSMT4">
                  <p:embed/>
                </p:oleObj>
              </mc:Choice>
              <mc:Fallback>
                <p:oleObj name="Equation" r:id="rId3" imgW="104112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576" y="2204864"/>
                        <a:ext cx="2701925" cy="349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44208" y="1916832"/>
            <a:ext cx="10054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[B]</a:t>
            </a:r>
            <a:endParaRPr lang="zh-CN" altLang="en-US" sz="4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416573" y="2102290"/>
            <a:ext cx="1317046" cy="711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88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23528" y="260648"/>
            <a:ext cx="8526338" cy="2677656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Century Schoolbook" pitchFamily="18" charset="0"/>
              </a:rPr>
              <a:t>练习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Century Schoolbook" pitchFamily="18" charset="0"/>
              </a:rPr>
              <a:t>10.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将一“无限大”平行板电容器充电后断开电源，然后插入一电介质板，则插入电介质后，电容器内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A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、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B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两点电位移矢量的关系是（忽略边缘效应）</a:t>
            </a:r>
            <a:endParaRPr kumimoji="1" lang="en-US" altLang="zh-CN" sz="2800" b="1" dirty="0" smtClean="0">
              <a:solidFill>
                <a:srgbClr val="000000"/>
              </a:solidFill>
              <a:latin typeface="Century Schoolbook" pitchFamily="18" charset="0"/>
            </a:endParaRPr>
          </a:p>
          <a:p>
            <a:pPr marL="457200" indent="-457200"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AutoNum type="alphaUcParenBoth"/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D</a:t>
            </a:r>
            <a:r>
              <a:rPr kumimoji="1" lang="en-US" altLang="zh-CN" sz="2800" b="1" baseline="-25000" dirty="0" smtClean="0">
                <a:solidFill>
                  <a:srgbClr val="000000"/>
                </a:solidFill>
                <a:latin typeface="Century Schoolbook" pitchFamily="18" charset="0"/>
              </a:rPr>
              <a:t>A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&gt;D</a:t>
            </a:r>
            <a:r>
              <a:rPr kumimoji="1" lang="en-US" altLang="zh-CN" sz="2800" b="1" baseline="-25000" dirty="0" smtClean="0">
                <a:solidFill>
                  <a:srgbClr val="000000"/>
                </a:solidFill>
                <a:latin typeface="Century Schoolbook" pitchFamily="18" charset="0"/>
              </a:rPr>
              <a:t>B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      (B) D</a:t>
            </a:r>
            <a:r>
              <a:rPr kumimoji="1" lang="en-US" altLang="zh-CN" sz="2800" b="1" baseline="-25000" dirty="0" smtClean="0">
                <a:solidFill>
                  <a:srgbClr val="000000"/>
                </a:solidFill>
                <a:latin typeface="Century Schoolbook" pitchFamily="18" charset="0"/>
              </a:rPr>
              <a:t>A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=D</a:t>
            </a:r>
            <a:r>
              <a:rPr kumimoji="1" lang="en-US" altLang="zh-CN" sz="2800" b="1" baseline="-25000" dirty="0" smtClean="0">
                <a:solidFill>
                  <a:srgbClr val="000000"/>
                </a:solidFill>
                <a:latin typeface="Century Schoolbook" pitchFamily="18" charset="0"/>
              </a:rPr>
              <a:t>B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      </a:t>
            </a: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(C) D</a:t>
            </a:r>
            <a:r>
              <a:rPr kumimoji="1" lang="en-US" altLang="zh-CN" sz="2800" b="1" baseline="-25000" dirty="0" smtClean="0">
                <a:solidFill>
                  <a:srgbClr val="000000"/>
                </a:solidFill>
                <a:latin typeface="Century Schoolbook" pitchFamily="18" charset="0"/>
              </a:rPr>
              <a:t>A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&lt;D</a:t>
            </a:r>
            <a:r>
              <a:rPr kumimoji="1" lang="en-US" altLang="zh-CN" sz="2800" b="1" baseline="-25000" dirty="0" smtClean="0">
                <a:solidFill>
                  <a:srgbClr val="000000"/>
                </a:solidFill>
                <a:latin typeface="Century Schoolbook" pitchFamily="18" charset="0"/>
              </a:rPr>
              <a:t>B        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 (D)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无法确定</a:t>
            </a:r>
            <a:endParaRPr kumimoji="1" lang="zh-CN" altLang="en-US" sz="2800" b="1" dirty="0">
              <a:solidFill>
                <a:srgbClr val="000000"/>
              </a:solidFill>
              <a:latin typeface="Century Schoolbook" pitchFamily="18" charset="0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369" y="2012109"/>
            <a:ext cx="2085975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617450" y="2012109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[C]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50724" y="2064825"/>
            <a:ext cx="1317046" cy="711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4742963"/>
              </p:ext>
            </p:extLst>
          </p:nvPr>
        </p:nvGraphicFramePr>
        <p:xfrm>
          <a:off x="611560" y="3789040"/>
          <a:ext cx="3100387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49" name="Equation" r:id="rId4" imgW="1193760" imgH="228600" progId="Equation.DSMT4">
                  <p:embed/>
                </p:oleObj>
              </mc:Choice>
              <mc:Fallback>
                <p:oleObj name="Equation" r:id="rId4" imgW="1193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3789040"/>
                        <a:ext cx="3100387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8365757"/>
              </p:ext>
            </p:extLst>
          </p:nvPr>
        </p:nvGraphicFramePr>
        <p:xfrm>
          <a:off x="3923928" y="3789040"/>
          <a:ext cx="191135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150" name="Equation" r:id="rId6" imgW="736560" imgH="228600" progId="Equation.DSMT4">
                  <p:embed/>
                </p:oleObj>
              </mc:Choice>
              <mc:Fallback>
                <p:oleObj name="Equation" r:id="rId6" imgW="736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3789040"/>
                        <a:ext cx="1911350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248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ext Box 2"/>
          <p:cNvSpPr txBox="1">
            <a:spLocks noChangeArrowheads="1"/>
          </p:cNvSpPr>
          <p:nvPr/>
        </p:nvSpPr>
        <p:spPr bwMode="auto">
          <a:xfrm>
            <a:off x="7524328" y="2143984"/>
            <a:ext cx="1168910" cy="646331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 dirty="0">
                <a:solidFill>
                  <a:srgbClr val="FF3300"/>
                </a:solidFill>
                <a:latin typeface="Century Schoolbook" pitchFamily="18" charset="0"/>
              </a:rPr>
              <a:t>[ B ]</a:t>
            </a:r>
          </a:p>
        </p:txBody>
      </p:sp>
      <p:sp>
        <p:nvSpPr>
          <p:cNvPr id="13319" name="Text Box 4"/>
          <p:cNvSpPr txBox="1">
            <a:spLocks noChangeArrowheads="1"/>
          </p:cNvSpPr>
          <p:nvPr/>
        </p:nvSpPr>
        <p:spPr bwMode="auto">
          <a:xfrm>
            <a:off x="142709" y="44624"/>
            <a:ext cx="8929619" cy="2246313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Century Schoolbook" pitchFamily="18" charset="0"/>
              </a:rPr>
              <a:t>练习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Century Schoolbook" pitchFamily="18" charset="0"/>
              </a:rPr>
              <a:t>11.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平行</a:t>
            </a: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板电容器水平放置，两极板间的一半空间充有各向同性均匀电介质，另一半为空气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。极板上带恒定</a:t>
            </a: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的等量异号电荷，有一个质量为</a:t>
            </a:r>
            <a:r>
              <a:rPr kumimoji="1" lang="en-US" altLang="zh-CN" sz="2800" i="1" dirty="0">
                <a:solidFill>
                  <a:srgbClr val="000000"/>
                </a:solidFill>
                <a:latin typeface="Century Schoolbook" pitchFamily="18" charset="0"/>
              </a:rPr>
              <a:t>m</a:t>
            </a: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、带电量为</a:t>
            </a:r>
            <a:r>
              <a:rPr kumimoji="1" lang="en-US" altLang="zh-CN" sz="2800" b="1" dirty="0">
                <a:solidFill>
                  <a:srgbClr val="000000"/>
                </a:solidFill>
                <a:latin typeface="Century Schoolbook" pitchFamily="18" charset="0"/>
              </a:rPr>
              <a:t>+</a:t>
            </a:r>
            <a:r>
              <a:rPr kumimoji="1" lang="en-US" altLang="zh-CN" sz="2800" i="1" dirty="0">
                <a:solidFill>
                  <a:srgbClr val="000000"/>
                </a:solidFill>
                <a:latin typeface="Century Schoolbook" pitchFamily="18" charset="0"/>
              </a:rPr>
              <a:t>q</a:t>
            </a: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的质点，平衡在极板间的空气域中。此后，若把电介质抽去，则该质点将</a:t>
            </a:r>
          </a:p>
        </p:txBody>
      </p:sp>
      <p:sp>
        <p:nvSpPr>
          <p:cNvPr id="13320" name="Text Box 5"/>
          <p:cNvSpPr txBox="1">
            <a:spLocks noChangeArrowheads="1"/>
          </p:cNvSpPr>
          <p:nvPr/>
        </p:nvSpPr>
        <p:spPr bwMode="auto">
          <a:xfrm>
            <a:off x="287681" y="2348087"/>
            <a:ext cx="3342499" cy="523875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（</a:t>
            </a:r>
            <a:r>
              <a:rPr kumimoji="1" lang="en-US" altLang="zh-CN" sz="2800" dirty="0">
                <a:solidFill>
                  <a:srgbClr val="000000"/>
                </a:solidFill>
                <a:latin typeface="Century Schoolbook" pitchFamily="18" charset="0"/>
              </a:rPr>
              <a:t>A</a:t>
            </a: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）保持不动</a:t>
            </a:r>
          </a:p>
        </p:txBody>
      </p:sp>
      <p:sp>
        <p:nvSpPr>
          <p:cNvPr id="13321" name="Text Box 6"/>
          <p:cNvSpPr txBox="1">
            <a:spLocks noChangeArrowheads="1"/>
          </p:cNvSpPr>
          <p:nvPr/>
        </p:nvSpPr>
        <p:spPr bwMode="auto">
          <a:xfrm>
            <a:off x="284423" y="2881487"/>
            <a:ext cx="2607866" cy="523875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（</a:t>
            </a:r>
            <a:r>
              <a:rPr kumimoji="1" lang="en-US" altLang="zh-CN" sz="2800" dirty="0">
                <a:solidFill>
                  <a:srgbClr val="000000"/>
                </a:solidFill>
                <a:latin typeface="Century Schoolbook" pitchFamily="18" charset="0"/>
              </a:rPr>
              <a:t>B</a:t>
            </a: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）向上运动</a:t>
            </a:r>
          </a:p>
        </p:txBody>
      </p:sp>
      <p:sp>
        <p:nvSpPr>
          <p:cNvPr id="13322" name="Text Box 7"/>
          <p:cNvSpPr txBox="1">
            <a:spLocks noChangeArrowheads="1"/>
          </p:cNvSpPr>
          <p:nvPr/>
        </p:nvSpPr>
        <p:spPr bwMode="auto">
          <a:xfrm>
            <a:off x="287681" y="3438699"/>
            <a:ext cx="2607866" cy="523875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（</a:t>
            </a:r>
            <a:r>
              <a:rPr kumimoji="1" lang="en-US" altLang="zh-CN" sz="2800" dirty="0">
                <a:solidFill>
                  <a:srgbClr val="000000"/>
                </a:solidFill>
                <a:latin typeface="Century Schoolbook" pitchFamily="18" charset="0"/>
              </a:rPr>
              <a:t>C</a:t>
            </a: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）向下运动</a:t>
            </a:r>
          </a:p>
        </p:txBody>
      </p:sp>
      <p:sp>
        <p:nvSpPr>
          <p:cNvPr id="13323" name="Text Box 8"/>
          <p:cNvSpPr txBox="1">
            <a:spLocks noChangeArrowheads="1"/>
          </p:cNvSpPr>
          <p:nvPr/>
        </p:nvSpPr>
        <p:spPr bwMode="auto">
          <a:xfrm>
            <a:off x="251845" y="4029249"/>
            <a:ext cx="4070616" cy="523875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（</a:t>
            </a:r>
            <a:r>
              <a:rPr kumimoji="1" lang="en-US" altLang="zh-CN" sz="2800" dirty="0">
                <a:solidFill>
                  <a:srgbClr val="000000"/>
                </a:solidFill>
                <a:latin typeface="Century Schoolbook" pitchFamily="18" charset="0"/>
              </a:rPr>
              <a:t>D</a:t>
            </a: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）是否运动不能确定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4932040" y="2132856"/>
            <a:ext cx="2032865" cy="1687513"/>
            <a:chOff x="3600" y="2537"/>
            <a:chExt cx="1248" cy="1063"/>
          </a:xfrm>
        </p:grpSpPr>
        <p:sp>
          <p:nvSpPr>
            <p:cNvPr id="13325" name="Rectangle 10" descr="宽上对角线"/>
            <p:cNvSpPr>
              <a:spLocks noChangeArrowheads="1"/>
            </p:cNvSpPr>
            <p:nvPr/>
          </p:nvSpPr>
          <p:spPr bwMode="auto">
            <a:xfrm>
              <a:off x="3600" y="2784"/>
              <a:ext cx="624" cy="480"/>
            </a:xfrm>
            <a:prstGeom prst="rect">
              <a:avLst/>
            </a:prstGeom>
            <a:pattFill prst="wdUpDiag">
              <a:fgClr>
                <a:srgbClr val="99CC00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  <a:headEnd type="none" w="med" len="lg"/>
              <a:tailEnd type="none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3200">
                <a:solidFill>
                  <a:srgbClr val="000000"/>
                </a:solidFill>
              </a:endParaRPr>
            </a:p>
          </p:txBody>
        </p:sp>
        <p:sp>
          <p:nvSpPr>
            <p:cNvPr id="13326" name="Rectangle 11"/>
            <p:cNvSpPr>
              <a:spLocks noChangeArrowheads="1"/>
            </p:cNvSpPr>
            <p:nvPr/>
          </p:nvSpPr>
          <p:spPr bwMode="auto">
            <a:xfrm>
              <a:off x="3600" y="2736"/>
              <a:ext cx="1248" cy="48"/>
            </a:xfrm>
            <a:prstGeom prst="rect">
              <a:avLst/>
            </a:prstGeom>
            <a:solidFill>
              <a:srgbClr val="FFCC00"/>
            </a:solidFill>
            <a:ln w="1905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3200">
                <a:solidFill>
                  <a:srgbClr val="000000"/>
                </a:solidFill>
              </a:endParaRPr>
            </a:p>
          </p:txBody>
        </p:sp>
        <p:sp>
          <p:nvSpPr>
            <p:cNvPr id="13327" name="Rectangle 12"/>
            <p:cNvSpPr>
              <a:spLocks noChangeArrowheads="1"/>
            </p:cNvSpPr>
            <p:nvPr/>
          </p:nvSpPr>
          <p:spPr bwMode="auto">
            <a:xfrm flipV="1">
              <a:off x="3600" y="3264"/>
              <a:ext cx="1248" cy="48"/>
            </a:xfrm>
            <a:prstGeom prst="rect">
              <a:avLst/>
            </a:prstGeom>
            <a:solidFill>
              <a:srgbClr val="FFCC00"/>
            </a:solidFill>
            <a:ln w="1905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3200">
                <a:solidFill>
                  <a:srgbClr val="000000"/>
                </a:solidFill>
              </a:endParaRPr>
            </a:p>
          </p:txBody>
        </p:sp>
        <p:graphicFrame>
          <p:nvGraphicFramePr>
            <p:cNvPr id="13314" name="Object 13"/>
            <p:cNvGraphicFramePr>
              <a:graphicFrameLocks noChangeAspect="1"/>
            </p:cNvGraphicFramePr>
            <p:nvPr/>
          </p:nvGraphicFramePr>
          <p:xfrm>
            <a:off x="4272" y="2537"/>
            <a:ext cx="336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200" name="Equation" r:id="rId3" imgW="723600" imgH="482400" progId="Equation.3">
                    <p:embed/>
                  </p:oleObj>
                </mc:Choice>
                <mc:Fallback>
                  <p:oleObj name="Equation" r:id="rId3" imgW="72360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2537"/>
                          <a:ext cx="336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5" name="Object 14"/>
            <p:cNvGraphicFramePr>
              <a:graphicFrameLocks noChangeAspect="1"/>
            </p:cNvGraphicFramePr>
            <p:nvPr/>
          </p:nvGraphicFramePr>
          <p:xfrm>
            <a:off x="4272" y="3401"/>
            <a:ext cx="336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201" name="Equation" r:id="rId5" imgW="723600" imgH="482400" progId="Equation.3">
                    <p:embed/>
                  </p:oleObj>
                </mc:Choice>
                <mc:Fallback>
                  <p:oleObj name="Equation" r:id="rId5" imgW="723600" imgH="482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3401"/>
                          <a:ext cx="336" cy="1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6" name="Object 15"/>
            <p:cNvGraphicFramePr>
              <a:graphicFrameLocks noChangeAspect="1"/>
            </p:cNvGraphicFramePr>
            <p:nvPr/>
          </p:nvGraphicFramePr>
          <p:xfrm>
            <a:off x="4317" y="2963"/>
            <a:ext cx="435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202" name="Equation" r:id="rId7" imgW="1193760" imgH="380880" progId="Equation.3">
                    <p:embed/>
                  </p:oleObj>
                </mc:Choice>
                <mc:Fallback>
                  <p:oleObj name="Equation" r:id="rId7" imgW="1193760" imgH="380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7" y="2963"/>
                          <a:ext cx="435" cy="1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/>
          <p:cNvSpPr/>
          <p:nvPr/>
        </p:nvSpPr>
        <p:spPr>
          <a:xfrm>
            <a:off x="395536" y="5157192"/>
            <a:ext cx="59554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b="1" dirty="0" smtClean="0">
                <a:solidFill>
                  <a:srgbClr val="0000FF"/>
                </a:solidFill>
                <a:latin typeface="Century Schoolbook" pitchFamily="18" charset="0"/>
              </a:rPr>
              <a:t>若平行</a:t>
            </a:r>
            <a:r>
              <a:rPr kumimoji="1" lang="zh-CN" altLang="en-US" sz="2800" b="1" dirty="0">
                <a:solidFill>
                  <a:srgbClr val="0000FF"/>
                </a:solidFill>
                <a:latin typeface="Century Schoolbook" pitchFamily="18" charset="0"/>
              </a:rPr>
              <a:t>板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Century Schoolbook" pitchFamily="18" charset="0"/>
              </a:rPr>
              <a:t>电容器与电源保持相连呢？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779994"/>
              </p:ext>
            </p:extLst>
          </p:nvPr>
        </p:nvGraphicFramePr>
        <p:xfrm>
          <a:off x="755576" y="4581128"/>
          <a:ext cx="3922919" cy="539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03" name="Equation" r:id="rId9" imgW="1663560" imgH="228600" progId="Equation.DSMT4">
                  <p:embed/>
                </p:oleObj>
              </mc:Choice>
              <mc:Fallback>
                <p:oleObj name="Equation" r:id="rId9" imgW="1663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5576" y="4581128"/>
                        <a:ext cx="3922919" cy="5390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181289"/>
              </p:ext>
            </p:extLst>
          </p:nvPr>
        </p:nvGraphicFramePr>
        <p:xfrm>
          <a:off x="1017055" y="5824428"/>
          <a:ext cx="2366962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04" name="Equation" r:id="rId11" imgW="1002960" imgH="203040" progId="Equation.DSMT4">
                  <p:embed/>
                </p:oleObj>
              </mc:Choice>
              <mc:Fallback>
                <p:oleObj name="Equation" r:id="rId11" imgW="1002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055" y="5824428"/>
                        <a:ext cx="2366962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7009049" y="5418802"/>
            <a:ext cx="1168910" cy="646331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 dirty="0">
                <a:solidFill>
                  <a:srgbClr val="FF3300"/>
                </a:solidFill>
                <a:latin typeface="Century Schoolbook" pitchFamily="18" charset="0"/>
              </a:rPr>
              <a:t>[ </a:t>
            </a:r>
            <a:r>
              <a:rPr kumimoji="1" lang="en-US" altLang="zh-CN" sz="3600" b="1" dirty="0" smtClean="0">
                <a:solidFill>
                  <a:srgbClr val="FF3300"/>
                </a:solidFill>
                <a:latin typeface="Century Schoolbook" pitchFamily="18" charset="0"/>
              </a:rPr>
              <a:t>A </a:t>
            </a:r>
            <a:r>
              <a:rPr kumimoji="1" lang="en-US" altLang="zh-CN" sz="3600" b="1" dirty="0">
                <a:solidFill>
                  <a:srgbClr val="FF3300"/>
                </a:solidFill>
                <a:latin typeface="Century Schoolbook" pitchFamily="18" charset="0"/>
              </a:rPr>
              <a:t>]</a:t>
            </a:r>
          </a:p>
        </p:txBody>
      </p:sp>
      <p:sp>
        <p:nvSpPr>
          <p:cNvPr id="20" name="矩形 19"/>
          <p:cNvSpPr/>
          <p:nvPr/>
        </p:nvSpPr>
        <p:spPr>
          <a:xfrm>
            <a:off x="7287402" y="2169759"/>
            <a:ext cx="1317046" cy="711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7092280" y="5381568"/>
            <a:ext cx="1317046" cy="7117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045799"/>
              </p:ext>
            </p:extLst>
          </p:nvPr>
        </p:nvGraphicFramePr>
        <p:xfrm>
          <a:off x="4860032" y="4032250"/>
          <a:ext cx="4271963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205" name="Equation" r:id="rId13" imgW="1828800" imgH="482400" progId="Equation.DSMT4">
                  <p:embed/>
                </p:oleObj>
              </mc:Choice>
              <mc:Fallback>
                <p:oleObj name="Equation" r:id="rId13" imgW="1828800" imgH="4824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4032250"/>
                        <a:ext cx="4271963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248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50" t="6690" b="34618"/>
          <a:stretch/>
        </p:blipFill>
        <p:spPr bwMode="auto">
          <a:xfrm>
            <a:off x="6084167" y="2281259"/>
            <a:ext cx="2953333" cy="2209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65378" y="396984"/>
            <a:ext cx="8856984" cy="3711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</a:t>
            </a:r>
            <a:r>
              <a:rPr kumimoji="1" lang="en-US" altLang="zh-CN" sz="2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12.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如图所示，将两个完全相同的平行板电容器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串联后与电源一直相连，若将一均匀且各向同性的电介质板插满电容器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后，则  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      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]</a:t>
            </a:r>
          </a:p>
          <a:p>
            <a:pPr marL="514350" indent="-514350">
              <a:lnSpc>
                <a:spcPct val="120000"/>
              </a:lnSpc>
              <a:buAutoNum type="alphaUcParenBoth"/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电容器组储存的总能量增大</a:t>
            </a:r>
            <a:endParaRPr kumimoji="1"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buAutoNum type="alphaUcParenBoth"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上的电荷大于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上的电荷</a:t>
            </a:r>
            <a:endParaRPr kumimoji="1"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buFontTx/>
              <a:buAutoNum type="alphaUcParenBoth"/>
            </a:pP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的电压高于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电压</a:t>
            </a:r>
            <a:endParaRPr kumimoji="1"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20000"/>
              </a:lnSpc>
              <a:buFontTx/>
              <a:buAutoNum type="alphaUcParenBoth"/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电容器组总电容减小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08104" y="1484784"/>
            <a:ext cx="720080" cy="4679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27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74" t="3563" r="15111" b="36166"/>
          <a:stretch/>
        </p:blipFill>
        <p:spPr bwMode="auto">
          <a:xfrm>
            <a:off x="6084168" y="2348880"/>
            <a:ext cx="2395959" cy="2384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95536" y="188640"/>
            <a:ext cx="856895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如图，带电导体球壳的内外半径分别为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，所带净电荷量为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。现在球壳内部距球心为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处放一电荷量为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的点电荷。若选无穷远处为电势零点，求：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球心处电势；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距离球心（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+R</a:t>
            </a:r>
            <a:r>
              <a:rPr kumimoji="1"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）处的电场强度大小和方向。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073562"/>
              </p:ext>
            </p:extLst>
          </p:nvPr>
        </p:nvGraphicFramePr>
        <p:xfrm>
          <a:off x="244761" y="3004280"/>
          <a:ext cx="5539804" cy="1052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18" name="Equation" r:id="rId4" imgW="1904760" imgH="431640" progId="Equation.DSMT4">
                  <p:embed/>
                </p:oleObj>
              </mc:Choice>
              <mc:Fallback>
                <p:oleObj name="Equation" r:id="rId4" imgW="1904760" imgH="4316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61" y="3004280"/>
                        <a:ext cx="5539804" cy="1052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775221"/>
              </p:ext>
            </p:extLst>
          </p:nvPr>
        </p:nvGraphicFramePr>
        <p:xfrm>
          <a:off x="394532" y="4365104"/>
          <a:ext cx="5483225" cy="1774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19" name="Equation" r:id="rId6" imgW="1714320" imgH="660240" progId="Equation.DSMT4">
                  <p:embed/>
                </p:oleObj>
              </mc:Choice>
              <mc:Fallback>
                <p:oleObj name="Equation" r:id="rId6" imgW="1714320" imgH="6602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532" y="4365104"/>
                        <a:ext cx="5483225" cy="17741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937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371" y="1788841"/>
            <a:ext cx="214312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07503" y="116632"/>
            <a:ext cx="8839869" cy="2677656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14.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图为由两个同心金属薄球壳组成的球形电容器，在外球壳的半径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b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以及内、外球壳间的电势差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U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维持恒定的条件下，为了让内球壳外表面附近的场强最小，则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  <a:sym typeface="Wingdings" panose="05000000000000000000" pitchFamily="2" charset="2"/>
              </a:rPr>
              <a:t>：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  <a:sym typeface="Wingdings" panose="05000000000000000000" pitchFamily="2" charset="2"/>
              </a:rPr>
              <a:t>(1)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  <a:sym typeface="Wingdings" panose="05000000000000000000" pitchFamily="2" charset="2"/>
              </a:rPr>
              <a:t>内球壳的半径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Century Schoolbook" pitchFamily="18" charset="0"/>
                <a:sym typeface="Wingdings" panose="05000000000000000000" pitchFamily="2" charset="2"/>
              </a:rPr>
              <a:t>a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  <a:sym typeface="Wingdings" panose="05000000000000000000" pitchFamily="2" charset="2"/>
              </a:rPr>
              <a:t>应为多大？</a:t>
            </a:r>
            <a:endParaRPr kumimoji="1" lang="en-US" altLang="zh-CN" sz="2800" b="1" dirty="0" smtClean="0">
              <a:solidFill>
                <a:srgbClr val="000000"/>
              </a:solidFill>
              <a:latin typeface="Century Schoolbook" pitchFamily="18" charset="0"/>
              <a:sym typeface="Wingdings" panose="05000000000000000000" pitchFamily="2" charset="2"/>
            </a:endParaRPr>
          </a:p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  <a:sym typeface="Wingdings" panose="05000000000000000000" pitchFamily="2" charset="2"/>
              </a:rPr>
              <a:t>(2)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  <a:sym typeface="Wingdings" panose="05000000000000000000" pitchFamily="2" charset="2"/>
              </a:rPr>
              <a:t>求这个最小电场强度的大小。</a:t>
            </a:r>
            <a:endParaRPr kumimoji="1" lang="zh-CN" altLang="en-US" sz="2800" b="1" dirty="0">
              <a:solidFill>
                <a:srgbClr val="000000"/>
              </a:solidFill>
              <a:latin typeface="Century Schoolbook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179767"/>
              </p:ext>
            </p:extLst>
          </p:nvPr>
        </p:nvGraphicFramePr>
        <p:xfrm>
          <a:off x="178518" y="2817541"/>
          <a:ext cx="7489826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70" name="Equation" r:id="rId4" imgW="2831760" imgH="660240" progId="Equation.DSMT4">
                  <p:embed/>
                </p:oleObj>
              </mc:Choice>
              <mc:Fallback>
                <p:oleObj name="Equation" r:id="rId4" imgW="2831760" imgH="6602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18" y="2817541"/>
                        <a:ext cx="7489826" cy="146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833077"/>
              </p:ext>
            </p:extLst>
          </p:nvPr>
        </p:nvGraphicFramePr>
        <p:xfrm>
          <a:off x="239370" y="4437112"/>
          <a:ext cx="6132830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71" name="Equation" r:id="rId6" imgW="2108160" imgH="393480" progId="Equation.DSMT4">
                  <p:embed/>
                </p:oleObj>
              </mc:Choice>
              <mc:Fallback>
                <p:oleObj name="Equation" r:id="rId6" imgW="2108160" imgH="3934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70" y="4437112"/>
                        <a:ext cx="6132830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979382"/>
              </p:ext>
            </p:extLst>
          </p:nvPr>
        </p:nvGraphicFramePr>
        <p:xfrm>
          <a:off x="220241" y="5517232"/>
          <a:ext cx="2695575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72" name="Equation" r:id="rId8" imgW="927000" imgH="393480" progId="Equation.DSMT4">
                  <p:embed/>
                </p:oleObj>
              </mc:Choice>
              <mc:Fallback>
                <p:oleObj name="Equation" r:id="rId8" imgW="927000" imgH="39348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241" y="5517232"/>
                        <a:ext cx="2695575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865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3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11" t="5276" r="3157" b="10962"/>
          <a:stretch/>
        </p:blipFill>
        <p:spPr bwMode="auto">
          <a:xfrm>
            <a:off x="7251124" y="3294661"/>
            <a:ext cx="1696248" cy="2898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07503" y="116632"/>
            <a:ext cx="8839869" cy="3194721"/>
          </a:xfrm>
          <a:prstGeom prst="rect">
            <a:avLst/>
          </a:prstGeom>
          <a:noFill/>
          <a:ln w="19050">
            <a:noFill/>
            <a:miter lim="800000"/>
            <a:headEnd/>
            <a:tailEnd type="none" w="med" len="lg"/>
          </a:ln>
        </p:spPr>
        <p:txBody>
          <a:bodyPr wrap="square"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15.</a:t>
            </a:r>
            <a:r>
              <a:rPr kumimoji="1" lang="zh-CN" altLang="en-US" sz="2800" b="1" dirty="0">
                <a:solidFill>
                  <a:srgbClr val="000000"/>
                </a:solidFill>
                <a:latin typeface="Century Schoolbook" pitchFamily="18" charset="0"/>
              </a:rPr>
              <a:t>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如图，圆柱形电容器是由长圆柱形导体和同轴导体圆筒构成，两者之间填充满相对电容率为         的电介质。已知圆柱形导体的半径为                ，圆筒的半径为              ，如果在圆柱与同轴圆筒之间加上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300V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的电压，试求：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(1)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距轴线为               处的电场强度大小；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Century Schoolbook" pitchFamily="18" charset="0"/>
              </a:rPr>
              <a:t>(2)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Century Schoolbook" pitchFamily="18" charset="0"/>
              </a:rPr>
              <a:t>该电容器单位长度所储存的静电能。</a:t>
            </a:r>
            <a:endParaRPr kumimoji="1" lang="zh-CN" altLang="en-US" sz="2800" b="1" dirty="0">
              <a:solidFill>
                <a:srgbClr val="000000"/>
              </a:solidFill>
              <a:latin typeface="Century Schoolbook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75074"/>
              </p:ext>
            </p:extLst>
          </p:nvPr>
        </p:nvGraphicFramePr>
        <p:xfrm>
          <a:off x="7326495" y="692696"/>
          <a:ext cx="1183958" cy="557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97" name="Equation" r:id="rId4" imgW="406080" imgH="228600" progId="Equation.DSMT4">
                  <p:embed/>
                </p:oleObj>
              </mc:Choice>
              <mc:Fallback>
                <p:oleObj name="Equation" r:id="rId4" imgW="406080" imgH="228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6495" y="692696"/>
                        <a:ext cx="1183958" cy="5570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6866687"/>
              </p:ext>
            </p:extLst>
          </p:nvPr>
        </p:nvGraphicFramePr>
        <p:xfrm>
          <a:off x="5567525" y="1231477"/>
          <a:ext cx="1884795" cy="506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98" name="Equation" r:id="rId6" imgW="711000" imgH="228600" progId="Equation.DSMT4">
                  <p:embed/>
                </p:oleObj>
              </mc:Choice>
              <mc:Fallback>
                <p:oleObj name="Equation" r:id="rId6" imgW="711000" imgH="228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7525" y="1231477"/>
                        <a:ext cx="1884795" cy="5065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081537"/>
              </p:ext>
            </p:extLst>
          </p:nvPr>
        </p:nvGraphicFramePr>
        <p:xfrm>
          <a:off x="1316038" y="1719263"/>
          <a:ext cx="19177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99" name="Equation" r:id="rId8" imgW="723600" imgH="228600" progId="Equation.DSMT4">
                  <p:embed/>
                </p:oleObj>
              </mc:Choice>
              <mc:Fallback>
                <p:oleObj name="Equation" r:id="rId8" imgW="723600" imgH="228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038" y="1719263"/>
                        <a:ext cx="191770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573109"/>
              </p:ext>
            </p:extLst>
          </p:nvPr>
        </p:nvGraphicFramePr>
        <p:xfrm>
          <a:off x="5481538" y="2265297"/>
          <a:ext cx="16827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0" name="Equation" r:id="rId10" imgW="634680" imgH="177480" progId="Equation.DSMT4">
                  <p:embed/>
                </p:oleObj>
              </mc:Choice>
              <mc:Fallback>
                <p:oleObj name="Equation" r:id="rId10" imgW="634680" imgH="17748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1538" y="2265297"/>
                        <a:ext cx="16827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815429"/>
              </p:ext>
            </p:extLst>
          </p:nvPr>
        </p:nvGraphicFramePr>
        <p:xfrm>
          <a:off x="65682" y="4607396"/>
          <a:ext cx="7386638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1" name="Equation" r:id="rId12" imgW="2539800" imgH="609480" progId="Equation.DSMT4">
                  <p:embed/>
                </p:oleObj>
              </mc:Choice>
              <mc:Fallback>
                <p:oleObj name="Equation" r:id="rId12" imgW="2539800" imgH="6094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82" y="4607396"/>
                        <a:ext cx="7386638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880651"/>
              </p:ext>
            </p:extLst>
          </p:nvPr>
        </p:nvGraphicFramePr>
        <p:xfrm>
          <a:off x="179512" y="3384600"/>
          <a:ext cx="4875212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02" name="Equation" r:id="rId14" imgW="1676160" imgH="431640" progId="Equation.DSMT4">
                  <p:embed/>
                </p:oleObj>
              </mc:Choice>
              <mc:Fallback>
                <p:oleObj name="Equation" r:id="rId14" imgW="1676160" imgH="43164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3384600"/>
                        <a:ext cx="4875212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937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621637"/>
              </p:ext>
            </p:extLst>
          </p:nvPr>
        </p:nvGraphicFramePr>
        <p:xfrm>
          <a:off x="539552" y="764704"/>
          <a:ext cx="7237412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57" name="Equation" r:id="rId3" imgW="2489040" imgH="863280" progId="Equation.DSMT4">
                  <p:embed/>
                </p:oleObj>
              </mc:Choice>
              <mc:Fallback>
                <p:oleObj name="Equation" r:id="rId3" imgW="2489040" imgH="8632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764704"/>
                        <a:ext cx="7237412" cy="210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762059"/>
              </p:ext>
            </p:extLst>
          </p:nvPr>
        </p:nvGraphicFramePr>
        <p:xfrm>
          <a:off x="395536" y="3013171"/>
          <a:ext cx="8567737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58" name="Equation" r:id="rId5" imgW="2946240" imgH="711000" progId="Equation.DSMT4">
                  <p:embed/>
                </p:oleObj>
              </mc:Choice>
              <mc:Fallback>
                <p:oleObj name="Equation" r:id="rId5" imgW="2946240" imgH="7110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3013171"/>
                        <a:ext cx="8567737" cy="173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937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95536" y="188640"/>
            <a:ext cx="8568952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练习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16.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个电容均为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的电容器，带电量分别为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2Q</a:t>
            </a: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，在两个电容器并联前后总能量的变化？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190" y="1265601"/>
            <a:ext cx="4153314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633753"/>
            <a:ext cx="3576250" cy="1846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423366"/>
              </p:ext>
            </p:extLst>
          </p:nvPr>
        </p:nvGraphicFramePr>
        <p:xfrm>
          <a:off x="637558" y="1579964"/>
          <a:ext cx="3849434" cy="1041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51" name="Equation" r:id="rId5" imgW="1549080" imgH="419040" progId="Equation.DSMT4">
                  <p:embed/>
                </p:oleObj>
              </mc:Choice>
              <mc:Fallback>
                <p:oleObj name="Equation" r:id="rId5" imgW="1549080" imgH="41904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558" y="1579964"/>
                        <a:ext cx="3849434" cy="1041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396466"/>
              </p:ext>
            </p:extLst>
          </p:nvPr>
        </p:nvGraphicFramePr>
        <p:xfrm>
          <a:off x="611560" y="2852738"/>
          <a:ext cx="302895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52" name="Equation" r:id="rId7" imgW="1218960" imgH="419040" progId="Equation.DSMT4">
                  <p:embed/>
                </p:oleObj>
              </mc:Choice>
              <mc:Fallback>
                <p:oleObj name="Equation" r:id="rId7" imgW="1218960" imgH="41904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852738"/>
                        <a:ext cx="302895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27978"/>
              </p:ext>
            </p:extLst>
          </p:nvPr>
        </p:nvGraphicFramePr>
        <p:xfrm>
          <a:off x="755576" y="4149080"/>
          <a:ext cx="1639887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53" name="Equation" r:id="rId9" imgW="660240" imgH="419040" progId="Equation.DSMT4">
                  <p:embed/>
                </p:oleObj>
              </mc:Choice>
              <mc:Fallback>
                <p:oleObj name="Equation" r:id="rId9" imgW="660240" imgH="41904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4149080"/>
                        <a:ext cx="1639887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2593391" y="4365104"/>
            <a:ext cx="1906601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lg"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能量减少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33303"/>
              </p:ext>
            </p:extLst>
          </p:nvPr>
        </p:nvGraphicFramePr>
        <p:xfrm>
          <a:off x="827584" y="5373216"/>
          <a:ext cx="23653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54" name="Equation" r:id="rId11" imgW="952200" imgH="228600" progId="Equation.DSMT4">
                  <p:embed/>
                </p:oleObj>
              </mc:Choice>
              <mc:Fallback>
                <p:oleObj name="Equation" r:id="rId11" imgW="952200" imgH="2286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5373216"/>
                        <a:ext cx="23653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1444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DESIGN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0000"/>
      </a:accent1>
      <a:accent2>
        <a:srgbClr val="000000"/>
      </a:accent2>
      <a:accent3>
        <a:srgbClr val="FFFFFF"/>
      </a:accent3>
      <a:accent4>
        <a:srgbClr val="000000"/>
      </a:accent4>
      <a:accent5>
        <a:srgbClr val="AAAAAA"/>
      </a:accent5>
      <a:accent6>
        <a:srgbClr val="000000"/>
      </a:accent6>
      <a:hlink>
        <a:srgbClr val="000000"/>
      </a:hlink>
      <a:folHlink>
        <a:srgbClr val="B2B2B2"/>
      </a:folHlink>
    </a:clrScheme>
    <a:fontScheme name="CDESIGNA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CDESIGN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DESIGN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ESIGN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ESIGN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ESIGN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ESIGN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ESIGN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1460</Words>
  <Application>Microsoft Office PowerPoint</Application>
  <PresentationFormat>全屏显示(4:3)</PresentationFormat>
  <Paragraphs>115</Paragraphs>
  <Slides>23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Office 主题</vt:lpstr>
      <vt:lpstr>CDESIGNA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演示文稿</dc:title>
  <cp:revision>1022</cp:revision>
</cp:coreProperties>
</file>