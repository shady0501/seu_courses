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2" r:id="rId2"/>
    <p:sldMasterId id="2147483674" r:id="rId3"/>
    <p:sldMasterId id="2147483686" r:id="rId4"/>
    <p:sldMasterId id="2147483698" r:id="rId5"/>
    <p:sldMasterId id="2147483805" r:id="rId6"/>
  </p:sldMasterIdLst>
  <p:sldIdLst>
    <p:sldId id="338" r:id="rId7"/>
    <p:sldId id="287" r:id="rId8"/>
    <p:sldId id="256" r:id="rId9"/>
    <p:sldId id="257" r:id="rId10"/>
    <p:sldId id="365" r:id="rId11"/>
    <p:sldId id="276" r:id="rId12"/>
    <p:sldId id="366" r:id="rId13"/>
    <p:sldId id="368" r:id="rId14"/>
    <p:sldId id="369" r:id="rId15"/>
    <p:sldId id="284" r:id="rId16"/>
    <p:sldId id="370" r:id="rId17"/>
    <p:sldId id="258" r:id="rId18"/>
    <p:sldId id="371" r:id="rId19"/>
    <p:sldId id="372" r:id="rId20"/>
    <p:sldId id="259" r:id="rId21"/>
    <p:sldId id="367" r:id="rId22"/>
    <p:sldId id="323" r:id="rId23"/>
    <p:sldId id="324" r:id="rId24"/>
    <p:sldId id="260" r:id="rId25"/>
    <p:sldId id="290" r:id="rId26"/>
    <p:sldId id="291" r:id="rId27"/>
    <p:sldId id="292" r:id="rId28"/>
    <p:sldId id="264" r:id="rId29"/>
    <p:sldId id="265" r:id="rId30"/>
    <p:sldId id="266" r:id="rId31"/>
    <p:sldId id="286" r:id="rId32"/>
    <p:sldId id="267" r:id="rId33"/>
    <p:sldId id="270" r:id="rId34"/>
    <p:sldId id="282" r:id="rId35"/>
    <p:sldId id="325" r:id="rId36"/>
    <p:sldId id="326" r:id="rId37"/>
    <p:sldId id="327" r:id="rId38"/>
    <p:sldId id="328" r:id="rId39"/>
    <p:sldId id="329" r:id="rId40"/>
    <p:sldId id="333" r:id="rId41"/>
    <p:sldId id="334" r:id="rId42"/>
    <p:sldId id="335" r:id="rId43"/>
    <p:sldId id="336" r:id="rId44"/>
    <p:sldId id="296" r:id="rId45"/>
    <p:sldId id="297" r:id="rId46"/>
    <p:sldId id="298" r:id="rId47"/>
    <p:sldId id="373" r:id="rId48"/>
    <p:sldId id="374" r:id="rId49"/>
    <p:sldId id="375" r:id="rId50"/>
    <p:sldId id="299" r:id="rId51"/>
    <p:sldId id="302" r:id="rId52"/>
    <p:sldId id="303" r:id="rId53"/>
    <p:sldId id="305" r:id="rId54"/>
    <p:sldId id="304" r:id="rId55"/>
    <p:sldId id="330" r:id="rId56"/>
    <p:sldId id="331" r:id="rId57"/>
    <p:sldId id="332" r:id="rId58"/>
    <p:sldId id="376" r:id="rId59"/>
    <p:sldId id="377" r:id="rId60"/>
    <p:sldId id="337" r:id="rId61"/>
    <p:sldId id="378" r:id="rId62"/>
    <p:sldId id="379" r:id="rId63"/>
    <p:sldId id="380" r:id="rId64"/>
  </p:sldIdLst>
  <p:sldSz cx="9144000" cy="6858000" type="screen4x3"/>
  <p:notesSz cx="6858000" cy="9144000"/>
  <p:defaultTextStyle>
    <a:defPPr>
      <a:defRPr lang="zh-CN"/>
    </a:defPPr>
    <a:lvl1pPr algn="l" rtl="0" fontAlgn="base">
      <a:spcBef>
        <a:spcPct val="0"/>
      </a:spcBef>
      <a:spcAft>
        <a:spcPct val="0"/>
      </a:spcAft>
      <a:defRPr kumimoji="1" sz="3600" kern="1200">
        <a:solidFill>
          <a:schemeClr val="bg1"/>
        </a:solidFill>
        <a:latin typeface="Times New Roman" pitchFamily="18" charset="0"/>
        <a:ea typeface="宋体" pitchFamily="2" charset="-122"/>
        <a:cs typeface="+mn-cs"/>
      </a:defRPr>
    </a:lvl1pPr>
    <a:lvl2pPr marL="457200" algn="l" rtl="0" fontAlgn="base">
      <a:spcBef>
        <a:spcPct val="0"/>
      </a:spcBef>
      <a:spcAft>
        <a:spcPct val="0"/>
      </a:spcAft>
      <a:defRPr kumimoji="1" sz="3600" kern="1200">
        <a:solidFill>
          <a:schemeClr val="bg1"/>
        </a:solidFill>
        <a:latin typeface="Times New Roman" pitchFamily="18" charset="0"/>
        <a:ea typeface="宋体" pitchFamily="2" charset="-122"/>
        <a:cs typeface="+mn-cs"/>
      </a:defRPr>
    </a:lvl2pPr>
    <a:lvl3pPr marL="914400" algn="l" rtl="0" fontAlgn="base">
      <a:spcBef>
        <a:spcPct val="0"/>
      </a:spcBef>
      <a:spcAft>
        <a:spcPct val="0"/>
      </a:spcAft>
      <a:defRPr kumimoji="1" sz="3600" kern="1200">
        <a:solidFill>
          <a:schemeClr val="bg1"/>
        </a:solidFill>
        <a:latin typeface="Times New Roman" pitchFamily="18" charset="0"/>
        <a:ea typeface="宋体" pitchFamily="2" charset="-122"/>
        <a:cs typeface="+mn-cs"/>
      </a:defRPr>
    </a:lvl3pPr>
    <a:lvl4pPr marL="1371600" algn="l" rtl="0" fontAlgn="base">
      <a:spcBef>
        <a:spcPct val="0"/>
      </a:spcBef>
      <a:spcAft>
        <a:spcPct val="0"/>
      </a:spcAft>
      <a:defRPr kumimoji="1" sz="3600" kern="1200">
        <a:solidFill>
          <a:schemeClr val="bg1"/>
        </a:solidFill>
        <a:latin typeface="Times New Roman" pitchFamily="18" charset="0"/>
        <a:ea typeface="宋体" pitchFamily="2" charset="-122"/>
        <a:cs typeface="+mn-cs"/>
      </a:defRPr>
    </a:lvl4pPr>
    <a:lvl5pPr marL="1828800" algn="l" rtl="0" fontAlgn="base">
      <a:spcBef>
        <a:spcPct val="0"/>
      </a:spcBef>
      <a:spcAft>
        <a:spcPct val="0"/>
      </a:spcAft>
      <a:defRPr kumimoji="1" sz="3600" kern="1200">
        <a:solidFill>
          <a:schemeClr val="bg1"/>
        </a:solidFill>
        <a:latin typeface="Times New Roman" pitchFamily="18" charset="0"/>
        <a:ea typeface="宋体" pitchFamily="2" charset="-122"/>
        <a:cs typeface="+mn-cs"/>
      </a:defRPr>
    </a:lvl5pPr>
    <a:lvl6pPr marL="2286000" algn="l" defTabSz="914400" rtl="0" eaLnBrk="1" latinLnBrk="0" hangingPunct="1">
      <a:defRPr kumimoji="1" sz="3600" kern="1200">
        <a:solidFill>
          <a:schemeClr val="bg1"/>
        </a:solidFill>
        <a:latin typeface="Times New Roman" pitchFamily="18" charset="0"/>
        <a:ea typeface="宋体" pitchFamily="2" charset="-122"/>
        <a:cs typeface="+mn-cs"/>
      </a:defRPr>
    </a:lvl6pPr>
    <a:lvl7pPr marL="2743200" algn="l" defTabSz="914400" rtl="0" eaLnBrk="1" latinLnBrk="0" hangingPunct="1">
      <a:defRPr kumimoji="1" sz="3600" kern="1200">
        <a:solidFill>
          <a:schemeClr val="bg1"/>
        </a:solidFill>
        <a:latin typeface="Times New Roman" pitchFamily="18" charset="0"/>
        <a:ea typeface="宋体" pitchFamily="2" charset="-122"/>
        <a:cs typeface="+mn-cs"/>
      </a:defRPr>
    </a:lvl7pPr>
    <a:lvl8pPr marL="3200400" algn="l" defTabSz="914400" rtl="0" eaLnBrk="1" latinLnBrk="0" hangingPunct="1">
      <a:defRPr kumimoji="1" sz="3600" kern="1200">
        <a:solidFill>
          <a:schemeClr val="bg1"/>
        </a:solidFill>
        <a:latin typeface="Times New Roman" pitchFamily="18" charset="0"/>
        <a:ea typeface="宋体" pitchFamily="2" charset="-122"/>
        <a:cs typeface="+mn-cs"/>
      </a:defRPr>
    </a:lvl8pPr>
    <a:lvl9pPr marL="3657600" algn="l" defTabSz="914400" rtl="0" eaLnBrk="1" latinLnBrk="0" hangingPunct="1">
      <a:defRPr kumimoji="1" sz="3600" kern="1200">
        <a:solidFill>
          <a:schemeClr val="bg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a:srgbClr val="FFCCCC"/>
    <a:srgbClr val="FF66CC"/>
    <a:srgbClr val="66FF6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246" autoAdjust="0"/>
    <p:restoredTop sz="93734" autoAdjust="0"/>
  </p:normalViewPr>
  <p:slideViewPr>
    <p:cSldViewPr>
      <p:cViewPr>
        <p:scale>
          <a:sx n="68" d="100"/>
          <a:sy n="68" d="100"/>
        </p:scale>
        <p:origin x="-948" y="-64"/>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slide" Target="slides/slide57.xml"/><Relationship Id="rId68"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3.emf"/><Relationship Id="rId7" Type="http://schemas.openxmlformats.org/officeDocument/2006/relationships/image" Target="../media/image7.emf"/><Relationship Id="rId2" Type="http://schemas.openxmlformats.org/officeDocument/2006/relationships/image" Target="../media/image2.emf"/><Relationship Id="rId1" Type="http://schemas.openxmlformats.org/officeDocument/2006/relationships/image" Target="../media/image1.emf"/><Relationship Id="rId6" Type="http://schemas.openxmlformats.org/officeDocument/2006/relationships/image" Target="../media/image6.emf"/><Relationship Id="rId5" Type="http://schemas.openxmlformats.org/officeDocument/2006/relationships/image" Target="../media/image5.emf"/><Relationship Id="rId10" Type="http://schemas.openxmlformats.org/officeDocument/2006/relationships/image" Target="../media/image10.emf"/><Relationship Id="rId4" Type="http://schemas.openxmlformats.org/officeDocument/2006/relationships/image" Target="../media/image4.emf"/><Relationship Id="rId9"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 Id="rId4" Type="http://schemas.openxmlformats.org/officeDocument/2006/relationships/image" Target="../media/image14.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6.emf"/><Relationship Id="rId13" Type="http://schemas.openxmlformats.org/officeDocument/2006/relationships/image" Target="../media/image31.emf"/><Relationship Id="rId3" Type="http://schemas.openxmlformats.org/officeDocument/2006/relationships/image" Target="../media/image21.emf"/><Relationship Id="rId7" Type="http://schemas.openxmlformats.org/officeDocument/2006/relationships/image" Target="../media/image25.emf"/><Relationship Id="rId12" Type="http://schemas.openxmlformats.org/officeDocument/2006/relationships/image" Target="../media/image30.emf"/><Relationship Id="rId2" Type="http://schemas.openxmlformats.org/officeDocument/2006/relationships/image" Target="../media/image20.emf"/><Relationship Id="rId1" Type="http://schemas.openxmlformats.org/officeDocument/2006/relationships/image" Target="../media/image19.emf"/><Relationship Id="rId6" Type="http://schemas.openxmlformats.org/officeDocument/2006/relationships/image" Target="../media/image24.emf"/><Relationship Id="rId11" Type="http://schemas.openxmlformats.org/officeDocument/2006/relationships/image" Target="../media/image29.emf"/><Relationship Id="rId5" Type="http://schemas.openxmlformats.org/officeDocument/2006/relationships/image" Target="../media/image23.emf"/><Relationship Id="rId15" Type="http://schemas.openxmlformats.org/officeDocument/2006/relationships/image" Target="../media/image33.emf"/><Relationship Id="rId10" Type="http://schemas.openxmlformats.org/officeDocument/2006/relationships/image" Target="../media/image28.emf"/><Relationship Id="rId4" Type="http://schemas.openxmlformats.org/officeDocument/2006/relationships/image" Target="../media/image22.emf"/><Relationship Id="rId9" Type="http://schemas.openxmlformats.org/officeDocument/2006/relationships/image" Target="../media/image27.emf"/><Relationship Id="rId14" Type="http://schemas.openxmlformats.org/officeDocument/2006/relationships/image" Target="../media/image32.e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image" Target="../media/image47.emf"/><Relationship Id="rId3" Type="http://schemas.openxmlformats.org/officeDocument/2006/relationships/image" Target="../media/image37.emf"/><Relationship Id="rId7" Type="http://schemas.openxmlformats.org/officeDocument/2006/relationships/image" Target="../media/image41.emf"/><Relationship Id="rId12" Type="http://schemas.openxmlformats.org/officeDocument/2006/relationships/image" Target="../media/image46.emf"/><Relationship Id="rId2" Type="http://schemas.openxmlformats.org/officeDocument/2006/relationships/image" Target="../media/image36.emf"/><Relationship Id="rId1" Type="http://schemas.openxmlformats.org/officeDocument/2006/relationships/image" Target="../media/image35.emf"/><Relationship Id="rId6" Type="http://schemas.openxmlformats.org/officeDocument/2006/relationships/image" Target="../media/image40.emf"/><Relationship Id="rId11" Type="http://schemas.openxmlformats.org/officeDocument/2006/relationships/image" Target="../media/image45.wmf"/><Relationship Id="rId5" Type="http://schemas.openxmlformats.org/officeDocument/2006/relationships/image" Target="../media/image39.emf"/><Relationship Id="rId10" Type="http://schemas.openxmlformats.org/officeDocument/2006/relationships/image" Target="../media/image44.emf"/><Relationship Id="rId4" Type="http://schemas.openxmlformats.org/officeDocument/2006/relationships/image" Target="../media/image38.emf"/><Relationship Id="rId9" Type="http://schemas.openxmlformats.org/officeDocument/2006/relationships/image" Target="../media/image43.emf"/><Relationship Id="rId14" Type="http://schemas.openxmlformats.org/officeDocument/2006/relationships/image" Target="../media/image48.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image" Target="../media/image52.emf"/><Relationship Id="rId7" Type="http://schemas.openxmlformats.org/officeDocument/2006/relationships/image" Target="../media/image43.emf"/><Relationship Id="rId2" Type="http://schemas.openxmlformats.org/officeDocument/2006/relationships/image" Target="../media/image51.emf"/><Relationship Id="rId1" Type="http://schemas.openxmlformats.org/officeDocument/2006/relationships/image" Target="../media/image50.emf"/><Relationship Id="rId6" Type="http://schemas.openxmlformats.org/officeDocument/2006/relationships/image" Target="../media/image55.emf"/><Relationship Id="rId5" Type="http://schemas.openxmlformats.org/officeDocument/2006/relationships/image" Target="../media/image54.emf"/><Relationship Id="rId4" Type="http://schemas.openxmlformats.org/officeDocument/2006/relationships/image" Target="../media/image5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68.emf"/><Relationship Id="rId3" Type="http://schemas.openxmlformats.org/officeDocument/2006/relationships/image" Target="../media/image63.emf"/><Relationship Id="rId7" Type="http://schemas.openxmlformats.org/officeDocument/2006/relationships/image" Target="../media/image67.emf"/><Relationship Id="rId2" Type="http://schemas.openxmlformats.org/officeDocument/2006/relationships/image" Target="../media/image62.emf"/><Relationship Id="rId1" Type="http://schemas.openxmlformats.org/officeDocument/2006/relationships/image" Target="../media/image61.emf"/><Relationship Id="rId6" Type="http://schemas.openxmlformats.org/officeDocument/2006/relationships/image" Target="../media/image66.emf"/><Relationship Id="rId5" Type="http://schemas.openxmlformats.org/officeDocument/2006/relationships/image" Target="../media/image65.emf"/><Relationship Id="rId10" Type="http://schemas.openxmlformats.org/officeDocument/2006/relationships/image" Target="../media/image70.emf"/><Relationship Id="rId4" Type="http://schemas.openxmlformats.org/officeDocument/2006/relationships/image" Target="../media/image64.emf"/><Relationship Id="rId9" Type="http://schemas.openxmlformats.org/officeDocument/2006/relationships/image" Target="../media/image69.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78.emf"/><Relationship Id="rId3" Type="http://schemas.openxmlformats.org/officeDocument/2006/relationships/image" Target="../media/image73.emf"/><Relationship Id="rId7" Type="http://schemas.openxmlformats.org/officeDocument/2006/relationships/image" Target="../media/image77.emf"/><Relationship Id="rId2" Type="http://schemas.openxmlformats.org/officeDocument/2006/relationships/image" Target="../media/image72.emf"/><Relationship Id="rId1" Type="http://schemas.openxmlformats.org/officeDocument/2006/relationships/image" Target="../media/image71.emf"/><Relationship Id="rId6" Type="http://schemas.openxmlformats.org/officeDocument/2006/relationships/image" Target="../media/image76.emf"/><Relationship Id="rId5" Type="http://schemas.openxmlformats.org/officeDocument/2006/relationships/image" Target="../media/image75.emf"/><Relationship Id="rId10" Type="http://schemas.openxmlformats.org/officeDocument/2006/relationships/image" Target="../media/image80.emf"/><Relationship Id="rId4" Type="http://schemas.openxmlformats.org/officeDocument/2006/relationships/image" Target="../media/image74.emf"/><Relationship Id="rId9" Type="http://schemas.openxmlformats.org/officeDocument/2006/relationships/image" Target="../media/image79.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89.emf"/><Relationship Id="rId13" Type="http://schemas.openxmlformats.org/officeDocument/2006/relationships/image" Target="../media/image94.emf"/><Relationship Id="rId3" Type="http://schemas.openxmlformats.org/officeDocument/2006/relationships/image" Target="../media/image84.emf"/><Relationship Id="rId7" Type="http://schemas.openxmlformats.org/officeDocument/2006/relationships/image" Target="../media/image88.emf"/><Relationship Id="rId12" Type="http://schemas.openxmlformats.org/officeDocument/2006/relationships/image" Target="../media/image93.emf"/><Relationship Id="rId2" Type="http://schemas.openxmlformats.org/officeDocument/2006/relationships/image" Target="../media/image83.emf"/><Relationship Id="rId1" Type="http://schemas.openxmlformats.org/officeDocument/2006/relationships/image" Target="../media/image82.emf"/><Relationship Id="rId6" Type="http://schemas.openxmlformats.org/officeDocument/2006/relationships/image" Target="../media/image87.emf"/><Relationship Id="rId11" Type="http://schemas.openxmlformats.org/officeDocument/2006/relationships/image" Target="../media/image92.emf"/><Relationship Id="rId5" Type="http://schemas.openxmlformats.org/officeDocument/2006/relationships/image" Target="../media/image86.emf"/><Relationship Id="rId10" Type="http://schemas.openxmlformats.org/officeDocument/2006/relationships/image" Target="../media/image91.emf"/><Relationship Id="rId4" Type="http://schemas.openxmlformats.org/officeDocument/2006/relationships/image" Target="../media/image85.emf"/><Relationship Id="rId9" Type="http://schemas.openxmlformats.org/officeDocument/2006/relationships/image" Target="../media/image90.emf"/><Relationship Id="rId14" Type="http://schemas.openxmlformats.org/officeDocument/2006/relationships/image" Target="../media/image95.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image" Target="../media/image97.emf"/><Relationship Id="rId1" Type="http://schemas.openxmlformats.org/officeDocument/2006/relationships/image" Target="../media/image96.emf"/><Relationship Id="rId6" Type="http://schemas.openxmlformats.org/officeDocument/2006/relationships/image" Target="../media/image101.emf"/><Relationship Id="rId5" Type="http://schemas.openxmlformats.org/officeDocument/2006/relationships/image" Target="../media/image100.emf"/><Relationship Id="rId4" Type="http://schemas.openxmlformats.org/officeDocument/2006/relationships/image" Target="../media/image99.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image" Target="../media/image103.emf"/><Relationship Id="rId1" Type="http://schemas.openxmlformats.org/officeDocument/2006/relationships/image" Target="../media/image102.emf"/><Relationship Id="rId4" Type="http://schemas.openxmlformats.org/officeDocument/2006/relationships/image" Target="../media/image105.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image" Target="../media/image107.emf"/><Relationship Id="rId1" Type="http://schemas.openxmlformats.org/officeDocument/2006/relationships/image" Target="../media/image106.emf"/><Relationship Id="rId6" Type="http://schemas.openxmlformats.org/officeDocument/2006/relationships/image" Target="../media/image111.emf"/><Relationship Id="rId5" Type="http://schemas.openxmlformats.org/officeDocument/2006/relationships/image" Target="../media/image110.emf"/><Relationship Id="rId4" Type="http://schemas.openxmlformats.org/officeDocument/2006/relationships/image" Target="../media/image109.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14.emf"/><Relationship Id="rId2" Type="http://schemas.openxmlformats.org/officeDocument/2006/relationships/image" Target="../media/image113.emf"/><Relationship Id="rId1" Type="http://schemas.openxmlformats.org/officeDocument/2006/relationships/image" Target="../media/image112.emf"/><Relationship Id="rId6" Type="http://schemas.openxmlformats.org/officeDocument/2006/relationships/image" Target="../media/image117.emf"/><Relationship Id="rId5" Type="http://schemas.openxmlformats.org/officeDocument/2006/relationships/image" Target="../media/image116.emf"/><Relationship Id="rId4" Type="http://schemas.openxmlformats.org/officeDocument/2006/relationships/image" Target="../media/image115.e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25.emf"/><Relationship Id="rId3" Type="http://schemas.openxmlformats.org/officeDocument/2006/relationships/image" Target="../media/image120.emf"/><Relationship Id="rId7" Type="http://schemas.openxmlformats.org/officeDocument/2006/relationships/image" Target="../media/image124.emf"/><Relationship Id="rId2" Type="http://schemas.openxmlformats.org/officeDocument/2006/relationships/image" Target="../media/image119.emf"/><Relationship Id="rId1" Type="http://schemas.openxmlformats.org/officeDocument/2006/relationships/image" Target="../media/image118.emf"/><Relationship Id="rId6" Type="http://schemas.openxmlformats.org/officeDocument/2006/relationships/image" Target="../media/image123.emf"/><Relationship Id="rId11" Type="http://schemas.openxmlformats.org/officeDocument/2006/relationships/image" Target="../media/image128.emf"/><Relationship Id="rId5" Type="http://schemas.openxmlformats.org/officeDocument/2006/relationships/image" Target="../media/image122.emf"/><Relationship Id="rId10" Type="http://schemas.openxmlformats.org/officeDocument/2006/relationships/image" Target="../media/image127.emf"/><Relationship Id="rId4" Type="http://schemas.openxmlformats.org/officeDocument/2006/relationships/image" Target="../media/image121.emf"/><Relationship Id="rId9" Type="http://schemas.openxmlformats.org/officeDocument/2006/relationships/image" Target="../media/image126.e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36.emf"/><Relationship Id="rId3" Type="http://schemas.openxmlformats.org/officeDocument/2006/relationships/image" Target="../media/image131.emf"/><Relationship Id="rId7" Type="http://schemas.openxmlformats.org/officeDocument/2006/relationships/image" Target="../media/image135.emf"/><Relationship Id="rId2" Type="http://schemas.openxmlformats.org/officeDocument/2006/relationships/image" Target="../media/image130.emf"/><Relationship Id="rId1" Type="http://schemas.openxmlformats.org/officeDocument/2006/relationships/image" Target="../media/image129.emf"/><Relationship Id="rId6" Type="http://schemas.openxmlformats.org/officeDocument/2006/relationships/image" Target="../media/image134.emf"/><Relationship Id="rId5" Type="http://schemas.openxmlformats.org/officeDocument/2006/relationships/image" Target="../media/image133.emf"/><Relationship Id="rId10" Type="http://schemas.openxmlformats.org/officeDocument/2006/relationships/image" Target="../media/image138.emf"/><Relationship Id="rId4" Type="http://schemas.openxmlformats.org/officeDocument/2006/relationships/image" Target="../media/image132.emf"/><Relationship Id="rId9" Type="http://schemas.openxmlformats.org/officeDocument/2006/relationships/image" Target="../media/image137.e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46.emf"/><Relationship Id="rId3" Type="http://schemas.openxmlformats.org/officeDocument/2006/relationships/image" Target="../media/image141.emf"/><Relationship Id="rId7" Type="http://schemas.openxmlformats.org/officeDocument/2006/relationships/image" Target="../media/image145.emf"/><Relationship Id="rId2" Type="http://schemas.openxmlformats.org/officeDocument/2006/relationships/image" Target="../media/image140.emf"/><Relationship Id="rId1" Type="http://schemas.openxmlformats.org/officeDocument/2006/relationships/image" Target="../media/image139.emf"/><Relationship Id="rId6" Type="http://schemas.openxmlformats.org/officeDocument/2006/relationships/image" Target="../media/image144.emf"/><Relationship Id="rId5" Type="http://schemas.openxmlformats.org/officeDocument/2006/relationships/image" Target="../media/image143.emf"/><Relationship Id="rId10" Type="http://schemas.openxmlformats.org/officeDocument/2006/relationships/image" Target="../media/image148.emf"/><Relationship Id="rId4" Type="http://schemas.openxmlformats.org/officeDocument/2006/relationships/image" Target="../media/image142.emf"/><Relationship Id="rId9" Type="http://schemas.openxmlformats.org/officeDocument/2006/relationships/image" Target="../media/image147.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51.emf"/><Relationship Id="rId2" Type="http://schemas.openxmlformats.org/officeDocument/2006/relationships/image" Target="../media/image150.emf"/><Relationship Id="rId1" Type="http://schemas.openxmlformats.org/officeDocument/2006/relationships/image" Target="../media/image149.e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59.emf"/><Relationship Id="rId3" Type="http://schemas.openxmlformats.org/officeDocument/2006/relationships/image" Target="../media/image154.emf"/><Relationship Id="rId7" Type="http://schemas.openxmlformats.org/officeDocument/2006/relationships/image" Target="../media/image158.emf"/><Relationship Id="rId2" Type="http://schemas.openxmlformats.org/officeDocument/2006/relationships/image" Target="../media/image153.emf"/><Relationship Id="rId1" Type="http://schemas.openxmlformats.org/officeDocument/2006/relationships/image" Target="../media/image152.emf"/><Relationship Id="rId6" Type="http://schemas.openxmlformats.org/officeDocument/2006/relationships/image" Target="../media/image157.emf"/><Relationship Id="rId5" Type="http://schemas.openxmlformats.org/officeDocument/2006/relationships/image" Target="../media/image156.emf"/><Relationship Id="rId10" Type="http://schemas.openxmlformats.org/officeDocument/2006/relationships/image" Target="../media/image161.emf"/><Relationship Id="rId4" Type="http://schemas.openxmlformats.org/officeDocument/2006/relationships/image" Target="../media/image155.emf"/><Relationship Id="rId9" Type="http://schemas.openxmlformats.org/officeDocument/2006/relationships/image" Target="../media/image160.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64.emf"/><Relationship Id="rId2" Type="http://schemas.openxmlformats.org/officeDocument/2006/relationships/image" Target="../media/image163.emf"/><Relationship Id="rId1" Type="http://schemas.openxmlformats.org/officeDocument/2006/relationships/image" Target="../media/image162.emf"/><Relationship Id="rId6" Type="http://schemas.openxmlformats.org/officeDocument/2006/relationships/image" Target="../media/image167.emf"/><Relationship Id="rId5" Type="http://schemas.openxmlformats.org/officeDocument/2006/relationships/image" Target="../media/image166.emf"/><Relationship Id="rId4" Type="http://schemas.openxmlformats.org/officeDocument/2006/relationships/image" Target="../media/image165.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74.emf"/><Relationship Id="rId2" Type="http://schemas.openxmlformats.org/officeDocument/2006/relationships/image" Target="../media/image173.emf"/><Relationship Id="rId1" Type="http://schemas.openxmlformats.org/officeDocument/2006/relationships/image" Target="../media/image172.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77.emf"/><Relationship Id="rId2" Type="http://schemas.openxmlformats.org/officeDocument/2006/relationships/image" Target="../media/image176.emf"/><Relationship Id="rId1" Type="http://schemas.openxmlformats.org/officeDocument/2006/relationships/image" Target="../media/image175.emf"/><Relationship Id="rId4" Type="http://schemas.openxmlformats.org/officeDocument/2006/relationships/image" Target="../media/image178.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81.emf"/><Relationship Id="rId2" Type="http://schemas.openxmlformats.org/officeDocument/2006/relationships/image" Target="../media/image180.emf"/><Relationship Id="rId1" Type="http://schemas.openxmlformats.org/officeDocument/2006/relationships/image" Target="../media/image179.emf"/><Relationship Id="rId5" Type="http://schemas.openxmlformats.org/officeDocument/2006/relationships/image" Target="../media/image183.emf"/><Relationship Id="rId4" Type="http://schemas.openxmlformats.org/officeDocument/2006/relationships/image" Target="../media/image182.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86.emf"/><Relationship Id="rId7" Type="http://schemas.openxmlformats.org/officeDocument/2006/relationships/image" Target="../media/image190.emf"/><Relationship Id="rId2" Type="http://schemas.openxmlformats.org/officeDocument/2006/relationships/image" Target="../media/image185.emf"/><Relationship Id="rId1" Type="http://schemas.openxmlformats.org/officeDocument/2006/relationships/image" Target="../media/image184.emf"/><Relationship Id="rId6" Type="http://schemas.openxmlformats.org/officeDocument/2006/relationships/image" Target="../media/image189.emf"/><Relationship Id="rId5" Type="http://schemas.openxmlformats.org/officeDocument/2006/relationships/image" Target="../media/image188.emf"/><Relationship Id="rId4" Type="http://schemas.openxmlformats.org/officeDocument/2006/relationships/image" Target="../media/image187.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93.emf"/><Relationship Id="rId7" Type="http://schemas.openxmlformats.org/officeDocument/2006/relationships/image" Target="../media/image197.emf"/><Relationship Id="rId2" Type="http://schemas.openxmlformats.org/officeDocument/2006/relationships/image" Target="../media/image192.emf"/><Relationship Id="rId1" Type="http://schemas.openxmlformats.org/officeDocument/2006/relationships/image" Target="../media/image191.emf"/><Relationship Id="rId6" Type="http://schemas.openxmlformats.org/officeDocument/2006/relationships/image" Target="../media/image196.emf"/><Relationship Id="rId5" Type="http://schemas.openxmlformats.org/officeDocument/2006/relationships/image" Target="../media/image195.emf"/><Relationship Id="rId4" Type="http://schemas.openxmlformats.org/officeDocument/2006/relationships/image" Target="../media/image194.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200.emf"/><Relationship Id="rId7" Type="http://schemas.openxmlformats.org/officeDocument/2006/relationships/image" Target="../media/image204.emf"/><Relationship Id="rId2" Type="http://schemas.openxmlformats.org/officeDocument/2006/relationships/image" Target="../media/image199.emf"/><Relationship Id="rId1" Type="http://schemas.openxmlformats.org/officeDocument/2006/relationships/image" Target="../media/image198.emf"/><Relationship Id="rId6" Type="http://schemas.openxmlformats.org/officeDocument/2006/relationships/image" Target="../media/image203.emf"/><Relationship Id="rId5" Type="http://schemas.openxmlformats.org/officeDocument/2006/relationships/image" Target="../media/image202.emf"/><Relationship Id="rId4" Type="http://schemas.openxmlformats.org/officeDocument/2006/relationships/image" Target="../media/image201.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207.emf"/><Relationship Id="rId2" Type="http://schemas.openxmlformats.org/officeDocument/2006/relationships/image" Target="../media/image206.emf"/><Relationship Id="rId1" Type="http://schemas.openxmlformats.org/officeDocument/2006/relationships/image" Target="../media/image205.emf"/><Relationship Id="rId6" Type="http://schemas.openxmlformats.org/officeDocument/2006/relationships/image" Target="../media/image210.emf"/><Relationship Id="rId5" Type="http://schemas.openxmlformats.org/officeDocument/2006/relationships/image" Target="../media/image209.emf"/><Relationship Id="rId4" Type="http://schemas.openxmlformats.org/officeDocument/2006/relationships/image" Target="../media/image208.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212.wmf"/><Relationship Id="rId1" Type="http://schemas.openxmlformats.org/officeDocument/2006/relationships/image" Target="../media/image211.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216.wmf"/><Relationship Id="rId2" Type="http://schemas.openxmlformats.org/officeDocument/2006/relationships/image" Target="../media/image215.wmf"/><Relationship Id="rId1" Type="http://schemas.openxmlformats.org/officeDocument/2006/relationships/image" Target="../media/image214.wmf"/><Relationship Id="rId4" Type="http://schemas.openxmlformats.org/officeDocument/2006/relationships/image" Target="../media/image217.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216.wmf"/><Relationship Id="rId2" Type="http://schemas.openxmlformats.org/officeDocument/2006/relationships/image" Target="../media/image215.wmf"/><Relationship Id="rId1" Type="http://schemas.openxmlformats.org/officeDocument/2006/relationships/image" Target="../media/image214.wmf"/><Relationship Id="rId5" Type="http://schemas.openxmlformats.org/officeDocument/2006/relationships/image" Target="../media/image220.wmf"/><Relationship Id="rId4" Type="http://schemas.openxmlformats.org/officeDocument/2006/relationships/image" Target="../media/image219.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1E66E91-B996-4008-9759-72C5F76ED68C}" type="slidenum">
              <a:rPr lang="en-US" altLang="zh-CN"/>
              <a:pPr>
                <a:defRPr/>
              </a:pPr>
              <a:t>‹#›</a:t>
            </a:fld>
            <a:endParaRPr lang="en-US" altLang="zh-CN"/>
          </a:p>
        </p:txBody>
      </p:sp>
    </p:spTree>
    <p:extLst>
      <p:ext uri="{BB962C8B-B14F-4D97-AF65-F5344CB8AC3E}">
        <p14:creationId xmlns:p14="http://schemas.microsoft.com/office/powerpoint/2010/main" val="438309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F43A4B8-33BC-4AB8-96AA-5BD0516C8463}" type="slidenum">
              <a:rPr lang="en-US" altLang="zh-CN"/>
              <a:pPr>
                <a:defRPr/>
              </a:pPr>
              <a:t>‹#›</a:t>
            </a:fld>
            <a:endParaRPr lang="en-US" altLang="zh-CN"/>
          </a:p>
        </p:txBody>
      </p:sp>
    </p:spTree>
    <p:extLst>
      <p:ext uri="{BB962C8B-B14F-4D97-AF65-F5344CB8AC3E}">
        <p14:creationId xmlns:p14="http://schemas.microsoft.com/office/powerpoint/2010/main" val="509771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B7CCFE2-D66C-4A90-8088-E7E1FFC055DD}" type="slidenum">
              <a:rPr lang="en-US" altLang="zh-CN"/>
              <a:pPr>
                <a:defRPr/>
              </a:pPr>
              <a:t>‹#›</a:t>
            </a:fld>
            <a:endParaRPr lang="en-US" altLang="zh-CN"/>
          </a:p>
        </p:txBody>
      </p:sp>
    </p:spTree>
    <p:extLst>
      <p:ext uri="{BB962C8B-B14F-4D97-AF65-F5344CB8AC3E}">
        <p14:creationId xmlns:p14="http://schemas.microsoft.com/office/powerpoint/2010/main" val="2380784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BE70B82-C0AF-43E9-8239-E88B1B29A0CB}" type="slidenum">
              <a:rPr lang="en-US" altLang="zh-CN"/>
              <a:pPr>
                <a:defRPr/>
              </a:pPr>
              <a:t>‹#›</a:t>
            </a:fld>
            <a:endParaRPr lang="en-US" altLang="zh-CN"/>
          </a:p>
        </p:txBody>
      </p:sp>
    </p:spTree>
    <p:extLst>
      <p:ext uri="{BB962C8B-B14F-4D97-AF65-F5344CB8AC3E}">
        <p14:creationId xmlns:p14="http://schemas.microsoft.com/office/powerpoint/2010/main" val="1100335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EAF25E5A-B7D4-4266-990B-92303731D62E}" type="slidenum">
              <a:rPr lang="en-US" altLang="zh-CN"/>
              <a:pPr>
                <a:defRPr/>
              </a:pPr>
              <a:t>‹#›</a:t>
            </a:fld>
            <a:endParaRPr lang="en-US" altLang="zh-CN"/>
          </a:p>
        </p:txBody>
      </p:sp>
    </p:spTree>
    <p:extLst>
      <p:ext uri="{BB962C8B-B14F-4D97-AF65-F5344CB8AC3E}">
        <p14:creationId xmlns:p14="http://schemas.microsoft.com/office/powerpoint/2010/main" val="1656015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1C57F71B-4E3D-475E-BE3E-8D091A02A120}" type="slidenum">
              <a:rPr lang="en-US" altLang="zh-CN"/>
              <a:pPr>
                <a:defRPr/>
              </a:pPr>
              <a:t>‹#›</a:t>
            </a:fld>
            <a:endParaRPr lang="en-US" altLang="zh-CN"/>
          </a:p>
        </p:txBody>
      </p:sp>
    </p:spTree>
    <p:extLst>
      <p:ext uri="{BB962C8B-B14F-4D97-AF65-F5344CB8AC3E}">
        <p14:creationId xmlns:p14="http://schemas.microsoft.com/office/powerpoint/2010/main" val="2726813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D3C90E4D-EB70-496A-B481-A4DE6640F508}" type="slidenum">
              <a:rPr lang="en-US" altLang="zh-CN"/>
              <a:pPr>
                <a:defRPr/>
              </a:pPr>
              <a:t>‹#›</a:t>
            </a:fld>
            <a:endParaRPr lang="en-US" altLang="zh-CN"/>
          </a:p>
        </p:txBody>
      </p:sp>
    </p:spTree>
    <p:extLst>
      <p:ext uri="{BB962C8B-B14F-4D97-AF65-F5344CB8AC3E}">
        <p14:creationId xmlns:p14="http://schemas.microsoft.com/office/powerpoint/2010/main" val="3872087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E11B1C9-235B-40A1-8080-A41407DA62F7}" type="slidenum">
              <a:rPr lang="en-US" altLang="zh-CN"/>
              <a:pPr>
                <a:defRPr/>
              </a:pPr>
              <a:t>‹#›</a:t>
            </a:fld>
            <a:endParaRPr lang="en-US" altLang="zh-CN"/>
          </a:p>
        </p:txBody>
      </p:sp>
    </p:spTree>
    <p:extLst>
      <p:ext uri="{BB962C8B-B14F-4D97-AF65-F5344CB8AC3E}">
        <p14:creationId xmlns:p14="http://schemas.microsoft.com/office/powerpoint/2010/main" val="1335885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25AC476-05E9-45E2-8DD7-0BBDC2A47047}" type="slidenum">
              <a:rPr lang="en-US" altLang="zh-CN"/>
              <a:pPr>
                <a:defRPr/>
              </a:pPr>
              <a:t>‹#›</a:t>
            </a:fld>
            <a:endParaRPr lang="en-US" altLang="zh-CN"/>
          </a:p>
        </p:txBody>
      </p:sp>
    </p:spTree>
    <p:extLst>
      <p:ext uri="{BB962C8B-B14F-4D97-AF65-F5344CB8AC3E}">
        <p14:creationId xmlns:p14="http://schemas.microsoft.com/office/powerpoint/2010/main" val="291188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57C67F3-D24E-4310-BD57-8385AF01FB70}" type="slidenum">
              <a:rPr lang="en-US" altLang="zh-CN"/>
              <a:pPr>
                <a:defRPr/>
              </a:pPr>
              <a:t>‹#›</a:t>
            </a:fld>
            <a:endParaRPr lang="en-US" altLang="zh-CN"/>
          </a:p>
        </p:txBody>
      </p:sp>
    </p:spTree>
    <p:extLst>
      <p:ext uri="{BB962C8B-B14F-4D97-AF65-F5344CB8AC3E}">
        <p14:creationId xmlns:p14="http://schemas.microsoft.com/office/powerpoint/2010/main" val="160474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AA6C4E2-312E-4FFC-BE5A-B914CAFFB861}" type="slidenum">
              <a:rPr lang="en-US" altLang="zh-CN"/>
              <a:pPr>
                <a:defRPr/>
              </a:pPr>
              <a:t>‹#›</a:t>
            </a:fld>
            <a:endParaRPr lang="en-US" altLang="zh-CN"/>
          </a:p>
        </p:txBody>
      </p:sp>
    </p:spTree>
    <p:extLst>
      <p:ext uri="{BB962C8B-B14F-4D97-AF65-F5344CB8AC3E}">
        <p14:creationId xmlns:p14="http://schemas.microsoft.com/office/powerpoint/2010/main" val="1032455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28005" name="Rectangle 5"/>
          <p:cNvSpPr>
            <a:spLocks noGrp="1" noChangeArrowheads="1"/>
          </p:cNvSpPr>
          <p:nvPr>
            <p:ph type="ctrTitle" sz="quarter"/>
          </p:nvPr>
        </p:nvSpPr>
        <p:spPr>
          <a:xfrm>
            <a:off x="685800" y="2286000"/>
            <a:ext cx="7772400" cy="1143000"/>
          </a:xfrm>
        </p:spPr>
        <p:txBody>
          <a:bodyPr/>
          <a:lstStyle>
            <a:lvl1pPr>
              <a:defRPr sz="4600"/>
            </a:lvl1pPr>
          </a:lstStyle>
          <a:p>
            <a:pPr lvl="0"/>
            <a:r>
              <a:rPr lang="zh-CN" altLang="en-US" noProof="0" smtClean="0"/>
              <a:t>单击此处编辑母版标题样式</a:t>
            </a:r>
          </a:p>
        </p:txBody>
      </p:sp>
      <p:sp>
        <p:nvSpPr>
          <p:cNvPr id="128006" name="Rectangle 6"/>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sz="3400"/>
            </a:lvl1pPr>
          </a:lstStyle>
          <a:p>
            <a:pPr lvl="0"/>
            <a:r>
              <a:rPr lang="zh-CN" altLang="en-US" noProof="0" smtClean="0"/>
              <a:t>单击此处编辑母版副标题样式</a:t>
            </a:r>
          </a:p>
        </p:txBody>
      </p:sp>
      <p:sp>
        <p:nvSpPr>
          <p:cNvPr id="4" name="Rectangle 2"/>
          <p:cNvSpPr>
            <a:spLocks noGrp="1" noChangeArrowheads="1"/>
          </p:cNvSpPr>
          <p:nvPr>
            <p:ph type="dt" sz="half" idx="10"/>
          </p:nvPr>
        </p:nvSpPr>
        <p:spPr/>
        <p:txBody>
          <a:bodyPr/>
          <a:lstStyle>
            <a:lvl1pPr>
              <a:defRPr smtClean="0"/>
            </a:lvl1pPr>
          </a:lstStyle>
          <a:p>
            <a:pPr>
              <a:defRPr/>
            </a:pPr>
            <a:endParaRPr lang="en-US" altLang="zh-CN"/>
          </a:p>
        </p:txBody>
      </p:sp>
      <p:sp>
        <p:nvSpPr>
          <p:cNvPr id="5" name="Rectangle 3"/>
          <p:cNvSpPr>
            <a:spLocks noGrp="1" noChangeArrowheads="1"/>
          </p:cNvSpPr>
          <p:nvPr>
            <p:ph type="ftr" sz="quarter" idx="11"/>
          </p:nvPr>
        </p:nvSpPr>
        <p:spPr/>
        <p:txBody>
          <a:bodyPr/>
          <a:lstStyle>
            <a:lvl1pPr>
              <a:defRPr smtClean="0"/>
            </a:lvl1pPr>
          </a:lstStyle>
          <a:p>
            <a:pPr>
              <a:defRPr/>
            </a:pPr>
            <a:endParaRPr lang="en-US" altLang="zh-CN"/>
          </a:p>
        </p:txBody>
      </p:sp>
      <p:sp>
        <p:nvSpPr>
          <p:cNvPr id="6" name="Rectangle 4"/>
          <p:cNvSpPr>
            <a:spLocks noGrp="1" noChangeArrowheads="1"/>
          </p:cNvSpPr>
          <p:nvPr>
            <p:ph type="sldNum" sz="quarter" idx="12"/>
          </p:nvPr>
        </p:nvSpPr>
        <p:spPr/>
        <p:txBody>
          <a:bodyPr/>
          <a:lstStyle>
            <a:lvl1pPr>
              <a:defRPr smtClean="0"/>
            </a:lvl1pPr>
          </a:lstStyle>
          <a:p>
            <a:pPr>
              <a:defRPr/>
            </a:pPr>
            <a:fld id="{C7B6684C-6B18-48BB-B360-71F9059B7FDF}" type="slidenum">
              <a:rPr lang="en-US" altLang="zh-CN"/>
              <a:pPr>
                <a:defRPr/>
              </a:pPr>
              <a:t>‹#›</a:t>
            </a:fld>
            <a:endParaRPr lang="en-US" altLang="zh-CN"/>
          </a:p>
        </p:txBody>
      </p:sp>
    </p:spTree>
    <p:extLst>
      <p:ext uri="{BB962C8B-B14F-4D97-AF65-F5344CB8AC3E}">
        <p14:creationId xmlns:p14="http://schemas.microsoft.com/office/powerpoint/2010/main" val="1656187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pPr>
              <a:defRPr/>
            </a:pPr>
            <a:fld id="{EC9AB1A5-D0AF-422F-8BF6-1D155AC1DCE1}" type="slidenum">
              <a:rPr lang="en-US" altLang="zh-CN"/>
              <a:pPr>
                <a:defRPr/>
              </a:pPr>
              <a:t>‹#›</a:t>
            </a:fld>
            <a:endParaRPr lang="en-US" altLang="zh-CN"/>
          </a:p>
        </p:txBody>
      </p:sp>
    </p:spTree>
    <p:extLst>
      <p:ext uri="{BB962C8B-B14F-4D97-AF65-F5344CB8AC3E}">
        <p14:creationId xmlns:p14="http://schemas.microsoft.com/office/powerpoint/2010/main" val="30095292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pPr>
              <a:defRPr/>
            </a:pPr>
            <a:fld id="{91E56F1F-5739-48DD-B9E2-649065BA0B43}" type="slidenum">
              <a:rPr lang="en-US" altLang="zh-CN"/>
              <a:pPr>
                <a:defRPr/>
              </a:pPr>
              <a:t>‹#›</a:t>
            </a:fld>
            <a:endParaRPr lang="en-US" altLang="zh-CN"/>
          </a:p>
        </p:txBody>
      </p:sp>
    </p:spTree>
    <p:extLst>
      <p:ext uri="{BB962C8B-B14F-4D97-AF65-F5344CB8AC3E}">
        <p14:creationId xmlns:p14="http://schemas.microsoft.com/office/powerpoint/2010/main" val="42399510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
          <p:cNvSpPr>
            <a:spLocks noGrp="1" noChangeArrowheads="1"/>
          </p:cNvSpPr>
          <p:nvPr>
            <p:ph type="sldNum" sz="quarter" idx="12"/>
          </p:nvPr>
        </p:nvSpPr>
        <p:spPr>
          <a:ln/>
        </p:spPr>
        <p:txBody>
          <a:bodyPr/>
          <a:lstStyle>
            <a:lvl1pPr>
              <a:defRPr/>
            </a:lvl1pPr>
          </a:lstStyle>
          <a:p>
            <a:pPr>
              <a:defRPr/>
            </a:pPr>
            <a:fld id="{731F7CEF-8015-44CF-9751-B4D4B3C03306}" type="slidenum">
              <a:rPr lang="en-US" altLang="zh-CN"/>
              <a:pPr>
                <a:defRPr/>
              </a:pPr>
              <a:t>‹#›</a:t>
            </a:fld>
            <a:endParaRPr lang="en-US" altLang="zh-CN"/>
          </a:p>
        </p:txBody>
      </p:sp>
    </p:spTree>
    <p:extLst>
      <p:ext uri="{BB962C8B-B14F-4D97-AF65-F5344CB8AC3E}">
        <p14:creationId xmlns:p14="http://schemas.microsoft.com/office/powerpoint/2010/main" val="624784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
          <p:cNvSpPr>
            <a:spLocks noGrp="1" noChangeArrowheads="1"/>
          </p:cNvSpPr>
          <p:nvPr>
            <p:ph type="sldNum" sz="quarter" idx="12"/>
          </p:nvPr>
        </p:nvSpPr>
        <p:spPr>
          <a:ln/>
        </p:spPr>
        <p:txBody>
          <a:bodyPr/>
          <a:lstStyle>
            <a:lvl1pPr>
              <a:defRPr/>
            </a:lvl1pPr>
          </a:lstStyle>
          <a:p>
            <a:pPr>
              <a:defRPr/>
            </a:pPr>
            <a:fld id="{F4C2674F-D656-4F6F-8C9A-55C7B4BFB937}" type="slidenum">
              <a:rPr lang="en-US" altLang="zh-CN"/>
              <a:pPr>
                <a:defRPr/>
              </a:pPr>
              <a:t>‹#›</a:t>
            </a:fld>
            <a:endParaRPr lang="en-US" altLang="zh-CN"/>
          </a:p>
        </p:txBody>
      </p:sp>
    </p:spTree>
    <p:extLst>
      <p:ext uri="{BB962C8B-B14F-4D97-AF65-F5344CB8AC3E}">
        <p14:creationId xmlns:p14="http://schemas.microsoft.com/office/powerpoint/2010/main" val="1208159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
          <p:cNvSpPr>
            <a:spLocks noGrp="1" noChangeArrowheads="1"/>
          </p:cNvSpPr>
          <p:nvPr>
            <p:ph type="sldNum" sz="quarter" idx="12"/>
          </p:nvPr>
        </p:nvSpPr>
        <p:spPr>
          <a:ln/>
        </p:spPr>
        <p:txBody>
          <a:bodyPr/>
          <a:lstStyle>
            <a:lvl1pPr>
              <a:defRPr/>
            </a:lvl1pPr>
          </a:lstStyle>
          <a:p>
            <a:pPr>
              <a:defRPr/>
            </a:pPr>
            <a:fld id="{0BC14996-AE39-48BC-9BA5-E4E39E04C056}" type="slidenum">
              <a:rPr lang="en-US" altLang="zh-CN"/>
              <a:pPr>
                <a:defRPr/>
              </a:pPr>
              <a:t>‹#›</a:t>
            </a:fld>
            <a:endParaRPr lang="en-US" altLang="zh-CN"/>
          </a:p>
        </p:txBody>
      </p:sp>
    </p:spTree>
    <p:extLst>
      <p:ext uri="{BB962C8B-B14F-4D97-AF65-F5344CB8AC3E}">
        <p14:creationId xmlns:p14="http://schemas.microsoft.com/office/powerpoint/2010/main" val="42622195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
          <p:cNvSpPr>
            <a:spLocks noGrp="1" noChangeArrowheads="1"/>
          </p:cNvSpPr>
          <p:nvPr>
            <p:ph type="sldNum" sz="quarter" idx="12"/>
          </p:nvPr>
        </p:nvSpPr>
        <p:spPr>
          <a:ln/>
        </p:spPr>
        <p:txBody>
          <a:bodyPr/>
          <a:lstStyle>
            <a:lvl1pPr>
              <a:defRPr/>
            </a:lvl1pPr>
          </a:lstStyle>
          <a:p>
            <a:pPr>
              <a:defRPr/>
            </a:pPr>
            <a:fld id="{655A0E0B-19A1-4C17-91D9-DAF0B73AE435}" type="slidenum">
              <a:rPr lang="en-US" altLang="zh-CN"/>
              <a:pPr>
                <a:defRPr/>
              </a:pPr>
              <a:t>‹#›</a:t>
            </a:fld>
            <a:endParaRPr lang="en-US" altLang="zh-CN"/>
          </a:p>
        </p:txBody>
      </p:sp>
    </p:spTree>
    <p:extLst>
      <p:ext uri="{BB962C8B-B14F-4D97-AF65-F5344CB8AC3E}">
        <p14:creationId xmlns:p14="http://schemas.microsoft.com/office/powerpoint/2010/main" val="1510873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
          <p:cNvSpPr>
            <a:spLocks noGrp="1" noChangeArrowheads="1"/>
          </p:cNvSpPr>
          <p:nvPr>
            <p:ph type="sldNum" sz="quarter" idx="12"/>
          </p:nvPr>
        </p:nvSpPr>
        <p:spPr>
          <a:ln/>
        </p:spPr>
        <p:txBody>
          <a:bodyPr/>
          <a:lstStyle>
            <a:lvl1pPr>
              <a:defRPr/>
            </a:lvl1pPr>
          </a:lstStyle>
          <a:p>
            <a:pPr>
              <a:defRPr/>
            </a:pPr>
            <a:fld id="{3776EBD1-EE61-40FC-BFAC-62B47F0442EC}" type="slidenum">
              <a:rPr lang="en-US" altLang="zh-CN"/>
              <a:pPr>
                <a:defRPr/>
              </a:pPr>
              <a:t>‹#›</a:t>
            </a:fld>
            <a:endParaRPr lang="en-US" altLang="zh-CN"/>
          </a:p>
        </p:txBody>
      </p:sp>
    </p:spTree>
    <p:extLst>
      <p:ext uri="{BB962C8B-B14F-4D97-AF65-F5344CB8AC3E}">
        <p14:creationId xmlns:p14="http://schemas.microsoft.com/office/powerpoint/2010/main" val="30072399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
          <p:cNvSpPr>
            <a:spLocks noGrp="1" noChangeArrowheads="1"/>
          </p:cNvSpPr>
          <p:nvPr>
            <p:ph type="sldNum" sz="quarter" idx="12"/>
          </p:nvPr>
        </p:nvSpPr>
        <p:spPr>
          <a:ln/>
        </p:spPr>
        <p:txBody>
          <a:bodyPr/>
          <a:lstStyle>
            <a:lvl1pPr>
              <a:defRPr/>
            </a:lvl1pPr>
          </a:lstStyle>
          <a:p>
            <a:pPr>
              <a:defRPr/>
            </a:pPr>
            <a:fld id="{B0853FC8-1EDF-4156-B24A-58B7EE6DCBE7}" type="slidenum">
              <a:rPr lang="en-US" altLang="zh-CN"/>
              <a:pPr>
                <a:defRPr/>
              </a:pPr>
              <a:t>‹#›</a:t>
            </a:fld>
            <a:endParaRPr lang="en-US" altLang="zh-CN"/>
          </a:p>
        </p:txBody>
      </p:sp>
    </p:spTree>
    <p:extLst>
      <p:ext uri="{BB962C8B-B14F-4D97-AF65-F5344CB8AC3E}">
        <p14:creationId xmlns:p14="http://schemas.microsoft.com/office/powerpoint/2010/main" val="1041739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pPr>
              <a:defRPr/>
            </a:pPr>
            <a:fld id="{3EA372AA-949B-4D0F-89A8-74A1B779E6FB}" type="slidenum">
              <a:rPr lang="en-US" altLang="zh-CN"/>
              <a:pPr>
                <a:defRPr/>
              </a:pPr>
              <a:t>‹#›</a:t>
            </a:fld>
            <a:endParaRPr lang="en-US" altLang="zh-CN"/>
          </a:p>
        </p:txBody>
      </p:sp>
    </p:spTree>
    <p:extLst>
      <p:ext uri="{BB962C8B-B14F-4D97-AF65-F5344CB8AC3E}">
        <p14:creationId xmlns:p14="http://schemas.microsoft.com/office/powerpoint/2010/main" val="17580509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2"/>
          </p:nvPr>
        </p:nvSpPr>
        <p:spPr>
          <a:ln/>
        </p:spPr>
        <p:txBody>
          <a:bodyPr/>
          <a:lstStyle>
            <a:lvl1pPr>
              <a:defRPr/>
            </a:lvl1pPr>
          </a:lstStyle>
          <a:p>
            <a:pPr>
              <a:defRPr/>
            </a:pPr>
            <a:fld id="{23F24E3F-1BEE-43DB-9694-7FD21BCDB8D4}" type="slidenum">
              <a:rPr lang="en-US" altLang="zh-CN"/>
              <a:pPr>
                <a:defRPr/>
              </a:pPr>
              <a:t>‹#›</a:t>
            </a:fld>
            <a:endParaRPr lang="en-US" altLang="zh-CN"/>
          </a:p>
        </p:txBody>
      </p:sp>
    </p:spTree>
    <p:extLst>
      <p:ext uri="{BB962C8B-B14F-4D97-AF65-F5344CB8AC3E}">
        <p14:creationId xmlns:p14="http://schemas.microsoft.com/office/powerpoint/2010/main" val="288460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grpSp>
      <p:sp>
        <p:nvSpPr>
          <p:cNvPr id="62476"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smtClean="0"/>
              <a:t>单击此处编辑母版标题样式</a:t>
            </a:r>
          </a:p>
        </p:txBody>
      </p:sp>
      <p:sp>
        <p:nvSpPr>
          <p:cNvPr id="62477"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rgbClr val="1C1C1C"/>
                </a:solidFill>
                <a:latin typeface="Times New Roman" pitchFamily="18" charset="0"/>
                <a:ea typeface="宋体" charset="-122"/>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rgbClr val="1C1C1C"/>
                </a:solidFill>
                <a:latin typeface="Times New Roman" pitchFamily="18" charset="0"/>
                <a:ea typeface="宋体" charset="-122"/>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rgbClr val="1C1C1C"/>
                </a:solidFill>
                <a:latin typeface="Times New Roman" pitchFamily="18" charset="0"/>
                <a:ea typeface="宋体" charset="-122"/>
              </a:defRPr>
            </a:lvl1pPr>
          </a:lstStyle>
          <a:p>
            <a:pPr>
              <a:defRPr/>
            </a:pPr>
            <a:fld id="{29195F2F-966B-4E6D-ADC4-716ED0E66738}" type="slidenum">
              <a:rPr lang="en-US" altLang="zh-CN"/>
              <a:pPr>
                <a:defRPr/>
              </a:pPr>
              <a:t>‹#›</a:t>
            </a:fld>
            <a:endParaRPr lang="en-US" altLang="zh-CN"/>
          </a:p>
        </p:txBody>
      </p:sp>
    </p:spTree>
    <p:extLst>
      <p:ext uri="{BB962C8B-B14F-4D97-AF65-F5344CB8AC3E}">
        <p14:creationId xmlns:p14="http://schemas.microsoft.com/office/powerpoint/2010/main" val="22465220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5" name="页脚占位符 4"/>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Times New Roman" pitchFamily="18" charset="0"/>
                <a:ea typeface="宋体" charset="-122"/>
              </a:defRPr>
            </a:lvl1pPr>
          </a:lstStyle>
          <a:p>
            <a:pPr>
              <a:defRPr/>
            </a:pPr>
            <a:fld id="{6FE7295C-6222-48B2-A896-0E5F27943A5F}" type="slidenum">
              <a:rPr lang="en-US" altLang="zh-CN"/>
              <a:pPr>
                <a:defRPr/>
              </a:pPr>
              <a:t>‹#›</a:t>
            </a:fld>
            <a:endParaRPr lang="en-US" altLang="zh-CN"/>
          </a:p>
        </p:txBody>
      </p:sp>
    </p:spTree>
    <p:extLst>
      <p:ext uri="{BB962C8B-B14F-4D97-AF65-F5344CB8AC3E}">
        <p14:creationId xmlns:p14="http://schemas.microsoft.com/office/powerpoint/2010/main" val="25980689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5" name="页脚占位符 4"/>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Times New Roman" pitchFamily="18" charset="0"/>
                <a:ea typeface="宋体" charset="-122"/>
              </a:defRPr>
            </a:lvl1pPr>
          </a:lstStyle>
          <a:p>
            <a:pPr>
              <a:defRPr/>
            </a:pPr>
            <a:fld id="{EED55F34-CBBE-4B53-869E-FEC31443BFF4}" type="slidenum">
              <a:rPr lang="en-US" altLang="zh-CN"/>
              <a:pPr>
                <a:defRPr/>
              </a:pPr>
              <a:t>‹#›</a:t>
            </a:fld>
            <a:endParaRPr lang="en-US" altLang="zh-CN"/>
          </a:p>
        </p:txBody>
      </p:sp>
    </p:spTree>
    <p:extLst>
      <p:ext uri="{BB962C8B-B14F-4D97-AF65-F5344CB8AC3E}">
        <p14:creationId xmlns:p14="http://schemas.microsoft.com/office/powerpoint/2010/main" val="15094148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6" name="页脚占位符 5"/>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Times New Roman" pitchFamily="18" charset="0"/>
                <a:ea typeface="宋体" charset="-122"/>
              </a:defRPr>
            </a:lvl1pPr>
          </a:lstStyle>
          <a:p>
            <a:pPr>
              <a:defRPr/>
            </a:pPr>
            <a:fld id="{9BBB4DF9-04CB-4305-8A3A-E24D48779B82}" type="slidenum">
              <a:rPr lang="en-US" altLang="zh-CN"/>
              <a:pPr>
                <a:defRPr/>
              </a:pPr>
              <a:t>‹#›</a:t>
            </a:fld>
            <a:endParaRPr lang="en-US" altLang="zh-CN"/>
          </a:p>
        </p:txBody>
      </p:sp>
    </p:spTree>
    <p:extLst>
      <p:ext uri="{BB962C8B-B14F-4D97-AF65-F5344CB8AC3E}">
        <p14:creationId xmlns:p14="http://schemas.microsoft.com/office/powerpoint/2010/main" val="30435417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8" name="页脚占位符 7"/>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9" name="灯片编号占位符 8"/>
          <p:cNvSpPr>
            <a:spLocks noGrp="1"/>
          </p:cNvSpPr>
          <p:nvPr>
            <p:ph type="sldNum" sz="quarter" idx="12"/>
          </p:nvPr>
        </p:nvSpPr>
        <p:spPr/>
        <p:txBody>
          <a:bodyPr/>
          <a:lstStyle>
            <a:lvl1pPr>
              <a:defRPr>
                <a:latin typeface="Times New Roman" pitchFamily="18" charset="0"/>
                <a:ea typeface="宋体" charset="-122"/>
              </a:defRPr>
            </a:lvl1pPr>
          </a:lstStyle>
          <a:p>
            <a:pPr>
              <a:defRPr/>
            </a:pPr>
            <a:fld id="{EA7F816D-E5E1-4880-AFA1-89E1F93D6654}" type="slidenum">
              <a:rPr lang="en-US" altLang="zh-CN"/>
              <a:pPr>
                <a:defRPr/>
              </a:pPr>
              <a:t>‹#›</a:t>
            </a:fld>
            <a:endParaRPr lang="en-US" altLang="zh-CN"/>
          </a:p>
        </p:txBody>
      </p:sp>
    </p:spTree>
    <p:extLst>
      <p:ext uri="{BB962C8B-B14F-4D97-AF65-F5344CB8AC3E}">
        <p14:creationId xmlns:p14="http://schemas.microsoft.com/office/powerpoint/2010/main" val="31557128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4" name="页脚占位符 3"/>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atin typeface="Times New Roman" pitchFamily="18" charset="0"/>
                <a:ea typeface="宋体" charset="-122"/>
              </a:defRPr>
            </a:lvl1pPr>
          </a:lstStyle>
          <a:p>
            <a:pPr>
              <a:defRPr/>
            </a:pPr>
            <a:fld id="{90AE7FB1-EFBC-4D05-BC4E-79D0A1881280}" type="slidenum">
              <a:rPr lang="en-US" altLang="zh-CN"/>
              <a:pPr>
                <a:defRPr/>
              </a:pPr>
              <a:t>‹#›</a:t>
            </a:fld>
            <a:endParaRPr lang="en-US" altLang="zh-CN"/>
          </a:p>
        </p:txBody>
      </p:sp>
    </p:spTree>
    <p:extLst>
      <p:ext uri="{BB962C8B-B14F-4D97-AF65-F5344CB8AC3E}">
        <p14:creationId xmlns:p14="http://schemas.microsoft.com/office/powerpoint/2010/main" val="39348949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3" name="页脚占位符 2"/>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atin typeface="Times New Roman" pitchFamily="18" charset="0"/>
                <a:ea typeface="宋体" charset="-122"/>
              </a:defRPr>
            </a:lvl1pPr>
          </a:lstStyle>
          <a:p>
            <a:pPr>
              <a:defRPr/>
            </a:pPr>
            <a:fld id="{B97139E6-D761-459B-9F6C-A7CCF8FF8A9E}" type="slidenum">
              <a:rPr lang="en-US" altLang="zh-CN"/>
              <a:pPr>
                <a:defRPr/>
              </a:pPr>
              <a:t>‹#›</a:t>
            </a:fld>
            <a:endParaRPr lang="en-US" altLang="zh-CN"/>
          </a:p>
        </p:txBody>
      </p:sp>
    </p:spTree>
    <p:extLst>
      <p:ext uri="{BB962C8B-B14F-4D97-AF65-F5344CB8AC3E}">
        <p14:creationId xmlns:p14="http://schemas.microsoft.com/office/powerpoint/2010/main" val="26605008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6" name="页脚占位符 5"/>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Times New Roman" pitchFamily="18" charset="0"/>
                <a:ea typeface="宋体" charset="-122"/>
              </a:defRPr>
            </a:lvl1pPr>
          </a:lstStyle>
          <a:p>
            <a:pPr>
              <a:defRPr/>
            </a:pPr>
            <a:fld id="{383E707F-15BD-4213-97DC-35B9C5D0FB23}" type="slidenum">
              <a:rPr lang="en-US" altLang="zh-CN"/>
              <a:pPr>
                <a:defRPr/>
              </a:pPr>
              <a:t>‹#›</a:t>
            </a:fld>
            <a:endParaRPr lang="en-US" altLang="zh-CN"/>
          </a:p>
        </p:txBody>
      </p:sp>
    </p:spTree>
    <p:extLst>
      <p:ext uri="{BB962C8B-B14F-4D97-AF65-F5344CB8AC3E}">
        <p14:creationId xmlns:p14="http://schemas.microsoft.com/office/powerpoint/2010/main" val="36304164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6" name="页脚占位符 5"/>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Times New Roman" pitchFamily="18" charset="0"/>
                <a:ea typeface="宋体" charset="-122"/>
              </a:defRPr>
            </a:lvl1pPr>
          </a:lstStyle>
          <a:p>
            <a:pPr>
              <a:defRPr/>
            </a:pPr>
            <a:fld id="{B2D1AF76-4807-428F-8891-9A60B007DF22}" type="slidenum">
              <a:rPr lang="en-US" altLang="zh-CN"/>
              <a:pPr>
                <a:defRPr/>
              </a:pPr>
              <a:t>‹#›</a:t>
            </a:fld>
            <a:endParaRPr lang="en-US" altLang="zh-CN"/>
          </a:p>
        </p:txBody>
      </p:sp>
    </p:spTree>
    <p:extLst>
      <p:ext uri="{BB962C8B-B14F-4D97-AF65-F5344CB8AC3E}">
        <p14:creationId xmlns:p14="http://schemas.microsoft.com/office/powerpoint/2010/main" val="19128486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5" name="页脚占位符 4"/>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Times New Roman" pitchFamily="18" charset="0"/>
                <a:ea typeface="宋体" charset="-122"/>
              </a:defRPr>
            </a:lvl1pPr>
          </a:lstStyle>
          <a:p>
            <a:pPr>
              <a:defRPr/>
            </a:pPr>
            <a:fld id="{E4369C4D-27DF-46A9-9BC3-8F9A4D1AF666}" type="slidenum">
              <a:rPr lang="en-US" altLang="zh-CN"/>
              <a:pPr>
                <a:defRPr/>
              </a:pPr>
              <a:t>‹#›</a:t>
            </a:fld>
            <a:endParaRPr lang="en-US" altLang="zh-CN"/>
          </a:p>
        </p:txBody>
      </p:sp>
    </p:spTree>
    <p:extLst>
      <p:ext uri="{BB962C8B-B14F-4D97-AF65-F5344CB8AC3E}">
        <p14:creationId xmlns:p14="http://schemas.microsoft.com/office/powerpoint/2010/main" val="16331842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5" name="页脚占位符 4"/>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Times New Roman" pitchFamily="18" charset="0"/>
                <a:ea typeface="宋体" charset="-122"/>
              </a:defRPr>
            </a:lvl1pPr>
          </a:lstStyle>
          <a:p>
            <a:pPr>
              <a:defRPr/>
            </a:pPr>
            <a:fld id="{FAF118EE-CD0A-4F43-9948-ADC6FF4416CD}" type="slidenum">
              <a:rPr lang="en-US" altLang="zh-CN"/>
              <a:pPr>
                <a:defRPr/>
              </a:pPr>
              <a:t>‹#›</a:t>
            </a:fld>
            <a:endParaRPr lang="en-US" altLang="zh-CN"/>
          </a:p>
        </p:txBody>
      </p:sp>
    </p:spTree>
    <p:extLst>
      <p:ext uri="{BB962C8B-B14F-4D97-AF65-F5344CB8AC3E}">
        <p14:creationId xmlns:p14="http://schemas.microsoft.com/office/powerpoint/2010/main" val="25225312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grpSp>
      <p:sp>
        <p:nvSpPr>
          <p:cNvPr id="62476"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smtClean="0"/>
              <a:t>单击此处编辑母版标题样式</a:t>
            </a:r>
          </a:p>
        </p:txBody>
      </p:sp>
      <p:sp>
        <p:nvSpPr>
          <p:cNvPr id="62477"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rgbClr val="1C1C1C"/>
                </a:solidFill>
                <a:latin typeface="Times New Roman" pitchFamily="18" charset="0"/>
                <a:ea typeface="宋体" charset="-122"/>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rgbClr val="1C1C1C"/>
                </a:solidFill>
                <a:latin typeface="Times New Roman" pitchFamily="18" charset="0"/>
                <a:ea typeface="宋体" charset="-122"/>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rgbClr val="1C1C1C"/>
                </a:solidFill>
                <a:latin typeface="Times New Roman" pitchFamily="18" charset="0"/>
                <a:ea typeface="宋体" charset="-122"/>
              </a:defRPr>
            </a:lvl1pPr>
          </a:lstStyle>
          <a:p>
            <a:pPr>
              <a:defRPr/>
            </a:pPr>
            <a:fld id="{CE4DF05E-C110-4F24-8AFE-1F1662FFC8D8}" type="slidenum">
              <a:rPr lang="en-US" altLang="zh-CN"/>
              <a:pPr>
                <a:defRPr/>
              </a:pPr>
              <a:t>‹#›</a:t>
            </a:fld>
            <a:endParaRPr lang="en-US" altLang="zh-CN"/>
          </a:p>
        </p:txBody>
      </p:sp>
    </p:spTree>
    <p:extLst>
      <p:ext uri="{BB962C8B-B14F-4D97-AF65-F5344CB8AC3E}">
        <p14:creationId xmlns:p14="http://schemas.microsoft.com/office/powerpoint/2010/main" val="35806562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5" name="页脚占位符 4"/>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Times New Roman" pitchFamily="18" charset="0"/>
                <a:ea typeface="宋体" charset="-122"/>
              </a:defRPr>
            </a:lvl1pPr>
          </a:lstStyle>
          <a:p>
            <a:pPr>
              <a:defRPr/>
            </a:pPr>
            <a:fld id="{11AB79BA-BF0C-4899-8E4F-E31B5C57EFF2}" type="slidenum">
              <a:rPr lang="en-US" altLang="zh-CN"/>
              <a:pPr>
                <a:defRPr/>
              </a:pPr>
              <a:t>‹#›</a:t>
            </a:fld>
            <a:endParaRPr lang="en-US" altLang="zh-CN"/>
          </a:p>
        </p:txBody>
      </p:sp>
    </p:spTree>
    <p:extLst>
      <p:ext uri="{BB962C8B-B14F-4D97-AF65-F5344CB8AC3E}">
        <p14:creationId xmlns:p14="http://schemas.microsoft.com/office/powerpoint/2010/main" val="14636500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5" name="页脚占位符 4"/>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Times New Roman" pitchFamily="18" charset="0"/>
                <a:ea typeface="宋体" charset="-122"/>
              </a:defRPr>
            </a:lvl1pPr>
          </a:lstStyle>
          <a:p>
            <a:pPr>
              <a:defRPr/>
            </a:pPr>
            <a:fld id="{49608DE8-A55F-4D04-A5BA-A6ACFE58546C}" type="slidenum">
              <a:rPr lang="en-US" altLang="zh-CN"/>
              <a:pPr>
                <a:defRPr/>
              </a:pPr>
              <a:t>‹#›</a:t>
            </a:fld>
            <a:endParaRPr lang="en-US" altLang="zh-CN"/>
          </a:p>
        </p:txBody>
      </p:sp>
    </p:spTree>
    <p:extLst>
      <p:ext uri="{BB962C8B-B14F-4D97-AF65-F5344CB8AC3E}">
        <p14:creationId xmlns:p14="http://schemas.microsoft.com/office/powerpoint/2010/main" val="34410912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6" name="页脚占位符 5"/>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Times New Roman" pitchFamily="18" charset="0"/>
                <a:ea typeface="宋体" charset="-122"/>
              </a:defRPr>
            </a:lvl1pPr>
          </a:lstStyle>
          <a:p>
            <a:pPr>
              <a:defRPr/>
            </a:pPr>
            <a:fld id="{D2F4B05C-0A89-425C-9E6C-9B9AF144A678}" type="slidenum">
              <a:rPr lang="en-US" altLang="zh-CN"/>
              <a:pPr>
                <a:defRPr/>
              </a:pPr>
              <a:t>‹#›</a:t>
            </a:fld>
            <a:endParaRPr lang="en-US" altLang="zh-CN"/>
          </a:p>
        </p:txBody>
      </p:sp>
    </p:spTree>
    <p:extLst>
      <p:ext uri="{BB962C8B-B14F-4D97-AF65-F5344CB8AC3E}">
        <p14:creationId xmlns:p14="http://schemas.microsoft.com/office/powerpoint/2010/main" val="3633830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8" name="页脚占位符 7"/>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9" name="灯片编号占位符 8"/>
          <p:cNvSpPr>
            <a:spLocks noGrp="1"/>
          </p:cNvSpPr>
          <p:nvPr>
            <p:ph type="sldNum" sz="quarter" idx="12"/>
          </p:nvPr>
        </p:nvSpPr>
        <p:spPr/>
        <p:txBody>
          <a:bodyPr/>
          <a:lstStyle>
            <a:lvl1pPr>
              <a:defRPr>
                <a:latin typeface="Times New Roman" pitchFamily="18" charset="0"/>
                <a:ea typeface="宋体" charset="-122"/>
              </a:defRPr>
            </a:lvl1pPr>
          </a:lstStyle>
          <a:p>
            <a:pPr>
              <a:defRPr/>
            </a:pPr>
            <a:fld id="{E0EDBE53-D8EB-48CD-B45E-8788024A336C}" type="slidenum">
              <a:rPr lang="en-US" altLang="zh-CN"/>
              <a:pPr>
                <a:defRPr/>
              </a:pPr>
              <a:t>‹#›</a:t>
            </a:fld>
            <a:endParaRPr lang="en-US" altLang="zh-CN"/>
          </a:p>
        </p:txBody>
      </p:sp>
    </p:spTree>
    <p:extLst>
      <p:ext uri="{BB962C8B-B14F-4D97-AF65-F5344CB8AC3E}">
        <p14:creationId xmlns:p14="http://schemas.microsoft.com/office/powerpoint/2010/main" val="4986766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4" name="页脚占位符 3"/>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atin typeface="Times New Roman" pitchFamily="18" charset="0"/>
                <a:ea typeface="宋体" charset="-122"/>
              </a:defRPr>
            </a:lvl1pPr>
          </a:lstStyle>
          <a:p>
            <a:pPr>
              <a:defRPr/>
            </a:pPr>
            <a:fld id="{81F6C158-FECC-4540-9C26-5D122F036053}" type="slidenum">
              <a:rPr lang="en-US" altLang="zh-CN"/>
              <a:pPr>
                <a:defRPr/>
              </a:pPr>
              <a:t>‹#›</a:t>
            </a:fld>
            <a:endParaRPr lang="en-US" altLang="zh-CN"/>
          </a:p>
        </p:txBody>
      </p:sp>
    </p:spTree>
    <p:extLst>
      <p:ext uri="{BB962C8B-B14F-4D97-AF65-F5344CB8AC3E}">
        <p14:creationId xmlns:p14="http://schemas.microsoft.com/office/powerpoint/2010/main" val="38935031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3" name="页脚占位符 2"/>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atin typeface="Times New Roman" pitchFamily="18" charset="0"/>
                <a:ea typeface="宋体" charset="-122"/>
              </a:defRPr>
            </a:lvl1pPr>
          </a:lstStyle>
          <a:p>
            <a:pPr>
              <a:defRPr/>
            </a:pPr>
            <a:fld id="{B6F55E6F-A370-4042-9B04-B05F12BE79F8}" type="slidenum">
              <a:rPr lang="en-US" altLang="zh-CN"/>
              <a:pPr>
                <a:defRPr/>
              </a:pPr>
              <a:t>‹#›</a:t>
            </a:fld>
            <a:endParaRPr lang="en-US" altLang="zh-CN"/>
          </a:p>
        </p:txBody>
      </p:sp>
    </p:spTree>
    <p:extLst>
      <p:ext uri="{BB962C8B-B14F-4D97-AF65-F5344CB8AC3E}">
        <p14:creationId xmlns:p14="http://schemas.microsoft.com/office/powerpoint/2010/main" val="12592996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6" name="页脚占位符 5"/>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Times New Roman" pitchFamily="18" charset="0"/>
                <a:ea typeface="宋体" charset="-122"/>
              </a:defRPr>
            </a:lvl1pPr>
          </a:lstStyle>
          <a:p>
            <a:pPr>
              <a:defRPr/>
            </a:pPr>
            <a:fld id="{91F8E458-F309-4C0E-8355-7351A658AB58}" type="slidenum">
              <a:rPr lang="en-US" altLang="zh-CN"/>
              <a:pPr>
                <a:defRPr/>
              </a:pPr>
              <a:t>‹#›</a:t>
            </a:fld>
            <a:endParaRPr lang="en-US" altLang="zh-CN"/>
          </a:p>
        </p:txBody>
      </p:sp>
    </p:spTree>
    <p:extLst>
      <p:ext uri="{BB962C8B-B14F-4D97-AF65-F5344CB8AC3E}">
        <p14:creationId xmlns:p14="http://schemas.microsoft.com/office/powerpoint/2010/main" val="18130841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6" name="页脚占位符 5"/>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Times New Roman" pitchFamily="18" charset="0"/>
                <a:ea typeface="宋体" charset="-122"/>
              </a:defRPr>
            </a:lvl1pPr>
          </a:lstStyle>
          <a:p>
            <a:pPr>
              <a:defRPr/>
            </a:pPr>
            <a:fld id="{AEA1F7E2-DE1C-4B48-AE02-F48073644DB7}" type="slidenum">
              <a:rPr lang="en-US" altLang="zh-CN"/>
              <a:pPr>
                <a:defRPr/>
              </a:pPr>
              <a:t>‹#›</a:t>
            </a:fld>
            <a:endParaRPr lang="en-US" altLang="zh-CN"/>
          </a:p>
        </p:txBody>
      </p:sp>
    </p:spTree>
    <p:extLst>
      <p:ext uri="{BB962C8B-B14F-4D97-AF65-F5344CB8AC3E}">
        <p14:creationId xmlns:p14="http://schemas.microsoft.com/office/powerpoint/2010/main" val="32369204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5" name="页脚占位符 4"/>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Times New Roman" pitchFamily="18" charset="0"/>
                <a:ea typeface="宋体" charset="-122"/>
              </a:defRPr>
            </a:lvl1pPr>
          </a:lstStyle>
          <a:p>
            <a:pPr>
              <a:defRPr/>
            </a:pPr>
            <a:fld id="{D6E3B00A-BFDC-48F5-A2EB-DA4E5B353696}" type="slidenum">
              <a:rPr lang="en-US" altLang="zh-CN"/>
              <a:pPr>
                <a:defRPr/>
              </a:pPr>
              <a:t>‹#›</a:t>
            </a:fld>
            <a:endParaRPr lang="en-US" altLang="zh-CN"/>
          </a:p>
        </p:txBody>
      </p:sp>
    </p:spTree>
    <p:extLst>
      <p:ext uri="{BB962C8B-B14F-4D97-AF65-F5344CB8AC3E}">
        <p14:creationId xmlns:p14="http://schemas.microsoft.com/office/powerpoint/2010/main" val="220037794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5" name="页脚占位符 4"/>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Times New Roman" pitchFamily="18" charset="0"/>
                <a:ea typeface="宋体" charset="-122"/>
              </a:defRPr>
            </a:lvl1pPr>
          </a:lstStyle>
          <a:p>
            <a:pPr>
              <a:defRPr/>
            </a:pPr>
            <a:fld id="{081CE0C6-8A7B-4C47-8F25-AF6458EF6754}" type="slidenum">
              <a:rPr lang="en-US" altLang="zh-CN"/>
              <a:pPr>
                <a:defRPr/>
              </a:pPr>
              <a:t>‹#›</a:t>
            </a:fld>
            <a:endParaRPr lang="en-US" altLang="zh-CN"/>
          </a:p>
        </p:txBody>
      </p:sp>
    </p:spTree>
    <p:extLst>
      <p:ext uri="{BB962C8B-B14F-4D97-AF65-F5344CB8AC3E}">
        <p14:creationId xmlns:p14="http://schemas.microsoft.com/office/powerpoint/2010/main" val="3555579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28005" name="Rectangle 5"/>
          <p:cNvSpPr>
            <a:spLocks noGrp="1" noChangeArrowheads="1"/>
          </p:cNvSpPr>
          <p:nvPr>
            <p:ph type="ctrTitle" sz="quarter"/>
          </p:nvPr>
        </p:nvSpPr>
        <p:spPr>
          <a:xfrm>
            <a:off x="685800" y="2286000"/>
            <a:ext cx="7772400" cy="1143000"/>
          </a:xfrm>
        </p:spPr>
        <p:txBody>
          <a:bodyPr/>
          <a:lstStyle>
            <a:lvl1pPr>
              <a:defRPr sz="4600"/>
            </a:lvl1pPr>
          </a:lstStyle>
          <a:p>
            <a:pPr lvl="0"/>
            <a:r>
              <a:rPr lang="zh-CN" altLang="en-US" noProof="0" smtClean="0"/>
              <a:t>单击此处编辑母版标题样式</a:t>
            </a:r>
          </a:p>
        </p:txBody>
      </p:sp>
      <p:sp>
        <p:nvSpPr>
          <p:cNvPr id="128006" name="Rectangle 6"/>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sz="3400"/>
            </a:lvl1pPr>
          </a:lstStyle>
          <a:p>
            <a:pPr lvl="0"/>
            <a:r>
              <a:rPr lang="zh-CN" altLang="en-US" noProof="0" smtClean="0"/>
              <a:t>单击此处编辑母版副标题样式</a:t>
            </a:r>
          </a:p>
        </p:txBody>
      </p:sp>
      <p:sp>
        <p:nvSpPr>
          <p:cNvPr id="4" name="Rectangle 2"/>
          <p:cNvSpPr>
            <a:spLocks noGrp="1" noChangeArrowheads="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5" name="Rectangle 3"/>
          <p:cNvSpPr>
            <a:spLocks noGrp="1" noChangeArrowheads="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6" name="Rectangle 4"/>
          <p:cNvSpPr>
            <a:spLocks noGrp="1" noChangeArrowheads="1"/>
          </p:cNvSpPr>
          <p:nvPr>
            <p:ph type="sldNum" sz="quarter" idx="12"/>
          </p:nvPr>
        </p:nvSpPr>
        <p:spPr/>
        <p:txBody>
          <a:bodyPr/>
          <a:lstStyle>
            <a:lvl1pPr>
              <a:defRPr>
                <a:latin typeface="Times New Roman" pitchFamily="18" charset="0"/>
                <a:ea typeface="宋体" charset="-122"/>
              </a:defRPr>
            </a:lvl1pPr>
          </a:lstStyle>
          <a:p>
            <a:pPr>
              <a:defRPr/>
            </a:pPr>
            <a:fld id="{98923382-1BF5-4C74-8D28-A345780ACB7F}" type="slidenum">
              <a:rPr lang="en-US" altLang="zh-CN"/>
              <a:pPr>
                <a:defRPr/>
              </a:pPr>
              <a:t>‹#›</a:t>
            </a:fld>
            <a:endParaRPr lang="en-US" altLang="zh-CN"/>
          </a:p>
        </p:txBody>
      </p:sp>
    </p:spTree>
    <p:extLst>
      <p:ext uri="{BB962C8B-B14F-4D97-AF65-F5344CB8AC3E}">
        <p14:creationId xmlns:p14="http://schemas.microsoft.com/office/powerpoint/2010/main" val="4233995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5" name="页脚占位符 4"/>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Times New Roman" pitchFamily="18" charset="0"/>
                <a:ea typeface="宋体" charset="-122"/>
              </a:defRPr>
            </a:lvl1pPr>
          </a:lstStyle>
          <a:p>
            <a:pPr>
              <a:defRPr/>
            </a:pPr>
            <a:fld id="{E5024AA2-9D85-4FBC-AFC9-23FA18268C31}" type="slidenum">
              <a:rPr lang="en-US" altLang="zh-CN"/>
              <a:pPr>
                <a:defRPr/>
              </a:pPr>
              <a:t>‹#›</a:t>
            </a:fld>
            <a:endParaRPr lang="en-US" altLang="zh-CN"/>
          </a:p>
        </p:txBody>
      </p:sp>
    </p:spTree>
    <p:extLst>
      <p:ext uri="{BB962C8B-B14F-4D97-AF65-F5344CB8AC3E}">
        <p14:creationId xmlns:p14="http://schemas.microsoft.com/office/powerpoint/2010/main" val="11550890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5" name="页脚占位符 4"/>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Times New Roman" pitchFamily="18" charset="0"/>
                <a:ea typeface="宋体" charset="-122"/>
              </a:defRPr>
            </a:lvl1pPr>
          </a:lstStyle>
          <a:p>
            <a:pPr>
              <a:defRPr/>
            </a:pPr>
            <a:fld id="{C7267615-CB6C-4983-99CF-9F16030E0DF8}" type="slidenum">
              <a:rPr lang="en-US" altLang="zh-CN"/>
              <a:pPr>
                <a:defRPr/>
              </a:pPr>
              <a:t>‹#›</a:t>
            </a:fld>
            <a:endParaRPr lang="en-US" altLang="zh-CN"/>
          </a:p>
        </p:txBody>
      </p:sp>
    </p:spTree>
    <p:extLst>
      <p:ext uri="{BB962C8B-B14F-4D97-AF65-F5344CB8AC3E}">
        <p14:creationId xmlns:p14="http://schemas.microsoft.com/office/powerpoint/2010/main" val="2684592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6" name="页脚占位符 5"/>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Times New Roman" pitchFamily="18" charset="0"/>
                <a:ea typeface="宋体" charset="-122"/>
              </a:defRPr>
            </a:lvl1pPr>
          </a:lstStyle>
          <a:p>
            <a:pPr>
              <a:defRPr/>
            </a:pPr>
            <a:fld id="{0EAB97B4-2C19-4049-9555-26495F98F319}" type="slidenum">
              <a:rPr lang="en-US" altLang="zh-CN"/>
              <a:pPr>
                <a:defRPr/>
              </a:pPr>
              <a:t>‹#›</a:t>
            </a:fld>
            <a:endParaRPr lang="en-US" altLang="zh-CN"/>
          </a:p>
        </p:txBody>
      </p:sp>
    </p:spTree>
    <p:extLst>
      <p:ext uri="{BB962C8B-B14F-4D97-AF65-F5344CB8AC3E}">
        <p14:creationId xmlns:p14="http://schemas.microsoft.com/office/powerpoint/2010/main" val="38214845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8" name="页脚占位符 7"/>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9" name="灯片编号占位符 8"/>
          <p:cNvSpPr>
            <a:spLocks noGrp="1"/>
          </p:cNvSpPr>
          <p:nvPr>
            <p:ph type="sldNum" sz="quarter" idx="12"/>
          </p:nvPr>
        </p:nvSpPr>
        <p:spPr/>
        <p:txBody>
          <a:bodyPr/>
          <a:lstStyle>
            <a:lvl1pPr>
              <a:defRPr>
                <a:latin typeface="Times New Roman" pitchFamily="18" charset="0"/>
                <a:ea typeface="宋体" charset="-122"/>
              </a:defRPr>
            </a:lvl1pPr>
          </a:lstStyle>
          <a:p>
            <a:pPr>
              <a:defRPr/>
            </a:pPr>
            <a:fld id="{41C06EA1-A13F-4AE4-84B4-35A9F9D72BE1}" type="slidenum">
              <a:rPr lang="en-US" altLang="zh-CN"/>
              <a:pPr>
                <a:defRPr/>
              </a:pPr>
              <a:t>‹#›</a:t>
            </a:fld>
            <a:endParaRPr lang="en-US" altLang="zh-CN"/>
          </a:p>
        </p:txBody>
      </p:sp>
    </p:spTree>
    <p:extLst>
      <p:ext uri="{BB962C8B-B14F-4D97-AF65-F5344CB8AC3E}">
        <p14:creationId xmlns:p14="http://schemas.microsoft.com/office/powerpoint/2010/main" val="27375460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4" name="页脚占位符 3"/>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atin typeface="Times New Roman" pitchFamily="18" charset="0"/>
                <a:ea typeface="宋体" charset="-122"/>
              </a:defRPr>
            </a:lvl1pPr>
          </a:lstStyle>
          <a:p>
            <a:pPr>
              <a:defRPr/>
            </a:pPr>
            <a:fld id="{A3BE3043-2372-47ED-A24C-8DAEEA4E1A39}" type="slidenum">
              <a:rPr lang="en-US" altLang="zh-CN"/>
              <a:pPr>
                <a:defRPr/>
              </a:pPr>
              <a:t>‹#›</a:t>
            </a:fld>
            <a:endParaRPr lang="en-US" altLang="zh-CN"/>
          </a:p>
        </p:txBody>
      </p:sp>
    </p:spTree>
    <p:extLst>
      <p:ext uri="{BB962C8B-B14F-4D97-AF65-F5344CB8AC3E}">
        <p14:creationId xmlns:p14="http://schemas.microsoft.com/office/powerpoint/2010/main" val="233455244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3" name="页脚占位符 2"/>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atin typeface="Times New Roman" pitchFamily="18" charset="0"/>
                <a:ea typeface="宋体" charset="-122"/>
              </a:defRPr>
            </a:lvl1pPr>
          </a:lstStyle>
          <a:p>
            <a:pPr>
              <a:defRPr/>
            </a:pPr>
            <a:fld id="{3C6B292A-F633-4A59-A903-405A86023A1F}" type="slidenum">
              <a:rPr lang="en-US" altLang="zh-CN"/>
              <a:pPr>
                <a:defRPr/>
              </a:pPr>
              <a:t>‹#›</a:t>
            </a:fld>
            <a:endParaRPr lang="en-US" altLang="zh-CN"/>
          </a:p>
        </p:txBody>
      </p:sp>
    </p:spTree>
    <p:extLst>
      <p:ext uri="{BB962C8B-B14F-4D97-AF65-F5344CB8AC3E}">
        <p14:creationId xmlns:p14="http://schemas.microsoft.com/office/powerpoint/2010/main" val="41369085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6" name="页脚占位符 5"/>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Times New Roman" pitchFamily="18" charset="0"/>
                <a:ea typeface="宋体" charset="-122"/>
              </a:defRPr>
            </a:lvl1pPr>
          </a:lstStyle>
          <a:p>
            <a:pPr>
              <a:defRPr/>
            </a:pPr>
            <a:fld id="{804608FA-3659-43F0-B28A-A84EC7443E47}" type="slidenum">
              <a:rPr lang="en-US" altLang="zh-CN"/>
              <a:pPr>
                <a:defRPr/>
              </a:pPr>
              <a:t>‹#›</a:t>
            </a:fld>
            <a:endParaRPr lang="en-US" altLang="zh-CN"/>
          </a:p>
        </p:txBody>
      </p:sp>
    </p:spTree>
    <p:extLst>
      <p:ext uri="{BB962C8B-B14F-4D97-AF65-F5344CB8AC3E}">
        <p14:creationId xmlns:p14="http://schemas.microsoft.com/office/powerpoint/2010/main" val="228770941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6" name="页脚占位符 5"/>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Times New Roman" pitchFamily="18" charset="0"/>
                <a:ea typeface="宋体" charset="-122"/>
              </a:defRPr>
            </a:lvl1pPr>
          </a:lstStyle>
          <a:p>
            <a:pPr>
              <a:defRPr/>
            </a:pPr>
            <a:fld id="{4FEB3C01-08AD-4CE7-98FF-220CF28D1681}" type="slidenum">
              <a:rPr lang="en-US" altLang="zh-CN"/>
              <a:pPr>
                <a:defRPr/>
              </a:pPr>
              <a:t>‹#›</a:t>
            </a:fld>
            <a:endParaRPr lang="en-US" altLang="zh-CN"/>
          </a:p>
        </p:txBody>
      </p:sp>
    </p:spTree>
    <p:extLst>
      <p:ext uri="{BB962C8B-B14F-4D97-AF65-F5344CB8AC3E}">
        <p14:creationId xmlns:p14="http://schemas.microsoft.com/office/powerpoint/2010/main" val="31079163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5" name="页脚占位符 4"/>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Times New Roman" pitchFamily="18" charset="0"/>
                <a:ea typeface="宋体" charset="-122"/>
              </a:defRPr>
            </a:lvl1pPr>
          </a:lstStyle>
          <a:p>
            <a:pPr>
              <a:defRPr/>
            </a:pPr>
            <a:fld id="{678BE221-C63D-481B-9259-C272CB0BE45A}" type="slidenum">
              <a:rPr lang="en-US" altLang="zh-CN"/>
              <a:pPr>
                <a:defRPr/>
              </a:pPr>
              <a:t>‹#›</a:t>
            </a:fld>
            <a:endParaRPr lang="en-US" altLang="zh-CN"/>
          </a:p>
        </p:txBody>
      </p:sp>
    </p:spTree>
    <p:extLst>
      <p:ext uri="{BB962C8B-B14F-4D97-AF65-F5344CB8AC3E}">
        <p14:creationId xmlns:p14="http://schemas.microsoft.com/office/powerpoint/2010/main" val="21294120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5" name="页脚占位符 4"/>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Times New Roman" pitchFamily="18" charset="0"/>
                <a:ea typeface="宋体" charset="-122"/>
              </a:defRPr>
            </a:lvl1pPr>
          </a:lstStyle>
          <a:p>
            <a:pPr>
              <a:defRPr/>
            </a:pPr>
            <a:fld id="{DFDAE0CA-7C18-4763-B334-62A95D85F3FB}" type="slidenum">
              <a:rPr lang="en-US" altLang="zh-CN"/>
              <a:pPr>
                <a:defRPr/>
              </a:pPr>
              <a:t>‹#›</a:t>
            </a:fld>
            <a:endParaRPr lang="en-US" altLang="zh-CN"/>
          </a:p>
        </p:txBody>
      </p:sp>
    </p:spTree>
    <p:extLst>
      <p:ext uri="{BB962C8B-B14F-4D97-AF65-F5344CB8AC3E}">
        <p14:creationId xmlns:p14="http://schemas.microsoft.com/office/powerpoint/2010/main" val="16868257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4" name="页脚占位符 3"/>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atin typeface="Times New Roman" pitchFamily="18" charset="0"/>
                <a:ea typeface="宋体" charset="-122"/>
              </a:defRPr>
            </a:lvl1pPr>
          </a:lstStyle>
          <a:p>
            <a:pPr>
              <a:defRPr/>
            </a:pPr>
            <a:fld id="{56DA4B9A-6F80-446B-98F2-9EADC1048D5B}" type="slidenum">
              <a:rPr lang="en-US" altLang="zh-CN"/>
              <a:pPr>
                <a:defRPr/>
              </a:pPr>
              <a:t>‹#›</a:t>
            </a:fld>
            <a:endParaRPr lang="en-US" altLang="zh-CN"/>
          </a:p>
        </p:txBody>
      </p:sp>
    </p:spTree>
    <p:extLst>
      <p:ext uri="{BB962C8B-B14F-4D97-AF65-F5344CB8AC3E}">
        <p14:creationId xmlns:p14="http://schemas.microsoft.com/office/powerpoint/2010/main" val="40632608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atin typeface="Times New Roman" pitchFamily="18" charset="0"/>
                <a:ea typeface="宋体" charset="-122"/>
              </a:defRPr>
            </a:lvl1pPr>
          </a:lstStyle>
          <a:p>
            <a:pPr>
              <a:defRPr/>
            </a:pPr>
            <a:endParaRPr lang="en-US" altLang="zh-CN"/>
          </a:p>
        </p:txBody>
      </p:sp>
      <p:sp>
        <p:nvSpPr>
          <p:cNvPr id="6" name="页脚占位符 5"/>
          <p:cNvSpPr>
            <a:spLocks noGrp="1"/>
          </p:cNvSpPr>
          <p:nvPr>
            <p:ph type="ftr" sz="quarter" idx="11"/>
          </p:nvPr>
        </p:nvSpPr>
        <p:spPr/>
        <p:txBody>
          <a:bodyPr/>
          <a:lstStyle>
            <a:lvl1pPr>
              <a:defRPr>
                <a:latin typeface="Times New Roman" pitchFamily="18" charset="0"/>
                <a:ea typeface="宋体" charset="-122"/>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Times New Roman" pitchFamily="18" charset="0"/>
                <a:ea typeface="宋体" charset="-122"/>
              </a:defRPr>
            </a:lvl1pPr>
          </a:lstStyle>
          <a:p>
            <a:pPr>
              <a:defRPr/>
            </a:pPr>
            <a:fld id="{3296F2AA-B659-4DF7-A8BE-F3DED059A5D7}" type="slidenum">
              <a:rPr lang="en-US" altLang="zh-CN"/>
              <a:pPr>
                <a:defRPr/>
              </a:pPr>
              <a:t>‹#›</a:t>
            </a:fld>
            <a:endParaRPr lang="en-US" altLang="zh-CN"/>
          </a:p>
        </p:txBody>
      </p:sp>
    </p:spTree>
    <p:extLst>
      <p:ext uri="{BB962C8B-B14F-4D97-AF65-F5344CB8AC3E}">
        <p14:creationId xmlns:p14="http://schemas.microsoft.com/office/powerpoint/2010/main" val="8321924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grpSp>
      <p:sp>
        <p:nvSpPr>
          <p:cNvPr id="62476"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smtClean="0"/>
              <a:t>单击此处编辑母版标题样式</a:t>
            </a:r>
          </a:p>
        </p:txBody>
      </p:sp>
      <p:sp>
        <p:nvSpPr>
          <p:cNvPr id="62477"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49B26895-201A-4C0A-A100-CC90B08A9122}" type="slidenum">
              <a:rPr lang="en-US" altLang="zh-CN">
                <a:solidFill>
                  <a:srgbClr val="1C1C1C"/>
                </a:solidFill>
              </a:rPr>
              <a:pPr>
                <a:defRPr/>
              </a:pPr>
              <a:t>‹#›</a:t>
            </a:fld>
            <a:endParaRPr lang="en-US" altLang="zh-CN">
              <a:solidFill>
                <a:srgbClr val="1C1C1C"/>
              </a:solidFill>
            </a:endParaRPr>
          </a:p>
        </p:txBody>
      </p:sp>
    </p:spTree>
    <p:extLst>
      <p:ext uri="{BB962C8B-B14F-4D97-AF65-F5344CB8AC3E}">
        <p14:creationId xmlns:p14="http://schemas.microsoft.com/office/powerpoint/2010/main" val="30907768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DE606791-A2C3-40FB-8323-E427EA97467E}"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263663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7C6D888B-B4B7-4515-807E-38D7E6BDB76F}"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6537873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90B5C5A3-000C-4E2C-8FA8-B40A6031F84C}"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26119346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13"/>
          <p:cNvSpPr>
            <a:spLocks noGrp="1" noChangeArrowheads="1"/>
          </p:cNvSpPr>
          <p:nvPr>
            <p:ph type="sldNum" sz="quarter" idx="12"/>
          </p:nvPr>
        </p:nvSpPr>
        <p:spPr>
          <a:ln/>
        </p:spPr>
        <p:txBody>
          <a:bodyPr/>
          <a:lstStyle>
            <a:lvl1pPr>
              <a:defRPr/>
            </a:lvl1pPr>
          </a:lstStyle>
          <a:p>
            <a:pPr>
              <a:defRPr/>
            </a:pPr>
            <a:fld id="{64C63933-CB4F-4152-ACD2-8C5D61C5B9F8}"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8546650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2"/>
          </p:nvPr>
        </p:nvSpPr>
        <p:spPr>
          <a:ln/>
        </p:spPr>
        <p:txBody>
          <a:bodyPr/>
          <a:lstStyle>
            <a:lvl1pPr>
              <a:defRPr/>
            </a:lvl1pPr>
          </a:lstStyle>
          <a:p>
            <a:pPr>
              <a:defRPr/>
            </a:pPr>
            <a:fld id="{5DD51ED3-C6B0-40D6-9274-92DEE8C810AD}"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79129586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13"/>
          <p:cNvSpPr>
            <a:spLocks noGrp="1" noChangeArrowheads="1"/>
          </p:cNvSpPr>
          <p:nvPr>
            <p:ph type="sldNum" sz="quarter" idx="12"/>
          </p:nvPr>
        </p:nvSpPr>
        <p:spPr>
          <a:ln/>
        </p:spPr>
        <p:txBody>
          <a:bodyPr/>
          <a:lstStyle>
            <a:lvl1pPr>
              <a:defRPr/>
            </a:lvl1pPr>
          </a:lstStyle>
          <a:p>
            <a:pPr>
              <a:defRPr/>
            </a:pPr>
            <a:fld id="{1B5BFAB2-0608-4221-A32E-FF62F2E0B26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8218310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C934C470-91BB-4B75-93DB-1DF2E48C7D6A}"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78280164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A763A148-ECB3-4049-BA1A-C0154ED677E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86012411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25963CCF-F385-43CF-9387-C9BA3BCAE07F}"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84190509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217E9539-E293-4A74-8B63-3754CE38A2CE}"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967985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65540"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solidFill>
                  <a:schemeClr val="tx1"/>
                </a:solidFill>
                <a:ea typeface="宋体" charset="-122"/>
              </a:defRPr>
            </a:lvl1pPr>
          </a:lstStyle>
          <a:p>
            <a:pPr>
              <a:defRPr/>
            </a:pPr>
            <a:endParaRPr lang="en-US" altLang="zh-CN"/>
          </a:p>
        </p:txBody>
      </p:sp>
      <p:sp>
        <p:nvSpPr>
          <p:cNvPr id="6554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solidFill>
                  <a:schemeClr val="tx1"/>
                </a:solidFill>
                <a:ea typeface="宋体" charset="-122"/>
              </a:defRPr>
            </a:lvl1pPr>
          </a:lstStyle>
          <a:p>
            <a:pPr>
              <a:defRPr/>
            </a:pPr>
            <a:endParaRPr lang="en-US" altLang="zh-CN"/>
          </a:p>
        </p:txBody>
      </p:sp>
      <p:sp>
        <p:nvSpPr>
          <p:cNvPr id="65542"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solidFill>
                  <a:schemeClr val="tx1"/>
                </a:solidFill>
                <a:ea typeface="宋体" charset="-122"/>
              </a:defRPr>
            </a:lvl1pPr>
          </a:lstStyle>
          <a:p>
            <a:pPr>
              <a:defRPr/>
            </a:pPr>
            <a:fld id="{726E00D7-F065-477D-97C3-14003012EF8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宋体" charset="-122"/>
        </a:defRPr>
      </a:lvl6pPr>
      <a:lvl7pPr marL="914400" algn="ctr" rtl="0" fontAlgn="base">
        <a:spcBef>
          <a:spcPct val="0"/>
        </a:spcBef>
        <a:spcAft>
          <a:spcPct val="0"/>
        </a:spcAft>
        <a:defRPr kumimoji="1" sz="4400">
          <a:solidFill>
            <a:schemeClr val="tx2"/>
          </a:solidFill>
          <a:latin typeface="Times New Roman" pitchFamily="18" charset="0"/>
          <a:ea typeface="宋体" charset="-122"/>
        </a:defRPr>
      </a:lvl7pPr>
      <a:lvl8pPr marL="1371600" algn="ctr" rtl="0" fontAlgn="base">
        <a:spcBef>
          <a:spcPct val="0"/>
        </a:spcBef>
        <a:spcAft>
          <a:spcPct val="0"/>
        </a:spcAft>
        <a:defRPr kumimoji="1" sz="4400">
          <a:solidFill>
            <a:schemeClr val="tx2"/>
          </a:solidFill>
          <a:latin typeface="Times New Roman" pitchFamily="18" charset="0"/>
          <a:ea typeface="宋体" charset="-122"/>
        </a:defRPr>
      </a:lvl8pPr>
      <a:lvl9pPr marL="1828800" algn="ctr" rtl="0" fontAlgn="base">
        <a:spcBef>
          <a:spcPct val="0"/>
        </a:spcBef>
        <a:spcAft>
          <a:spcPct val="0"/>
        </a:spcAft>
        <a:defRPr kumimoji="1" sz="4400">
          <a:solidFill>
            <a:schemeClr val="tx2"/>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978" name="Rectangle 2"/>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b="0" smtClean="0">
                <a:solidFill>
                  <a:srgbClr val="000000"/>
                </a:solidFill>
                <a:ea typeface="宋体" charset="-122"/>
              </a:defRPr>
            </a:lvl1pPr>
          </a:lstStyle>
          <a:p>
            <a:pPr>
              <a:defRPr/>
            </a:pPr>
            <a:endParaRPr lang="en-US" altLang="zh-CN"/>
          </a:p>
        </p:txBody>
      </p:sp>
      <p:sp>
        <p:nvSpPr>
          <p:cNvPr id="126979" name="Rectangle 3"/>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kumimoji="0" sz="1400" b="0" smtClean="0">
                <a:solidFill>
                  <a:srgbClr val="000000"/>
                </a:solidFill>
                <a:ea typeface="宋体" charset="-122"/>
              </a:defRPr>
            </a:lvl1pPr>
          </a:lstStyle>
          <a:p>
            <a:pPr>
              <a:defRPr/>
            </a:pPr>
            <a:endParaRPr lang="en-US" altLang="zh-CN"/>
          </a:p>
        </p:txBody>
      </p:sp>
      <p:sp>
        <p:nvSpPr>
          <p:cNvPr id="126980" name="Rectangle 4"/>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0" sz="1400" b="0" smtClean="0">
                <a:solidFill>
                  <a:srgbClr val="000000"/>
                </a:solidFill>
                <a:ea typeface="宋体" charset="-122"/>
              </a:defRPr>
            </a:lvl1pPr>
          </a:lstStyle>
          <a:p>
            <a:pPr>
              <a:defRPr/>
            </a:pPr>
            <a:fld id="{E5389D6B-B9D7-476C-B9AB-D5E83E59751E}" type="slidenum">
              <a:rPr lang="en-US" altLang="zh-CN"/>
              <a:pPr>
                <a:defRPr/>
              </a:pPr>
              <a:t>‹#›</a:t>
            </a:fld>
            <a:endParaRPr lang="en-US" altLang="zh-CN"/>
          </a:p>
        </p:txBody>
      </p:sp>
      <p:sp>
        <p:nvSpPr>
          <p:cNvPr id="2053" name="Rectangle 5"/>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26982" name="Rectangle 6"/>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055" name="Text Box 7"/>
          <p:cNvSpPr txBox="1">
            <a:spLocks noChangeArrowheads="1"/>
          </p:cNvSpPr>
          <p:nvPr userDrawn="1"/>
        </p:nvSpPr>
        <p:spPr bwMode="auto">
          <a:xfrm>
            <a:off x="762000" y="6324600"/>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lang="zh-CN" altLang="en-US" sz="2400">
                <a:solidFill>
                  <a:srgbClr val="FFCC66"/>
                </a:solidFill>
                <a:ea typeface="隶书" pitchFamily="49" charset="-122"/>
              </a:rPr>
              <a:t>光的衍射习题课</a:t>
            </a:r>
          </a:p>
        </p:txBody>
      </p:sp>
    </p:spTree>
  </p:cSld>
  <p:clrMap bg1="lt1" tx1="dk1" bg2="lt2" tx2="dk2" accent1="accent1" accent2="accent2" accent3="accent3" accent4="accent4" accent5="accent5" accent6="accent6" hlink="hlink" folHlink="folHlink"/>
  <p:sldLayoutIdLst>
    <p:sldLayoutId id="2147483769"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ctr" rtl="0" eaLnBrk="0" fontAlgn="base" hangingPunct="0">
        <a:spcBef>
          <a:spcPct val="0"/>
        </a:spcBef>
        <a:spcAft>
          <a:spcPct val="0"/>
        </a:spcAft>
        <a:defRPr kumimoji="1" sz="4400" b="1">
          <a:solidFill>
            <a:schemeClr val="tx2"/>
          </a:solidFill>
          <a:latin typeface="+mj-lt"/>
          <a:ea typeface="+mj-ea"/>
          <a:cs typeface="+mj-cs"/>
        </a:defRPr>
      </a:lvl1pPr>
      <a:lvl2pPr algn="ctr" rtl="0" eaLnBrk="0" fontAlgn="base" hangingPunct="0">
        <a:spcBef>
          <a:spcPct val="0"/>
        </a:spcBef>
        <a:spcAft>
          <a:spcPct val="0"/>
        </a:spcAft>
        <a:defRPr kumimoji="1" sz="4400" b="1">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b="1">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b="1">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b="1">
          <a:solidFill>
            <a:schemeClr val="tx2"/>
          </a:solidFill>
          <a:latin typeface="Times New Roman" pitchFamily="18" charset="0"/>
          <a:ea typeface="宋体" charset="-122"/>
        </a:defRPr>
      </a:lvl5pPr>
      <a:lvl6pPr marL="457200" algn="ctr" rtl="0" fontAlgn="base">
        <a:spcBef>
          <a:spcPct val="0"/>
        </a:spcBef>
        <a:spcAft>
          <a:spcPct val="0"/>
        </a:spcAft>
        <a:defRPr kumimoji="1" sz="4400" b="1">
          <a:solidFill>
            <a:schemeClr val="tx2"/>
          </a:solidFill>
          <a:latin typeface="Times New Roman" pitchFamily="18" charset="0"/>
          <a:ea typeface="宋体" charset="-122"/>
        </a:defRPr>
      </a:lvl6pPr>
      <a:lvl7pPr marL="914400" algn="ctr" rtl="0" fontAlgn="base">
        <a:spcBef>
          <a:spcPct val="0"/>
        </a:spcBef>
        <a:spcAft>
          <a:spcPct val="0"/>
        </a:spcAft>
        <a:defRPr kumimoji="1" sz="4400" b="1">
          <a:solidFill>
            <a:schemeClr val="tx2"/>
          </a:solidFill>
          <a:latin typeface="Times New Roman" pitchFamily="18" charset="0"/>
          <a:ea typeface="宋体" charset="-122"/>
        </a:defRPr>
      </a:lvl7pPr>
      <a:lvl8pPr marL="1371600" algn="ctr" rtl="0" fontAlgn="base">
        <a:spcBef>
          <a:spcPct val="0"/>
        </a:spcBef>
        <a:spcAft>
          <a:spcPct val="0"/>
        </a:spcAft>
        <a:defRPr kumimoji="1" sz="4400" b="1">
          <a:solidFill>
            <a:schemeClr val="tx2"/>
          </a:solidFill>
          <a:latin typeface="Times New Roman" pitchFamily="18" charset="0"/>
          <a:ea typeface="宋体" charset="-122"/>
        </a:defRPr>
      </a:lvl8pPr>
      <a:lvl9pPr marL="1828800" algn="ctr" rtl="0" fontAlgn="base">
        <a:spcBef>
          <a:spcPct val="0"/>
        </a:spcBef>
        <a:spcAft>
          <a:spcPct val="0"/>
        </a:spcAft>
        <a:defRPr kumimoji="1" sz="4400" b="1">
          <a:solidFill>
            <a:schemeClr val="tx2"/>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lr>
          <a:srgbClr val="996633"/>
        </a:buClr>
        <a:buSzPct val="70000"/>
        <a:buFont typeface="Wingdings" pitchFamily="2" charset="2"/>
        <a:buChar char="z"/>
        <a:defRPr kumimoji="1" sz="3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rgbClr val="996633"/>
        </a:buClr>
        <a:buSzPct val="70000"/>
        <a:buFont typeface="Wingdings" pitchFamily="2" charset="2"/>
        <a:buChar char="z"/>
        <a:defRPr kumimoji="1" sz="2800">
          <a:solidFill>
            <a:schemeClr val="tx1"/>
          </a:solidFill>
          <a:effectLst>
            <a:outerShdw blurRad="38100" dist="38100" dir="2700000" algn="tl">
              <a:srgbClr val="C0C0C0"/>
            </a:outerShdw>
          </a:effectLst>
          <a:latin typeface="+mn-lt"/>
          <a:ea typeface="+mn-ea"/>
        </a:defRPr>
      </a:lvl2pPr>
      <a:lvl3pPr marL="1143000" indent="-228600" algn="l" rtl="0" eaLnBrk="0" fontAlgn="base" hangingPunct="0">
        <a:spcBef>
          <a:spcPct val="20000"/>
        </a:spcBef>
        <a:spcAft>
          <a:spcPct val="0"/>
        </a:spcAft>
        <a:buClr>
          <a:srgbClr val="996633"/>
        </a:buClr>
        <a:buSzPct val="70000"/>
        <a:buFont typeface="Wingdings" pitchFamily="2" charset="2"/>
        <a:buChar char="z"/>
        <a:defRPr kumimoji="1" sz="2400">
          <a:solidFill>
            <a:schemeClr val="tx1"/>
          </a:solidFill>
          <a:effectLst>
            <a:outerShdw blurRad="38100" dist="38100" dir="2700000" algn="tl">
              <a:srgbClr val="C0C0C0"/>
            </a:outerShdw>
          </a:effectLst>
          <a:latin typeface="+mn-lt"/>
          <a:ea typeface="+mn-ea"/>
        </a:defRPr>
      </a:lvl3pPr>
      <a:lvl4pPr marL="1600200" indent="-228600" algn="l" rtl="0" eaLnBrk="0" fontAlgn="base" hangingPunct="0">
        <a:spcBef>
          <a:spcPct val="20000"/>
        </a:spcBef>
        <a:spcAft>
          <a:spcPct val="0"/>
        </a:spcAft>
        <a:buClr>
          <a:srgbClr val="996633"/>
        </a:buClr>
        <a:buSzPct val="70000"/>
        <a:buFont typeface="Wingdings" pitchFamily="2" charset="2"/>
        <a:buChar char="z"/>
        <a:defRPr kumimoji="1" sz="2000">
          <a:solidFill>
            <a:schemeClr val="tx1"/>
          </a:solidFill>
          <a:effectLst>
            <a:outerShdw blurRad="38100" dist="38100" dir="2700000" algn="tl">
              <a:srgbClr val="C0C0C0"/>
            </a:outerShdw>
          </a:effectLst>
          <a:latin typeface="+mn-lt"/>
          <a:ea typeface="+mn-ea"/>
        </a:defRPr>
      </a:lvl4pPr>
      <a:lvl5pPr marL="2057400" indent="-228600" algn="l" rtl="0" eaLnBrk="0" fontAlgn="base" hangingPunct="0">
        <a:spcBef>
          <a:spcPct val="20000"/>
        </a:spcBef>
        <a:spcAft>
          <a:spcPct val="0"/>
        </a:spcAft>
        <a:buClr>
          <a:srgbClr val="996633"/>
        </a:buClr>
        <a:buSzPct val="70000"/>
        <a:buFont typeface="Wingdings" pitchFamily="2" charset="2"/>
        <a:buChar char="z"/>
        <a:defRPr kumimoji="1" sz="2000">
          <a:solidFill>
            <a:schemeClr val="tx1"/>
          </a:solidFill>
          <a:effectLst>
            <a:outerShdw blurRad="38100" dist="38100" dir="2700000" algn="tl">
              <a:srgbClr val="C0C0C0"/>
            </a:outerShdw>
          </a:effectLst>
          <a:latin typeface="+mn-lt"/>
          <a:ea typeface="+mn-ea"/>
        </a:defRPr>
      </a:lvl5pPr>
      <a:lvl6pPr marL="2514600" indent="-228600" algn="l" rtl="0" fontAlgn="base">
        <a:spcBef>
          <a:spcPct val="20000"/>
        </a:spcBef>
        <a:spcAft>
          <a:spcPct val="0"/>
        </a:spcAft>
        <a:buClr>
          <a:srgbClr val="996633"/>
        </a:buClr>
        <a:buSzPct val="70000"/>
        <a:buFont typeface="Wingdings" pitchFamily="2" charset="2"/>
        <a:buChar char="z"/>
        <a:defRPr kumimoji="1"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lr>
          <a:srgbClr val="996633"/>
        </a:buClr>
        <a:buSzPct val="70000"/>
        <a:buFont typeface="Wingdings" pitchFamily="2" charset="2"/>
        <a:buChar char="z"/>
        <a:defRPr kumimoji="1"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lr>
          <a:srgbClr val="996633"/>
        </a:buClr>
        <a:buSzPct val="70000"/>
        <a:buFont typeface="Wingdings" pitchFamily="2" charset="2"/>
        <a:buChar char="z"/>
        <a:defRPr kumimoji="1"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lr>
          <a:srgbClr val="996633"/>
        </a:buClr>
        <a:buSzPct val="70000"/>
        <a:buFont typeface="Wingdings" pitchFamily="2" charset="2"/>
        <a:buChar char="z"/>
        <a:defRPr kumimoji="1" sz="2000">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9"/>
          <p:cNvSpPr>
            <a:spLocks noGrp="1" noChangeArrowheads="1"/>
          </p:cNvSpPr>
          <p:nvPr>
            <p:ph type="title"/>
          </p:nvPr>
        </p:nvSpPr>
        <p:spPr bwMode="auto">
          <a:xfrm>
            <a:off x="1150938" y="617538"/>
            <a:ext cx="77930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3075"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61451"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a:solidFill>
                  <a:srgbClr val="000000"/>
                </a:solidFill>
                <a:latin typeface="Tahoma" pitchFamily="34" charset="0"/>
              </a:defRPr>
            </a:lvl1pPr>
          </a:lstStyle>
          <a:p>
            <a:pPr>
              <a:defRPr/>
            </a:pPr>
            <a:endParaRPr lang="en-US" altLang="zh-CN"/>
          </a:p>
        </p:txBody>
      </p:sp>
      <p:sp>
        <p:nvSpPr>
          <p:cNvPr id="61452"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kumimoji="0" sz="1400">
                <a:solidFill>
                  <a:srgbClr val="000000"/>
                </a:solidFill>
                <a:latin typeface="Tahoma" pitchFamily="34" charset="0"/>
              </a:defRPr>
            </a:lvl1pPr>
          </a:lstStyle>
          <a:p>
            <a:pPr>
              <a:defRPr/>
            </a:pPr>
            <a:endParaRPr lang="en-US" altLang="zh-CN"/>
          </a:p>
        </p:txBody>
      </p:sp>
      <p:sp>
        <p:nvSpPr>
          <p:cNvPr id="61453"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a:solidFill>
                  <a:srgbClr val="000000"/>
                </a:solidFill>
                <a:latin typeface="Tahoma" pitchFamily="34" charset="0"/>
              </a:defRPr>
            </a:lvl1pPr>
          </a:lstStyle>
          <a:p>
            <a:pPr>
              <a:defRPr/>
            </a:pPr>
            <a:fld id="{FBD406FC-7827-4C91-B432-0D23545175B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l" rtl="0" fontAlgn="base">
        <a:spcBef>
          <a:spcPct val="0"/>
        </a:spcBef>
        <a:spcAft>
          <a:spcPct val="0"/>
        </a:spcAft>
        <a:defRPr kumimoji="1" sz="4400">
          <a:solidFill>
            <a:schemeClr val="tx2"/>
          </a:solidFill>
          <a:latin typeface="Tahoma" pitchFamily="34" charset="0"/>
          <a:ea typeface="宋体" pitchFamily="2" charset="-122"/>
        </a:defRPr>
      </a:lvl6pPr>
      <a:lvl7pPr marL="914400" algn="l" rtl="0" fontAlgn="base">
        <a:spcBef>
          <a:spcPct val="0"/>
        </a:spcBef>
        <a:spcAft>
          <a:spcPct val="0"/>
        </a:spcAft>
        <a:defRPr kumimoji="1" sz="4400">
          <a:solidFill>
            <a:schemeClr val="tx2"/>
          </a:solidFill>
          <a:latin typeface="Tahoma" pitchFamily="34" charset="0"/>
          <a:ea typeface="宋体" pitchFamily="2" charset="-122"/>
        </a:defRPr>
      </a:lvl7pPr>
      <a:lvl8pPr marL="1371600" algn="l" rtl="0" fontAlgn="base">
        <a:spcBef>
          <a:spcPct val="0"/>
        </a:spcBef>
        <a:spcAft>
          <a:spcPct val="0"/>
        </a:spcAft>
        <a:defRPr kumimoji="1" sz="4400">
          <a:solidFill>
            <a:schemeClr val="tx2"/>
          </a:solidFill>
          <a:latin typeface="Tahoma" pitchFamily="34" charset="0"/>
          <a:ea typeface="宋体" pitchFamily="2" charset="-122"/>
        </a:defRPr>
      </a:lvl8pPr>
      <a:lvl9pPr marL="1828800" algn="l" rtl="0" fontAlgn="base">
        <a:spcBef>
          <a:spcPct val="0"/>
        </a:spcBef>
        <a:spcAft>
          <a:spcPct val="0"/>
        </a:spcAft>
        <a:defRPr kumimoji="1"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9"/>
          <p:cNvSpPr>
            <a:spLocks noGrp="1" noChangeArrowheads="1"/>
          </p:cNvSpPr>
          <p:nvPr>
            <p:ph type="title"/>
          </p:nvPr>
        </p:nvSpPr>
        <p:spPr bwMode="auto">
          <a:xfrm>
            <a:off x="1150938" y="617538"/>
            <a:ext cx="77930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4099"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61451"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a:solidFill>
                  <a:srgbClr val="000000"/>
                </a:solidFill>
                <a:latin typeface="Tahoma" pitchFamily="34" charset="0"/>
              </a:defRPr>
            </a:lvl1pPr>
          </a:lstStyle>
          <a:p>
            <a:pPr>
              <a:defRPr/>
            </a:pPr>
            <a:endParaRPr lang="en-US" altLang="zh-CN"/>
          </a:p>
        </p:txBody>
      </p:sp>
      <p:sp>
        <p:nvSpPr>
          <p:cNvPr id="61452"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kumimoji="0" sz="1400">
                <a:solidFill>
                  <a:srgbClr val="000000"/>
                </a:solidFill>
                <a:latin typeface="Tahoma" pitchFamily="34" charset="0"/>
              </a:defRPr>
            </a:lvl1pPr>
          </a:lstStyle>
          <a:p>
            <a:pPr>
              <a:defRPr/>
            </a:pPr>
            <a:endParaRPr lang="en-US" altLang="zh-CN"/>
          </a:p>
        </p:txBody>
      </p:sp>
      <p:sp>
        <p:nvSpPr>
          <p:cNvPr id="61453"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a:solidFill>
                  <a:srgbClr val="000000"/>
                </a:solidFill>
                <a:latin typeface="Tahoma" pitchFamily="34" charset="0"/>
              </a:defRPr>
            </a:lvl1pPr>
          </a:lstStyle>
          <a:p>
            <a:pPr>
              <a:defRPr/>
            </a:pPr>
            <a:fld id="{23AA5CB8-F319-4B90-B605-783AE156F56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l" rtl="0" fontAlgn="base">
        <a:spcBef>
          <a:spcPct val="0"/>
        </a:spcBef>
        <a:spcAft>
          <a:spcPct val="0"/>
        </a:spcAft>
        <a:defRPr kumimoji="1" sz="4400">
          <a:solidFill>
            <a:schemeClr val="tx2"/>
          </a:solidFill>
          <a:latin typeface="Tahoma" pitchFamily="34" charset="0"/>
          <a:ea typeface="宋体" pitchFamily="2" charset="-122"/>
        </a:defRPr>
      </a:lvl6pPr>
      <a:lvl7pPr marL="914400" algn="l" rtl="0" fontAlgn="base">
        <a:spcBef>
          <a:spcPct val="0"/>
        </a:spcBef>
        <a:spcAft>
          <a:spcPct val="0"/>
        </a:spcAft>
        <a:defRPr kumimoji="1" sz="4400">
          <a:solidFill>
            <a:schemeClr val="tx2"/>
          </a:solidFill>
          <a:latin typeface="Tahoma" pitchFamily="34" charset="0"/>
          <a:ea typeface="宋体" pitchFamily="2" charset="-122"/>
        </a:defRPr>
      </a:lvl7pPr>
      <a:lvl8pPr marL="1371600" algn="l" rtl="0" fontAlgn="base">
        <a:spcBef>
          <a:spcPct val="0"/>
        </a:spcBef>
        <a:spcAft>
          <a:spcPct val="0"/>
        </a:spcAft>
        <a:defRPr kumimoji="1" sz="4400">
          <a:solidFill>
            <a:schemeClr val="tx2"/>
          </a:solidFill>
          <a:latin typeface="Tahoma" pitchFamily="34" charset="0"/>
          <a:ea typeface="宋体" pitchFamily="2" charset="-122"/>
        </a:defRPr>
      </a:lvl8pPr>
      <a:lvl9pPr marL="1828800" algn="l" rtl="0" fontAlgn="base">
        <a:spcBef>
          <a:spcPct val="0"/>
        </a:spcBef>
        <a:spcAft>
          <a:spcPct val="0"/>
        </a:spcAft>
        <a:defRPr kumimoji="1"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978" name="Rectangle 2"/>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b="0">
                <a:solidFill>
                  <a:srgbClr val="000000"/>
                </a:solidFill>
                <a:latin typeface="Times New Roman"/>
                <a:ea typeface="宋体"/>
              </a:defRPr>
            </a:lvl1pPr>
          </a:lstStyle>
          <a:p>
            <a:pPr>
              <a:defRPr/>
            </a:pPr>
            <a:endParaRPr lang="en-US" altLang="zh-CN"/>
          </a:p>
        </p:txBody>
      </p:sp>
      <p:sp>
        <p:nvSpPr>
          <p:cNvPr id="126979" name="Rectangle 3"/>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kumimoji="0" sz="1400" b="0">
                <a:solidFill>
                  <a:srgbClr val="000000"/>
                </a:solidFill>
                <a:latin typeface="Times New Roman"/>
                <a:ea typeface="宋体"/>
              </a:defRPr>
            </a:lvl1pPr>
          </a:lstStyle>
          <a:p>
            <a:pPr>
              <a:defRPr/>
            </a:pPr>
            <a:endParaRPr lang="en-US" altLang="zh-CN"/>
          </a:p>
        </p:txBody>
      </p:sp>
      <p:sp>
        <p:nvSpPr>
          <p:cNvPr id="126980" name="Rectangle 4"/>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0" sz="1400" b="0">
                <a:solidFill>
                  <a:srgbClr val="000000"/>
                </a:solidFill>
                <a:latin typeface="Times New Roman"/>
                <a:ea typeface="宋体"/>
              </a:defRPr>
            </a:lvl1pPr>
          </a:lstStyle>
          <a:p>
            <a:pPr>
              <a:defRPr/>
            </a:pPr>
            <a:fld id="{042E8627-4F95-4224-ACDB-470F27A5C9B0}" type="slidenum">
              <a:rPr lang="en-US" altLang="zh-CN"/>
              <a:pPr>
                <a:defRPr/>
              </a:pPr>
              <a:t>‹#›</a:t>
            </a:fld>
            <a:endParaRPr lang="en-US" altLang="zh-CN"/>
          </a:p>
        </p:txBody>
      </p:sp>
      <p:sp>
        <p:nvSpPr>
          <p:cNvPr id="5125" name="Rectangle 5"/>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26982" name="Rectangle 6"/>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Tree>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Lst>
  <p:txStyles>
    <p:titleStyle>
      <a:lvl1pPr algn="ctr" rtl="0" eaLnBrk="0" fontAlgn="base" hangingPunct="0">
        <a:spcBef>
          <a:spcPct val="0"/>
        </a:spcBef>
        <a:spcAft>
          <a:spcPct val="0"/>
        </a:spcAft>
        <a:defRPr kumimoji="1" sz="4400" b="1">
          <a:solidFill>
            <a:schemeClr val="tx2"/>
          </a:solidFill>
          <a:latin typeface="+mj-lt"/>
          <a:ea typeface="+mj-ea"/>
          <a:cs typeface="+mj-cs"/>
        </a:defRPr>
      </a:lvl1pPr>
      <a:lvl2pPr algn="ctr" rtl="0" eaLnBrk="0" fontAlgn="base" hangingPunct="0">
        <a:spcBef>
          <a:spcPct val="0"/>
        </a:spcBef>
        <a:spcAft>
          <a:spcPct val="0"/>
        </a:spcAft>
        <a:defRPr kumimoji="1" sz="4400" b="1">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b="1">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b="1">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b="1">
          <a:solidFill>
            <a:schemeClr val="tx2"/>
          </a:solidFill>
          <a:latin typeface="Times New Roman" pitchFamily="18" charset="0"/>
          <a:ea typeface="宋体" charset="-122"/>
        </a:defRPr>
      </a:lvl5pPr>
      <a:lvl6pPr marL="457200" algn="ctr" rtl="0" fontAlgn="base">
        <a:spcBef>
          <a:spcPct val="0"/>
        </a:spcBef>
        <a:spcAft>
          <a:spcPct val="0"/>
        </a:spcAft>
        <a:defRPr kumimoji="1" sz="4400" b="1">
          <a:solidFill>
            <a:schemeClr val="tx2"/>
          </a:solidFill>
          <a:latin typeface="Times New Roman" pitchFamily="18" charset="0"/>
          <a:ea typeface="宋体" charset="-122"/>
        </a:defRPr>
      </a:lvl6pPr>
      <a:lvl7pPr marL="914400" algn="ctr" rtl="0" fontAlgn="base">
        <a:spcBef>
          <a:spcPct val="0"/>
        </a:spcBef>
        <a:spcAft>
          <a:spcPct val="0"/>
        </a:spcAft>
        <a:defRPr kumimoji="1" sz="4400" b="1">
          <a:solidFill>
            <a:schemeClr val="tx2"/>
          </a:solidFill>
          <a:latin typeface="Times New Roman" pitchFamily="18" charset="0"/>
          <a:ea typeface="宋体" charset="-122"/>
        </a:defRPr>
      </a:lvl7pPr>
      <a:lvl8pPr marL="1371600" algn="ctr" rtl="0" fontAlgn="base">
        <a:spcBef>
          <a:spcPct val="0"/>
        </a:spcBef>
        <a:spcAft>
          <a:spcPct val="0"/>
        </a:spcAft>
        <a:defRPr kumimoji="1" sz="4400" b="1">
          <a:solidFill>
            <a:schemeClr val="tx2"/>
          </a:solidFill>
          <a:latin typeface="Times New Roman" pitchFamily="18" charset="0"/>
          <a:ea typeface="宋体" charset="-122"/>
        </a:defRPr>
      </a:lvl8pPr>
      <a:lvl9pPr marL="1828800" algn="ctr" rtl="0" fontAlgn="base">
        <a:spcBef>
          <a:spcPct val="0"/>
        </a:spcBef>
        <a:spcAft>
          <a:spcPct val="0"/>
        </a:spcAft>
        <a:defRPr kumimoji="1" sz="4400" b="1">
          <a:solidFill>
            <a:schemeClr val="tx2"/>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lr>
          <a:srgbClr val="996633"/>
        </a:buClr>
        <a:buSzPct val="70000"/>
        <a:buFont typeface="Wingdings" pitchFamily="2" charset="2"/>
        <a:buChar char="z"/>
        <a:defRPr kumimoji="1" sz="3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rgbClr val="996633"/>
        </a:buClr>
        <a:buSzPct val="70000"/>
        <a:buFont typeface="Wingdings" pitchFamily="2" charset="2"/>
        <a:buChar char="z"/>
        <a:defRPr kumimoji="1" sz="2800">
          <a:solidFill>
            <a:schemeClr val="tx1"/>
          </a:solidFill>
          <a:effectLst>
            <a:outerShdw blurRad="38100" dist="38100" dir="2700000" algn="tl">
              <a:srgbClr val="C0C0C0"/>
            </a:outerShdw>
          </a:effectLst>
          <a:latin typeface="+mn-lt"/>
          <a:ea typeface="+mn-ea"/>
        </a:defRPr>
      </a:lvl2pPr>
      <a:lvl3pPr marL="1143000" indent="-228600" algn="l" rtl="0" eaLnBrk="0" fontAlgn="base" hangingPunct="0">
        <a:spcBef>
          <a:spcPct val="20000"/>
        </a:spcBef>
        <a:spcAft>
          <a:spcPct val="0"/>
        </a:spcAft>
        <a:buClr>
          <a:srgbClr val="996633"/>
        </a:buClr>
        <a:buSzPct val="70000"/>
        <a:buFont typeface="Wingdings" pitchFamily="2" charset="2"/>
        <a:buChar char="z"/>
        <a:defRPr kumimoji="1" sz="2400">
          <a:solidFill>
            <a:schemeClr val="tx1"/>
          </a:solidFill>
          <a:effectLst>
            <a:outerShdw blurRad="38100" dist="38100" dir="2700000" algn="tl">
              <a:srgbClr val="C0C0C0"/>
            </a:outerShdw>
          </a:effectLst>
          <a:latin typeface="+mn-lt"/>
          <a:ea typeface="+mn-ea"/>
        </a:defRPr>
      </a:lvl3pPr>
      <a:lvl4pPr marL="1600200" indent="-228600" algn="l" rtl="0" eaLnBrk="0" fontAlgn="base" hangingPunct="0">
        <a:spcBef>
          <a:spcPct val="20000"/>
        </a:spcBef>
        <a:spcAft>
          <a:spcPct val="0"/>
        </a:spcAft>
        <a:buClr>
          <a:srgbClr val="996633"/>
        </a:buClr>
        <a:buSzPct val="70000"/>
        <a:buFont typeface="Wingdings" pitchFamily="2" charset="2"/>
        <a:buChar char="z"/>
        <a:defRPr kumimoji="1" sz="2000">
          <a:solidFill>
            <a:schemeClr val="tx1"/>
          </a:solidFill>
          <a:effectLst>
            <a:outerShdw blurRad="38100" dist="38100" dir="2700000" algn="tl">
              <a:srgbClr val="C0C0C0"/>
            </a:outerShdw>
          </a:effectLst>
          <a:latin typeface="+mn-lt"/>
          <a:ea typeface="+mn-ea"/>
        </a:defRPr>
      </a:lvl4pPr>
      <a:lvl5pPr marL="2057400" indent="-228600" algn="l" rtl="0" eaLnBrk="0" fontAlgn="base" hangingPunct="0">
        <a:spcBef>
          <a:spcPct val="20000"/>
        </a:spcBef>
        <a:spcAft>
          <a:spcPct val="0"/>
        </a:spcAft>
        <a:buClr>
          <a:srgbClr val="996633"/>
        </a:buClr>
        <a:buSzPct val="70000"/>
        <a:buFont typeface="Wingdings" pitchFamily="2" charset="2"/>
        <a:buChar char="z"/>
        <a:defRPr kumimoji="1" sz="2000">
          <a:solidFill>
            <a:schemeClr val="tx1"/>
          </a:solidFill>
          <a:effectLst>
            <a:outerShdw blurRad="38100" dist="38100" dir="2700000" algn="tl">
              <a:srgbClr val="C0C0C0"/>
            </a:outerShdw>
          </a:effectLst>
          <a:latin typeface="+mn-lt"/>
          <a:ea typeface="+mn-ea"/>
        </a:defRPr>
      </a:lvl5pPr>
      <a:lvl6pPr marL="2514600" indent="-228600" algn="l" rtl="0" fontAlgn="base">
        <a:spcBef>
          <a:spcPct val="20000"/>
        </a:spcBef>
        <a:spcAft>
          <a:spcPct val="0"/>
        </a:spcAft>
        <a:buClr>
          <a:srgbClr val="996633"/>
        </a:buClr>
        <a:buSzPct val="70000"/>
        <a:buFont typeface="Wingdings" pitchFamily="2" charset="2"/>
        <a:buChar char="z"/>
        <a:defRPr kumimoji="1"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lr>
          <a:srgbClr val="996633"/>
        </a:buClr>
        <a:buSzPct val="70000"/>
        <a:buFont typeface="Wingdings" pitchFamily="2" charset="2"/>
        <a:buChar char="z"/>
        <a:defRPr kumimoji="1"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lr>
          <a:srgbClr val="996633"/>
        </a:buClr>
        <a:buSzPct val="70000"/>
        <a:buFont typeface="Wingdings" pitchFamily="2" charset="2"/>
        <a:buChar char="z"/>
        <a:defRPr kumimoji="1"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lr>
          <a:srgbClr val="996633"/>
        </a:buClr>
        <a:buSzPct val="70000"/>
        <a:buFont typeface="Wingdings" pitchFamily="2" charset="2"/>
        <a:buChar char="z"/>
        <a:defRPr kumimoji="1" sz="2000">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Grp="1" noChangeArrowheads="1"/>
          </p:cNvSpPr>
          <p:nvPr>
            <p:ph type="title"/>
          </p:nvPr>
        </p:nvSpPr>
        <p:spPr bwMode="auto">
          <a:xfrm>
            <a:off x="1150938" y="617538"/>
            <a:ext cx="77930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7"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61451"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a:lvl1pPr>
          </a:lstStyle>
          <a:p>
            <a:pPr>
              <a:defRPr/>
            </a:pPr>
            <a:endParaRPr lang="en-US" altLang="zh-CN">
              <a:solidFill>
                <a:srgbClr val="000000"/>
              </a:solidFill>
              <a:latin typeface="Tahoma" pitchFamily="34" charset="0"/>
            </a:endParaRPr>
          </a:p>
        </p:txBody>
      </p:sp>
      <p:sp>
        <p:nvSpPr>
          <p:cNvPr id="61452"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kumimoji="0" sz="1400"/>
            </a:lvl1pPr>
          </a:lstStyle>
          <a:p>
            <a:pPr>
              <a:defRPr/>
            </a:pPr>
            <a:endParaRPr lang="en-US" altLang="zh-CN">
              <a:solidFill>
                <a:srgbClr val="000000"/>
              </a:solidFill>
              <a:latin typeface="Tahoma" pitchFamily="34" charset="0"/>
            </a:endParaRPr>
          </a:p>
        </p:txBody>
      </p:sp>
      <p:sp>
        <p:nvSpPr>
          <p:cNvPr id="61453"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a:lvl1pPr>
          </a:lstStyle>
          <a:p>
            <a:pPr>
              <a:defRPr/>
            </a:pPr>
            <a:fld id="{6A3A951E-D18F-4B71-9E1F-24063477591A}" type="slidenum">
              <a:rPr lang="en-US" altLang="zh-CN">
                <a:solidFill>
                  <a:srgbClr val="000000"/>
                </a:solidFill>
                <a:latin typeface="Tahoma" pitchFamily="34" charset="0"/>
              </a:rPr>
              <a:pPr>
                <a:defRPr/>
              </a:pPr>
              <a:t>‹#›</a:t>
            </a:fld>
            <a:endParaRPr lang="en-US" altLang="zh-CN">
              <a:solidFill>
                <a:srgbClr val="000000"/>
              </a:solidFill>
              <a:latin typeface="Tahoma" pitchFamily="34" charset="0"/>
            </a:endParaRPr>
          </a:p>
        </p:txBody>
      </p:sp>
    </p:spTree>
    <p:extLst>
      <p:ext uri="{BB962C8B-B14F-4D97-AF65-F5344CB8AC3E}">
        <p14:creationId xmlns:p14="http://schemas.microsoft.com/office/powerpoint/2010/main" val="3901756240"/>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l" rtl="0" fontAlgn="base">
        <a:spcBef>
          <a:spcPct val="0"/>
        </a:spcBef>
        <a:spcAft>
          <a:spcPct val="0"/>
        </a:spcAft>
        <a:defRPr kumimoji="1" sz="4400">
          <a:solidFill>
            <a:schemeClr val="tx2"/>
          </a:solidFill>
          <a:latin typeface="Tahoma" pitchFamily="34" charset="0"/>
          <a:ea typeface="宋体" pitchFamily="2" charset="-122"/>
        </a:defRPr>
      </a:lvl6pPr>
      <a:lvl7pPr marL="914400" algn="l" rtl="0" fontAlgn="base">
        <a:spcBef>
          <a:spcPct val="0"/>
        </a:spcBef>
        <a:spcAft>
          <a:spcPct val="0"/>
        </a:spcAft>
        <a:defRPr kumimoji="1" sz="4400">
          <a:solidFill>
            <a:schemeClr val="tx2"/>
          </a:solidFill>
          <a:latin typeface="Tahoma" pitchFamily="34" charset="0"/>
          <a:ea typeface="宋体" pitchFamily="2" charset="-122"/>
        </a:defRPr>
      </a:lvl7pPr>
      <a:lvl8pPr marL="1371600" algn="l" rtl="0" fontAlgn="base">
        <a:spcBef>
          <a:spcPct val="0"/>
        </a:spcBef>
        <a:spcAft>
          <a:spcPct val="0"/>
        </a:spcAft>
        <a:defRPr kumimoji="1" sz="4400">
          <a:solidFill>
            <a:schemeClr val="tx2"/>
          </a:solidFill>
          <a:latin typeface="Tahoma" pitchFamily="34" charset="0"/>
          <a:ea typeface="宋体" pitchFamily="2" charset="-122"/>
        </a:defRPr>
      </a:lvl8pPr>
      <a:lvl9pPr marL="1828800" algn="l" rtl="0" fontAlgn="base">
        <a:spcBef>
          <a:spcPct val="0"/>
        </a:spcBef>
        <a:spcAft>
          <a:spcPct val="0"/>
        </a:spcAft>
        <a:defRPr kumimoji="1"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emf"/><Relationship Id="rId13" Type="http://schemas.openxmlformats.org/officeDocument/2006/relationships/oleObject" Target="../embeddings/oleObject6.bin"/><Relationship Id="rId18" Type="http://schemas.openxmlformats.org/officeDocument/2006/relationships/image" Target="../media/image8.e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5.emf"/><Relationship Id="rId17" Type="http://schemas.openxmlformats.org/officeDocument/2006/relationships/oleObject" Target="../embeddings/oleObject8.bin"/><Relationship Id="rId2" Type="http://schemas.openxmlformats.org/officeDocument/2006/relationships/slideLayout" Target="../slideLayouts/slideLayout7.xml"/><Relationship Id="rId16" Type="http://schemas.openxmlformats.org/officeDocument/2006/relationships/image" Target="../media/image7.emf"/><Relationship Id="rId20" Type="http://schemas.openxmlformats.org/officeDocument/2006/relationships/image" Target="../media/image9.emf"/><Relationship Id="rId1" Type="http://schemas.openxmlformats.org/officeDocument/2006/relationships/vmlDrawing" Target="../drawings/vmlDrawing1.vml"/><Relationship Id="rId6" Type="http://schemas.openxmlformats.org/officeDocument/2006/relationships/image" Target="../media/image2.e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4.emf"/><Relationship Id="rId19" Type="http://schemas.openxmlformats.org/officeDocument/2006/relationships/oleObject" Target="../embeddings/oleObject9.bin"/><Relationship Id="rId4" Type="http://schemas.openxmlformats.org/officeDocument/2006/relationships/image" Target="../media/image1.emf"/><Relationship Id="rId9" Type="http://schemas.openxmlformats.org/officeDocument/2006/relationships/oleObject" Target="../embeddings/oleObject4.bin"/><Relationship Id="rId14" Type="http://schemas.openxmlformats.org/officeDocument/2006/relationships/image" Target="../media/image6.emf"/><Relationship Id="rId22" Type="http://schemas.openxmlformats.org/officeDocument/2006/relationships/image" Target="../media/image10.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2.emf"/><Relationship Id="rId5" Type="http://schemas.openxmlformats.org/officeDocument/2006/relationships/oleObject" Target="../embeddings/oleObject12.bin"/><Relationship Id="rId10" Type="http://schemas.openxmlformats.org/officeDocument/2006/relationships/image" Target="../media/image14.emf"/><Relationship Id="rId4" Type="http://schemas.openxmlformats.org/officeDocument/2006/relationships/image" Target="../media/image11.emf"/><Relationship Id="rId9" Type="http://schemas.openxmlformats.org/officeDocument/2006/relationships/oleObject" Target="../embeddings/oleObject14.bin"/></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1.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1.emf"/><Relationship Id="rId13" Type="http://schemas.openxmlformats.org/officeDocument/2006/relationships/oleObject" Target="../embeddings/oleObject20.bin"/><Relationship Id="rId18" Type="http://schemas.openxmlformats.org/officeDocument/2006/relationships/image" Target="../media/image26.emf"/><Relationship Id="rId26" Type="http://schemas.openxmlformats.org/officeDocument/2006/relationships/image" Target="../media/image30.emf"/><Relationship Id="rId3" Type="http://schemas.openxmlformats.org/officeDocument/2006/relationships/oleObject" Target="../embeddings/oleObject15.bin"/><Relationship Id="rId21" Type="http://schemas.openxmlformats.org/officeDocument/2006/relationships/oleObject" Target="../embeddings/oleObject24.bin"/><Relationship Id="rId7" Type="http://schemas.openxmlformats.org/officeDocument/2006/relationships/oleObject" Target="../embeddings/oleObject17.bin"/><Relationship Id="rId12" Type="http://schemas.openxmlformats.org/officeDocument/2006/relationships/image" Target="../media/image23.emf"/><Relationship Id="rId17" Type="http://schemas.openxmlformats.org/officeDocument/2006/relationships/oleObject" Target="../embeddings/oleObject22.bin"/><Relationship Id="rId25" Type="http://schemas.openxmlformats.org/officeDocument/2006/relationships/oleObject" Target="../embeddings/oleObject26.bin"/><Relationship Id="rId2" Type="http://schemas.openxmlformats.org/officeDocument/2006/relationships/slideLayout" Target="../slideLayouts/slideLayout7.xml"/><Relationship Id="rId16" Type="http://schemas.openxmlformats.org/officeDocument/2006/relationships/image" Target="../media/image25.emf"/><Relationship Id="rId20" Type="http://schemas.openxmlformats.org/officeDocument/2006/relationships/image" Target="../media/image27.emf"/><Relationship Id="rId29" Type="http://schemas.openxmlformats.org/officeDocument/2006/relationships/oleObject" Target="../embeddings/oleObject28.bin"/><Relationship Id="rId1" Type="http://schemas.openxmlformats.org/officeDocument/2006/relationships/vmlDrawing" Target="../drawings/vmlDrawing3.vml"/><Relationship Id="rId6" Type="http://schemas.openxmlformats.org/officeDocument/2006/relationships/image" Target="../media/image20.emf"/><Relationship Id="rId11" Type="http://schemas.openxmlformats.org/officeDocument/2006/relationships/oleObject" Target="../embeddings/oleObject19.bin"/><Relationship Id="rId24" Type="http://schemas.openxmlformats.org/officeDocument/2006/relationships/image" Target="../media/image29.emf"/><Relationship Id="rId32" Type="http://schemas.openxmlformats.org/officeDocument/2006/relationships/image" Target="../media/image33.emf"/><Relationship Id="rId5" Type="http://schemas.openxmlformats.org/officeDocument/2006/relationships/oleObject" Target="../embeddings/oleObject16.bin"/><Relationship Id="rId15" Type="http://schemas.openxmlformats.org/officeDocument/2006/relationships/oleObject" Target="../embeddings/oleObject21.bin"/><Relationship Id="rId23" Type="http://schemas.openxmlformats.org/officeDocument/2006/relationships/oleObject" Target="../embeddings/oleObject25.bin"/><Relationship Id="rId28" Type="http://schemas.openxmlformats.org/officeDocument/2006/relationships/image" Target="../media/image31.emf"/><Relationship Id="rId10" Type="http://schemas.openxmlformats.org/officeDocument/2006/relationships/image" Target="../media/image22.emf"/><Relationship Id="rId19" Type="http://schemas.openxmlformats.org/officeDocument/2006/relationships/oleObject" Target="../embeddings/oleObject23.bin"/><Relationship Id="rId31" Type="http://schemas.openxmlformats.org/officeDocument/2006/relationships/oleObject" Target="../embeddings/oleObject29.bin"/><Relationship Id="rId4" Type="http://schemas.openxmlformats.org/officeDocument/2006/relationships/image" Target="../media/image19.emf"/><Relationship Id="rId9" Type="http://schemas.openxmlformats.org/officeDocument/2006/relationships/oleObject" Target="../embeddings/oleObject18.bin"/><Relationship Id="rId14" Type="http://schemas.openxmlformats.org/officeDocument/2006/relationships/image" Target="../media/image24.emf"/><Relationship Id="rId22" Type="http://schemas.openxmlformats.org/officeDocument/2006/relationships/image" Target="../media/image28.emf"/><Relationship Id="rId27" Type="http://schemas.openxmlformats.org/officeDocument/2006/relationships/oleObject" Target="../embeddings/oleObject27.bin"/><Relationship Id="rId30" Type="http://schemas.openxmlformats.org/officeDocument/2006/relationships/image" Target="../media/image32.emf"/></Relationships>
</file>

<file path=ppt/slides/_rels/slide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2" Type="http://schemas.openxmlformats.org/officeDocument/2006/relationships/image" Target="https://p.ananas.chaoxing.com/star3/origin/7c0871b87ac0a0469ecf893fa764e7b4.png" TargetMode="External"/><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8" Type="http://schemas.openxmlformats.org/officeDocument/2006/relationships/image" Target="../media/image37.emf"/><Relationship Id="rId13" Type="http://schemas.openxmlformats.org/officeDocument/2006/relationships/oleObject" Target="../embeddings/oleObject35.bin"/><Relationship Id="rId18" Type="http://schemas.openxmlformats.org/officeDocument/2006/relationships/image" Target="../media/image42.wmf"/><Relationship Id="rId26" Type="http://schemas.openxmlformats.org/officeDocument/2006/relationships/image" Target="../media/image46.emf"/><Relationship Id="rId3" Type="http://schemas.openxmlformats.org/officeDocument/2006/relationships/oleObject" Target="../embeddings/oleObject30.bin"/><Relationship Id="rId21" Type="http://schemas.openxmlformats.org/officeDocument/2006/relationships/oleObject" Target="../embeddings/oleObject39.bin"/><Relationship Id="rId7" Type="http://schemas.openxmlformats.org/officeDocument/2006/relationships/oleObject" Target="../embeddings/oleObject32.bin"/><Relationship Id="rId12" Type="http://schemas.openxmlformats.org/officeDocument/2006/relationships/image" Target="../media/image39.emf"/><Relationship Id="rId17" Type="http://schemas.openxmlformats.org/officeDocument/2006/relationships/oleObject" Target="../embeddings/oleObject37.bin"/><Relationship Id="rId25" Type="http://schemas.openxmlformats.org/officeDocument/2006/relationships/oleObject" Target="../embeddings/oleObject41.bin"/><Relationship Id="rId2" Type="http://schemas.openxmlformats.org/officeDocument/2006/relationships/slideLayout" Target="../slideLayouts/slideLayout7.xml"/><Relationship Id="rId16" Type="http://schemas.openxmlformats.org/officeDocument/2006/relationships/image" Target="../media/image41.emf"/><Relationship Id="rId20" Type="http://schemas.openxmlformats.org/officeDocument/2006/relationships/image" Target="../media/image43.emf"/><Relationship Id="rId29" Type="http://schemas.openxmlformats.org/officeDocument/2006/relationships/oleObject" Target="../embeddings/oleObject43.bin"/><Relationship Id="rId1" Type="http://schemas.openxmlformats.org/officeDocument/2006/relationships/vmlDrawing" Target="../drawings/vmlDrawing4.vml"/><Relationship Id="rId6" Type="http://schemas.openxmlformats.org/officeDocument/2006/relationships/image" Target="../media/image36.emf"/><Relationship Id="rId11" Type="http://schemas.openxmlformats.org/officeDocument/2006/relationships/oleObject" Target="../embeddings/oleObject34.bin"/><Relationship Id="rId24" Type="http://schemas.openxmlformats.org/officeDocument/2006/relationships/image" Target="../media/image45.wmf"/><Relationship Id="rId5" Type="http://schemas.openxmlformats.org/officeDocument/2006/relationships/oleObject" Target="../embeddings/oleObject31.bin"/><Relationship Id="rId15" Type="http://schemas.openxmlformats.org/officeDocument/2006/relationships/oleObject" Target="../embeddings/oleObject36.bin"/><Relationship Id="rId23" Type="http://schemas.openxmlformats.org/officeDocument/2006/relationships/oleObject" Target="../embeddings/oleObject40.bin"/><Relationship Id="rId28" Type="http://schemas.openxmlformats.org/officeDocument/2006/relationships/image" Target="../media/image47.emf"/><Relationship Id="rId10" Type="http://schemas.openxmlformats.org/officeDocument/2006/relationships/image" Target="../media/image38.emf"/><Relationship Id="rId19" Type="http://schemas.openxmlformats.org/officeDocument/2006/relationships/oleObject" Target="../embeddings/oleObject38.bin"/><Relationship Id="rId4" Type="http://schemas.openxmlformats.org/officeDocument/2006/relationships/image" Target="../media/image35.emf"/><Relationship Id="rId9" Type="http://schemas.openxmlformats.org/officeDocument/2006/relationships/oleObject" Target="../embeddings/oleObject33.bin"/><Relationship Id="rId14" Type="http://schemas.openxmlformats.org/officeDocument/2006/relationships/image" Target="../media/image40.emf"/><Relationship Id="rId22" Type="http://schemas.openxmlformats.org/officeDocument/2006/relationships/image" Target="../media/image44.emf"/><Relationship Id="rId27" Type="http://schemas.openxmlformats.org/officeDocument/2006/relationships/oleObject" Target="../embeddings/oleObject42.bin"/><Relationship Id="rId30" Type="http://schemas.openxmlformats.org/officeDocument/2006/relationships/image" Target="../media/image48.emf"/></Relationships>
</file>

<file path=ppt/slides/_rels/slide1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8" Type="http://schemas.openxmlformats.org/officeDocument/2006/relationships/image" Target="../media/image52.emf"/><Relationship Id="rId13" Type="http://schemas.openxmlformats.org/officeDocument/2006/relationships/oleObject" Target="../embeddings/oleObject49.bin"/><Relationship Id="rId18" Type="http://schemas.openxmlformats.org/officeDocument/2006/relationships/image" Target="../media/image44.emf"/><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image" Target="../media/image54.emf"/><Relationship Id="rId17" Type="http://schemas.openxmlformats.org/officeDocument/2006/relationships/oleObject" Target="../embeddings/oleObject51.bin"/><Relationship Id="rId2" Type="http://schemas.openxmlformats.org/officeDocument/2006/relationships/slideLayout" Target="../slideLayouts/slideLayout7.xml"/><Relationship Id="rId16" Type="http://schemas.openxmlformats.org/officeDocument/2006/relationships/image" Target="../media/image43.emf"/><Relationship Id="rId20" Type="http://schemas.openxmlformats.org/officeDocument/2006/relationships/oleObject" Target="../embeddings/oleObject53.bin"/><Relationship Id="rId1" Type="http://schemas.openxmlformats.org/officeDocument/2006/relationships/vmlDrawing" Target="../drawings/vmlDrawing5.vml"/><Relationship Id="rId6" Type="http://schemas.openxmlformats.org/officeDocument/2006/relationships/image" Target="../media/image51.emf"/><Relationship Id="rId11" Type="http://schemas.openxmlformats.org/officeDocument/2006/relationships/oleObject" Target="../embeddings/oleObject48.bin"/><Relationship Id="rId5" Type="http://schemas.openxmlformats.org/officeDocument/2006/relationships/oleObject" Target="../embeddings/oleObject45.bin"/><Relationship Id="rId15" Type="http://schemas.openxmlformats.org/officeDocument/2006/relationships/oleObject" Target="../embeddings/oleObject50.bin"/><Relationship Id="rId10" Type="http://schemas.openxmlformats.org/officeDocument/2006/relationships/image" Target="../media/image53.emf"/><Relationship Id="rId19" Type="http://schemas.openxmlformats.org/officeDocument/2006/relationships/oleObject" Target="../embeddings/oleObject52.bin"/><Relationship Id="rId4" Type="http://schemas.openxmlformats.org/officeDocument/2006/relationships/image" Target="../media/image50.emf"/><Relationship Id="rId9" Type="http://schemas.openxmlformats.org/officeDocument/2006/relationships/oleObject" Target="../embeddings/oleObject47.bin"/><Relationship Id="rId14" Type="http://schemas.openxmlformats.org/officeDocument/2006/relationships/image" Target="../media/image55.emf"/></Relationships>
</file>

<file path=ppt/slides/_rels/slide13.xml.rels><?xml version="1.0" encoding="UTF-8" standalone="yes"?>
<Relationships xmlns="http://schemas.openxmlformats.org/package/2006/relationships"><Relationship Id="rId2" Type="http://schemas.openxmlformats.org/officeDocument/2006/relationships/image" Target="https://p.ananas.chaoxing.com/star3/origin/98fc723b269df1df591e9c2dd27d8a0c.png" TargetMode="External"/><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2" Type="http://schemas.openxmlformats.org/officeDocument/2006/relationships/image" Target="https://p.ananas.chaoxing.com/star3/origin/c1cdb87d37e9f09aff805ce1dbdbe34d.png" TargetMode="External"/><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56.emf"/></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51.xml"/><Relationship Id="rId5" Type="http://schemas.openxmlformats.org/officeDocument/2006/relationships/image" Target="../media/image60.png"/><Relationship Id="rId4" Type="http://schemas.openxmlformats.org/officeDocument/2006/relationships/image" Target="../media/image59.png"/></Relationships>
</file>

<file path=ppt/slides/_rels/slide17.xml.rels><?xml version="1.0" encoding="UTF-8" standalone="yes"?>
<Relationships xmlns="http://schemas.openxmlformats.org/package/2006/relationships"><Relationship Id="rId8" Type="http://schemas.openxmlformats.org/officeDocument/2006/relationships/image" Target="../media/image63.emf"/><Relationship Id="rId13" Type="http://schemas.openxmlformats.org/officeDocument/2006/relationships/oleObject" Target="../embeddings/oleObject60.bin"/><Relationship Id="rId18" Type="http://schemas.openxmlformats.org/officeDocument/2006/relationships/image" Target="../media/image68.emf"/><Relationship Id="rId3" Type="http://schemas.openxmlformats.org/officeDocument/2006/relationships/oleObject" Target="../embeddings/oleObject55.bin"/><Relationship Id="rId21" Type="http://schemas.openxmlformats.org/officeDocument/2006/relationships/oleObject" Target="../embeddings/oleObject64.bin"/><Relationship Id="rId7" Type="http://schemas.openxmlformats.org/officeDocument/2006/relationships/oleObject" Target="../embeddings/oleObject57.bin"/><Relationship Id="rId12" Type="http://schemas.openxmlformats.org/officeDocument/2006/relationships/image" Target="../media/image65.emf"/><Relationship Id="rId17" Type="http://schemas.openxmlformats.org/officeDocument/2006/relationships/oleObject" Target="../embeddings/oleObject62.bin"/><Relationship Id="rId2" Type="http://schemas.openxmlformats.org/officeDocument/2006/relationships/slideLayout" Target="../slideLayouts/slideLayout29.xml"/><Relationship Id="rId16" Type="http://schemas.openxmlformats.org/officeDocument/2006/relationships/image" Target="../media/image67.emf"/><Relationship Id="rId20" Type="http://schemas.openxmlformats.org/officeDocument/2006/relationships/image" Target="../media/image69.emf"/><Relationship Id="rId1" Type="http://schemas.openxmlformats.org/officeDocument/2006/relationships/vmlDrawing" Target="../drawings/vmlDrawing7.vml"/><Relationship Id="rId6" Type="http://schemas.openxmlformats.org/officeDocument/2006/relationships/image" Target="../media/image62.emf"/><Relationship Id="rId11" Type="http://schemas.openxmlformats.org/officeDocument/2006/relationships/oleObject" Target="../embeddings/oleObject59.bin"/><Relationship Id="rId5" Type="http://schemas.openxmlformats.org/officeDocument/2006/relationships/oleObject" Target="../embeddings/oleObject56.bin"/><Relationship Id="rId15" Type="http://schemas.openxmlformats.org/officeDocument/2006/relationships/oleObject" Target="../embeddings/oleObject61.bin"/><Relationship Id="rId23" Type="http://schemas.openxmlformats.org/officeDocument/2006/relationships/oleObject" Target="../embeddings/oleObject65.bin"/><Relationship Id="rId10" Type="http://schemas.openxmlformats.org/officeDocument/2006/relationships/image" Target="../media/image64.emf"/><Relationship Id="rId19" Type="http://schemas.openxmlformats.org/officeDocument/2006/relationships/oleObject" Target="../embeddings/oleObject63.bin"/><Relationship Id="rId4" Type="http://schemas.openxmlformats.org/officeDocument/2006/relationships/image" Target="../media/image61.emf"/><Relationship Id="rId9" Type="http://schemas.openxmlformats.org/officeDocument/2006/relationships/oleObject" Target="../embeddings/oleObject58.bin"/><Relationship Id="rId14" Type="http://schemas.openxmlformats.org/officeDocument/2006/relationships/image" Target="../media/image66.emf"/><Relationship Id="rId22" Type="http://schemas.openxmlformats.org/officeDocument/2006/relationships/image" Target="../media/image70.emf"/></Relationships>
</file>

<file path=ppt/slides/_rels/slide18.xml.rels><?xml version="1.0" encoding="UTF-8" standalone="yes"?>
<Relationships xmlns="http://schemas.openxmlformats.org/package/2006/relationships"><Relationship Id="rId8" Type="http://schemas.openxmlformats.org/officeDocument/2006/relationships/image" Target="../media/image73.emf"/><Relationship Id="rId13" Type="http://schemas.openxmlformats.org/officeDocument/2006/relationships/image" Target="../media/image75.emf"/><Relationship Id="rId18" Type="http://schemas.openxmlformats.org/officeDocument/2006/relationships/oleObject" Target="../embeddings/oleObject73.bin"/><Relationship Id="rId3" Type="http://schemas.openxmlformats.org/officeDocument/2006/relationships/oleObject" Target="../embeddings/oleObject66.bin"/><Relationship Id="rId21" Type="http://schemas.openxmlformats.org/officeDocument/2006/relationships/image" Target="../media/image79.emf"/><Relationship Id="rId7" Type="http://schemas.openxmlformats.org/officeDocument/2006/relationships/oleObject" Target="../embeddings/oleObject68.bin"/><Relationship Id="rId12" Type="http://schemas.openxmlformats.org/officeDocument/2006/relationships/oleObject" Target="../embeddings/oleObject70.bin"/><Relationship Id="rId17" Type="http://schemas.openxmlformats.org/officeDocument/2006/relationships/image" Target="../media/image77.emf"/><Relationship Id="rId2" Type="http://schemas.openxmlformats.org/officeDocument/2006/relationships/slideLayout" Target="../slideLayouts/slideLayout40.xml"/><Relationship Id="rId16" Type="http://schemas.openxmlformats.org/officeDocument/2006/relationships/oleObject" Target="../embeddings/oleObject72.bin"/><Relationship Id="rId20" Type="http://schemas.openxmlformats.org/officeDocument/2006/relationships/oleObject" Target="../embeddings/oleObject74.bin"/><Relationship Id="rId1" Type="http://schemas.openxmlformats.org/officeDocument/2006/relationships/vmlDrawing" Target="../drawings/vmlDrawing8.vml"/><Relationship Id="rId6" Type="http://schemas.openxmlformats.org/officeDocument/2006/relationships/image" Target="../media/image72.emf"/><Relationship Id="rId11" Type="http://schemas.openxmlformats.org/officeDocument/2006/relationships/image" Target="../media/image81.png"/><Relationship Id="rId5" Type="http://schemas.openxmlformats.org/officeDocument/2006/relationships/oleObject" Target="../embeddings/oleObject67.bin"/><Relationship Id="rId15" Type="http://schemas.openxmlformats.org/officeDocument/2006/relationships/image" Target="../media/image76.emf"/><Relationship Id="rId23" Type="http://schemas.openxmlformats.org/officeDocument/2006/relationships/image" Target="../media/image80.emf"/><Relationship Id="rId10" Type="http://schemas.openxmlformats.org/officeDocument/2006/relationships/image" Target="../media/image74.emf"/><Relationship Id="rId19" Type="http://schemas.openxmlformats.org/officeDocument/2006/relationships/image" Target="../media/image78.emf"/><Relationship Id="rId4" Type="http://schemas.openxmlformats.org/officeDocument/2006/relationships/image" Target="../media/image71.emf"/><Relationship Id="rId9" Type="http://schemas.openxmlformats.org/officeDocument/2006/relationships/oleObject" Target="../embeddings/oleObject69.bin"/><Relationship Id="rId14" Type="http://schemas.openxmlformats.org/officeDocument/2006/relationships/oleObject" Target="../embeddings/oleObject71.bin"/><Relationship Id="rId22" Type="http://schemas.openxmlformats.org/officeDocument/2006/relationships/oleObject" Target="../embeddings/oleObject75.bin"/></Relationships>
</file>

<file path=ppt/slides/_rels/slide19.xml.rels><?xml version="1.0" encoding="UTF-8" standalone="yes"?>
<Relationships xmlns="http://schemas.openxmlformats.org/package/2006/relationships"><Relationship Id="rId8" Type="http://schemas.openxmlformats.org/officeDocument/2006/relationships/image" Target="../media/image84.emf"/><Relationship Id="rId13" Type="http://schemas.openxmlformats.org/officeDocument/2006/relationships/oleObject" Target="../embeddings/oleObject81.bin"/><Relationship Id="rId18" Type="http://schemas.openxmlformats.org/officeDocument/2006/relationships/image" Target="../media/image89.emf"/><Relationship Id="rId26" Type="http://schemas.openxmlformats.org/officeDocument/2006/relationships/image" Target="../media/image93.emf"/><Relationship Id="rId3" Type="http://schemas.openxmlformats.org/officeDocument/2006/relationships/oleObject" Target="../embeddings/oleObject76.bin"/><Relationship Id="rId21" Type="http://schemas.openxmlformats.org/officeDocument/2006/relationships/oleObject" Target="../embeddings/oleObject85.bin"/><Relationship Id="rId7" Type="http://schemas.openxmlformats.org/officeDocument/2006/relationships/oleObject" Target="../embeddings/oleObject78.bin"/><Relationship Id="rId12" Type="http://schemas.openxmlformats.org/officeDocument/2006/relationships/image" Target="../media/image86.emf"/><Relationship Id="rId17" Type="http://schemas.openxmlformats.org/officeDocument/2006/relationships/oleObject" Target="../embeddings/oleObject83.bin"/><Relationship Id="rId25" Type="http://schemas.openxmlformats.org/officeDocument/2006/relationships/oleObject" Target="../embeddings/oleObject87.bin"/><Relationship Id="rId2" Type="http://schemas.openxmlformats.org/officeDocument/2006/relationships/slideLayout" Target="../slideLayouts/slideLayout7.xml"/><Relationship Id="rId16" Type="http://schemas.openxmlformats.org/officeDocument/2006/relationships/image" Target="../media/image88.emf"/><Relationship Id="rId20" Type="http://schemas.openxmlformats.org/officeDocument/2006/relationships/image" Target="../media/image90.emf"/><Relationship Id="rId29" Type="http://schemas.openxmlformats.org/officeDocument/2006/relationships/oleObject" Target="../embeddings/oleObject89.bin"/><Relationship Id="rId1" Type="http://schemas.openxmlformats.org/officeDocument/2006/relationships/vmlDrawing" Target="../drawings/vmlDrawing9.vml"/><Relationship Id="rId6" Type="http://schemas.openxmlformats.org/officeDocument/2006/relationships/image" Target="../media/image83.emf"/><Relationship Id="rId11" Type="http://schemas.openxmlformats.org/officeDocument/2006/relationships/oleObject" Target="../embeddings/oleObject80.bin"/><Relationship Id="rId24" Type="http://schemas.openxmlformats.org/officeDocument/2006/relationships/image" Target="../media/image92.emf"/><Relationship Id="rId5" Type="http://schemas.openxmlformats.org/officeDocument/2006/relationships/oleObject" Target="../embeddings/oleObject77.bin"/><Relationship Id="rId15" Type="http://schemas.openxmlformats.org/officeDocument/2006/relationships/oleObject" Target="../embeddings/oleObject82.bin"/><Relationship Id="rId23" Type="http://schemas.openxmlformats.org/officeDocument/2006/relationships/oleObject" Target="../embeddings/oleObject86.bin"/><Relationship Id="rId28" Type="http://schemas.openxmlformats.org/officeDocument/2006/relationships/image" Target="../media/image94.emf"/><Relationship Id="rId10" Type="http://schemas.openxmlformats.org/officeDocument/2006/relationships/image" Target="../media/image85.emf"/><Relationship Id="rId19" Type="http://schemas.openxmlformats.org/officeDocument/2006/relationships/oleObject" Target="../embeddings/oleObject84.bin"/><Relationship Id="rId4" Type="http://schemas.openxmlformats.org/officeDocument/2006/relationships/image" Target="../media/image82.emf"/><Relationship Id="rId9" Type="http://schemas.openxmlformats.org/officeDocument/2006/relationships/oleObject" Target="../embeddings/oleObject79.bin"/><Relationship Id="rId14" Type="http://schemas.openxmlformats.org/officeDocument/2006/relationships/image" Target="../media/image87.emf"/><Relationship Id="rId22" Type="http://schemas.openxmlformats.org/officeDocument/2006/relationships/image" Target="../media/image91.emf"/><Relationship Id="rId27" Type="http://schemas.openxmlformats.org/officeDocument/2006/relationships/oleObject" Target="../embeddings/oleObject88.bin"/><Relationship Id="rId30" Type="http://schemas.openxmlformats.org/officeDocument/2006/relationships/image" Target="../media/image95.emf"/></Relationships>
</file>

<file path=ppt/slides/_rels/slide20.xml.rels><?xml version="1.0" encoding="UTF-8" standalone="yes"?>
<Relationships xmlns="http://schemas.openxmlformats.org/package/2006/relationships"><Relationship Id="rId8" Type="http://schemas.openxmlformats.org/officeDocument/2006/relationships/image" Target="../media/image98.emf"/><Relationship Id="rId13" Type="http://schemas.openxmlformats.org/officeDocument/2006/relationships/oleObject" Target="../embeddings/oleObject95.bin"/><Relationship Id="rId3" Type="http://schemas.openxmlformats.org/officeDocument/2006/relationships/oleObject" Target="../embeddings/oleObject90.bin"/><Relationship Id="rId7" Type="http://schemas.openxmlformats.org/officeDocument/2006/relationships/oleObject" Target="../embeddings/oleObject92.bin"/><Relationship Id="rId12" Type="http://schemas.openxmlformats.org/officeDocument/2006/relationships/image" Target="../media/image100.e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97.emf"/><Relationship Id="rId11" Type="http://schemas.openxmlformats.org/officeDocument/2006/relationships/oleObject" Target="../embeddings/oleObject94.bin"/><Relationship Id="rId5" Type="http://schemas.openxmlformats.org/officeDocument/2006/relationships/oleObject" Target="../embeddings/oleObject91.bin"/><Relationship Id="rId10" Type="http://schemas.openxmlformats.org/officeDocument/2006/relationships/image" Target="../media/image99.emf"/><Relationship Id="rId4" Type="http://schemas.openxmlformats.org/officeDocument/2006/relationships/image" Target="../media/image96.emf"/><Relationship Id="rId9" Type="http://schemas.openxmlformats.org/officeDocument/2006/relationships/oleObject" Target="../embeddings/oleObject93.bin"/><Relationship Id="rId14" Type="http://schemas.openxmlformats.org/officeDocument/2006/relationships/image" Target="../media/image101.emf"/></Relationships>
</file>

<file path=ppt/slides/_rels/slide21.xml.rels><?xml version="1.0" encoding="UTF-8" standalone="yes"?>
<Relationships xmlns="http://schemas.openxmlformats.org/package/2006/relationships"><Relationship Id="rId8" Type="http://schemas.openxmlformats.org/officeDocument/2006/relationships/image" Target="../media/image104.emf"/><Relationship Id="rId3" Type="http://schemas.openxmlformats.org/officeDocument/2006/relationships/oleObject" Target="../embeddings/oleObject96.bin"/><Relationship Id="rId7" Type="http://schemas.openxmlformats.org/officeDocument/2006/relationships/oleObject" Target="../embeddings/oleObject98.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103.emf"/><Relationship Id="rId5" Type="http://schemas.openxmlformats.org/officeDocument/2006/relationships/oleObject" Target="../embeddings/oleObject97.bin"/><Relationship Id="rId10" Type="http://schemas.openxmlformats.org/officeDocument/2006/relationships/image" Target="../media/image105.emf"/><Relationship Id="rId4" Type="http://schemas.openxmlformats.org/officeDocument/2006/relationships/image" Target="../media/image102.emf"/><Relationship Id="rId9" Type="http://schemas.openxmlformats.org/officeDocument/2006/relationships/oleObject" Target="../embeddings/oleObject99.bin"/></Relationships>
</file>

<file path=ppt/slides/_rels/slide22.xml.rels><?xml version="1.0" encoding="UTF-8" standalone="yes"?>
<Relationships xmlns="http://schemas.openxmlformats.org/package/2006/relationships"><Relationship Id="rId8" Type="http://schemas.openxmlformats.org/officeDocument/2006/relationships/image" Target="../media/image108.emf"/><Relationship Id="rId13" Type="http://schemas.openxmlformats.org/officeDocument/2006/relationships/oleObject" Target="../embeddings/oleObject105.bin"/><Relationship Id="rId3" Type="http://schemas.openxmlformats.org/officeDocument/2006/relationships/oleObject" Target="../embeddings/oleObject100.bin"/><Relationship Id="rId7" Type="http://schemas.openxmlformats.org/officeDocument/2006/relationships/oleObject" Target="../embeddings/oleObject102.bin"/><Relationship Id="rId12" Type="http://schemas.openxmlformats.org/officeDocument/2006/relationships/image" Target="../media/image110.e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107.emf"/><Relationship Id="rId11" Type="http://schemas.openxmlformats.org/officeDocument/2006/relationships/oleObject" Target="../embeddings/oleObject104.bin"/><Relationship Id="rId5" Type="http://schemas.openxmlformats.org/officeDocument/2006/relationships/oleObject" Target="../embeddings/oleObject101.bin"/><Relationship Id="rId10" Type="http://schemas.openxmlformats.org/officeDocument/2006/relationships/image" Target="../media/image109.emf"/><Relationship Id="rId4" Type="http://schemas.openxmlformats.org/officeDocument/2006/relationships/image" Target="../media/image106.emf"/><Relationship Id="rId9" Type="http://schemas.openxmlformats.org/officeDocument/2006/relationships/oleObject" Target="../embeddings/oleObject103.bin"/><Relationship Id="rId14" Type="http://schemas.openxmlformats.org/officeDocument/2006/relationships/image" Target="../media/image111.emf"/></Relationships>
</file>

<file path=ppt/slides/_rels/slide23.xml.rels><?xml version="1.0" encoding="UTF-8" standalone="yes"?>
<Relationships xmlns="http://schemas.openxmlformats.org/package/2006/relationships"><Relationship Id="rId8" Type="http://schemas.openxmlformats.org/officeDocument/2006/relationships/image" Target="../media/image114.emf"/><Relationship Id="rId13" Type="http://schemas.openxmlformats.org/officeDocument/2006/relationships/oleObject" Target="../embeddings/oleObject111.bin"/><Relationship Id="rId3" Type="http://schemas.openxmlformats.org/officeDocument/2006/relationships/oleObject" Target="../embeddings/oleObject106.bin"/><Relationship Id="rId7" Type="http://schemas.openxmlformats.org/officeDocument/2006/relationships/oleObject" Target="../embeddings/oleObject108.bin"/><Relationship Id="rId12" Type="http://schemas.openxmlformats.org/officeDocument/2006/relationships/image" Target="../media/image116.e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113.emf"/><Relationship Id="rId11" Type="http://schemas.openxmlformats.org/officeDocument/2006/relationships/oleObject" Target="../embeddings/oleObject110.bin"/><Relationship Id="rId5" Type="http://schemas.openxmlformats.org/officeDocument/2006/relationships/oleObject" Target="../embeddings/oleObject107.bin"/><Relationship Id="rId10" Type="http://schemas.openxmlformats.org/officeDocument/2006/relationships/image" Target="../media/image115.emf"/><Relationship Id="rId4" Type="http://schemas.openxmlformats.org/officeDocument/2006/relationships/image" Target="../media/image112.emf"/><Relationship Id="rId9" Type="http://schemas.openxmlformats.org/officeDocument/2006/relationships/oleObject" Target="../embeddings/oleObject109.bin"/><Relationship Id="rId14" Type="http://schemas.openxmlformats.org/officeDocument/2006/relationships/image" Target="../media/image117.emf"/></Relationships>
</file>

<file path=ppt/slides/_rels/slide24.xml.rels><?xml version="1.0" encoding="UTF-8" standalone="yes"?>
<Relationships xmlns="http://schemas.openxmlformats.org/package/2006/relationships"><Relationship Id="rId8" Type="http://schemas.openxmlformats.org/officeDocument/2006/relationships/image" Target="../media/image120.emf"/><Relationship Id="rId13" Type="http://schemas.openxmlformats.org/officeDocument/2006/relationships/oleObject" Target="../embeddings/oleObject117.bin"/><Relationship Id="rId18" Type="http://schemas.openxmlformats.org/officeDocument/2006/relationships/image" Target="../media/image125.emf"/><Relationship Id="rId3" Type="http://schemas.openxmlformats.org/officeDocument/2006/relationships/oleObject" Target="../embeddings/oleObject112.bin"/><Relationship Id="rId21" Type="http://schemas.openxmlformats.org/officeDocument/2006/relationships/oleObject" Target="../embeddings/oleObject121.bin"/><Relationship Id="rId7" Type="http://schemas.openxmlformats.org/officeDocument/2006/relationships/oleObject" Target="../embeddings/oleObject114.bin"/><Relationship Id="rId12" Type="http://schemas.openxmlformats.org/officeDocument/2006/relationships/image" Target="../media/image122.emf"/><Relationship Id="rId17" Type="http://schemas.openxmlformats.org/officeDocument/2006/relationships/oleObject" Target="../embeddings/oleObject119.bin"/><Relationship Id="rId2" Type="http://schemas.openxmlformats.org/officeDocument/2006/relationships/slideLayout" Target="../slideLayouts/slideLayout7.xml"/><Relationship Id="rId16" Type="http://schemas.openxmlformats.org/officeDocument/2006/relationships/image" Target="../media/image124.emf"/><Relationship Id="rId20" Type="http://schemas.openxmlformats.org/officeDocument/2006/relationships/image" Target="../media/image126.emf"/><Relationship Id="rId1" Type="http://schemas.openxmlformats.org/officeDocument/2006/relationships/vmlDrawing" Target="../drawings/vmlDrawing14.vml"/><Relationship Id="rId6" Type="http://schemas.openxmlformats.org/officeDocument/2006/relationships/image" Target="../media/image119.emf"/><Relationship Id="rId11" Type="http://schemas.openxmlformats.org/officeDocument/2006/relationships/oleObject" Target="../embeddings/oleObject116.bin"/><Relationship Id="rId24" Type="http://schemas.openxmlformats.org/officeDocument/2006/relationships/image" Target="../media/image128.emf"/><Relationship Id="rId5" Type="http://schemas.openxmlformats.org/officeDocument/2006/relationships/oleObject" Target="../embeddings/oleObject113.bin"/><Relationship Id="rId15" Type="http://schemas.openxmlformats.org/officeDocument/2006/relationships/oleObject" Target="../embeddings/oleObject118.bin"/><Relationship Id="rId23" Type="http://schemas.openxmlformats.org/officeDocument/2006/relationships/oleObject" Target="../embeddings/oleObject122.bin"/><Relationship Id="rId10" Type="http://schemas.openxmlformats.org/officeDocument/2006/relationships/image" Target="../media/image121.emf"/><Relationship Id="rId19" Type="http://schemas.openxmlformats.org/officeDocument/2006/relationships/oleObject" Target="../embeddings/oleObject120.bin"/><Relationship Id="rId4" Type="http://schemas.openxmlformats.org/officeDocument/2006/relationships/image" Target="../media/image118.emf"/><Relationship Id="rId9" Type="http://schemas.openxmlformats.org/officeDocument/2006/relationships/oleObject" Target="../embeddings/oleObject115.bin"/><Relationship Id="rId14" Type="http://schemas.openxmlformats.org/officeDocument/2006/relationships/image" Target="../media/image123.emf"/><Relationship Id="rId22" Type="http://schemas.openxmlformats.org/officeDocument/2006/relationships/image" Target="../media/image127.emf"/></Relationships>
</file>

<file path=ppt/slides/_rels/slide25.xml.rels><?xml version="1.0" encoding="UTF-8" standalone="yes"?>
<Relationships xmlns="http://schemas.openxmlformats.org/package/2006/relationships"><Relationship Id="rId8" Type="http://schemas.openxmlformats.org/officeDocument/2006/relationships/image" Target="../media/image131.emf"/><Relationship Id="rId13" Type="http://schemas.openxmlformats.org/officeDocument/2006/relationships/oleObject" Target="../embeddings/oleObject128.bin"/><Relationship Id="rId18" Type="http://schemas.openxmlformats.org/officeDocument/2006/relationships/image" Target="../media/image136.emf"/><Relationship Id="rId3" Type="http://schemas.openxmlformats.org/officeDocument/2006/relationships/oleObject" Target="../embeddings/oleObject123.bin"/><Relationship Id="rId21" Type="http://schemas.openxmlformats.org/officeDocument/2006/relationships/oleObject" Target="../embeddings/oleObject132.bin"/><Relationship Id="rId7" Type="http://schemas.openxmlformats.org/officeDocument/2006/relationships/oleObject" Target="../embeddings/oleObject125.bin"/><Relationship Id="rId12" Type="http://schemas.openxmlformats.org/officeDocument/2006/relationships/image" Target="../media/image133.emf"/><Relationship Id="rId17" Type="http://schemas.openxmlformats.org/officeDocument/2006/relationships/oleObject" Target="../embeddings/oleObject130.bin"/><Relationship Id="rId2" Type="http://schemas.openxmlformats.org/officeDocument/2006/relationships/slideLayout" Target="../slideLayouts/slideLayout7.xml"/><Relationship Id="rId16" Type="http://schemas.openxmlformats.org/officeDocument/2006/relationships/image" Target="../media/image135.emf"/><Relationship Id="rId20" Type="http://schemas.openxmlformats.org/officeDocument/2006/relationships/image" Target="../media/image137.emf"/><Relationship Id="rId1" Type="http://schemas.openxmlformats.org/officeDocument/2006/relationships/vmlDrawing" Target="../drawings/vmlDrawing15.vml"/><Relationship Id="rId6" Type="http://schemas.openxmlformats.org/officeDocument/2006/relationships/image" Target="../media/image130.emf"/><Relationship Id="rId11" Type="http://schemas.openxmlformats.org/officeDocument/2006/relationships/oleObject" Target="../embeddings/oleObject127.bin"/><Relationship Id="rId5" Type="http://schemas.openxmlformats.org/officeDocument/2006/relationships/oleObject" Target="../embeddings/oleObject124.bin"/><Relationship Id="rId15" Type="http://schemas.openxmlformats.org/officeDocument/2006/relationships/oleObject" Target="../embeddings/oleObject129.bin"/><Relationship Id="rId10" Type="http://schemas.openxmlformats.org/officeDocument/2006/relationships/image" Target="../media/image132.emf"/><Relationship Id="rId19" Type="http://schemas.openxmlformats.org/officeDocument/2006/relationships/oleObject" Target="../embeddings/oleObject131.bin"/><Relationship Id="rId4" Type="http://schemas.openxmlformats.org/officeDocument/2006/relationships/image" Target="../media/image129.emf"/><Relationship Id="rId9" Type="http://schemas.openxmlformats.org/officeDocument/2006/relationships/oleObject" Target="../embeddings/oleObject126.bin"/><Relationship Id="rId14" Type="http://schemas.openxmlformats.org/officeDocument/2006/relationships/image" Target="../media/image134.emf"/><Relationship Id="rId22" Type="http://schemas.openxmlformats.org/officeDocument/2006/relationships/image" Target="../media/image138.emf"/></Relationships>
</file>

<file path=ppt/slides/_rels/slide26.xml.rels><?xml version="1.0" encoding="UTF-8" standalone="yes"?>
<Relationships xmlns="http://schemas.openxmlformats.org/package/2006/relationships"><Relationship Id="rId8" Type="http://schemas.openxmlformats.org/officeDocument/2006/relationships/image" Target="../media/image141.emf"/><Relationship Id="rId13" Type="http://schemas.openxmlformats.org/officeDocument/2006/relationships/oleObject" Target="../embeddings/oleObject138.bin"/><Relationship Id="rId18" Type="http://schemas.openxmlformats.org/officeDocument/2006/relationships/image" Target="../media/image146.emf"/><Relationship Id="rId3" Type="http://schemas.openxmlformats.org/officeDocument/2006/relationships/oleObject" Target="../embeddings/oleObject133.bin"/><Relationship Id="rId21" Type="http://schemas.openxmlformats.org/officeDocument/2006/relationships/oleObject" Target="../embeddings/oleObject142.bin"/><Relationship Id="rId7" Type="http://schemas.openxmlformats.org/officeDocument/2006/relationships/oleObject" Target="../embeddings/oleObject135.bin"/><Relationship Id="rId12" Type="http://schemas.openxmlformats.org/officeDocument/2006/relationships/image" Target="../media/image143.emf"/><Relationship Id="rId17" Type="http://schemas.openxmlformats.org/officeDocument/2006/relationships/oleObject" Target="../embeddings/oleObject140.bin"/><Relationship Id="rId2" Type="http://schemas.openxmlformats.org/officeDocument/2006/relationships/slideLayout" Target="../slideLayouts/slideLayout7.xml"/><Relationship Id="rId16" Type="http://schemas.openxmlformats.org/officeDocument/2006/relationships/image" Target="../media/image145.emf"/><Relationship Id="rId20" Type="http://schemas.openxmlformats.org/officeDocument/2006/relationships/image" Target="../media/image147.emf"/><Relationship Id="rId1" Type="http://schemas.openxmlformats.org/officeDocument/2006/relationships/vmlDrawing" Target="../drawings/vmlDrawing16.vml"/><Relationship Id="rId6" Type="http://schemas.openxmlformats.org/officeDocument/2006/relationships/image" Target="../media/image140.emf"/><Relationship Id="rId11" Type="http://schemas.openxmlformats.org/officeDocument/2006/relationships/oleObject" Target="../embeddings/oleObject137.bin"/><Relationship Id="rId5" Type="http://schemas.openxmlformats.org/officeDocument/2006/relationships/oleObject" Target="../embeddings/oleObject134.bin"/><Relationship Id="rId15" Type="http://schemas.openxmlformats.org/officeDocument/2006/relationships/oleObject" Target="../embeddings/oleObject139.bin"/><Relationship Id="rId10" Type="http://schemas.openxmlformats.org/officeDocument/2006/relationships/image" Target="../media/image142.emf"/><Relationship Id="rId19" Type="http://schemas.openxmlformats.org/officeDocument/2006/relationships/oleObject" Target="../embeddings/oleObject141.bin"/><Relationship Id="rId4" Type="http://schemas.openxmlformats.org/officeDocument/2006/relationships/image" Target="../media/image139.emf"/><Relationship Id="rId9" Type="http://schemas.openxmlformats.org/officeDocument/2006/relationships/oleObject" Target="../embeddings/oleObject136.bin"/><Relationship Id="rId14" Type="http://schemas.openxmlformats.org/officeDocument/2006/relationships/image" Target="../media/image144.emf"/><Relationship Id="rId22" Type="http://schemas.openxmlformats.org/officeDocument/2006/relationships/image" Target="../media/image148.emf"/></Relationships>
</file>

<file path=ppt/slides/_rels/slide27.xml.rels><?xml version="1.0" encoding="UTF-8" standalone="yes"?>
<Relationships xmlns="http://schemas.openxmlformats.org/package/2006/relationships"><Relationship Id="rId8" Type="http://schemas.openxmlformats.org/officeDocument/2006/relationships/image" Target="../media/image151.emf"/><Relationship Id="rId3" Type="http://schemas.openxmlformats.org/officeDocument/2006/relationships/oleObject" Target="../embeddings/oleObject143.bin"/><Relationship Id="rId7" Type="http://schemas.openxmlformats.org/officeDocument/2006/relationships/oleObject" Target="../embeddings/oleObject145.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150.emf"/><Relationship Id="rId5" Type="http://schemas.openxmlformats.org/officeDocument/2006/relationships/oleObject" Target="../embeddings/oleObject144.bin"/><Relationship Id="rId4" Type="http://schemas.openxmlformats.org/officeDocument/2006/relationships/image" Target="../media/image149.emf"/></Relationships>
</file>

<file path=ppt/slides/_rels/slide28.xml.rels><?xml version="1.0" encoding="UTF-8" standalone="yes"?>
<Relationships xmlns="http://schemas.openxmlformats.org/package/2006/relationships"><Relationship Id="rId8" Type="http://schemas.openxmlformats.org/officeDocument/2006/relationships/image" Target="../media/image154.emf"/><Relationship Id="rId13" Type="http://schemas.openxmlformats.org/officeDocument/2006/relationships/oleObject" Target="../embeddings/oleObject151.bin"/><Relationship Id="rId18" Type="http://schemas.openxmlformats.org/officeDocument/2006/relationships/image" Target="../media/image159.emf"/><Relationship Id="rId3" Type="http://schemas.openxmlformats.org/officeDocument/2006/relationships/oleObject" Target="../embeddings/oleObject146.bin"/><Relationship Id="rId21" Type="http://schemas.openxmlformats.org/officeDocument/2006/relationships/oleObject" Target="../embeddings/oleObject155.bin"/><Relationship Id="rId7" Type="http://schemas.openxmlformats.org/officeDocument/2006/relationships/oleObject" Target="../embeddings/oleObject148.bin"/><Relationship Id="rId12" Type="http://schemas.openxmlformats.org/officeDocument/2006/relationships/image" Target="../media/image156.emf"/><Relationship Id="rId17" Type="http://schemas.openxmlformats.org/officeDocument/2006/relationships/oleObject" Target="../embeddings/oleObject153.bin"/><Relationship Id="rId2" Type="http://schemas.openxmlformats.org/officeDocument/2006/relationships/slideLayout" Target="../slideLayouts/slideLayout7.xml"/><Relationship Id="rId16" Type="http://schemas.openxmlformats.org/officeDocument/2006/relationships/image" Target="../media/image158.emf"/><Relationship Id="rId20" Type="http://schemas.openxmlformats.org/officeDocument/2006/relationships/image" Target="../media/image160.emf"/><Relationship Id="rId1" Type="http://schemas.openxmlformats.org/officeDocument/2006/relationships/vmlDrawing" Target="../drawings/vmlDrawing18.vml"/><Relationship Id="rId6" Type="http://schemas.openxmlformats.org/officeDocument/2006/relationships/image" Target="../media/image153.emf"/><Relationship Id="rId11" Type="http://schemas.openxmlformats.org/officeDocument/2006/relationships/oleObject" Target="../embeddings/oleObject150.bin"/><Relationship Id="rId5" Type="http://schemas.openxmlformats.org/officeDocument/2006/relationships/oleObject" Target="../embeddings/oleObject147.bin"/><Relationship Id="rId15" Type="http://schemas.openxmlformats.org/officeDocument/2006/relationships/oleObject" Target="../embeddings/oleObject152.bin"/><Relationship Id="rId10" Type="http://schemas.openxmlformats.org/officeDocument/2006/relationships/image" Target="../media/image155.emf"/><Relationship Id="rId19" Type="http://schemas.openxmlformats.org/officeDocument/2006/relationships/oleObject" Target="../embeddings/oleObject154.bin"/><Relationship Id="rId4" Type="http://schemas.openxmlformats.org/officeDocument/2006/relationships/image" Target="../media/image152.emf"/><Relationship Id="rId9" Type="http://schemas.openxmlformats.org/officeDocument/2006/relationships/oleObject" Target="../embeddings/oleObject149.bin"/><Relationship Id="rId14" Type="http://schemas.openxmlformats.org/officeDocument/2006/relationships/image" Target="../media/image157.emf"/><Relationship Id="rId22" Type="http://schemas.openxmlformats.org/officeDocument/2006/relationships/image" Target="../media/image161.emf"/></Relationships>
</file>

<file path=ppt/slides/_rels/slide29.xml.rels><?xml version="1.0" encoding="UTF-8" standalone="yes"?>
<Relationships xmlns="http://schemas.openxmlformats.org/package/2006/relationships"><Relationship Id="rId8" Type="http://schemas.openxmlformats.org/officeDocument/2006/relationships/image" Target="../media/image164.emf"/><Relationship Id="rId13" Type="http://schemas.openxmlformats.org/officeDocument/2006/relationships/oleObject" Target="../embeddings/oleObject161.bin"/><Relationship Id="rId3" Type="http://schemas.openxmlformats.org/officeDocument/2006/relationships/oleObject" Target="../embeddings/oleObject156.bin"/><Relationship Id="rId7" Type="http://schemas.openxmlformats.org/officeDocument/2006/relationships/oleObject" Target="../embeddings/oleObject158.bin"/><Relationship Id="rId12" Type="http://schemas.openxmlformats.org/officeDocument/2006/relationships/image" Target="../media/image166.e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163.emf"/><Relationship Id="rId11" Type="http://schemas.openxmlformats.org/officeDocument/2006/relationships/oleObject" Target="../embeddings/oleObject160.bin"/><Relationship Id="rId5" Type="http://schemas.openxmlformats.org/officeDocument/2006/relationships/oleObject" Target="../embeddings/oleObject157.bin"/><Relationship Id="rId10" Type="http://schemas.openxmlformats.org/officeDocument/2006/relationships/image" Target="../media/image165.emf"/><Relationship Id="rId4" Type="http://schemas.openxmlformats.org/officeDocument/2006/relationships/image" Target="../media/image162.emf"/><Relationship Id="rId9" Type="http://schemas.openxmlformats.org/officeDocument/2006/relationships/oleObject" Target="../embeddings/oleObject159.bin"/><Relationship Id="rId14" Type="http://schemas.openxmlformats.org/officeDocument/2006/relationships/image" Target="../media/image167.emf"/></Relationships>
</file>

<file path=ppt/slides/_rels/slide30.xml.rels><?xml version="1.0" encoding="UTF-8" standalone="yes"?>
<Relationships xmlns="http://schemas.openxmlformats.org/package/2006/relationships"><Relationship Id="rId2" Type="http://schemas.openxmlformats.org/officeDocument/2006/relationships/image" Target="../media/image168.gif"/><Relationship Id="rId1" Type="http://schemas.openxmlformats.org/officeDocument/2006/relationships/slideLayout" Target="../slideLayouts/slideLayout5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slideLayout" Target="../slideLayouts/slideLayout51.xml"/><Relationship Id="rId4" Type="http://schemas.openxmlformats.org/officeDocument/2006/relationships/image" Target="../media/image17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tags" Target="../tags/tag1.xml"/></Relationships>
</file>

<file path=ppt/slides/_rels/slide38.xml.rels><?xml version="1.0" encoding="UTF-8" standalone="yes"?>
<Relationships xmlns="http://schemas.openxmlformats.org/package/2006/relationships"><Relationship Id="rId8" Type="http://schemas.openxmlformats.org/officeDocument/2006/relationships/image" Target="../media/image174.emf"/><Relationship Id="rId3" Type="http://schemas.openxmlformats.org/officeDocument/2006/relationships/oleObject" Target="../embeddings/oleObject162.bin"/><Relationship Id="rId7" Type="http://schemas.openxmlformats.org/officeDocument/2006/relationships/oleObject" Target="../embeddings/oleObject164.bin"/><Relationship Id="rId2" Type="http://schemas.openxmlformats.org/officeDocument/2006/relationships/slideLayout" Target="../slideLayouts/slideLayout64.xml"/><Relationship Id="rId1" Type="http://schemas.openxmlformats.org/officeDocument/2006/relationships/vmlDrawing" Target="../drawings/vmlDrawing20.vml"/><Relationship Id="rId6" Type="http://schemas.openxmlformats.org/officeDocument/2006/relationships/image" Target="../media/image173.emf"/><Relationship Id="rId5" Type="http://schemas.openxmlformats.org/officeDocument/2006/relationships/oleObject" Target="../embeddings/oleObject163.bin"/><Relationship Id="rId4" Type="http://schemas.openxmlformats.org/officeDocument/2006/relationships/image" Target="../media/image172.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8" Type="http://schemas.openxmlformats.org/officeDocument/2006/relationships/image" Target="../media/image177.emf"/><Relationship Id="rId3" Type="http://schemas.openxmlformats.org/officeDocument/2006/relationships/oleObject" Target="../embeddings/oleObject165.bin"/><Relationship Id="rId7" Type="http://schemas.openxmlformats.org/officeDocument/2006/relationships/oleObject" Target="../embeddings/oleObject167.bin"/><Relationship Id="rId2" Type="http://schemas.openxmlformats.org/officeDocument/2006/relationships/slideLayout" Target="../slideLayouts/slideLayout18.xml"/><Relationship Id="rId1" Type="http://schemas.openxmlformats.org/officeDocument/2006/relationships/vmlDrawing" Target="../drawings/vmlDrawing21.vml"/><Relationship Id="rId6" Type="http://schemas.openxmlformats.org/officeDocument/2006/relationships/image" Target="../media/image176.emf"/><Relationship Id="rId5" Type="http://schemas.openxmlformats.org/officeDocument/2006/relationships/oleObject" Target="../embeddings/oleObject166.bin"/><Relationship Id="rId10" Type="http://schemas.openxmlformats.org/officeDocument/2006/relationships/image" Target="../media/image178.emf"/><Relationship Id="rId4" Type="http://schemas.openxmlformats.org/officeDocument/2006/relationships/image" Target="../media/image175.emf"/><Relationship Id="rId9" Type="http://schemas.openxmlformats.org/officeDocument/2006/relationships/oleObject" Target="../embeddings/oleObject168.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4.xml.rels><?xml version="1.0" encoding="UTF-8" standalone="yes"?>
<Relationships xmlns="http://schemas.openxmlformats.org/package/2006/relationships"><Relationship Id="rId2" Type="http://schemas.openxmlformats.org/officeDocument/2006/relationships/image" Target="https://p.ananas.chaoxing.com/star3/origin/81c7fb3c3f0a59fb2f1f76a35698f9ac.png" TargetMode="External"/><Relationship Id="rId1" Type="http://schemas.openxmlformats.org/officeDocument/2006/relationships/slideLayout" Target="../slideLayouts/slideLayout51.xml"/></Relationships>
</file>

<file path=ppt/slides/_rels/slide45.xml.rels><?xml version="1.0" encoding="UTF-8" standalone="yes"?>
<Relationships xmlns="http://schemas.openxmlformats.org/package/2006/relationships"><Relationship Id="rId8" Type="http://schemas.openxmlformats.org/officeDocument/2006/relationships/image" Target="../media/image181.emf"/><Relationship Id="rId3" Type="http://schemas.openxmlformats.org/officeDocument/2006/relationships/oleObject" Target="../embeddings/oleObject169.bin"/><Relationship Id="rId7" Type="http://schemas.openxmlformats.org/officeDocument/2006/relationships/oleObject" Target="../embeddings/oleObject171.bin"/><Relationship Id="rId12" Type="http://schemas.openxmlformats.org/officeDocument/2006/relationships/image" Target="../media/image183.emf"/><Relationship Id="rId2" Type="http://schemas.openxmlformats.org/officeDocument/2006/relationships/slideLayout" Target="../slideLayouts/slideLayout18.xml"/><Relationship Id="rId1" Type="http://schemas.openxmlformats.org/officeDocument/2006/relationships/vmlDrawing" Target="../drawings/vmlDrawing22.vml"/><Relationship Id="rId6" Type="http://schemas.openxmlformats.org/officeDocument/2006/relationships/image" Target="../media/image180.emf"/><Relationship Id="rId11" Type="http://schemas.openxmlformats.org/officeDocument/2006/relationships/oleObject" Target="../embeddings/oleObject173.bin"/><Relationship Id="rId5" Type="http://schemas.openxmlformats.org/officeDocument/2006/relationships/oleObject" Target="../embeddings/oleObject170.bin"/><Relationship Id="rId10" Type="http://schemas.openxmlformats.org/officeDocument/2006/relationships/image" Target="../media/image182.emf"/><Relationship Id="rId4" Type="http://schemas.openxmlformats.org/officeDocument/2006/relationships/image" Target="../media/image179.emf"/><Relationship Id="rId9" Type="http://schemas.openxmlformats.org/officeDocument/2006/relationships/oleObject" Target="../embeddings/oleObject172.bin"/></Relationships>
</file>

<file path=ppt/slides/_rels/slide46.xml.rels><?xml version="1.0" encoding="UTF-8" standalone="yes"?>
<Relationships xmlns="http://schemas.openxmlformats.org/package/2006/relationships"><Relationship Id="rId8" Type="http://schemas.openxmlformats.org/officeDocument/2006/relationships/image" Target="../media/image186.emf"/><Relationship Id="rId13" Type="http://schemas.openxmlformats.org/officeDocument/2006/relationships/oleObject" Target="../embeddings/oleObject179.bin"/><Relationship Id="rId3" Type="http://schemas.openxmlformats.org/officeDocument/2006/relationships/oleObject" Target="../embeddings/oleObject174.bin"/><Relationship Id="rId7" Type="http://schemas.openxmlformats.org/officeDocument/2006/relationships/oleObject" Target="../embeddings/oleObject176.bin"/><Relationship Id="rId12" Type="http://schemas.openxmlformats.org/officeDocument/2006/relationships/image" Target="../media/image188.emf"/><Relationship Id="rId2" Type="http://schemas.openxmlformats.org/officeDocument/2006/relationships/slideLayout" Target="../slideLayouts/slideLayout18.xml"/><Relationship Id="rId16" Type="http://schemas.openxmlformats.org/officeDocument/2006/relationships/image" Target="../media/image190.emf"/><Relationship Id="rId1" Type="http://schemas.openxmlformats.org/officeDocument/2006/relationships/vmlDrawing" Target="../drawings/vmlDrawing23.vml"/><Relationship Id="rId6" Type="http://schemas.openxmlformats.org/officeDocument/2006/relationships/image" Target="../media/image185.emf"/><Relationship Id="rId11" Type="http://schemas.openxmlformats.org/officeDocument/2006/relationships/oleObject" Target="../embeddings/oleObject178.bin"/><Relationship Id="rId5" Type="http://schemas.openxmlformats.org/officeDocument/2006/relationships/oleObject" Target="../embeddings/oleObject175.bin"/><Relationship Id="rId15" Type="http://schemas.openxmlformats.org/officeDocument/2006/relationships/oleObject" Target="../embeddings/oleObject180.bin"/><Relationship Id="rId10" Type="http://schemas.openxmlformats.org/officeDocument/2006/relationships/image" Target="../media/image187.emf"/><Relationship Id="rId4" Type="http://schemas.openxmlformats.org/officeDocument/2006/relationships/image" Target="../media/image184.emf"/><Relationship Id="rId9" Type="http://schemas.openxmlformats.org/officeDocument/2006/relationships/oleObject" Target="../embeddings/oleObject177.bin"/><Relationship Id="rId14" Type="http://schemas.openxmlformats.org/officeDocument/2006/relationships/image" Target="../media/image189.emf"/></Relationships>
</file>

<file path=ppt/slides/_rels/slide47.xml.rels><?xml version="1.0" encoding="UTF-8" standalone="yes"?>
<Relationships xmlns="http://schemas.openxmlformats.org/package/2006/relationships"><Relationship Id="rId8" Type="http://schemas.openxmlformats.org/officeDocument/2006/relationships/image" Target="../media/image193.emf"/><Relationship Id="rId13" Type="http://schemas.openxmlformats.org/officeDocument/2006/relationships/oleObject" Target="../embeddings/oleObject186.bin"/><Relationship Id="rId3" Type="http://schemas.openxmlformats.org/officeDocument/2006/relationships/oleObject" Target="../embeddings/oleObject181.bin"/><Relationship Id="rId7" Type="http://schemas.openxmlformats.org/officeDocument/2006/relationships/oleObject" Target="../embeddings/oleObject183.bin"/><Relationship Id="rId12" Type="http://schemas.openxmlformats.org/officeDocument/2006/relationships/image" Target="../media/image195.emf"/><Relationship Id="rId2" Type="http://schemas.openxmlformats.org/officeDocument/2006/relationships/slideLayout" Target="../slideLayouts/slideLayout18.xml"/><Relationship Id="rId16" Type="http://schemas.openxmlformats.org/officeDocument/2006/relationships/image" Target="../media/image197.emf"/><Relationship Id="rId1" Type="http://schemas.openxmlformats.org/officeDocument/2006/relationships/vmlDrawing" Target="../drawings/vmlDrawing24.vml"/><Relationship Id="rId6" Type="http://schemas.openxmlformats.org/officeDocument/2006/relationships/image" Target="../media/image192.emf"/><Relationship Id="rId11" Type="http://schemas.openxmlformats.org/officeDocument/2006/relationships/oleObject" Target="../embeddings/oleObject185.bin"/><Relationship Id="rId5" Type="http://schemas.openxmlformats.org/officeDocument/2006/relationships/oleObject" Target="../embeddings/oleObject182.bin"/><Relationship Id="rId15" Type="http://schemas.openxmlformats.org/officeDocument/2006/relationships/oleObject" Target="../embeddings/oleObject187.bin"/><Relationship Id="rId10" Type="http://schemas.openxmlformats.org/officeDocument/2006/relationships/image" Target="../media/image194.emf"/><Relationship Id="rId4" Type="http://schemas.openxmlformats.org/officeDocument/2006/relationships/image" Target="../media/image191.emf"/><Relationship Id="rId9" Type="http://schemas.openxmlformats.org/officeDocument/2006/relationships/oleObject" Target="../embeddings/oleObject184.bin"/><Relationship Id="rId14" Type="http://schemas.openxmlformats.org/officeDocument/2006/relationships/image" Target="../media/image196.emf"/></Relationships>
</file>

<file path=ppt/slides/_rels/slide48.xml.rels><?xml version="1.0" encoding="UTF-8" standalone="yes"?>
<Relationships xmlns="http://schemas.openxmlformats.org/package/2006/relationships"><Relationship Id="rId8" Type="http://schemas.openxmlformats.org/officeDocument/2006/relationships/image" Target="../media/image200.emf"/><Relationship Id="rId13" Type="http://schemas.openxmlformats.org/officeDocument/2006/relationships/oleObject" Target="../embeddings/oleObject193.bin"/><Relationship Id="rId3" Type="http://schemas.openxmlformats.org/officeDocument/2006/relationships/oleObject" Target="../embeddings/oleObject188.bin"/><Relationship Id="rId7" Type="http://schemas.openxmlformats.org/officeDocument/2006/relationships/oleObject" Target="../embeddings/oleObject190.bin"/><Relationship Id="rId12" Type="http://schemas.openxmlformats.org/officeDocument/2006/relationships/image" Target="../media/image202.emf"/><Relationship Id="rId2" Type="http://schemas.openxmlformats.org/officeDocument/2006/relationships/slideLayout" Target="../slideLayouts/slideLayout18.xml"/><Relationship Id="rId16" Type="http://schemas.openxmlformats.org/officeDocument/2006/relationships/image" Target="../media/image204.emf"/><Relationship Id="rId1" Type="http://schemas.openxmlformats.org/officeDocument/2006/relationships/vmlDrawing" Target="../drawings/vmlDrawing25.vml"/><Relationship Id="rId6" Type="http://schemas.openxmlformats.org/officeDocument/2006/relationships/image" Target="../media/image199.emf"/><Relationship Id="rId11" Type="http://schemas.openxmlformats.org/officeDocument/2006/relationships/oleObject" Target="../embeddings/oleObject192.bin"/><Relationship Id="rId5" Type="http://schemas.openxmlformats.org/officeDocument/2006/relationships/oleObject" Target="../embeddings/oleObject189.bin"/><Relationship Id="rId15" Type="http://schemas.openxmlformats.org/officeDocument/2006/relationships/oleObject" Target="../embeddings/oleObject194.bin"/><Relationship Id="rId10" Type="http://schemas.openxmlformats.org/officeDocument/2006/relationships/image" Target="../media/image201.emf"/><Relationship Id="rId4" Type="http://schemas.openxmlformats.org/officeDocument/2006/relationships/image" Target="../media/image198.emf"/><Relationship Id="rId9" Type="http://schemas.openxmlformats.org/officeDocument/2006/relationships/oleObject" Target="../embeddings/oleObject191.bin"/><Relationship Id="rId14" Type="http://schemas.openxmlformats.org/officeDocument/2006/relationships/image" Target="../media/image203.emf"/></Relationships>
</file>

<file path=ppt/slides/_rels/slide49.xml.rels><?xml version="1.0" encoding="UTF-8" standalone="yes"?>
<Relationships xmlns="http://schemas.openxmlformats.org/package/2006/relationships"><Relationship Id="rId8" Type="http://schemas.openxmlformats.org/officeDocument/2006/relationships/image" Target="../media/image207.emf"/><Relationship Id="rId13" Type="http://schemas.openxmlformats.org/officeDocument/2006/relationships/oleObject" Target="../embeddings/oleObject200.bin"/><Relationship Id="rId3" Type="http://schemas.openxmlformats.org/officeDocument/2006/relationships/oleObject" Target="../embeddings/oleObject195.bin"/><Relationship Id="rId7" Type="http://schemas.openxmlformats.org/officeDocument/2006/relationships/oleObject" Target="../embeddings/oleObject197.bin"/><Relationship Id="rId12" Type="http://schemas.openxmlformats.org/officeDocument/2006/relationships/image" Target="../media/image209.emf"/><Relationship Id="rId2" Type="http://schemas.openxmlformats.org/officeDocument/2006/relationships/slideLayout" Target="../slideLayouts/slideLayout18.xml"/><Relationship Id="rId1" Type="http://schemas.openxmlformats.org/officeDocument/2006/relationships/vmlDrawing" Target="../drawings/vmlDrawing26.vml"/><Relationship Id="rId6" Type="http://schemas.openxmlformats.org/officeDocument/2006/relationships/image" Target="../media/image206.emf"/><Relationship Id="rId11" Type="http://schemas.openxmlformats.org/officeDocument/2006/relationships/oleObject" Target="../embeddings/oleObject199.bin"/><Relationship Id="rId5" Type="http://schemas.openxmlformats.org/officeDocument/2006/relationships/oleObject" Target="../embeddings/oleObject196.bin"/><Relationship Id="rId10" Type="http://schemas.openxmlformats.org/officeDocument/2006/relationships/image" Target="../media/image208.emf"/><Relationship Id="rId4" Type="http://schemas.openxmlformats.org/officeDocument/2006/relationships/image" Target="../media/image205.emf"/><Relationship Id="rId9" Type="http://schemas.openxmlformats.org/officeDocument/2006/relationships/oleObject" Target="../embeddings/oleObject198.bin"/><Relationship Id="rId14" Type="http://schemas.openxmlformats.org/officeDocument/2006/relationships/image" Target="../media/image210.emf"/></Relationships>
</file>

<file path=ppt/slides/_rels/slide50.xml.rels><?xml version="1.0" encoding="UTF-8" standalone="yes"?>
<Relationships xmlns="http://schemas.openxmlformats.org/package/2006/relationships"><Relationship Id="rId3" Type="http://schemas.openxmlformats.org/officeDocument/2006/relationships/image" Target="../media/image213.png"/><Relationship Id="rId7" Type="http://schemas.openxmlformats.org/officeDocument/2006/relationships/image" Target="../media/image212.wmf"/><Relationship Id="rId2" Type="http://schemas.openxmlformats.org/officeDocument/2006/relationships/slideLayout" Target="../slideLayouts/slideLayout51.xml"/><Relationship Id="rId1" Type="http://schemas.openxmlformats.org/officeDocument/2006/relationships/vmlDrawing" Target="../drawings/vmlDrawing27.vml"/><Relationship Id="rId6" Type="http://schemas.openxmlformats.org/officeDocument/2006/relationships/oleObject" Target="../embeddings/oleObject202.bin"/><Relationship Id="rId5" Type="http://schemas.openxmlformats.org/officeDocument/2006/relationships/image" Target="../media/image211.wmf"/><Relationship Id="rId4" Type="http://schemas.openxmlformats.org/officeDocument/2006/relationships/oleObject" Target="../embeddings/oleObject201.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205.bin"/><Relationship Id="rId3" Type="http://schemas.openxmlformats.org/officeDocument/2006/relationships/image" Target="../media/image218.png"/><Relationship Id="rId7" Type="http://schemas.openxmlformats.org/officeDocument/2006/relationships/image" Target="../media/image215.wmf"/><Relationship Id="rId2" Type="http://schemas.openxmlformats.org/officeDocument/2006/relationships/slideLayout" Target="../slideLayouts/slideLayout51.xml"/><Relationship Id="rId1" Type="http://schemas.openxmlformats.org/officeDocument/2006/relationships/vmlDrawing" Target="../drawings/vmlDrawing28.vml"/><Relationship Id="rId6" Type="http://schemas.openxmlformats.org/officeDocument/2006/relationships/oleObject" Target="../embeddings/oleObject204.bin"/><Relationship Id="rId11" Type="http://schemas.openxmlformats.org/officeDocument/2006/relationships/image" Target="../media/image217.wmf"/><Relationship Id="rId5" Type="http://schemas.openxmlformats.org/officeDocument/2006/relationships/image" Target="../media/image214.wmf"/><Relationship Id="rId10" Type="http://schemas.openxmlformats.org/officeDocument/2006/relationships/oleObject" Target="../embeddings/oleObject206.bin"/><Relationship Id="rId4" Type="http://schemas.openxmlformats.org/officeDocument/2006/relationships/oleObject" Target="../embeddings/oleObject203.bin"/><Relationship Id="rId9" Type="http://schemas.openxmlformats.org/officeDocument/2006/relationships/image" Target="../media/image216.w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09.bin"/><Relationship Id="rId13" Type="http://schemas.openxmlformats.org/officeDocument/2006/relationships/image" Target="../media/image220.wmf"/><Relationship Id="rId3" Type="http://schemas.openxmlformats.org/officeDocument/2006/relationships/image" Target="../media/image221.png"/><Relationship Id="rId7" Type="http://schemas.openxmlformats.org/officeDocument/2006/relationships/image" Target="../media/image215.wmf"/><Relationship Id="rId12" Type="http://schemas.openxmlformats.org/officeDocument/2006/relationships/oleObject" Target="../embeddings/oleObject211.bin"/><Relationship Id="rId2" Type="http://schemas.openxmlformats.org/officeDocument/2006/relationships/slideLayout" Target="../slideLayouts/slideLayout51.xml"/><Relationship Id="rId1" Type="http://schemas.openxmlformats.org/officeDocument/2006/relationships/vmlDrawing" Target="../drawings/vmlDrawing29.vml"/><Relationship Id="rId6" Type="http://schemas.openxmlformats.org/officeDocument/2006/relationships/oleObject" Target="../embeddings/oleObject208.bin"/><Relationship Id="rId11" Type="http://schemas.openxmlformats.org/officeDocument/2006/relationships/image" Target="../media/image219.wmf"/><Relationship Id="rId5" Type="http://schemas.openxmlformats.org/officeDocument/2006/relationships/image" Target="../media/image214.wmf"/><Relationship Id="rId10" Type="http://schemas.openxmlformats.org/officeDocument/2006/relationships/oleObject" Target="../embeddings/oleObject210.bin"/><Relationship Id="rId4" Type="http://schemas.openxmlformats.org/officeDocument/2006/relationships/oleObject" Target="../embeddings/oleObject207.bin"/><Relationship Id="rId9" Type="http://schemas.openxmlformats.org/officeDocument/2006/relationships/image" Target="../media/image216.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8.xml.rels><?xml version="1.0" encoding="UTF-8" standalone="yes"?>
<Relationships xmlns="http://schemas.openxmlformats.org/package/2006/relationships"><Relationship Id="rId2" Type="http://schemas.openxmlformats.org/officeDocument/2006/relationships/image" Target="https://p.ananas.chaoxing.com/star3/origin/6b6b9083862a883156e83fa6445c1b0a.png" TargetMode="Externa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395288" y="1556792"/>
            <a:ext cx="411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1800" b="1" i="0" u="none" strike="noStrike" kern="0" cap="none" spc="0" normalizeH="0" baseline="0" noProof="0" dirty="0">
                <a:ln>
                  <a:noFill/>
                </a:ln>
                <a:solidFill>
                  <a:srgbClr val="FF0000"/>
                </a:solidFill>
                <a:effectLst/>
                <a:uLnTx/>
                <a:uFillTx/>
                <a:latin typeface="宋体" pitchFamily="2" charset="-122"/>
              </a:rPr>
              <a:t>解：</a:t>
            </a:r>
            <a:r>
              <a:rPr kumimoji="0" lang="zh-CN" altLang="en-US" sz="1800" b="1" i="0" u="none" strike="noStrike" kern="0" cap="none" spc="0" normalizeH="0" baseline="0" noProof="0" dirty="0">
                <a:ln>
                  <a:noFill/>
                </a:ln>
                <a:solidFill>
                  <a:sysClr val="windowText" lastClr="000000"/>
                </a:solidFill>
                <a:effectLst/>
                <a:uLnTx/>
                <a:uFillTx/>
                <a:latin typeface="宋体" pitchFamily="2" charset="-122"/>
              </a:rPr>
              <a:t>分两步讨论</a:t>
            </a:r>
          </a:p>
        </p:txBody>
      </p:sp>
      <p:grpSp>
        <p:nvGrpSpPr>
          <p:cNvPr id="34" name="组合 33"/>
          <p:cNvGrpSpPr/>
          <p:nvPr/>
        </p:nvGrpSpPr>
        <p:grpSpPr>
          <a:xfrm>
            <a:off x="76200" y="853130"/>
            <a:ext cx="8839200" cy="671684"/>
            <a:chOff x="76200" y="451319"/>
            <a:chExt cx="8839200" cy="671684"/>
          </a:xfrm>
        </p:grpSpPr>
        <p:sp>
          <p:nvSpPr>
            <p:cNvPr id="3" name="Text Box 3"/>
            <p:cNvSpPr txBox="1">
              <a:spLocks noChangeArrowheads="1"/>
            </p:cNvSpPr>
            <p:nvPr/>
          </p:nvSpPr>
          <p:spPr bwMode="auto">
            <a:xfrm>
              <a:off x="76200" y="476672"/>
              <a:ext cx="88392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1800" b="1" i="0" u="none" strike="noStrike" kern="0" cap="none" spc="0" normalizeH="0" baseline="0" noProof="0" dirty="0">
                  <a:ln>
                    <a:noFill/>
                  </a:ln>
                  <a:solidFill>
                    <a:srgbClr val="FF0000"/>
                  </a:solidFill>
                  <a:effectLst/>
                  <a:uLnTx/>
                  <a:uFillTx/>
                  <a:latin typeface="宋体" pitchFamily="2" charset="-122"/>
                </a:rPr>
                <a:t>　例题</a:t>
              </a:r>
              <a:r>
                <a:rPr kumimoji="0" lang="zh-CN" altLang="en-US" sz="1800" b="1" i="0" u="none" strike="noStrike" kern="0" cap="none" spc="0" normalizeH="0" baseline="0" noProof="0" dirty="0" smtClean="0">
                  <a:ln>
                    <a:noFill/>
                  </a:ln>
                  <a:solidFill>
                    <a:srgbClr val="FF0000"/>
                  </a:solidFill>
                  <a:effectLst/>
                  <a:uLnTx/>
                  <a:uFillTx/>
                  <a:latin typeface="宋体" pitchFamily="2" charset="-122"/>
                </a:rPr>
                <a:t>：</a:t>
              </a:r>
              <a:r>
                <a:rPr kumimoji="0" lang="en-US" altLang="zh-CN" sz="1800" b="1" i="1" u="none" strike="noStrike" kern="0" cap="none" spc="0" normalizeH="0" baseline="0" noProof="0" dirty="0" smtClean="0">
                  <a:ln>
                    <a:noFill/>
                  </a:ln>
                  <a:solidFill>
                    <a:schemeClr val="tx1"/>
                  </a:solidFill>
                  <a:effectLst/>
                  <a:uLnTx/>
                  <a:uFillTx/>
                  <a:latin typeface="宋体" pitchFamily="2" charset="-122"/>
                </a:rPr>
                <a:t>s</a:t>
              </a:r>
              <a:r>
                <a:rPr kumimoji="0" lang="zh-CN" altLang="en-US" sz="1800" b="1" i="0" u="none" strike="noStrike" kern="0" cap="none" spc="0" normalizeH="0" baseline="0" noProof="0" dirty="0" smtClean="0">
                  <a:ln>
                    <a:noFill/>
                  </a:ln>
                  <a:solidFill>
                    <a:sysClr val="windowText" lastClr="000000"/>
                  </a:solidFill>
                  <a:effectLst/>
                  <a:uLnTx/>
                  <a:uFillTx/>
                  <a:latin typeface="宋体" pitchFamily="2" charset="-122"/>
                </a:rPr>
                <a:t>声波源 </a:t>
              </a:r>
              <a:r>
                <a:rPr kumimoji="0" lang="zh-CN" altLang="en-US" sz="1800" b="1" i="0" u="none" strike="noStrike" kern="0" cap="none" spc="0" normalizeH="0" baseline="0" noProof="0" dirty="0">
                  <a:ln>
                    <a:noFill/>
                  </a:ln>
                  <a:solidFill>
                    <a:sysClr val="windowText" lastClr="000000"/>
                  </a:solidFill>
                  <a:effectLst/>
                  <a:uLnTx/>
                  <a:uFillTx/>
                  <a:latin typeface="宋体" pitchFamily="2" charset="-122"/>
                </a:rPr>
                <a:t>　　　　　　           静止不动，一移动物体              </a:t>
              </a:r>
              <a:r>
                <a:rPr kumimoji="0" lang="zh-CN" altLang="en-US" sz="1800" b="1" i="0" u="none" strike="noStrike" kern="0" cap="none" spc="0" normalizeH="0" baseline="0" noProof="0" dirty="0">
                  <a:ln>
                    <a:noFill/>
                  </a:ln>
                  <a:solidFill>
                    <a:sysClr val="windowText" lastClr="000000"/>
                  </a:solidFill>
                  <a:effectLst/>
                  <a:uLnTx/>
                  <a:uFillTx/>
                </a:rPr>
                <a:t>向着波源运动，求Ｐ点接受到的声频。</a:t>
              </a:r>
              <a:endParaRPr kumimoji="0" lang="zh-CN" altLang="en-US" sz="1800" b="1" i="0" u="none" strike="noStrike" kern="0" cap="none" spc="0" normalizeH="0" baseline="0" noProof="0" dirty="0">
                <a:ln>
                  <a:noFill/>
                </a:ln>
                <a:solidFill>
                  <a:sysClr val="windowText" lastClr="000000"/>
                </a:solidFill>
                <a:effectLst/>
                <a:uLnTx/>
                <a:uFillTx/>
                <a:latin typeface="宋体" pitchFamily="2" charset="-122"/>
              </a:endParaRPr>
            </a:p>
          </p:txBody>
        </p:sp>
        <p:graphicFrame>
          <p:nvGraphicFramePr>
            <p:cNvPr id="4" name="Object 6"/>
            <p:cNvGraphicFramePr>
              <a:graphicFrameLocks noChangeAspect="1"/>
            </p:cNvGraphicFramePr>
            <p:nvPr>
              <p:extLst>
                <p:ext uri="{D42A27DB-BD31-4B8C-83A1-F6EECF244321}">
                  <p14:modId xmlns:p14="http://schemas.microsoft.com/office/powerpoint/2010/main" val="2767490589"/>
                </p:ext>
              </p:extLst>
            </p:nvPr>
          </p:nvGraphicFramePr>
          <p:xfrm>
            <a:off x="1979712" y="524010"/>
            <a:ext cx="1280160" cy="312702"/>
          </p:xfrm>
          <a:graphic>
            <a:graphicData uri="http://schemas.openxmlformats.org/presentationml/2006/ole">
              <mc:AlternateContent xmlns:mc="http://schemas.openxmlformats.org/markup-compatibility/2006">
                <mc:Choice xmlns:v="urn:schemas-microsoft-com:vml" Requires="v">
                  <p:oleObj spid="_x0000_s88186" name="Equation" r:id="rId3" imgW="761760" imgH="203040" progId="Equation.3">
                    <p:embed/>
                  </p:oleObj>
                </mc:Choice>
                <mc:Fallback>
                  <p:oleObj name="Equation" r:id="rId3" imgW="761760" imgH="203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12" y="524010"/>
                          <a:ext cx="1280160" cy="3127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7"/>
            <p:cNvGraphicFramePr>
              <a:graphicFrameLocks noChangeAspect="1"/>
            </p:cNvGraphicFramePr>
            <p:nvPr>
              <p:extLst>
                <p:ext uri="{D42A27DB-BD31-4B8C-83A1-F6EECF244321}">
                  <p14:modId xmlns:p14="http://schemas.microsoft.com/office/powerpoint/2010/main" val="2461582815"/>
                </p:ext>
              </p:extLst>
            </p:nvPr>
          </p:nvGraphicFramePr>
          <p:xfrm>
            <a:off x="3247863" y="458010"/>
            <a:ext cx="1463040" cy="349939"/>
          </p:xfrm>
          <a:graphic>
            <a:graphicData uri="http://schemas.openxmlformats.org/presentationml/2006/ole">
              <mc:AlternateContent xmlns:mc="http://schemas.openxmlformats.org/markup-compatibility/2006">
                <mc:Choice xmlns:v="urn:schemas-microsoft-com:vml" Requires="v">
                  <p:oleObj spid="_x0000_s88187" name="Equation" r:id="rId5" imgW="850680" imgH="203040" progId="Equation.3">
                    <p:embed/>
                  </p:oleObj>
                </mc:Choice>
                <mc:Fallback>
                  <p:oleObj name="Equation" r:id="rId5" imgW="850680" imgH="2030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7863" y="458010"/>
                          <a:ext cx="1463040" cy="349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8"/>
            <p:cNvGraphicFramePr>
              <a:graphicFrameLocks noChangeAspect="1"/>
            </p:cNvGraphicFramePr>
            <p:nvPr>
              <p:extLst>
                <p:ext uri="{D42A27DB-BD31-4B8C-83A1-F6EECF244321}">
                  <p14:modId xmlns:p14="http://schemas.microsoft.com/office/powerpoint/2010/main" val="2170682888"/>
                </p:ext>
              </p:extLst>
            </p:nvPr>
          </p:nvGraphicFramePr>
          <p:xfrm>
            <a:off x="7049968" y="451319"/>
            <a:ext cx="1554480" cy="434520"/>
          </p:xfrm>
          <a:graphic>
            <a:graphicData uri="http://schemas.openxmlformats.org/presentationml/2006/ole">
              <mc:AlternateContent xmlns:mc="http://schemas.openxmlformats.org/markup-compatibility/2006">
                <mc:Choice xmlns:v="urn:schemas-microsoft-com:vml" Requires="v">
                  <p:oleObj spid="_x0000_s88188" name="Equation" r:id="rId7" imgW="863280" imgH="241200" progId="Equation.3">
                    <p:embed/>
                  </p:oleObj>
                </mc:Choice>
                <mc:Fallback>
                  <p:oleObj name="Equation" r:id="rId7" imgW="863280" imgH="241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49968" y="451319"/>
                          <a:ext cx="1554480" cy="434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 name="Group 39"/>
          <p:cNvGrpSpPr>
            <a:grpSpLocks/>
          </p:cNvGrpSpPr>
          <p:nvPr/>
        </p:nvGrpSpPr>
        <p:grpSpPr bwMode="auto">
          <a:xfrm>
            <a:off x="5309369" y="1988840"/>
            <a:ext cx="3367087" cy="1782762"/>
            <a:chOff x="3168" y="1200"/>
            <a:chExt cx="2448" cy="1123"/>
          </a:xfrm>
        </p:grpSpPr>
        <p:grpSp>
          <p:nvGrpSpPr>
            <p:cNvPr id="8" name="Group 10"/>
            <p:cNvGrpSpPr>
              <a:grpSpLocks/>
            </p:cNvGrpSpPr>
            <p:nvPr/>
          </p:nvGrpSpPr>
          <p:grpSpPr bwMode="auto">
            <a:xfrm>
              <a:off x="5472" y="1363"/>
              <a:ext cx="144" cy="960"/>
              <a:chOff x="5040" y="1296"/>
              <a:chExt cx="144" cy="1248"/>
            </a:xfrm>
          </p:grpSpPr>
          <p:sp>
            <p:nvSpPr>
              <p:cNvPr id="15" name="Line 11"/>
              <p:cNvSpPr>
                <a:spLocks noChangeShapeType="1"/>
              </p:cNvSpPr>
              <p:nvPr/>
            </p:nvSpPr>
            <p:spPr bwMode="auto">
              <a:xfrm>
                <a:off x="5040" y="1296"/>
                <a:ext cx="0" cy="12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 name="Line 12"/>
              <p:cNvSpPr>
                <a:spLocks noChangeShapeType="1"/>
              </p:cNvSpPr>
              <p:nvPr/>
            </p:nvSpPr>
            <p:spPr bwMode="auto">
              <a:xfrm>
                <a:off x="5040" y="1392"/>
                <a:ext cx="144" cy="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 name="Line 13"/>
              <p:cNvSpPr>
                <a:spLocks noChangeShapeType="1"/>
              </p:cNvSpPr>
              <p:nvPr/>
            </p:nvSpPr>
            <p:spPr bwMode="auto">
              <a:xfrm>
                <a:off x="5040" y="1488"/>
                <a:ext cx="144" cy="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8" name="Line 14"/>
              <p:cNvSpPr>
                <a:spLocks noChangeShapeType="1"/>
              </p:cNvSpPr>
              <p:nvPr/>
            </p:nvSpPr>
            <p:spPr bwMode="auto">
              <a:xfrm>
                <a:off x="5040" y="1584"/>
                <a:ext cx="144" cy="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9" name="Line 15"/>
              <p:cNvSpPr>
                <a:spLocks noChangeShapeType="1"/>
              </p:cNvSpPr>
              <p:nvPr/>
            </p:nvSpPr>
            <p:spPr bwMode="auto">
              <a:xfrm>
                <a:off x="5040" y="1680"/>
                <a:ext cx="144" cy="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0" name="Line 16"/>
              <p:cNvSpPr>
                <a:spLocks noChangeShapeType="1"/>
              </p:cNvSpPr>
              <p:nvPr/>
            </p:nvSpPr>
            <p:spPr bwMode="auto">
              <a:xfrm>
                <a:off x="5040" y="1776"/>
                <a:ext cx="144" cy="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1" name="Line 17"/>
              <p:cNvSpPr>
                <a:spLocks noChangeShapeType="1"/>
              </p:cNvSpPr>
              <p:nvPr/>
            </p:nvSpPr>
            <p:spPr bwMode="auto">
              <a:xfrm>
                <a:off x="5040" y="1872"/>
                <a:ext cx="144" cy="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2" name="Line 18"/>
              <p:cNvSpPr>
                <a:spLocks noChangeShapeType="1"/>
              </p:cNvSpPr>
              <p:nvPr/>
            </p:nvSpPr>
            <p:spPr bwMode="auto">
              <a:xfrm>
                <a:off x="5040" y="1968"/>
                <a:ext cx="144" cy="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Line 19"/>
              <p:cNvSpPr>
                <a:spLocks noChangeShapeType="1"/>
              </p:cNvSpPr>
              <p:nvPr/>
            </p:nvSpPr>
            <p:spPr bwMode="auto">
              <a:xfrm>
                <a:off x="5040" y="2064"/>
                <a:ext cx="144" cy="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4" name="Line 20"/>
              <p:cNvSpPr>
                <a:spLocks noChangeShapeType="1"/>
              </p:cNvSpPr>
              <p:nvPr/>
            </p:nvSpPr>
            <p:spPr bwMode="auto">
              <a:xfrm>
                <a:off x="5040" y="2160"/>
                <a:ext cx="144" cy="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5" name="Line 21"/>
              <p:cNvSpPr>
                <a:spLocks noChangeShapeType="1"/>
              </p:cNvSpPr>
              <p:nvPr/>
            </p:nvSpPr>
            <p:spPr bwMode="auto">
              <a:xfrm>
                <a:off x="5040" y="2256"/>
                <a:ext cx="144" cy="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6" name="Line 22"/>
              <p:cNvSpPr>
                <a:spLocks noChangeShapeType="1"/>
              </p:cNvSpPr>
              <p:nvPr/>
            </p:nvSpPr>
            <p:spPr bwMode="auto">
              <a:xfrm>
                <a:off x="5040" y="2352"/>
                <a:ext cx="144" cy="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7" name="Line 23"/>
              <p:cNvSpPr>
                <a:spLocks noChangeShapeType="1"/>
              </p:cNvSpPr>
              <p:nvPr/>
            </p:nvSpPr>
            <p:spPr bwMode="auto">
              <a:xfrm>
                <a:off x="5040" y="2448"/>
                <a:ext cx="144" cy="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9" name="Line 25"/>
            <p:cNvSpPr>
              <a:spLocks noChangeShapeType="1"/>
            </p:cNvSpPr>
            <p:nvPr/>
          </p:nvSpPr>
          <p:spPr bwMode="auto">
            <a:xfrm>
              <a:off x="4828" y="1219"/>
              <a:ext cx="740" cy="0"/>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aphicFrame>
          <p:nvGraphicFramePr>
            <p:cNvPr id="10" name="Object 26"/>
            <p:cNvGraphicFramePr>
              <a:graphicFrameLocks noChangeAspect="1"/>
            </p:cNvGraphicFramePr>
            <p:nvPr/>
          </p:nvGraphicFramePr>
          <p:xfrm>
            <a:off x="4976" y="1200"/>
            <a:ext cx="256" cy="355"/>
          </p:xfrm>
          <a:graphic>
            <a:graphicData uri="http://schemas.openxmlformats.org/presentationml/2006/ole">
              <mc:AlternateContent xmlns:mc="http://schemas.openxmlformats.org/markup-compatibility/2006">
                <mc:Choice xmlns:v="urn:schemas-microsoft-com:vml" Requires="v">
                  <p:oleObj spid="_x0000_s88189" name="Equation" r:id="rId9" imgW="164880" imgH="228600" progId="Equation.3">
                    <p:embed/>
                  </p:oleObj>
                </mc:Choice>
                <mc:Fallback>
                  <p:oleObj name="Equation" r:id="rId9" imgW="164880" imgH="228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76" y="1200"/>
                          <a:ext cx="256"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Oval 27"/>
            <p:cNvSpPr>
              <a:spLocks noChangeArrowheads="1"/>
            </p:cNvSpPr>
            <p:nvPr/>
          </p:nvSpPr>
          <p:spPr bwMode="auto">
            <a:xfrm>
              <a:off x="3168" y="1795"/>
              <a:ext cx="48" cy="48"/>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2" name="Oval 28"/>
            <p:cNvSpPr>
              <a:spLocks noChangeArrowheads="1"/>
            </p:cNvSpPr>
            <p:nvPr/>
          </p:nvSpPr>
          <p:spPr bwMode="auto">
            <a:xfrm>
              <a:off x="3792" y="1795"/>
              <a:ext cx="48" cy="48"/>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aphicFrame>
          <p:nvGraphicFramePr>
            <p:cNvPr id="13" name="Object 29"/>
            <p:cNvGraphicFramePr>
              <a:graphicFrameLocks noChangeAspect="1"/>
            </p:cNvGraphicFramePr>
            <p:nvPr/>
          </p:nvGraphicFramePr>
          <p:xfrm>
            <a:off x="3220" y="1555"/>
            <a:ext cx="236" cy="257"/>
          </p:xfrm>
          <a:graphic>
            <a:graphicData uri="http://schemas.openxmlformats.org/presentationml/2006/ole">
              <mc:AlternateContent xmlns:mc="http://schemas.openxmlformats.org/markup-compatibility/2006">
                <mc:Choice xmlns:v="urn:schemas-microsoft-com:vml" Requires="v">
                  <p:oleObj spid="_x0000_s88190" name="Equation" r:id="rId11" imgW="152280" imgH="164880" progId="Equation.3">
                    <p:embed/>
                  </p:oleObj>
                </mc:Choice>
                <mc:Fallback>
                  <p:oleObj name="Equation" r:id="rId11" imgW="152280" imgH="1648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20" y="1555"/>
                          <a:ext cx="23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30"/>
            <p:cNvGraphicFramePr>
              <a:graphicFrameLocks noChangeAspect="1"/>
            </p:cNvGraphicFramePr>
            <p:nvPr/>
          </p:nvGraphicFramePr>
          <p:xfrm>
            <a:off x="3840" y="1603"/>
            <a:ext cx="177" cy="218"/>
          </p:xfrm>
          <a:graphic>
            <a:graphicData uri="http://schemas.openxmlformats.org/presentationml/2006/ole">
              <mc:AlternateContent xmlns:mc="http://schemas.openxmlformats.org/markup-compatibility/2006">
                <mc:Choice xmlns:v="urn:schemas-microsoft-com:vml" Requires="v">
                  <p:oleObj spid="_x0000_s88191" name="Equation" r:id="rId13" imgW="114120" imgH="139680" progId="Equation.3">
                    <p:embed/>
                  </p:oleObj>
                </mc:Choice>
                <mc:Fallback>
                  <p:oleObj name="Equation" r:id="rId13" imgW="114120" imgH="13968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40" y="1603"/>
                          <a:ext cx="177"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8" name="Text Box 5"/>
          <p:cNvSpPr txBox="1">
            <a:spLocks noChangeArrowheads="1"/>
          </p:cNvSpPr>
          <p:nvPr/>
        </p:nvSpPr>
        <p:spPr bwMode="auto">
          <a:xfrm>
            <a:off x="827584" y="1954396"/>
            <a:ext cx="66246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dirty="0">
                <a:solidFill>
                  <a:schemeClr val="tx1"/>
                </a:solidFill>
                <a:latin typeface="宋体" pitchFamily="2" charset="-122"/>
              </a:rPr>
              <a:t>首先，物体作为接受体，则其接受的声频为</a:t>
            </a:r>
          </a:p>
        </p:txBody>
      </p:sp>
      <p:graphicFrame>
        <p:nvGraphicFramePr>
          <p:cNvPr id="29" name="Object 34"/>
          <p:cNvGraphicFramePr>
            <a:graphicFrameLocks noChangeAspect="1"/>
          </p:cNvGraphicFramePr>
          <p:nvPr>
            <p:extLst>
              <p:ext uri="{D42A27DB-BD31-4B8C-83A1-F6EECF244321}">
                <p14:modId xmlns:p14="http://schemas.microsoft.com/office/powerpoint/2010/main" val="992475230"/>
              </p:ext>
            </p:extLst>
          </p:nvPr>
        </p:nvGraphicFramePr>
        <p:xfrm>
          <a:off x="1403648" y="2409158"/>
          <a:ext cx="1463040" cy="670168"/>
        </p:xfrm>
        <a:graphic>
          <a:graphicData uri="http://schemas.openxmlformats.org/presentationml/2006/ole">
            <mc:AlternateContent xmlns:mc="http://schemas.openxmlformats.org/markup-compatibility/2006">
              <mc:Choice xmlns:v="urn:schemas-microsoft-com:vml" Requires="v">
                <p:oleObj spid="_x0000_s88192" name="Equation" r:id="rId15" imgW="787320" imgH="393480" progId="Equation.3">
                  <p:embed/>
                </p:oleObj>
              </mc:Choice>
              <mc:Fallback>
                <p:oleObj name="Equation" r:id="rId15" imgW="787320" imgH="39348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03648" y="2409158"/>
                        <a:ext cx="1463040" cy="670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Text Box 36"/>
          <p:cNvSpPr txBox="1">
            <a:spLocks noChangeArrowheads="1"/>
          </p:cNvSpPr>
          <p:nvPr/>
        </p:nvSpPr>
        <p:spPr bwMode="auto">
          <a:xfrm>
            <a:off x="395288" y="3212976"/>
            <a:ext cx="6552976" cy="36933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800" b="1" dirty="0">
                <a:solidFill>
                  <a:schemeClr val="tx1"/>
                </a:solidFill>
                <a:latin typeface="宋体" pitchFamily="2" charset="-122"/>
              </a:rPr>
              <a:t>　　然后，波从移动物体反射回来，此时物体作为</a:t>
            </a:r>
            <a:r>
              <a:rPr lang="zh-CN" altLang="en-US" sz="1800" b="1" dirty="0">
                <a:solidFill>
                  <a:srgbClr val="FF0000"/>
                </a:solidFill>
                <a:latin typeface="宋体" pitchFamily="2" charset="-122"/>
              </a:rPr>
              <a:t>新波源</a:t>
            </a:r>
          </a:p>
        </p:txBody>
      </p:sp>
      <p:graphicFrame>
        <p:nvGraphicFramePr>
          <p:cNvPr id="31" name="Object 37"/>
          <p:cNvGraphicFramePr>
            <a:graphicFrameLocks noChangeAspect="1"/>
          </p:cNvGraphicFramePr>
          <p:nvPr>
            <p:extLst>
              <p:ext uri="{D42A27DB-BD31-4B8C-83A1-F6EECF244321}">
                <p14:modId xmlns:p14="http://schemas.microsoft.com/office/powerpoint/2010/main" val="686535136"/>
              </p:ext>
            </p:extLst>
          </p:nvPr>
        </p:nvGraphicFramePr>
        <p:xfrm>
          <a:off x="1389055" y="3653357"/>
          <a:ext cx="3899016" cy="745416"/>
        </p:xfrm>
        <a:graphic>
          <a:graphicData uri="http://schemas.openxmlformats.org/presentationml/2006/ole">
            <mc:AlternateContent xmlns:mc="http://schemas.openxmlformats.org/markup-compatibility/2006">
              <mc:Choice xmlns:v="urn:schemas-microsoft-com:vml" Requires="v">
                <p:oleObj spid="_x0000_s88193" name="Equation" r:id="rId17" imgW="2070000" imgH="431640" progId="Equation.3">
                  <p:embed/>
                </p:oleObj>
              </mc:Choice>
              <mc:Fallback>
                <p:oleObj name="Equation" r:id="rId17" imgW="2070000" imgH="43164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89055" y="3653357"/>
                        <a:ext cx="3899016" cy="745416"/>
                      </a:xfrm>
                      <a:prstGeom prst="rect">
                        <a:avLst/>
                      </a:prstGeom>
                      <a:noFill/>
                      <a:ln>
                        <a:noFill/>
                      </a:ln>
                      <a:effectLst/>
                      <a:extLst/>
                    </p:spPr>
                  </p:pic>
                </p:oleObj>
              </mc:Fallback>
            </mc:AlternateContent>
          </a:graphicData>
        </a:graphic>
      </p:graphicFrame>
      <p:sp>
        <p:nvSpPr>
          <p:cNvPr id="33" name="Text Box 5"/>
          <p:cNvSpPr txBox="1">
            <a:spLocks noChangeArrowheads="1"/>
          </p:cNvSpPr>
          <p:nvPr/>
        </p:nvSpPr>
        <p:spPr bwMode="auto">
          <a:xfrm>
            <a:off x="1259730" y="231031"/>
            <a:ext cx="66246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smtClean="0">
                <a:solidFill>
                  <a:schemeClr val="tx1"/>
                </a:solidFill>
                <a:latin typeface="宋体" pitchFamily="2" charset="-122"/>
              </a:rPr>
              <a:t>比较上课讲的一例题和月考一的一考题</a:t>
            </a:r>
            <a:endParaRPr lang="zh-CN" altLang="en-US" sz="2400" b="1" dirty="0">
              <a:solidFill>
                <a:schemeClr val="tx1"/>
              </a:solidFill>
              <a:latin typeface="宋体" pitchFamily="2" charset="-122"/>
            </a:endParaRPr>
          </a:p>
        </p:txBody>
      </p:sp>
      <p:sp>
        <p:nvSpPr>
          <p:cNvPr id="35" name="Text Box 52"/>
          <p:cNvSpPr txBox="1">
            <a:spLocks noChangeArrowheads="1"/>
          </p:cNvSpPr>
          <p:nvPr/>
        </p:nvSpPr>
        <p:spPr bwMode="auto">
          <a:xfrm>
            <a:off x="827584" y="4787860"/>
            <a:ext cx="27640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800" b="1" dirty="0">
                <a:solidFill>
                  <a:schemeClr val="tx1"/>
                </a:solidFill>
                <a:latin typeface="宋体" pitchFamily="2" charset="-122"/>
              </a:rPr>
              <a:t>所以Ｐ点接受到的声频</a:t>
            </a:r>
          </a:p>
        </p:txBody>
      </p:sp>
      <p:graphicFrame>
        <p:nvGraphicFramePr>
          <p:cNvPr id="36" name="Object 53"/>
          <p:cNvGraphicFramePr>
            <a:graphicFrameLocks noChangeAspect="1"/>
          </p:cNvGraphicFramePr>
          <p:nvPr>
            <p:extLst>
              <p:ext uri="{D42A27DB-BD31-4B8C-83A1-F6EECF244321}">
                <p14:modId xmlns:p14="http://schemas.microsoft.com/office/powerpoint/2010/main" val="2282829497"/>
              </p:ext>
            </p:extLst>
          </p:nvPr>
        </p:nvGraphicFramePr>
        <p:xfrm>
          <a:off x="3491880" y="5013176"/>
          <a:ext cx="1645920" cy="334412"/>
        </p:xfrm>
        <a:graphic>
          <a:graphicData uri="http://schemas.openxmlformats.org/presentationml/2006/ole">
            <mc:AlternateContent xmlns:mc="http://schemas.openxmlformats.org/markup-compatibility/2006">
              <mc:Choice xmlns:v="urn:schemas-microsoft-com:vml" Requires="v">
                <p:oleObj spid="_x0000_s88194" name="Equation" r:id="rId19" imgW="799920" imgH="177480" progId="Equation.3">
                  <p:embed/>
                </p:oleObj>
              </mc:Choice>
              <mc:Fallback>
                <p:oleObj name="Equation" r:id="rId19" imgW="799920" imgH="17748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91880" y="5013176"/>
                        <a:ext cx="1645920" cy="33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 name="Object 56"/>
          <p:cNvGraphicFramePr>
            <a:graphicFrameLocks noChangeAspect="1"/>
          </p:cNvGraphicFramePr>
          <p:nvPr>
            <p:extLst>
              <p:ext uri="{D42A27DB-BD31-4B8C-83A1-F6EECF244321}">
                <p14:modId xmlns:p14="http://schemas.microsoft.com/office/powerpoint/2010/main" val="1179277692"/>
              </p:ext>
            </p:extLst>
          </p:nvPr>
        </p:nvGraphicFramePr>
        <p:xfrm>
          <a:off x="3521576" y="4562336"/>
          <a:ext cx="1554480" cy="378832"/>
        </p:xfrm>
        <a:graphic>
          <a:graphicData uri="http://schemas.openxmlformats.org/presentationml/2006/ole">
            <mc:AlternateContent xmlns:mc="http://schemas.openxmlformats.org/markup-compatibility/2006">
              <mc:Choice xmlns:v="urn:schemas-microsoft-com:vml" Requires="v">
                <p:oleObj spid="_x0000_s88195" name="Equation" r:id="rId21" imgW="761760" imgH="203040" progId="Equation.3">
                  <p:embed/>
                </p:oleObj>
              </mc:Choice>
              <mc:Fallback>
                <p:oleObj name="Equation" r:id="rId21" imgW="761760" imgH="20304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521576" y="4562336"/>
                        <a:ext cx="1554480" cy="378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 name="AutoShape 59"/>
          <p:cNvSpPr>
            <a:spLocks/>
          </p:cNvSpPr>
          <p:nvPr/>
        </p:nvSpPr>
        <p:spPr bwMode="auto">
          <a:xfrm>
            <a:off x="3347864" y="4661128"/>
            <a:ext cx="91440" cy="640080"/>
          </a:xfrm>
          <a:prstGeom prst="leftBrace">
            <a:avLst>
              <a:gd name="adj1" fmla="val 92407"/>
              <a:gd name="adj2" fmla="val 50000"/>
            </a:avLst>
          </a:prstGeom>
          <a:noFill/>
          <a:ln w="2857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9" name="矩形 38"/>
          <p:cNvSpPr/>
          <p:nvPr/>
        </p:nvSpPr>
        <p:spPr>
          <a:xfrm>
            <a:off x="395288" y="5589240"/>
            <a:ext cx="8520112" cy="923330"/>
          </a:xfrm>
          <a:prstGeom prst="rect">
            <a:avLst/>
          </a:prstGeom>
        </p:spPr>
        <p:txBody>
          <a:bodyPr wrap="square">
            <a:spAutoFit/>
          </a:bodyPr>
          <a:lstStyle/>
          <a:p>
            <a:r>
              <a:rPr kumimoji="0" lang="zh-CN" altLang="en-US" sz="1800" b="1" kern="0" dirty="0">
                <a:solidFill>
                  <a:srgbClr val="FF0000"/>
                </a:solidFill>
                <a:latin typeface="宋体" pitchFamily="2" charset="-122"/>
              </a:rPr>
              <a:t>考</a:t>
            </a:r>
            <a:r>
              <a:rPr kumimoji="0" lang="zh-CN" altLang="en-US" sz="1800" b="1" kern="0" dirty="0" smtClean="0">
                <a:solidFill>
                  <a:srgbClr val="FF0000"/>
                </a:solidFill>
                <a:latin typeface="宋体" pitchFamily="2" charset="-122"/>
              </a:rPr>
              <a:t>题：</a:t>
            </a:r>
            <a:r>
              <a:rPr kumimoji="0" lang="zh-CN" altLang="en-US" sz="1800" b="1" kern="0" dirty="0" smtClean="0">
                <a:solidFill>
                  <a:schemeClr val="tx1"/>
                </a:solidFill>
                <a:latin typeface="宋体" pitchFamily="2" charset="-122"/>
              </a:rPr>
              <a:t>一固定的超声波探测器，在海水中发出一束频率为</a:t>
            </a:r>
            <a:r>
              <a:rPr kumimoji="0" lang="en-US" altLang="zh-CN" sz="1800" b="1" kern="0" dirty="0" smtClean="0">
                <a:solidFill>
                  <a:schemeClr val="tx1"/>
                </a:solidFill>
                <a:latin typeface="宋体" pitchFamily="2" charset="-122"/>
              </a:rPr>
              <a:t>2.5x10</a:t>
            </a:r>
            <a:r>
              <a:rPr kumimoji="0" lang="en-US" altLang="zh-CN" sz="1800" b="1" kern="0" baseline="30000" dirty="0" smtClean="0">
                <a:solidFill>
                  <a:schemeClr val="tx1"/>
                </a:solidFill>
                <a:latin typeface="宋体" pitchFamily="2" charset="-122"/>
              </a:rPr>
              <a:t>4</a:t>
            </a:r>
            <a:r>
              <a:rPr kumimoji="0" lang="en-US" altLang="zh-CN" sz="1800" b="1" kern="0" dirty="0" smtClean="0">
                <a:solidFill>
                  <a:schemeClr val="tx1"/>
                </a:solidFill>
                <a:latin typeface="宋体" pitchFamily="2" charset="-122"/>
              </a:rPr>
              <a:t>Hz</a:t>
            </a:r>
            <a:r>
              <a:rPr kumimoji="0" lang="zh-CN" altLang="en-US" sz="1800" b="1" kern="0" dirty="0" smtClean="0">
                <a:solidFill>
                  <a:schemeClr val="tx1"/>
                </a:solidFill>
                <a:latin typeface="宋体" pitchFamily="2" charset="-122"/>
              </a:rPr>
              <a:t>的超声波，被向着探测器驶来的潜艇反射回来，反射波与原来的波合成后，得到频率为</a:t>
            </a:r>
            <a:r>
              <a:rPr kumimoji="0" lang="en-US" altLang="zh-CN" sz="1800" b="1" kern="0" dirty="0" smtClean="0">
                <a:solidFill>
                  <a:schemeClr val="tx1"/>
                </a:solidFill>
                <a:latin typeface="宋体" pitchFamily="2" charset="-122"/>
              </a:rPr>
              <a:t>220Hz</a:t>
            </a:r>
            <a:r>
              <a:rPr kumimoji="0" lang="zh-CN" altLang="en-US" sz="1800" b="1" kern="0" dirty="0" smtClean="0">
                <a:solidFill>
                  <a:schemeClr val="tx1"/>
                </a:solidFill>
                <a:latin typeface="宋体" pitchFamily="2" charset="-122"/>
              </a:rPr>
              <a:t>的拍。设超声波在海水里的波速为</a:t>
            </a:r>
            <a:r>
              <a:rPr kumimoji="0" lang="en-US" altLang="zh-CN" sz="1800" b="1" kern="0" dirty="0" smtClean="0">
                <a:solidFill>
                  <a:schemeClr val="tx1"/>
                </a:solidFill>
                <a:latin typeface="宋体" pitchFamily="2" charset="-122"/>
              </a:rPr>
              <a:t>1500m/s,</a:t>
            </a:r>
            <a:r>
              <a:rPr kumimoji="0" lang="zh-CN" altLang="en-US" sz="1800" b="1" kern="0" dirty="0" smtClean="0">
                <a:solidFill>
                  <a:schemeClr val="tx1"/>
                </a:solidFill>
                <a:latin typeface="宋体" pitchFamily="2" charset="-122"/>
              </a:rPr>
              <a:t>则潜艇的速度为（  ）。</a:t>
            </a:r>
            <a:endParaRPr lang="zh-CN" altLang="en-US" dirty="0">
              <a:solidFill>
                <a:schemeClr val="tx1"/>
              </a:solidFill>
            </a:endParaRPr>
          </a:p>
        </p:txBody>
      </p:sp>
    </p:spTree>
    <p:extLst>
      <p:ext uri="{BB962C8B-B14F-4D97-AF65-F5344CB8AC3E}">
        <p14:creationId xmlns:p14="http://schemas.microsoft.com/office/powerpoint/2010/main" val="3890767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8" presetClass="entr" presetSubtype="16"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diamond(in)">
                                      <p:cBhvr>
                                        <p:cTn id="11" dur="2000"/>
                                        <p:tgtEl>
                                          <p:spTgt spid="28"/>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diamond(in)">
                                      <p:cBhvr>
                                        <p:cTn id="16" dur="20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30">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8" presetClass="entr" presetSubtype="16"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diamond(in)">
                                      <p:cBhvr>
                                        <p:cTn id="29"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28" grpId="0"/>
      <p:bldP spid="30" grpId="0" build="p" autoUpdateAnimBg="0"/>
      <p:bldP spid="3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p:cNvSpPr txBox="1">
            <a:spLocks noChangeArrowheads="1"/>
          </p:cNvSpPr>
          <p:nvPr/>
        </p:nvSpPr>
        <p:spPr bwMode="auto">
          <a:xfrm>
            <a:off x="3389263" y="3157884"/>
            <a:ext cx="2646363"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4800" b="1" dirty="0">
                <a:solidFill>
                  <a:schemeClr val="tx2"/>
                </a:solidFill>
                <a:latin typeface="+mn-ea"/>
                <a:ea typeface="+mn-ea"/>
              </a:rPr>
              <a:t>光的干涉</a:t>
            </a:r>
          </a:p>
        </p:txBody>
      </p:sp>
      <p:sp>
        <p:nvSpPr>
          <p:cNvPr id="2" name="矩形 1"/>
          <p:cNvSpPr/>
          <p:nvPr/>
        </p:nvSpPr>
        <p:spPr>
          <a:xfrm>
            <a:off x="1835696" y="1196752"/>
            <a:ext cx="5753498" cy="830997"/>
          </a:xfrm>
          <a:prstGeom prst="rect">
            <a:avLst/>
          </a:prstGeom>
        </p:spPr>
        <p:txBody>
          <a:bodyPr wrap="none">
            <a:spAutoFit/>
          </a:bodyPr>
          <a:lstStyle/>
          <a:p>
            <a:r>
              <a:rPr lang="zh-CN" altLang="en-US" sz="4800" b="1" dirty="0">
                <a:solidFill>
                  <a:schemeClr val="tx1"/>
                </a:solidFill>
              </a:rPr>
              <a:t>光的干涉衍射复习课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117762"/>
                                        </p:tgtEl>
                                        <p:attrNameLst>
                                          <p:attrName>style.visibility</p:attrName>
                                        </p:attrNameLst>
                                      </p:cBhvr>
                                      <p:to>
                                        <p:strVal val="visible"/>
                                      </p:to>
                                    </p:set>
                                    <p:anim calcmode="lin" valueType="num">
                                      <p:cBhvr>
                                        <p:cTn id="7" dur="1000" fill="hold"/>
                                        <p:tgtEl>
                                          <p:spTgt spid="117762"/>
                                        </p:tgtEl>
                                        <p:attrNameLst>
                                          <p:attrName>ppt_w</p:attrName>
                                        </p:attrNameLst>
                                      </p:cBhvr>
                                      <p:tavLst>
                                        <p:tav tm="0">
                                          <p:val>
                                            <p:fltVal val="0"/>
                                          </p:val>
                                        </p:tav>
                                        <p:tav tm="100000">
                                          <p:val>
                                            <p:strVal val="#ppt_w"/>
                                          </p:val>
                                        </p:tav>
                                      </p:tavLst>
                                    </p:anim>
                                    <p:anim calcmode="lin" valueType="num">
                                      <p:cBhvr>
                                        <p:cTn id="8" dur="1000" fill="hold"/>
                                        <p:tgtEl>
                                          <p:spTgt spid="117762"/>
                                        </p:tgtEl>
                                        <p:attrNameLst>
                                          <p:attrName>ppt_h</p:attrName>
                                        </p:attrNameLst>
                                      </p:cBhvr>
                                      <p:tavLst>
                                        <p:tav tm="0">
                                          <p:val>
                                            <p:fltVal val="0"/>
                                          </p:val>
                                        </p:tav>
                                        <p:tav tm="100000">
                                          <p:val>
                                            <p:strVal val="#ppt_h"/>
                                          </p:val>
                                        </p:tav>
                                      </p:tavLst>
                                    </p:anim>
                                    <p:anim calcmode="lin" valueType="num">
                                      <p:cBhvr>
                                        <p:cTn id="9" dur="1000" fill="hold"/>
                                        <p:tgtEl>
                                          <p:spTgt spid="11776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776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62" name="Rectangle 14"/>
          <p:cNvSpPr>
            <a:spLocks noChangeArrowheads="1"/>
          </p:cNvSpPr>
          <p:nvPr/>
        </p:nvSpPr>
        <p:spPr bwMode="auto">
          <a:xfrm>
            <a:off x="196850" y="333375"/>
            <a:ext cx="2032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chemeClr val="tx2"/>
                </a:solidFill>
                <a:latin typeface="黑体" pitchFamily="49" charset="-122"/>
                <a:ea typeface="黑体" pitchFamily="49" charset="-122"/>
              </a:rPr>
              <a:t>一、基本要求</a:t>
            </a:r>
          </a:p>
        </p:txBody>
      </p:sp>
      <p:sp>
        <p:nvSpPr>
          <p:cNvPr id="2063" name="Rectangle 15"/>
          <p:cNvSpPr>
            <a:spLocks noChangeArrowheads="1"/>
          </p:cNvSpPr>
          <p:nvPr/>
        </p:nvSpPr>
        <p:spPr bwMode="auto">
          <a:xfrm>
            <a:off x="381000" y="1187450"/>
            <a:ext cx="77914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chemeClr val="accent1"/>
                </a:solidFill>
                <a:latin typeface="宋体" pitchFamily="2" charset="-122"/>
              </a:rPr>
              <a:t>1</a:t>
            </a:r>
            <a:r>
              <a:rPr lang="zh-CN" altLang="en-US" sz="2400" b="1">
                <a:solidFill>
                  <a:schemeClr val="accent1"/>
                </a:solidFill>
                <a:latin typeface="宋体" pitchFamily="2" charset="-122"/>
              </a:rPr>
              <a:t>．理解获得相干光的基本方法，掌握光程的概念；</a:t>
            </a:r>
          </a:p>
        </p:txBody>
      </p:sp>
      <p:sp>
        <p:nvSpPr>
          <p:cNvPr id="2064" name="Rectangle 16"/>
          <p:cNvSpPr>
            <a:spLocks noChangeArrowheads="1"/>
          </p:cNvSpPr>
          <p:nvPr/>
        </p:nvSpPr>
        <p:spPr bwMode="auto">
          <a:xfrm>
            <a:off x="381000" y="2133600"/>
            <a:ext cx="81534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chemeClr val="accent1"/>
                </a:solidFill>
                <a:latin typeface="宋体" pitchFamily="2" charset="-122"/>
              </a:rPr>
              <a:t>2</a:t>
            </a:r>
            <a:r>
              <a:rPr lang="zh-CN" altLang="en-US" sz="2400" b="1">
                <a:solidFill>
                  <a:schemeClr val="accent1"/>
                </a:solidFill>
                <a:latin typeface="宋体" pitchFamily="2" charset="-122"/>
              </a:rPr>
              <a:t>．会分析杨氏双缝干涉条纹及薄膜等厚干涉条纹的条件和位置；</a:t>
            </a:r>
          </a:p>
        </p:txBody>
      </p:sp>
      <p:sp>
        <p:nvSpPr>
          <p:cNvPr id="2065" name="Rectangle 17"/>
          <p:cNvSpPr>
            <a:spLocks noChangeArrowheads="1"/>
          </p:cNvSpPr>
          <p:nvPr/>
        </p:nvSpPr>
        <p:spPr bwMode="auto">
          <a:xfrm>
            <a:off x="381000" y="3500438"/>
            <a:ext cx="526256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chemeClr val="accent1"/>
                </a:solidFill>
                <a:latin typeface="宋体" pitchFamily="2" charset="-122"/>
              </a:rPr>
              <a:t>3</a:t>
            </a:r>
            <a:r>
              <a:rPr lang="zh-CN" altLang="en-US" sz="2400" b="1" dirty="0">
                <a:solidFill>
                  <a:schemeClr val="accent1"/>
                </a:solidFill>
                <a:latin typeface="宋体" pitchFamily="2" charset="-122"/>
              </a:rPr>
              <a:t>．了解迈克耳孙干涉仪的工作原理。</a:t>
            </a:r>
          </a:p>
        </p:txBody>
      </p:sp>
      <p:sp>
        <p:nvSpPr>
          <p:cNvPr id="2066" name="Rectangle 18"/>
          <p:cNvSpPr>
            <a:spLocks noChangeArrowheads="1"/>
          </p:cNvSpPr>
          <p:nvPr/>
        </p:nvSpPr>
        <p:spPr bwMode="auto">
          <a:xfrm>
            <a:off x="76200" y="4540250"/>
            <a:ext cx="2032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chemeClr val="tx2"/>
                </a:solidFill>
                <a:latin typeface="黑体" pitchFamily="49" charset="-122"/>
                <a:ea typeface="黑体" pitchFamily="49" charset="-122"/>
              </a:rPr>
              <a:t>二、基本内容</a:t>
            </a:r>
          </a:p>
        </p:txBody>
      </p:sp>
      <p:sp>
        <p:nvSpPr>
          <p:cNvPr id="2067" name="Rectangle 19"/>
          <p:cNvSpPr>
            <a:spLocks noChangeArrowheads="1"/>
          </p:cNvSpPr>
          <p:nvPr/>
        </p:nvSpPr>
        <p:spPr bwMode="auto">
          <a:xfrm>
            <a:off x="381000" y="5362575"/>
            <a:ext cx="81534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chemeClr val="accent1"/>
                </a:solidFill>
                <a:latin typeface="宋体" pitchFamily="2" charset="-122"/>
              </a:rPr>
              <a:t>1</a:t>
            </a:r>
            <a:r>
              <a:rPr lang="zh-CN" altLang="en-US" sz="2400" b="1">
                <a:solidFill>
                  <a:schemeClr val="accent1"/>
                </a:solidFill>
                <a:latin typeface="宋体" pitchFamily="2" charset="-122"/>
              </a:rPr>
              <a:t>．获得相干光的基本方法（波阵面分割法，振幅分割法）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6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6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6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6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0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2" grpId="0" autoUpdateAnimBg="0"/>
      <p:bldP spid="2063" grpId="0" autoUpdateAnimBg="0"/>
      <p:bldP spid="2064" grpId="0" autoUpdateAnimBg="0"/>
      <p:bldP spid="2065" grpId="0" autoUpdateAnimBg="0"/>
      <p:bldP spid="2066" grpId="0" autoUpdateAnimBg="0"/>
      <p:bldP spid="2067"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77" name="Text Box 13"/>
          <p:cNvSpPr txBox="1">
            <a:spLocks noChangeArrowheads="1"/>
          </p:cNvSpPr>
          <p:nvPr/>
        </p:nvSpPr>
        <p:spPr bwMode="auto">
          <a:xfrm>
            <a:off x="228600" y="519113"/>
            <a:ext cx="126206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2"/>
                </a:solidFill>
                <a:latin typeface="宋体" pitchFamily="2" charset="-122"/>
              </a:rPr>
              <a:t>2</a:t>
            </a:r>
            <a:r>
              <a:rPr lang="zh-CN" altLang="en-US" sz="2400" b="1">
                <a:solidFill>
                  <a:schemeClr val="tx2"/>
                </a:solidFill>
                <a:latin typeface="宋体" pitchFamily="2" charset="-122"/>
              </a:rPr>
              <a:t>．光程</a:t>
            </a:r>
          </a:p>
        </p:txBody>
      </p:sp>
      <p:sp>
        <p:nvSpPr>
          <p:cNvPr id="88078" name="Text Box 14"/>
          <p:cNvSpPr txBox="1">
            <a:spLocks noChangeArrowheads="1"/>
          </p:cNvSpPr>
          <p:nvPr/>
        </p:nvSpPr>
        <p:spPr bwMode="auto">
          <a:xfrm>
            <a:off x="381000" y="1301750"/>
            <a:ext cx="8458200"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zh-CN" altLang="en-US" sz="2400" b="1">
                <a:solidFill>
                  <a:schemeClr val="accent1"/>
                </a:solidFill>
                <a:latin typeface="宋体" pitchFamily="2" charset="-122"/>
              </a:rPr>
              <a:t>（</a:t>
            </a:r>
            <a:r>
              <a:rPr lang="en-US" altLang="zh-CN" sz="2400" b="1">
                <a:solidFill>
                  <a:schemeClr val="accent1"/>
                </a:solidFill>
                <a:latin typeface="宋体" pitchFamily="2" charset="-122"/>
              </a:rPr>
              <a:t>1</a:t>
            </a:r>
            <a:r>
              <a:rPr lang="zh-CN" altLang="en-US" sz="2400" b="1">
                <a:solidFill>
                  <a:schemeClr val="accent1"/>
                </a:solidFill>
                <a:latin typeface="宋体" pitchFamily="2" charset="-122"/>
              </a:rPr>
              <a:t>）光在折射率</a:t>
            </a:r>
            <a:r>
              <a:rPr lang="en-US" altLang="zh-CN" sz="2400" b="1" i="1">
                <a:solidFill>
                  <a:schemeClr val="accent1"/>
                </a:solidFill>
              </a:rPr>
              <a:t>n</a:t>
            </a:r>
            <a:r>
              <a:rPr lang="zh-CN" altLang="en-US" sz="2400" b="1">
                <a:solidFill>
                  <a:schemeClr val="accent1"/>
                </a:solidFill>
                <a:latin typeface="宋体" pitchFamily="2" charset="-122"/>
              </a:rPr>
              <a:t>的介质中，通过的几何路程</a:t>
            </a:r>
            <a:r>
              <a:rPr lang="en-US" altLang="zh-CN" sz="2400" b="1" i="1">
                <a:solidFill>
                  <a:schemeClr val="accent1"/>
                </a:solidFill>
              </a:rPr>
              <a:t>L</a:t>
            </a:r>
            <a:r>
              <a:rPr lang="zh-CN" altLang="en-US" sz="2400" b="1">
                <a:solidFill>
                  <a:schemeClr val="accent1"/>
                </a:solidFill>
                <a:latin typeface="宋体" pitchFamily="2" charset="-122"/>
              </a:rPr>
              <a:t>所引起的相          位变化，相当于光在真空中通过</a:t>
            </a:r>
            <a:r>
              <a:rPr lang="en-US" altLang="zh-CN" sz="2400" b="1" i="1">
                <a:solidFill>
                  <a:schemeClr val="accent1"/>
                </a:solidFill>
              </a:rPr>
              <a:t>nL</a:t>
            </a:r>
            <a:r>
              <a:rPr lang="zh-CN" altLang="en-US" sz="2400" b="1">
                <a:solidFill>
                  <a:schemeClr val="accent1"/>
                </a:solidFill>
                <a:latin typeface="宋体" pitchFamily="2" charset="-122"/>
              </a:rPr>
              <a:t>的路程所引起的相位变化。</a:t>
            </a:r>
          </a:p>
        </p:txBody>
      </p:sp>
      <p:grpSp>
        <p:nvGrpSpPr>
          <p:cNvPr id="88093" name="Group 29"/>
          <p:cNvGrpSpPr>
            <a:grpSpLocks/>
          </p:cNvGrpSpPr>
          <p:nvPr/>
        </p:nvGrpSpPr>
        <p:grpSpPr bwMode="auto">
          <a:xfrm>
            <a:off x="374848" y="2646164"/>
            <a:ext cx="8229600" cy="1358900"/>
            <a:chOff x="192" y="1787"/>
            <a:chExt cx="5184" cy="856"/>
          </a:xfrm>
        </p:grpSpPr>
        <p:grpSp>
          <p:nvGrpSpPr>
            <p:cNvPr id="45064" name="Group 27"/>
            <p:cNvGrpSpPr>
              <a:grpSpLocks/>
            </p:cNvGrpSpPr>
            <p:nvPr/>
          </p:nvGrpSpPr>
          <p:grpSpPr bwMode="auto">
            <a:xfrm>
              <a:off x="192" y="1787"/>
              <a:ext cx="5184" cy="538"/>
              <a:chOff x="192" y="1787"/>
              <a:chExt cx="5184" cy="538"/>
            </a:xfrm>
          </p:grpSpPr>
          <p:sp>
            <p:nvSpPr>
              <p:cNvPr id="45069" name="Text Box 15"/>
              <p:cNvSpPr txBox="1">
                <a:spLocks noChangeArrowheads="1"/>
              </p:cNvSpPr>
              <p:nvPr/>
            </p:nvSpPr>
            <p:spPr bwMode="auto">
              <a:xfrm>
                <a:off x="192" y="1900"/>
                <a:ext cx="51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lang="zh-CN" altLang="en-US" sz="2400" b="1" dirty="0">
                    <a:solidFill>
                      <a:schemeClr val="accent1"/>
                    </a:solidFill>
                    <a:latin typeface="宋体" pitchFamily="2" charset="-122"/>
                  </a:rPr>
                  <a:t>（</a:t>
                </a:r>
                <a:r>
                  <a:rPr lang="en-US" altLang="zh-CN" sz="2400" b="1" dirty="0">
                    <a:solidFill>
                      <a:schemeClr val="accent1"/>
                    </a:solidFill>
                    <a:latin typeface="宋体" pitchFamily="2" charset="-122"/>
                  </a:rPr>
                  <a:t>2</a:t>
                </a:r>
                <a:r>
                  <a:rPr lang="zh-CN" altLang="en-US" sz="2400" b="1" dirty="0">
                    <a:solidFill>
                      <a:schemeClr val="accent1"/>
                    </a:solidFill>
                    <a:latin typeface="宋体" pitchFamily="2" charset="-122"/>
                  </a:rPr>
                  <a:t>）光程差引起的相位变化为</a:t>
                </a:r>
              </a:p>
            </p:txBody>
          </p:sp>
          <p:graphicFrame>
            <p:nvGraphicFramePr>
              <p:cNvPr id="45070" name="Object 19"/>
              <p:cNvGraphicFramePr>
                <a:graphicFrameLocks noChangeAspect="1"/>
              </p:cNvGraphicFramePr>
              <p:nvPr/>
            </p:nvGraphicFramePr>
            <p:xfrm>
              <a:off x="2925" y="1787"/>
              <a:ext cx="979" cy="538"/>
            </p:xfrm>
            <a:graphic>
              <a:graphicData uri="http://schemas.openxmlformats.org/presentationml/2006/ole">
                <mc:AlternateContent xmlns:mc="http://schemas.openxmlformats.org/markup-compatibility/2006">
                  <mc:Choice xmlns:v="urn:schemas-microsoft-com:vml" Requires="v">
                    <p:oleObj spid="_x0000_s45159" r:id="rId3" imgW="666828" imgH="362019" progId="Equation.3">
                      <p:embed/>
                    </p:oleObj>
                  </mc:Choice>
                  <mc:Fallback>
                    <p:oleObj r:id="rId3" imgW="666828" imgH="362019"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5" y="1787"/>
                            <a:ext cx="979"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5065" name="Group 26"/>
            <p:cNvGrpSpPr>
              <a:grpSpLocks/>
            </p:cNvGrpSpPr>
            <p:nvPr/>
          </p:nvGrpSpPr>
          <p:grpSpPr bwMode="auto">
            <a:xfrm>
              <a:off x="575" y="2352"/>
              <a:ext cx="3431" cy="291"/>
              <a:chOff x="575" y="2352"/>
              <a:chExt cx="3431" cy="291"/>
            </a:xfrm>
          </p:grpSpPr>
          <p:sp>
            <p:nvSpPr>
              <p:cNvPr id="45066" name="Text Box 16"/>
              <p:cNvSpPr txBox="1">
                <a:spLocks noChangeArrowheads="1"/>
              </p:cNvSpPr>
              <p:nvPr/>
            </p:nvSpPr>
            <p:spPr bwMode="auto">
              <a:xfrm>
                <a:off x="575" y="2352"/>
                <a:ext cx="343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accent1"/>
                    </a:solidFill>
                    <a:latin typeface="宋体" pitchFamily="2" charset="-122"/>
                  </a:rPr>
                  <a:t>其中  为光程差，  为真空中光的波长</a:t>
                </a:r>
              </a:p>
            </p:txBody>
          </p:sp>
          <p:graphicFrame>
            <p:nvGraphicFramePr>
              <p:cNvPr id="45067" name="Object 20"/>
              <p:cNvGraphicFramePr>
                <a:graphicFrameLocks noChangeAspect="1"/>
              </p:cNvGraphicFramePr>
              <p:nvPr/>
            </p:nvGraphicFramePr>
            <p:xfrm>
              <a:off x="1029" y="2400"/>
              <a:ext cx="173" cy="185"/>
            </p:xfrm>
            <a:graphic>
              <a:graphicData uri="http://schemas.openxmlformats.org/presentationml/2006/ole">
                <mc:AlternateContent xmlns:mc="http://schemas.openxmlformats.org/markup-compatibility/2006">
                  <mc:Choice xmlns:v="urn:schemas-microsoft-com:vml" Requires="v">
                    <p:oleObj spid="_x0000_s45160" r:id="rId5" imgW="133531" imgH="145888" progId="Equation.3">
                      <p:embed/>
                    </p:oleObj>
                  </mc:Choice>
                  <mc:Fallback>
                    <p:oleObj r:id="rId5" imgW="133531" imgH="145888" progId="Equation.3">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9" y="2400"/>
                            <a:ext cx="173"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8" name="Object 21"/>
              <p:cNvGraphicFramePr>
                <a:graphicFrameLocks noChangeAspect="1"/>
              </p:cNvGraphicFramePr>
              <p:nvPr/>
            </p:nvGraphicFramePr>
            <p:xfrm>
              <a:off x="2163" y="2416"/>
              <a:ext cx="173" cy="227"/>
            </p:xfrm>
            <a:graphic>
              <a:graphicData uri="http://schemas.openxmlformats.org/presentationml/2006/ole">
                <mc:AlternateContent xmlns:mc="http://schemas.openxmlformats.org/markup-compatibility/2006">
                  <mc:Choice xmlns:v="urn:schemas-microsoft-com:vml" Requires="v">
                    <p:oleObj spid="_x0000_s45161" r:id="rId7" imgW="120676" imgH="158773" progId="Equation.3">
                      <p:embed/>
                    </p:oleObj>
                  </mc:Choice>
                  <mc:Fallback>
                    <p:oleObj r:id="rId7" imgW="120676" imgH="158773" progId="Equation.3">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3" y="2416"/>
                            <a:ext cx="17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nvGrpSpPr>
          <p:cNvPr id="45061" name="Group 28"/>
          <p:cNvGrpSpPr>
            <a:grpSpLocks/>
          </p:cNvGrpSpPr>
          <p:nvPr/>
        </p:nvGrpSpPr>
        <p:grpSpPr bwMode="auto">
          <a:xfrm>
            <a:off x="395288" y="4267200"/>
            <a:ext cx="6381750" cy="890588"/>
            <a:chOff x="192" y="2659"/>
            <a:chExt cx="4020" cy="561"/>
          </a:xfrm>
        </p:grpSpPr>
        <p:sp>
          <p:nvSpPr>
            <p:cNvPr id="45062" name="Text Box 17"/>
            <p:cNvSpPr txBox="1">
              <a:spLocks noChangeArrowheads="1"/>
            </p:cNvSpPr>
            <p:nvPr/>
          </p:nvSpPr>
          <p:spPr bwMode="auto">
            <a:xfrm>
              <a:off x="192" y="2764"/>
              <a:ext cx="402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accent1"/>
                  </a:solidFill>
                  <a:latin typeface="宋体" pitchFamily="2" charset="-122"/>
                </a:rPr>
                <a:t>（</a:t>
              </a:r>
              <a:r>
                <a:rPr lang="en-US" altLang="zh-CN" sz="2400" b="1">
                  <a:solidFill>
                    <a:schemeClr val="accent1"/>
                  </a:solidFill>
                  <a:latin typeface="宋体" pitchFamily="2" charset="-122"/>
                </a:rPr>
                <a:t>3</a:t>
              </a:r>
              <a:r>
                <a:rPr lang="zh-CN" altLang="en-US" sz="2400" b="1">
                  <a:solidFill>
                    <a:schemeClr val="accent1"/>
                  </a:solidFill>
                  <a:latin typeface="宋体" pitchFamily="2" charset="-122"/>
                </a:rPr>
                <a:t>）附加光程差        </a:t>
              </a:r>
              <a:r>
                <a:rPr lang="en-US" altLang="zh-CN" sz="2400" b="1">
                  <a:solidFill>
                    <a:schemeClr val="accent1"/>
                  </a:solidFill>
                  <a:latin typeface="宋体" pitchFamily="2" charset="-122"/>
                </a:rPr>
                <a:t>---</a:t>
              </a:r>
              <a:r>
                <a:rPr lang="zh-CN" altLang="en-US" sz="2400" b="1">
                  <a:solidFill>
                    <a:schemeClr val="accent1"/>
                  </a:solidFill>
                  <a:latin typeface="宋体" pitchFamily="2" charset="-122"/>
                </a:rPr>
                <a:t>半波损失引起的</a:t>
              </a:r>
            </a:p>
          </p:txBody>
        </p:sp>
        <p:graphicFrame>
          <p:nvGraphicFramePr>
            <p:cNvPr id="45063" name="Object 22"/>
            <p:cNvGraphicFramePr>
              <a:graphicFrameLocks noChangeAspect="1"/>
            </p:cNvGraphicFramePr>
            <p:nvPr/>
          </p:nvGraphicFramePr>
          <p:xfrm>
            <a:off x="1746" y="2659"/>
            <a:ext cx="230" cy="561"/>
          </p:xfrm>
          <a:graphic>
            <a:graphicData uri="http://schemas.openxmlformats.org/presentationml/2006/ole">
              <mc:AlternateContent xmlns:mc="http://schemas.openxmlformats.org/markup-compatibility/2006">
                <mc:Choice xmlns:v="urn:schemas-microsoft-com:vml" Requires="v">
                  <p:oleObj spid="_x0000_s45162" r:id="rId9" imgW="145972" imgH="362019" progId="Equation.3">
                    <p:embed/>
                  </p:oleObj>
                </mc:Choice>
                <mc:Fallback>
                  <p:oleObj r:id="rId9" imgW="145972" imgH="362019" progId="Equation.3">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46" y="2659"/>
                          <a:ext cx="230" cy="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807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88078"/>
                                        </p:tgtEl>
                                        <p:attrNameLst>
                                          <p:attrName>style.visibility</p:attrName>
                                        </p:attrNameLst>
                                      </p:cBhvr>
                                      <p:to>
                                        <p:strVal val="visible"/>
                                      </p:to>
                                    </p:set>
                                    <p:animEffect transition="in" filter="dissolve">
                                      <p:cBhvr>
                                        <p:cTn id="11" dur="500"/>
                                        <p:tgtEl>
                                          <p:spTgt spid="8807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88093"/>
                                        </p:tgtEl>
                                        <p:attrNameLst>
                                          <p:attrName>style.visibility</p:attrName>
                                        </p:attrNameLst>
                                      </p:cBhvr>
                                      <p:to>
                                        <p:strVal val="visible"/>
                                      </p:to>
                                    </p:set>
                                    <p:animEffect transition="in" filter="dissolve">
                                      <p:cBhvr>
                                        <p:cTn id="16" dur="500"/>
                                        <p:tgtEl>
                                          <p:spTgt spid="8809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50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7" grpId="0" autoUpdateAnimBg="0"/>
      <p:bldP spid="8807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3568" y="764704"/>
            <a:ext cx="7848872" cy="1200329"/>
          </a:xfrm>
          <a:prstGeom prst="rect">
            <a:avLst/>
          </a:prstGeom>
          <a:noFill/>
        </p:spPr>
        <p:txBody>
          <a:bodyPr wrap="square" rtlCol="0">
            <a:spAutoFit/>
          </a:bodyPr>
          <a:lstStyle/>
          <a:p>
            <a:r>
              <a:rPr lang="zh-CN" altLang="en-US" sz="2400" dirty="0">
                <a:solidFill>
                  <a:srgbClr val="000000"/>
                </a:solidFill>
              </a:rPr>
              <a:t>真空中波长为</a:t>
            </a:r>
            <a:r>
              <a:rPr lang="en-US" altLang="zh-CN" sz="2400" dirty="0">
                <a:solidFill>
                  <a:srgbClr val="000000"/>
                </a:solidFill>
              </a:rPr>
              <a:t>λ </a:t>
            </a:r>
            <a:r>
              <a:rPr lang="zh-CN" altLang="en-US" sz="2400" dirty="0">
                <a:solidFill>
                  <a:srgbClr val="000000"/>
                </a:solidFill>
              </a:rPr>
              <a:t>的单色光，在折射率为</a:t>
            </a:r>
            <a:r>
              <a:rPr lang="en-US" altLang="zh-CN" sz="2400" dirty="0">
                <a:solidFill>
                  <a:srgbClr val="000000"/>
                </a:solidFill>
              </a:rPr>
              <a:t>n </a:t>
            </a:r>
            <a:r>
              <a:rPr lang="zh-CN" altLang="en-US" sz="2400" dirty="0">
                <a:solidFill>
                  <a:srgbClr val="000000"/>
                </a:solidFill>
              </a:rPr>
              <a:t>的大块玻璃中沿直线从</a:t>
            </a:r>
            <a:r>
              <a:rPr lang="en-US" altLang="zh-CN" sz="2400" dirty="0">
                <a:solidFill>
                  <a:srgbClr val="000000"/>
                </a:solidFill>
              </a:rPr>
              <a:t>A </a:t>
            </a:r>
            <a:r>
              <a:rPr lang="zh-CN" altLang="en-US" sz="2400" dirty="0">
                <a:solidFill>
                  <a:srgbClr val="000000"/>
                </a:solidFill>
              </a:rPr>
              <a:t>点经过路程</a:t>
            </a:r>
            <a:r>
              <a:rPr lang="en-US" altLang="zh-CN" sz="2400" dirty="0">
                <a:solidFill>
                  <a:srgbClr val="000000"/>
                </a:solidFill>
              </a:rPr>
              <a:t>l </a:t>
            </a:r>
            <a:r>
              <a:rPr lang="zh-CN" altLang="en-US" sz="2400" dirty="0">
                <a:solidFill>
                  <a:srgbClr val="000000"/>
                </a:solidFill>
              </a:rPr>
              <a:t>到达</a:t>
            </a:r>
            <a:r>
              <a:rPr lang="en-US" altLang="zh-CN" sz="2400" dirty="0">
                <a:solidFill>
                  <a:srgbClr val="000000"/>
                </a:solidFill>
              </a:rPr>
              <a:t>B </a:t>
            </a:r>
            <a:r>
              <a:rPr lang="zh-CN" altLang="en-US" sz="2400" dirty="0">
                <a:solidFill>
                  <a:srgbClr val="000000"/>
                </a:solidFill>
              </a:rPr>
              <a:t>点，则</a:t>
            </a:r>
            <a:r>
              <a:rPr lang="en-US" altLang="zh-CN" sz="2400" dirty="0">
                <a:solidFill>
                  <a:srgbClr val="000000"/>
                </a:solidFill>
              </a:rPr>
              <a:t>A</a:t>
            </a:r>
            <a:r>
              <a:rPr lang="zh-CN" altLang="en-US" sz="2400" dirty="0">
                <a:solidFill>
                  <a:srgbClr val="000000"/>
                </a:solidFill>
              </a:rPr>
              <a:t>、</a:t>
            </a:r>
            <a:r>
              <a:rPr lang="en-US" altLang="zh-CN" sz="2400" dirty="0">
                <a:solidFill>
                  <a:srgbClr val="000000"/>
                </a:solidFill>
              </a:rPr>
              <a:t>B</a:t>
            </a:r>
            <a:r>
              <a:rPr lang="zh-CN" altLang="en-US" sz="2400" dirty="0">
                <a:solidFill>
                  <a:srgbClr val="000000"/>
                </a:solidFill>
              </a:rPr>
              <a:t>两点处光振动的相位差</a:t>
            </a:r>
            <a:r>
              <a:rPr lang="en-US" altLang="zh-CN" sz="2400" dirty="0" err="1">
                <a:solidFill>
                  <a:srgbClr val="000000"/>
                </a:solidFill>
              </a:rPr>
              <a:t>Δφ</a:t>
            </a:r>
            <a:r>
              <a:rPr lang="zh-CN" altLang="en-US" sz="2400" dirty="0" smtClean="0">
                <a:solidFill>
                  <a:srgbClr val="000000"/>
                </a:solidFill>
              </a:rPr>
              <a:t>为</a:t>
            </a:r>
            <a:r>
              <a:rPr lang="en-US" altLang="zh-CN" sz="2400" dirty="0" smtClean="0">
                <a:solidFill>
                  <a:srgbClr val="000000"/>
                </a:solidFill>
              </a:rPr>
              <a:t>(   )</a:t>
            </a:r>
            <a:endParaRPr lang="zh-CN" altLang="en-US" sz="2400" dirty="0">
              <a:solidFill>
                <a:srgbClr val="000000"/>
              </a:solidFill>
            </a:endParaRPr>
          </a:p>
        </p:txBody>
      </p:sp>
      <p:pic>
        <p:nvPicPr>
          <p:cNvPr id="890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2132856"/>
            <a:ext cx="4962525"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90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889362"/>
            <a:ext cx="5170487"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90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3737087"/>
            <a:ext cx="5164137" cy="811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909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672" y="4797152"/>
            <a:ext cx="5102225"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2417787" y="1564923"/>
            <a:ext cx="282005" cy="400110"/>
          </a:xfrm>
          <a:prstGeom prst="rect">
            <a:avLst/>
          </a:prstGeom>
          <a:noFill/>
        </p:spPr>
        <p:txBody>
          <a:bodyPr wrap="square" rtlCol="0">
            <a:spAutoFit/>
          </a:bodyPr>
          <a:lstStyle/>
          <a:p>
            <a:r>
              <a:rPr lang="en-US" altLang="zh-CN" sz="2000" dirty="0" smtClean="0">
                <a:solidFill>
                  <a:srgbClr val="000000"/>
                </a:solidFill>
              </a:rPr>
              <a:t>A</a:t>
            </a:r>
            <a:endParaRPr lang="zh-CN" altLang="en-US" sz="2000" dirty="0">
              <a:solidFill>
                <a:srgbClr val="000000"/>
              </a:solidFill>
            </a:endParaRPr>
          </a:p>
        </p:txBody>
      </p:sp>
      <p:sp>
        <p:nvSpPr>
          <p:cNvPr id="12" name="TextBox 11"/>
          <p:cNvSpPr txBox="1"/>
          <p:nvPr/>
        </p:nvSpPr>
        <p:spPr>
          <a:xfrm>
            <a:off x="1108638" y="2348880"/>
            <a:ext cx="282005" cy="400110"/>
          </a:xfrm>
          <a:prstGeom prst="rect">
            <a:avLst/>
          </a:prstGeom>
          <a:noFill/>
        </p:spPr>
        <p:txBody>
          <a:bodyPr wrap="square" rtlCol="0">
            <a:spAutoFit/>
          </a:bodyPr>
          <a:lstStyle/>
          <a:p>
            <a:r>
              <a:rPr lang="en-US" altLang="zh-CN" sz="2000" dirty="0" smtClean="0">
                <a:solidFill>
                  <a:srgbClr val="000000"/>
                </a:solidFill>
              </a:rPr>
              <a:t>A</a:t>
            </a:r>
            <a:endParaRPr lang="zh-CN" altLang="en-US" sz="2000" dirty="0">
              <a:solidFill>
                <a:srgbClr val="000000"/>
              </a:solidFill>
            </a:endParaRPr>
          </a:p>
        </p:txBody>
      </p:sp>
      <p:sp>
        <p:nvSpPr>
          <p:cNvPr id="13" name="TextBox 12"/>
          <p:cNvSpPr txBox="1"/>
          <p:nvPr/>
        </p:nvSpPr>
        <p:spPr>
          <a:xfrm>
            <a:off x="1108638" y="4014713"/>
            <a:ext cx="282005" cy="400110"/>
          </a:xfrm>
          <a:prstGeom prst="rect">
            <a:avLst/>
          </a:prstGeom>
          <a:noFill/>
        </p:spPr>
        <p:txBody>
          <a:bodyPr wrap="square" rtlCol="0">
            <a:spAutoFit/>
          </a:bodyPr>
          <a:lstStyle/>
          <a:p>
            <a:r>
              <a:rPr lang="en-US" altLang="zh-CN" sz="2000" dirty="0" smtClean="0">
                <a:solidFill>
                  <a:srgbClr val="000000"/>
                </a:solidFill>
              </a:rPr>
              <a:t>C</a:t>
            </a:r>
            <a:endParaRPr lang="zh-CN" altLang="en-US" sz="2000" dirty="0">
              <a:solidFill>
                <a:srgbClr val="000000"/>
              </a:solidFill>
            </a:endParaRPr>
          </a:p>
        </p:txBody>
      </p:sp>
      <p:sp>
        <p:nvSpPr>
          <p:cNvPr id="14" name="TextBox 13"/>
          <p:cNvSpPr txBox="1"/>
          <p:nvPr/>
        </p:nvSpPr>
        <p:spPr>
          <a:xfrm>
            <a:off x="1108638" y="3153239"/>
            <a:ext cx="282005" cy="400110"/>
          </a:xfrm>
          <a:prstGeom prst="rect">
            <a:avLst/>
          </a:prstGeom>
          <a:noFill/>
        </p:spPr>
        <p:txBody>
          <a:bodyPr wrap="square" rtlCol="0">
            <a:spAutoFit/>
          </a:bodyPr>
          <a:lstStyle/>
          <a:p>
            <a:r>
              <a:rPr lang="en-US" altLang="zh-CN" sz="2000" dirty="0" smtClean="0">
                <a:solidFill>
                  <a:srgbClr val="000000"/>
                </a:solidFill>
              </a:rPr>
              <a:t>B</a:t>
            </a:r>
            <a:endParaRPr lang="zh-CN" altLang="en-US" sz="2000" dirty="0">
              <a:solidFill>
                <a:srgbClr val="000000"/>
              </a:solidFill>
            </a:endParaRPr>
          </a:p>
        </p:txBody>
      </p:sp>
      <p:sp>
        <p:nvSpPr>
          <p:cNvPr id="15" name="TextBox 14"/>
          <p:cNvSpPr txBox="1"/>
          <p:nvPr/>
        </p:nvSpPr>
        <p:spPr>
          <a:xfrm>
            <a:off x="1108638" y="4941168"/>
            <a:ext cx="282005" cy="400110"/>
          </a:xfrm>
          <a:prstGeom prst="rect">
            <a:avLst/>
          </a:prstGeom>
          <a:noFill/>
        </p:spPr>
        <p:txBody>
          <a:bodyPr wrap="square" rtlCol="0">
            <a:spAutoFit/>
          </a:bodyPr>
          <a:lstStyle/>
          <a:p>
            <a:r>
              <a:rPr lang="en-US" altLang="zh-CN" sz="2000" dirty="0" smtClean="0">
                <a:solidFill>
                  <a:srgbClr val="000000"/>
                </a:solidFill>
              </a:rPr>
              <a:t>D</a:t>
            </a:r>
            <a:endParaRPr lang="zh-CN" altLang="en-US" sz="2000" dirty="0">
              <a:solidFill>
                <a:srgbClr val="000000"/>
              </a:solidFill>
            </a:endParaRPr>
          </a:p>
        </p:txBody>
      </p:sp>
    </p:spTree>
    <p:extLst>
      <p:ext uri="{BB962C8B-B14F-4D97-AF65-F5344CB8AC3E}">
        <p14:creationId xmlns:p14="http://schemas.microsoft.com/office/powerpoint/2010/main" val="367847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499" name="Text Box 3"/>
          <p:cNvSpPr txBox="1">
            <a:spLocks noChangeArrowheads="1"/>
          </p:cNvSpPr>
          <p:nvPr/>
        </p:nvSpPr>
        <p:spPr bwMode="auto">
          <a:xfrm>
            <a:off x="152400" y="447675"/>
            <a:ext cx="62484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2"/>
                </a:solidFill>
                <a:latin typeface="宋体" pitchFamily="2" charset="-122"/>
              </a:rPr>
              <a:t> 3</a:t>
            </a:r>
            <a:r>
              <a:rPr lang="zh-CN" altLang="en-US" sz="2400" b="1">
                <a:solidFill>
                  <a:schemeClr val="tx2"/>
                </a:solidFill>
                <a:latin typeface="宋体" pitchFamily="2" charset="-122"/>
              </a:rPr>
              <a:t>．杨氏双缝干涉（波阵面分割法）</a:t>
            </a:r>
          </a:p>
        </p:txBody>
      </p:sp>
      <p:grpSp>
        <p:nvGrpSpPr>
          <p:cNvPr id="106549" name="Group 53"/>
          <p:cNvGrpSpPr>
            <a:grpSpLocks/>
          </p:cNvGrpSpPr>
          <p:nvPr/>
        </p:nvGrpSpPr>
        <p:grpSpPr bwMode="auto">
          <a:xfrm>
            <a:off x="762000" y="1066800"/>
            <a:ext cx="6330950" cy="946150"/>
            <a:chOff x="480" y="672"/>
            <a:chExt cx="3988" cy="596"/>
          </a:xfrm>
        </p:grpSpPr>
        <p:sp>
          <p:nvSpPr>
            <p:cNvPr id="46124" name="Rectangle 9"/>
            <p:cNvSpPr>
              <a:spLocks noChangeArrowheads="1"/>
            </p:cNvSpPr>
            <p:nvPr/>
          </p:nvSpPr>
          <p:spPr bwMode="auto">
            <a:xfrm>
              <a:off x="480" y="816"/>
              <a:ext cx="22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chemeClr val="tx1"/>
                  </a:solidFill>
                  <a:latin typeface="宋体" pitchFamily="2" charset="-122"/>
                </a:rPr>
                <a:t>装置放在真空中的光程差</a:t>
              </a:r>
            </a:p>
          </p:txBody>
        </p:sp>
        <p:graphicFrame>
          <p:nvGraphicFramePr>
            <p:cNvPr id="46125" name="Object 10"/>
            <p:cNvGraphicFramePr>
              <a:graphicFrameLocks noChangeAspect="1"/>
            </p:cNvGraphicFramePr>
            <p:nvPr/>
          </p:nvGraphicFramePr>
          <p:xfrm>
            <a:off x="2740" y="672"/>
            <a:ext cx="1728" cy="596"/>
          </p:xfrm>
          <a:graphic>
            <a:graphicData uri="http://schemas.openxmlformats.org/presentationml/2006/ole">
              <mc:AlternateContent xmlns:mc="http://schemas.openxmlformats.org/markup-compatibility/2006">
                <mc:Choice xmlns:v="urn:schemas-microsoft-com:vml" Requires="v">
                  <p:oleObj spid="_x0000_s46456" r:id="rId3" imgW="1073228" imgH="362019" progId="Equation.3">
                    <p:embed/>
                  </p:oleObj>
                </mc:Choice>
                <mc:Fallback>
                  <p:oleObj r:id="rId3" imgW="1073228" imgH="362019"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0" y="672"/>
                          <a:ext cx="1728"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06550" name="Group 54"/>
          <p:cNvGrpSpPr>
            <a:grpSpLocks/>
          </p:cNvGrpSpPr>
          <p:nvPr/>
        </p:nvGrpSpPr>
        <p:grpSpPr bwMode="auto">
          <a:xfrm>
            <a:off x="739775" y="2078038"/>
            <a:ext cx="5872163" cy="944562"/>
            <a:chOff x="466" y="1309"/>
            <a:chExt cx="3699" cy="595"/>
          </a:xfrm>
        </p:grpSpPr>
        <p:sp>
          <p:nvSpPr>
            <p:cNvPr id="46121" name="Text Box 4"/>
            <p:cNvSpPr txBox="1">
              <a:spLocks noChangeArrowheads="1"/>
            </p:cNvSpPr>
            <p:nvPr/>
          </p:nvSpPr>
          <p:spPr bwMode="auto">
            <a:xfrm>
              <a:off x="466" y="1468"/>
              <a:ext cx="12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latin typeface="宋体" pitchFamily="2" charset="-122"/>
                </a:rPr>
                <a:t>得：明纹条件</a:t>
              </a:r>
            </a:p>
          </p:txBody>
        </p:sp>
        <p:graphicFrame>
          <p:nvGraphicFramePr>
            <p:cNvPr id="46122" name="Object 11"/>
            <p:cNvGraphicFramePr>
              <a:graphicFrameLocks noChangeAspect="1"/>
            </p:cNvGraphicFramePr>
            <p:nvPr/>
          </p:nvGraphicFramePr>
          <p:xfrm>
            <a:off x="1831" y="1309"/>
            <a:ext cx="1094" cy="595"/>
          </p:xfrm>
          <a:graphic>
            <a:graphicData uri="http://schemas.openxmlformats.org/presentationml/2006/ole">
              <mc:AlternateContent xmlns:mc="http://schemas.openxmlformats.org/markup-compatibility/2006">
                <mc:Choice xmlns:v="urn:schemas-microsoft-com:vml" Requires="v">
                  <p:oleObj spid="_x0000_s46457" r:id="rId5" imgW="679269" imgH="362019" progId="Equation.3">
                    <p:embed/>
                  </p:oleObj>
                </mc:Choice>
                <mc:Fallback>
                  <p:oleObj r:id="rId5" imgW="679269" imgH="362019"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1" y="1309"/>
                          <a:ext cx="1094"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123" name="Object 12"/>
            <p:cNvGraphicFramePr>
              <a:graphicFrameLocks noChangeAspect="1"/>
            </p:cNvGraphicFramePr>
            <p:nvPr/>
          </p:nvGraphicFramePr>
          <p:xfrm>
            <a:off x="3243" y="1501"/>
            <a:ext cx="922" cy="258"/>
          </p:xfrm>
          <a:graphic>
            <a:graphicData uri="http://schemas.openxmlformats.org/presentationml/2006/ole">
              <mc:AlternateContent xmlns:mc="http://schemas.openxmlformats.org/markup-compatibility/2006">
                <mc:Choice xmlns:v="urn:schemas-microsoft-com:vml" Requires="v">
                  <p:oleObj spid="_x0000_s46458" r:id="rId7" imgW="641531" imgH="171658" progId="Equation.3">
                    <p:embed/>
                  </p:oleObj>
                </mc:Choice>
                <mc:Fallback>
                  <p:oleObj r:id="rId7" imgW="641531" imgH="171658"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43" y="1501"/>
                          <a:ext cx="92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06551" name="Group 55"/>
          <p:cNvGrpSpPr>
            <a:grpSpLocks/>
          </p:cNvGrpSpPr>
          <p:nvPr/>
        </p:nvGrpSpPr>
        <p:grpSpPr bwMode="auto">
          <a:xfrm>
            <a:off x="1403350" y="3098800"/>
            <a:ext cx="6192838" cy="989013"/>
            <a:chOff x="884" y="1952"/>
            <a:chExt cx="3901" cy="623"/>
          </a:xfrm>
        </p:grpSpPr>
        <p:sp>
          <p:nvSpPr>
            <p:cNvPr id="46118" name="Text Box 5"/>
            <p:cNvSpPr txBox="1">
              <a:spLocks noChangeArrowheads="1"/>
            </p:cNvSpPr>
            <p:nvPr/>
          </p:nvSpPr>
          <p:spPr bwMode="auto">
            <a:xfrm>
              <a:off x="884" y="2112"/>
              <a:ext cx="8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latin typeface="宋体" pitchFamily="2" charset="-122"/>
                </a:rPr>
                <a:t>暗纹条件</a:t>
              </a:r>
            </a:p>
          </p:txBody>
        </p:sp>
        <p:graphicFrame>
          <p:nvGraphicFramePr>
            <p:cNvPr id="46119" name="Object 13"/>
            <p:cNvGraphicFramePr>
              <a:graphicFrameLocks noChangeAspect="1"/>
            </p:cNvGraphicFramePr>
            <p:nvPr/>
          </p:nvGraphicFramePr>
          <p:xfrm>
            <a:off x="1791" y="1952"/>
            <a:ext cx="1786" cy="623"/>
          </p:xfrm>
          <a:graphic>
            <a:graphicData uri="http://schemas.openxmlformats.org/presentationml/2006/ole">
              <mc:AlternateContent xmlns:mc="http://schemas.openxmlformats.org/markup-compatibility/2006">
                <mc:Choice xmlns:v="urn:schemas-microsoft-com:vml" Requires="v">
                  <p:oleObj spid="_x0000_s46459" r:id="rId9" imgW="1060372" imgH="362019" progId="Equation.3">
                    <p:embed/>
                  </p:oleObj>
                </mc:Choice>
                <mc:Fallback>
                  <p:oleObj r:id="rId9" imgW="1060372" imgH="362019"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1" y="1952"/>
                          <a:ext cx="1786" cy="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120" name="Object 14"/>
            <p:cNvGraphicFramePr>
              <a:graphicFrameLocks noChangeAspect="1"/>
            </p:cNvGraphicFramePr>
            <p:nvPr/>
          </p:nvGraphicFramePr>
          <p:xfrm>
            <a:off x="3806" y="2158"/>
            <a:ext cx="979" cy="274"/>
          </p:xfrm>
          <a:graphic>
            <a:graphicData uri="http://schemas.openxmlformats.org/presentationml/2006/ole">
              <mc:AlternateContent xmlns:mc="http://schemas.openxmlformats.org/markup-compatibility/2006">
                <mc:Choice xmlns:v="urn:schemas-microsoft-com:vml" Requires="v">
                  <p:oleObj spid="_x0000_s46460" r:id="rId11" imgW="641531" imgH="171658" progId="Equation.3">
                    <p:embed/>
                  </p:oleObj>
                </mc:Choice>
                <mc:Fallback>
                  <p:oleObj r:id="rId11" imgW="641531" imgH="171658"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06" y="2158"/>
                          <a:ext cx="97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06552" name="Group 56"/>
          <p:cNvGrpSpPr>
            <a:grpSpLocks/>
          </p:cNvGrpSpPr>
          <p:nvPr/>
        </p:nvGrpSpPr>
        <p:grpSpPr bwMode="auto">
          <a:xfrm>
            <a:off x="1403350" y="4292600"/>
            <a:ext cx="2952750" cy="950913"/>
            <a:chOff x="816" y="3240"/>
            <a:chExt cx="1860" cy="599"/>
          </a:xfrm>
        </p:grpSpPr>
        <p:sp>
          <p:nvSpPr>
            <p:cNvPr id="46116" name="Text Box 6"/>
            <p:cNvSpPr txBox="1">
              <a:spLocks noChangeArrowheads="1"/>
            </p:cNvSpPr>
            <p:nvPr/>
          </p:nvSpPr>
          <p:spPr bwMode="auto">
            <a:xfrm>
              <a:off x="816" y="3408"/>
              <a:ext cx="8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latin typeface="宋体" pitchFamily="2" charset="-122"/>
                </a:rPr>
                <a:t>条纹间距</a:t>
              </a:r>
            </a:p>
          </p:txBody>
        </p:sp>
        <p:graphicFrame>
          <p:nvGraphicFramePr>
            <p:cNvPr id="46117" name="Object 15"/>
            <p:cNvGraphicFramePr>
              <a:graphicFrameLocks noChangeAspect="1"/>
            </p:cNvGraphicFramePr>
            <p:nvPr/>
          </p:nvGraphicFramePr>
          <p:xfrm>
            <a:off x="1754" y="3240"/>
            <a:ext cx="922" cy="599"/>
          </p:xfrm>
          <a:graphic>
            <a:graphicData uri="http://schemas.openxmlformats.org/presentationml/2006/ole">
              <mc:AlternateContent xmlns:mc="http://schemas.openxmlformats.org/markup-compatibility/2006">
                <mc:Choice xmlns:v="urn:schemas-microsoft-com:vml" Requires="v">
                  <p:oleObj spid="_x0000_s46461" r:id="rId13" imgW="565228" imgH="362019" progId="Equation.3">
                    <p:embed/>
                  </p:oleObj>
                </mc:Choice>
                <mc:Fallback>
                  <p:oleObj r:id="rId13" imgW="565228" imgH="362019"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54" y="3240"/>
                          <a:ext cx="922"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6087" name="Group 57"/>
          <p:cNvGrpSpPr>
            <a:grpSpLocks/>
          </p:cNvGrpSpPr>
          <p:nvPr/>
        </p:nvGrpSpPr>
        <p:grpSpPr bwMode="auto">
          <a:xfrm>
            <a:off x="6096000" y="4114800"/>
            <a:ext cx="2895600" cy="2438400"/>
            <a:chOff x="3936" y="2640"/>
            <a:chExt cx="1579" cy="1279"/>
          </a:xfrm>
        </p:grpSpPr>
        <p:sp>
          <p:nvSpPr>
            <p:cNvPr id="46088" name="Line 18"/>
            <p:cNvSpPr>
              <a:spLocks noChangeShapeType="1"/>
            </p:cNvSpPr>
            <p:nvPr/>
          </p:nvSpPr>
          <p:spPr bwMode="auto">
            <a:xfrm>
              <a:off x="4272" y="2784"/>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89" name="Line 19"/>
            <p:cNvSpPr>
              <a:spLocks noChangeShapeType="1"/>
            </p:cNvSpPr>
            <p:nvPr/>
          </p:nvSpPr>
          <p:spPr bwMode="auto">
            <a:xfrm>
              <a:off x="4272" y="3072"/>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0" name="Line 20"/>
            <p:cNvSpPr>
              <a:spLocks noChangeShapeType="1"/>
            </p:cNvSpPr>
            <p:nvPr/>
          </p:nvSpPr>
          <p:spPr bwMode="auto">
            <a:xfrm>
              <a:off x="4272" y="3408"/>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1" name="Line 21"/>
            <p:cNvSpPr>
              <a:spLocks noChangeShapeType="1"/>
            </p:cNvSpPr>
            <p:nvPr/>
          </p:nvSpPr>
          <p:spPr bwMode="auto">
            <a:xfrm>
              <a:off x="4272" y="3216"/>
              <a:ext cx="960" cy="0"/>
            </a:xfrm>
            <a:prstGeom prst="line">
              <a:avLst/>
            </a:prstGeom>
            <a:noFill/>
            <a:ln w="1905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2" name="Line 22"/>
            <p:cNvSpPr>
              <a:spLocks noChangeShapeType="1"/>
            </p:cNvSpPr>
            <p:nvPr/>
          </p:nvSpPr>
          <p:spPr bwMode="auto">
            <a:xfrm>
              <a:off x="5232" y="2688"/>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3" name="Freeform 23"/>
            <p:cNvSpPr>
              <a:spLocks/>
            </p:cNvSpPr>
            <p:nvPr/>
          </p:nvSpPr>
          <p:spPr bwMode="auto">
            <a:xfrm>
              <a:off x="4268" y="2784"/>
              <a:ext cx="964" cy="264"/>
            </a:xfrm>
            <a:custGeom>
              <a:avLst/>
              <a:gdLst>
                <a:gd name="T0" fmla="*/ 0 w 964"/>
                <a:gd name="T1" fmla="*/ 264 h 264"/>
                <a:gd name="T2" fmla="*/ 964 w 964"/>
                <a:gd name="T3" fmla="*/ 0 h 264"/>
                <a:gd name="T4" fmla="*/ 0 60000 65536"/>
                <a:gd name="T5" fmla="*/ 0 60000 65536"/>
              </a:gdLst>
              <a:ahLst/>
              <a:cxnLst>
                <a:cxn ang="T4">
                  <a:pos x="T0" y="T1"/>
                </a:cxn>
                <a:cxn ang="T5">
                  <a:pos x="T2" y="T3"/>
                </a:cxn>
              </a:cxnLst>
              <a:rect l="0" t="0" r="r" b="b"/>
              <a:pathLst>
                <a:path w="964" h="264">
                  <a:moveTo>
                    <a:pt x="0" y="264"/>
                  </a:moveTo>
                  <a:lnTo>
                    <a:pt x="964" y="0"/>
                  </a:lnTo>
                </a:path>
              </a:pathLst>
            </a:custGeom>
            <a:noFill/>
            <a:ln w="19050"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4" name="Freeform 24"/>
            <p:cNvSpPr>
              <a:spLocks/>
            </p:cNvSpPr>
            <p:nvPr/>
          </p:nvSpPr>
          <p:spPr bwMode="auto">
            <a:xfrm>
              <a:off x="4276" y="2784"/>
              <a:ext cx="956" cy="600"/>
            </a:xfrm>
            <a:custGeom>
              <a:avLst/>
              <a:gdLst>
                <a:gd name="T0" fmla="*/ 0 w 956"/>
                <a:gd name="T1" fmla="*/ 600 h 600"/>
                <a:gd name="T2" fmla="*/ 956 w 956"/>
                <a:gd name="T3" fmla="*/ 0 h 600"/>
                <a:gd name="T4" fmla="*/ 0 60000 65536"/>
                <a:gd name="T5" fmla="*/ 0 60000 65536"/>
              </a:gdLst>
              <a:ahLst/>
              <a:cxnLst>
                <a:cxn ang="T4">
                  <a:pos x="T0" y="T1"/>
                </a:cxn>
                <a:cxn ang="T5">
                  <a:pos x="T2" y="T3"/>
                </a:cxn>
              </a:cxnLst>
              <a:rect l="0" t="0" r="r" b="b"/>
              <a:pathLst>
                <a:path w="956" h="600">
                  <a:moveTo>
                    <a:pt x="0" y="600"/>
                  </a:moveTo>
                  <a:lnTo>
                    <a:pt x="956" y="0"/>
                  </a:lnTo>
                </a:path>
              </a:pathLst>
            </a:custGeom>
            <a:noFill/>
            <a:ln w="19050"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5" name="Line 25"/>
            <p:cNvSpPr>
              <a:spLocks noChangeShapeType="1"/>
            </p:cNvSpPr>
            <p:nvPr/>
          </p:nvSpPr>
          <p:spPr bwMode="auto">
            <a:xfrm flipV="1">
              <a:off x="4272" y="2784"/>
              <a:ext cx="960" cy="432"/>
            </a:xfrm>
            <a:prstGeom prst="line">
              <a:avLst/>
            </a:prstGeom>
            <a:noFill/>
            <a:ln w="1905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6" name="Line 26"/>
            <p:cNvSpPr>
              <a:spLocks noChangeShapeType="1"/>
            </p:cNvSpPr>
            <p:nvPr/>
          </p:nvSpPr>
          <p:spPr bwMode="auto">
            <a:xfrm>
              <a:off x="4032" y="3072"/>
              <a:ext cx="1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7" name="Line 27"/>
            <p:cNvSpPr>
              <a:spLocks noChangeShapeType="1"/>
            </p:cNvSpPr>
            <p:nvPr/>
          </p:nvSpPr>
          <p:spPr bwMode="auto">
            <a:xfrm>
              <a:off x="4032" y="3360"/>
              <a:ext cx="1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8" name="Line 28"/>
            <p:cNvSpPr>
              <a:spLocks noChangeShapeType="1"/>
            </p:cNvSpPr>
            <p:nvPr/>
          </p:nvSpPr>
          <p:spPr bwMode="auto">
            <a:xfrm>
              <a:off x="4128" y="3071"/>
              <a:ext cx="0" cy="288"/>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9" name="Line 29"/>
            <p:cNvSpPr>
              <a:spLocks noChangeShapeType="1"/>
            </p:cNvSpPr>
            <p:nvPr/>
          </p:nvSpPr>
          <p:spPr bwMode="auto">
            <a:xfrm>
              <a:off x="4272" y="3696"/>
              <a:ext cx="0" cy="192"/>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0" name="Line 30"/>
            <p:cNvSpPr>
              <a:spLocks noChangeShapeType="1"/>
            </p:cNvSpPr>
            <p:nvPr/>
          </p:nvSpPr>
          <p:spPr bwMode="auto">
            <a:xfrm>
              <a:off x="5232" y="3696"/>
              <a:ext cx="0" cy="192"/>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1" name="Line 31"/>
            <p:cNvSpPr>
              <a:spLocks noChangeShapeType="1"/>
            </p:cNvSpPr>
            <p:nvPr/>
          </p:nvSpPr>
          <p:spPr bwMode="auto">
            <a:xfrm>
              <a:off x="4944" y="3792"/>
              <a:ext cx="288" cy="0"/>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2" name="Line 32"/>
            <p:cNvSpPr>
              <a:spLocks noChangeShapeType="1"/>
            </p:cNvSpPr>
            <p:nvPr/>
          </p:nvSpPr>
          <p:spPr bwMode="auto">
            <a:xfrm flipH="1">
              <a:off x="4272" y="3792"/>
              <a:ext cx="336" cy="0"/>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3" name="Line 34"/>
            <p:cNvSpPr>
              <a:spLocks noChangeShapeType="1"/>
            </p:cNvSpPr>
            <p:nvPr/>
          </p:nvSpPr>
          <p:spPr bwMode="auto">
            <a:xfrm>
              <a:off x="5232" y="2784"/>
              <a:ext cx="144"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4" name="Line 35"/>
            <p:cNvSpPr>
              <a:spLocks noChangeShapeType="1"/>
            </p:cNvSpPr>
            <p:nvPr/>
          </p:nvSpPr>
          <p:spPr bwMode="auto">
            <a:xfrm>
              <a:off x="5232" y="3216"/>
              <a:ext cx="144"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5" name="Line 36"/>
            <p:cNvSpPr>
              <a:spLocks noChangeShapeType="1"/>
            </p:cNvSpPr>
            <p:nvPr/>
          </p:nvSpPr>
          <p:spPr bwMode="auto">
            <a:xfrm>
              <a:off x="5328" y="2784"/>
              <a:ext cx="0" cy="432"/>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6" name="Freeform 38"/>
            <p:cNvSpPr>
              <a:spLocks/>
            </p:cNvSpPr>
            <p:nvPr/>
          </p:nvSpPr>
          <p:spPr bwMode="auto">
            <a:xfrm>
              <a:off x="4508" y="3108"/>
              <a:ext cx="47" cy="108"/>
            </a:xfrm>
            <a:custGeom>
              <a:avLst/>
              <a:gdLst>
                <a:gd name="T0" fmla="*/ 0 w 47"/>
                <a:gd name="T1" fmla="*/ 0 h 108"/>
                <a:gd name="T2" fmla="*/ 44 w 47"/>
                <a:gd name="T3" fmla="*/ 36 h 108"/>
                <a:gd name="T4" fmla="*/ 20 w 47"/>
                <a:gd name="T5" fmla="*/ 108 h 108"/>
                <a:gd name="T6" fmla="*/ 0 60000 65536"/>
                <a:gd name="T7" fmla="*/ 0 60000 65536"/>
                <a:gd name="T8" fmla="*/ 0 60000 65536"/>
              </a:gdLst>
              <a:ahLst/>
              <a:cxnLst>
                <a:cxn ang="T6">
                  <a:pos x="T0" y="T1"/>
                </a:cxn>
                <a:cxn ang="T7">
                  <a:pos x="T2" y="T3"/>
                </a:cxn>
                <a:cxn ang="T8">
                  <a:pos x="T4" y="T5"/>
                </a:cxn>
              </a:cxnLst>
              <a:rect l="0" t="0" r="r" b="b"/>
              <a:pathLst>
                <a:path w="47" h="108">
                  <a:moveTo>
                    <a:pt x="0" y="0"/>
                  </a:moveTo>
                  <a:cubicBezTo>
                    <a:pt x="7" y="6"/>
                    <a:pt x="41" y="18"/>
                    <a:pt x="44" y="36"/>
                  </a:cubicBezTo>
                  <a:cubicBezTo>
                    <a:pt x="47" y="54"/>
                    <a:pt x="25" y="93"/>
                    <a:pt x="20" y="108"/>
                  </a:cubicBezTo>
                </a:path>
              </a:pathLst>
            </a:custGeom>
            <a:noFill/>
            <a:ln w="19050" cap="flat" cmpd="sng">
              <a:solidFill>
                <a:schemeClr val="tx1"/>
              </a:solidFill>
              <a:prstDash val="solid"/>
              <a:round/>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6107" name="Object 39"/>
            <p:cNvGraphicFramePr>
              <a:graphicFrameLocks noChangeAspect="1"/>
            </p:cNvGraphicFramePr>
            <p:nvPr/>
          </p:nvGraphicFramePr>
          <p:xfrm>
            <a:off x="3936" y="3120"/>
            <a:ext cx="172" cy="223"/>
          </p:xfrm>
          <a:graphic>
            <a:graphicData uri="http://schemas.openxmlformats.org/presentationml/2006/ole">
              <mc:AlternateContent xmlns:mc="http://schemas.openxmlformats.org/markup-compatibility/2006">
                <mc:Choice xmlns:v="urn:schemas-microsoft-com:vml" Requires="v">
                  <p:oleObj spid="_x0000_s46462" name="Equation" r:id="rId15" imgW="133531" imgH="171658" progId="Equation.3">
                    <p:embed/>
                  </p:oleObj>
                </mc:Choice>
                <mc:Fallback>
                  <p:oleObj name="Equation" r:id="rId15" imgW="133531" imgH="171658" progId="Equation.3">
                    <p:embed/>
                    <p:pic>
                      <p:nvPicPr>
                        <p:cNvPr id="0" name="Object 3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36" y="3120"/>
                          <a:ext cx="172"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6108" name="Object 40"/>
            <p:cNvGraphicFramePr>
              <a:graphicFrameLocks noChangeAspect="1"/>
            </p:cNvGraphicFramePr>
            <p:nvPr/>
          </p:nvGraphicFramePr>
          <p:xfrm>
            <a:off x="4065" y="2808"/>
            <a:ext cx="203" cy="271"/>
          </p:xfrm>
          <a:graphic>
            <a:graphicData uri="http://schemas.openxmlformats.org/presentationml/2006/ole">
              <mc:AlternateContent xmlns:mc="http://schemas.openxmlformats.org/markup-compatibility/2006">
                <mc:Choice xmlns:v="urn:schemas-microsoft-com:vml" Requires="v">
                  <p:oleObj spid="_x0000_s46463" name="Equation" r:id="rId17" imgW="158828" imgH="209481" progId="Equation.3">
                    <p:embed/>
                  </p:oleObj>
                </mc:Choice>
                <mc:Fallback>
                  <p:oleObj name="Equation" r:id="rId17" imgW="158828" imgH="209481" progId="Equation.3">
                    <p:embed/>
                    <p:pic>
                      <p:nvPicPr>
                        <p:cNvPr id="0" name="Object 4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65" y="2808"/>
                          <a:ext cx="2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6109" name="Object 41"/>
            <p:cNvGraphicFramePr>
              <a:graphicFrameLocks noChangeAspect="1"/>
            </p:cNvGraphicFramePr>
            <p:nvPr/>
          </p:nvGraphicFramePr>
          <p:xfrm>
            <a:off x="4053" y="3360"/>
            <a:ext cx="219" cy="271"/>
          </p:xfrm>
          <a:graphic>
            <a:graphicData uri="http://schemas.openxmlformats.org/presentationml/2006/ole">
              <mc:AlternateContent xmlns:mc="http://schemas.openxmlformats.org/markup-compatibility/2006">
                <mc:Choice xmlns:v="urn:schemas-microsoft-com:vml" Requires="v">
                  <p:oleObj spid="_x0000_s46464" name="Equation" r:id="rId19" imgW="171269" imgH="209481" progId="Equation.3">
                    <p:embed/>
                  </p:oleObj>
                </mc:Choice>
                <mc:Fallback>
                  <p:oleObj name="Equation" r:id="rId19" imgW="171269" imgH="209481" progId="Equation.3">
                    <p:embed/>
                    <p:pic>
                      <p:nvPicPr>
                        <p:cNvPr id="0" name="Object 4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53" y="3360"/>
                          <a:ext cx="21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6110" name="Object 42"/>
            <p:cNvGraphicFramePr>
              <a:graphicFrameLocks noChangeAspect="1"/>
            </p:cNvGraphicFramePr>
            <p:nvPr/>
          </p:nvGraphicFramePr>
          <p:xfrm>
            <a:off x="5359" y="2879"/>
            <a:ext cx="156" cy="176"/>
          </p:xfrm>
          <a:graphic>
            <a:graphicData uri="http://schemas.openxmlformats.org/presentationml/2006/ole">
              <mc:AlternateContent xmlns:mc="http://schemas.openxmlformats.org/markup-compatibility/2006">
                <mc:Choice xmlns:v="urn:schemas-microsoft-com:vml" Requires="v">
                  <p:oleObj spid="_x0000_s46465" name="Equation" r:id="rId21" imgW="120676" imgH="133419" progId="Equation.3">
                    <p:embed/>
                  </p:oleObj>
                </mc:Choice>
                <mc:Fallback>
                  <p:oleObj name="Equation" r:id="rId21" imgW="120676" imgH="133419" progId="Equation.3">
                    <p:embed/>
                    <p:pic>
                      <p:nvPicPr>
                        <p:cNvPr id="0" name="Object 4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59" y="2879"/>
                          <a:ext cx="15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6111" name="Object 43"/>
            <p:cNvGraphicFramePr>
              <a:graphicFrameLocks noChangeAspect="1"/>
            </p:cNvGraphicFramePr>
            <p:nvPr/>
          </p:nvGraphicFramePr>
          <p:xfrm>
            <a:off x="5328" y="3216"/>
            <a:ext cx="156" cy="176"/>
          </p:xfrm>
          <a:graphic>
            <a:graphicData uri="http://schemas.openxmlformats.org/presentationml/2006/ole">
              <mc:AlternateContent xmlns:mc="http://schemas.openxmlformats.org/markup-compatibility/2006">
                <mc:Choice xmlns:v="urn:schemas-microsoft-com:vml" Requires="v">
                  <p:oleObj spid="_x0000_s46466" name="Equation" r:id="rId23" imgW="120676" imgH="133419" progId="Equation.3">
                    <p:embed/>
                  </p:oleObj>
                </mc:Choice>
                <mc:Fallback>
                  <p:oleObj name="Equation" r:id="rId23" imgW="120676" imgH="133419" progId="Equation.3">
                    <p:embed/>
                    <p:pic>
                      <p:nvPicPr>
                        <p:cNvPr id="0" name="Object 4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28" y="3216"/>
                          <a:ext cx="15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6112" name="Object 44"/>
            <p:cNvGraphicFramePr>
              <a:graphicFrameLocks noChangeAspect="1"/>
            </p:cNvGraphicFramePr>
            <p:nvPr/>
          </p:nvGraphicFramePr>
          <p:xfrm>
            <a:off x="4560" y="2640"/>
            <a:ext cx="156" cy="272"/>
          </p:xfrm>
          <a:graphic>
            <a:graphicData uri="http://schemas.openxmlformats.org/presentationml/2006/ole">
              <mc:AlternateContent xmlns:mc="http://schemas.openxmlformats.org/markup-compatibility/2006">
                <mc:Choice xmlns:v="urn:schemas-microsoft-com:vml" Requires="v">
                  <p:oleObj spid="_x0000_s46467" name="Equation" r:id="rId25" imgW="120676" imgH="209481" progId="Equation.3">
                    <p:embed/>
                  </p:oleObj>
                </mc:Choice>
                <mc:Fallback>
                  <p:oleObj name="Equation" r:id="rId25" imgW="120676" imgH="209481" progId="Equation.3">
                    <p:embed/>
                    <p:pic>
                      <p:nvPicPr>
                        <p:cNvPr id="0" name="Object 4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560" y="2640"/>
                          <a:ext cx="15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6113" name="Object 45"/>
            <p:cNvGraphicFramePr>
              <a:graphicFrameLocks noChangeAspect="1"/>
            </p:cNvGraphicFramePr>
            <p:nvPr/>
          </p:nvGraphicFramePr>
          <p:xfrm>
            <a:off x="4916" y="2880"/>
            <a:ext cx="172" cy="272"/>
          </p:xfrm>
          <a:graphic>
            <a:graphicData uri="http://schemas.openxmlformats.org/presentationml/2006/ole">
              <mc:AlternateContent xmlns:mc="http://schemas.openxmlformats.org/markup-compatibility/2006">
                <mc:Choice xmlns:v="urn:schemas-microsoft-com:vml" Requires="v">
                  <p:oleObj spid="_x0000_s46468" name="Equation" r:id="rId27" imgW="133531" imgH="209481" progId="Equation.3">
                    <p:embed/>
                  </p:oleObj>
                </mc:Choice>
                <mc:Fallback>
                  <p:oleObj name="Equation" r:id="rId27" imgW="133531" imgH="209481" progId="Equation.3">
                    <p:embed/>
                    <p:pic>
                      <p:nvPicPr>
                        <p:cNvPr id="0" name="Object 4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916" y="2880"/>
                          <a:ext cx="17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6114" name="Object 46"/>
            <p:cNvGraphicFramePr>
              <a:graphicFrameLocks noChangeAspect="1"/>
            </p:cNvGraphicFramePr>
            <p:nvPr/>
          </p:nvGraphicFramePr>
          <p:xfrm>
            <a:off x="4560" y="3024"/>
            <a:ext cx="134" cy="192"/>
          </p:xfrm>
          <a:graphic>
            <a:graphicData uri="http://schemas.openxmlformats.org/presentationml/2006/ole">
              <mc:AlternateContent xmlns:mc="http://schemas.openxmlformats.org/markup-compatibility/2006">
                <mc:Choice xmlns:v="urn:schemas-microsoft-com:vml" Requires="v">
                  <p:oleObj spid="_x0000_s46469" name="Equation" r:id="rId29" imgW="120676" imgH="171658" progId="Equation.3">
                    <p:embed/>
                  </p:oleObj>
                </mc:Choice>
                <mc:Fallback>
                  <p:oleObj name="Equation" r:id="rId29" imgW="120676" imgH="171658" progId="Equation.3">
                    <p:embed/>
                    <p:pic>
                      <p:nvPicPr>
                        <p:cNvPr id="0" name="Object 4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560" y="3024"/>
                          <a:ext cx="13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6115" name="Object 47"/>
            <p:cNvGraphicFramePr>
              <a:graphicFrameLocks noChangeAspect="1"/>
            </p:cNvGraphicFramePr>
            <p:nvPr/>
          </p:nvGraphicFramePr>
          <p:xfrm>
            <a:off x="4656" y="3696"/>
            <a:ext cx="219" cy="223"/>
          </p:xfrm>
          <a:graphic>
            <a:graphicData uri="http://schemas.openxmlformats.org/presentationml/2006/ole">
              <mc:AlternateContent xmlns:mc="http://schemas.openxmlformats.org/markup-compatibility/2006">
                <mc:Choice xmlns:v="urn:schemas-microsoft-com:vml" Requires="v">
                  <p:oleObj spid="_x0000_s46470" name="Equation" r:id="rId31" imgW="171269" imgH="171658" progId="Equation.3">
                    <p:embed/>
                  </p:oleObj>
                </mc:Choice>
                <mc:Fallback>
                  <p:oleObj name="Equation" r:id="rId31" imgW="171269" imgH="171658" progId="Equation.3">
                    <p:embed/>
                    <p:pic>
                      <p:nvPicPr>
                        <p:cNvPr id="0" name="Object 4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656" y="3696"/>
                          <a:ext cx="21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64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0654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0655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0655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065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692696"/>
            <a:ext cx="8064896" cy="1015663"/>
          </a:xfrm>
          <a:prstGeom prst="rect">
            <a:avLst/>
          </a:prstGeom>
          <a:noFill/>
        </p:spPr>
        <p:txBody>
          <a:bodyPr wrap="square" rtlCol="0">
            <a:spAutoFit/>
          </a:bodyPr>
          <a:lstStyle/>
          <a:p>
            <a:r>
              <a:rPr lang="zh-CN" altLang="zh-CN" sz="2000" b="1" dirty="0">
                <a:solidFill>
                  <a:srgbClr val="000000"/>
                </a:solidFill>
                <a:latin typeface="Cambria"/>
                <a:ea typeface="宋体"/>
                <a:cs typeface="宋体"/>
              </a:rPr>
              <a:t>在杨氏双缝干涉实验中，若单色光源</a:t>
            </a:r>
            <a:r>
              <a:rPr lang="en-US" altLang="zh-CN" sz="2000" b="1" i="1" dirty="0">
                <a:solidFill>
                  <a:srgbClr val="000000"/>
                </a:solidFill>
                <a:latin typeface="Cambria"/>
                <a:ea typeface="宋体"/>
                <a:cs typeface="宋体"/>
              </a:rPr>
              <a:t>S</a:t>
            </a:r>
            <a:r>
              <a:rPr lang="zh-CN" altLang="zh-CN" sz="2000" b="1" dirty="0">
                <a:solidFill>
                  <a:srgbClr val="000000"/>
                </a:solidFill>
                <a:latin typeface="Cambria"/>
                <a:ea typeface="宋体"/>
                <a:cs typeface="宋体"/>
              </a:rPr>
              <a:t>到两缝</a:t>
            </a:r>
            <a:r>
              <a:rPr lang="en-US" altLang="zh-CN" sz="2000" b="1" dirty="0">
                <a:solidFill>
                  <a:srgbClr val="000000"/>
                </a:solidFill>
                <a:latin typeface="Cambria"/>
                <a:ea typeface="宋体"/>
                <a:cs typeface="宋体"/>
              </a:rPr>
              <a:t>S1</a:t>
            </a:r>
            <a:r>
              <a:rPr lang="zh-CN" altLang="zh-CN" sz="2000" b="1" dirty="0">
                <a:solidFill>
                  <a:srgbClr val="000000"/>
                </a:solidFill>
                <a:latin typeface="Cambria"/>
                <a:ea typeface="宋体"/>
                <a:cs typeface="宋体"/>
              </a:rPr>
              <a:t>、</a:t>
            </a:r>
            <a:r>
              <a:rPr lang="en-US" altLang="zh-CN" sz="2000" b="1" dirty="0">
                <a:solidFill>
                  <a:srgbClr val="000000"/>
                </a:solidFill>
                <a:latin typeface="Cambria"/>
                <a:ea typeface="宋体"/>
                <a:cs typeface="宋体"/>
              </a:rPr>
              <a:t>S2</a:t>
            </a:r>
            <a:r>
              <a:rPr lang="zh-CN" altLang="zh-CN" sz="2000" b="1" dirty="0">
                <a:solidFill>
                  <a:srgbClr val="000000"/>
                </a:solidFill>
                <a:latin typeface="Cambria"/>
                <a:ea typeface="宋体"/>
                <a:cs typeface="宋体"/>
              </a:rPr>
              <a:t>距离相等，则观察屏上中央明纹中心位于</a:t>
            </a:r>
            <a:r>
              <a:rPr lang="en-US" altLang="zh-CN" sz="2000" b="1" i="1" dirty="0">
                <a:solidFill>
                  <a:srgbClr val="000000"/>
                </a:solidFill>
                <a:latin typeface="Cambria"/>
                <a:ea typeface="宋体"/>
                <a:cs typeface="宋体"/>
              </a:rPr>
              <a:t>o</a:t>
            </a:r>
            <a:r>
              <a:rPr lang="zh-CN" altLang="zh-CN" sz="2000" b="1" dirty="0">
                <a:solidFill>
                  <a:srgbClr val="000000"/>
                </a:solidFill>
                <a:latin typeface="Cambria"/>
                <a:ea typeface="宋体"/>
                <a:cs typeface="宋体"/>
              </a:rPr>
              <a:t>处，若将光源</a:t>
            </a:r>
            <a:r>
              <a:rPr lang="en-US" altLang="zh-CN" sz="2000" b="1" dirty="0">
                <a:solidFill>
                  <a:srgbClr val="000000"/>
                </a:solidFill>
                <a:latin typeface="Cambria"/>
                <a:ea typeface="宋体"/>
                <a:cs typeface="宋体"/>
              </a:rPr>
              <a:t>S</a:t>
            </a:r>
            <a:r>
              <a:rPr lang="zh-CN" altLang="zh-CN" sz="2000" b="1" dirty="0">
                <a:solidFill>
                  <a:srgbClr val="000000"/>
                </a:solidFill>
                <a:latin typeface="Cambria"/>
                <a:ea typeface="宋体"/>
                <a:cs typeface="宋体"/>
              </a:rPr>
              <a:t>向下移动到图中</a:t>
            </a:r>
            <a:r>
              <a:rPr lang="en-US" altLang="zh-CN" sz="2000" b="1" dirty="0">
                <a:solidFill>
                  <a:srgbClr val="000000"/>
                </a:solidFill>
                <a:latin typeface="Cambria"/>
                <a:ea typeface="宋体"/>
                <a:cs typeface="宋体"/>
              </a:rPr>
              <a:t>S′</a:t>
            </a:r>
            <a:r>
              <a:rPr lang="zh-CN" altLang="zh-CN" sz="2000" b="1" dirty="0">
                <a:solidFill>
                  <a:srgbClr val="000000"/>
                </a:solidFill>
                <a:latin typeface="Cambria"/>
                <a:ea typeface="宋体"/>
                <a:cs typeface="宋体"/>
              </a:rPr>
              <a:t>位置，且</a:t>
            </a:r>
            <a:r>
              <a:rPr lang="en-US" altLang="zh-CN" sz="2000" b="1" dirty="0">
                <a:solidFill>
                  <a:srgbClr val="000000"/>
                </a:solidFill>
                <a:latin typeface="Cambria"/>
                <a:ea typeface="宋体"/>
                <a:cs typeface="宋体"/>
              </a:rPr>
              <a:t>S1S′-S2S′= 3λ</a:t>
            </a:r>
            <a:r>
              <a:rPr lang="zh-CN" altLang="zh-CN" sz="2000" b="1" dirty="0">
                <a:solidFill>
                  <a:srgbClr val="000000"/>
                </a:solidFill>
                <a:latin typeface="Cambria"/>
                <a:ea typeface="宋体"/>
                <a:cs typeface="宋体"/>
              </a:rPr>
              <a:t>，则</a:t>
            </a:r>
            <a:r>
              <a:rPr lang="zh-CN" altLang="zh-CN" sz="2000" b="1" dirty="0" smtClean="0">
                <a:solidFill>
                  <a:srgbClr val="000000"/>
                </a:solidFill>
                <a:latin typeface="Cambria"/>
                <a:ea typeface="宋体"/>
                <a:cs typeface="宋体"/>
              </a:rPr>
              <a:t>（</a:t>
            </a:r>
            <a:r>
              <a:rPr lang="en-US" altLang="zh-CN" sz="2000" b="1" dirty="0" smtClean="0">
                <a:solidFill>
                  <a:srgbClr val="000000"/>
                </a:solidFill>
                <a:latin typeface="Cambria"/>
                <a:ea typeface="宋体"/>
                <a:cs typeface="宋体"/>
              </a:rPr>
              <a:t>  </a:t>
            </a:r>
            <a:r>
              <a:rPr lang="zh-CN" altLang="zh-CN" sz="2000" b="1" dirty="0" smtClean="0">
                <a:solidFill>
                  <a:srgbClr val="000000"/>
                </a:solidFill>
                <a:ea typeface="Cambria"/>
                <a:cs typeface="宋体"/>
              </a:rPr>
              <a:t> </a:t>
            </a:r>
            <a:r>
              <a:rPr lang="zh-CN" altLang="zh-CN" sz="2000" b="1" dirty="0">
                <a:solidFill>
                  <a:srgbClr val="000000"/>
                </a:solidFill>
                <a:latin typeface="Cambria"/>
                <a:ea typeface="宋体"/>
                <a:cs typeface="宋体"/>
              </a:rPr>
              <a:t>）</a:t>
            </a:r>
            <a:endParaRPr lang="zh-CN" altLang="en-US" sz="2000" dirty="0">
              <a:solidFill>
                <a:srgbClr val="000000"/>
              </a:solidFill>
            </a:endParaRPr>
          </a:p>
        </p:txBody>
      </p:sp>
      <p:pic>
        <p:nvPicPr>
          <p:cNvPr id="901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1484784"/>
            <a:ext cx="5591175" cy="174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611560" y="3429000"/>
            <a:ext cx="8136904" cy="2554545"/>
          </a:xfrm>
          <a:prstGeom prst="rect">
            <a:avLst/>
          </a:prstGeom>
        </p:spPr>
        <p:txBody>
          <a:bodyPr wrap="square">
            <a:spAutoFit/>
          </a:bodyPr>
          <a:lstStyle/>
          <a:p>
            <a:r>
              <a:rPr lang="en-US" altLang="zh-CN" sz="2000" dirty="0">
                <a:solidFill>
                  <a:srgbClr val="000000"/>
                </a:solidFill>
              </a:rPr>
              <a:t>A</a:t>
            </a:r>
            <a:r>
              <a:rPr lang="zh-CN" altLang="en-US" sz="2000" dirty="0">
                <a:solidFill>
                  <a:srgbClr val="000000"/>
                </a:solidFill>
              </a:rPr>
              <a:t>、 中央明纹中心向下移动至原来第</a:t>
            </a:r>
            <a:r>
              <a:rPr lang="en-US" altLang="zh-CN" sz="2000" dirty="0">
                <a:solidFill>
                  <a:srgbClr val="000000"/>
                </a:solidFill>
              </a:rPr>
              <a:t>3</a:t>
            </a:r>
            <a:r>
              <a:rPr lang="zh-CN" altLang="en-US" sz="2000" dirty="0">
                <a:solidFill>
                  <a:srgbClr val="000000"/>
                </a:solidFill>
              </a:rPr>
              <a:t>条暗纹中心的位置处，且条纹间距增大 </a:t>
            </a:r>
          </a:p>
          <a:p>
            <a:r>
              <a:rPr lang="en-US" altLang="zh-CN" sz="2000" dirty="0">
                <a:solidFill>
                  <a:srgbClr val="000000"/>
                </a:solidFill>
              </a:rPr>
              <a:t>B</a:t>
            </a:r>
            <a:r>
              <a:rPr lang="zh-CN" altLang="en-US" sz="2000" dirty="0">
                <a:solidFill>
                  <a:srgbClr val="000000"/>
                </a:solidFill>
              </a:rPr>
              <a:t>、 中央明纹中心向下移动至原来第</a:t>
            </a:r>
            <a:r>
              <a:rPr lang="en-US" altLang="zh-CN" sz="2000" dirty="0">
                <a:solidFill>
                  <a:srgbClr val="000000"/>
                </a:solidFill>
              </a:rPr>
              <a:t>3</a:t>
            </a:r>
            <a:r>
              <a:rPr lang="zh-CN" altLang="en-US" sz="2000" dirty="0">
                <a:solidFill>
                  <a:srgbClr val="000000"/>
                </a:solidFill>
              </a:rPr>
              <a:t>级明纹中心的位置处，且条纹间距不变 </a:t>
            </a:r>
          </a:p>
          <a:p>
            <a:r>
              <a:rPr lang="en-US" altLang="zh-CN" sz="2000" dirty="0">
                <a:solidFill>
                  <a:srgbClr val="000000"/>
                </a:solidFill>
              </a:rPr>
              <a:t>C</a:t>
            </a:r>
            <a:r>
              <a:rPr lang="zh-CN" altLang="en-US" sz="2000" dirty="0">
                <a:solidFill>
                  <a:srgbClr val="000000"/>
                </a:solidFill>
              </a:rPr>
              <a:t>、 中央明纹中心向上移动至原来第</a:t>
            </a:r>
            <a:r>
              <a:rPr lang="en-US" altLang="zh-CN" sz="2000" dirty="0">
                <a:solidFill>
                  <a:srgbClr val="000000"/>
                </a:solidFill>
              </a:rPr>
              <a:t>3</a:t>
            </a:r>
            <a:r>
              <a:rPr lang="zh-CN" altLang="en-US" sz="2000" dirty="0">
                <a:solidFill>
                  <a:srgbClr val="000000"/>
                </a:solidFill>
              </a:rPr>
              <a:t>条暗纹中心的位置处，且条纹间距减少 </a:t>
            </a:r>
          </a:p>
          <a:p>
            <a:r>
              <a:rPr lang="en-US" altLang="zh-CN" sz="2000" dirty="0">
                <a:solidFill>
                  <a:srgbClr val="000000"/>
                </a:solidFill>
              </a:rPr>
              <a:t>D</a:t>
            </a:r>
            <a:r>
              <a:rPr lang="zh-CN" altLang="en-US" sz="2000" dirty="0">
                <a:solidFill>
                  <a:srgbClr val="000000"/>
                </a:solidFill>
              </a:rPr>
              <a:t>、 中央明纹中心向上移动至原来第</a:t>
            </a:r>
            <a:r>
              <a:rPr lang="en-US" altLang="zh-CN" sz="2000" dirty="0">
                <a:solidFill>
                  <a:srgbClr val="000000"/>
                </a:solidFill>
              </a:rPr>
              <a:t>3</a:t>
            </a:r>
            <a:r>
              <a:rPr lang="zh-CN" altLang="en-US" sz="2000" dirty="0">
                <a:solidFill>
                  <a:srgbClr val="000000"/>
                </a:solidFill>
              </a:rPr>
              <a:t>级明纹中心的位置处，且条纹间距不变 </a:t>
            </a:r>
          </a:p>
        </p:txBody>
      </p:sp>
      <p:sp>
        <p:nvSpPr>
          <p:cNvPr id="5" name="TextBox 4"/>
          <p:cNvSpPr txBox="1"/>
          <p:nvPr/>
        </p:nvSpPr>
        <p:spPr>
          <a:xfrm>
            <a:off x="2921843" y="1300698"/>
            <a:ext cx="282005" cy="400110"/>
          </a:xfrm>
          <a:prstGeom prst="rect">
            <a:avLst/>
          </a:prstGeom>
          <a:noFill/>
        </p:spPr>
        <p:txBody>
          <a:bodyPr wrap="square" rtlCol="0">
            <a:spAutoFit/>
          </a:bodyPr>
          <a:lstStyle/>
          <a:p>
            <a:r>
              <a:rPr lang="en-US" altLang="zh-CN" sz="2000" dirty="0" smtClean="0">
                <a:solidFill>
                  <a:srgbClr val="000000"/>
                </a:solidFill>
              </a:rPr>
              <a:t>D</a:t>
            </a:r>
            <a:endParaRPr lang="zh-CN" altLang="en-US" sz="2000" dirty="0">
              <a:solidFill>
                <a:srgbClr val="000000"/>
              </a:solidFill>
            </a:endParaRPr>
          </a:p>
        </p:txBody>
      </p:sp>
    </p:spTree>
    <p:extLst>
      <p:ext uri="{BB962C8B-B14F-4D97-AF65-F5344CB8AC3E}">
        <p14:creationId xmlns:p14="http://schemas.microsoft.com/office/powerpoint/2010/main" val="2128947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620688"/>
            <a:ext cx="8208912" cy="1015663"/>
          </a:xfrm>
          <a:prstGeom prst="rect">
            <a:avLst/>
          </a:prstGeom>
          <a:noFill/>
        </p:spPr>
        <p:txBody>
          <a:bodyPr wrap="square" rtlCol="0">
            <a:spAutoFit/>
          </a:bodyPr>
          <a:lstStyle/>
          <a:p>
            <a:r>
              <a:rPr lang="zh-CN" altLang="zh-CN" sz="2000" b="1" dirty="0">
                <a:solidFill>
                  <a:srgbClr val="000000"/>
                </a:solidFill>
                <a:ea typeface="宋体"/>
                <a:cs typeface="宋体"/>
              </a:rPr>
              <a:t>在双缝干涉实验中，观察屏上的</a:t>
            </a:r>
            <a:r>
              <a:rPr lang="en-US" altLang="zh-CN" sz="2000" b="1" i="1" dirty="0">
                <a:solidFill>
                  <a:srgbClr val="000000"/>
                </a:solidFill>
                <a:latin typeface="Cambria"/>
                <a:ea typeface="宋体"/>
                <a:cs typeface="宋体"/>
              </a:rPr>
              <a:t>P </a:t>
            </a:r>
            <a:r>
              <a:rPr lang="zh-CN" altLang="zh-CN" sz="2000" b="1" dirty="0">
                <a:solidFill>
                  <a:srgbClr val="000000"/>
                </a:solidFill>
                <a:ea typeface="宋体"/>
                <a:cs typeface="宋体"/>
              </a:rPr>
              <a:t>点是明纹中心。若将</a:t>
            </a:r>
            <a:r>
              <a:rPr lang="en-US" altLang="zh-CN" sz="2000" b="1" dirty="0">
                <a:solidFill>
                  <a:srgbClr val="000000"/>
                </a:solidFill>
                <a:ea typeface="宋体"/>
                <a:cs typeface="宋体"/>
              </a:rPr>
              <a:t>S</a:t>
            </a:r>
            <a:r>
              <a:rPr lang="en-US" altLang="zh-CN" sz="2000" b="1" baseline="-25000" dirty="0">
                <a:solidFill>
                  <a:srgbClr val="000000"/>
                </a:solidFill>
                <a:ea typeface="宋体"/>
                <a:cs typeface="宋体"/>
              </a:rPr>
              <a:t>2</a:t>
            </a:r>
            <a:r>
              <a:rPr lang="zh-CN" altLang="zh-CN" sz="2000" b="1" dirty="0">
                <a:solidFill>
                  <a:srgbClr val="000000"/>
                </a:solidFill>
                <a:ea typeface="宋体"/>
                <a:cs typeface="宋体"/>
              </a:rPr>
              <a:t>缝盖住，并在</a:t>
            </a:r>
            <a:r>
              <a:rPr lang="en-US" altLang="zh-CN" sz="2000" b="1" dirty="0">
                <a:solidFill>
                  <a:srgbClr val="000000"/>
                </a:solidFill>
                <a:ea typeface="宋体"/>
                <a:cs typeface="宋体"/>
              </a:rPr>
              <a:t>S</a:t>
            </a:r>
            <a:r>
              <a:rPr lang="en-US" altLang="zh-CN" sz="2000" b="1" baseline="-25000" dirty="0">
                <a:solidFill>
                  <a:srgbClr val="000000"/>
                </a:solidFill>
                <a:ea typeface="宋体"/>
                <a:cs typeface="宋体"/>
              </a:rPr>
              <a:t>1</a:t>
            </a:r>
            <a:r>
              <a:rPr lang="en-US" altLang="zh-CN" sz="2000" b="1" dirty="0">
                <a:solidFill>
                  <a:srgbClr val="000000"/>
                </a:solidFill>
                <a:ea typeface="宋体"/>
                <a:cs typeface="宋体"/>
              </a:rPr>
              <a:t>S</a:t>
            </a:r>
            <a:r>
              <a:rPr lang="en-US" altLang="zh-CN" sz="2000" b="1" baseline="-25000" dirty="0">
                <a:solidFill>
                  <a:srgbClr val="000000"/>
                </a:solidFill>
                <a:ea typeface="宋体"/>
                <a:cs typeface="宋体"/>
              </a:rPr>
              <a:t>2</a:t>
            </a:r>
            <a:r>
              <a:rPr lang="zh-CN" altLang="zh-CN" sz="2000" b="1" dirty="0">
                <a:solidFill>
                  <a:srgbClr val="000000"/>
                </a:solidFill>
                <a:ea typeface="宋体"/>
                <a:cs typeface="宋体"/>
              </a:rPr>
              <a:t>连线的垂直平分面处放一反射镜</a:t>
            </a:r>
            <a:r>
              <a:rPr lang="en-US" altLang="zh-CN" sz="2000" b="1" dirty="0">
                <a:solidFill>
                  <a:srgbClr val="000000"/>
                </a:solidFill>
                <a:ea typeface="宋体"/>
                <a:cs typeface="宋体"/>
              </a:rPr>
              <a:t>M</a:t>
            </a:r>
            <a:r>
              <a:rPr lang="zh-CN" altLang="zh-CN" sz="2000" b="1" dirty="0">
                <a:solidFill>
                  <a:srgbClr val="000000"/>
                </a:solidFill>
                <a:ea typeface="宋体"/>
                <a:cs typeface="宋体"/>
              </a:rPr>
              <a:t>（如图所示），则以下说法正确的是（</a:t>
            </a:r>
            <a:r>
              <a:rPr lang="en-US" altLang="zh-CN" sz="2000" b="1" dirty="0">
                <a:solidFill>
                  <a:srgbClr val="000000"/>
                </a:solidFill>
                <a:ea typeface="宋体"/>
                <a:cs typeface="宋体"/>
              </a:rPr>
              <a:t>    </a:t>
            </a:r>
            <a:r>
              <a:rPr lang="zh-CN" altLang="zh-CN" sz="2000" b="1" dirty="0">
                <a:solidFill>
                  <a:srgbClr val="000000"/>
                </a:solidFill>
                <a:ea typeface="宋体"/>
                <a:cs typeface="宋体"/>
              </a:rPr>
              <a:t>）</a:t>
            </a:r>
            <a:endParaRPr lang="zh-CN" altLang="en-US" sz="2000" dirty="0">
              <a:solidFill>
                <a:srgbClr val="000000"/>
              </a:solidFill>
            </a:endParaRPr>
          </a:p>
        </p:txBody>
      </p:sp>
      <p:pic>
        <p:nvPicPr>
          <p:cNvPr id="3" name="图片 2" descr="https://p.ananas.chaoxing.com/star3/origin/7c0871b87ac0a0469ecf893fa764e7b4.png"/>
          <p:cNvPicPr/>
          <p:nvPr/>
        </p:nvPicPr>
        <p:blipFill>
          <a:blip r:link="rId2">
            <a:extLst>
              <a:ext uri="{28A0092B-C50C-407E-A947-70E740481C1C}">
                <a14:useLocalDpi xmlns:a14="http://schemas.microsoft.com/office/drawing/2010/main" val="0"/>
              </a:ext>
            </a:extLst>
          </a:blip>
          <a:srcRect/>
          <a:stretch>
            <a:fillRect/>
          </a:stretch>
        </p:blipFill>
        <p:spPr bwMode="auto">
          <a:xfrm>
            <a:off x="3995936" y="1412776"/>
            <a:ext cx="3819525" cy="1628775"/>
          </a:xfrm>
          <a:prstGeom prst="rect">
            <a:avLst/>
          </a:prstGeom>
          <a:noFill/>
          <a:ln>
            <a:noFill/>
          </a:ln>
        </p:spPr>
      </p:pic>
      <p:sp>
        <p:nvSpPr>
          <p:cNvPr id="4" name="矩形 3"/>
          <p:cNvSpPr/>
          <p:nvPr/>
        </p:nvSpPr>
        <p:spPr>
          <a:xfrm>
            <a:off x="755576" y="3041551"/>
            <a:ext cx="4572000" cy="1323439"/>
          </a:xfrm>
          <a:prstGeom prst="rect">
            <a:avLst/>
          </a:prstGeom>
        </p:spPr>
        <p:txBody>
          <a:bodyPr>
            <a:spAutoFit/>
          </a:bodyPr>
          <a:lstStyle/>
          <a:p>
            <a:pPr>
              <a:spcAft>
                <a:spcPts val="0"/>
              </a:spcAft>
            </a:pPr>
            <a:r>
              <a:rPr lang="en-US" altLang="zh-CN" sz="2000" b="1" dirty="0">
                <a:solidFill>
                  <a:srgbClr val="000000"/>
                </a:solidFill>
                <a:latin typeface="宋体"/>
                <a:cs typeface="宋体"/>
              </a:rPr>
              <a:t>A</a:t>
            </a:r>
            <a:r>
              <a:rPr lang="zh-CN" altLang="zh-CN" sz="2000" b="1" dirty="0">
                <a:solidFill>
                  <a:srgbClr val="000000"/>
                </a:solidFill>
                <a:latin typeface="宋体"/>
                <a:cs typeface="宋体"/>
              </a:rPr>
              <a:t>、 </a:t>
            </a:r>
            <a:r>
              <a:rPr lang="en-US" altLang="zh-CN" sz="2000" b="1" i="1" dirty="0">
                <a:solidFill>
                  <a:srgbClr val="000000"/>
                </a:solidFill>
                <a:latin typeface="宋体"/>
                <a:cs typeface="宋体"/>
              </a:rPr>
              <a:t>P</a:t>
            </a:r>
            <a:r>
              <a:rPr lang="zh-CN" altLang="zh-CN" sz="2000" b="1" dirty="0">
                <a:solidFill>
                  <a:srgbClr val="000000"/>
                </a:solidFill>
                <a:latin typeface="宋体"/>
                <a:cs typeface="宋体"/>
              </a:rPr>
              <a:t>点处仍为明纹中心</a:t>
            </a:r>
            <a:r>
              <a:rPr lang="en-US" altLang="zh-CN" sz="2000" b="1" dirty="0">
                <a:solidFill>
                  <a:srgbClr val="000000"/>
                </a:solidFill>
                <a:latin typeface="Times New Roman"/>
                <a:cs typeface="宋体"/>
              </a:rPr>
              <a:t> </a:t>
            </a:r>
            <a:r>
              <a:rPr lang="en-US" altLang="zh-CN" sz="2000" b="1" dirty="0">
                <a:solidFill>
                  <a:srgbClr val="000000"/>
                </a:solidFill>
                <a:latin typeface="宋体"/>
                <a:cs typeface="宋体"/>
              </a:rPr>
              <a:t> </a:t>
            </a:r>
            <a:endParaRPr lang="zh-CN" altLang="zh-CN" sz="2000" b="1" dirty="0">
              <a:solidFill>
                <a:srgbClr val="000000"/>
              </a:solidFill>
              <a:latin typeface="宋体"/>
              <a:cs typeface="宋体"/>
            </a:endParaRPr>
          </a:p>
          <a:p>
            <a:pPr>
              <a:spcAft>
                <a:spcPts val="0"/>
              </a:spcAft>
            </a:pPr>
            <a:r>
              <a:rPr lang="en-US" altLang="zh-CN" sz="2000" b="1" dirty="0">
                <a:solidFill>
                  <a:srgbClr val="000000"/>
                </a:solidFill>
                <a:latin typeface="宋体"/>
                <a:cs typeface="宋体"/>
              </a:rPr>
              <a:t>B</a:t>
            </a:r>
            <a:r>
              <a:rPr lang="zh-CN" altLang="zh-CN" sz="2000" b="1" dirty="0">
                <a:solidFill>
                  <a:srgbClr val="000000"/>
                </a:solidFill>
                <a:latin typeface="宋体"/>
                <a:cs typeface="宋体"/>
              </a:rPr>
              <a:t>、 </a:t>
            </a:r>
            <a:r>
              <a:rPr lang="en-US" altLang="zh-CN" sz="2000" b="1" i="1" dirty="0">
                <a:solidFill>
                  <a:srgbClr val="000000"/>
                </a:solidFill>
                <a:latin typeface="宋体"/>
                <a:cs typeface="宋体"/>
              </a:rPr>
              <a:t>P</a:t>
            </a:r>
            <a:r>
              <a:rPr lang="zh-CN" altLang="zh-CN" sz="2000" b="1" dirty="0">
                <a:solidFill>
                  <a:srgbClr val="000000"/>
                </a:solidFill>
                <a:latin typeface="宋体"/>
                <a:cs typeface="宋体"/>
              </a:rPr>
              <a:t>点处变为暗纹中心 </a:t>
            </a:r>
          </a:p>
          <a:p>
            <a:pPr>
              <a:spcAft>
                <a:spcPts val="0"/>
              </a:spcAft>
            </a:pPr>
            <a:r>
              <a:rPr lang="en-US" altLang="zh-CN" sz="2000" b="1" dirty="0">
                <a:solidFill>
                  <a:srgbClr val="000000"/>
                </a:solidFill>
                <a:latin typeface="宋体"/>
                <a:cs typeface="宋体"/>
              </a:rPr>
              <a:t>C</a:t>
            </a:r>
            <a:r>
              <a:rPr lang="zh-CN" altLang="zh-CN" sz="2000" b="1" dirty="0">
                <a:solidFill>
                  <a:srgbClr val="000000"/>
                </a:solidFill>
                <a:latin typeface="宋体"/>
                <a:cs typeface="宋体"/>
              </a:rPr>
              <a:t>、 </a:t>
            </a:r>
            <a:r>
              <a:rPr lang="en-US" altLang="zh-CN" sz="2000" b="1" i="1" dirty="0">
                <a:solidFill>
                  <a:srgbClr val="000000"/>
                </a:solidFill>
                <a:latin typeface="宋体"/>
                <a:cs typeface="宋体"/>
              </a:rPr>
              <a:t>P</a:t>
            </a:r>
            <a:r>
              <a:rPr lang="zh-CN" altLang="zh-CN" sz="2000" b="1" dirty="0">
                <a:solidFill>
                  <a:srgbClr val="000000"/>
                </a:solidFill>
                <a:latin typeface="宋体"/>
                <a:cs typeface="宋体"/>
              </a:rPr>
              <a:t>点处亮度变为原来的一半 </a:t>
            </a:r>
          </a:p>
          <a:p>
            <a:pPr>
              <a:spcAft>
                <a:spcPts val="0"/>
              </a:spcAft>
            </a:pPr>
            <a:r>
              <a:rPr lang="en-US" altLang="zh-CN" sz="2000" b="1" dirty="0">
                <a:solidFill>
                  <a:srgbClr val="000000"/>
                </a:solidFill>
                <a:latin typeface="宋体"/>
                <a:cs typeface="宋体"/>
              </a:rPr>
              <a:t>D</a:t>
            </a:r>
            <a:r>
              <a:rPr lang="zh-CN" altLang="zh-CN" sz="2000" b="1" dirty="0">
                <a:solidFill>
                  <a:srgbClr val="000000"/>
                </a:solidFill>
                <a:latin typeface="宋体"/>
                <a:cs typeface="宋体"/>
              </a:rPr>
              <a:t>、 </a:t>
            </a:r>
            <a:r>
              <a:rPr lang="en-US" altLang="zh-CN" sz="2000" b="1" i="1" dirty="0">
                <a:solidFill>
                  <a:srgbClr val="000000"/>
                </a:solidFill>
                <a:latin typeface="宋体"/>
                <a:cs typeface="宋体"/>
              </a:rPr>
              <a:t>P</a:t>
            </a:r>
            <a:r>
              <a:rPr lang="zh-CN" altLang="zh-CN" sz="2000" b="1" dirty="0">
                <a:solidFill>
                  <a:srgbClr val="000000"/>
                </a:solidFill>
                <a:latin typeface="宋体"/>
                <a:cs typeface="宋体"/>
              </a:rPr>
              <a:t>点处明或暗都有可能 </a:t>
            </a:r>
          </a:p>
        </p:txBody>
      </p:sp>
      <p:sp>
        <p:nvSpPr>
          <p:cNvPr id="5" name="TextBox 4"/>
          <p:cNvSpPr txBox="1"/>
          <p:nvPr/>
        </p:nvSpPr>
        <p:spPr>
          <a:xfrm>
            <a:off x="1403648" y="1236241"/>
            <a:ext cx="282005" cy="400110"/>
          </a:xfrm>
          <a:prstGeom prst="rect">
            <a:avLst/>
          </a:prstGeom>
          <a:noFill/>
        </p:spPr>
        <p:txBody>
          <a:bodyPr wrap="square" rtlCol="0">
            <a:spAutoFit/>
          </a:bodyPr>
          <a:lstStyle/>
          <a:p>
            <a:r>
              <a:rPr lang="en-US" altLang="zh-CN" sz="2000" dirty="0" smtClean="0">
                <a:solidFill>
                  <a:srgbClr val="000000"/>
                </a:solidFill>
              </a:rPr>
              <a:t>B</a:t>
            </a:r>
            <a:endParaRPr lang="zh-CN" altLang="en-US" sz="2000" dirty="0">
              <a:solidFill>
                <a:srgbClr val="000000"/>
              </a:solidFill>
            </a:endParaRPr>
          </a:p>
        </p:txBody>
      </p:sp>
    </p:spTree>
    <p:extLst>
      <p:ext uri="{BB962C8B-B14F-4D97-AF65-F5344CB8AC3E}">
        <p14:creationId xmlns:p14="http://schemas.microsoft.com/office/powerpoint/2010/main" val="3509735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620688"/>
            <a:ext cx="8136904" cy="1015663"/>
          </a:xfrm>
          <a:prstGeom prst="rect">
            <a:avLst/>
          </a:prstGeom>
          <a:noFill/>
        </p:spPr>
        <p:txBody>
          <a:bodyPr wrap="square" rtlCol="0">
            <a:spAutoFit/>
          </a:bodyPr>
          <a:lstStyle/>
          <a:p>
            <a:r>
              <a:rPr lang="zh-CN" altLang="zh-CN" sz="2000" b="1" dirty="0">
                <a:solidFill>
                  <a:srgbClr val="000000"/>
                </a:solidFill>
                <a:ea typeface="宋体"/>
                <a:cs typeface="宋体"/>
              </a:rPr>
              <a:t>在双缝干涉实验中，两缝间距为</a:t>
            </a:r>
            <a:r>
              <a:rPr lang="en-US" altLang="zh-CN" sz="2000" b="1" dirty="0">
                <a:solidFill>
                  <a:srgbClr val="000000"/>
                </a:solidFill>
                <a:latin typeface="Times New Roman"/>
                <a:ea typeface="宋体"/>
              </a:rPr>
              <a:t>0.30mm</a:t>
            </a:r>
            <a:r>
              <a:rPr lang="zh-CN" altLang="zh-CN" sz="2000" b="1" dirty="0">
                <a:solidFill>
                  <a:srgbClr val="000000"/>
                </a:solidFill>
                <a:ea typeface="宋体"/>
                <a:cs typeface="宋体"/>
              </a:rPr>
              <a:t>，用单色光垂直照射双缝，在离缝</a:t>
            </a:r>
            <a:r>
              <a:rPr lang="en-US" altLang="zh-CN" sz="2000" b="1" dirty="0">
                <a:solidFill>
                  <a:srgbClr val="000000"/>
                </a:solidFill>
                <a:latin typeface="Times New Roman"/>
                <a:ea typeface="宋体"/>
              </a:rPr>
              <a:t>1.20m</a:t>
            </a:r>
            <a:r>
              <a:rPr lang="zh-CN" altLang="zh-CN" sz="2000" b="1" dirty="0">
                <a:solidFill>
                  <a:srgbClr val="000000"/>
                </a:solidFill>
                <a:ea typeface="宋体"/>
                <a:cs typeface="宋体"/>
              </a:rPr>
              <a:t>的屏上测得中央明纹一侧第</a:t>
            </a:r>
            <a:r>
              <a:rPr lang="en-US" altLang="zh-CN" sz="2000" b="1" dirty="0">
                <a:solidFill>
                  <a:srgbClr val="000000"/>
                </a:solidFill>
                <a:latin typeface="Times New Roman"/>
                <a:ea typeface="宋体"/>
              </a:rPr>
              <a:t>5</a:t>
            </a:r>
            <a:r>
              <a:rPr lang="zh-CN" altLang="zh-CN" sz="2000" b="1" dirty="0">
                <a:solidFill>
                  <a:srgbClr val="000000"/>
                </a:solidFill>
                <a:ea typeface="宋体"/>
                <a:cs typeface="宋体"/>
              </a:rPr>
              <a:t>条暗纹与另一侧的第</a:t>
            </a:r>
            <a:r>
              <a:rPr lang="en-US" altLang="zh-CN" sz="2000" b="1" dirty="0">
                <a:solidFill>
                  <a:srgbClr val="000000"/>
                </a:solidFill>
                <a:latin typeface="Times New Roman"/>
                <a:ea typeface="宋体"/>
              </a:rPr>
              <a:t>5</a:t>
            </a:r>
            <a:r>
              <a:rPr lang="zh-CN" altLang="zh-CN" sz="2000" b="1" dirty="0">
                <a:solidFill>
                  <a:srgbClr val="000000"/>
                </a:solidFill>
                <a:ea typeface="宋体"/>
                <a:cs typeface="宋体"/>
              </a:rPr>
              <a:t>条暗纹间的距离为</a:t>
            </a:r>
            <a:r>
              <a:rPr lang="en-US" altLang="zh-CN" sz="2000" b="1" dirty="0">
                <a:solidFill>
                  <a:srgbClr val="000000"/>
                </a:solidFill>
                <a:latin typeface="Times New Roman"/>
                <a:ea typeface="宋体"/>
              </a:rPr>
              <a:t>22.78mm</a:t>
            </a:r>
            <a:r>
              <a:rPr lang="zh-CN" altLang="zh-CN" sz="2000" b="1" dirty="0">
                <a:solidFill>
                  <a:srgbClr val="000000"/>
                </a:solidFill>
                <a:ea typeface="宋体"/>
                <a:cs typeface="宋体"/>
              </a:rPr>
              <a:t>，则所用光的波长最接近以下的</a:t>
            </a:r>
            <a:r>
              <a:rPr lang="zh-CN" altLang="zh-CN" sz="2000" b="1" dirty="0" smtClean="0">
                <a:solidFill>
                  <a:srgbClr val="000000"/>
                </a:solidFill>
                <a:ea typeface="宋体"/>
                <a:cs typeface="宋体"/>
              </a:rPr>
              <a:t>（</a:t>
            </a:r>
            <a:r>
              <a:rPr lang="en-US" altLang="zh-CN" sz="2000" b="1" dirty="0" smtClean="0">
                <a:solidFill>
                  <a:srgbClr val="000000"/>
                </a:solidFill>
                <a:ea typeface="宋体"/>
                <a:cs typeface="宋体"/>
              </a:rPr>
              <a:t>   </a:t>
            </a:r>
            <a:r>
              <a:rPr lang="zh-CN" altLang="zh-CN" sz="2000" b="1" dirty="0" smtClean="0">
                <a:solidFill>
                  <a:srgbClr val="000000"/>
                </a:solidFill>
                <a:ea typeface="宋体"/>
                <a:cs typeface="宋体"/>
              </a:rPr>
              <a:t>）</a:t>
            </a:r>
            <a:endParaRPr lang="zh-CN" altLang="en-US" sz="2000" dirty="0">
              <a:solidFill>
                <a:srgbClr val="000000"/>
              </a:solidFill>
            </a:endParaRPr>
          </a:p>
        </p:txBody>
      </p:sp>
      <p:sp>
        <p:nvSpPr>
          <p:cNvPr id="3" name="矩形 2"/>
          <p:cNvSpPr/>
          <p:nvPr/>
        </p:nvSpPr>
        <p:spPr>
          <a:xfrm>
            <a:off x="899592" y="2132856"/>
            <a:ext cx="4572000" cy="1323439"/>
          </a:xfrm>
          <a:prstGeom prst="rect">
            <a:avLst/>
          </a:prstGeom>
        </p:spPr>
        <p:txBody>
          <a:bodyPr>
            <a:spAutoFit/>
          </a:bodyPr>
          <a:lstStyle/>
          <a:p>
            <a:pPr>
              <a:spcAft>
                <a:spcPts val="0"/>
              </a:spcAft>
            </a:pPr>
            <a:r>
              <a:rPr lang="en-US" altLang="zh-CN" sz="2000" dirty="0">
                <a:solidFill>
                  <a:srgbClr val="000000"/>
                </a:solidFill>
                <a:latin typeface="宋体"/>
                <a:cs typeface="宋体"/>
              </a:rPr>
              <a:t>A</a:t>
            </a:r>
            <a:r>
              <a:rPr lang="zh-CN" altLang="zh-CN" sz="2000" dirty="0">
                <a:solidFill>
                  <a:srgbClr val="000000"/>
                </a:solidFill>
                <a:latin typeface="宋体"/>
                <a:cs typeface="宋体"/>
              </a:rPr>
              <a:t>、 </a:t>
            </a:r>
            <a:r>
              <a:rPr lang="en-US" altLang="zh-CN" sz="2000" dirty="0">
                <a:solidFill>
                  <a:srgbClr val="000000"/>
                </a:solidFill>
                <a:latin typeface="Times New Roman"/>
                <a:cs typeface="宋体"/>
              </a:rPr>
              <a:t>633nm</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B</a:t>
            </a:r>
            <a:r>
              <a:rPr lang="zh-CN" altLang="zh-CN" sz="2000" dirty="0">
                <a:solidFill>
                  <a:srgbClr val="000000"/>
                </a:solidFill>
                <a:latin typeface="宋体"/>
                <a:cs typeface="宋体"/>
              </a:rPr>
              <a:t>、 </a:t>
            </a:r>
            <a:r>
              <a:rPr lang="en-US" altLang="zh-CN" sz="2000" dirty="0">
                <a:solidFill>
                  <a:srgbClr val="000000"/>
                </a:solidFill>
                <a:latin typeface="Times New Roman"/>
                <a:cs typeface="宋体"/>
              </a:rPr>
              <a:t>518nm</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C</a:t>
            </a:r>
            <a:r>
              <a:rPr lang="zh-CN" altLang="zh-CN" sz="2000" dirty="0">
                <a:solidFill>
                  <a:srgbClr val="000000"/>
                </a:solidFill>
                <a:latin typeface="宋体"/>
                <a:cs typeface="宋体"/>
              </a:rPr>
              <a:t>、 </a:t>
            </a:r>
            <a:r>
              <a:rPr lang="en-US" altLang="zh-CN" sz="2000" dirty="0">
                <a:solidFill>
                  <a:srgbClr val="000000"/>
                </a:solidFill>
                <a:latin typeface="Times New Roman"/>
                <a:cs typeface="宋体"/>
              </a:rPr>
              <a:t>570nm</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D</a:t>
            </a:r>
            <a:r>
              <a:rPr lang="zh-CN" altLang="zh-CN" sz="2000" dirty="0">
                <a:solidFill>
                  <a:srgbClr val="000000"/>
                </a:solidFill>
                <a:latin typeface="宋体"/>
                <a:cs typeface="宋体"/>
              </a:rPr>
              <a:t>、 </a:t>
            </a:r>
            <a:r>
              <a:rPr lang="en-US" altLang="zh-CN" sz="2000" dirty="0">
                <a:solidFill>
                  <a:srgbClr val="000000"/>
                </a:solidFill>
                <a:latin typeface="Times New Roman"/>
                <a:cs typeface="宋体"/>
              </a:rPr>
              <a:t>712nm</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p:txBody>
      </p:sp>
      <p:sp>
        <p:nvSpPr>
          <p:cNvPr id="4" name="TextBox 3"/>
          <p:cNvSpPr txBox="1"/>
          <p:nvPr/>
        </p:nvSpPr>
        <p:spPr>
          <a:xfrm>
            <a:off x="6444208" y="1236241"/>
            <a:ext cx="282005" cy="400110"/>
          </a:xfrm>
          <a:prstGeom prst="rect">
            <a:avLst/>
          </a:prstGeom>
          <a:noFill/>
        </p:spPr>
        <p:txBody>
          <a:bodyPr wrap="square" rtlCol="0">
            <a:spAutoFit/>
          </a:bodyPr>
          <a:lstStyle/>
          <a:p>
            <a:r>
              <a:rPr lang="en-US" altLang="zh-CN" sz="2000" dirty="0" smtClean="0">
                <a:solidFill>
                  <a:srgbClr val="000000"/>
                </a:solidFill>
              </a:rPr>
              <a:t>A</a:t>
            </a:r>
            <a:endParaRPr lang="zh-CN" altLang="en-US" sz="2000" dirty="0">
              <a:solidFill>
                <a:srgbClr val="000000"/>
              </a:solidFill>
            </a:endParaRPr>
          </a:p>
        </p:txBody>
      </p:sp>
    </p:spTree>
    <p:extLst>
      <p:ext uri="{BB962C8B-B14F-4D97-AF65-F5344CB8AC3E}">
        <p14:creationId xmlns:p14="http://schemas.microsoft.com/office/powerpoint/2010/main" val="337831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0" name="Text Box 2"/>
          <p:cNvSpPr txBox="1">
            <a:spLocks noChangeArrowheads="1"/>
          </p:cNvSpPr>
          <p:nvPr/>
        </p:nvSpPr>
        <p:spPr bwMode="auto">
          <a:xfrm>
            <a:off x="152400" y="374650"/>
            <a:ext cx="40322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2"/>
                </a:solidFill>
                <a:latin typeface="宋体" pitchFamily="2" charset="-122"/>
              </a:rPr>
              <a:t>4</a:t>
            </a:r>
            <a:r>
              <a:rPr lang="zh-CN" altLang="en-US" sz="2400" b="1">
                <a:solidFill>
                  <a:schemeClr val="tx2"/>
                </a:solidFill>
                <a:latin typeface="宋体" pitchFamily="2" charset="-122"/>
              </a:rPr>
              <a:t>．薄膜干涉（振幅分割法）</a:t>
            </a:r>
          </a:p>
        </p:txBody>
      </p:sp>
      <p:sp>
        <p:nvSpPr>
          <p:cNvPr id="114691" name="Text Box 3"/>
          <p:cNvSpPr txBox="1">
            <a:spLocks noChangeArrowheads="1"/>
          </p:cNvSpPr>
          <p:nvPr/>
        </p:nvSpPr>
        <p:spPr bwMode="auto">
          <a:xfrm>
            <a:off x="304800" y="941388"/>
            <a:ext cx="838200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dirty="0">
                <a:solidFill>
                  <a:schemeClr val="tx1"/>
                </a:solidFill>
                <a:latin typeface="宋体" pitchFamily="2" charset="-122"/>
              </a:rPr>
              <a:t>  </a:t>
            </a:r>
            <a:r>
              <a:rPr lang="zh-CN" altLang="en-US" sz="2400" b="1" dirty="0">
                <a:solidFill>
                  <a:schemeClr val="tx1"/>
                </a:solidFill>
                <a:latin typeface="宋体" pitchFamily="2" charset="-122"/>
              </a:rPr>
              <a:t>入射光</a:t>
            </a:r>
            <a:r>
              <a:rPr lang="zh-CN" altLang="en-US" sz="2400" b="1" dirty="0" smtClean="0">
                <a:solidFill>
                  <a:schemeClr val="tx1"/>
                </a:solidFill>
                <a:latin typeface="宋体" pitchFamily="2" charset="-122"/>
              </a:rPr>
              <a:t>在界面处由于</a:t>
            </a:r>
            <a:r>
              <a:rPr lang="zh-CN" altLang="en-US" sz="2400" b="1" dirty="0">
                <a:solidFill>
                  <a:schemeClr val="tx1"/>
                </a:solidFill>
                <a:latin typeface="宋体" pitchFamily="2" charset="-122"/>
              </a:rPr>
              <a:t>反射和折射而分</a:t>
            </a:r>
            <a:r>
              <a:rPr lang="zh-CN" altLang="en-US" sz="2400" b="1" dirty="0" smtClean="0">
                <a:solidFill>
                  <a:schemeClr val="tx1"/>
                </a:solidFill>
                <a:latin typeface="宋体" pitchFamily="2" charset="-122"/>
              </a:rPr>
              <a:t>振幅。在</a:t>
            </a:r>
            <a:r>
              <a:rPr lang="zh-CN" altLang="en-US" sz="2400" b="1" dirty="0">
                <a:solidFill>
                  <a:schemeClr val="tx1"/>
                </a:solidFill>
                <a:latin typeface="宋体" pitchFamily="2" charset="-122"/>
              </a:rPr>
              <a:t>薄膜上、</a:t>
            </a:r>
            <a:r>
              <a:rPr lang="zh-CN" altLang="en-US" sz="2400" b="1" dirty="0" smtClean="0">
                <a:solidFill>
                  <a:schemeClr val="tx1"/>
                </a:solidFill>
                <a:latin typeface="宋体" pitchFamily="2" charset="-122"/>
              </a:rPr>
              <a:t>下界面的反射光干涉</a:t>
            </a:r>
            <a:endParaRPr lang="zh-CN" altLang="en-US" sz="2400" b="1" dirty="0">
              <a:solidFill>
                <a:schemeClr val="tx1"/>
              </a:solidFill>
              <a:latin typeface="宋体" pitchFamily="2" charset="-122"/>
            </a:endParaRPr>
          </a:p>
        </p:txBody>
      </p:sp>
      <p:grpSp>
        <p:nvGrpSpPr>
          <p:cNvPr id="47108" name="Group 46"/>
          <p:cNvGrpSpPr>
            <a:grpSpLocks/>
          </p:cNvGrpSpPr>
          <p:nvPr/>
        </p:nvGrpSpPr>
        <p:grpSpPr bwMode="auto">
          <a:xfrm>
            <a:off x="611188" y="1855788"/>
            <a:ext cx="5694362" cy="781050"/>
            <a:chOff x="480" y="1483"/>
            <a:chExt cx="3587" cy="492"/>
          </a:xfrm>
        </p:grpSpPr>
        <p:graphicFrame>
          <p:nvGraphicFramePr>
            <p:cNvPr id="47150" name="Object 4"/>
            <p:cNvGraphicFramePr>
              <a:graphicFrameLocks noChangeAspect="1"/>
            </p:cNvGraphicFramePr>
            <p:nvPr/>
          </p:nvGraphicFramePr>
          <p:xfrm>
            <a:off x="1188" y="1483"/>
            <a:ext cx="2650" cy="492"/>
          </p:xfrm>
          <a:graphic>
            <a:graphicData uri="http://schemas.openxmlformats.org/presentationml/2006/ole">
              <mc:AlternateContent xmlns:mc="http://schemas.openxmlformats.org/markup-compatibility/2006">
                <mc:Choice xmlns:v="urn:schemas-microsoft-com:vml" Requires="v">
                  <p:oleObj spid="_x0000_s47461" name="公式" r:id="rId3" imgW="2197080" imgH="406080" progId="Equation.3">
                    <p:embed/>
                  </p:oleObj>
                </mc:Choice>
                <mc:Fallback>
                  <p:oleObj name="公式" r:id="rId3" imgW="2197080" imgH="4060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8" y="1483"/>
                          <a:ext cx="2650"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51" name="Text Box 9"/>
            <p:cNvSpPr txBox="1">
              <a:spLocks noChangeArrowheads="1"/>
            </p:cNvSpPr>
            <p:nvPr/>
          </p:nvSpPr>
          <p:spPr bwMode="auto">
            <a:xfrm>
              <a:off x="3202" y="1572"/>
              <a:ext cx="86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accent1"/>
                  </a:solidFill>
                  <a:latin typeface="宋体" pitchFamily="2" charset="-122"/>
                </a:rPr>
                <a:t>(   </a:t>
              </a:r>
              <a:r>
                <a:rPr lang="zh-CN" altLang="en-US" sz="2400" b="1">
                  <a:solidFill>
                    <a:schemeClr val="accent1"/>
                  </a:solidFill>
                  <a:latin typeface="宋体" pitchFamily="2" charset="-122"/>
                </a:rPr>
                <a:t>   </a:t>
              </a:r>
              <a:r>
                <a:rPr lang="en-US" altLang="zh-CN" sz="2400" b="1">
                  <a:solidFill>
                    <a:schemeClr val="accent1"/>
                  </a:solidFill>
                  <a:latin typeface="宋体" pitchFamily="2" charset="-122"/>
                </a:rPr>
                <a:t>)</a:t>
              </a:r>
              <a:endParaRPr lang="zh-CN" altLang="en-US" sz="2400" b="1">
                <a:solidFill>
                  <a:schemeClr val="accent1"/>
                </a:solidFill>
                <a:latin typeface="宋体" pitchFamily="2" charset="-122"/>
              </a:endParaRPr>
            </a:p>
          </p:txBody>
        </p:sp>
        <p:sp>
          <p:nvSpPr>
            <p:cNvPr id="47152" name="Text Box 8"/>
            <p:cNvSpPr txBox="1">
              <a:spLocks noChangeArrowheads="1"/>
            </p:cNvSpPr>
            <p:nvPr/>
          </p:nvSpPr>
          <p:spPr bwMode="auto">
            <a:xfrm>
              <a:off x="480" y="1584"/>
              <a:ext cx="69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latin typeface="宋体" pitchFamily="2" charset="-122"/>
                </a:rPr>
                <a:t>光程差</a:t>
              </a:r>
            </a:p>
          </p:txBody>
        </p:sp>
      </p:grpSp>
      <p:grpSp>
        <p:nvGrpSpPr>
          <p:cNvPr id="114735" name="Group 47"/>
          <p:cNvGrpSpPr>
            <a:grpSpLocks/>
          </p:cNvGrpSpPr>
          <p:nvPr/>
        </p:nvGrpSpPr>
        <p:grpSpPr bwMode="auto">
          <a:xfrm>
            <a:off x="228600" y="2897188"/>
            <a:ext cx="5135563" cy="819150"/>
            <a:chOff x="144" y="2356"/>
            <a:chExt cx="3235" cy="516"/>
          </a:xfrm>
        </p:grpSpPr>
        <p:graphicFrame>
          <p:nvGraphicFramePr>
            <p:cNvPr id="47147" name="Object 6"/>
            <p:cNvGraphicFramePr>
              <a:graphicFrameLocks noChangeAspect="1"/>
            </p:cNvGraphicFramePr>
            <p:nvPr/>
          </p:nvGraphicFramePr>
          <p:xfrm>
            <a:off x="1610" y="2478"/>
            <a:ext cx="518" cy="284"/>
          </p:xfrm>
          <a:graphic>
            <a:graphicData uri="http://schemas.openxmlformats.org/presentationml/2006/ole">
              <mc:AlternateContent xmlns:mc="http://schemas.openxmlformats.org/markup-compatibility/2006">
                <mc:Choice xmlns:v="urn:schemas-microsoft-com:vml" Requires="v">
                  <p:oleObj spid="_x0000_s47462" r:id="rId5" imgW="285724" imgH="158773" progId="Equation.3">
                    <p:embed/>
                  </p:oleObj>
                </mc:Choice>
                <mc:Fallback>
                  <p:oleObj r:id="rId5" imgW="285724" imgH="158773"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0" y="2478"/>
                          <a:ext cx="518"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48" name="Object 7"/>
            <p:cNvGraphicFramePr>
              <a:graphicFrameLocks noChangeAspect="1"/>
            </p:cNvGraphicFramePr>
            <p:nvPr/>
          </p:nvGraphicFramePr>
          <p:xfrm>
            <a:off x="2227" y="2356"/>
            <a:ext cx="1152" cy="516"/>
          </p:xfrm>
          <a:graphic>
            <a:graphicData uri="http://schemas.openxmlformats.org/presentationml/2006/ole">
              <mc:AlternateContent xmlns:mc="http://schemas.openxmlformats.org/markup-compatibility/2006">
                <mc:Choice xmlns:v="urn:schemas-microsoft-com:vml" Requires="v">
                  <p:oleObj spid="_x0000_s47463" r:id="rId7" imgW="819020" imgH="362019" progId="Equation.3">
                    <p:embed/>
                  </p:oleObj>
                </mc:Choice>
                <mc:Fallback>
                  <p:oleObj r:id="rId7" imgW="819020" imgH="362019"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7" y="2356"/>
                          <a:ext cx="1152"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49" name="Text Box 10"/>
            <p:cNvSpPr txBox="1">
              <a:spLocks noChangeArrowheads="1"/>
            </p:cNvSpPr>
            <p:nvPr/>
          </p:nvSpPr>
          <p:spPr bwMode="auto">
            <a:xfrm>
              <a:off x="144" y="2449"/>
              <a:ext cx="137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2"/>
                  </a:solidFill>
                  <a:latin typeface="宋体" pitchFamily="2" charset="-122"/>
                </a:rPr>
                <a:t>（</a:t>
              </a:r>
              <a:r>
                <a:rPr lang="en-US" altLang="zh-CN" sz="2400" b="1">
                  <a:solidFill>
                    <a:schemeClr val="tx2"/>
                  </a:solidFill>
                  <a:latin typeface="宋体" pitchFamily="2" charset="-122"/>
                </a:rPr>
                <a:t>1</a:t>
              </a:r>
              <a:r>
                <a:rPr lang="zh-CN" altLang="en-US" sz="2400" b="1">
                  <a:solidFill>
                    <a:schemeClr val="tx2"/>
                  </a:solidFill>
                  <a:latin typeface="宋体" pitchFamily="2" charset="-122"/>
                </a:rPr>
                <a:t>）劈尖干涉</a:t>
              </a:r>
            </a:p>
          </p:txBody>
        </p:sp>
      </p:grpSp>
      <p:grpSp>
        <p:nvGrpSpPr>
          <p:cNvPr id="114736" name="Group 48"/>
          <p:cNvGrpSpPr>
            <a:grpSpLocks/>
          </p:cNvGrpSpPr>
          <p:nvPr/>
        </p:nvGrpSpPr>
        <p:grpSpPr bwMode="auto">
          <a:xfrm>
            <a:off x="577850" y="3789363"/>
            <a:ext cx="7281863" cy="844550"/>
            <a:chOff x="364" y="2807"/>
            <a:chExt cx="4587" cy="532"/>
          </a:xfrm>
        </p:grpSpPr>
        <p:graphicFrame>
          <p:nvGraphicFramePr>
            <p:cNvPr id="47143" name="Object 11"/>
            <p:cNvGraphicFramePr>
              <a:graphicFrameLocks noChangeAspect="1"/>
            </p:cNvGraphicFramePr>
            <p:nvPr/>
          </p:nvGraphicFramePr>
          <p:xfrm>
            <a:off x="930" y="2807"/>
            <a:ext cx="1267" cy="532"/>
          </p:xfrm>
          <a:graphic>
            <a:graphicData uri="http://schemas.openxmlformats.org/presentationml/2006/ole">
              <mc:AlternateContent xmlns:mc="http://schemas.openxmlformats.org/markup-compatibility/2006">
                <mc:Choice xmlns:v="urn:schemas-microsoft-com:vml" Requires="v">
                  <p:oleObj spid="_x0000_s47464" r:id="rId9" imgW="882469" imgH="362019" progId="Equation.3">
                    <p:embed/>
                  </p:oleObj>
                </mc:Choice>
                <mc:Fallback>
                  <p:oleObj r:id="rId9" imgW="882469" imgH="362019"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0" y="2807"/>
                          <a:ext cx="1267"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44" name="Object 14"/>
            <p:cNvGraphicFramePr>
              <a:graphicFrameLocks noChangeAspect="1"/>
            </p:cNvGraphicFramePr>
            <p:nvPr/>
          </p:nvGraphicFramePr>
          <p:xfrm>
            <a:off x="2412" y="2975"/>
            <a:ext cx="922" cy="274"/>
          </p:xfrm>
          <a:graphic>
            <a:graphicData uri="http://schemas.openxmlformats.org/presentationml/2006/ole">
              <mc:AlternateContent xmlns:mc="http://schemas.openxmlformats.org/markup-compatibility/2006">
                <mc:Choice xmlns:v="urn:schemas-microsoft-com:vml" Requires="v">
                  <p:oleObj spid="_x0000_s47465" name="Equation" r:id="rId11" imgW="692124" imgH="197012" progId="Equation.3">
                    <p:embed/>
                  </p:oleObj>
                </mc:Choice>
                <mc:Fallback>
                  <p:oleObj name="Equation" r:id="rId11" imgW="692124" imgH="197012"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12" y="2975"/>
                          <a:ext cx="92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45" name="Text Box 15"/>
            <p:cNvSpPr txBox="1">
              <a:spLocks noChangeArrowheads="1"/>
            </p:cNvSpPr>
            <p:nvPr/>
          </p:nvSpPr>
          <p:spPr bwMode="auto">
            <a:xfrm>
              <a:off x="364" y="2936"/>
              <a:ext cx="50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latin typeface="宋体" pitchFamily="2" charset="-122"/>
                </a:rPr>
                <a:t>所以</a:t>
              </a:r>
            </a:p>
          </p:txBody>
        </p:sp>
        <p:sp>
          <p:nvSpPr>
            <p:cNvPr id="47146" name="Text Box 16"/>
            <p:cNvSpPr txBox="1">
              <a:spLocks noChangeArrowheads="1"/>
            </p:cNvSpPr>
            <p:nvPr/>
          </p:nvSpPr>
          <p:spPr bwMode="auto">
            <a:xfrm>
              <a:off x="3470" y="2958"/>
              <a:ext cx="148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dirty="0">
                  <a:solidFill>
                    <a:schemeClr val="tx1"/>
                  </a:solidFill>
                  <a:latin typeface="宋体" pitchFamily="2" charset="-122"/>
                </a:rPr>
                <a:t>（</a:t>
              </a:r>
              <a:r>
                <a:rPr lang="zh-CN" altLang="en-US" sz="2400" b="1" dirty="0" smtClean="0">
                  <a:solidFill>
                    <a:schemeClr val="tx1"/>
                  </a:solidFill>
                  <a:latin typeface="宋体" pitchFamily="2" charset="-122"/>
                </a:rPr>
                <a:t>加强，明</a:t>
              </a:r>
              <a:r>
                <a:rPr lang="zh-CN" altLang="en-US" sz="2400" b="1" dirty="0">
                  <a:solidFill>
                    <a:schemeClr val="tx1"/>
                  </a:solidFill>
                  <a:latin typeface="宋体" pitchFamily="2" charset="-122"/>
                </a:rPr>
                <a:t>纹）</a:t>
              </a:r>
            </a:p>
          </p:txBody>
        </p:sp>
      </p:grpSp>
      <p:grpSp>
        <p:nvGrpSpPr>
          <p:cNvPr id="114737" name="Group 49"/>
          <p:cNvGrpSpPr>
            <a:grpSpLocks/>
          </p:cNvGrpSpPr>
          <p:nvPr/>
        </p:nvGrpSpPr>
        <p:grpSpPr bwMode="auto">
          <a:xfrm>
            <a:off x="1493838" y="4581525"/>
            <a:ext cx="7500938" cy="812800"/>
            <a:chOff x="720" y="3360"/>
            <a:chExt cx="4725" cy="512"/>
          </a:xfrm>
        </p:grpSpPr>
        <p:graphicFrame>
          <p:nvGraphicFramePr>
            <p:cNvPr id="47140" name="Object 12"/>
            <p:cNvGraphicFramePr>
              <a:graphicFrameLocks noChangeAspect="1"/>
            </p:cNvGraphicFramePr>
            <p:nvPr/>
          </p:nvGraphicFramePr>
          <p:xfrm>
            <a:off x="2840" y="3519"/>
            <a:ext cx="979" cy="277"/>
          </p:xfrm>
          <a:graphic>
            <a:graphicData uri="http://schemas.openxmlformats.org/presentationml/2006/ole">
              <mc:AlternateContent xmlns:mc="http://schemas.openxmlformats.org/markup-compatibility/2006">
                <mc:Choice xmlns:v="urn:schemas-microsoft-com:vml" Requires="v">
                  <p:oleObj spid="_x0000_s47466" name="Equation" r:id="rId13" imgW="730276" imgH="197012" progId="Equation.3">
                    <p:embed/>
                  </p:oleObj>
                </mc:Choice>
                <mc:Fallback>
                  <p:oleObj name="Equation" r:id="rId13" imgW="730276" imgH="197012"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40" y="3519"/>
                          <a:ext cx="979"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41" name="Object 13"/>
            <p:cNvGraphicFramePr>
              <a:graphicFrameLocks noChangeAspect="1"/>
            </p:cNvGraphicFramePr>
            <p:nvPr/>
          </p:nvGraphicFramePr>
          <p:xfrm>
            <a:off x="720" y="3360"/>
            <a:ext cx="1786" cy="512"/>
          </p:xfrm>
          <a:graphic>
            <a:graphicData uri="http://schemas.openxmlformats.org/presentationml/2006/ole">
              <mc:AlternateContent xmlns:mc="http://schemas.openxmlformats.org/markup-compatibility/2006">
                <mc:Choice xmlns:v="urn:schemas-microsoft-com:vml" Requires="v">
                  <p:oleObj spid="_x0000_s47467" r:id="rId15" imgW="1288869" imgH="362019" progId="Equation.3">
                    <p:embed/>
                  </p:oleObj>
                </mc:Choice>
                <mc:Fallback>
                  <p:oleObj r:id="rId15" imgW="1288869" imgH="362019"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0" y="3360"/>
                          <a:ext cx="1786"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42" name="Text Box 17"/>
            <p:cNvSpPr txBox="1">
              <a:spLocks noChangeArrowheads="1"/>
            </p:cNvSpPr>
            <p:nvPr/>
          </p:nvSpPr>
          <p:spPr bwMode="auto">
            <a:xfrm>
              <a:off x="3964" y="3464"/>
              <a:ext cx="148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dirty="0">
                  <a:solidFill>
                    <a:schemeClr val="tx1"/>
                  </a:solidFill>
                  <a:latin typeface="宋体" pitchFamily="2" charset="-122"/>
                </a:rPr>
                <a:t>（</a:t>
              </a:r>
              <a:r>
                <a:rPr lang="zh-CN" altLang="en-US" sz="2400" b="1" dirty="0" smtClean="0">
                  <a:solidFill>
                    <a:schemeClr val="tx1"/>
                  </a:solidFill>
                  <a:latin typeface="宋体" pitchFamily="2" charset="-122"/>
                </a:rPr>
                <a:t>减弱，暗</a:t>
              </a:r>
              <a:r>
                <a:rPr lang="zh-CN" altLang="en-US" sz="2400" b="1" dirty="0">
                  <a:solidFill>
                    <a:schemeClr val="tx1"/>
                  </a:solidFill>
                  <a:latin typeface="宋体" pitchFamily="2" charset="-122"/>
                </a:rPr>
                <a:t>纹）</a:t>
              </a:r>
            </a:p>
          </p:txBody>
        </p:sp>
      </p:grpSp>
      <p:grpSp>
        <p:nvGrpSpPr>
          <p:cNvPr id="47112" name="Group 50"/>
          <p:cNvGrpSpPr>
            <a:grpSpLocks/>
          </p:cNvGrpSpPr>
          <p:nvPr/>
        </p:nvGrpSpPr>
        <p:grpSpPr bwMode="auto">
          <a:xfrm>
            <a:off x="6172201" y="1841500"/>
            <a:ext cx="2863851" cy="2162176"/>
            <a:chOff x="3888" y="1296"/>
            <a:chExt cx="1804" cy="1362"/>
          </a:xfrm>
        </p:grpSpPr>
        <p:sp>
          <p:nvSpPr>
            <p:cNvPr id="47120" name="Line 19"/>
            <p:cNvSpPr>
              <a:spLocks noChangeShapeType="1"/>
            </p:cNvSpPr>
            <p:nvPr/>
          </p:nvSpPr>
          <p:spPr bwMode="auto">
            <a:xfrm>
              <a:off x="3888" y="2352"/>
              <a:ext cx="1536"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1" name="Line 20"/>
            <p:cNvSpPr>
              <a:spLocks noChangeShapeType="1"/>
            </p:cNvSpPr>
            <p:nvPr/>
          </p:nvSpPr>
          <p:spPr bwMode="auto">
            <a:xfrm flipV="1">
              <a:off x="3888" y="1632"/>
              <a:ext cx="1536" cy="72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2" name="Line 21"/>
            <p:cNvSpPr>
              <a:spLocks noChangeShapeType="1"/>
            </p:cNvSpPr>
            <p:nvPr/>
          </p:nvSpPr>
          <p:spPr bwMode="auto">
            <a:xfrm>
              <a:off x="4608" y="1488"/>
              <a:ext cx="0" cy="528"/>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3" name="Line 22"/>
            <p:cNvSpPr>
              <a:spLocks noChangeShapeType="1"/>
            </p:cNvSpPr>
            <p:nvPr/>
          </p:nvSpPr>
          <p:spPr bwMode="auto">
            <a:xfrm>
              <a:off x="4608" y="2016"/>
              <a:ext cx="0" cy="336"/>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4" name="Line 23"/>
            <p:cNvSpPr>
              <a:spLocks noChangeShapeType="1"/>
            </p:cNvSpPr>
            <p:nvPr/>
          </p:nvSpPr>
          <p:spPr bwMode="auto">
            <a:xfrm flipV="1">
              <a:off x="4656" y="2016"/>
              <a:ext cx="0" cy="336"/>
            </a:xfrm>
            <a:prstGeom prst="line">
              <a:avLst/>
            </a:prstGeom>
            <a:noFill/>
            <a:ln w="19050">
              <a:solidFill>
                <a:schemeClr val="tx2"/>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5" name="Line 24"/>
            <p:cNvSpPr>
              <a:spLocks noChangeShapeType="1"/>
            </p:cNvSpPr>
            <p:nvPr/>
          </p:nvSpPr>
          <p:spPr bwMode="auto">
            <a:xfrm flipV="1">
              <a:off x="4656" y="1440"/>
              <a:ext cx="0" cy="576"/>
            </a:xfrm>
            <a:prstGeom prst="line">
              <a:avLst/>
            </a:prstGeom>
            <a:noFill/>
            <a:ln w="19050">
              <a:solidFill>
                <a:schemeClr val="tx2"/>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6" name="Line 25"/>
            <p:cNvSpPr>
              <a:spLocks noChangeShapeType="1"/>
            </p:cNvSpPr>
            <p:nvPr/>
          </p:nvSpPr>
          <p:spPr bwMode="auto">
            <a:xfrm>
              <a:off x="5040" y="1344"/>
              <a:ext cx="0" cy="480"/>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7" name="Line 26"/>
            <p:cNvSpPr>
              <a:spLocks noChangeShapeType="1"/>
            </p:cNvSpPr>
            <p:nvPr/>
          </p:nvSpPr>
          <p:spPr bwMode="auto">
            <a:xfrm>
              <a:off x="5040" y="1824"/>
              <a:ext cx="0" cy="528"/>
            </a:xfrm>
            <a:prstGeom prst="line">
              <a:avLst/>
            </a:prstGeom>
            <a:noFill/>
            <a:ln w="19050">
              <a:solidFill>
                <a:schemeClr val="tx2"/>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8" name="Line 27"/>
            <p:cNvSpPr>
              <a:spLocks noChangeShapeType="1"/>
            </p:cNvSpPr>
            <p:nvPr/>
          </p:nvSpPr>
          <p:spPr bwMode="auto">
            <a:xfrm flipV="1">
              <a:off x="5088" y="1776"/>
              <a:ext cx="0" cy="576"/>
            </a:xfrm>
            <a:prstGeom prst="line">
              <a:avLst/>
            </a:prstGeom>
            <a:noFill/>
            <a:ln w="19050">
              <a:solidFill>
                <a:schemeClr val="tx2"/>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9" name="Line 28"/>
            <p:cNvSpPr>
              <a:spLocks noChangeShapeType="1"/>
            </p:cNvSpPr>
            <p:nvPr/>
          </p:nvSpPr>
          <p:spPr bwMode="auto">
            <a:xfrm flipV="1">
              <a:off x="5088" y="1296"/>
              <a:ext cx="0" cy="480"/>
            </a:xfrm>
            <a:prstGeom prst="line">
              <a:avLst/>
            </a:prstGeom>
            <a:noFill/>
            <a:ln w="19050">
              <a:solidFill>
                <a:schemeClr val="tx2"/>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0" name="Line 29"/>
            <p:cNvSpPr>
              <a:spLocks noChangeShapeType="1"/>
            </p:cNvSpPr>
            <p:nvPr/>
          </p:nvSpPr>
          <p:spPr bwMode="auto">
            <a:xfrm>
              <a:off x="4608" y="1632"/>
              <a:ext cx="0" cy="288"/>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1" name="Line 30"/>
            <p:cNvSpPr>
              <a:spLocks noChangeShapeType="1"/>
            </p:cNvSpPr>
            <p:nvPr/>
          </p:nvSpPr>
          <p:spPr bwMode="auto">
            <a:xfrm>
              <a:off x="5040" y="1440"/>
              <a:ext cx="0" cy="288"/>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2" name="Line 31"/>
            <p:cNvSpPr>
              <a:spLocks noChangeShapeType="1"/>
            </p:cNvSpPr>
            <p:nvPr/>
          </p:nvSpPr>
          <p:spPr bwMode="auto">
            <a:xfrm>
              <a:off x="4608" y="2016"/>
              <a:ext cx="864"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3" name="Line 32"/>
            <p:cNvSpPr>
              <a:spLocks noChangeShapeType="1"/>
            </p:cNvSpPr>
            <p:nvPr/>
          </p:nvSpPr>
          <p:spPr bwMode="auto">
            <a:xfrm>
              <a:off x="5040" y="1824"/>
              <a:ext cx="432"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4" name="Line 33"/>
            <p:cNvSpPr>
              <a:spLocks noChangeShapeType="1"/>
            </p:cNvSpPr>
            <p:nvPr/>
          </p:nvSpPr>
          <p:spPr bwMode="auto">
            <a:xfrm>
              <a:off x="5424" y="1680"/>
              <a:ext cx="0" cy="144"/>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5" name="Line 34"/>
            <p:cNvSpPr>
              <a:spLocks noChangeShapeType="1"/>
            </p:cNvSpPr>
            <p:nvPr/>
          </p:nvSpPr>
          <p:spPr bwMode="auto">
            <a:xfrm flipV="1">
              <a:off x="5424" y="2016"/>
              <a:ext cx="0" cy="192"/>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7136" name="Object 35"/>
            <p:cNvGraphicFramePr>
              <a:graphicFrameLocks noChangeAspect="1"/>
            </p:cNvGraphicFramePr>
            <p:nvPr>
              <p:extLst>
                <p:ext uri="{D42A27DB-BD31-4B8C-83A1-F6EECF244321}">
                  <p14:modId xmlns:p14="http://schemas.microsoft.com/office/powerpoint/2010/main" val="1281733994"/>
                </p:ext>
              </p:extLst>
            </p:nvPr>
          </p:nvGraphicFramePr>
          <p:xfrm>
            <a:off x="5462" y="1661"/>
            <a:ext cx="230" cy="403"/>
          </p:xfrm>
          <a:graphic>
            <a:graphicData uri="http://schemas.openxmlformats.org/presentationml/2006/ole">
              <mc:AlternateContent xmlns:mc="http://schemas.openxmlformats.org/markup-compatibility/2006">
                <mc:Choice xmlns:v="urn:schemas-microsoft-com:vml" Requires="v">
                  <p:oleObj spid="_x0000_s47468" name="公式" r:id="rId17" imgW="279360" imgH="444240" progId="Equation.3">
                    <p:embed/>
                  </p:oleObj>
                </mc:Choice>
                <mc:Fallback>
                  <p:oleObj name="公式" r:id="rId17" imgW="279360" imgH="444240" progId="Equation.3">
                    <p:embed/>
                    <p:pic>
                      <p:nvPicPr>
                        <p:cNvPr id="0" name="Object 35"/>
                        <p:cNvPicPr>
                          <a:picLocks noChangeAspect="1" noChangeArrowheads="1"/>
                        </p:cNvPicPr>
                        <p:nvPr/>
                      </p:nvPicPr>
                      <p:blipFill>
                        <a:blip r:embed="rId18"/>
                        <a:srcRect/>
                        <a:stretch>
                          <a:fillRect/>
                        </a:stretch>
                      </p:blipFill>
                      <p:spPr bwMode="auto">
                        <a:xfrm>
                          <a:off x="5462" y="1661"/>
                          <a:ext cx="23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7137" name="Object 43"/>
            <p:cNvGraphicFramePr>
              <a:graphicFrameLocks noChangeAspect="1"/>
            </p:cNvGraphicFramePr>
            <p:nvPr/>
          </p:nvGraphicFramePr>
          <p:xfrm>
            <a:off x="4276" y="1575"/>
            <a:ext cx="208" cy="329"/>
          </p:xfrm>
          <a:graphic>
            <a:graphicData uri="http://schemas.openxmlformats.org/presentationml/2006/ole">
              <mc:AlternateContent xmlns:mc="http://schemas.openxmlformats.org/markup-compatibility/2006">
                <mc:Choice xmlns:v="urn:schemas-microsoft-com:vml" Requires="v">
                  <p:oleObj spid="_x0000_s47469" name="Equation" r:id="rId19" imgW="145972" imgH="209481" progId="Equation.3">
                    <p:embed/>
                  </p:oleObj>
                </mc:Choice>
                <mc:Fallback>
                  <p:oleObj name="Equation" r:id="rId19" imgW="145972" imgH="209481" progId="Equation.3">
                    <p:embed/>
                    <p:pic>
                      <p:nvPicPr>
                        <p:cNvPr id="0" name="Object 4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76" y="1575"/>
                          <a:ext cx="20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7138" name="Object 44"/>
            <p:cNvGraphicFramePr>
              <a:graphicFrameLocks noChangeAspect="1"/>
            </p:cNvGraphicFramePr>
            <p:nvPr/>
          </p:nvGraphicFramePr>
          <p:xfrm>
            <a:off x="4360" y="2016"/>
            <a:ext cx="225" cy="329"/>
          </p:xfrm>
          <a:graphic>
            <a:graphicData uri="http://schemas.openxmlformats.org/presentationml/2006/ole">
              <mc:AlternateContent xmlns:mc="http://schemas.openxmlformats.org/markup-compatibility/2006">
                <mc:Choice xmlns:v="urn:schemas-microsoft-com:vml" Requires="v">
                  <p:oleObj spid="_x0000_s47470" name="Equation" r:id="rId21" imgW="158828" imgH="209481" progId="Equation.3">
                    <p:embed/>
                  </p:oleObj>
                </mc:Choice>
                <mc:Fallback>
                  <p:oleObj name="Equation" r:id="rId21" imgW="158828" imgH="209481" progId="Equation.3">
                    <p:embed/>
                    <p:pic>
                      <p:nvPicPr>
                        <p:cNvPr id="0" name="Object 4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60" y="2016"/>
                          <a:ext cx="225"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7139" name="Object 45"/>
            <p:cNvGraphicFramePr>
              <a:graphicFrameLocks noChangeAspect="1"/>
            </p:cNvGraphicFramePr>
            <p:nvPr>
              <p:extLst>
                <p:ext uri="{D42A27DB-BD31-4B8C-83A1-F6EECF244321}">
                  <p14:modId xmlns:p14="http://schemas.microsoft.com/office/powerpoint/2010/main" val="865960468"/>
                </p:ext>
              </p:extLst>
            </p:nvPr>
          </p:nvGraphicFramePr>
          <p:xfrm>
            <a:off x="4804" y="2299"/>
            <a:ext cx="216" cy="359"/>
          </p:xfrm>
          <a:graphic>
            <a:graphicData uri="http://schemas.openxmlformats.org/presentationml/2006/ole">
              <mc:AlternateContent xmlns:mc="http://schemas.openxmlformats.org/markup-compatibility/2006">
                <mc:Choice xmlns:v="urn:schemas-microsoft-com:vml" Requires="v">
                  <p:oleObj spid="_x0000_s47471" name="公式" r:id="rId23" imgW="152280" imgH="228600" progId="Equation.3">
                    <p:embed/>
                  </p:oleObj>
                </mc:Choice>
                <mc:Fallback>
                  <p:oleObj name="公式" r:id="rId23" imgW="152280" imgH="228600" progId="Equation.3">
                    <p:embed/>
                    <p:pic>
                      <p:nvPicPr>
                        <p:cNvPr id="0" name="Object 45"/>
                        <p:cNvPicPr>
                          <a:picLocks noChangeAspect="1" noChangeArrowheads="1"/>
                        </p:cNvPicPr>
                        <p:nvPr/>
                      </p:nvPicPr>
                      <p:blipFill>
                        <a:blip r:embed="rId24"/>
                        <a:srcRect/>
                        <a:stretch>
                          <a:fillRect/>
                        </a:stretch>
                      </p:blipFill>
                      <p:spPr bwMode="auto">
                        <a:xfrm>
                          <a:off x="4804" y="2299"/>
                          <a:ext cx="216"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grpSp>
        <p:nvGrpSpPr>
          <p:cNvPr id="47113" name="Group 53"/>
          <p:cNvGrpSpPr>
            <a:grpSpLocks/>
          </p:cNvGrpSpPr>
          <p:nvPr/>
        </p:nvGrpSpPr>
        <p:grpSpPr bwMode="auto">
          <a:xfrm>
            <a:off x="250825" y="5373688"/>
            <a:ext cx="6440488" cy="895350"/>
            <a:chOff x="48" y="-117"/>
            <a:chExt cx="4057" cy="564"/>
          </a:xfrm>
        </p:grpSpPr>
        <p:graphicFrame>
          <p:nvGraphicFramePr>
            <p:cNvPr id="47118" name="Object 2"/>
            <p:cNvGraphicFramePr>
              <a:graphicFrameLocks noChangeAspect="1"/>
            </p:cNvGraphicFramePr>
            <p:nvPr/>
          </p:nvGraphicFramePr>
          <p:xfrm>
            <a:off x="3299" y="-117"/>
            <a:ext cx="806" cy="564"/>
          </p:xfrm>
          <a:graphic>
            <a:graphicData uri="http://schemas.openxmlformats.org/presentationml/2006/ole">
              <mc:AlternateContent xmlns:mc="http://schemas.openxmlformats.org/markup-compatibility/2006">
                <mc:Choice xmlns:v="urn:schemas-microsoft-com:vml" Requires="v">
                  <p:oleObj spid="_x0000_s47472" name="Equation" r:id="rId25" imgW="615820" imgH="425612" progId="Equation.3">
                    <p:embed/>
                  </p:oleObj>
                </mc:Choice>
                <mc:Fallback>
                  <p:oleObj name="Equation" r:id="rId25" imgW="615820" imgH="425612" progId="Equation.3">
                    <p:embed/>
                    <p:pic>
                      <p:nvPicPr>
                        <p:cNvPr id="0" name="Object 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299" y="-117"/>
                          <a:ext cx="806"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9" name="Text Box 18"/>
            <p:cNvSpPr txBox="1">
              <a:spLocks noChangeArrowheads="1"/>
            </p:cNvSpPr>
            <p:nvPr/>
          </p:nvSpPr>
          <p:spPr bwMode="auto">
            <a:xfrm>
              <a:off x="48" y="-18"/>
              <a:ext cx="381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dirty="0">
                  <a:solidFill>
                    <a:schemeClr val="tx1"/>
                  </a:solidFill>
                  <a:latin typeface="宋体" pitchFamily="2" charset="-122"/>
                </a:rPr>
                <a:t>  </a:t>
              </a:r>
              <a:r>
                <a:rPr lang="zh-CN" altLang="en-US" sz="2400" b="1" dirty="0">
                  <a:solidFill>
                    <a:schemeClr val="tx1"/>
                  </a:solidFill>
                  <a:latin typeface="宋体" pitchFamily="2" charset="-122"/>
                </a:rPr>
                <a:t>相邻两明（暗）条纹处劈尖厚度差</a:t>
              </a:r>
            </a:p>
          </p:txBody>
        </p:sp>
      </p:grpSp>
      <p:grpSp>
        <p:nvGrpSpPr>
          <p:cNvPr id="47" name="Group 54"/>
          <p:cNvGrpSpPr>
            <a:grpSpLocks/>
          </p:cNvGrpSpPr>
          <p:nvPr/>
        </p:nvGrpSpPr>
        <p:grpSpPr bwMode="auto">
          <a:xfrm>
            <a:off x="1547813" y="5949950"/>
            <a:ext cx="4176712" cy="785813"/>
            <a:chOff x="144" y="903"/>
            <a:chExt cx="2631" cy="495"/>
          </a:xfrm>
        </p:grpSpPr>
        <p:sp>
          <p:nvSpPr>
            <p:cNvPr id="47115" name="Text Box 45"/>
            <p:cNvSpPr txBox="1">
              <a:spLocks noChangeArrowheads="1"/>
            </p:cNvSpPr>
            <p:nvPr/>
          </p:nvSpPr>
          <p:spPr bwMode="auto">
            <a:xfrm>
              <a:off x="144" y="1008"/>
              <a:ext cx="263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1"/>
                  </a:solidFill>
                  <a:latin typeface="宋体" pitchFamily="2" charset="-122"/>
                </a:rPr>
                <a:t>  (</a:t>
              </a:r>
              <a:r>
                <a:rPr lang="zh-CN" altLang="en-US" sz="2400" b="1">
                  <a:solidFill>
                    <a:schemeClr val="tx1"/>
                  </a:solidFill>
                  <a:latin typeface="宋体" pitchFamily="2" charset="-122"/>
                </a:rPr>
                <a:t>若     ，则        </a:t>
              </a:r>
              <a:r>
                <a:rPr lang="en-US" altLang="zh-CN" sz="2400" b="1">
                  <a:solidFill>
                    <a:schemeClr val="tx1"/>
                  </a:solidFill>
                  <a:latin typeface="宋体" pitchFamily="2" charset="-122"/>
                </a:rPr>
                <a:t>)</a:t>
              </a:r>
            </a:p>
          </p:txBody>
        </p:sp>
        <p:graphicFrame>
          <p:nvGraphicFramePr>
            <p:cNvPr id="47116" name="Object 44"/>
            <p:cNvGraphicFramePr>
              <a:graphicFrameLocks noChangeAspect="1"/>
            </p:cNvGraphicFramePr>
            <p:nvPr/>
          </p:nvGraphicFramePr>
          <p:xfrm>
            <a:off x="718" y="1012"/>
            <a:ext cx="461" cy="263"/>
          </p:xfrm>
          <a:graphic>
            <a:graphicData uri="http://schemas.openxmlformats.org/presentationml/2006/ole">
              <mc:AlternateContent xmlns:mc="http://schemas.openxmlformats.org/markup-compatibility/2006">
                <mc:Choice xmlns:v="urn:schemas-microsoft-com:vml" Requires="v">
                  <p:oleObj spid="_x0000_s47473" name="Equation" r:id="rId27" imgW="374469" imgH="209481" progId="Equation.3">
                    <p:embed/>
                  </p:oleObj>
                </mc:Choice>
                <mc:Fallback>
                  <p:oleObj name="Equation" r:id="rId27" imgW="374469" imgH="209481" progId="Equation.3">
                    <p:embed/>
                    <p:pic>
                      <p:nvPicPr>
                        <p:cNvPr id="0" name="Object 4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18" y="1012"/>
                          <a:ext cx="461"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7" name="Object 46"/>
            <p:cNvGraphicFramePr>
              <a:graphicFrameLocks noChangeAspect="1"/>
            </p:cNvGraphicFramePr>
            <p:nvPr/>
          </p:nvGraphicFramePr>
          <p:xfrm>
            <a:off x="1642" y="903"/>
            <a:ext cx="634" cy="495"/>
          </p:xfrm>
          <a:graphic>
            <a:graphicData uri="http://schemas.openxmlformats.org/presentationml/2006/ole">
              <mc:AlternateContent xmlns:mc="http://schemas.openxmlformats.org/markup-compatibility/2006">
                <mc:Choice xmlns:v="urn:schemas-microsoft-com:vml" Requires="v">
                  <p:oleObj spid="_x0000_s47474" name="Equation" r:id="rId29" imgW="501780" imgH="387373" progId="Equation.3">
                    <p:embed/>
                  </p:oleObj>
                </mc:Choice>
                <mc:Fallback>
                  <p:oleObj name="Equation" r:id="rId29" imgW="501780" imgH="387373" progId="Equation.3">
                    <p:embed/>
                    <p:pic>
                      <p:nvPicPr>
                        <p:cNvPr id="0" name="Object 4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642" y="903"/>
                          <a:ext cx="634"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46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469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710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147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147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147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autoUpdateAnimBg="0"/>
      <p:bldP spid="114691"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39552" y="692696"/>
            <a:ext cx="8136904" cy="707886"/>
          </a:xfrm>
          <a:prstGeom prst="rect">
            <a:avLst/>
          </a:prstGeom>
        </p:spPr>
        <p:txBody>
          <a:bodyPr wrap="square">
            <a:spAutoFit/>
          </a:bodyPr>
          <a:lstStyle/>
          <a:p>
            <a:r>
              <a:rPr lang="zh-CN" altLang="zh-CN" sz="2000" b="1" dirty="0">
                <a:solidFill>
                  <a:srgbClr val="000000"/>
                </a:solidFill>
                <a:ea typeface="宋体"/>
                <a:cs typeface="宋体"/>
              </a:rPr>
              <a:t>如图两块平玻璃构成空气劈尖，左边为棱边，用单色平行光垂直入射。若上面的平玻璃慢慢地向上平移，则干涉条纹（</a:t>
            </a:r>
            <a:r>
              <a:rPr lang="en-US" altLang="zh-CN" sz="2000" b="1" dirty="0">
                <a:solidFill>
                  <a:srgbClr val="000000"/>
                </a:solidFill>
                <a:latin typeface="Times New Roman"/>
                <a:ea typeface="宋体"/>
              </a:rPr>
              <a:t>     </a:t>
            </a:r>
            <a:r>
              <a:rPr lang="zh-CN" altLang="zh-CN" sz="2000" b="1" dirty="0">
                <a:solidFill>
                  <a:srgbClr val="000000"/>
                </a:solidFill>
                <a:ea typeface="宋体"/>
                <a:cs typeface="宋体"/>
              </a:rPr>
              <a:t>）</a:t>
            </a:r>
            <a:endParaRPr lang="zh-CN" altLang="en-US" sz="2000" dirty="0">
              <a:solidFill>
                <a:srgbClr val="000000"/>
              </a:solidFill>
            </a:endParaRPr>
          </a:p>
        </p:txBody>
      </p:sp>
      <p:pic>
        <p:nvPicPr>
          <p:cNvPr id="890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1417823"/>
            <a:ext cx="4840287"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755576" y="2997368"/>
            <a:ext cx="5904656" cy="1323439"/>
          </a:xfrm>
          <a:prstGeom prst="rect">
            <a:avLst/>
          </a:prstGeom>
        </p:spPr>
        <p:txBody>
          <a:bodyPr wrap="square">
            <a:spAutoFit/>
          </a:bodyPr>
          <a:lstStyle/>
          <a:p>
            <a:pPr>
              <a:spcAft>
                <a:spcPts val="0"/>
              </a:spcAft>
            </a:pPr>
            <a:r>
              <a:rPr lang="en-US" altLang="zh-CN" sz="2000" dirty="0">
                <a:solidFill>
                  <a:srgbClr val="000000"/>
                </a:solidFill>
                <a:latin typeface="宋体"/>
                <a:cs typeface="宋体"/>
              </a:rPr>
              <a:t>A</a:t>
            </a:r>
            <a:r>
              <a:rPr lang="zh-CN" altLang="zh-CN" sz="2000" dirty="0">
                <a:solidFill>
                  <a:srgbClr val="000000"/>
                </a:solidFill>
                <a:latin typeface="宋体"/>
                <a:cs typeface="宋体"/>
              </a:rPr>
              <a:t>、 向棱边方向平移，条纹间隔变小 </a:t>
            </a:r>
          </a:p>
          <a:p>
            <a:pPr>
              <a:spcAft>
                <a:spcPts val="0"/>
              </a:spcAft>
            </a:pPr>
            <a:r>
              <a:rPr lang="en-US" altLang="zh-CN" sz="2000" dirty="0">
                <a:solidFill>
                  <a:srgbClr val="000000"/>
                </a:solidFill>
                <a:latin typeface="宋体"/>
                <a:cs typeface="宋体"/>
              </a:rPr>
              <a:t>B</a:t>
            </a:r>
            <a:r>
              <a:rPr lang="zh-CN" altLang="zh-CN" sz="2000" dirty="0">
                <a:solidFill>
                  <a:srgbClr val="000000"/>
                </a:solidFill>
                <a:latin typeface="宋体"/>
                <a:cs typeface="宋体"/>
              </a:rPr>
              <a:t>、 向棱边方向平移，条纹间隔变大 </a:t>
            </a:r>
          </a:p>
          <a:p>
            <a:pPr>
              <a:spcAft>
                <a:spcPts val="0"/>
              </a:spcAft>
            </a:pPr>
            <a:r>
              <a:rPr lang="en-US" altLang="zh-CN" sz="2000" dirty="0">
                <a:solidFill>
                  <a:srgbClr val="000000"/>
                </a:solidFill>
                <a:latin typeface="宋体"/>
                <a:cs typeface="宋体"/>
              </a:rPr>
              <a:t>C</a:t>
            </a:r>
            <a:r>
              <a:rPr lang="zh-CN" altLang="zh-CN" sz="2000" dirty="0">
                <a:solidFill>
                  <a:srgbClr val="000000"/>
                </a:solidFill>
                <a:latin typeface="宋体"/>
                <a:cs typeface="宋体"/>
              </a:rPr>
              <a:t>、 向棱边方向平移，条纹间隔不变 </a:t>
            </a:r>
          </a:p>
          <a:p>
            <a:pPr>
              <a:spcAft>
                <a:spcPts val="0"/>
              </a:spcAft>
            </a:pPr>
            <a:r>
              <a:rPr lang="en-US" altLang="zh-CN" sz="2000" dirty="0">
                <a:solidFill>
                  <a:srgbClr val="000000"/>
                </a:solidFill>
                <a:latin typeface="宋体"/>
                <a:cs typeface="宋体"/>
              </a:rPr>
              <a:t>D</a:t>
            </a:r>
            <a:r>
              <a:rPr lang="zh-CN" altLang="zh-CN" sz="2000" dirty="0">
                <a:solidFill>
                  <a:srgbClr val="000000"/>
                </a:solidFill>
                <a:latin typeface="宋体"/>
                <a:cs typeface="宋体"/>
              </a:rPr>
              <a:t>、 </a:t>
            </a:r>
            <a:r>
              <a:rPr lang="zh-CN" altLang="zh-CN" sz="2000" dirty="0" smtClean="0">
                <a:solidFill>
                  <a:srgbClr val="000000"/>
                </a:solidFill>
                <a:latin typeface="宋体"/>
                <a:cs typeface="宋体"/>
              </a:rPr>
              <a:t>向</a:t>
            </a:r>
            <a:r>
              <a:rPr lang="zh-CN" altLang="zh-CN" sz="2000" dirty="0">
                <a:solidFill>
                  <a:srgbClr val="000000"/>
                </a:solidFill>
                <a:latin typeface="宋体"/>
                <a:cs typeface="宋体"/>
              </a:rPr>
              <a:t>远离棱边的方向平移，条纹间隔不变</a:t>
            </a:r>
          </a:p>
        </p:txBody>
      </p:sp>
      <p:sp>
        <p:nvSpPr>
          <p:cNvPr id="5" name="TextBox 4"/>
          <p:cNvSpPr txBox="1"/>
          <p:nvPr/>
        </p:nvSpPr>
        <p:spPr>
          <a:xfrm>
            <a:off x="6012160" y="1000472"/>
            <a:ext cx="282005" cy="400110"/>
          </a:xfrm>
          <a:prstGeom prst="rect">
            <a:avLst/>
          </a:prstGeom>
          <a:noFill/>
        </p:spPr>
        <p:txBody>
          <a:bodyPr wrap="square" rtlCol="0">
            <a:spAutoFit/>
          </a:bodyPr>
          <a:lstStyle/>
          <a:p>
            <a:r>
              <a:rPr lang="en-US" altLang="zh-CN" sz="2000" dirty="0" smtClean="0">
                <a:solidFill>
                  <a:srgbClr val="000000"/>
                </a:solidFill>
              </a:rPr>
              <a:t>C</a:t>
            </a:r>
            <a:endParaRPr lang="zh-CN" altLang="en-US" sz="2000" dirty="0">
              <a:solidFill>
                <a:srgbClr val="000000"/>
              </a:solidFill>
            </a:endParaRPr>
          </a:p>
        </p:txBody>
      </p:sp>
    </p:spTree>
    <p:extLst>
      <p:ext uri="{BB962C8B-B14F-4D97-AF65-F5344CB8AC3E}">
        <p14:creationId xmlns:p14="http://schemas.microsoft.com/office/powerpoint/2010/main" val="1452360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107" name="Text Box 19"/>
          <p:cNvSpPr txBox="1">
            <a:spLocks noChangeArrowheads="1"/>
          </p:cNvSpPr>
          <p:nvPr/>
        </p:nvSpPr>
        <p:spPr bwMode="auto">
          <a:xfrm>
            <a:off x="425450" y="588963"/>
            <a:ext cx="24923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dirty="0">
                <a:solidFill>
                  <a:schemeClr val="tx2"/>
                </a:solidFill>
                <a:latin typeface="宋体" pitchFamily="2" charset="-122"/>
              </a:rPr>
              <a:t>（</a:t>
            </a:r>
            <a:r>
              <a:rPr lang="en-US" altLang="zh-CN" sz="2400" b="1" dirty="0">
                <a:solidFill>
                  <a:schemeClr val="tx2"/>
                </a:solidFill>
                <a:latin typeface="宋体" pitchFamily="2" charset="-122"/>
              </a:rPr>
              <a:t>2</a:t>
            </a:r>
            <a:r>
              <a:rPr lang="zh-CN" altLang="en-US" sz="2400" b="1" dirty="0">
                <a:solidFill>
                  <a:schemeClr val="tx2"/>
                </a:solidFill>
                <a:latin typeface="宋体" pitchFamily="2" charset="-122"/>
              </a:rPr>
              <a:t>）牛顿环干涉</a:t>
            </a:r>
          </a:p>
        </p:txBody>
      </p:sp>
      <p:sp>
        <p:nvSpPr>
          <p:cNvPr id="89108" name="Text Box 20"/>
          <p:cNvSpPr txBox="1">
            <a:spLocks noChangeArrowheads="1"/>
          </p:cNvSpPr>
          <p:nvPr/>
        </p:nvSpPr>
        <p:spPr bwMode="auto">
          <a:xfrm>
            <a:off x="457200" y="1285875"/>
            <a:ext cx="8077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algn="just"/>
            <a:r>
              <a:rPr lang="zh-CN" altLang="en-US" sz="2400" b="1" dirty="0">
                <a:solidFill>
                  <a:schemeClr val="tx1"/>
                </a:solidFill>
                <a:latin typeface="宋体" pitchFamily="2" charset="-122"/>
              </a:rPr>
              <a:t>干涉条纹是以接触点为中心的同心</a:t>
            </a:r>
            <a:r>
              <a:rPr lang="zh-CN" altLang="en-US" sz="2400" b="1" dirty="0" smtClean="0">
                <a:solidFill>
                  <a:schemeClr val="tx1"/>
                </a:solidFill>
                <a:latin typeface="宋体" pitchFamily="2" charset="-122"/>
              </a:rPr>
              <a:t>圆环（取   </a:t>
            </a:r>
            <a:r>
              <a:rPr lang="en-US" altLang="zh-CN" sz="2400" b="1" dirty="0" smtClean="0">
                <a:solidFill>
                  <a:schemeClr val="tx1"/>
                </a:solidFill>
                <a:latin typeface="宋体" pitchFamily="2" charset="-122"/>
              </a:rPr>
              <a:t>=1</a:t>
            </a:r>
            <a:r>
              <a:rPr lang="zh-CN" altLang="en-US" sz="2400" b="1" dirty="0" smtClean="0">
                <a:solidFill>
                  <a:schemeClr val="tx1"/>
                </a:solidFill>
                <a:latin typeface="宋体" pitchFamily="2" charset="-122"/>
              </a:rPr>
              <a:t>）</a:t>
            </a:r>
            <a:r>
              <a:rPr lang="en-US" altLang="zh-CN" sz="2400" b="1" dirty="0" smtClean="0">
                <a:solidFill>
                  <a:schemeClr val="tx1"/>
                </a:solidFill>
                <a:latin typeface="宋体" pitchFamily="2" charset="-122"/>
              </a:rPr>
              <a:t>:</a:t>
            </a:r>
            <a:endParaRPr lang="zh-CN" altLang="en-US" sz="2400" b="1" dirty="0">
              <a:solidFill>
                <a:schemeClr val="tx1"/>
              </a:solidFill>
              <a:latin typeface="宋体" pitchFamily="2" charset="-122"/>
            </a:endParaRPr>
          </a:p>
        </p:txBody>
      </p:sp>
      <p:sp>
        <p:nvSpPr>
          <p:cNvPr id="89109" name="Text Box 21"/>
          <p:cNvSpPr txBox="1">
            <a:spLocks noChangeArrowheads="1"/>
          </p:cNvSpPr>
          <p:nvPr/>
        </p:nvSpPr>
        <p:spPr bwMode="auto">
          <a:xfrm>
            <a:off x="539750" y="3900488"/>
            <a:ext cx="35012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dirty="0">
                <a:solidFill>
                  <a:schemeClr val="tx1"/>
                </a:solidFill>
                <a:latin typeface="宋体" pitchFamily="2" charset="-122"/>
              </a:rPr>
              <a:t>其中</a:t>
            </a:r>
            <a:r>
              <a:rPr lang="en-US" altLang="zh-CN" sz="2400" b="1" dirty="0">
                <a:solidFill>
                  <a:schemeClr val="tx1"/>
                </a:solidFill>
                <a:latin typeface="+mn-lt"/>
              </a:rPr>
              <a:t>R</a:t>
            </a:r>
            <a:r>
              <a:rPr lang="zh-CN" altLang="en-US" sz="2400" b="1" dirty="0">
                <a:solidFill>
                  <a:schemeClr val="tx1"/>
                </a:solidFill>
                <a:latin typeface="宋体" pitchFamily="2" charset="-122"/>
              </a:rPr>
              <a:t>为透镜的曲率半径</a:t>
            </a:r>
          </a:p>
        </p:txBody>
      </p:sp>
      <p:grpSp>
        <p:nvGrpSpPr>
          <p:cNvPr id="89140" name="Group 52"/>
          <p:cNvGrpSpPr>
            <a:grpSpLocks/>
          </p:cNvGrpSpPr>
          <p:nvPr/>
        </p:nvGrpSpPr>
        <p:grpSpPr bwMode="auto">
          <a:xfrm>
            <a:off x="1260475" y="2974975"/>
            <a:ext cx="2952750" cy="566738"/>
            <a:chOff x="576" y="2964"/>
            <a:chExt cx="1860" cy="357"/>
          </a:xfrm>
        </p:grpSpPr>
        <p:sp>
          <p:nvSpPr>
            <p:cNvPr id="48151" name="Text Box 23"/>
            <p:cNvSpPr txBox="1">
              <a:spLocks noChangeArrowheads="1"/>
            </p:cNvSpPr>
            <p:nvPr/>
          </p:nvSpPr>
          <p:spPr bwMode="auto">
            <a:xfrm>
              <a:off x="576" y="3004"/>
              <a:ext cx="8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latin typeface="宋体" pitchFamily="2" charset="-122"/>
                </a:rPr>
                <a:t>暗环半径</a:t>
              </a:r>
            </a:p>
          </p:txBody>
        </p:sp>
        <p:graphicFrame>
          <p:nvGraphicFramePr>
            <p:cNvPr id="48152" name="Object 26"/>
            <p:cNvGraphicFramePr>
              <a:graphicFrameLocks noChangeAspect="1"/>
            </p:cNvGraphicFramePr>
            <p:nvPr/>
          </p:nvGraphicFramePr>
          <p:xfrm>
            <a:off x="1457" y="2964"/>
            <a:ext cx="979" cy="357"/>
          </p:xfrm>
          <a:graphic>
            <a:graphicData uri="http://schemas.openxmlformats.org/presentationml/2006/ole">
              <mc:AlternateContent xmlns:mc="http://schemas.openxmlformats.org/markup-compatibility/2006">
                <mc:Choice xmlns:v="urn:schemas-microsoft-com:vml" Requires="v">
                  <p:oleObj spid="_x0000_s48371" r:id="rId3" imgW="590524" imgH="209481" progId="Equation.3">
                    <p:embed/>
                  </p:oleObj>
                </mc:Choice>
                <mc:Fallback>
                  <p:oleObj r:id="rId3" imgW="590524" imgH="209481"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7" y="2964"/>
                          <a:ext cx="979"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9139" name="Group 51"/>
          <p:cNvGrpSpPr>
            <a:grpSpLocks/>
          </p:cNvGrpSpPr>
          <p:nvPr/>
        </p:nvGrpSpPr>
        <p:grpSpPr bwMode="auto">
          <a:xfrm>
            <a:off x="927100" y="1854200"/>
            <a:ext cx="3932238" cy="966788"/>
            <a:chOff x="288" y="2258"/>
            <a:chExt cx="2477" cy="609"/>
          </a:xfrm>
        </p:grpSpPr>
        <p:sp>
          <p:nvSpPr>
            <p:cNvPr id="48149" name="Rectangle 22"/>
            <p:cNvSpPr>
              <a:spLocks noChangeArrowheads="1"/>
            </p:cNvSpPr>
            <p:nvPr/>
          </p:nvSpPr>
          <p:spPr bwMode="auto">
            <a:xfrm>
              <a:off x="288" y="2428"/>
              <a:ext cx="10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chemeClr val="tx1"/>
                  </a:solidFill>
                  <a:latin typeface="宋体" pitchFamily="2" charset="-122"/>
                </a:rPr>
                <a:t>其明环半径</a:t>
              </a:r>
            </a:p>
          </p:txBody>
        </p:sp>
        <p:graphicFrame>
          <p:nvGraphicFramePr>
            <p:cNvPr id="48150" name="Object 24"/>
            <p:cNvGraphicFramePr>
              <a:graphicFrameLocks noChangeAspect="1"/>
            </p:cNvGraphicFramePr>
            <p:nvPr/>
          </p:nvGraphicFramePr>
          <p:xfrm>
            <a:off x="1383" y="2258"/>
            <a:ext cx="1382" cy="609"/>
          </p:xfrm>
          <a:graphic>
            <a:graphicData uri="http://schemas.openxmlformats.org/presentationml/2006/ole">
              <mc:AlternateContent xmlns:mc="http://schemas.openxmlformats.org/markup-compatibility/2006">
                <mc:Choice xmlns:v="urn:schemas-microsoft-com:vml" Requires="v">
                  <p:oleObj spid="_x0000_s48372" r:id="rId5" imgW="946331" imgH="412727" progId="Equation.3">
                    <p:embed/>
                  </p:oleObj>
                </mc:Choice>
                <mc:Fallback>
                  <p:oleObj r:id="rId5" imgW="946331" imgH="412727" progId="Equation.3">
                    <p:embed/>
                    <p:pic>
                      <p:nvPicPr>
                        <p:cNvPr id="0"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3" y="2258"/>
                          <a:ext cx="1382"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8135" name="Group 50"/>
          <p:cNvGrpSpPr>
            <a:grpSpLocks/>
          </p:cNvGrpSpPr>
          <p:nvPr/>
        </p:nvGrpSpPr>
        <p:grpSpPr bwMode="auto">
          <a:xfrm>
            <a:off x="6477000" y="2384425"/>
            <a:ext cx="2057400" cy="1981200"/>
            <a:chOff x="4080" y="2592"/>
            <a:chExt cx="1296" cy="1248"/>
          </a:xfrm>
        </p:grpSpPr>
        <p:sp>
          <p:nvSpPr>
            <p:cNvPr id="48138" name="Rectangle 31" descr="浅色下对角线"/>
            <p:cNvSpPr>
              <a:spLocks noChangeArrowheads="1"/>
            </p:cNvSpPr>
            <p:nvPr/>
          </p:nvSpPr>
          <p:spPr bwMode="auto">
            <a:xfrm>
              <a:off x="4080" y="3648"/>
              <a:ext cx="1296" cy="192"/>
            </a:xfrm>
            <a:prstGeom prst="rect">
              <a:avLst/>
            </a:prstGeom>
            <a:noFill/>
            <a:ln w="19050">
              <a:solidFill>
                <a:schemeClr val="tx1"/>
              </a:solidFill>
              <a:miter lim="800000"/>
              <a:headEnd type="none" w="sm" len="med"/>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48139" name="Line 32"/>
            <p:cNvSpPr>
              <a:spLocks noChangeShapeType="1"/>
            </p:cNvSpPr>
            <p:nvPr/>
          </p:nvSpPr>
          <p:spPr bwMode="auto">
            <a:xfrm>
              <a:off x="4080" y="3312"/>
              <a:ext cx="1296"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0" name="Freeform 33"/>
            <p:cNvSpPr>
              <a:spLocks/>
            </p:cNvSpPr>
            <p:nvPr/>
          </p:nvSpPr>
          <p:spPr bwMode="auto">
            <a:xfrm>
              <a:off x="4080" y="3312"/>
              <a:ext cx="1296" cy="336"/>
            </a:xfrm>
            <a:custGeom>
              <a:avLst/>
              <a:gdLst>
                <a:gd name="T0" fmla="*/ 0 w 1296"/>
                <a:gd name="T1" fmla="*/ 0 h 336"/>
                <a:gd name="T2" fmla="*/ 672 w 1296"/>
                <a:gd name="T3" fmla="*/ 336 h 336"/>
                <a:gd name="T4" fmla="*/ 1296 w 1296"/>
                <a:gd name="T5" fmla="*/ 0 h 336"/>
                <a:gd name="T6" fmla="*/ 0 60000 65536"/>
                <a:gd name="T7" fmla="*/ 0 60000 65536"/>
                <a:gd name="T8" fmla="*/ 0 60000 65536"/>
              </a:gdLst>
              <a:ahLst/>
              <a:cxnLst>
                <a:cxn ang="T6">
                  <a:pos x="T0" y="T1"/>
                </a:cxn>
                <a:cxn ang="T7">
                  <a:pos x="T2" y="T3"/>
                </a:cxn>
                <a:cxn ang="T8">
                  <a:pos x="T4" y="T5"/>
                </a:cxn>
              </a:cxnLst>
              <a:rect l="0" t="0" r="r" b="b"/>
              <a:pathLst>
                <a:path w="1296" h="336">
                  <a:moveTo>
                    <a:pt x="0" y="0"/>
                  </a:moveTo>
                  <a:cubicBezTo>
                    <a:pt x="180" y="198"/>
                    <a:pt x="456" y="336"/>
                    <a:pt x="672" y="336"/>
                  </a:cubicBezTo>
                  <a:cubicBezTo>
                    <a:pt x="888" y="336"/>
                    <a:pt x="1134" y="198"/>
                    <a:pt x="1296" y="0"/>
                  </a:cubicBezTo>
                </a:path>
              </a:pathLst>
            </a:custGeom>
            <a:noFill/>
            <a:ln w="19050" cap="flat" cmpd="sng">
              <a:solidFill>
                <a:schemeClr val="tx1"/>
              </a:solidFill>
              <a:prstDash val="solid"/>
              <a:round/>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1" name="Line 35"/>
            <p:cNvSpPr>
              <a:spLocks noChangeShapeType="1"/>
            </p:cNvSpPr>
            <p:nvPr/>
          </p:nvSpPr>
          <p:spPr bwMode="auto">
            <a:xfrm>
              <a:off x="4752" y="2592"/>
              <a:ext cx="0" cy="1056"/>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2" name="Line 36"/>
            <p:cNvSpPr>
              <a:spLocks noChangeShapeType="1"/>
            </p:cNvSpPr>
            <p:nvPr/>
          </p:nvSpPr>
          <p:spPr bwMode="auto">
            <a:xfrm>
              <a:off x="4752" y="2592"/>
              <a:ext cx="432" cy="912"/>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3" name="Line 37"/>
            <p:cNvSpPr>
              <a:spLocks noChangeShapeType="1"/>
            </p:cNvSpPr>
            <p:nvPr/>
          </p:nvSpPr>
          <p:spPr bwMode="auto">
            <a:xfrm>
              <a:off x="4752" y="3504"/>
              <a:ext cx="432"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8144" name="Object 38"/>
            <p:cNvGraphicFramePr>
              <a:graphicFrameLocks noChangeAspect="1"/>
            </p:cNvGraphicFramePr>
            <p:nvPr/>
          </p:nvGraphicFramePr>
          <p:xfrm>
            <a:off x="4955" y="2832"/>
            <a:ext cx="229" cy="253"/>
          </p:xfrm>
          <a:graphic>
            <a:graphicData uri="http://schemas.openxmlformats.org/presentationml/2006/ole">
              <mc:AlternateContent xmlns:mc="http://schemas.openxmlformats.org/markup-compatibility/2006">
                <mc:Choice xmlns:v="urn:schemas-microsoft-com:vml" Requires="v">
                  <p:oleObj spid="_x0000_s48373" name="Equation" r:id="rId7" imgW="145972" imgH="158773" progId="Equation.3">
                    <p:embed/>
                  </p:oleObj>
                </mc:Choice>
                <mc:Fallback>
                  <p:oleObj name="Equation" r:id="rId7" imgW="145972" imgH="158773" progId="Equation.3">
                    <p:embed/>
                    <p:pic>
                      <p:nvPicPr>
                        <p:cNvPr id="0"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5" y="2832"/>
                          <a:ext cx="229"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48145" name="Object 39"/>
            <p:cNvGraphicFramePr>
              <a:graphicFrameLocks noChangeAspect="1"/>
            </p:cNvGraphicFramePr>
            <p:nvPr/>
          </p:nvGraphicFramePr>
          <p:xfrm>
            <a:off x="4876" y="3293"/>
            <a:ext cx="172" cy="194"/>
          </p:xfrm>
          <a:graphic>
            <a:graphicData uri="http://schemas.openxmlformats.org/presentationml/2006/ole">
              <mc:AlternateContent xmlns:mc="http://schemas.openxmlformats.org/markup-compatibility/2006">
                <mc:Choice xmlns:v="urn:schemas-microsoft-com:vml" Requires="v">
                  <p:oleObj spid="_x0000_s48374" name="Equation" r:id="rId9" imgW="107820" imgH="120535" progId="Equation.3">
                    <p:embed/>
                  </p:oleObj>
                </mc:Choice>
                <mc:Fallback>
                  <p:oleObj name="Equation" r:id="rId9" imgW="107820" imgH="120535" progId="Equation.3">
                    <p:embed/>
                    <p:pic>
                      <p:nvPicPr>
                        <p:cNvPr id="0" name="Object 3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6" y="3293"/>
                          <a:ext cx="17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8146" name="Line 47"/>
            <p:cNvSpPr>
              <a:spLocks noChangeShapeType="1"/>
            </p:cNvSpPr>
            <p:nvPr/>
          </p:nvSpPr>
          <p:spPr bwMode="auto">
            <a:xfrm>
              <a:off x="5088" y="3264"/>
              <a:ext cx="96" cy="240"/>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7" name="Line 48"/>
            <p:cNvSpPr>
              <a:spLocks noChangeShapeType="1"/>
            </p:cNvSpPr>
            <p:nvPr/>
          </p:nvSpPr>
          <p:spPr bwMode="auto">
            <a:xfrm flipH="1">
              <a:off x="4752" y="3504"/>
              <a:ext cx="96" cy="0"/>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8" name="Line 49"/>
            <p:cNvSpPr>
              <a:spLocks noChangeShapeType="1"/>
            </p:cNvSpPr>
            <p:nvPr/>
          </p:nvSpPr>
          <p:spPr bwMode="auto">
            <a:xfrm>
              <a:off x="5088" y="3504"/>
              <a:ext cx="96" cy="0"/>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48136" name="Object 6"/>
          <p:cNvGraphicFramePr>
            <a:graphicFrameLocks noChangeAspect="1"/>
          </p:cNvGraphicFramePr>
          <p:nvPr/>
        </p:nvGraphicFramePr>
        <p:xfrm>
          <a:off x="3160713" y="615950"/>
          <a:ext cx="822325" cy="450850"/>
        </p:xfrm>
        <a:graphic>
          <a:graphicData uri="http://schemas.openxmlformats.org/presentationml/2006/ole">
            <mc:AlternateContent xmlns:mc="http://schemas.openxmlformats.org/markup-compatibility/2006">
              <mc:Choice xmlns:v="urn:schemas-microsoft-com:vml" Requires="v">
                <p:oleObj spid="_x0000_s48375" r:id="rId11" imgW="285724" imgH="158773" progId="Equation.3">
                  <p:embed/>
                </p:oleObj>
              </mc:Choice>
              <mc:Fallback>
                <p:oleObj r:id="rId11" imgW="285724" imgH="158773"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60713" y="615950"/>
                        <a:ext cx="82232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7" name="Object 7"/>
          <p:cNvGraphicFramePr>
            <a:graphicFrameLocks noChangeAspect="1"/>
          </p:cNvGraphicFramePr>
          <p:nvPr/>
        </p:nvGraphicFramePr>
        <p:xfrm>
          <a:off x="4140200" y="422275"/>
          <a:ext cx="1828800" cy="819150"/>
        </p:xfrm>
        <a:graphic>
          <a:graphicData uri="http://schemas.openxmlformats.org/presentationml/2006/ole">
            <mc:AlternateContent xmlns:mc="http://schemas.openxmlformats.org/markup-compatibility/2006">
              <mc:Choice xmlns:v="urn:schemas-microsoft-com:vml" Requires="v">
                <p:oleObj spid="_x0000_s48376" r:id="rId13" imgW="819020" imgH="362019" progId="Equation.3">
                  <p:embed/>
                </p:oleObj>
              </mc:Choice>
              <mc:Fallback>
                <p:oleObj r:id="rId13" imgW="819020" imgH="362019"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40200" y="422275"/>
                        <a:ext cx="18288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43"/>
          <p:cNvGraphicFramePr>
            <a:graphicFrameLocks noChangeAspect="1"/>
          </p:cNvGraphicFramePr>
          <p:nvPr>
            <p:extLst>
              <p:ext uri="{D42A27DB-BD31-4B8C-83A1-F6EECF244321}">
                <p14:modId xmlns:p14="http://schemas.microsoft.com/office/powerpoint/2010/main" val="3832054615"/>
              </p:ext>
            </p:extLst>
          </p:nvPr>
        </p:nvGraphicFramePr>
        <p:xfrm>
          <a:off x="6961782" y="3430760"/>
          <a:ext cx="330200" cy="522288"/>
        </p:xfrm>
        <a:graphic>
          <a:graphicData uri="http://schemas.openxmlformats.org/presentationml/2006/ole">
            <mc:AlternateContent xmlns:mc="http://schemas.openxmlformats.org/markup-compatibility/2006">
              <mc:Choice xmlns:v="urn:schemas-microsoft-com:vml" Requires="v">
                <p:oleObj spid="_x0000_s48377" name="Equation" r:id="rId15" imgW="145972" imgH="209481" progId="Equation.3">
                  <p:embed/>
                </p:oleObj>
              </mc:Choice>
              <mc:Fallback>
                <p:oleObj name="Equation" r:id="rId15" imgW="145972" imgH="209481"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61782" y="3430760"/>
                        <a:ext cx="3302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6" name="Object 44"/>
          <p:cNvGraphicFramePr>
            <a:graphicFrameLocks noChangeAspect="1"/>
          </p:cNvGraphicFramePr>
          <p:nvPr>
            <p:extLst>
              <p:ext uri="{D42A27DB-BD31-4B8C-83A1-F6EECF244321}">
                <p14:modId xmlns:p14="http://schemas.microsoft.com/office/powerpoint/2010/main" val="1076845635"/>
              </p:ext>
            </p:extLst>
          </p:nvPr>
        </p:nvGraphicFramePr>
        <p:xfrm>
          <a:off x="6447060" y="3554784"/>
          <a:ext cx="357188" cy="522288"/>
        </p:xfrm>
        <a:graphic>
          <a:graphicData uri="http://schemas.openxmlformats.org/presentationml/2006/ole">
            <mc:AlternateContent xmlns:mc="http://schemas.openxmlformats.org/markup-compatibility/2006">
              <mc:Choice xmlns:v="urn:schemas-microsoft-com:vml" Requires="v">
                <p:oleObj spid="_x0000_s48378" name="Equation" r:id="rId17" imgW="158828" imgH="209481" progId="Equation.3">
                  <p:embed/>
                </p:oleObj>
              </mc:Choice>
              <mc:Fallback>
                <p:oleObj name="Equation" r:id="rId17" imgW="158828" imgH="209481"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447060" y="3554784"/>
                        <a:ext cx="3571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7" name="Object 43"/>
          <p:cNvGraphicFramePr>
            <a:graphicFrameLocks noChangeAspect="1"/>
          </p:cNvGraphicFramePr>
          <p:nvPr>
            <p:extLst>
              <p:ext uri="{D42A27DB-BD31-4B8C-83A1-F6EECF244321}">
                <p14:modId xmlns:p14="http://schemas.microsoft.com/office/powerpoint/2010/main" val="4095364085"/>
              </p:ext>
            </p:extLst>
          </p:nvPr>
        </p:nvGraphicFramePr>
        <p:xfrm>
          <a:off x="6788151" y="3914824"/>
          <a:ext cx="330200" cy="522288"/>
        </p:xfrm>
        <a:graphic>
          <a:graphicData uri="http://schemas.openxmlformats.org/presentationml/2006/ole">
            <mc:AlternateContent xmlns:mc="http://schemas.openxmlformats.org/markup-compatibility/2006">
              <mc:Choice xmlns:v="urn:schemas-microsoft-com:vml" Requires="v">
                <p:oleObj spid="_x0000_s48379" name="Equation" r:id="rId19" imgW="145972" imgH="209481" progId="Equation.3">
                  <p:embed/>
                </p:oleObj>
              </mc:Choice>
              <mc:Fallback>
                <p:oleObj name="Equation" r:id="rId19" imgW="145972" imgH="209481"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88151" y="3914824"/>
                        <a:ext cx="3302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0" name="Object 44"/>
          <p:cNvGraphicFramePr>
            <a:graphicFrameLocks noChangeAspect="1"/>
          </p:cNvGraphicFramePr>
          <p:nvPr>
            <p:extLst>
              <p:ext uri="{D42A27DB-BD31-4B8C-83A1-F6EECF244321}">
                <p14:modId xmlns:p14="http://schemas.microsoft.com/office/powerpoint/2010/main" val="1451216378"/>
              </p:ext>
            </p:extLst>
          </p:nvPr>
        </p:nvGraphicFramePr>
        <p:xfrm>
          <a:off x="6447060" y="1250528"/>
          <a:ext cx="357188" cy="522288"/>
        </p:xfrm>
        <a:graphic>
          <a:graphicData uri="http://schemas.openxmlformats.org/presentationml/2006/ole">
            <mc:AlternateContent xmlns:mc="http://schemas.openxmlformats.org/markup-compatibility/2006">
              <mc:Choice xmlns:v="urn:schemas-microsoft-com:vml" Requires="v">
                <p:oleObj spid="_x0000_s48380" name="Equation" r:id="rId20" imgW="158828" imgH="209481" progId="Equation.3">
                  <p:embed/>
                </p:oleObj>
              </mc:Choice>
              <mc:Fallback>
                <p:oleObj name="Equation" r:id="rId20" imgW="158828" imgH="209481"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447060" y="1250528"/>
                        <a:ext cx="3571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910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8913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8914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9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08" grpId="0" autoUpdateAnimBg="0"/>
      <p:bldP spid="8910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692696"/>
            <a:ext cx="8208912" cy="707886"/>
          </a:xfrm>
          <a:prstGeom prst="rect">
            <a:avLst/>
          </a:prstGeom>
          <a:noFill/>
        </p:spPr>
        <p:txBody>
          <a:bodyPr wrap="square" rtlCol="0">
            <a:spAutoFit/>
          </a:bodyPr>
          <a:lstStyle/>
          <a:p>
            <a:r>
              <a:rPr lang="zh-CN" altLang="zh-CN" sz="2000" b="1" dirty="0">
                <a:solidFill>
                  <a:srgbClr val="000000"/>
                </a:solidFill>
                <a:ea typeface="宋体"/>
                <a:cs typeface="宋体"/>
              </a:rPr>
              <a:t>把一平凸透镜放在平玻璃上，构成牛顿环装置。当平凸透镜慢慢地向上平移时，由反射光形成的牛顿环（</a:t>
            </a:r>
            <a:r>
              <a:rPr lang="en-US" altLang="zh-CN" sz="2000" b="1" dirty="0">
                <a:solidFill>
                  <a:srgbClr val="000000"/>
                </a:solidFill>
                <a:ea typeface="宋体"/>
                <a:cs typeface="宋体"/>
              </a:rPr>
              <a:t>    </a:t>
            </a:r>
            <a:r>
              <a:rPr lang="zh-CN" altLang="zh-CN" sz="2000" b="1" dirty="0">
                <a:solidFill>
                  <a:srgbClr val="000000"/>
                </a:solidFill>
                <a:ea typeface="宋体"/>
                <a:cs typeface="宋体"/>
              </a:rPr>
              <a:t>）</a:t>
            </a:r>
            <a:endParaRPr lang="zh-CN" altLang="en-US" sz="2000" dirty="0">
              <a:solidFill>
                <a:srgbClr val="000000"/>
              </a:solidFill>
            </a:endParaRPr>
          </a:p>
        </p:txBody>
      </p:sp>
      <p:pic>
        <p:nvPicPr>
          <p:cNvPr id="3" name="图片 2" descr="https://p.ananas.chaoxing.com/star3/origin/98fc723b269df1df591e9c2dd27d8a0c.png"/>
          <p:cNvPicPr/>
          <p:nvPr/>
        </p:nvPicPr>
        <p:blipFill>
          <a:blip r:link="rId2">
            <a:extLst>
              <a:ext uri="{28A0092B-C50C-407E-A947-70E740481C1C}">
                <a14:useLocalDpi xmlns:a14="http://schemas.microsoft.com/office/drawing/2010/main" val="0"/>
              </a:ext>
            </a:extLst>
          </a:blip>
          <a:srcRect/>
          <a:stretch>
            <a:fillRect/>
          </a:stretch>
        </p:blipFill>
        <p:spPr bwMode="auto">
          <a:xfrm>
            <a:off x="2969568" y="1527433"/>
            <a:ext cx="3028950" cy="1304925"/>
          </a:xfrm>
          <a:prstGeom prst="rect">
            <a:avLst/>
          </a:prstGeom>
          <a:noFill/>
          <a:ln>
            <a:noFill/>
          </a:ln>
        </p:spPr>
      </p:pic>
      <p:sp>
        <p:nvSpPr>
          <p:cNvPr id="4" name="矩形 3"/>
          <p:cNvSpPr/>
          <p:nvPr/>
        </p:nvSpPr>
        <p:spPr>
          <a:xfrm>
            <a:off x="683568" y="3068960"/>
            <a:ext cx="4572000" cy="1323439"/>
          </a:xfrm>
          <a:prstGeom prst="rect">
            <a:avLst/>
          </a:prstGeom>
        </p:spPr>
        <p:txBody>
          <a:bodyPr>
            <a:spAutoFit/>
          </a:bodyPr>
          <a:lstStyle/>
          <a:p>
            <a:pPr>
              <a:spcAft>
                <a:spcPts val="0"/>
              </a:spcAft>
            </a:pPr>
            <a:r>
              <a:rPr lang="en-US" altLang="zh-CN" sz="2000" dirty="0">
                <a:solidFill>
                  <a:srgbClr val="000000"/>
                </a:solidFill>
                <a:latin typeface="宋体"/>
                <a:cs typeface="宋体"/>
              </a:rPr>
              <a:t>A</a:t>
            </a:r>
            <a:r>
              <a:rPr lang="zh-CN" altLang="zh-CN" sz="2000" dirty="0">
                <a:solidFill>
                  <a:srgbClr val="000000"/>
                </a:solidFill>
                <a:latin typeface="宋体"/>
                <a:cs typeface="宋体"/>
              </a:rPr>
              <a:t>、 向中心收缩，条纹间隔变小 </a:t>
            </a:r>
          </a:p>
          <a:p>
            <a:pPr>
              <a:spcAft>
                <a:spcPts val="0"/>
              </a:spcAft>
            </a:pPr>
            <a:r>
              <a:rPr lang="en-US" altLang="zh-CN" sz="2000" dirty="0">
                <a:solidFill>
                  <a:srgbClr val="000000"/>
                </a:solidFill>
                <a:latin typeface="宋体"/>
                <a:cs typeface="宋体"/>
              </a:rPr>
              <a:t>B</a:t>
            </a:r>
            <a:r>
              <a:rPr lang="zh-CN" altLang="zh-CN" sz="2000" dirty="0">
                <a:solidFill>
                  <a:srgbClr val="000000"/>
                </a:solidFill>
                <a:latin typeface="宋体"/>
                <a:cs typeface="宋体"/>
              </a:rPr>
              <a:t>、 向中心收缩，环心呈明暗交替变化 </a:t>
            </a:r>
          </a:p>
          <a:p>
            <a:pPr>
              <a:spcAft>
                <a:spcPts val="0"/>
              </a:spcAft>
            </a:pPr>
            <a:r>
              <a:rPr lang="en-US" altLang="zh-CN" sz="2000" dirty="0">
                <a:solidFill>
                  <a:srgbClr val="000000"/>
                </a:solidFill>
                <a:latin typeface="宋体"/>
                <a:cs typeface="宋体"/>
              </a:rPr>
              <a:t>C</a:t>
            </a:r>
            <a:r>
              <a:rPr lang="zh-CN" altLang="zh-CN" sz="2000" dirty="0">
                <a:solidFill>
                  <a:srgbClr val="000000"/>
                </a:solidFill>
                <a:latin typeface="宋体"/>
                <a:cs typeface="宋体"/>
              </a:rPr>
              <a:t>、 向外扩张，环心呈明暗交替变化 </a:t>
            </a:r>
          </a:p>
          <a:p>
            <a:pPr>
              <a:spcAft>
                <a:spcPts val="0"/>
              </a:spcAft>
            </a:pPr>
            <a:r>
              <a:rPr lang="en-US" altLang="zh-CN" sz="2000" dirty="0">
                <a:solidFill>
                  <a:srgbClr val="000000"/>
                </a:solidFill>
                <a:latin typeface="宋体"/>
                <a:cs typeface="宋体"/>
              </a:rPr>
              <a:t>D</a:t>
            </a:r>
            <a:r>
              <a:rPr lang="zh-CN" altLang="zh-CN" sz="2000" dirty="0">
                <a:solidFill>
                  <a:srgbClr val="000000"/>
                </a:solidFill>
                <a:latin typeface="宋体"/>
                <a:cs typeface="宋体"/>
              </a:rPr>
              <a:t>、 向外扩张，条纹间隔变大 </a:t>
            </a:r>
          </a:p>
        </p:txBody>
      </p:sp>
      <p:sp>
        <p:nvSpPr>
          <p:cNvPr id="5" name="TextBox 4"/>
          <p:cNvSpPr txBox="1"/>
          <p:nvPr/>
        </p:nvSpPr>
        <p:spPr>
          <a:xfrm>
            <a:off x="4420246" y="1000472"/>
            <a:ext cx="282005" cy="400110"/>
          </a:xfrm>
          <a:prstGeom prst="rect">
            <a:avLst/>
          </a:prstGeom>
          <a:noFill/>
        </p:spPr>
        <p:txBody>
          <a:bodyPr wrap="square" rtlCol="0">
            <a:spAutoFit/>
          </a:bodyPr>
          <a:lstStyle/>
          <a:p>
            <a:r>
              <a:rPr lang="en-US" altLang="zh-CN" sz="2000" dirty="0" smtClean="0">
                <a:solidFill>
                  <a:srgbClr val="000000"/>
                </a:solidFill>
              </a:rPr>
              <a:t>B</a:t>
            </a:r>
            <a:endParaRPr lang="zh-CN" altLang="en-US" sz="2000" dirty="0">
              <a:solidFill>
                <a:srgbClr val="000000"/>
              </a:solidFill>
            </a:endParaRPr>
          </a:p>
        </p:txBody>
      </p:sp>
    </p:spTree>
    <p:extLst>
      <p:ext uri="{BB962C8B-B14F-4D97-AF65-F5344CB8AC3E}">
        <p14:creationId xmlns:p14="http://schemas.microsoft.com/office/powerpoint/2010/main" val="3722413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620688"/>
            <a:ext cx="8208912" cy="1323439"/>
          </a:xfrm>
          <a:prstGeom prst="rect">
            <a:avLst/>
          </a:prstGeom>
          <a:noFill/>
        </p:spPr>
        <p:txBody>
          <a:bodyPr wrap="square" rtlCol="0">
            <a:spAutoFit/>
          </a:bodyPr>
          <a:lstStyle/>
          <a:p>
            <a:r>
              <a:rPr lang="zh-CN" altLang="zh-CN" sz="2000" b="1" dirty="0">
                <a:solidFill>
                  <a:srgbClr val="000000"/>
                </a:solidFill>
                <a:ea typeface="宋体"/>
                <a:cs typeface="宋体"/>
              </a:rPr>
              <a:t>如图所示，折射率</a:t>
            </a:r>
            <a:r>
              <a:rPr lang="en-US" altLang="zh-CN" sz="2000" b="1" i="1" dirty="0">
                <a:solidFill>
                  <a:srgbClr val="000000"/>
                </a:solidFill>
                <a:latin typeface="Cambria"/>
                <a:ea typeface="宋体"/>
                <a:cs typeface="宋体"/>
              </a:rPr>
              <a:t>n</a:t>
            </a:r>
            <a:r>
              <a:rPr lang="en-US" altLang="zh-CN" sz="2000" b="1" baseline="-25000" dirty="0">
                <a:solidFill>
                  <a:srgbClr val="000000"/>
                </a:solidFill>
                <a:latin typeface="宋体"/>
                <a:cs typeface="宋体"/>
              </a:rPr>
              <a:t>2</a:t>
            </a:r>
            <a:r>
              <a:rPr lang="en-US" altLang="zh-CN" sz="2000" b="1" dirty="0">
                <a:solidFill>
                  <a:srgbClr val="000000"/>
                </a:solidFill>
                <a:latin typeface="宋体"/>
                <a:cs typeface="宋体"/>
              </a:rPr>
              <a:t>=1.2</a:t>
            </a:r>
            <a:r>
              <a:rPr lang="zh-CN" altLang="zh-CN" sz="2000" b="1" dirty="0">
                <a:solidFill>
                  <a:srgbClr val="000000"/>
                </a:solidFill>
                <a:ea typeface="宋体"/>
                <a:cs typeface="宋体"/>
              </a:rPr>
              <a:t>的油滴落在折射率</a:t>
            </a:r>
            <a:r>
              <a:rPr lang="en-US" altLang="zh-CN" sz="2000" b="1" i="1" dirty="0">
                <a:solidFill>
                  <a:srgbClr val="000000"/>
                </a:solidFill>
                <a:latin typeface="Cambria"/>
                <a:ea typeface="宋体"/>
                <a:cs typeface="宋体"/>
              </a:rPr>
              <a:t>n</a:t>
            </a:r>
            <a:r>
              <a:rPr lang="en-US" altLang="zh-CN" sz="2000" b="1" baseline="-25000" dirty="0">
                <a:solidFill>
                  <a:srgbClr val="000000"/>
                </a:solidFill>
                <a:latin typeface="宋体"/>
                <a:cs typeface="宋体"/>
              </a:rPr>
              <a:t>3</a:t>
            </a:r>
            <a:r>
              <a:rPr lang="en-US" altLang="zh-CN" sz="2000" b="1" dirty="0">
                <a:solidFill>
                  <a:srgbClr val="000000"/>
                </a:solidFill>
                <a:latin typeface="宋体"/>
                <a:cs typeface="宋体"/>
              </a:rPr>
              <a:t>=1.5</a:t>
            </a:r>
            <a:r>
              <a:rPr lang="zh-CN" altLang="zh-CN" sz="2000" b="1" dirty="0">
                <a:solidFill>
                  <a:srgbClr val="000000"/>
                </a:solidFill>
                <a:ea typeface="宋体"/>
                <a:cs typeface="宋体"/>
              </a:rPr>
              <a:t>的平板玻璃上，形成一上表面近似于球面的油膜，已知空气的折射率</a:t>
            </a:r>
            <a:r>
              <a:rPr lang="en-US" altLang="zh-CN" sz="2000" b="1" i="1" dirty="0">
                <a:solidFill>
                  <a:srgbClr val="000000"/>
                </a:solidFill>
                <a:latin typeface="Cambria"/>
                <a:ea typeface="宋体"/>
                <a:cs typeface="宋体"/>
              </a:rPr>
              <a:t>n</a:t>
            </a:r>
            <a:r>
              <a:rPr lang="en-US" altLang="zh-CN" sz="2000" b="1" baseline="-25000" dirty="0">
                <a:solidFill>
                  <a:srgbClr val="000000"/>
                </a:solidFill>
                <a:latin typeface="宋体"/>
                <a:cs typeface="宋体"/>
              </a:rPr>
              <a:t>1</a:t>
            </a:r>
            <a:r>
              <a:rPr lang="en-US" altLang="zh-CN" sz="2000" b="1" dirty="0">
                <a:solidFill>
                  <a:srgbClr val="000000"/>
                </a:solidFill>
                <a:latin typeface="宋体"/>
                <a:cs typeface="宋体"/>
              </a:rPr>
              <a:t>=1.0</a:t>
            </a:r>
            <a:r>
              <a:rPr lang="zh-CN" altLang="zh-CN" sz="2000" b="1" dirty="0">
                <a:solidFill>
                  <a:srgbClr val="000000"/>
                </a:solidFill>
                <a:ea typeface="宋体"/>
                <a:cs typeface="宋体"/>
              </a:rPr>
              <a:t>，测得油膜中心最高处的高度</a:t>
            </a:r>
            <a:r>
              <a:rPr lang="en-US" altLang="zh-CN" sz="2000" b="1" i="1" dirty="0" err="1">
                <a:solidFill>
                  <a:srgbClr val="000000"/>
                </a:solidFill>
                <a:latin typeface="Cambria"/>
                <a:ea typeface="宋体"/>
                <a:cs typeface="宋体"/>
              </a:rPr>
              <a:t>d</a:t>
            </a:r>
            <a:r>
              <a:rPr lang="en-US" altLang="zh-CN" sz="2000" b="1" baseline="-25000" dirty="0" err="1">
                <a:solidFill>
                  <a:srgbClr val="000000"/>
                </a:solidFill>
                <a:latin typeface="宋体"/>
                <a:cs typeface="宋体"/>
              </a:rPr>
              <a:t>m</a:t>
            </a:r>
            <a:r>
              <a:rPr lang="en-US" altLang="zh-CN" sz="2000" b="1" dirty="0">
                <a:solidFill>
                  <a:srgbClr val="000000"/>
                </a:solidFill>
                <a:latin typeface="宋体"/>
                <a:cs typeface="宋体"/>
              </a:rPr>
              <a:t> = 1.0 µm</a:t>
            </a:r>
            <a:r>
              <a:rPr lang="zh-CN" altLang="zh-CN" sz="2000" b="1" dirty="0">
                <a:solidFill>
                  <a:srgbClr val="000000"/>
                </a:solidFill>
                <a:ea typeface="宋体"/>
                <a:cs typeface="宋体"/>
              </a:rPr>
              <a:t>，用</a:t>
            </a:r>
            <a:r>
              <a:rPr lang="en-US" altLang="zh-CN" sz="2000" b="1" i="1" dirty="0">
                <a:solidFill>
                  <a:srgbClr val="000000"/>
                </a:solidFill>
                <a:latin typeface="Cambria"/>
                <a:ea typeface="宋体"/>
                <a:cs typeface="宋体"/>
              </a:rPr>
              <a:t>λ</a:t>
            </a:r>
            <a:r>
              <a:rPr lang="en-US" altLang="zh-CN" sz="2000" b="1" dirty="0">
                <a:solidFill>
                  <a:srgbClr val="000000"/>
                </a:solidFill>
                <a:latin typeface="宋体"/>
                <a:cs typeface="宋体"/>
              </a:rPr>
              <a:t>=600 nm</a:t>
            </a:r>
            <a:r>
              <a:rPr lang="zh-CN" altLang="zh-CN" sz="2000" b="1" dirty="0">
                <a:solidFill>
                  <a:srgbClr val="000000"/>
                </a:solidFill>
                <a:ea typeface="宋体"/>
                <a:cs typeface="宋体"/>
              </a:rPr>
              <a:t>的单色光垂直照射油膜，则关于反射光下面说法正确的是（</a:t>
            </a:r>
            <a:r>
              <a:rPr lang="en-US" altLang="zh-CN" sz="2000" b="1" dirty="0">
                <a:solidFill>
                  <a:srgbClr val="000000"/>
                </a:solidFill>
                <a:ea typeface="宋体"/>
                <a:cs typeface="宋体"/>
              </a:rPr>
              <a:t>   </a:t>
            </a:r>
            <a:r>
              <a:rPr lang="zh-CN" altLang="zh-CN" sz="2000" b="1" dirty="0">
                <a:solidFill>
                  <a:srgbClr val="000000"/>
                </a:solidFill>
                <a:ea typeface="宋体"/>
                <a:cs typeface="宋体"/>
              </a:rPr>
              <a:t>）</a:t>
            </a:r>
            <a:endParaRPr lang="zh-CN" altLang="en-US" sz="2000" dirty="0">
              <a:solidFill>
                <a:srgbClr val="000000"/>
              </a:solidFill>
            </a:endParaRPr>
          </a:p>
        </p:txBody>
      </p:sp>
      <p:pic>
        <p:nvPicPr>
          <p:cNvPr id="3" name="图片 2" descr="https://p.ananas.chaoxing.com/star3/origin/c1cdb87d37e9f09aff805ce1dbdbe34d.png"/>
          <p:cNvPicPr/>
          <p:nvPr/>
        </p:nvPicPr>
        <p:blipFill>
          <a:blip r:link="rId2">
            <a:extLst>
              <a:ext uri="{28A0092B-C50C-407E-A947-70E740481C1C}">
                <a14:useLocalDpi xmlns:a14="http://schemas.microsoft.com/office/drawing/2010/main" val="0"/>
              </a:ext>
            </a:extLst>
          </a:blip>
          <a:srcRect/>
          <a:stretch>
            <a:fillRect/>
          </a:stretch>
        </p:blipFill>
        <p:spPr bwMode="auto">
          <a:xfrm>
            <a:off x="2483768" y="2063424"/>
            <a:ext cx="3829050" cy="1304925"/>
          </a:xfrm>
          <a:prstGeom prst="rect">
            <a:avLst/>
          </a:prstGeom>
          <a:noFill/>
          <a:ln>
            <a:noFill/>
          </a:ln>
        </p:spPr>
      </p:pic>
      <p:sp>
        <p:nvSpPr>
          <p:cNvPr id="4" name="矩形 3"/>
          <p:cNvSpPr/>
          <p:nvPr/>
        </p:nvSpPr>
        <p:spPr>
          <a:xfrm>
            <a:off x="827584" y="3717032"/>
            <a:ext cx="4572000" cy="1323439"/>
          </a:xfrm>
          <a:prstGeom prst="rect">
            <a:avLst/>
          </a:prstGeom>
        </p:spPr>
        <p:txBody>
          <a:bodyPr>
            <a:spAutoFit/>
          </a:bodyPr>
          <a:lstStyle/>
          <a:p>
            <a:pPr>
              <a:spcAft>
                <a:spcPts val="0"/>
              </a:spcAft>
            </a:pPr>
            <a:r>
              <a:rPr lang="en-US" altLang="zh-CN" sz="2000" dirty="0">
                <a:solidFill>
                  <a:srgbClr val="000000"/>
                </a:solidFill>
                <a:latin typeface="宋体"/>
                <a:cs typeface="宋体"/>
              </a:rPr>
              <a:t>A</a:t>
            </a:r>
            <a:r>
              <a:rPr lang="zh-CN" altLang="zh-CN" sz="2000" dirty="0">
                <a:solidFill>
                  <a:srgbClr val="000000"/>
                </a:solidFill>
                <a:latin typeface="宋体"/>
                <a:cs typeface="宋体"/>
              </a:rPr>
              <a:t>、 干涉条纹内密外疏，有</a:t>
            </a:r>
            <a:r>
              <a:rPr lang="en-US" altLang="zh-CN" sz="2000" dirty="0">
                <a:solidFill>
                  <a:srgbClr val="000000"/>
                </a:solidFill>
                <a:latin typeface="Times New Roman"/>
                <a:cs typeface="宋体"/>
              </a:rPr>
              <a:t>4</a:t>
            </a:r>
            <a:r>
              <a:rPr lang="zh-CN" altLang="zh-CN" sz="2000" dirty="0">
                <a:solidFill>
                  <a:srgbClr val="000000"/>
                </a:solidFill>
                <a:latin typeface="宋体"/>
                <a:cs typeface="宋体"/>
              </a:rPr>
              <a:t>个暗环 </a:t>
            </a:r>
          </a:p>
          <a:p>
            <a:pPr>
              <a:spcAft>
                <a:spcPts val="0"/>
              </a:spcAft>
            </a:pPr>
            <a:r>
              <a:rPr lang="en-US" altLang="zh-CN" sz="2000" dirty="0">
                <a:solidFill>
                  <a:srgbClr val="000000"/>
                </a:solidFill>
                <a:latin typeface="宋体"/>
                <a:cs typeface="宋体"/>
              </a:rPr>
              <a:t>B</a:t>
            </a:r>
            <a:r>
              <a:rPr lang="zh-CN" altLang="zh-CN" sz="2000" dirty="0">
                <a:solidFill>
                  <a:srgbClr val="000000"/>
                </a:solidFill>
                <a:latin typeface="宋体"/>
                <a:cs typeface="宋体"/>
              </a:rPr>
              <a:t>、 干涉条纹内密外疏，有</a:t>
            </a:r>
            <a:r>
              <a:rPr lang="en-US" altLang="zh-CN" sz="2000" dirty="0">
                <a:solidFill>
                  <a:srgbClr val="000000"/>
                </a:solidFill>
                <a:latin typeface="Times New Roman"/>
                <a:cs typeface="宋体"/>
              </a:rPr>
              <a:t>5</a:t>
            </a:r>
            <a:r>
              <a:rPr lang="zh-CN" altLang="zh-CN" sz="2000" dirty="0">
                <a:solidFill>
                  <a:srgbClr val="000000"/>
                </a:solidFill>
                <a:latin typeface="宋体"/>
                <a:cs typeface="宋体"/>
              </a:rPr>
              <a:t>个暗环 </a:t>
            </a:r>
          </a:p>
          <a:p>
            <a:pPr>
              <a:spcAft>
                <a:spcPts val="0"/>
              </a:spcAft>
            </a:pPr>
            <a:r>
              <a:rPr lang="en-US" altLang="zh-CN" sz="2000" dirty="0">
                <a:solidFill>
                  <a:srgbClr val="000000"/>
                </a:solidFill>
                <a:latin typeface="宋体"/>
                <a:cs typeface="宋体"/>
              </a:rPr>
              <a:t>C</a:t>
            </a:r>
            <a:r>
              <a:rPr lang="zh-CN" altLang="zh-CN" sz="2000" dirty="0">
                <a:solidFill>
                  <a:srgbClr val="000000"/>
                </a:solidFill>
                <a:latin typeface="宋体"/>
                <a:cs typeface="宋体"/>
              </a:rPr>
              <a:t>、 干涉条纹内疏外密，有</a:t>
            </a:r>
            <a:r>
              <a:rPr lang="en-US" altLang="zh-CN" sz="2000" dirty="0">
                <a:solidFill>
                  <a:srgbClr val="000000"/>
                </a:solidFill>
                <a:latin typeface="Times New Roman"/>
                <a:cs typeface="宋体"/>
              </a:rPr>
              <a:t>4</a:t>
            </a:r>
            <a:r>
              <a:rPr lang="zh-CN" altLang="zh-CN" sz="2000" dirty="0">
                <a:solidFill>
                  <a:srgbClr val="000000"/>
                </a:solidFill>
                <a:latin typeface="宋体"/>
                <a:cs typeface="宋体"/>
              </a:rPr>
              <a:t>个暗环 </a:t>
            </a:r>
          </a:p>
          <a:p>
            <a:pPr>
              <a:spcAft>
                <a:spcPts val="0"/>
              </a:spcAft>
            </a:pPr>
            <a:r>
              <a:rPr lang="en-US" altLang="zh-CN" sz="2000" dirty="0">
                <a:solidFill>
                  <a:srgbClr val="000000"/>
                </a:solidFill>
                <a:latin typeface="宋体"/>
                <a:cs typeface="宋体"/>
              </a:rPr>
              <a:t>D</a:t>
            </a:r>
            <a:r>
              <a:rPr lang="zh-CN" altLang="zh-CN" sz="2000" dirty="0">
                <a:solidFill>
                  <a:srgbClr val="000000"/>
                </a:solidFill>
                <a:latin typeface="宋体"/>
                <a:cs typeface="宋体"/>
              </a:rPr>
              <a:t>、 </a:t>
            </a:r>
            <a:r>
              <a:rPr lang="zh-CN" altLang="zh-CN" sz="2000" dirty="0" smtClean="0">
                <a:solidFill>
                  <a:srgbClr val="000000"/>
                </a:solidFill>
                <a:latin typeface="宋体"/>
                <a:cs typeface="宋体"/>
              </a:rPr>
              <a:t>干涉条纹</a:t>
            </a:r>
            <a:r>
              <a:rPr lang="zh-CN" altLang="zh-CN" sz="2000" dirty="0">
                <a:solidFill>
                  <a:srgbClr val="000000"/>
                </a:solidFill>
                <a:latin typeface="宋体"/>
                <a:cs typeface="宋体"/>
              </a:rPr>
              <a:t>内疏外密，有</a:t>
            </a:r>
            <a:r>
              <a:rPr lang="en-US" altLang="zh-CN" sz="2000" dirty="0">
                <a:solidFill>
                  <a:srgbClr val="000000"/>
                </a:solidFill>
                <a:latin typeface="Times New Roman"/>
                <a:cs typeface="宋体"/>
              </a:rPr>
              <a:t>5</a:t>
            </a:r>
            <a:r>
              <a:rPr lang="zh-CN" altLang="zh-CN" sz="2000" dirty="0">
                <a:solidFill>
                  <a:srgbClr val="000000"/>
                </a:solidFill>
                <a:latin typeface="宋体"/>
                <a:cs typeface="宋体"/>
              </a:rPr>
              <a:t>个暗环</a:t>
            </a:r>
          </a:p>
        </p:txBody>
      </p:sp>
      <p:sp>
        <p:nvSpPr>
          <p:cNvPr id="5" name="TextBox 4"/>
          <p:cNvSpPr txBox="1"/>
          <p:nvPr/>
        </p:nvSpPr>
        <p:spPr>
          <a:xfrm>
            <a:off x="3923928" y="1588730"/>
            <a:ext cx="282005" cy="400110"/>
          </a:xfrm>
          <a:prstGeom prst="rect">
            <a:avLst/>
          </a:prstGeom>
          <a:noFill/>
        </p:spPr>
        <p:txBody>
          <a:bodyPr wrap="square" rtlCol="0">
            <a:spAutoFit/>
          </a:bodyPr>
          <a:lstStyle/>
          <a:p>
            <a:r>
              <a:rPr lang="en-US" altLang="zh-CN" sz="2000" b="1" dirty="0" smtClean="0">
                <a:solidFill>
                  <a:srgbClr val="000000"/>
                </a:solidFill>
              </a:rPr>
              <a:t>C</a:t>
            </a:r>
            <a:endParaRPr lang="zh-CN" altLang="en-US" sz="2000" b="1" dirty="0">
              <a:solidFill>
                <a:srgbClr val="000000"/>
              </a:solidFill>
            </a:endParaRPr>
          </a:p>
        </p:txBody>
      </p:sp>
    </p:spTree>
    <p:extLst>
      <p:ext uri="{BB962C8B-B14F-4D97-AF65-F5344CB8AC3E}">
        <p14:creationId xmlns:p14="http://schemas.microsoft.com/office/powerpoint/2010/main" val="280619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25" name="Text Box 13"/>
          <p:cNvSpPr txBox="1">
            <a:spLocks noChangeArrowheads="1"/>
          </p:cNvSpPr>
          <p:nvPr/>
        </p:nvSpPr>
        <p:spPr bwMode="auto">
          <a:xfrm>
            <a:off x="457200" y="1147763"/>
            <a:ext cx="8075613"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pPr>
            <a:r>
              <a:rPr lang="en-US" altLang="zh-CN" sz="2400" b="1">
                <a:solidFill>
                  <a:schemeClr val="tx1"/>
                </a:solidFill>
                <a:latin typeface="宋体" pitchFamily="2" charset="-122"/>
              </a:rPr>
              <a:t>  </a:t>
            </a:r>
            <a:r>
              <a:rPr lang="zh-CN" altLang="en-US" sz="2400" b="1">
                <a:solidFill>
                  <a:schemeClr val="tx1"/>
                </a:solidFill>
                <a:latin typeface="宋体" pitchFamily="2" charset="-122"/>
              </a:rPr>
              <a:t>利用振幅分割法使两个相互垂直的平面镜形成一等效的空气薄膜，产生干涉。</a:t>
            </a:r>
          </a:p>
        </p:txBody>
      </p:sp>
      <p:grpSp>
        <p:nvGrpSpPr>
          <p:cNvPr id="90155" name="Group 43"/>
          <p:cNvGrpSpPr>
            <a:grpSpLocks/>
          </p:cNvGrpSpPr>
          <p:nvPr/>
        </p:nvGrpSpPr>
        <p:grpSpPr bwMode="auto">
          <a:xfrm>
            <a:off x="457200" y="2349500"/>
            <a:ext cx="8147050" cy="1631950"/>
            <a:chOff x="288" y="1776"/>
            <a:chExt cx="5472" cy="1028"/>
          </a:xfrm>
        </p:grpSpPr>
        <p:sp>
          <p:nvSpPr>
            <p:cNvPr id="49157" name="Text Box 14"/>
            <p:cNvSpPr txBox="1">
              <a:spLocks noChangeArrowheads="1"/>
            </p:cNvSpPr>
            <p:nvPr/>
          </p:nvSpPr>
          <p:spPr bwMode="auto">
            <a:xfrm>
              <a:off x="288" y="1776"/>
              <a:ext cx="5472" cy="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200000"/>
                </a:lnSpc>
                <a:spcBef>
                  <a:spcPct val="50000"/>
                </a:spcBef>
              </a:pPr>
              <a:r>
                <a:rPr lang="en-US" altLang="zh-CN" sz="2400" b="1">
                  <a:solidFill>
                    <a:schemeClr val="tx1"/>
                  </a:solidFill>
                  <a:latin typeface="宋体" pitchFamily="2" charset="-122"/>
                </a:rPr>
                <a:t>  </a:t>
              </a:r>
              <a:r>
                <a:rPr lang="zh-CN" altLang="en-US" sz="2400" b="1">
                  <a:solidFill>
                    <a:schemeClr val="tx1"/>
                  </a:solidFill>
                  <a:latin typeface="宋体" pitchFamily="2" charset="-122"/>
                </a:rPr>
                <a:t>视场中干涉条纹移动的数目与相应的空气薄膜厚度改变（平面镜平移的距离）的关系</a:t>
              </a:r>
            </a:p>
          </p:txBody>
        </p:sp>
        <p:graphicFrame>
          <p:nvGraphicFramePr>
            <p:cNvPr id="49158" name="Object 15"/>
            <p:cNvGraphicFramePr>
              <a:graphicFrameLocks noChangeAspect="1"/>
            </p:cNvGraphicFramePr>
            <p:nvPr/>
          </p:nvGraphicFramePr>
          <p:xfrm>
            <a:off x="3098" y="2275"/>
            <a:ext cx="921" cy="529"/>
          </p:xfrm>
          <a:graphic>
            <a:graphicData uri="http://schemas.openxmlformats.org/presentationml/2006/ole">
              <mc:AlternateContent xmlns:mc="http://schemas.openxmlformats.org/markup-compatibility/2006">
                <mc:Choice xmlns:v="urn:schemas-microsoft-com:vml" Requires="v">
                  <p:oleObj spid="_x0000_s49181" r:id="rId3" imgW="641531" imgH="362019" progId="Equation.3">
                    <p:embed/>
                  </p:oleObj>
                </mc:Choice>
                <mc:Fallback>
                  <p:oleObj r:id="rId3" imgW="641531" imgH="362019"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8" y="2275"/>
                          <a:ext cx="921" cy="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9156" name="Text Box 17"/>
          <p:cNvSpPr txBox="1">
            <a:spLocks noChangeArrowheads="1"/>
          </p:cNvSpPr>
          <p:nvPr/>
        </p:nvSpPr>
        <p:spPr bwMode="auto">
          <a:xfrm>
            <a:off x="152400" y="461963"/>
            <a:ext cx="28003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2"/>
                </a:solidFill>
                <a:latin typeface="宋体" pitchFamily="2" charset="-122"/>
              </a:rPr>
              <a:t>5</a:t>
            </a:r>
            <a:r>
              <a:rPr lang="zh-CN" altLang="en-US" sz="2400" b="1">
                <a:solidFill>
                  <a:schemeClr val="tx2"/>
                </a:solidFill>
                <a:latin typeface="宋体" pitchFamily="2" charset="-122"/>
              </a:rPr>
              <a:t>．迈克耳孙干涉仪</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0125"/>
                                        </p:tgtEl>
                                        <p:attrNameLst>
                                          <p:attrName>style.visibility</p:attrName>
                                        </p:attrNameLst>
                                      </p:cBhvr>
                                      <p:to>
                                        <p:strVal val="visible"/>
                                      </p:to>
                                    </p:set>
                                    <p:animEffect transition="in" filter="wipe(up)">
                                      <p:cBhvr>
                                        <p:cTn id="7" dur="500"/>
                                        <p:tgtEl>
                                          <p:spTgt spid="901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0155"/>
                                        </p:tgtEl>
                                        <p:attrNameLst>
                                          <p:attrName>style.visibility</p:attrName>
                                        </p:attrNameLst>
                                      </p:cBhvr>
                                      <p:to>
                                        <p:strVal val="visible"/>
                                      </p:to>
                                    </p:set>
                                    <p:animEffect transition="in" filter="wipe(up)">
                                      <p:cBhvr>
                                        <p:cTn id="12" dur="500"/>
                                        <p:tgtEl>
                                          <p:spTgt spid="90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2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404664"/>
            <a:ext cx="8352928" cy="1323439"/>
          </a:xfrm>
          <a:prstGeom prst="rect">
            <a:avLst/>
          </a:prstGeom>
          <a:noFill/>
        </p:spPr>
        <p:txBody>
          <a:bodyPr wrap="square" rtlCol="0">
            <a:spAutoFit/>
          </a:bodyPr>
          <a:lstStyle/>
          <a:p>
            <a:r>
              <a:rPr lang="zh-CN" altLang="zh-CN" sz="2000" b="1" dirty="0">
                <a:solidFill>
                  <a:srgbClr val="000000"/>
                </a:solidFill>
                <a:ea typeface="宋体"/>
                <a:cs typeface="宋体"/>
              </a:rPr>
              <a:t>为了测定空气折射率，在迈克耳孙干涉仪的一个臂上，放置有长度为</a:t>
            </a:r>
            <a:r>
              <a:rPr lang="en-US" altLang="zh-CN" sz="2000" b="1" i="1" dirty="0">
                <a:solidFill>
                  <a:srgbClr val="000000"/>
                </a:solidFill>
                <a:latin typeface="Cambria"/>
                <a:ea typeface="宋体"/>
                <a:cs typeface="宋体"/>
              </a:rPr>
              <a:t>l </a:t>
            </a:r>
            <a:r>
              <a:rPr lang="zh-CN" altLang="zh-CN" sz="2000" b="1" dirty="0">
                <a:solidFill>
                  <a:srgbClr val="000000"/>
                </a:solidFill>
                <a:ea typeface="宋体"/>
                <a:cs typeface="宋体"/>
              </a:rPr>
              <a:t>的密封玻璃管，管内充以</a:t>
            </a:r>
            <a:r>
              <a:rPr lang="en-US" altLang="zh-CN" sz="2000" b="1" dirty="0">
                <a:solidFill>
                  <a:srgbClr val="000000"/>
                </a:solidFill>
                <a:ea typeface="宋体"/>
                <a:cs typeface="宋体"/>
              </a:rPr>
              <a:t>1</a:t>
            </a:r>
            <a:r>
              <a:rPr lang="zh-CN" altLang="zh-CN" sz="2000" b="1" dirty="0">
                <a:solidFill>
                  <a:srgbClr val="000000"/>
                </a:solidFill>
                <a:ea typeface="宋体"/>
                <a:cs typeface="宋体"/>
              </a:rPr>
              <a:t>个大气压的空气。设使用的单色光波长为</a:t>
            </a:r>
            <a:r>
              <a:rPr lang="en-US" altLang="zh-CN" sz="2000" b="1" i="1" dirty="0">
                <a:solidFill>
                  <a:srgbClr val="000000"/>
                </a:solidFill>
                <a:latin typeface="Cambria"/>
                <a:ea typeface="宋体"/>
                <a:cs typeface="宋体"/>
              </a:rPr>
              <a:t>λ </a:t>
            </a:r>
            <a:r>
              <a:rPr lang="zh-CN" altLang="zh-CN" sz="2000" b="1" dirty="0">
                <a:solidFill>
                  <a:srgbClr val="000000"/>
                </a:solidFill>
                <a:ea typeface="宋体"/>
                <a:cs typeface="宋体"/>
              </a:rPr>
              <a:t>，现用真空泵将玻璃管中的空气逐渐抽出，观察到恰有</a:t>
            </a:r>
            <a:r>
              <a:rPr lang="en-US" altLang="zh-CN" sz="2000" b="1" i="1" dirty="0">
                <a:solidFill>
                  <a:srgbClr val="000000"/>
                </a:solidFill>
                <a:latin typeface="Cambria"/>
                <a:ea typeface="宋体"/>
                <a:cs typeface="宋体"/>
              </a:rPr>
              <a:t>N</a:t>
            </a:r>
            <a:r>
              <a:rPr lang="zh-CN" altLang="zh-CN" sz="2000" b="1" dirty="0">
                <a:solidFill>
                  <a:srgbClr val="000000"/>
                </a:solidFill>
                <a:ea typeface="宋体"/>
                <a:cs typeface="宋体"/>
              </a:rPr>
              <a:t>条干涉明纹从视场中移过，则在</a:t>
            </a:r>
            <a:r>
              <a:rPr lang="en-US" altLang="zh-CN" sz="2000" b="1" dirty="0">
                <a:solidFill>
                  <a:srgbClr val="000000"/>
                </a:solidFill>
                <a:ea typeface="宋体"/>
                <a:cs typeface="宋体"/>
              </a:rPr>
              <a:t>1</a:t>
            </a:r>
            <a:r>
              <a:rPr lang="zh-CN" altLang="zh-CN" sz="2000" b="1" dirty="0">
                <a:solidFill>
                  <a:srgbClr val="000000"/>
                </a:solidFill>
                <a:ea typeface="宋体"/>
                <a:cs typeface="宋体"/>
              </a:rPr>
              <a:t>个大气压下的空气折射率为（</a:t>
            </a:r>
            <a:r>
              <a:rPr lang="en-US" altLang="zh-CN" sz="2000" b="1" dirty="0">
                <a:solidFill>
                  <a:srgbClr val="000000"/>
                </a:solidFill>
                <a:ea typeface="宋体"/>
                <a:cs typeface="宋体"/>
              </a:rPr>
              <a:t>    </a:t>
            </a:r>
            <a:r>
              <a:rPr lang="zh-CN" altLang="zh-CN" sz="2000" b="1" dirty="0">
                <a:solidFill>
                  <a:srgbClr val="000000"/>
                </a:solidFill>
                <a:ea typeface="宋体"/>
                <a:cs typeface="宋体"/>
              </a:rPr>
              <a:t>）</a:t>
            </a:r>
            <a:endParaRPr lang="zh-CN" altLang="en-US" sz="2000" dirty="0">
              <a:solidFill>
                <a:srgbClr val="000000"/>
              </a:solidFill>
            </a:endParaRPr>
          </a:p>
        </p:txBody>
      </p:sp>
      <p:pic>
        <p:nvPicPr>
          <p:cNvPr id="911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988840"/>
            <a:ext cx="5145087"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1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0952" y="2775121"/>
            <a:ext cx="49625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1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866665"/>
            <a:ext cx="45910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14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0201" y="4797152"/>
            <a:ext cx="4554537"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5220072" y="1300698"/>
            <a:ext cx="282005" cy="400110"/>
          </a:xfrm>
          <a:prstGeom prst="rect">
            <a:avLst/>
          </a:prstGeom>
          <a:noFill/>
        </p:spPr>
        <p:txBody>
          <a:bodyPr wrap="square" rtlCol="0">
            <a:spAutoFit/>
          </a:bodyPr>
          <a:lstStyle/>
          <a:p>
            <a:r>
              <a:rPr lang="en-US" altLang="zh-CN" sz="2000" dirty="0" smtClean="0">
                <a:solidFill>
                  <a:srgbClr val="000000"/>
                </a:solidFill>
              </a:rPr>
              <a:t>C</a:t>
            </a:r>
            <a:endParaRPr lang="zh-CN" altLang="en-US" sz="2000" dirty="0">
              <a:solidFill>
                <a:srgbClr val="000000"/>
              </a:solidFill>
            </a:endParaRPr>
          </a:p>
        </p:txBody>
      </p:sp>
      <p:sp>
        <p:nvSpPr>
          <p:cNvPr id="8" name="TextBox 7"/>
          <p:cNvSpPr txBox="1"/>
          <p:nvPr/>
        </p:nvSpPr>
        <p:spPr>
          <a:xfrm>
            <a:off x="1108638" y="2356524"/>
            <a:ext cx="282005" cy="400110"/>
          </a:xfrm>
          <a:prstGeom prst="rect">
            <a:avLst/>
          </a:prstGeom>
          <a:noFill/>
        </p:spPr>
        <p:txBody>
          <a:bodyPr wrap="square" rtlCol="0">
            <a:spAutoFit/>
          </a:bodyPr>
          <a:lstStyle/>
          <a:p>
            <a:r>
              <a:rPr lang="en-US" altLang="zh-CN" sz="2000" dirty="0" smtClean="0">
                <a:solidFill>
                  <a:srgbClr val="000000"/>
                </a:solidFill>
              </a:rPr>
              <a:t>A</a:t>
            </a:r>
            <a:endParaRPr lang="zh-CN" altLang="en-US" sz="2000" dirty="0">
              <a:solidFill>
                <a:srgbClr val="000000"/>
              </a:solidFill>
            </a:endParaRPr>
          </a:p>
        </p:txBody>
      </p:sp>
      <p:sp>
        <p:nvSpPr>
          <p:cNvPr id="9" name="TextBox 8"/>
          <p:cNvSpPr txBox="1"/>
          <p:nvPr/>
        </p:nvSpPr>
        <p:spPr>
          <a:xfrm>
            <a:off x="1108638" y="4022357"/>
            <a:ext cx="282005" cy="400110"/>
          </a:xfrm>
          <a:prstGeom prst="rect">
            <a:avLst/>
          </a:prstGeom>
          <a:noFill/>
        </p:spPr>
        <p:txBody>
          <a:bodyPr wrap="square" rtlCol="0">
            <a:spAutoFit/>
          </a:bodyPr>
          <a:lstStyle/>
          <a:p>
            <a:r>
              <a:rPr lang="en-US" altLang="zh-CN" sz="2000" dirty="0" smtClean="0">
                <a:solidFill>
                  <a:srgbClr val="000000"/>
                </a:solidFill>
              </a:rPr>
              <a:t>C</a:t>
            </a:r>
            <a:endParaRPr lang="zh-CN" altLang="en-US" sz="2000" dirty="0">
              <a:solidFill>
                <a:srgbClr val="000000"/>
              </a:solidFill>
            </a:endParaRPr>
          </a:p>
        </p:txBody>
      </p:sp>
      <p:sp>
        <p:nvSpPr>
          <p:cNvPr id="10" name="TextBox 9"/>
          <p:cNvSpPr txBox="1"/>
          <p:nvPr/>
        </p:nvSpPr>
        <p:spPr>
          <a:xfrm>
            <a:off x="1108638" y="3160883"/>
            <a:ext cx="282005" cy="400110"/>
          </a:xfrm>
          <a:prstGeom prst="rect">
            <a:avLst/>
          </a:prstGeom>
          <a:noFill/>
        </p:spPr>
        <p:txBody>
          <a:bodyPr wrap="square" rtlCol="0">
            <a:spAutoFit/>
          </a:bodyPr>
          <a:lstStyle/>
          <a:p>
            <a:r>
              <a:rPr lang="en-US" altLang="zh-CN" sz="2000" dirty="0" smtClean="0">
                <a:solidFill>
                  <a:srgbClr val="000000"/>
                </a:solidFill>
              </a:rPr>
              <a:t>B</a:t>
            </a:r>
            <a:endParaRPr lang="zh-CN" altLang="en-US" sz="2000" dirty="0">
              <a:solidFill>
                <a:srgbClr val="000000"/>
              </a:solidFill>
            </a:endParaRPr>
          </a:p>
        </p:txBody>
      </p:sp>
      <p:sp>
        <p:nvSpPr>
          <p:cNvPr id="11" name="TextBox 10"/>
          <p:cNvSpPr txBox="1"/>
          <p:nvPr/>
        </p:nvSpPr>
        <p:spPr>
          <a:xfrm>
            <a:off x="1108638" y="4941168"/>
            <a:ext cx="282005" cy="400110"/>
          </a:xfrm>
          <a:prstGeom prst="rect">
            <a:avLst/>
          </a:prstGeom>
          <a:noFill/>
        </p:spPr>
        <p:txBody>
          <a:bodyPr wrap="square" rtlCol="0">
            <a:spAutoFit/>
          </a:bodyPr>
          <a:lstStyle/>
          <a:p>
            <a:r>
              <a:rPr lang="en-US" altLang="zh-CN" sz="2000" dirty="0" smtClean="0">
                <a:solidFill>
                  <a:srgbClr val="000000"/>
                </a:solidFill>
              </a:rPr>
              <a:t>D</a:t>
            </a:r>
            <a:endParaRPr lang="zh-CN" altLang="en-US" sz="2000" dirty="0">
              <a:solidFill>
                <a:srgbClr val="000000"/>
              </a:solidFill>
            </a:endParaRPr>
          </a:p>
        </p:txBody>
      </p:sp>
    </p:spTree>
    <p:extLst>
      <p:ext uri="{BB962C8B-B14F-4D97-AF65-F5344CB8AC3E}">
        <p14:creationId xmlns:p14="http://schemas.microsoft.com/office/powerpoint/2010/main" val="4030762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3"/>
          <p:cNvSpPr>
            <a:spLocks noChangeArrowheads="1"/>
          </p:cNvSpPr>
          <p:nvPr/>
        </p:nvSpPr>
        <p:spPr bwMode="auto">
          <a:xfrm>
            <a:off x="5435600" y="1125538"/>
            <a:ext cx="3529013" cy="5256212"/>
          </a:xfrm>
          <a:prstGeom prst="rect">
            <a:avLst/>
          </a:prstGeom>
          <a:solidFill>
            <a:srgbClr val="006699"/>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104450" name="Text Box 2"/>
          <p:cNvSpPr txBox="1">
            <a:spLocks noChangeArrowheads="1"/>
          </p:cNvSpPr>
          <p:nvPr/>
        </p:nvSpPr>
        <p:spPr bwMode="auto">
          <a:xfrm>
            <a:off x="730250" y="1536700"/>
            <a:ext cx="4705350" cy="173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530225" indent="-530225"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algn="just" eaLnBrk="1" hangingPunct="1">
              <a:spcBef>
                <a:spcPct val="50000"/>
              </a:spcBef>
            </a:pPr>
            <a:r>
              <a:rPr lang="en-US" altLang="zh-CN" sz="2400" b="1">
                <a:solidFill>
                  <a:srgbClr val="000000"/>
                </a:solidFill>
              </a:rPr>
              <a:t>(1) </a:t>
            </a:r>
            <a:r>
              <a:rPr lang="zh-CN" altLang="en-US" sz="2400" b="1">
                <a:solidFill>
                  <a:srgbClr val="000000"/>
                </a:solidFill>
              </a:rPr>
              <a:t>等倾干涉条纹</a:t>
            </a:r>
            <a:r>
              <a:rPr lang="zh-CN" altLang="en-US" sz="2400" b="1">
                <a:solidFill>
                  <a:srgbClr val="000000"/>
                </a:solidFill>
                <a:latin typeface="宋体" pitchFamily="2" charset="-122"/>
              </a:rPr>
              <a:t>为一系列同心圆环</a:t>
            </a:r>
            <a:r>
              <a:rPr lang="en-US" altLang="zh-CN" sz="2400" b="1">
                <a:solidFill>
                  <a:srgbClr val="000000"/>
                </a:solidFill>
                <a:latin typeface="宋体" pitchFamily="2" charset="-122"/>
              </a:rPr>
              <a:t>;</a:t>
            </a:r>
            <a:r>
              <a:rPr lang="zh-CN" altLang="en-US" sz="2400" b="1">
                <a:solidFill>
                  <a:srgbClr val="000000"/>
                </a:solidFill>
                <a:latin typeface="宋体" pitchFamily="2" charset="-122"/>
              </a:rPr>
              <a:t>内疏外密</a:t>
            </a:r>
            <a:r>
              <a:rPr lang="en-US" altLang="zh-CN" sz="2400" b="1">
                <a:solidFill>
                  <a:srgbClr val="000000"/>
                </a:solidFill>
                <a:latin typeface="宋体" pitchFamily="2" charset="-122"/>
              </a:rPr>
              <a:t>;</a:t>
            </a:r>
            <a:r>
              <a:rPr lang="zh-CN" altLang="en-US" sz="2400" b="1">
                <a:solidFill>
                  <a:srgbClr val="000000"/>
                </a:solidFill>
                <a:latin typeface="宋体" pitchFamily="2" charset="-122"/>
              </a:rPr>
              <a:t>内圆纹的级次比外圆纹的级次高 </a:t>
            </a:r>
          </a:p>
          <a:p>
            <a:pPr algn="just" eaLnBrk="1" hangingPunct="1">
              <a:spcBef>
                <a:spcPct val="50000"/>
              </a:spcBef>
            </a:pPr>
            <a:endParaRPr lang="en-US" altLang="zh-CN" sz="2400" b="1">
              <a:solidFill>
                <a:srgbClr val="000000"/>
              </a:solidFill>
              <a:latin typeface="宋体" pitchFamily="2" charset="-122"/>
            </a:endParaRPr>
          </a:p>
        </p:txBody>
      </p:sp>
      <p:sp>
        <p:nvSpPr>
          <p:cNvPr id="104451" name="Text Box 3"/>
          <p:cNvSpPr txBox="1">
            <a:spLocks noChangeArrowheads="1"/>
          </p:cNvSpPr>
          <p:nvPr/>
        </p:nvSpPr>
        <p:spPr bwMode="auto">
          <a:xfrm>
            <a:off x="717550" y="936625"/>
            <a:ext cx="1600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rgbClr val="000000"/>
                </a:solidFill>
                <a:latin typeface="宋体" pitchFamily="2" charset="-122"/>
              </a:rPr>
              <a:t>条纹特点</a:t>
            </a:r>
            <a:endParaRPr lang="zh-CN" altLang="en-US" sz="2400">
              <a:solidFill>
                <a:srgbClr val="000000"/>
              </a:solidFill>
              <a:latin typeface="宋体" pitchFamily="2" charset="-122"/>
            </a:endParaRPr>
          </a:p>
        </p:txBody>
      </p:sp>
      <p:sp>
        <p:nvSpPr>
          <p:cNvPr id="104452" name="Text Box 4"/>
          <p:cNvSpPr txBox="1">
            <a:spLocks noChangeArrowheads="1"/>
          </p:cNvSpPr>
          <p:nvPr/>
        </p:nvSpPr>
        <p:spPr bwMode="auto">
          <a:xfrm>
            <a:off x="735013" y="2997200"/>
            <a:ext cx="4700587" cy="1552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530225" indent="-530225"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algn="just" eaLnBrk="1" hangingPunct="1">
              <a:spcBef>
                <a:spcPct val="50000"/>
              </a:spcBef>
            </a:pPr>
            <a:r>
              <a:rPr lang="en-US" altLang="zh-CN" sz="2400" b="1">
                <a:solidFill>
                  <a:srgbClr val="000000"/>
                </a:solidFill>
              </a:rPr>
              <a:t>(2) </a:t>
            </a:r>
            <a:r>
              <a:rPr lang="zh-CN" altLang="en-US" sz="2400" b="1">
                <a:solidFill>
                  <a:srgbClr val="000000"/>
                </a:solidFill>
                <a:latin typeface="宋体" pitchFamily="2" charset="-122"/>
              </a:rPr>
              <a:t>膜厚变化时</a:t>
            </a:r>
            <a:r>
              <a:rPr lang="en-US" altLang="zh-CN" sz="2400" b="1">
                <a:solidFill>
                  <a:srgbClr val="000000"/>
                </a:solidFill>
                <a:latin typeface="宋体" pitchFamily="2" charset="-122"/>
              </a:rPr>
              <a:t>,</a:t>
            </a:r>
            <a:r>
              <a:rPr lang="zh-CN" altLang="en-US" sz="2400" b="1">
                <a:solidFill>
                  <a:srgbClr val="000000"/>
                </a:solidFill>
                <a:latin typeface="宋体" pitchFamily="2" charset="-122"/>
              </a:rPr>
              <a:t>条纹发生移动。当薄膜厚度增大时，圆纹从中心冒出，并向外扩张，条纹变密 </a:t>
            </a:r>
          </a:p>
        </p:txBody>
      </p:sp>
      <p:sp>
        <p:nvSpPr>
          <p:cNvPr id="104453" name="Line 5"/>
          <p:cNvSpPr>
            <a:spLocks noChangeShapeType="1"/>
          </p:cNvSpPr>
          <p:nvPr/>
        </p:nvSpPr>
        <p:spPr bwMode="auto">
          <a:xfrm>
            <a:off x="6737350" y="3257550"/>
            <a:ext cx="457200" cy="841375"/>
          </a:xfrm>
          <a:prstGeom prst="line">
            <a:avLst/>
          </a:prstGeom>
          <a:noFill/>
          <a:ln w="190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54" name="Line 6"/>
          <p:cNvSpPr>
            <a:spLocks noChangeShapeType="1"/>
          </p:cNvSpPr>
          <p:nvPr/>
        </p:nvSpPr>
        <p:spPr bwMode="auto">
          <a:xfrm flipV="1">
            <a:off x="7196138" y="2995613"/>
            <a:ext cx="595312" cy="1103312"/>
          </a:xfrm>
          <a:prstGeom prst="line">
            <a:avLst/>
          </a:prstGeom>
          <a:noFill/>
          <a:ln w="190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55" name="Line 7"/>
          <p:cNvSpPr>
            <a:spLocks noChangeShapeType="1"/>
          </p:cNvSpPr>
          <p:nvPr/>
        </p:nvSpPr>
        <p:spPr bwMode="auto">
          <a:xfrm flipV="1">
            <a:off x="7578725" y="3046413"/>
            <a:ext cx="547688" cy="1052512"/>
          </a:xfrm>
          <a:prstGeom prst="line">
            <a:avLst/>
          </a:prstGeom>
          <a:noFill/>
          <a:ln w="190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56" name="Line 8"/>
          <p:cNvSpPr>
            <a:spLocks noChangeShapeType="1"/>
          </p:cNvSpPr>
          <p:nvPr/>
        </p:nvSpPr>
        <p:spPr bwMode="auto">
          <a:xfrm flipH="1" flipV="1">
            <a:off x="7716838" y="2101850"/>
            <a:ext cx="90487" cy="763588"/>
          </a:xfrm>
          <a:prstGeom prst="line">
            <a:avLst/>
          </a:prstGeom>
          <a:noFill/>
          <a:ln w="190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57" name="Line 9"/>
          <p:cNvSpPr>
            <a:spLocks noChangeShapeType="1"/>
          </p:cNvSpPr>
          <p:nvPr/>
        </p:nvSpPr>
        <p:spPr bwMode="auto">
          <a:xfrm flipH="1" flipV="1">
            <a:off x="7723188" y="2097088"/>
            <a:ext cx="411162" cy="787400"/>
          </a:xfrm>
          <a:prstGeom prst="line">
            <a:avLst/>
          </a:prstGeom>
          <a:noFill/>
          <a:ln w="190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4458" name="Object 10"/>
          <p:cNvGraphicFramePr>
            <a:graphicFrameLocks/>
          </p:cNvGraphicFramePr>
          <p:nvPr/>
        </p:nvGraphicFramePr>
        <p:xfrm>
          <a:off x="7038975" y="3482975"/>
          <a:ext cx="139700" cy="292100"/>
        </p:xfrm>
        <a:graphic>
          <a:graphicData uri="http://schemas.openxmlformats.org/presentationml/2006/ole">
            <mc:AlternateContent xmlns:mc="http://schemas.openxmlformats.org/markup-compatibility/2006">
              <mc:Choice xmlns:v="urn:schemas-microsoft-com:vml" Requires="v">
                <p:oleObj spid="_x0000_s50464" name="公式" r:id="rId3" imgW="133531" imgH="285958" progId="Equation.3">
                  <p:embed/>
                </p:oleObj>
              </mc:Choice>
              <mc:Fallback>
                <p:oleObj name="公式" r:id="rId3" imgW="133531" imgH="285958" progId="Equation.3">
                  <p:embed/>
                  <p:pic>
                    <p:nvPicPr>
                      <p:cNvPr id="0"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8975" y="3482975"/>
                        <a:ext cx="1397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aphicFrame>
        <p:nvGraphicFramePr>
          <p:cNvPr id="104459" name="Object 11"/>
          <p:cNvGraphicFramePr>
            <a:graphicFrameLocks/>
          </p:cNvGraphicFramePr>
          <p:nvPr/>
        </p:nvGraphicFramePr>
        <p:xfrm>
          <a:off x="7620000" y="1773238"/>
          <a:ext cx="279400" cy="292100"/>
        </p:xfrm>
        <a:graphic>
          <a:graphicData uri="http://schemas.openxmlformats.org/presentationml/2006/ole">
            <mc:AlternateContent xmlns:mc="http://schemas.openxmlformats.org/markup-compatibility/2006">
              <mc:Choice xmlns:v="urn:schemas-microsoft-com:vml" Requires="v">
                <p:oleObj spid="_x0000_s50465" name="公式" r:id="rId5" imgW="272869" imgH="285958" progId="Equation.3">
                  <p:embed/>
                </p:oleObj>
              </mc:Choice>
              <mc:Fallback>
                <p:oleObj name="公式" r:id="rId5" imgW="272869" imgH="285958" progId="Equation.3">
                  <p:embed/>
                  <p:pic>
                    <p:nvPicPr>
                      <p:cNvPr id="0" name="Object 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0" y="1773238"/>
                        <a:ext cx="2794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aphicFrame>
        <p:nvGraphicFramePr>
          <p:cNvPr id="104460" name="Object 12"/>
          <p:cNvGraphicFramePr>
            <a:graphicFrameLocks/>
          </p:cNvGraphicFramePr>
          <p:nvPr/>
        </p:nvGraphicFramePr>
        <p:xfrm>
          <a:off x="7262813" y="2347913"/>
          <a:ext cx="139700" cy="292100"/>
        </p:xfrm>
        <a:graphic>
          <a:graphicData uri="http://schemas.openxmlformats.org/presentationml/2006/ole">
            <mc:AlternateContent xmlns:mc="http://schemas.openxmlformats.org/markup-compatibility/2006">
              <mc:Choice xmlns:v="urn:schemas-microsoft-com:vml" Requires="v">
                <p:oleObj spid="_x0000_s50466" name="公式" r:id="rId7" imgW="133531" imgH="285958" progId="Equation.3">
                  <p:embed/>
                </p:oleObj>
              </mc:Choice>
              <mc:Fallback>
                <p:oleObj name="公式" r:id="rId7" imgW="133531" imgH="285958" progId="Equation.3">
                  <p:embed/>
                  <p:pic>
                    <p:nvPicPr>
                      <p:cNvPr id="0" name="Object 1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62813" y="2347913"/>
                        <a:ext cx="1397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sp>
        <p:nvSpPr>
          <p:cNvPr id="104461" name="Line 13"/>
          <p:cNvSpPr>
            <a:spLocks noChangeShapeType="1"/>
          </p:cNvSpPr>
          <p:nvPr/>
        </p:nvSpPr>
        <p:spPr bwMode="auto">
          <a:xfrm flipV="1">
            <a:off x="7213600" y="2101850"/>
            <a:ext cx="503238" cy="787400"/>
          </a:xfrm>
          <a:prstGeom prst="line">
            <a:avLst/>
          </a:prstGeom>
          <a:noFill/>
          <a:ln w="19050">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4462" name="Group 14"/>
          <p:cNvGrpSpPr>
            <a:grpSpLocks/>
          </p:cNvGrpSpPr>
          <p:nvPr/>
        </p:nvGrpSpPr>
        <p:grpSpPr bwMode="auto">
          <a:xfrm>
            <a:off x="5776913" y="2092325"/>
            <a:ext cx="2787650" cy="2778125"/>
            <a:chOff x="3639" y="1000"/>
            <a:chExt cx="1756" cy="1750"/>
          </a:xfrm>
        </p:grpSpPr>
        <p:sp>
          <p:nvSpPr>
            <p:cNvPr id="50214" name="Rectangle 15"/>
            <p:cNvSpPr>
              <a:spLocks noChangeArrowheads="1"/>
            </p:cNvSpPr>
            <p:nvPr/>
          </p:nvSpPr>
          <p:spPr bwMode="auto">
            <a:xfrm>
              <a:off x="3668" y="2258"/>
              <a:ext cx="1640" cy="264"/>
            </a:xfrm>
            <a:prstGeom prst="rect">
              <a:avLst/>
            </a:prstGeom>
            <a:solidFill>
              <a:srgbClr val="33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50215" name="Line 16"/>
            <p:cNvSpPr>
              <a:spLocks noChangeShapeType="1"/>
            </p:cNvSpPr>
            <p:nvPr/>
          </p:nvSpPr>
          <p:spPr bwMode="auto">
            <a:xfrm>
              <a:off x="4531" y="1007"/>
              <a:ext cx="0" cy="1496"/>
            </a:xfrm>
            <a:prstGeom prst="line">
              <a:avLst/>
            </a:prstGeom>
            <a:noFill/>
            <a:ln w="19050">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6" name="Oval 17"/>
            <p:cNvSpPr>
              <a:spLocks noChangeArrowheads="1"/>
            </p:cNvSpPr>
            <p:nvPr/>
          </p:nvSpPr>
          <p:spPr bwMode="auto">
            <a:xfrm>
              <a:off x="3668" y="1485"/>
              <a:ext cx="1727" cy="132"/>
            </a:xfrm>
            <a:prstGeom prst="ellipse">
              <a:avLst/>
            </a:prstGeom>
            <a:solidFill>
              <a:srgbClr val="B2B2B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50217" name="Line 18"/>
            <p:cNvSpPr>
              <a:spLocks noChangeShapeType="1"/>
            </p:cNvSpPr>
            <p:nvPr/>
          </p:nvSpPr>
          <p:spPr bwMode="auto">
            <a:xfrm>
              <a:off x="3639" y="1000"/>
              <a:ext cx="1756" cy="0"/>
            </a:xfrm>
            <a:prstGeom prst="line">
              <a:avLst/>
            </a:prstGeom>
            <a:noFill/>
            <a:ln w="952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0218" name="Object 19"/>
            <p:cNvGraphicFramePr>
              <a:graphicFrameLocks/>
            </p:cNvGraphicFramePr>
            <p:nvPr/>
          </p:nvGraphicFramePr>
          <p:xfrm>
            <a:off x="5128" y="2005"/>
            <a:ext cx="175" cy="265"/>
          </p:xfrm>
          <a:graphic>
            <a:graphicData uri="http://schemas.openxmlformats.org/presentationml/2006/ole">
              <mc:AlternateContent xmlns:mc="http://schemas.openxmlformats.org/markup-compatibility/2006">
                <mc:Choice xmlns:v="urn:schemas-microsoft-com:vml" Requires="v">
                  <p:oleObj spid="_x0000_s50467" name="公式" r:id="rId9" imgW="272869" imgH="412727" progId="Equation.3">
                    <p:embed/>
                  </p:oleObj>
                </mc:Choice>
                <mc:Fallback>
                  <p:oleObj name="公式" r:id="rId9" imgW="272869" imgH="412727" progId="Equation.3">
                    <p:embed/>
                    <p:pic>
                      <p:nvPicPr>
                        <p:cNvPr id="0" name="Object 1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28" y="2005"/>
                          <a:ext cx="175"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aphicFrame>
          <p:nvGraphicFramePr>
            <p:cNvPr id="50219" name="Object 20"/>
            <p:cNvGraphicFramePr>
              <a:graphicFrameLocks/>
            </p:cNvGraphicFramePr>
            <p:nvPr/>
          </p:nvGraphicFramePr>
          <p:xfrm>
            <a:off x="3812" y="2306"/>
            <a:ext cx="159" cy="199"/>
          </p:xfrm>
          <a:graphic>
            <a:graphicData uri="http://schemas.openxmlformats.org/presentationml/2006/ole">
              <mc:AlternateContent xmlns:mc="http://schemas.openxmlformats.org/markup-compatibility/2006">
                <mc:Choice xmlns:v="urn:schemas-microsoft-com:vml" Requires="v">
                  <p:oleObj spid="_x0000_s50468" name="公式" r:id="rId11" imgW="247572" imgH="311312" progId="Equation.3">
                    <p:embed/>
                  </p:oleObj>
                </mc:Choice>
                <mc:Fallback>
                  <p:oleObj name="公式" r:id="rId11" imgW="247572" imgH="311312" progId="Equation.3">
                    <p:embed/>
                    <p:pic>
                      <p:nvPicPr>
                        <p:cNvPr id="0" name="Object 20"/>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2" y="2306"/>
                          <a:ext cx="159"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aphicFrame>
          <p:nvGraphicFramePr>
            <p:cNvPr id="50220" name="Object 21"/>
            <p:cNvGraphicFramePr>
              <a:graphicFrameLocks/>
            </p:cNvGraphicFramePr>
            <p:nvPr/>
          </p:nvGraphicFramePr>
          <p:xfrm>
            <a:off x="5109" y="2258"/>
            <a:ext cx="199" cy="265"/>
          </p:xfrm>
          <a:graphic>
            <a:graphicData uri="http://schemas.openxmlformats.org/presentationml/2006/ole">
              <mc:AlternateContent xmlns:mc="http://schemas.openxmlformats.org/markup-compatibility/2006">
                <mc:Choice xmlns:v="urn:schemas-microsoft-com:vml" Requires="v">
                  <p:oleObj spid="_x0000_s50469" name="公式" r:id="rId13" imgW="311020" imgH="412727" progId="Equation.3">
                    <p:embed/>
                  </p:oleObj>
                </mc:Choice>
                <mc:Fallback>
                  <p:oleObj name="公式" r:id="rId13" imgW="311020" imgH="412727" progId="Equation.3">
                    <p:embed/>
                    <p:pic>
                      <p:nvPicPr>
                        <p:cNvPr id="0" name="Object 21"/>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09" y="2258"/>
                          <a:ext cx="199"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aphicFrame>
          <p:nvGraphicFramePr>
            <p:cNvPr id="50221" name="Object 22"/>
            <p:cNvGraphicFramePr>
              <a:graphicFrameLocks/>
            </p:cNvGraphicFramePr>
            <p:nvPr/>
          </p:nvGraphicFramePr>
          <p:xfrm>
            <a:off x="5109" y="2485"/>
            <a:ext cx="175" cy="265"/>
          </p:xfrm>
          <a:graphic>
            <a:graphicData uri="http://schemas.openxmlformats.org/presentationml/2006/ole">
              <mc:AlternateContent xmlns:mc="http://schemas.openxmlformats.org/markup-compatibility/2006">
                <mc:Choice xmlns:v="urn:schemas-microsoft-com:vml" Requires="v">
                  <p:oleObj spid="_x0000_s50470" name="公式" r:id="rId15" imgW="272869" imgH="412727" progId="Equation.3">
                    <p:embed/>
                  </p:oleObj>
                </mc:Choice>
                <mc:Fallback>
                  <p:oleObj name="公式" r:id="rId15" imgW="272869" imgH="412727" progId="Equation.3">
                    <p:embed/>
                    <p:pic>
                      <p:nvPicPr>
                        <p:cNvPr id="0" name="Object 22"/>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09" y="2485"/>
                          <a:ext cx="175"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pSp>
      <p:sp>
        <p:nvSpPr>
          <p:cNvPr id="104471" name="Line 23"/>
          <p:cNvSpPr>
            <a:spLocks noChangeShapeType="1"/>
          </p:cNvSpPr>
          <p:nvPr/>
        </p:nvSpPr>
        <p:spPr bwMode="auto">
          <a:xfrm>
            <a:off x="7597775" y="4094163"/>
            <a:ext cx="152400" cy="406400"/>
          </a:xfrm>
          <a:prstGeom prst="line">
            <a:avLst/>
          </a:prstGeom>
          <a:noFill/>
          <a:ln w="190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2" name="Line 24"/>
          <p:cNvSpPr>
            <a:spLocks noChangeShapeType="1"/>
          </p:cNvSpPr>
          <p:nvPr/>
        </p:nvSpPr>
        <p:spPr bwMode="auto">
          <a:xfrm>
            <a:off x="7396163" y="4505325"/>
            <a:ext cx="274637" cy="787400"/>
          </a:xfrm>
          <a:prstGeom prst="line">
            <a:avLst/>
          </a:prstGeom>
          <a:noFill/>
          <a:ln w="190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3" name="Line 25"/>
          <p:cNvSpPr>
            <a:spLocks noChangeShapeType="1"/>
          </p:cNvSpPr>
          <p:nvPr/>
        </p:nvSpPr>
        <p:spPr bwMode="auto">
          <a:xfrm>
            <a:off x="7751763" y="4505325"/>
            <a:ext cx="274637" cy="841375"/>
          </a:xfrm>
          <a:prstGeom prst="line">
            <a:avLst/>
          </a:prstGeom>
          <a:noFill/>
          <a:ln w="190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4" name="Line 26"/>
          <p:cNvSpPr>
            <a:spLocks noChangeShapeType="1"/>
          </p:cNvSpPr>
          <p:nvPr/>
        </p:nvSpPr>
        <p:spPr bwMode="auto">
          <a:xfrm flipH="1">
            <a:off x="7578725" y="5503863"/>
            <a:ext cx="138113" cy="733425"/>
          </a:xfrm>
          <a:prstGeom prst="line">
            <a:avLst/>
          </a:prstGeom>
          <a:noFill/>
          <a:ln w="190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5" name="Line 27"/>
          <p:cNvSpPr>
            <a:spLocks noChangeShapeType="1"/>
          </p:cNvSpPr>
          <p:nvPr/>
        </p:nvSpPr>
        <p:spPr bwMode="auto">
          <a:xfrm flipH="1">
            <a:off x="7585075" y="5487988"/>
            <a:ext cx="431800" cy="749300"/>
          </a:xfrm>
          <a:prstGeom prst="line">
            <a:avLst/>
          </a:prstGeom>
          <a:noFill/>
          <a:ln w="190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4476" name="Group 28"/>
          <p:cNvGrpSpPr>
            <a:grpSpLocks/>
          </p:cNvGrpSpPr>
          <p:nvPr/>
        </p:nvGrpSpPr>
        <p:grpSpPr bwMode="auto">
          <a:xfrm>
            <a:off x="5776913" y="4452938"/>
            <a:ext cx="2787650" cy="1785937"/>
            <a:chOff x="3652" y="2487"/>
            <a:chExt cx="1756" cy="1125"/>
          </a:xfrm>
        </p:grpSpPr>
        <p:sp>
          <p:nvSpPr>
            <p:cNvPr id="50211" name="Oval 29"/>
            <p:cNvSpPr>
              <a:spLocks noChangeArrowheads="1"/>
            </p:cNvSpPr>
            <p:nvPr/>
          </p:nvSpPr>
          <p:spPr bwMode="auto">
            <a:xfrm>
              <a:off x="3652" y="3016"/>
              <a:ext cx="1727" cy="133"/>
            </a:xfrm>
            <a:prstGeom prst="ellipse">
              <a:avLst/>
            </a:prstGeom>
            <a:solidFill>
              <a:srgbClr val="B2B2B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50212" name="Line 30"/>
            <p:cNvSpPr>
              <a:spLocks noChangeShapeType="1"/>
            </p:cNvSpPr>
            <p:nvPr/>
          </p:nvSpPr>
          <p:spPr bwMode="auto">
            <a:xfrm>
              <a:off x="3652" y="3612"/>
              <a:ext cx="1756" cy="0"/>
            </a:xfrm>
            <a:prstGeom prst="line">
              <a:avLst/>
            </a:prstGeom>
            <a:noFill/>
            <a:ln w="952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3" name="Line 31"/>
            <p:cNvSpPr>
              <a:spLocks noChangeShapeType="1"/>
            </p:cNvSpPr>
            <p:nvPr/>
          </p:nvSpPr>
          <p:spPr bwMode="auto">
            <a:xfrm>
              <a:off x="4544" y="2487"/>
              <a:ext cx="0" cy="1125"/>
            </a:xfrm>
            <a:prstGeom prst="line">
              <a:avLst/>
            </a:prstGeom>
            <a:noFill/>
            <a:ln w="19050">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4480" name="Line 32"/>
          <p:cNvSpPr>
            <a:spLocks noChangeShapeType="1"/>
          </p:cNvSpPr>
          <p:nvPr/>
        </p:nvSpPr>
        <p:spPr bwMode="auto">
          <a:xfrm>
            <a:off x="7226300" y="5545138"/>
            <a:ext cx="320675" cy="682625"/>
          </a:xfrm>
          <a:prstGeom prst="line">
            <a:avLst/>
          </a:prstGeom>
          <a:noFill/>
          <a:ln w="19050">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81" name="Line 33"/>
          <p:cNvSpPr>
            <a:spLocks noChangeShapeType="1"/>
          </p:cNvSpPr>
          <p:nvPr/>
        </p:nvSpPr>
        <p:spPr bwMode="auto">
          <a:xfrm>
            <a:off x="8629650" y="4481513"/>
            <a:ext cx="0" cy="388937"/>
          </a:xfrm>
          <a:prstGeom prst="line">
            <a:avLst/>
          </a:prstGeom>
          <a:noFill/>
          <a:ln w="76200">
            <a:solidFill>
              <a:srgbClr val="FFC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82" name="Text Box 34"/>
          <p:cNvSpPr txBox="1">
            <a:spLocks noChangeArrowheads="1"/>
          </p:cNvSpPr>
          <p:nvPr/>
        </p:nvSpPr>
        <p:spPr bwMode="auto">
          <a:xfrm>
            <a:off x="719138" y="4725988"/>
            <a:ext cx="49196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algn="just" eaLnBrk="1" hangingPunct="1">
              <a:spcBef>
                <a:spcPct val="50000"/>
              </a:spcBef>
            </a:pPr>
            <a:r>
              <a:rPr lang="en-US" altLang="zh-CN" sz="2400" b="1">
                <a:solidFill>
                  <a:srgbClr val="000000"/>
                </a:solidFill>
              </a:rPr>
              <a:t>(3) </a:t>
            </a:r>
            <a:r>
              <a:rPr lang="zh-CN" altLang="en-US" sz="2400" b="1">
                <a:solidFill>
                  <a:srgbClr val="000000"/>
                </a:solidFill>
              </a:rPr>
              <a:t>使用</a:t>
            </a:r>
            <a:r>
              <a:rPr lang="zh-CN" altLang="en-US" sz="2400" b="1">
                <a:solidFill>
                  <a:srgbClr val="000000"/>
                </a:solidFill>
                <a:latin typeface="宋体" pitchFamily="2" charset="-122"/>
              </a:rPr>
              <a:t>面光源</a:t>
            </a:r>
            <a:r>
              <a:rPr lang="zh-CN" altLang="en-US" sz="2400" b="1">
                <a:solidFill>
                  <a:srgbClr val="000000"/>
                </a:solidFill>
                <a:latin typeface="Arial" pitchFamily="34" charset="0"/>
              </a:rPr>
              <a:t>条纹更清楚明亮</a:t>
            </a:r>
          </a:p>
        </p:txBody>
      </p:sp>
      <p:sp>
        <p:nvSpPr>
          <p:cNvPr id="104483" name="Text Box 35"/>
          <p:cNvSpPr txBox="1">
            <a:spLocks noChangeArrowheads="1"/>
          </p:cNvSpPr>
          <p:nvPr/>
        </p:nvSpPr>
        <p:spPr bwMode="auto">
          <a:xfrm>
            <a:off x="725488" y="5421313"/>
            <a:ext cx="54308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algn="just" eaLnBrk="1" hangingPunct="1">
              <a:spcBef>
                <a:spcPct val="50000"/>
              </a:spcBef>
            </a:pPr>
            <a:r>
              <a:rPr lang="en-US" altLang="zh-CN" sz="2400" b="1">
                <a:solidFill>
                  <a:srgbClr val="000000"/>
                </a:solidFill>
              </a:rPr>
              <a:t>(5) </a:t>
            </a:r>
            <a:r>
              <a:rPr lang="zh-CN" altLang="en-US" sz="2400" b="1">
                <a:solidFill>
                  <a:srgbClr val="000000"/>
                </a:solidFill>
                <a:latin typeface="宋体" pitchFamily="2" charset="-122"/>
              </a:rPr>
              <a:t>透射光图样</a:t>
            </a:r>
            <a:r>
              <a:rPr lang="zh-CN" altLang="en-US" sz="2400" b="1">
                <a:solidFill>
                  <a:srgbClr val="000000"/>
                </a:solidFill>
                <a:latin typeface="Arial" pitchFamily="34" charset="0"/>
              </a:rPr>
              <a:t>与反射光图样互补</a:t>
            </a:r>
          </a:p>
        </p:txBody>
      </p:sp>
      <p:sp>
        <p:nvSpPr>
          <p:cNvPr id="104484" name="Line 36"/>
          <p:cNvSpPr>
            <a:spLocks noChangeShapeType="1"/>
          </p:cNvSpPr>
          <p:nvPr/>
        </p:nvSpPr>
        <p:spPr bwMode="auto">
          <a:xfrm>
            <a:off x="7202488" y="4090988"/>
            <a:ext cx="182562" cy="419100"/>
          </a:xfrm>
          <a:prstGeom prst="line">
            <a:avLst/>
          </a:prstGeom>
          <a:noFill/>
          <a:ln w="190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85" name="Line 37"/>
          <p:cNvSpPr>
            <a:spLocks noChangeShapeType="1"/>
          </p:cNvSpPr>
          <p:nvPr/>
        </p:nvSpPr>
        <p:spPr bwMode="auto">
          <a:xfrm flipV="1">
            <a:off x="7397750" y="4102100"/>
            <a:ext cx="182563" cy="419100"/>
          </a:xfrm>
          <a:prstGeom prst="line">
            <a:avLst/>
          </a:prstGeom>
          <a:noFill/>
          <a:ln w="1905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4486" name="Object 38"/>
          <p:cNvGraphicFramePr>
            <a:graphicFrameLocks/>
          </p:cNvGraphicFramePr>
          <p:nvPr/>
        </p:nvGraphicFramePr>
        <p:xfrm>
          <a:off x="7175500" y="4427538"/>
          <a:ext cx="227013" cy="301625"/>
        </p:xfrm>
        <a:graphic>
          <a:graphicData uri="http://schemas.openxmlformats.org/presentationml/2006/ole">
            <mc:AlternateContent xmlns:mc="http://schemas.openxmlformats.org/markup-compatibility/2006">
              <mc:Choice xmlns:v="urn:schemas-microsoft-com:vml" Requires="v">
                <p:oleObj spid="_x0000_s50471" name="公式" r:id="rId17" imgW="222276" imgH="298427" progId="Equation.3">
                  <p:embed/>
                </p:oleObj>
              </mc:Choice>
              <mc:Fallback>
                <p:oleObj name="公式" r:id="rId17" imgW="222276" imgH="298427" progId="Equation.3">
                  <p:embed/>
                  <p:pic>
                    <p:nvPicPr>
                      <p:cNvPr id="0" name="Object 38"/>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175500" y="4427538"/>
                        <a:ext cx="227013"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sp>
        <p:nvSpPr>
          <p:cNvPr id="104487" name="Line 39"/>
          <p:cNvSpPr>
            <a:spLocks noChangeShapeType="1"/>
          </p:cNvSpPr>
          <p:nvPr/>
        </p:nvSpPr>
        <p:spPr bwMode="auto">
          <a:xfrm>
            <a:off x="5829300" y="4870450"/>
            <a:ext cx="2630488" cy="0"/>
          </a:xfrm>
          <a:prstGeom prst="line">
            <a:avLst/>
          </a:prstGeom>
          <a:noFill/>
          <a:ln w="38100">
            <a:solidFill>
              <a:srgbClr val="66FF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4488" name="Object 40"/>
          <p:cNvGraphicFramePr>
            <a:graphicFrameLocks/>
          </p:cNvGraphicFramePr>
          <p:nvPr/>
        </p:nvGraphicFramePr>
        <p:xfrm>
          <a:off x="7232650" y="5856288"/>
          <a:ext cx="139700" cy="292100"/>
        </p:xfrm>
        <a:graphic>
          <a:graphicData uri="http://schemas.openxmlformats.org/presentationml/2006/ole">
            <mc:AlternateContent xmlns:mc="http://schemas.openxmlformats.org/markup-compatibility/2006">
              <mc:Choice xmlns:v="urn:schemas-microsoft-com:vml" Requires="v">
                <p:oleObj spid="_x0000_s50472" name="公式" r:id="rId19" imgW="133531" imgH="285958" progId="Equation.3">
                  <p:embed/>
                </p:oleObj>
              </mc:Choice>
              <mc:Fallback>
                <p:oleObj name="公式" r:id="rId19" imgW="133531" imgH="285958" progId="Equation.3">
                  <p:embed/>
                  <p:pic>
                    <p:nvPicPr>
                      <p:cNvPr id="0" name="Object 40"/>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232650" y="5856288"/>
                        <a:ext cx="1397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sp>
        <p:nvSpPr>
          <p:cNvPr id="50207" name="AutoShape 41"/>
          <p:cNvSpPr>
            <a:spLocks noChangeAspect="1" noChangeArrowheads="1" noTextEdit="1"/>
          </p:cNvSpPr>
          <p:nvPr/>
        </p:nvSpPr>
        <p:spPr bwMode="auto">
          <a:xfrm>
            <a:off x="8597900" y="1900238"/>
            <a:ext cx="2667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 name="矩形 1"/>
          <p:cNvSpPr/>
          <p:nvPr/>
        </p:nvSpPr>
        <p:spPr>
          <a:xfrm>
            <a:off x="684213" y="260350"/>
            <a:ext cx="2095500" cy="523875"/>
          </a:xfrm>
          <a:prstGeom prst="rect">
            <a:avLst/>
          </a:prstGeom>
        </p:spPr>
        <p:txBody>
          <a:bodyPr wrap="none">
            <a:spAutoFit/>
          </a:bodyPr>
          <a:lstStyle/>
          <a:p>
            <a:pPr>
              <a:defRPr/>
            </a:pPr>
            <a:r>
              <a:rPr lang="en-US" altLang="zh-CN" sz="2800" b="1" dirty="0">
                <a:solidFill>
                  <a:srgbClr val="FF0000"/>
                </a:solidFill>
                <a:latin typeface="+mn-ea"/>
                <a:ea typeface="+mn-ea"/>
              </a:rPr>
              <a:t>6.</a:t>
            </a:r>
            <a:r>
              <a:rPr lang="en-US" altLang="zh-CN" sz="2800" b="1" dirty="0">
                <a:solidFill>
                  <a:srgbClr val="FF0000"/>
                </a:solidFill>
                <a:latin typeface="Tahoma" pitchFamily="34" charset="0"/>
              </a:rPr>
              <a:t> </a:t>
            </a:r>
            <a:r>
              <a:rPr lang="zh-CN" altLang="en-US" sz="2800" b="1" dirty="0">
                <a:solidFill>
                  <a:srgbClr val="FF0000"/>
                </a:solidFill>
                <a:latin typeface="Tahoma" pitchFamily="34" charset="0"/>
              </a:rPr>
              <a:t>等倾干涉</a:t>
            </a:r>
            <a:endParaRPr lang="zh-CN" altLang="en-US" sz="2400" dirty="0">
              <a:solidFill>
                <a:srgbClr val="000000"/>
              </a:solidFill>
              <a:latin typeface="Tahoma" pitchFamily="34" charset="0"/>
            </a:endParaRPr>
          </a:p>
        </p:txBody>
      </p:sp>
      <p:graphicFrame>
        <p:nvGraphicFramePr>
          <p:cNvPr id="50209" name="Object 4"/>
          <p:cNvGraphicFramePr>
            <a:graphicFrameLocks noChangeAspect="1"/>
          </p:cNvGraphicFramePr>
          <p:nvPr/>
        </p:nvGraphicFramePr>
        <p:xfrm>
          <a:off x="3059113" y="188913"/>
          <a:ext cx="3817937" cy="781050"/>
        </p:xfrm>
        <a:graphic>
          <a:graphicData uri="http://schemas.openxmlformats.org/presentationml/2006/ole">
            <mc:AlternateContent xmlns:mc="http://schemas.openxmlformats.org/markup-compatibility/2006">
              <mc:Choice xmlns:v="urn:schemas-microsoft-com:vml" Requires="v">
                <p:oleObj spid="_x0000_s50473" name="公式" r:id="rId21" imgW="1993680" imgH="406080" progId="Equation.3">
                  <p:embed/>
                </p:oleObj>
              </mc:Choice>
              <mc:Fallback>
                <p:oleObj name="公式" r:id="rId21" imgW="1993680" imgH="406080" progId="Equation.3">
                  <p:embed/>
                  <p:pic>
                    <p:nvPicPr>
                      <p:cNvPr id="0" name="Object 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059113" y="188913"/>
                        <a:ext cx="3817937"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p:cNvGraphicFramePr>
          <p:nvPr/>
        </p:nvGraphicFramePr>
        <p:xfrm>
          <a:off x="7451725" y="6305550"/>
          <a:ext cx="279400" cy="292100"/>
        </p:xfrm>
        <a:graphic>
          <a:graphicData uri="http://schemas.openxmlformats.org/presentationml/2006/ole">
            <mc:AlternateContent xmlns:mc="http://schemas.openxmlformats.org/markup-compatibility/2006">
              <mc:Choice xmlns:v="urn:schemas-microsoft-com:vml" Requires="v">
                <p:oleObj spid="_x0000_s50474" name="公式" r:id="rId23" imgW="272869" imgH="285958" progId="Equation.3">
                  <p:embed/>
                </p:oleObj>
              </mc:Choice>
              <mc:Fallback>
                <p:oleObj name="公式" r:id="rId23" imgW="272869" imgH="285958" progId="Equation.3">
                  <p:embed/>
                  <p:pic>
                    <p:nvPicPr>
                      <p:cNvPr id="0" name="对象 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1725" y="6305550"/>
                        <a:ext cx="2794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4451"/>
                                        </p:tgtEl>
                                        <p:attrNameLst>
                                          <p:attrName>style.visibility</p:attrName>
                                        </p:attrNameLst>
                                      </p:cBhvr>
                                      <p:to>
                                        <p:strVal val="visible"/>
                                      </p:to>
                                    </p:set>
                                    <p:animEffect transition="in" filter="wipe(left)">
                                      <p:cBhvr>
                                        <p:cTn id="7" dur="500"/>
                                        <p:tgtEl>
                                          <p:spTgt spid="1044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4450"/>
                                        </p:tgtEl>
                                        <p:attrNameLst>
                                          <p:attrName>style.visibility</p:attrName>
                                        </p:attrNameLst>
                                      </p:cBhvr>
                                      <p:to>
                                        <p:strVal val="visible"/>
                                      </p:to>
                                    </p:set>
                                    <p:animEffect transition="in" filter="wipe(left)">
                                      <p:cBhvr>
                                        <p:cTn id="12" dur="500"/>
                                        <p:tgtEl>
                                          <p:spTgt spid="1044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nodeType="clickEffect">
                                  <p:stCondLst>
                                    <p:cond delay="0"/>
                                  </p:stCondLst>
                                  <p:childTnLst>
                                    <p:set>
                                      <p:cBhvr>
                                        <p:cTn id="16" dur="1" fill="hold">
                                          <p:stCondLst>
                                            <p:cond delay="0"/>
                                          </p:stCondLst>
                                        </p:cTn>
                                        <p:tgtEl>
                                          <p:spTgt spid="104462"/>
                                        </p:tgtEl>
                                        <p:attrNameLst>
                                          <p:attrName>style.visibility</p:attrName>
                                        </p:attrNameLst>
                                      </p:cBhvr>
                                      <p:to>
                                        <p:strVal val="visible"/>
                                      </p:to>
                                    </p:set>
                                    <p:anim calcmode="lin" valueType="num">
                                      <p:cBhvr>
                                        <p:cTn id="17" dur="500" fill="hold"/>
                                        <p:tgtEl>
                                          <p:spTgt spid="104462"/>
                                        </p:tgtEl>
                                        <p:attrNameLst>
                                          <p:attrName>ppt_w</p:attrName>
                                        </p:attrNameLst>
                                      </p:cBhvr>
                                      <p:tavLst>
                                        <p:tav tm="0">
                                          <p:val>
                                            <p:fltVal val="0"/>
                                          </p:val>
                                        </p:tav>
                                        <p:tav tm="100000">
                                          <p:val>
                                            <p:strVal val="#ppt_w"/>
                                          </p:val>
                                        </p:tav>
                                      </p:tavLst>
                                    </p:anim>
                                    <p:anim calcmode="lin" valueType="num">
                                      <p:cBhvr>
                                        <p:cTn id="18" dur="500" fill="hold"/>
                                        <p:tgtEl>
                                          <p:spTgt spid="104462"/>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04453"/>
                                        </p:tgtEl>
                                        <p:attrNameLst>
                                          <p:attrName>style.visibility</p:attrName>
                                        </p:attrNameLst>
                                      </p:cBhvr>
                                      <p:to>
                                        <p:strVal val="visible"/>
                                      </p:to>
                                    </p:set>
                                    <p:animEffect transition="in" filter="wipe(up)">
                                      <p:cBhvr>
                                        <p:cTn id="23" dur="500"/>
                                        <p:tgtEl>
                                          <p:spTgt spid="10445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04454"/>
                                        </p:tgtEl>
                                        <p:attrNameLst>
                                          <p:attrName>style.visibility</p:attrName>
                                        </p:attrNameLst>
                                      </p:cBhvr>
                                      <p:to>
                                        <p:strVal val="visible"/>
                                      </p:to>
                                    </p:set>
                                    <p:animEffect transition="in" filter="wipe(down)">
                                      <p:cBhvr>
                                        <p:cTn id="28" dur="500"/>
                                        <p:tgtEl>
                                          <p:spTgt spid="10445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04456"/>
                                        </p:tgtEl>
                                        <p:attrNameLst>
                                          <p:attrName>style.visibility</p:attrName>
                                        </p:attrNameLst>
                                      </p:cBhvr>
                                      <p:to>
                                        <p:strVal val="visible"/>
                                      </p:to>
                                    </p:set>
                                    <p:animEffect transition="in" filter="wipe(down)">
                                      <p:cBhvr>
                                        <p:cTn id="33" dur="500"/>
                                        <p:tgtEl>
                                          <p:spTgt spid="10445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04484"/>
                                        </p:tgtEl>
                                        <p:attrNameLst>
                                          <p:attrName>style.visibility</p:attrName>
                                        </p:attrNameLst>
                                      </p:cBhvr>
                                      <p:to>
                                        <p:strVal val="visible"/>
                                      </p:to>
                                    </p:set>
                                    <p:animEffect transition="in" filter="wipe(up)">
                                      <p:cBhvr>
                                        <p:cTn id="38" dur="500"/>
                                        <p:tgtEl>
                                          <p:spTgt spid="10448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04485"/>
                                        </p:tgtEl>
                                        <p:attrNameLst>
                                          <p:attrName>style.visibility</p:attrName>
                                        </p:attrNameLst>
                                      </p:cBhvr>
                                      <p:to>
                                        <p:strVal val="visible"/>
                                      </p:to>
                                    </p:set>
                                    <p:animEffect transition="in" filter="wipe(down)">
                                      <p:cBhvr>
                                        <p:cTn id="43" dur="500"/>
                                        <p:tgtEl>
                                          <p:spTgt spid="10448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04455"/>
                                        </p:tgtEl>
                                        <p:attrNameLst>
                                          <p:attrName>style.visibility</p:attrName>
                                        </p:attrNameLst>
                                      </p:cBhvr>
                                      <p:to>
                                        <p:strVal val="visible"/>
                                      </p:to>
                                    </p:set>
                                    <p:animEffect transition="in" filter="wipe(down)">
                                      <p:cBhvr>
                                        <p:cTn id="48" dur="500"/>
                                        <p:tgtEl>
                                          <p:spTgt spid="10445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04457"/>
                                        </p:tgtEl>
                                        <p:attrNameLst>
                                          <p:attrName>style.visibility</p:attrName>
                                        </p:attrNameLst>
                                      </p:cBhvr>
                                      <p:to>
                                        <p:strVal val="visible"/>
                                      </p:to>
                                    </p:set>
                                    <p:animEffect transition="in" filter="wipe(down)">
                                      <p:cBhvr>
                                        <p:cTn id="53" dur="500"/>
                                        <p:tgtEl>
                                          <p:spTgt spid="10445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nodeType="clickEffect">
                                  <p:stCondLst>
                                    <p:cond delay="0"/>
                                  </p:stCondLst>
                                  <p:childTnLst>
                                    <p:set>
                                      <p:cBhvr>
                                        <p:cTn id="57" dur="1" fill="hold">
                                          <p:stCondLst>
                                            <p:cond delay="0"/>
                                          </p:stCondLst>
                                        </p:cTn>
                                        <p:tgtEl>
                                          <p:spTgt spid="104459"/>
                                        </p:tgtEl>
                                        <p:attrNameLst>
                                          <p:attrName>style.visibility</p:attrName>
                                        </p:attrNameLst>
                                      </p:cBhvr>
                                      <p:to>
                                        <p:strVal val="visible"/>
                                      </p:to>
                                    </p:set>
                                    <p:animEffect transition="in" filter="wipe(down)">
                                      <p:cBhvr>
                                        <p:cTn id="58" dur="500"/>
                                        <p:tgtEl>
                                          <p:spTgt spid="10445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nodeType="clickEffect">
                                  <p:stCondLst>
                                    <p:cond delay="0"/>
                                  </p:stCondLst>
                                  <p:childTnLst>
                                    <p:set>
                                      <p:cBhvr>
                                        <p:cTn id="62" dur="1" fill="hold">
                                          <p:stCondLst>
                                            <p:cond delay="0"/>
                                          </p:stCondLst>
                                        </p:cTn>
                                        <p:tgtEl>
                                          <p:spTgt spid="104458"/>
                                        </p:tgtEl>
                                        <p:attrNameLst>
                                          <p:attrName>style.visibility</p:attrName>
                                        </p:attrNameLst>
                                      </p:cBhvr>
                                      <p:to>
                                        <p:strVal val="visible"/>
                                      </p:to>
                                    </p:set>
                                    <p:animEffect transition="in" filter="wipe(down)">
                                      <p:cBhvr>
                                        <p:cTn id="63" dur="500"/>
                                        <p:tgtEl>
                                          <p:spTgt spid="10445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104461"/>
                                        </p:tgtEl>
                                        <p:attrNameLst>
                                          <p:attrName>style.visibility</p:attrName>
                                        </p:attrNameLst>
                                      </p:cBhvr>
                                      <p:to>
                                        <p:strVal val="visible"/>
                                      </p:to>
                                    </p:set>
                                    <p:animEffect transition="in" filter="wipe(down)">
                                      <p:cBhvr>
                                        <p:cTn id="68" dur="500"/>
                                        <p:tgtEl>
                                          <p:spTgt spid="10446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nodeType="clickEffect">
                                  <p:stCondLst>
                                    <p:cond delay="0"/>
                                  </p:stCondLst>
                                  <p:childTnLst>
                                    <p:set>
                                      <p:cBhvr>
                                        <p:cTn id="72" dur="1" fill="hold">
                                          <p:stCondLst>
                                            <p:cond delay="0"/>
                                          </p:stCondLst>
                                        </p:cTn>
                                        <p:tgtEl>
                                          <p:spTgt spid="104460"/>
                                        </p:tgtEl>
                                        <p:attrNameLst>
                                          <p:attrName>style.visibility</p:attrName>
                                        </p:attrNameLst>
                                      </p:cBhvr>
                                      <p:to>
                                        <p:strVal val="visible"/>
                                      </p:to>
                                    </p:set>
                                    <p:animEffect transition="in" filter="wipe(down)">
                                      <p:cBhvr>
                                        <p:cTn id="73" dur="500"/>
                                        <p:tgtEl>
                                          <p:spTgt spid="10446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04452"/>
                                        </p:tgtEl>
                                        <p:attrNameLst>
                                          <p:attrName>style.visibility</p:attrName>
                                        </p:attrNameLst>
                                      </p:cBhvr>
                                      <p:to>
                                        <p:strVal val="visible"/>
                                      </p:to>
                                    </p:set>
                                    <p:animEffect transition="in" filter="wipe(left)">
                                      <p:cBhvr>
                                        <p:cTn id="78" dur="500"/>
                                        <p:tgtEl>
                                          <p:spTgt spid="10445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104481"/>
                                        </p:tgtEl>
                                        <p:attrNameLst>
                                          <p:attrName>style.visibility</p:attrName>
                                        </p:attrNameLst>
                                      </p:cBhvr>
                                      <p:to>
                                        <p:strVal val="visible"/>
                                      </p:to>
                                    </p:set>
                                    <p:animEffect transition="in" filter="wipe(up)">
                                      <p:cBhvr>
                                        <p:cTn id="83" dur="500"/>
                                        <p:tgtEl>
                                          <p:spTgt spid="104481"/>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grpId="0" nodeType="clickEffect">
                                  <p:stCondLst>
                                    <p:cond delay="0"/>
                                  </p:stCondLst>
                                  <p:childTnLst>
                                    <p:set>
                                      <p:cBhvr>
                                        <p:cTn id="87" dur="1" fill="hold">
                                          <p:stCondLst>
                                            <p:cond delay="0"/>
                                          </p:stCondLst>
                                        </p:cTn>
                                        <p:tgtEl>
                                          <p:spTgt spid="104487"/>
                                        </p:tgtEl>
                                        <p:attrNameLst>
                                          <p:attrName>style.visibility</p:attrName>
                                        </p:attrNameLst>
                                      </p:cBhvr>
                                      <p:to>
                                        <p:strVal val="visible"/>
                                      </p:to>
                                    </p:set>
                                    <p:animEffect transition="in" filter="wipe(up)">
                                      <p:cBhvr>
                                        <p:cTn id="88" dur="500"/>
                                        <p:tgtEl>
                                          <p:spTgt spid="104487"/>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04482"/>
                                        </p:tgtEl>
                                        <p:attrNameLst>
                                          <p:attrName>style.visibility</p:attrName>
                                        </p:attrNameLst>
                                      </p:cBhvr>
                                      <p:to>
                                        <p:strVal val="visible"/>
                                      </p:to>
                                    </p:set>
                                    <p:animEffect transition="in" filter="wipe(left)">
                                      <p:cBhvr>
                                        <p:cTn id="93" dur="500"/>
                                        <p:tgtEl>
                                          <p:spTgt spid="104482"/>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04483"/>
                                        </p:tgtEl>
                                        <p:attrNameLst>
                                          <p:attrName>style.visibility</p:attrName>
                                        </p:attrNameLst>
                                      </p:cBhvr>
                                      <p:to>
                                        <p:strVal val="visible"/>
                                      </p:to>
                                    </p:set>
                                    <p:animEffect transition="in" filter="wipe(left)">
                                      <p:cBhvr>
                                        <p:cTn id="98" dur="500"/>
                                        <p:tgtEl>
                                          <p:spTgt spid="104483"/>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4" presetClass="entr" presetSubtype="32" fill="hold" nodeType="clickEffect">
                                  <p:stCondLst>
                                    <p:cond delay="0"/>
                                  </p:stCondLst>
                                  <p:childTnLst>
                                    <p:set>
                                      <p:cBhvr>
                                        <p:cTn id="102" dur="1" fill="hold">
                                          <p:stCondLst>
                                            <p:cond delay="0"/>
                                          </p:stCondLst>
                                        </p:cTn>
                                        <p:tgtEl>
                                          <p:spTgt spid="104476"/>
                                        </p:tgtEl>
                                        <p:attrNameLst>
                                          <p:attrName>style.visibility</p:attrName>
                                        </p:attrNameLst>
                                      </p:cBhvr>
                                      <p:to>
                                        <p:strVal val="visible"/>
                                      </p:to>
                                    </p:set>
                                    <p:animEffect transition="in" filter="box(out)">
                                      <p:cBhvr>
                                        <p:cTn id="103" dur="500"/>
                                        <p:tgtEl>
                                          <p:spTgt spid="104476"/>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1" fill="hold" grpId="0" nodeType="clickEffect">
                                  <p:stCondLst>
                                    <p:cond delay="0"/>
                                  </p:stCondLst>
                                  <p:childTnLst>
                                    <p:set>
                                      <p:cBhvr>
                                        <p:cTn id="107" dur="1" fill="hold">
                                          <p:stCondLst>
                                            <p:cond delay="0"/>
                                          </p:stCondLst>
                                        </p:cTn>
                                        <p:tgtEl>
                                          <p:spTgt spid="104471"/>
                                        </p:tgtEl>
                                        <p:attrNameLst>
                                          <p:attrName>style.visibility</p:attrName>
                                        </p:attrNameLst>
                                      </p:cBhvr>
                                      <p:to>
                                        <p:strVal val="visible"/>
                                      </p:to>
                                    </p:set>
                                    <p:animEffect transition="in" filter="wipe(up)">
                                      <p:cBhvr>
                                        <p:cTn id="108" dur="500"/>
                                        <p:tgtEl>
                                          <p:spTgt spid="104471"/>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104473"/>
                                        </p:tgtEl>
                                        <p:attrNameLst>
                                          <p:attrName>style.visibility</p:attrName>
                                        </p:attrNameLst>
                                      </p:cBhvr>
                                      <p:to>
                                        <p:strVal val="visible"/>
                                      </p:to>
                                    </p:set>
                                    <p:animEffect transition="in" filter="wipe(up)">
                                      <p:cBhvr>
                                        <p:cTn id="113" dur="500"/>
                                        <p:tgtEl>
                                          <p:spTgt spid="104473"/>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1" fill="hold" grpId="0" nodeType="clickEffect">
                                  <p:stCondLst>
                                    <p:cond delay="0"/>
                                  </p:stCondLst>
                                  <p:childTnLst>
                                    <p:set>
                                      <p:cBhvr>
                                        <p:cTn id="117" dur="1" fill="hold">
                                          <p:stCondLst>
                                            <p:cond delay="0"/>
                                          </p:stCondLst>
                                        </p:cTn>
                                        <p:tgtEl>
                                          <p:spTgt spid="104475"/>
                                        </p:tgtEl>
                                        <p:attrNameLst>
                                          <p:attrName>style.visibility</p:attrName>
                                        </p:attrNameLst>
                                      </p:cBhvr>
                                      <p:to>
                                        <p:strVal val="visible"/>
                                      </p:to>
                                    </p:set>
                                    <p:animEffect transition="in" filter="wipe(up)">
                                      <p:cBhvr>
                                        <p:cTn id="118" dur="500"/>
                                        <p:tgtEl>
                                          <p:spTgt spid="104475"/>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4" fill="hold" nodeType="clickEffect">
                                  <p:stCondLst>
                                    <p:cond delay="0"/>
                                  </p:stCondLst>
                                  <p:childTnLst>
                                    <p:set>
                                      <p:cBhvr>
                                        <p:cTn id="122" dur="1" fill="hold">
                                          <p:stCondLst>
                                            <p:cond delay="0"/>
                                          </p:stCondLst>
                                        </p:cTn>
                                        <p:tgtEl>
                                          <p:spTgt spid="104486"/>
                                        </p:tgtEl>
                                        <p:attrNameLst>
                                          <p:attrName>style.visibility</p:attrName>
                                        </p:attrNameLst>
                                      </p:cBhvr>
                                      <p:to>
                                        <p:strVal val="visible"/>
                                      </p:to>
                                    </p:set>
                                    <p:animEffect transition="in" filter="wipe(down)">
                                      <p:cBhvr>
                                        <p:cTn id="123" dur="500"/>
                                        <p:tgtEl>
                                          <p:spTgt spid="104486"/>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1" fill="hold" grpId="0" nodeType="clickEffect">
                                  <p:stCondLst>
                                    <p:cond delay="0"/>
                                  </p:stCondLst>
                                  <p:childTnLst>
                                    <p:set>
                                      <p:cBhvr>
                                        <p:cTn id="127" dur="1" fill="hold">
                                          <p:stCondLst>
                                            <p:cond delay="0"/>
                                          </p:stCondLst>
                                        </p:cTn>
                                        <p:tgtEl>
                                          <p:spTgt spid="104472"/>
                                        </p:tgtEl>
                                        <p:attrNameLst>
                                          <p:attrName>style.visibility</p:attrName>
                                        </p:attrNameLst>
                                      </p:cBhvr>
                                      <p:to>
                                        <p:strVal val="visible"/>
                                      </p:to>
                                    </p:set>
                                    <p:animEffect transition="in" filter="wipe(up)">
                                      <p:cBhvr>
                                        <p:cTn id="128" dur="500"/>
                                        <p:tgtEl>
                                          <p:spTgt spid="104472"/>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1" fill="hold" grpId="0" nodeType="clickEffect">
                                  <p:stCondLst>
                                    <p:cond delay="0"/>
                                  </p:stCondLst>
                                  <p:childTnLst>
                                    <p:set>
                                      <p:cBhvr>
                                        <p:cTn id="132" dur="1" fill="hold">
                                          <p:stCondLst>
                                            <p:cond delay="0"/>
                                          </p:stCondLst>
                                        </p:cTn>
                                        <p:tgtEl>
                                          <p:spTgt spid="104474"/>
                                        </p:tgtEl>
                                        <p:attrNameLst>
                                          <p:attrName>style.visibility</p:attrName>
                                        </p:attrNameLst>
                                      </p:cBhvr>
                                      <p:to>
                                        <p:strVal val="visible"/>
                                      </p:to>
                                    </p:set>
                                    <p:animEffect transition="in" filter="wipe(up)">
                                      <p:cBhvr>
                                        <p:cTn id="133" dur="500"/>
                                        <p:tgtEl>
                                          <p:spTgt spid="104474"/>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1" fill="hold" grpId="0" nodeType="clickEffect">
                                  <p:stCondLst>
                                    <p:cond delay="0"/>
                                  </p:stCondLst>
                                  <p:childTnLst>
                                    <p:set>
                                      <p:cBhvr>
                                        <p:cTn id="137" dur="1" fill="hold">
                                          <p:stCondLst>
                                            <p:cond delay="0"/>
                                          </p:stCondLst>
                                        </p:cTn>
                                        <p:tgtEl>
                                          <p:spTgt spid="104480"/>
                                        </p:tgtEl>
                                        <p:attrNameLst>
                                          <p:attrName>style.visibility</p:attrName>
                                        </p:attrNameLst>
                                      </p:cBhvr>
                                      <p:to>
                                        <p:strVal val="visible"/>
                                      </p:to>
                                    </p:set>
                                    <p:animEffect transition="in" filter="wipe(up)">
                                      <p:cBhvr>
                                        <p:cTn id="138" dur="500"/>
                                        <p:tgtEl>
                                          <p:spTgt spid="104480"/>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4" fill="hold" nodeType="clickEffect">
                                  <p:stCondLst>
                                    <p:cond delay="0"/>
                                  </p:stCondLst>
                                  <p:childTnLst>
                                    <p:set>
                                      <p:cBhvr>
                                        <p:cTn id="142" dur="1" fill="hold">
                                          <p:stCondLst>
                                            <p:cond delay="0"/>
                                          </p:stCondLst>
                                        </p:cTn>
                                        <p:tgtEl>
                                          <p:spTgt spid="104488"/>
                                        </p:tgtEl>
                                        <p:attrNameLst>
                                          <p:attrName>style.visibility</p:attrName>
                                        </p:attrNameLst>
                                      </p:cBhvr>
                                      <p:to>
                                        <p:strVal val="visible"/>
                                      </p:to>
                                    </p:set>
                                    <p:animEffect transition="in" filter="wipe(down)">
                                      <p:cBhvr>
                                        <p:cTn id="143" dur="500"/>
                                        <p:tgtEl>
                                          <p:spTgt spid="104488"/>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4" fill="hold" nodeType="clickEffect">
                                  <p:stCondLst>
                                    <p:cond delay="0"/>
                                  </p:stCondLst>
                                  <p:childTnLst>
                                    <p:set>
                                      <p:cBhvr>
                                        <p:cTn id="147" dur="1" fill="hold">
                                          <p:stCondLst>
                                            <p:cond delay="0"/>
                                          </p:stCondLst>
                                        </p:cTn>
                                        <p:tgtEl>
                                          <p:spTgt spid="3"/>
                                        </p:tgtEl>
                                        <p:attrNameLst>
                                          <p:attrName>style.visibility</p:attrName>
                                        </p:attrNameLst>
                                      </p:cBhvr>
                                      <p:to>
                                        <p:strVal val="visible"/>
                                      </p:to>
                                    </p:set>
                                    <p:animEffect transition="in" filter="wipe(down)">
                                      <p:cBhvr>
                                        <p:cTn id="14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autoUpdateAnimBg="0"/>
      <p:bldP spid="104452" grpId="0" autoUpdateAnimBg="0"/>
      <p:bldP spid="104453" grpId="0" animBg="1"/>
      <p:bldP spid="104454" grpId="0" animBg="1"/>
      <p:bldP spid="104455" grpId="0" animBg="1"/>
      <p:bldP spid="104456" grpId="0" animBg="1"/>
      <p:bldP spid="104457" grpId="0" animBg="1"/>
      <p:bldP spid="104461" grpId="0" animBg="1"/>
      <p:bldP spid="104471" grpId="0" animBg="1"/>
      <p:bldP spid="104472" grpId="0" animBg="1"/>
      <p:bldP spid="104473" grpId="0" animBg="1"/>
      <p:bldP spid="104474" grpId="0" animBg="1"/>
      <p:bldP spid="104475" grpId="0" animBg="1"/>
      <p:bldP spid="104480" grpId="0" animBg="1"/>
      <p:bldP spid="104481" grpId="0" animBg="1"/>
      <p:bldP spid="104482" grpId="0" autoUpdateAnimBg="0"/>
      <p:bldP spid="104483" grpId="0" autoUpdateAnimBg="0"/>
      <p:bldP spid="104484" grpId="0" animBg="1"/>
      <p:bldP spid="104485" grpId="0" animBg="1"/>
      <p:bldP spid="10448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468313" y="1179513"/>
            <a:ext cx="8280400" cy="111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en-US" altLang="zh-CN" sz="2400" b="1">
                <a:solidFill>
                  <a:srgbClr val="FF0000"/>
                </a:solidFill>
                <a:latin typeface="Garamond" pitchFamily="18" charset="0"/>
              </a:rPr>
              <a:t>1. </a:t>
            </a:r>
            <a:r>
              <a:rPr lang="zh-CN" altLang="en-US" sz="2400" b="1">
                <a:solidFill>
                  <a:srgbClr val="000000"/>
                </a:solidFill>
                <a:latin typeface="宋体" pitchFamily="2" charset="-122"/>
              </a:rPr>
              <a:t>单色光</a:t>
            </a:r>
            <a:r>
              <a:rPr lang="en-US" altLang="zh-CN" sz="2400" b="1">
                <a:solidFill>
                  <a:srgbClr val="000000"/>
                </a:solidFill>
                <a:latin typeface="宋体" pitchFamily="2" charset="-122"/>
              </a:rPr>
              <a:t>λ</a:t>
            </a:r>
            <a:r>
              <a:rPr lang="zh-CN" altLang="en-US" sz="2400" b="1">
                <a:solidFill>
                  <a:srgbClr val="000000"/>
                </a:solidFill>
                <a:latin typeface="宋体" pitchFamily="2" charset="-122"/>
              </a:rPr>
              <a:t>垂直入射劈尖，讨论</a:t>
            </a:r>
            <a:r>
              <a:rPr lang="en-US" altLang="zh-CN" sz="2400" b="1">
                <a:solidFill>
                  <a:srgbClr val="000000"/>
                </a:solidFill>
                <a:latin typeface="宋体" pitchFamily="2" charset="-122"/>
              </a:rPr>
              <a:t>B</a:t>
            </a:r>
            <a:r>
              <a:rPr lang="zh-CN" altLang="en-US" sz="2400" b="1">
                <a:solidFill>
                  <a:srgbClr val="000000"/>
                </a:solidFill>
                <a:latin typeface="宋体" pitchFamily="2" charset="-122"/>
              </a:rPr>
              <a:t>处的光程差、</a:t>
            </a:r>
            <a:r>
              <a:rPr lang="en-US" altLang="zh-CN" sz="2400" b="1">
                <a:solidFill>
                  <a:srgbClr val="000000"/>
                </a:solidFill>
                <a:latin typeface="宋体" pitchFamily="2" charset="-122"/>
              </a:rPr>
              <a:t>A</a:t>
            </a:r>
            <a:r>
              <a:rPr lang="zh-CN" altLang="en-US" sz="2400" b="1">
                <a:solidFill>
                  <a:srgbClr val="000000"/>
                </a:solidFill>
                <a:latin typeface="宋体" pitchFamily="2" charset="-122"/>
              </a:rPr>
              <a:t>处是明纹还是暗纹？</a:t>
            </a:r>
          </a:p>
        </p:txBody>
      </p:sp>
      <p:graphicFrame>
        <p:nvGraphicFramePr>
          <p:cNvPr id="56323" name="Object 3"/>
          <p:cNvGraphicFramePr>
            <a:graphicFrameLocks noChangeAspect="1"/>
          </p:cNvGraphicFramePr>
          <p:nvPr/>
        </p:nvGraphicFramePr>
        <p:xfrm>
          <a:off x="1979613" y="4789488"/>
          <a:ext cx="1711325" cy="603250"/>
        </p:xfrm>
        <a:graphic>
          <a:graphicData uri="http://schemas.openxmlformats.org/presentationml/2006/ole">
            <mc:AlternateContent xmlns:mc="http://schemas.openxmlformats.org/markup-compatibility/2006">
              <mc:Choice xmlns:v="urn:schemas-microsoft-com:vml" Requires="v">
                <p:oleObj spid="_x0000_s51451" name="Equation" r:id="rId3" imgW="717420" imgH="222365" progId="Equation.3">
                  <p:embed/>
                </p:oleObj>
              </mc:Choice>
              <mc:Fallback>
                <p:oleObj name="Equation" r:id="rId3" imgW="717420" imgH="22236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4789488"/>
                        <a:ext cx="1711325"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9" name="Object 9"/>
          <p:cNvGraphicFramePr>
            <a:graphicFrameLocks noChangeAspect="1"/>
          </p:cNvGraphicFramePr>
          <p:nvPr/>
        </p:nvGraphicFramePr>
        <p:xfrm>
          <a:off x="1979613" y="5581650"/>
          <a:ext cx="1728787" cy="584200"/>
        </p:xfrm>
        <a:graphic>
          <a:graphicData uri="http://schemas.openxmlformats.org/presentationml/2006/ole">
            <mc:AlternateContent xmlns:mc="http://schemas.openxmlformats.org/markup-compatibility/2006">
              <mc:Choice xmlns:v="urn:schemas-microsoft-com:vml" Requires="v">
                <p:oleObj spid="_x0000_s51452" name="Equation" r:id="rId5" imgW="717420" imgH="222365" progId="Equation.3">
                  <p:embed/>
                </p:oleObj>
              </mc:Choice>
              <mc:Fallback>
                <p:oleObj name="Equation" r:id="rId5" imgW="717420" imgH="222365"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5581650"/>
                        <a:ext cx="17287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33" name="Object 13"/>
          <p:cNvGraphicFramePr>
            <a:graphicFrameLocks noChangeAspect="1"/>
          </p:cNvGraphicFramePr>
          <p:nvPr/>
        </p:nvGraphicFramePr>
        <p:xfrm>
          <a:off x="4643438" y="4789488"/>
          <a:ext cx="1655762" cy="604837"/>
        </p:xfrm>
        <a:graphic>
          <a:graphicData uri="http://schemas.openxmlformats.org/presentationml/2006/ole">
            <mc:AlternateContent xmlns:mc="http://schemas.openxmlformats.org/markup-compatibility/2006">
              <mc:Choice xmlns:v="urn:schemas-microsoft-com:vml" Requires="v">
                <p:oleObj spid="_x0000_s51453" name="Equation" r:id="rId7" imgW="717420" imgH="222365" progId="Equation.3">
                  <p:embed/>
                </p:oleObj>
              </mc:Choice>
              <mc:Fallback>
                <p:oleObj name="Equation" r:id="rId7" imgW="717420" imgH="222365"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3438" y="4789488"/>
                        <a:ext cx="1655762"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49" name="Object 29"/>
          <p:cNvGraphicFramePr>
            <a:graphicFrameLocks noChangeAspect="1"/>
          </p:cNvGraphicFramePr>
          <p:nvPr/>
        </p:nvGraphicFramePr>
        <p:xfrm>
          <a:off x="4643438" y="5510213"/>
          <a:ext cx="1655762" cy="584200"/>
        </p:xfrm>
        <a:graphic>
          <a:graphicData uri="http://schemas.openxmlformats.org/presentationml/2006/ole">
            <mc:AlternateContent xmlns:mc="http://schemas.openxmlformats.org/markup-compatibility/2006">
              <mc:Choice xmlns:v="urn:schemas-microsoft-com:vml" Requires="v">
                <p:oleObj spid="_x0000_s51454" name="Equation" r:id="rId9" imgW="717420" imgH="222365" progId="Equation.3">
                  <p:embed/>
                </p:oleObj>
              </mc:Choice>
              <mc:Fallback>
                <p:oleObj name="Equation" r:id="rId9" imgW="717420" imgH="222365" progId="Equation.3">
                  <p:embed/>
                  <p:pic>
                    <p:nvPicPr>
                      <p:cNvPr id="0"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3438" y="5510213"/>
                        <a:ext cx="16557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1207" name="Group 35"/>
          <p:cNvGrpSpPr>
            <a:grpSpLocks/>
          </p:cNvGrpSpPr>
          <p:nvPr/>
        </p:nvGrpSpPr>
        <p:grpSpPr bwMode="auto">
          <a:xfrm>
            <a:off x="2482850" y="2557463"/>
            <a:ext cx="3529013" cy="2016125"/>
            <a:chOff x="2426" y="2478"/>
            <a:chExt cx="2223" cy="1270"/>
          </a:xfrm>
        </p:grpSpPr>
        <p:sp>
          <p:nvSpPr>
            <p:cNvPr id="51209" name="Rectangle 34"/>
            <p:cNvSpPr>
              <a:spLocks noChangeArrowheads="1"/>
            </p:cNvSpPr>
            <p:nvPr/>
          </p:nvSpPr>
          <p:spPr bwMode="auto">
            <a:xfrm>
              <a:off x="2426" y="2478"/>
              <a:ext cx="2223" cy="127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pic>
          <p:nvPicPr>
            <p:cNvPr id="51210" name="Picture 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53" y="2795"/>
              <a:ext cx="1679"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11" name="Line 19"/>
            <p:cNvSpPr>
              <a:spLocks noChangeShapeType="1"/>
            </p:cNvSpPr>
            <p:nvPr/>
          </p:nvSpPr>
          <p:spPr bwMode="auto">
            <a:xfrm>
              <a:off x="3651" y="2994"/>
              <a:ext cx="672"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12" name="Line 20"/>
            <p:cNvSpPr>
              <a:spLocks noChangeShapeType="1"/>
            </p:cNvSpPr>
            <p:nvPr/>
          </p:nvSpPr>
          <p:spPr bwMode="auto">
            <a:xfrm>
              <a:off x="4212" y="3167"/>
              <a:ext cx="96"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13" name="Line 21"/>
            <p:cNvSpPr>
              <a:spLocks noChangeShapeType="1"/>
            </p:cNvSpPr>
            <p:nvPr/>
          </p:nvSpPr>
          <p:spPr bwMode="auto">
            <a:xfrm>
              <a:off x="4260" y="2735"/>
              <a:ext cx="0" cy="288"/>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14" name="Line 22"/>
            <p:cNvSpPr>
              <a:spLocks noChangeShapeType="1"/>
            </p:cNvSpPr>
            <p:nvPr/>
          </p:nvSpPr>
          <p:spPr bwMode="auto">
            <a:xfrm flipV="1">
              <a:off x="4260" y="3167"/>
              <a:ext cx="0" cy="336"/>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1215" name="Object 23"/>
            <p:cNvGraphicFramePr>
              <a:graphicFrameLocks noChangeAspect="1"/>
            </p:cNvGraphicFramePr>
            <p:nvPr/>
          </p:nvGraphicFramePr>
          <p:xfrm>
            <a:off x="4264" y="2975"/>
            <a:ext cx="188" cy="225"/>
          </p:xfrm>
          <a:graphic>
            <a:graphicData uri="http://schemas.openxmlformats.org/presentationml/2006/ole">
              <mc:AlternateContent xmlns:mc="http://schemas.openxmlformats.org/markup-compatibility/2006">
                <mc:Choice xmlns:v="urn:schemas-microsoft-com:vml" Requires="v">
                  <p:oleObj spid="_x0000_s51455" name="Equation" r:id="rId12" imgW="133531" imgH="171658" progId="Equation.3">
                    <p:embed/>
                  </p:oleObj>
                </mc:Choice>
                <mc:Fallback>
                  <p:oleObj name="Equation" r:id="rId12" imgW="133531" imgH="171658" progId="Equation.3">
                    <p:embed/>
                    <p:pic>
                      <p:nvPicPr>
                        <p:cNvPr id="0" name="Object 2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64" y="2975"/>
                          <a:ext cx="188"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1216" name="Object 24"/>
            <p:cNvGraphicFramePr>
              <a:graphicFrameLocks noChangeAspect="1"/>
            </p:cNvGraphicFramePr>
            <p:nvPr/>
          </p:nvGraphicFramePr>
          <p:xfrm>
            <a:off x="3288" y="2840"/>
            <a:ext cx="180" cy="240"/>
          </p:xfrm>
          <a:graphic>
            <a:graphicData uri="http://schemas.openxmlformats.org/presentationml/2006/ole">
              <mc:AlternateContent xmlns:mc="http://schemas.openxmlformats.org/markup-compatibility/2006">
                <mc:Choice xmlns:v="urn:schemas-microsoft-com:vml" Requires="v">
                  <p:oleObj spid="_x0000_s51456" name="Equation" r:id="rId14" imgW="145972" imgH="209481" progId="Equation.3">
                    <p:embed/>
                  </p:oleObj>
                </mc:Choice>
                <mc:Fallback>
                  <p:oleObj name="Equation" r:id="rId14" imgW="145972" imgH="209481" progId="Equation.3">
                    <p:embed/>
                    <p:pic>
                      <p:nvPicPr>
                        <p:cNvPr id="0" name="Object 2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88" y="2840"/>
                          <a:ext cx="18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1217" name="Object 25"/>
            <p:cNvGraphicFramePr>
              <a:graphicFrameLocks noChangeAspect="1"/>
            </p:cNvGraphicFramePr>
            <p:nvPr/>
          </p:nvGraphicFramePr>
          <p:xfrm>
            <a:off x="3288" y="3113"/>
            <a:ext cx="195" cy="254"/>
          </p:xfrm>
          <a:graphic>
            <a:graphicData uri="http://schemas.openxmlformats.org/presentationml/2006/ole">
              <mc:AlternateContent xmlns:mc="http://schemas.openxmlformats.org/markup-compatibility/2006">
                <mc:Choice xmlns:v="urn:schemas-microsoft-com:vml" Requires="v">
                  <p:oleObj spid="_x0000_s51457" name="Equation" r:id="rId16" imgW="158828" imgH="222365" progId="Equation.3">
                    <p:embed/>
                  </p:oleObj>
                </mc:Choice>
                <mc:Fallback>
                  <p:oleObj name="Equation" r:id="rId16" imgW="158828" imgH="222365" progId="Equation.3">
                    <p:embed/>
                    <p:pic>
                      <p:nvPicPr>
                        <p:cNvPr id="0" name="Object 2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88" y="3113"/>
                          <a:ext cx="195"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1218" name="Object 26"/>
            <p:cNvGraphicFramePr>
              <a:graphicFrameLocks noChangeAspect="1"/>
            </p:cNvGraphicFramePr>
            <p:nvPr/>
          </p:nvGraphicFramePr>
          <p:xfrm>
            <a:off x="3470" y="2939"/>
            <a:ext cx="195" cy="240"/>
          </p:xfrm>
          <a:graphic>
            <a:graphicData uri="http://schemas.openxmlformats.org/presentationml/2006/ole">
              <mc:AlternateContent xmlns:mc="http://schemas.openxmlformats.org/markup-compatibility/2006">
                <mc:Choice xmlns:v="urn:schemas-microsoft-com:vml" Requires="v">
                  <p:oleObj spid="_x0000_s51458" name="Equation" r:id="rId18" imgW="158828" imgH="209481" progId="Equation.3">
                    <p:embed/>
                  </p:oleObj>
                </mc:Choice>
                <mc:Fallback>
                  <p:oleObj name="Equation" r:id="rId18" imgW="158828" imgH="209481" progId="Equation.3">
                    <p:embed/>
                    <p:pic>
                      <p:nvPicPr>
                        <p:cNvPr id="0" name="Object 2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70" y="2939"/>
                          <a:ext cx="19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1219" name="Object 27"/>
            <p:cNvGraphicFramePr>
              <a:graphicFrameLocks noChangeAspect="1"/>
            </p:cNvGraphicFramePr>
            <p:nvPr/>
          </p:nvGraphicFramePr>
          <p:xfrm>
            <a:off x="2517" y="2931"/>
            <a:ext cx="180" cy="184"/>
          </p:xfrm>
          <a:graphic>
            <a:graphicData uri="http://schemas.openxmlformats.org/presentationml/2006/ole">
              <mc:AlternateContent xmlns:mc="http://schemas.openxmlformats.org/markup-compatibility/2006">
                <mc:Choice xmlns:v="urn:schemas-microsoft-com:vml" Requires="v">
                  <p:oleObj spid="_x0000_s51459" name="Equation" r:id="rId20" imgW="145972" imgH="158773" progId="Equation.3">
                    <p:embed/>
                  </p:oleObj>
                </mc:Choice>
                <mc:Fallback>
                  <p:oleObj name="Equation" r:id="rId20" imgW="145972" imgH="158773" progId="Equation.3">
                    <p:embed/>
                    <p:pic>
                      <p:nvPicPr>
                        <p:cNvPr id="0" name="Object 2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517" y="2931"/>
                          <a:ext cx="18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1220" name="Object 28"/>
            <p:cNvGraphicFramePr>
              <a:graphicFrameLocks noChangeAspect="1"/>
            </p:cNvGraphicFramePr>
            <p:nvPr/>
          </p:nvGraphicFramePr>
          <p:xfrm>
            <a:off x="3560" y="2795"/>
            <a:ext cx="180" cy="184"/>
          </p:xfrm>
          <a:graphic>
            <a:graphicData uri="http://schemas.openxmlformats.org/presentationml/2006/ole">
              <mc:AlternateContent xmlns:mc="http://schemas.openxmlformats.org/markup-compatibility/2006">
                <mc:Choice xmlns:v="urn:schemas-microsoft-com:vml" Requires="v">
                  <p:oleObj spid="_x0000_s51460" name="Equation" r:id="rId22" imgW="145972" imgH="158773" progId="Equation.3">
                    <p:embed/>
                  </p:oleObj>
                </mc:Choice>
                <mc:Fallback>
                  <p:oleObj name="Equation" r:id="rId22" imgW="145972" imgH="158773" progId="Equation.3">
                    <p:embed/>
                    <p:pic>
                      <p:nvPicPr>
                        <p:cNvPr id="0" name="Object 2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60" y="2795"/>
                          <a:ext cx="18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sp>
        <p:nvSpPr>
          <p:cNvPr id="20" name="Rectangle 18"/>
          <p:cNvSpPr>
            <a:spLocks noChangeArrowheads="1"/>
          </p:cNvSpPr>
          <p:nvPr/>
        </p:nvSpPr>
        <p:spPr bwMode="auto">
          <a:xfrm>
            <a:off x="450850" y="333375"/>
            <a:ext cx="14224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0" lang="zh-CN" altLang="en-US" sz="2400" b="1" kern="0" dirty="0">
                <a:solidFill>
                  <a:srgbClr val="FF3300"/>
                </a:solidFill>
                <a:latin typeface="黑体" pitchFamily="2" charset="-122"/>
                <a:ea typeface="黑体" pitchFamily="2" charset="-122"/>
              </a:rPr>
              <a:t>三、练习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56323"/>
                                        </p:tgtEl>
                                        <p:attrNameLst>
                                          <p:attrName>style.visibility</p:attrName>
                                        </p:attrNameLst>
                                      </p:cBhvr>
                                      <p:to>
                                        <p:strVal val="visible"/>
                                      </p:to>
                                    </p:set>
                                    <p:animEffect transition="in" filter="slide(fromBottom)">
                                      <p:cBhvr>
                                        <p:cTn id="7" dur="500"/>
                                        <p:tgtEl>
                                          <p:spTgt spid="563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56333"/>
                                        </p:tgtEl>
                                        <p:attrNameLst>
                                          <p:attrName>style.visibility</p:attrName>
                                        </p:attrNameLst>
                                      </p:cBhvr>
                                      <p:to>
                                        <p:strVal val="visible"/>
                                      </p:to>
                                    </p:set>
                                    <p:animEffect transition="in" filter="diamond(in)">
                                      <p:cBhvr>
                                        <p:cTn id="12" dur="2000"/>
                                        <p:tgtEl>
                                          <p:spTgt spid="563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1" presetClass="entr" presetSubtype="4" fill="hold" nodeType="clickEffect">
                                  <p:stCondLst>
                                    <p:cond delay="0"/>
                                  </p:stCondLst>
                                  <p:childTnLst>
                                    <p:set>
                                      <p:cBhvr>
                                        <p:cTn id="16" dur="1" fill="hold">
                                          <p:stCondLst>
                                            <p:cond delay="0"/>
                                          </p:stCondLst>
                                        </p:cTn>
                                        <p:tgtEl>
                                          <p:spTgt spid="56329"/>
                                        </p:tgtEl>
                                        <p:attrNameLst>
                                          <p:attrName>style.visibility</p:attrName>
                                        </p:attrNameLst>
                                      </p:cBhvr>
                                      <p:to>
                                        <p:strVal val="visible"/>
                                      </p:to>
                                    </p:set>
                                    <p:animEffect transition="in" filter="wheel(4)">
                                      <p:cBhvr>
                                        <p:cTn id="17" dur="2000"/>
                                        <p:tgtEl>
                                          <p:spTgt spid="563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56349"/>
                                        </p:tgtEl>
                                        <p:attrNameLst>
                                          <p:attrName>style.visibility</p:attrName>
                                        </p:attrNameLst>
                                      </p:cBhvr>
                                      <p:to>
                                        <p:strVal val="visible"/>
                                      </p:to>
                                    </p:set>
                                    <p:animEffect transition="in" filter="checkerboard(across)">
                                      <p:cBhvr>
                                        <p:cTn id="22" dur="500"/>
                                        <p:tgtEl>
                                          <p:spTgt spid="56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1198" name="Group 62"/>
          <p:cNvGrpSpPr>
            <a:grpSpLocks/>
          </p:cNvGrpSpPr>
          <p:nvPr/>
        </p:nvGrpSpPr>
        <p:grpSpPr bwMode="auto">
          <a:xfrm>
            <a:off x="828675" y="549275"/>
            <a:ext cx="4679950" cy="1052513"/>
            <a:chOff x="328" y="1327"/>
            <a:chExt cx="2948" cy="663"/>
          </a:xfrm>
        </p:grpSpPr>
        <p:grpSp>
          <p:nvGrpSpPr>
            <p:cNvPr id="52266" name="Group 59"/>
            <p:cNvGrpSpPr>
              <a:grpSpLocks/>
            </p:cNvGrpSpPr>
            <p:nvPr/>
          </p:nvGrpSpPr>
          <p:grpSpPr bwMode="auto">
            <a:xfrm>
              <a:off x="328" y="1327"/>
              <a:ext cx="2447" cy="663"/>
              <a:chOff x="328" y="1327"/>
              <a:chExt cx="2447" cy="663"/>
            </a:xfrm>
          </p:grpSpPr>
          <p:graphicFrame>
            <p:nvGraphicFramePr>
              <p:cNvPr id="52269" name="Object 5"/>
              <p:cNvGraphicFramePr>
                <a:graphicFrameLocks noChangeAspect="1"/>
              </p:cNvGraphicFramePr>
              <p:nvPr/>
            </p:nvGraphicFramePr>
            <p:xfrm>
              <a:off x="328" y="1480"/>
              <a:ext cx="979" cy="346"/>
            </p:xfrm>
            <a:graphic>
              <a:graphicData uri="http://schemas.openxmlformats.org/presentationml/2006/ole">
                <mc:AlternateContent xmlns:mc="http://schemas.openxmlformats.org/markup-compatibility/2006">
                  <mc:Choice xmlns:v="urn:schemas-microsoft-com:vml" Requires="v">
                    <p:oleObj spid="_x0000_s52597" name="Equation" r:id="rId3" imgW="717420" imgH="222365" progId="Equation.3">
                      <p:embed/>
                    </p:oleObj>
                  </mc:Choice>
                  <mc:Fallback>
                    <p:oleObj name="Equation" r:id="rId3" imgW="717420" imgH="222365"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 y="1480"/>
                            <a:ext cx="979"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2270" name="Group 56"/>
              <p:cNvGrpSpPr>
                <a:grpSpLocks/>
              </p:cNvGrpSpPr>
              <p:nvPr/>
            </p:nvGrpSpPr>
            <p:grpSpPr bwMode="auto">
              <a:xfrm>
                <a:off x="1440" y="1327"/>
                <a:ext cx="1335" cy="663"/>
                <a:chOff x="1440" y="1327"/>
                <a:chExt cx="1335" cy="663"/>
              </a:xfrm>
            </p:grpSpPr>
            <p:sp>
              <p:nvSpPr>
                <p:cNvPr id="52271" name="Text Box 10"/>
                <p:cNvSpPr txBox="1">
                  <a:spLocks noChangeArrowheads="1"/>
                </p:cNvSpPr>
                <p:nvPr/>
              </p:nvSpPr>
              <p:spPr bwMode="auto">
                <a:xfrm>
                  <a:off x="1549" y="1699"/>
                  <a:ext cx="122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1"/>
                      </a:solidFill>
                    </a:rPr>
                    <a:t>A</a:t>
                  </a:r>
                  <a:r>
                    <a:rPr lang="zh-CN" altLang="en-US" sz="2400" b="1">
                      <a:solidFill>
                        <a:schemeClr val="tx1"/>
                      </a:solidFill>
                    </a:rPr>
                    <a:t>处条纹明暗</a:t>
                  </a:r>
                </a:p>
              </p:txBody>
            </p:sp>
            <p:grpSp>
              <p:nvGrpSpPr>
                <p:cNvPr id="52272" name="Group 55"/>
                <p:cNvGrpSpPr>
                  <a:grpSpLocks/>
                </p:cNvGrpSpPr>
                <p:nvPr/>
              </p:nvGrpSpPr>
              <p:grpSpPr bwMode="auto">
                <a:xfrm>
                  <a:off x="1440" y="1327"/>
                  <a:ext cx="1117" cy="593"/>
                  <a:chOff x="1440" y="1327"/>
                  <a:chExt cx="1117" cy="593"/>
                </a:xfrm>
              </p:grpSpPr>
              <p:sp>
                <p:nvSpPr>
                  <p:cNvPr id="52273" name="Text Box 9"/>
                  <p:cNvSpPr txBox="1">
                    <a:spLocks noChangeArrowheads="1"/>
                  </p:cNvSpPr>
                  <p:nvPr/>
                </p:nvSpPr>
                <p:spPr bwMode="auto">
                  <a:xfrm>
                    <a:off x="1536" y="1327"/>
                    <a:ext cx="102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1"/>
                        </a:solidFill>
                      </a:rPr>
                      <a:t>B</a:t>
                    </a:r>
                    <a:r>
                      <a:rPr lang="zh-CN" altLang="en-US" sz="2400" b="1">
                        <a:solidFill>
                          <a:schemeClr val="tx1"/>
                        </a:solidFill>
                      </a:rPr>
                      <a:t>处光程差</a:t>
                    </a:r>
                  </a:p>
                </p:txBody>
              </p:sp>
              <p:sp>
                <p:nvSpPr>
                  <p:cNvPr id="52274" name="AutoShape 23"/>
                  <p:cNvSpPr>
                    <a:spLocks/>
                  </p:cNvSpPr>
                  <p:nvPr/>
                </p:nvSpPr>
                <p:spPr bwMode="auto">
                  <a:xfrm>
                    <a:off x="1440" y="1488"/>
                    <a:ext cx="48" cy="432"/>
                  </a:xfrm>
                  <a:prstGeom prst="leftBrace">
                    <a:avLst>
                      <a:gd name="adj1" fmla="val 75000"/>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grpSp>
          </p:grpSp>
        </p:grpSp>
        <p:graphicFrame>
          <p:nvGraphicFramePr>
            <p:cNvPr id="52267" name="Object 27"/>
            <p:cNvGraphicFramePr>
              <a:graphicFrameLocks noChangeAspect="1"/>
            </p:cNvGraphicFramePr>
            <p:nvPr/>
          </p:nvGraphicFramePr>
          <p:xfrm>
            <a:off x="2758" y="1344"/>
            <a:ext cx="518" cy="307"/>
          </p:xfrm>
          <a:graphic>
            <a:graphicData uri="http://schemas.openxmlformats.org/presentationml/2006/ole">
              <mc:AlternateContent xmlns:mc="http://schemas.openxmlformats.org/markup-compatibility/2006">
                <mc:Choice xmlns:v="urn:schemas-microsoft-com:vml" Requires="v">
                  <p:oleObj spid="_x0000_s52598" name="Equation" r:id="rId5" imgW="336731" imgH="209481" progId="Equation.3">
                    <p:embed/>
                  </p:oleObj>
                </mc:Choice>
                <mc:Fallback>
                  <p:oleObj name="Equation" r:id="rId5" imgW="336731" imgH="209481" progId="Equation.3">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8" y="1344"/>
                          <a:ext cx="51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68" name="Text Box 29"/>
            <p:cNvSpPr txBox="1">
              <a:spLocks noChangeArrowheads="1"/>
            </p:cNvSpPr>
            <p:nvPr/>
          </p:nvSpPr>
          <p:spPr bwMode="auto">
            <a:xfrm>
              <a:off x="2966" y="1699"/>
              <a:ext cx="3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rPr>
                <a:t>明</a:t>
              </a:r>
            </a:p>
          </p:txBody>
        </p:sp>
      </p:grpSp>
      <p:grpSp>
        <p:nvGrpSpPr>
          <p:cNvPr id="91196" name="Group 60"/>
          <p:cNvGrpSpPr>
            <a:grpSpLocks/>
          </p:cNvGrpSpPr>
          <p:nvPr/>
        </p:nvGrpSpPr>
        <p:grpSpPr bwMode="auto">
          <a:xfrm>
            <a:off x="828675" y="3516313"/>
            <a:ext cx="5327650" cy="1325562"/>
            <a:chOff x="1625" y="3082"/>
            <a:chExt cx="3356" cy="835"/>
          </a:xfrm>
        </p:grpSpPr>
        <p:grpSp>
          <p:nvGrpSpPr>
            <p:cNvPr id="52259" name="Group 57"/>
            <p:cNvGrpSpPr>
              <a:grpSpLocks/>
            </p:cNvGrpSpPr>
            <p:nvPr/>
          </p:nvGrpSpPr>
          <p:grpSpPr bwMode="auto">
            <a:xfrm>
              <a:off x="1625" y="3218"/>
              <a:ext cx="2405" cy="681"/>
              <a:chOff x="1625" y="3218"/>
              <a:chExt cx="2405" cy="681"/>
            </a:xfrm>
          </p:grpSpPr>
          <p:graphicFrame>
            <p:nvGraphicFramePr>
              <p:cNvPr id="52262" name="Object 3"/>
              <p:cNvGraphicFramePr>
                <a:graphicFrameLocks noChangeAspect="1"/>
              </p:cNvGraphicFramePr>
              <p:nvPr/>
            </p:nvGraphicFramePr>
            <p:xfrm>
              <a:off x="1625" y="3331"/>
              <a:ext cx="979" cy="330"/>
            </p:xfrm>
            <a:graphic>
              <a:graphicData uri="http://schemas.openxmlformats.org/presentationml/2006/ole">
                <mc:AlternateContent xmlns:mc="http://schemas.openxmlformats.org/markup-compatibility/2006">
                  <mc:Choice xmlns:v="urn:schemas-microsoft-com:vml" Requires="v">
                    <p:oleObj spid="_x0000_s52599" name="Equation" r:id="rId7" imgW="717420" imgH="222365" progId="Equation.3">
                      <p:embed/>
                    </p:oleObj>
                  </mc:Choice>
                  <mc:Fallback>
                    <p:oleObj name="Equation" r:id="rId7" imgW="717420" imgH="222365"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5" y="3331"/>
                            <a:ext cx="9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63" name="Text Box 21"/>
              <p:cNvSpPr txBox="1">
                <a:spLocks noChangeArrowheads="1"/>
              </p:cNvSpPr>
              <p:nvPr/>
            </p:nvSpPr>
            <p:spPr bwMode="auto">
              <a:xfrm>
                <a:off x="2804" y="3218"/>
                <a:ext cx="102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1"/>
                    </a:solidFill>
                  </a:rPr>
                  <a:t>B</a:t>
                </a:r>
                <a:r>
                  <a:rPr lang="zh-CN" altLang="en-US" sz="2400" b="1">
                    <a:solidFill>
                      <a:schemeClr val="tx1"/>
                    </a:solidFill>
                  </a:rPr>
                  <a:t>处光程差</a:t>
                </a:r>
              </a:p>
            </p:txBody>
          </p:sp>
          <p:sp>
            <p:nvSpPr>
              <p:cNvPr id="52264" name="Text Box 22"/>
              <p:cNvSpPr txBox="1">
                <a:spLocks noChangeArrowheads="1"/>
              </p:cNvSpPr>
              <p:nvPr/>
            </p:nvSpPr>
            <p:spPr bwMode="auto">
              <a:xfrm>
                <a:off x="2804" y="3608"/>
                <a:ext cx="122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1"/>
                    </a:solidFill>
                  </a:rPr>
                  <a:t>A</a:t>
                </a:r>
                <a:r>
                  <a:rPr lang="zh-CN" altLang="en-US" sz="2400" b="1">
                    <a:solidFill>
                      <a:schemeClr val="tx1"/>
                    </a:solidFill>
                  </a:rPr>
                  <a:t>处条纹明暗</a:t>
                </a:r>
              </a:p>
            </p:txBody>
          </p:sp>
          <p:sp>
            <p:nvSpPr>
              <p:cNvPr id="52265" name="AutoShape 26"/>
              <p:cNvSpPr>
                <a:spLocks/>
              </p:cNvSpPr>
              <p:nvPr/>
            </p:nvSpPr>
            <p:spPr bwMode="auto">
              <a:xfrm>
                <a:off x="2736" y="3331"/>
                <a:ext cx="48" cy="432"/>
              </a:xfrm>
              <a:prstGeom prst="leftBrace">
                <a:avLst>
                  <a:gd name="adj1" fmla="val 75000"/>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grpSp>
        <p:graphicFrame>
          <p:nvGraphicFramePr>
            <p:cNvPr id="52260" name="Object 28"/>
            <p:cNvGraphicFramePr>
              <a:graphicFrameLocks noChangeAspect="1"/>
            </p:cNvGraphicFramePr>
            <p:nvPr/>
          </p:nvGraphicFramePr>
          <p:xfrm>
            <a:off x="4117" y="3082"/>
            <a:ext cx="864" cy="535"/>
          </p:xfrm>
          <a:graphic>
            <a:graphicData uri="http://schemas.openxmlformats.org/presentationml/2006/ole">
              <mc:AlternateContent xmlns:mc="http://schemas.openxmlformats.org/markup-compatibility/2006">
                <mc:Choice xmlns:v="urn:schemas-microsoft-com:vml" Requires="v">
                  <p:oleObj spid="_x0000_s52600" name="Equation" r:id="rId9" imgW="590524" imgH="387373" progId="Equation.3">
                    <p:embed/>
                  </p:oleObj>
                </mc:Choice>
                <mc:Fallback>
                  <p:oleObj name="Equation" r:id="rId9" imgW="590524" imgH="387373" progId="Equation.3">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17" y="3082"/>
                          <a:ext cx="864" cy="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61" name="Text Box 30"/>
            <p:cNvSpPr txBox="1">
              <a:spLocks noChangeArrowheads="1"/>
            </p:cNvSpPr>
            <p:nvPr/>
          </p:nvSpPr>
          <p:spPr bwMode="auto">
            <a:xfrm>
              <a:off x="4664" y="3626"/>
              <a:ext cx="3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rPr>
                <a:t>暗</a:t>
              </a:r>
            </a:p>
          </p:txBody>
        </p:sp>
      </p:grpSp>
      <p:grpSp>
        <p:nvGrpSpPr>
          <p:cNvPr id="91197" name="Group 61"/>
          <p:cNvGrpSpPr>
            <a:grpSpLocks/>
          </p:cNvGrpSpPr>
          <p:nvPr/>
        </p:nvGrpSpPr>
        <p:grpSpPr bwMode="auto">
          <a:xfrm>
            <a:off x="828675" y="2033588"/>
            <a:ext cx="4752975" cy="1052512"/>
            <a:chOff x="748" y="2208"/>
            <a:chExt cx="2994" cy="663"/>
          </a:xfrm>
        </p:grpSpPr>
        <p:grpSp>
          <p:nvGrpSpPr>
            <p:cNvPr id="52252" name="Group 58"/>
            <p:cNvGrpSpPr>
              <a:grpSpLocks/>
            </p:cNvGrpSpPr>
            <p:nvPr/>
          </p:nvGrpSpPr>
          <p:grpSpPr bwMode="auto">
            <a:xfrm>
              <a:off x="748" y="2277"/>
              <a:ext cx="2411" cy="594"/>
              <a:chOff x="748" y="2277"/>
              <a:chExt cx="2411" cy="594"/>
            </a:xfrm>
          </p:grpSpPr>
          <p:graphicFrame>
            <p:nvGraphicFramePr>
              <p:cNvPr id="52255" name="Object 4"/>
              <p:cNvGraphicFramePr>
                <a:graphicFrameLocks noChangeAspect="1"/>
              </p:cNvGraphicFramePr>
              <p:nvPr/>
            </p:nvGraphicFramePr>
            <p:xfrm>
              <a:off x="748" y="2400"/>
              <a:ext cx="979" cy="358"/>
            </p:xfrm>
            <a:graphic>
              <a:graphicData uri="http://schemas.openxmlformats.org/presentationml/2006/ole">
                <mc:AlternateContent xmlns:mc="http://schemas.openxmlformats.org/markup-compatibility/2006">
                  <mc:Choice xmlns:v="urn:schemas-microsoft-com:vml" Requires="v">
                    <p:oleObj spid="_x0000_s52601" name="Equation" r:id="rId11" imgW="717420" imgH="222365" progId="Equation.3">
                      <p:embed/>
                    </p:oleObj>
                  </mc:Choice>
                  <mc:Fallback>
                    <p:oleObj name="Equation" r:id="rId11" imgW="717420" imgH="222365"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 y="2400"/>
                            <a:ext cx="979"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56" name="Text Box 17"/>
              <p:cNvSpPr txBox="1">
                <a:spLocks noChangeArrowheads="1"/>
              </p:cNvSpPr>
              <p:nvPr/>
            </p:nvSpPr>
            <p:spPr bwMode="auto">
              <a:xfrm>
                <a:off x="1927" y="2277"/>
                <a:ext cx="102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1"/>
                    </a:solidFill>
                  </a:rPr>
                  <a:t>B</a:t>
                </a:r>
                <a:r>
                  <a:rPr lang="zh-CN" altLang="en-US" sz="2400" b="1">
                    <a:solidFill>
                      <a:schemeClr val="tx1"/>
                    </a:solidFill>
                  </a:rPr>
                  <a:t>处光程差</a:t>
                </a:r>
              </a:p>
            </p:txBody>
          </p:sp>
          <p:sp>
            <p:nvSpPr>
              <p:cNvPr id="52257" name="Text Box 18"/>
              <p:cNvSpPr txBox="1">
                <a:spLocks noChangeArrowheads="1"/>
              </p:cNvSpPr>
              <p:nvPr/>
            </p:nvSpPr>
            <p:spPr bwMode="auto">
              <a:xfrm>
                <a:off x="1933" y="2580"/>
                <a:ext cx="122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1"/>
                    </a:solidFill>
                  </a:rPr>
                  <a:t>A</a:t>
                </a:r>
                <a:r>
                  <a:rPr lang="zh-CN" altLang="en-US" sz="2400" b="1">
                    <a:solidFill>
                      <a:schemeClr val="tx1"/>
                    </a:solidFill>
                  </a:rPr>
                  <a:t>处条纹明暗</a:t>
                </a:r>
              </a:p>
            </p:txBody>
          </p:sp>
          <p:sp>
            <p:nvSpPr>
              <p:cNvPr id="52258" name="AutoShape 25"/>
              <p:cNvSpPr>
                <a:spLocks/>
              </p:cNvSpPr>
              <p:nvPr/>
            </p:nvSpPr>
            <p:spPr bwMode="auto">
              <a:xfrm>
                <a:off x="1824" y="2400"/>
                <a:ext cx="48" cy="432"/>
              </a:xfrm>
              <a:prstGeom prst="leftBrace">
                <a:avLst>
                  <a:gd name="adj1" fmla="val 75000"/>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grpSp>
        <p:graphicFrame>
          <p:nvGraphicFramePr>
            <p:cNvPr id="52253" name="Object 31"/>
            <p:cNvGraphicFramePr>
              <a:graphicFrameLocks noChangeAspect="1"/>
            </p:cNvGraphicFramePr>
            <p:nvPr/>
          </p:nvGraphicFramePr>
          <p:xfrm>
            <a:off x="3224" y="2208"/>
            <a:ext cx="518" cy="307"/>
          </p:xfrm>
          <a:graphic>
            <a:graphicData uri="http://schemas.openxmlformats.org/presentationml/2006/ole">
              <mc:AlternateContent xmlns:mc="http://schemas.openxmlformats.org/markup-compatibility/2006">
                <mc:Choice xmlns:v="urn:schemas-microsoft-com:vml" Requires="v">
                  <p:oleObj spid="_x0000_s52602" name="Equation" r:id="rId13" imgW="336731" imgH="209481" progId="Equation.3">
                    <p:embed/>
                  </p:oleObj>
                </mc:Choice>
                <mc:Fallback>
                  <p:oleObj name="Equation" r:id="rId13" imgW="336731" imgH="209481" progId="Equation.3">
                    <p:embed/>
                    <p:pic>
                      <p:nvPicPr>
                        <p:cNvPr id="0"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24" y="2208"/>
                          <a:ext cx="51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54" name="Text Box 32"/>
            <p:cNvSpPr txBox="1">
              <a:spLocks noChangeArrowheads="1"/>
            </p:cNvSpPr>
            <p:nvPr/>
          </p:nvSpPr>
          <p:spPr bwMode="auto">
            <a:xfrm>
              <a:off x="3424" y="2568"/>
              <a:ext cx="3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rPr>
                <a:t>明</a:t>
              </a:r>
            </a:p>
          </p:txBody>
        </p:sp>
      </p:grpSp>
      <p:grpSp>
        <p:nvGrpSpPr>
          <p:cNvPr id="52229" name="Group 54"/>
          <p:cNvGrpSpPr>
            <a:grpSpLocks/>
          </p:cNvGrpSpPr>
          <p:nvPr/>
        </p:nvGrpSpPr>
        <p:grpSpPr bwMode="auto">
          <a:xfrm>
            <a:off x="6300788" y="881063"/>
            <a:ext cx="2351087" cy="1295400"/>
            <a:chOff x="4183" y="1344"/>
            <a:chExt cx="1481" cy="816"/>
          </a:xfrm>
        </p:grpSpPr>
        <p:sp>
          <p:nvSpPr>
            <p:cNvPr id="52240" name="Rectangle 34"/>
            <p:cNvSpPr>
              <a:spLocks noChangeArrowheads="1"/>
            </p:cNvSpPr>
            <p:nvPr/>
          </p:nvSpPr>
          <p:spPr bwMode="auto">
            <a:xfrm>
              <a:off x="4368" y="1824"/>
              <a:ext cx="1008" cy="192"/>
            </a:xfrm>
            <a:prstGeom prst="rect">
              <a:avLst/>
            </a:prstGeom>
            <a:noFill/>
            <a:ln w="19050">
              <a:solidFill>
                <a:schemeClr val="tx1"/>
              </a:solidFill>
              <a:miter lim="800000"/>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52241" name="Rectangle 35"/>
            <p:cNvSpPr>
              <a:spLocks noChangeArrowheads="1"/>
            </p:cNvSpPr>
            <p:nvPr/>
          </p:nvSpPr>
          <p:spPr bwMode="auto">
            <a:xfrm rot="-1028596">
              <a:off x="4320" y="1488"/>
              <a:ext cx="1008" cy="192"/>
            </a:xfrm>
            <a:prstGeom prst="rect">
              <a:avLst/>
            </a:prstGeom>
            <a:noFill/>
            <a:ln w="19050">
              <a:solidFill>
                <a:schemeClr val="tx1"/>
              </a:solidFill>
              <a:miter lim="800000"/>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52242" name="Line 36"/>
            <p:cNvSpPr>
              <a:spLocks noChangeShapeType="1"/>
            </p:cNvSpPr>
            <p:nvPr/>
          </p:nvSpPr>
          <p:spPr bwMode="auto">
            <a:xfrm>
              <a:off x="4848" y="1680"/>
              <a:ext cx="672"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3" name="Line 37"/>
            <p:cNvSpPr>
              <a:spLocks noChangeShapeType="1"/>
            </p:cNvSpPr>
            <p:nvPr/>
          </p:nvSpPr>
          <p:spPr bwMode="auto">
            <a:xfrm>
              <a:off x="5424" y="1824"/>
              <a:ext cx="96"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4" name="Line 38"/>
            <p:cNvSpPr>
              <a:spLocks noChangeShapeType="1"/>
            </p:cNvSpPr>
            <p:nvPr/>
          </p:nvSpPr>
          <p:spPr bwMode="auto">
            <a:xfrm>
              <a:off x="5472" y="1392"/>
              <a:ext cx="0" cy="288"/>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5" name="Line 39"/>
            <p:cNvSpPr>
              <a:spLocks noChangeShapeType="1"/>
            </p:cNvSpPr>
            <p:nvPr/>
          </p:nvSpPr>
          <p:spPr bwMode="auto">
            <a:xfrm flipV="1">
              <a:off x="5472" y="1824"/>
              <a:ext cx="0" cy="336"/>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2246" name="Object 40"/>
            <p:cNvGraphicFramePr>
              <a:graphicFrameLocks noChangeAspect="1"/>
            </p:cNvGraphicFramePr>
            <p:nvPr/>
          </p:nvGraphicFramePr>
          <p:xfrm>
            <a:off x="5476" y="1632"/>
            <a:ext cx="188" cy="225"/>
          </p:xfrm>
          <a:graphic>
            <a:graphicData uri="http://schemas.openxmlformats.org/presentationml/2006/ole">
              <mc:AlternateContent xmlns:mc="http://schemas.openxmlformats.org/markup-compatibility/2006">
                <mc:Choice xmlns:v="urn:schemas-microsoft-com:vml" Requires="v">
                  <p:oleObj spid="_x0000_s52603" name="Equation" r:id="rId15" imgW="133531" imgH="171658" progId="Equation.3">
                    <p:embed/>
                  </p:oleObj>
                </mc:Choice>
                <mc:Fallback>
                  <p:oleObj name="Equation" r:id="rId15" imgW="133531" imgH="171658" progId="Equation.3">
                    <p:embed/>
                    <p:pic>
                      <p:nvPicPr>
                        <p:cNvPr id="0" name="Object 4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76" y="1632"/>
                          <a:ext cx="188"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2247" name="Object 41"/>
            <p:cNvGraphicFramePr>
              <a:graphicFrameLocks noChangeAspect="1"/>
            </p:cNvGraphicFramePr>
            <p:nvPr/>
          </p:nvGraphicFramePr>
          <p:xfrm>
            <a:off x="5004" y="1344"/>
            <a:ext cx="180" cy="240"/>
          </p:xfrm>
          <a:graphic>
            <a:graphicData uri="http://schemas.openxmlformats.org/presentationml/2006/ole">
              <mc:AlternateContent xmlns:mc="http://schemas.openxmlformats.org/markup-compatibility/2006">
                <mc:Choice xmlns:v="urn:schemas-microsoft-com:vml" Requires="v">
                  <p:oleObj spid="_x0000_s52604" name="Equation" r:id="rId17" imgW="145972" imgH="209481" progId="Equation.3">
                    <p:embed/>
                  </p:oleObj>
                </mc:Choice>
                <mc:Fallback>
                  <p:oleObj name="Equation" r:id="rId17" imgW="145972" imgH="209481" progId="Equation.3">
                    <p:embed/>
                    <p:pic>
                      <p:nvPicPr>
                        <p:cNvPr id="0" name="Object 4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04" y="1344"/>
                          <a:ext cx="18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2248" name="Object 42"/>
            <p:cNvGraphicFramePr>
              <a:graphicFrameLocks noChangeAspect="1"/>
            </p:cNvGraphicFramePr>
            <p:nvPr/>
          </p:nvGraphicFramePr>
          <p:xfrm>
            <a:off x="4985" y="1776"/>
            <a:ext cx="195" cy="254"/>
          </p:xfrm>
          <a:graphic>
            <a:graphicData uri="http://schemas.openxmlformats.org/presentationml/2006/ole">
              <mc:AlternateContent xmlns:mc="http://schemas.openxmlformats.org/markup-compatibility/2006">
                <mc:Choice xmlns:v="urn:schemas-microsoft-com:vml" Requires="v">
                  <p:oleObj spid="_x0000_s52605" name="Equation" r:id="rId19" imgW="158828" imgH="222365" progId="Equation.3">
                    <p:embed/>
                  </p:oleObj>
                </mc:Choice>
                <mc:Fallback>
                  <p:oleObj name="Equation" r:id="rId19" imgW="158828" imgH="222365" progId="Equation.3">
                    <p:embed/>
                    <p:pic>
                      <p:nvPicPr>
                        <p:cNvPr id="0" name="Object 4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85" y="1776"/>
                          <a:ext cx="195"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2249" name="Object 43"/>
            <p:cNvGraphicFramePr>
              <a:graphicFrameLocks noChangeAspect="1"/>
            </p:cNvGraphicFramePr>
            <p:nvPr/>
          </p:nvGraphicFramePr>
          <p:xfrm>
            <a:off x="4986" y="1603"/>
            <a:ext cx="195" cy="240"/>
          </p:xfrm>
          <a:graphic>
            <a:graphicData uri="http://schemas.openxmlformats.org/presentationml/2006/ole">
              <mc:AlternateContent xmlns:mc="http://schemas.openxmlformats.org/markup-compatibility/2006">
                <mc:Choice xmlns:v="urn:schemas-microsoft-com:vml" Requires="v">
                  <p:oleObj spid="_x0000_s52606" name="Equation" r:id="rId21" imgW="158828" imgH="209481" progId="Equation.3">
                    <p:embed/>
                  </p:oleObj>
                </mc:Choice>
                <mc:Fallback>
                  <p:oleObj name="Equation" r:id="rId21" imgW="158828" imgH="209481" progId="Equation.3">
                    <p:embed/>
                    <p:pic>
                      <p:nvPicPr>
                        <p:cNvPr id="0" name="Object 4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86" y="1603"/>
                          <a:ext cx="19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2250" name="Object 44"/>
            <p:cNvGraphicFramePr>
              <a:graphicFrameLocks noChangeAspect="1"/>
            </p:cNvGraphicFramePr>
            <p:nvPr/>
          </p:nvGraphicFramePr>
          <p:xfrm>
            <a:off x="4183" y="1776"/>
            <a:ext cx="180" cy="184"/>
          </p:xfrm>
          <a:graphic>
            <a:graphicData uri="http://schemas.openxmlformats.org/presentationml/2006/ole">
              <mc:AlternateContent xmlns:mc="http://schemas.openxmlformats.org/markup-compatibility/2006">
                <mc:Choice xmlns:v="urn:schemas-microsoft-com:vml" Requires="v">
                  <p:oleObj spid="_x0000_s52607" name="Equation" r:id="rId23" imgW="145972" imgH="158773" progId="Equation.3">
                    <p:embed/>
                  </p:oleObj>
                </mc:Choice>
                <mc:Fallback>
                  <p:oleObj name="Equation" r:id="rId23" imgW="145972" imgH="158773" progId="Equation.3">
                    <p:embed/>
                    <p:pic>
                      <p:nvPicPr>
                        <p:cNvPr id="0" name="Object 4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83" y="1776"/>
                          <a:ext cx="18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2251" name="Object 45"/>
            <p:cNvGraphicFramePr>
              <a:graphicFrameLocks noChangeAspect="1"/>
            </p:cNvGraphicFramePr>
            <p:nvPr/>
          </p:nvGraphicFramePr>
          <p:xfrm>
            <a:off x="4752" y="1488"/>
            <a:ext cx="180" cy="184"/>
          </p:xfrm>
          <a:graphic>
            <a:graphicData uri="http://schemas.openxmlformats.org/presentationml/2006/ole">
              <mc:AlternateContent xmlns:mc="http://schemas.openxmlformats.org/markup-compatibility/2006">
                <mc:Choice xmlns:v="urn:schemas-microsoft-com:vml" Requires="v">
                  <p:oleObj spid="_x0000_s52608" name="Equation" r:id="rId25" imgW="145972" imgH="158773" progId="Equation.3">
                    <p:embed/>
                  </p:oleObj>
                </mc:Choice>
                <mc:Fallback>
                  <p:oleObj name="Equation" r:id="rId25" imgW="145972" imgH="158773" progId="Equation.3">
                    <p:embed/>
                    <p:pic>
                      <p:nvPicPr>
                        <p:cNvPr id="0" name="Object 4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752" y="1488"/>
                          <a:ext cx="18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sp>
        <p:nvSpPr>
          <p:cNvPr id="52230" name="矩形 1"/>
          <p:cNvSpPr>
            <a:spLocks noChangeArrowheads="1"/>
          </p:cNvSpPr>
          <p:nvPr/>
        </p:nvSpPr>
        <p:spPr bwMode="auto">
          <a:xfrm>
            <a:off x="6192838" y="593725"/>
            <a:ext cx="2771775" cy="1871663"/>
          </a:xfrm>
          <a:prstGeom prst="rect">
            <a:avLst/>
          </a:prstGeom>
          <a:noFill/>
          <a:ln w="19050" algn="ctr">
            <a:solidFill>
              <a:srgbClr val="00B050"/>
            </a:solidFill>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4" name="Group 40"/>
          <p:cNvGrpSpPr>
            <a:grpSpLocks/>
          </p:cNvGrpSpPr>
          <p:nvPr/>
        </p:nvGrpSpPr>
        <p:grpSpPr bwMode="auto">
          <a:xfrm>
            <a:off x="828675" y="4995863"/>
            <a:ext cx="5083175" cy="1387475"/>
            <a:chOff x="589" y="528"/>
            <a:chExt cx="3202" cy="874"/>
          </a:xfrm>
        </p:grpSpPr>
        <p:grpSp>
          <p:nvGrpSpPr>
            <p:cNvPr id="52233" name="Group 39"/>
            <p:cNvGrpSpPr>
              <a:grpSpLocks/>
            </p:cNvGrpSpPr>
            <p:nvPr/>
          </p:nvGrpSpPr>
          <p:grpSpPr bwMode="auto">
            <a:xfrm>
              <a:off x="589" y="684"/>
              <a:ext cx="2341" cy="718"/>
              <a:chOff x="589" y="684"/>
              <a:chExt cx="2341" cy="718"/>
            </a:xfrm>
          </p:grpSpPr>
          <p:graphicFrame>
            <p:nvGraphicFramePr>
              <p:cNvPr id="52236" name="Object 2"/>
              <p:cNvGraphicFramePr>
                <a:graphicFrameLocks noChangeAspect="1"/>
              </p:cNvGraphicFramePr>
              <p:nvPr/>
            </p:nvGraphicFramePr>
            <p:xfrm>
              <a:off x="589" y="856"/>
              <a:ext cx="979" cy="346"/>
            </p:xfrm>
            <a:graphic>
              <a:graphicData uri="http://schemas.openxmlformats.org/presentationml/2006/ole">
                <mc:AlternateContent xmlns:mc="http://schemas.openxmlformats.org/markup-compatibility/2006">
                  <mc:Choice xmlns:v="urn:schemas-microsoft-com:vml" Requires="v">
                    <p:oleObj spid="_x0000_s52609" name="Equation" r:id="rId27" imgW="717420" imgH="222365" progId="Equation.3">
                      <p:embed/>
                    </p:oleObj>
                  </mc:Choice>
                  <mc:Fallback>
                    <p:oleObj name="Equation" r:id="rId27" imgW="717420" imgH="222365" progId="Equation.3">
                      <p:embed/>
                      <p:pic>
                        <p:nvPicPr>
                          <p:cNvPr id="0" name="Object 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89" y="856"/>
                            <a:ext cx="979"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7" name="Text Box 3"/>
              <p:cNvSpPr txBox="1">
                <a:spLocks noChangeArrowheads="1"/>
              </p:cNvSpPr>
              <p:nvPr/>
            </p:nvSpPr>
            <p:spPr bwMode="auto">
              <a:xfrm>
                <a:off x="1704" y="684"/>
                <a:ext cx="102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1"/>
                    </a:solidFill>
                  </a:rPr>
                  <a:t>B</a:t>
                </a:r>
                <a:r>
                  <a:rPr lang="zh-CN" altLang="en-US" sz="2400" b="1">
                    <a:solidFill>
                      <a:schemeClr val="tx1"/>
                    </a:solidFill>
                  </a:rPr>
                  <a:t>处光程差</a:t>
                </a:r>
              </a:p>
            </p:txBody>
          </p:sp>
          <p:sp>
            <p:nvSpPr>
              <p:cNvPr id="52238" name="Text Box 4"/>
              <p:cNvSpPr txBox="1">
                <a:spLocks noChangeArrowheads="1"/>
              </p:cNvSpPr>
              <p:nvPr/>
            </p:nvSpPr>
            <p:spPr bwMode="auto">
              <a:xfrm>
                <a:off x="1704" y="1111"/>
                <a:ext cx="122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1"/>
                    </a:solidFill>
                  </a:rPr>
                  <a:t>A</a:t>
                </a:r>
                <a:r>
                  <a:rPr lang="zh-CN" altLang="en-US" sz="2400" b="1">
                    <a:solidFill>
                      <a:schemeClr val="tx1"/>
                    </a:solidFill>
                  </a:rPr>
                  <a:t>处条纹明暗</a:t>
                </a:r>
              </a:p>
            </p:txBody>
          </p:sp>
          <p:sp>
            <p:nvSpPr>
              <p:cNvPr id="52239" name="AutoShape 5"/>
              <p:cNvSpPr>
                <a:spLocks noChangeAspect="1"/>
              </p:cNvSpPr>
              <p:nvPr/>
            </p:nvSpPr>
            <p:spPr bwMode="auto">
              <a:xfrm>
                <a:off x="1646" y="806"/>
                <a:ext cx="58" cy="487"/>
              </a:xfrm>
              <a:prstGeom prst="leftBrace">
                <a:avLst>
                  <a:gd name="adj1" fmla="val 70826"/>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grpSp>
        <p:graphicFrame>
          <p:nvGraphicFramePr>
            <p:cNvPr id="52234" name="Object 6"/>
            <p:cNvGraphicFramePr>
              <a:graphicFrameLocks noChangeAspect="1"/>
            </p:cNvGraphicFramePr>
            <p:nvPr/>
          </p:nvGraphicFramePr>
          <p:xfrm>
            <a:off x="2869" y="528"/>
            <a:ext cx="922" cy="571"/>
          </p:xfrm>
          <a:graphic>
            <a:graphicData uri="http://schemas.openxmlformats.org/presentationml/2006/ole">
              <mc:AlternateContent xmlns:mc="http://schemas.openxmlformats.org/markup-compatibility/2006">
                <mc:Choice xmlns:v="urn:schemas-microsoft-com:vml" Requires="v">
                  <p:oleObj spid="_x0000_s52610" name="Equation" r:id="rId29" imgW="590524" imgH="387373" progId="Equation.3">
                    <p:embed/>
                  </p:oleObj>
                </mc:Choice>
                <mc:Fallback>
                  <p:oleObj name="Equation" r:id="rId29" imgW="590524" imgH="387373" progId="Equation.3">
                    <p:embed/>
                    <p:pic>
                      <p:nvPicPr>
                        <p:cNvPr id="0" name="Object 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869" y="528"/>
                          <a:ext cx="922"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5" name="Text Box 7"/>
            <p:cNvSpPr txBox="1">
              <a:spLocks noChangeArrowheads="1"/>
            </p:cNvSpPr>
            <p:nvPr/>
          </p:nvSpPr>
          <p:spPr bwMode="auto">
            <a:xfrm>
              <a:off x="3473" y="1093"/>
              <a:ext cx="3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rPr>
                <a:t>暗</a:t>
              </a:r>
            </a:p>
          </p:txBody>
        </p:sp>
      </p:grpSp>
      <p:sp>
        <p:nvSpPr>
          <p:cNvPr id="52" name="Text Box 9"/>
          <p:cNvSpPr txBox="1">
            <a:spLocks noChangeArrowheads="1"/>
          </p:cNvSpPr>
          <p:nvPr/>
        </p:nvSpPr>
        <p:spPr bwMode="auto">
          <a:xfrm>
            <a:off x="6634163" y="3349625"/>
            <a:ext cx="216058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zh-CN" altLang="en-US" sz="2400" b="1" dirty="0">
                <a:solidFill>
                  <a:schemeClr val="tx2"/>
                </a:solidFill>
                <a:latin typeface="宋体" pitchFamily="2" charset="-122"/>
              </a:rPr>
              <a:t>为什么不讨论</a:t>
            </a:r>
            <a:r>
              <a:rPr lang="en-US" altLang="zh-CN" sz="2400" b="1" dirty="0">
                <a:solidFill>
                  <a:schemeClr val="tx2"/>
                </a:solidFill>
                <a:latin typeface="+mn-lt"/>
              </a:rPr>
              <a:t>n</a:t>
            </a:r>
            <a:r>
              <a:rPr lang="en-US" altLang="zh-CN" sz="2400" b="1" baseline="-25000" dirty="0">
                <a:solidFill>
                  <a:schemeClr val="tx2"/>
                </a:solidFill>
                <a:latin typeface="+mn-lt"/>
              </a:rPr>
              <a:t>1</a:t>
            </a:r>
            <a:r>
              <a:rPr lang="zh-CN" altLang="en-US" sz="2400" b="1" dirty="0">
                <a:solidFill>
                  <a:schemeClr val="tx2"/>
                </a:solidFill>
                <a:latin typeface="宋体" pitchFamily="2" charset="-122"/>
              </a:rPr>
              <a:t>上表面处反射光的干涉？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1198"/>
                                        </p:tgtEl>
                                        <p:attrNameLst>
                                          <p:attrName>style.visibility</p:attrName>
                                        </p:attrNameLst>
                                      </p:cBhvr>
                                      <p:to>
                                        <p:strVal val="visible"/>
                                      </p:to>
                                    </p:set>
                                    <p:animEffect transition="in" filter="dissolve">
                                      <p:cBhvr>
                                        <p:cTn id="7" dur="500"/>
                                        <p:tgtEl>
                                          <p:spTgt spid="911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91197"/>
                                        </p:tgtEl>
                                        <p:attrNameLst>
                                          <p:attrName>style.visibility</p:attrName>
                                        </p:attrNameLst>
                                      </p:cBhvr>
                                      <p:to>
                                        <p:strVal val="visible"/>
                                      </p:to>
                                    </p:set>
                                    <p:animEffect transition="in" filter="dissolve">
                                      <p:cBhvr>
                                        <p:cTn id="12" dur="500"/>
                                        <p:tgtEl>
                                          <p:spTgt spid="911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1196"/>
                                        </p:tgtEl>
                                        <p:attrNameLst>
                                          <p:attrName>style.visibility</p:attrName>
                                        </p:attrNameLst>
                                      </p:cBhvr>
                                      <p:to>
                                        <p:strVal val="visible"/>
                                      </p:to>
                                    </p:set>
                                    <p:animEffect transition="in" filter="dissolve">
                                      <p:cBhvr>
                                        <p:cTn id="17" dur="500"/>
                                        <p:tgtEl>
                                          <p:spTgt spid="911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304800" y="395288"/>
            <a:ext cx="8588375"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lang="en-US" altLang="zh-CN" sz="2400" b="1" dirty="0">
                <a:solidFill>
                  <a:srgbClr val="FF0000"/>
                </a:solidFill>
                <a:latin typeface="宋体" pitchFamily="2" charset="-122"/>
              </a:rPr>
              <a:t>2.</a:t>
            </a:r>
            <a:r>
              <a:rPr lang="en-US" altLang="zh-CN" sz="2400" b="1" dirty="0">
                <a:solidFill>
                  <a:schemeClr val="tx2"/>
                </a:solidFill>
                <a:latin typeface="宋体" pitchFamily="2" charset="-122"/>
              </a:rPr>
              <a:t> </a:t>
            </a:r>
            <a:r>
              <a:rPr lang="zh-CN" altLang="en-US" sz="2400" b="1" dirty="0">
                <a:solidFill>
                  <a:schemeClr val="tx2"/>
                </a:solidFill>
                <a:latin typeface="宋体" pitchFamily="2" charset="-122"/>
              </a:rPr>
              <a:t>杨氏双缝干涉中，若有下列变动，干涉条纹将如何变化</a:t>
            </a:r>
            <a:r>
              <a:rPr lang="en-US" altLang="zh-CN" sz="2400" b="1" dirty="0">
                <a:solidFill>
                  <a:schemeClr val="tx2"/>
                </a:solidFill>
                <a:latin typeface="宋体" pitchFamily="2" charset="-122"/>
              </a:rPr>
              <a:t>?</a:t>
            </a:r>
          </a:p>
          <a:p>
            <a:pPr eaLnBrk="1" hangingPunct="1">
              <a:spcBef>
                <a:spcPct val="50000"/>
              </a:spcBef>
            </a:pPr>
            <a:r>
              <a:rPr lang="zh-CN" altLang="en-US" sz="2400" b="1" dirty="0">
                <a:solidFill>
                  <a:schemeClr val="tx2"/>
                </a:solidFill>
                <a:latin typeface="宋体" pitchFamily="2" charset="-122"/>
              </a:rPr>
              <a:t>   回答：条纹移动，间距，</a:t>
            </a:r>
            <a:r>
              <a:rPr lang="zh-CN" altLang="en-US" sz="2400" b="1" dirty="0" smtClean="0">
                <a:solidFill>
                  <a:schemeClr val="tx2"/>
                </a:solidFill>
                <a:latin typeface="宋体" pitchFamily="2" charset="-122"/>
              </a:rPr>
              <a:t>对比度，等</a:t>
            </a:r>
            <a:endParaRPr lang="en-US" altLang="zh-CN" sz="2400" b="1" dirty="0">
              <a:solidFill>
                <a:schemeClr val="tx2"/>
              </a:solidFill>
              <a:latin typeface="宋体" pitchFamily="2" charset="-122"/>
            </a:endParaRPr>
          </a:p>
        </p:txBody>
      </p:sp>
      <p:sp>
        <p:nvSpPr>
          <p:cNvPr id="120835" name="Text Box 3"/>
          <p:cNvSpPr txBox="1">
            <a:spLocks noChangeArrowheads="1"/>
          </p:cNvSpPr>
          <p:nvPr/>
        </p:nvSpPr>
        <p:spPr bwMode="auto">
          <a:xfrm>
            <a:off x="457200" y="1700213"/>
            <a:ext cx="447516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r>
              <a:rPr lang="en-US" altLang="zh-CN" sz="2400" b="1">
                <a:solidFill>
                  <a:schemeClr val="tx1"/>
                </a:solidFill>
                <a:latin typeface="宋体" pitchFamily="2" charset="-122"/>
              </a:rPr>
              <a:t>(1)</a:t>
            </a:r>
            <a:r>
              <a:rPr lang="zh-CN" altLang="en-US" sz="2400" b="1">
                <a:solidFill>
                  <a:schemeClr val="tx1"/>
                </a:solidFill>
                <a:latin typeface="宋体" pitchFamily="2" charset="-122"/>
              </a:rPr>
              <a:t>把整个装置浸入水中</a:t>
            </a:r>
            <a:r>
              <a:rPr lang="en-US" altLang="zh-CN" sz="2400" b="1">
                <a:solidFill>
                  <a:schemeClr val="tx1"/>
                </a:solidFill>
                <a:latin typeface="宋体" pitchFamily="2" charset="-122"/>
              </a:rPr>
              <a:t>;</a:t>
            </a:r>
          </a:p>
        </p:txBody>
      </p:sp>
      <p:grpSp>
        <p:nvGrpSpPr>
          <p:cNvPr id="120836" name="Group 4"/>
          <p:cNvGrpSpPr>
            <a:grpSpLocks/>
          </p:cNvGrpSpPr>
          <p:nvPr/>
        </p:nvGrpSpPr>
        <p:grpSpPr bwMode="auto">
          <a:xfrm>
            <a:off x="565150" y="2105025"/>
            <a:ext cx="4799013" cy="963613"/>
            <a:chOff x="431" y="1668"/>
            <a:chExt cx="3023" cy="607"/>
          </a:xfrm>
        </p:grpSpPr>
        <p:sp>
          <p:nvSpPr>
            <p:cNvPr id="53267" name="Text Box 5"/>
            <p:cNvSpPr txBox="1">
              <a:spLocks noChangeArrowheads="1"/>
            </p:cNvSpPr>
            <p:nvPr/>
          </p:nvSpPr>
          <p:spPr bwMode="auto">
            <a:xfrm>
              <a:off x="431" y="1752"/>
              <a:ext cx="3023"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r>
                <a:rPr lang="zh-CN" altLang="en-US" sz="2400" b="1">
                  <a:solidFill>
                    <a:schemeClr val="tx1"/>
                  </a:solidFill>
                  <a:latin typeface="宋体" pitchFamily="2" charset="-122"/>
                </a:rPr>
                <a:t>此时波长为              </a:t>
              </a:r>
              <a:r>
                <a:rPr lang="en-US" altLang="zh-CN" sz="2400" b="1">
                  <a:solidFill>
                    <a:schemeClr val="tx1"/>
                  </a:solidFill>
                  <a:latin typeface="宋体" pitchFamily="2" charset="-122"/>
                </a:rPr>
                <a:t>,</a:t>
              </a:r>
              <a:r>
                <a:rPr lang="zh-CN" altLang="en-US" sz="2400" b="1">
                  <a:solidFill>
                    <a:schemeClr val="tx1"/>
                  </a:solidFill>
                  <a:latin typeface="宋体" pitchFamily="2" charset="-122"/>
                </a:rPr>
                <a:t>则条纹变密</a:t>
              </a:r>
            </a:p>
          </p:txBody>
        </p:sp>
        <p:graphicFrame>
          <p:nvGraphicFramePr>
            <p:cNvPr id="53268" name="Object 6"/>
            <p:cNvGraphicFramePr>
              <a:graphicFrameLocks noChangeAspect="1"/>
            </p:cNvGraphicFramePr>
            <p:nvPr/>
          </p:nvGraphicFramePr>
          <p:xfrm>
            <a:off x="1464" y="1668"/>
            <a:ext cx="1325" cy="474"/>
          </p:xfrm>
          <a:graphic>
            <a:graphicData uri="http://schemas.openxmlformats.org/presentationml/2006/ole">
              <mc:AlternateContent xmlns:mc="http://schemas.openxmlformats.org/markup-compatibility/2006">
                <mc:Choice xmlns:v="urn:schemas-microsoft-com:vml" Requires="v">
                  <p:oleObj spid="_x0000_s53407" name="Equation" r:id="rId3" imgW="1098524" imgH="387373" progId="Equation.3">
                    <p:embed/>
                  </p:oleObj>
                </mc:Choice>
                <mc:Fallback>
                  <p:oleObj name="Equation" r:id="rId3" imgW="1098524" imgH="387373"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4" y="1668"/>
                          <a:ext cx="132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20839" name="Text Box 7"/>
          <p:cNvSpPr txBox="1">
            <a:spLocks noChangeArrowheads="1"/>
          </p:cNvSpPr>
          <p:nvPr/>
        </p:nvSpPr>
        <p:spPr bwMode="auto">
          <a:xfrm>
            <a:off x="539750" y="3975100"/>
            <a:ext cx="63785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lang="en-US" altLang="zh-CN" sz="2400" b="1">
                <a:solidFill>
                  <a:schemeClr val="tx1"/>
                </a:solidFill>
                <a:latin typeface="宋体" pitchFamily="2" charset="-122"/>
              </a:rPr>
              <a:t>(2)</a:t>
            </a:r>
            <a:r>
              <a:rPr lang="zh-CN" altLang="en-US" sz="2400" b="1">
                <a:solidFill>
                  <a:schemeClr val="tx1"/>
                </a:solidFill>
                <a:latin typeface="宋体" pitchFamily="2" charset="-122"/>
              </a:rPr>
              <a:t>在缝</a:t>
            </a:r>
            <a:r>
              <a:rPr lang="en-US" altLang="zh-CN" sz="2400" b="1">
                <a:solidFill>
                  <a:schemeClr val="tx1"/>
                </a:solidFill>
                <a:latin typeface="宋体" pitchFamily="2" charset="-122"/>
              </a:rPr>
              <a:t>S</a:t>
            </a:r>
            <a:r>
              <a:rPr lang="en-US" altLang="zh-CN" sz="2400" b="1" baseline="-30000">
                <a:solidFill>
                  <a:schemeClr val="tx1"/>
                </a:solidFill>
                <a:latin typeface="宋体" pitchFamily="2" charset="-122"/>
              </a:rPr>
              <a:t>2</a:t>
            </a:r>
            <a:r>
              <a:rPr lang="zh-CN" altLang="en-US" sz="2400" b="1">
                <a:solidFill>
                  <a:schemeClr val="tx1"/>
                </a:solidFill>
                <a:latin typeface="宋体" pitchFamily="2" charset="-122"/>
              </a:rPr>
              <a:t>处慢慢插入一块楔形玻璃片</a:t>
            </a:r>
            <a:r>
              <a:rPr lang="en-US" altLang="zh-CN" sz="2400" b="1">
                <a:solidFill>
                  <a:schemeClr val="tx1"/>
                </a:solidFill>
                <a:latin typeface="宋体" pitchFamily="2" charset="-122"/>
              </a:rPr>
              <a:t>;</a:t>
            </a:r>
          </a:p>
        </p:txBody>
      </p:sp>
      <p:sp>
        <p:nvSpPr>
          <p:cNvPr id="120840" name="Text Box 8"/>
          <p:cNvSpPr txBox="1">
            <a:spLocks noChangeArrowheads="1"/>
          </p:cNvSpPr>
          <p:nvPr/>
        </p:nvSpPr>
        <p:spPr bwMode="auto">
          <a:xfrm>
            <a:off x="600075" y="4487863"/>
            <a:ext cx="8220075" cy="167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zh-CN" altLang="en-US" sz="2400" b="1">
                <a:solidFill>
                  <a:schemeClr val="tx1"/>
                </a:solidFill>
                <a:latin typeface="宋体" pitchFamily="2" charset="-122"/>
              </a:rPr>
              <a:t>图示由于</a:t>
            </a:r>
            <a:r>
              <a:rPr lang="en-US" altLang="zh-CN" sz="2400" b="1">
                <a:solidFill>
                  <a:schemeClr val="tx1"/>
                </a:solidFill>
                <a:latin typeface="宋体" pitchFamily="2" charset="-122"/>
              </a:rPr>
              <a:t>S</a:t>
            </a:r>
            <a:r>
              <a:rPr lang="en-US" altLang="zh-CN" sz="2400" b="1" baseline="-30000">
                <a:solidFill>
                  <a:schemeClr val="tx1"/>
                </a:solidFill>
                <a:latin typeface="宋体" pitchFamily="2" charset="-122"/>
              </a:rPr>
              <a:t>2</a:t>
            </a:r>
            <a:r>
              <a:rPr lang="zh-CN" altLang="en-US" sz="2400" b="1">
                <a:solidFill>
                  <a:schemeClr val="tx1"/>
                </a:solidFill>
                <a:latin typeface="宋体" pitchFamily="2" charset="-122"/>
              </a:rPr>
              <a:t>到</a:t>
            </a:r>
            <a:r>
              <a:rPr lang="en-US" altLang="zh-CN" sz="2400" b="1">
                <a:solidFill>
                  <a:schemeClr val="tx1"/>
                </a:solidFill>
                <a:latin typeface="宋体" pitchFamily="2" charset="-122"/>
              </a:rPr>
              <a:t>O</a:t>
            </a:r>
            <a:r>
              <a:rPr lang="zh-CN" altLang="en-US" sz="2400" b="1">
                <a:solidFill>
                  <a:schemeClr val="tx1"/>
                </a:solidFill>
                <a:latin typeface="宋体" pitchFamily="2" charset="-122"/>
              </a:rPr>
              <a:t>点的光程逐渐增加，因此</a:t>
            </a:r>
            <a:r>
              <a:rPr lang="en-US" altLang="zh-CN" sz="2400" b="1">
                <a:solidFill>
                  <a:schemeClr val="tx1"/>
                </a:solidFill>
                <a:latin typeface="宋体" pitchFamily="2" charset="-122"/>
              </a:rPr>
              <a:t>S</a:t>
            </a:r>
            <a:r>
              <a:rPr lang="en-US" altLang="zh-CN" sz="2400" b="1" baseline="-30000">
                <a:solidFill>
                  <a:schemeClr val="tx1"/>
                </a:solidFill>
                <a:latin typeface="宋体" pitchFamily="2" charset="-122"/>
              </a:rPr>
              <a:t>1</a:t>
            </a:r>
            <a:r>
              <a:rPr lang="zh-CN" altLang="en-US" sz="2400" b="1">
                <a:solidFill>
                  <a:schemeClr val="tx1"/>
                </a:solidFill>
                <a:latin typeface="宋体" pitchFamily="2" charset="-122"/>
              </a:rPr>
              <a:t>到屏和</a:t>
            </a:r>
            <a:r>
              <a:rPr lang="en-US" altLang="zh-CN" sz="2400" b="1">
                <a:solidFill>
                  <a:schemeClr val="tx1"/>
                </a:solidFill>
                <a:latin typeface="宋体" pitchFamily="2" charset="-122"/>
              </a:rPr>
              <a:t>S</a:t>
            </a:r>
            <a:r>
              <a:rPr lang="en-US" altLang="zh-CN" sz="2400" b="1" baseline="-30000">
                <a:solidFill>
                  <a:schemeClr val="tx1"/>
                </a:solidFill>
                <a:latin typeface="宋体" pitchFamily="2" charset="-122"/>
              </a:rPr>
              <a:t>2</a:t>
            </a:r>
            <a:r>
              <a:rPr lang="zh-CN" altLang="en-US" sz="2400" b="1">
                <a:solidFill>
                  <a:schemeClr val="tx1"/>
                </a:solidFill>
                <a:latin typeface="宋体" pitchFamily="2" charset="-122"/>
              </a:rPr>
              <a:t>到屏两束光线相遇处的光程差为零的位置向下移动</a:t>
            </a:r>
            <a:r>
              <a:rPr lang="en-US" altLang="zh-CN" sz="2400" b="1">
                <a:solidFill>
                  <a:schemeClr val="tx1"/>
                </a:solidFill>
                <a:latin typeface="宋体" pitchFamily="2" charset="-122"/>
              </a:rPr>
              <a:t>,</a:t>
            </a:r>
            <a:r>
              <a:rPr lang="zh-CN" altLang="en-US" sz="2400" b="1">
                <a:solidFill>
                  <a:schemeClr val="tx1"/>
                </a:solidFill>
                <a:latin typeface="Tahoma" pitchFamily="34" charset="0"/>
              </a:rPr>
              <a:t>即整个干涉条纹向下移动</a:t>
            </a:r>
            <a:r>
              <a:rPr lang="en-US" altLang="zh-CN" sz="2400" b="1">
                <a:solidFill>
                  <a:schemeClr val="tx1"/>
                </a:solidFill>
                <a:latin typeface="Tahoma" pitchFamily="34" charset="0"/>
              </a:rPr>
              <a:t>.</a:t>
            </a:r>
          </a:p>
        </p:txBody>
      </p:sp>
      <p:grpSp>
        <p:nvGrpSpPr>
          <p:cNvPr id="53255" name="Group 9"/>
          <p:cNvGrpSpPr>
            <a:grpSpLocks/>
          </p:cNvGrpSpPr>
          <p:nvPr/>
        </p:nvGrpSpPr>
        <p:grpSpPr bwMode="auto">
          <a:xfrm>
            <a:off x="5792788" y="1841500"/>
            <a:ext cx="2667000" cy="1371600"/>
            <a:chOff x="3984" y="1296"/>
            <a:chExt cx="1680" cy="864"/>
          </a:xfrm>
        </p:grpSpPr>
        <p:sp>
          <p:nvSpPr>
            <p:cNvPr id="53257" name="Line 10"/>
            <p:cNvSpPr>
              <a:spLocks noChangeShapeType="1"/>
            </p:cNvSpPr>
            <p:nvPr/>
          </p:nvSpPr>
          <p:spPr bwMode="auto">
            <a:xfrm>
              <a:off x="4608" y="1296"/>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58" name="Line 11"/>
            <p:cNvSpPr>
              <a:spLocks noChangeShapeType="1"/>
            </p:cNvSpPr>
            <p:nvPr/>
          </p:nvSpPr>
          <p:spPr bwMode="auto">
            <a:xfrm>
              <a:off x="4608" y="1584"/>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59" name="Line 12"/>
            <p:cNvSpPr>
              <a:spLocks noChangeShapeType="1"/>
            </p:cNvSpPr>
            <p:nvPr/>
          </p:nvSpPr>
          <p:spPr bwMode="auto">
            <a:xfrm>
              <a:off x="4608" y="1920"/>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0" name="Line 13"/>
            <p:cNvSpPr>
              <a:spLocks noChangeShapeType="1"/>
            </p:cNvSpPr>
            <p:nvPr/>
          </p:nvSpPr>
          <p:spPr bwMode="auto">
            <a:xfrm>
              <a:off x="4176" y="1728"/>
              <a:ext cx="1301" cy="0"/>
            </a:xfrm>
            <a:prstGeom prst="line">
              <a:avLst/>
            </a:prstGeom>
            <a:noFill/>
            <a:ln w="1905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1" name="Line 14"/>
            <p:cNvSpPr>
              <a:spLocks noChangeShapeType="1"/>
            </p:cNvSpPr>
            <p:nvPr/>
          </p:nvSpPr>
          <p:spPr bwMode="auto">
            <a:xfrm>
              <a:off x="5472" y="1296"/>
              <a:ext cx="5" cy="86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3262" name="Object 15"/>
            <p:cNvGraphicFramePr>
              <a:graphicFrameLocks noChangeAspect="1"/>
            </p:cNvGraphicFramePr>
            <p:nvPr/>
          </p:nvGraphicFramePr>
          <p:xfrm>
            <a:off x="3984" y="1632"/>
            <a:ext cx="172" cy="223"/>
          </p:xfrm>
          <a:graphic>
            <a:graphicData uri="http://schemas.openxmlformats.org/presentationml/2006/ole">
              <mc:AlternateContent xmlns:mc="http://schemas.openxmlformats.org/markup-compatibility/2006">
                <mc:Choice xmlns:v="urn:schemas-microsoft-com:vml" Requires="v">
                  <p:oleObj spid="_x0000_s53408" name="Equation" r:id="rId5" imgW="133531" imgH="171658" progId="Equation.3">
                    <p:embed/>
                  </p:oleObj>
                </mc:Choice>
                <mc:Fallback>
                  <p:oleObj name="Equation" r:id="rId5" imgW="133531" imgH="171658"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4" y="1632"/>
                          <a:ext cx="172"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3" name="Object 16"/>
            <p:cNvGraphicFramePr>
              <a:graphicFrameLocks noChangeAspect="1"/>
            </p:cNvGraphicFramePr>
            <p:nvPr/>
          </p:nvGraphicFramePr>
          <p:xfrm>
            <a:off x="4401" y="1320"/>
            <a:ext cx="203" cy="271"/>
          </p:xfrm>
          <a:graphic>
            <a:graphicData uri="http://schemas.openxmlformats.org/presentationml/2006/ole">
              <mc:AlternateContent xmlns:mc="http://schemas.openxmlformats.org/markup-compatibility/2006">
                <mc:Choice xmlns:v="urn:schemas-microsoft-com:vml" Requires="v">
                  <p:oleObj spid="_x0000_s53409" name="Equation" r:id="rId7" imgW="158828" imgH="209481" progId="Equation.3">
                    <p:embed/>
                  </p:oleObj>
                </mc:Choice>
                <mc:Fallback>
                  <p:oleObj name="Equation" r:id="rId7" imgW="158828" imgH="209481"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01" y="1320"/>
                          <a:ext cx="2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4" name="Object 17"/>
            <p:cNvGraphicFramePr>
              <a:graphicFrameLocks noChangeAspect="1"/>
            </p:cNvGraphicFramePr>
            <p:nvPr/>
          </p:nvGraphicFramePr>
          <p:xfrm>
            <a:off x="4389" y="1872"/>
            <a:ext cx="219" cy="271"/>
          </p:xfrm>
          <a:graphic>
            <a:graphicData uri="http://schemas.openxmlformats.org/presentationml/2006/ole">
              <mc:AlternateContent xmlns:mc="http://schemas.openxmlformats.org/markup-compatibility/2006">
                <mc:Choice xmlns:v="urn:schemas-microsoft-com:vml" Requires="v">
                  <p:oleObj spid="_x0000_s53410" name="Equation" r:id="rId9" imgW="171269" imgH="209481" progId="Equation.3">
                    <p:embed/>
                  </p:oleObj>
                </mc:Choice>
                <mc:Fallback>
                  <p:oleObj name="Equation" r:id="rId9" imgW="171269" imgH="209481"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89" y="1872"/>
                          <a:ext cx="21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5" name="Object 18"/>
            <p:cNvGraphicFramePr>
              <a:graphicFrameLocks noChangeAspect="1"/>
            </p:cNvGraphicFramePr>
            <p:nvPr/>
          </p:nvGraphicFramePr>
          <p:xfrm>
            <a:off x="5508" y="1648"/>
            <a:ext cx="156" cy="176"/>
          </p:xfrm>
          <a:graphic>
            <a:graphicData uri="http://schemas.openxmlformats.org/presentationml/2006/ole">
              <mc:AlternateContent xmlns:mc="http://schemas.openxmlformats.org/markup-compatibility/2006">
                <mc:Choice xmlns:v="urn:schemas-microsoft-com:vml" Requires="v">
                  <p:oleObj spid="_x0000_s53411" name="Equation" r:id="rId11" imgW="120676" imgH="133419" progId="Equation.3">
                    <p:embed/>
                  </p:oleObj>
                </mc:Choice>
                <mc:Fallback>
                  <p:oleObj name="Equation" r:id="rId11" imgW="120676" imgH="133419" progId="Equation.3">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08" y="1648"/>
                          <a:ext cx="15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66" name="Oval 19"/>
            <p:cNvSpPr>
              <a:spLocks noChangeArrowheads="1"/>
            </p:cNvSpPr>
            <p:nvPr/>
          </p:nvSpPr>
          <p:spPr bwMode="auto">
            <a:xfrm>
              <a:off x="4128" y="1680"/>
              <a:ext cx="96" cy="96"/>
            </a:xfrm>
            <a:prstGeom prst="ellipse">
              <a:avLst/>
            </a:prstGeom>
            <a:solidFill>
              <a:srgbClr val="0000FF"/>
            </a:solidFill>
            <a:ln w="19050">
              <a:solidFill>
                <a:schemeClr val="bg1"/>
              </a:solidFill>
              <a:round/>
              <a:headEnd type="none" w="sm" len="med"/>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grpSp>
      <p:graphicFrame>
        <p:nvGraphicFramePr>
          <p:cNvPr id="120852" name="Object 20"/>
          <p:cNvGraphicFramePr>
            <a:graphicFrameLocks noChangeAspect="1"/>
          </p:cNvGraphicFramePr>
          <p:nvPr>
            <p:extLst>
              <p:ext uri="{D42A27DB-BD31-4B8C-83A1-F6EECF244321}">
                <p14:modId xmlns:p14="http://schemas.microsoft.com/office/powerpoint/2010/main" val="1501230825"/>
              </p:ext>
            </p:extLst>
          </p:nvPr>
        </p:nvGraphicFramePr>
        <p:xfrm>
          <a:off x="1971675" y="2827461"/>
          <a:ext cx="1471613" cy="817563"/>
        </p:xfrm>
        <a:graphic>
          <a:graphicData uri="http://schemas.openxmlformats.org/presentationml/2006/ole">
            <mc:AlternateContent xmlns:mc="http://schemas.openxmlformats.org/markup-compatibility/2006">
              <mc:Choice xmlns:v="urn:schemas-microsoft-com:vml" Requires="v">
                <p:oleObj spid="_x0000_s53412" name="公式" r:id="rId13" imgW="685800" imgH="406080" progId="Equation.3">
                  <p:embed/>
                </p:oleObj>
              </mc:Choice>
              <mc:Fallback>
                <p:oleObj name="公式" r:id="rId13" imgW="685800" imgH="406080"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71675" y="2827461"/>
                        <a:ext cx="1471613" cy="817563"/>
                      </a:xfrm>
                      <a:prstGeom prst="rect">
                        <a:avLst/>
                      </a:prstGeom>
                      <a:noFill/>
                      <a:ln w="19050">
                        <a:solidFill>
                          <a:srgbClr val="00B05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20835"/>
                                        </p:tgtEl>
                                        <p:attrNameLst>
                                          <p:attrName>style.visibility</p:attrName>
                                        </p:attrNameLst>
                                      </p:cBhvr>
                                      <p:to>
                                        <p:strVal val="visible"/>
                                      </p:to>
                                    </p:set>
                                    <p:animEffect transition="in" filter="diamond(in)">
                                      <p:cBhvr>
                                        <p:cTn id="7" dur="2000"/>
                                        <p:tgtEl>
                                          <p:spTgt spid="1208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20836"/>
                                        </p:tgtEl>
                                        <p:attrNameLst>
                                          <p:attrName>style.visibility</p:attrName>
                                        </p:attrNameLst>
                                      </p:cBhvr>
                                      <p:to>
                                        <p:strVal val="visible"/>
                                      </p:to>
                                    </p:set>
                                    <p:animEffect transition="in" filter="checkerboard(across)">
                                      <p:cBhvr>
                                        <p:cTn id="12" dur="500"/>
                                        <p:tgtEl>
                                          <p:spTgt spid="1208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0852"/>
                                        </p:tgtEl>
                                        <p:attrNameLst>
                                          <p:attrName>style.visibility</p:attrName>
                                        </p:attrNameLst>
                                      </p:cBhvr>
                                      <p:to>
                                        <p:strVal val="visible"/>
                                      </p:to>
                                    </p:set>
                                    <p:animEffect transition="in" filter="wipe(left)">
                                      <p:cBhvr>
                                        <p:cTn id="17" dur="500"/>
                                        <p:tgtEl>
                                          <p:spTgt spid="1208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20839"/>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20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p:bldP spid="120839" grpId="0" autoUpdateAnimBg="0"/>
      <p:bldP spid="120840"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304800" y="590550"/>
            <a:ext cx="8370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lang="en-US" altLang="zh-CN" sz="2400" b="1">
                <a:solidFill>
                  <a:schemeClr val="tx1"/>
                </a:solidFill>
                <a:latin typeface="宋体" pitchFamily="2" charset="-122"/>
              </a:rPr>
              <a:t>(3)</a:t>
            </a:r>
            <a:r>
              <a:rPr lang="zh-CN" altLang="en-US" sz="2400" b="1">
                <a:solidFill>
                  <a:schemeClr val="tx1"/>
                </a:solidFill>
                <a:latin typeface="宋体" pitchFamily="2" charset="-122"/>
              </a:rPr>
              <a:t>把缝隙</a:t>
            </a:r>
            <a:r>
              <a:rPr lang="en-US" altLang="zh-CN" sz="2400" b="1">
                <a:solidFill>
                  <a:schemeClr val="tx1"/>
                </a:solidFill>
                <a:latin typeface="宋体" pitchFamily="2" charset="-122"/>
              </a:rPr>
              <a:t>S</a:t>
            </a:r>
            <a:r>
              <a:rPr lang="en-US" altLang="zh-CN" sz="2400" b="1" baseline="-30000">
                <a:solidFill>
                  <a:schemeClr val="tx1"/>
                </a:solidFill>
                <a:latin typeface="宋体" pitchFamily="2" charset="-122"/>
              </a:rPr>
              <a:t>2</a:t>
            </a:r>
            <a:r>
              <a:rPr lang="zh-CN" altLang="en-US" sz="2400" b="1">
                <a:solidFill>
                  <a:schemeClr val="tx1"/>
                </a:solidFill>
                <a:latin typeface="宋体" pitchFamily="2" charset="-122"/>
              </a:rPr>
              <a:t>遮住，并在两缝垂直平面上放一平面反射镜</a:t>
            </a:r>
            <a:r>
              <a:rPr lang="en-US" altLang="zh-CN" sz="2400" b="1">
                <a:solidFill>
                  <a:schemeClr val="tx1"/>
                </a:solidFill>
                <a:latin typeface="宋体" pitchFamily="2" charset="-122"/>
              </a:rPr>
              <a:t>;</a:t>
            </a:r>
          </a:p>
        </p:txBody>
      </p:sp>
      <p:sp>
        <p:nvSpPr>
          <p:cNvPr id="121859" name="Text Box 3"/>
          <p:cNvSpPr txBox="1">
            <a:spLocks noChangeArrowheads="1"/>
          </p:cNvSpPr>
          <p:nvPr/>
        </p:nvSpPr>
        <p:spPr bwMode="auto">
          <a:xfrm>
            <a:off x="323850" y="3789363"/>
            <a:ext cx="47117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chemeClr val="tx1"/>
                </a:solidFill>
                <a:latin typeface="宋体" pitchFamily="2" charset="-122"/>
              </a:rPr>
              <a:t>(4)</a:t>
            </a:r>
            <a:r>
              <a:rPr lang="zh-CN" altLang="en-US" sz="2400" b="1">
                <a:solidFill>
                  <a:schemeClr val="tx1"/>
                </a:solidFill>
                <a:latin typeface="宋体" pitchFamily="2" charset="-122"/>
              </a:rPr>
              <a:t>两缝宽度稍有不等</a:t>
            </a:r>
            <a:r>
              <a:rPr lang="en-US" altLang="zh-CN" sz="2400" b="1">
                <a:solidFill>
                  <a:schemeClr val="tx1"/>
                </a:solidFill>
                <a:latin typeface="宋体" pitchFamily="2" charset="-122"/>
              </a:rPr>
              <a:t>;</a:t>
            </a:r>
          </a:p>
        </p:txBody>
      </p:sp>
      <p:sp>
        <p:nvSpPr>
          <p:cNvPr id="121860" name="Text Box 4"/>
          <p:cNvSpPr txBox="1">
            <a:spLocks noChangeArrowheads="1"/>
          </p:cNvSpPr>
          <p:nvPr/>
        </p:nvSpPr>
        <p:spPr bwMode="auto">
          <a:xfrm>
            <a:off x="395288" y="4316413"/>
            <a:ext cx="81375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zh-CN" altLang="en-US" sz="2400" b="1" dirty="0">
                <a:solidFill>
                  <a:schemeClr val="tx1"/>
                </a:solidFill>
                <a:latin typeface="宋体" pitchFamily="2" charset="-122"/>
              </a:rPr>
              <a:t>干涉条纹位置不变</a:t>
            </a:r>
            <a:r>
              <a:rPr lang="en-US" altLang="zh-CN" sz="2400" b="1" dirty="0">
                <a:solidFill>
                  <a:schemeClr val="tx1"/>
                </a:solidFill>
                <a:latin typeface="宋体" pitchFamily="2" charset="-122"/>
              </a:rPr>
              <a:t>,</a:t>
            </a:r>
            <a:r>
              <a:rPr lang="zh-CN" altLang="en-US" sz="2400" b="1" dirty="0">
                <a:solidFill>
                  <a:schemeClr val="tx1"/>
                </a:solidFill>
                <a:latin typeface="宋体" pitchFamily="2" charset="-122"/>
              </a:rPr>
              <a:t>但</a:t>
            </a:r>
            <a:r>
              <a:rPr lang="zh-CN" altLang="en-US" sz="2400" b="1" dirty="0" smtClean="0">
                <a:solidFill>
                  <a:schemeClr val="tx1"/>
                </a:solidFill>
                <a:latin typeface="宋体" pitchFamily="2" charset="-122"/>
              </a:rPr>
              <a:t>干涉相消不</a:t>
            </a:r>
            <a:r>
              <a:rPr lang="zh-CN" altLang="en-US" sz="2400" b="1" dirty="0">
                <a:solidFill>
                  <a:schemeClr val="tx1"/>
                </a:solidFill>
                <a:latin typeface="宋体" pitchFamily="2" charset="-122"/>
              </a:rPr>
              <a:t>为</a:t>
            </a:r>
            <a:r>
              <a:rPr lang="zh-CN" altLang="en-US" sz="2400" b="1" dirty="0" smtClean="0">
                <a:solidFill>
                  <a:schemeClr val="tx1"/>
                </a:solidFill>
                <a:latin typeface="宋体" pitchFamily="2" charset="-122"/>
              </a:rPr>
              <a:t>零</a:t>
            </a:r>
            <a:r>
              <a:rPr lang="en-US" altLang="zh-CN" sz="2400" b="1" dirty="0" smtClean="0">
                <a:solidFill>
                  <a:schemeClr val="tx1"/>
                </a:solidFill>
                <a:latin typeface="宋体" pitchFamily="2" charset="-122"/>
              </a:rPr>
              <a:t>,</a:t>
            </a:r>
            <a:r>
              <a:rPr lang="zh-CN" altLang="en-US" sz="2400" b="1" dirty="0">
                <a:solidFill>
                  <a:schemeClr val="tx1"/>
                </a:solidFill>
                <a:latin typeface="宋体" pitchFamily="2" charset="-122"/>
              </a:rPr>
              <a:t>整个条纹对比度下降</a:t>
            </a:r>
            <a:r>
              <a:rPr lang="en-US" altLang="zh-CN" sz="2400" b="1" dirty="0">
                <a:solidFill>
                  <a:schemeClr val="tx1"/>
                </a:solidFill>
                <a:latin typeface="宋体" pitchFamily="2" charset="-122"/>
              </a:rPr>
              <a:t>,</a:t>
            </a:r>
            <a:r>
              <a:rPr lang="zh-CN" altLang="en-US" sz="2400" b="1" dirty="0">
                <a:solidFill>
                  <a:schemeClr val="tx1"/>
                </a:solidFill>
                <a:latin typeface="宋体" pitchFamily="2" charset="-122"/>
              </a:rPr>
              <a:t>不够清晰</a:t>
            </a:r>
            <a:r>
              <a:rPr lang="en-US" altLang="zh-CN" sz="2400" b="1" dirty="0">
                <a:solidFill>
                  <a:schemeClr val="tx1"/>
                </a:solidFill>
                <a:latin typeface="宋体" pitchFamily="2" charset="-122"/>
              </a:rPr>
              <a:t>.</a:t>
            </a:r>
          </a:p>
        </p:txBody>
      </p:sp>
      <p:grpSp>
        <p:nvGrpSpPr>
          <p:cNvPr id="54277" name="Group 5"/>
          <p:cNvGrpSpPr>
            <a:grpSpLocks/>
          </p:cNvGrpSpPr>
          <p:nvPr/>
        </p:nvGrpSpPr>
        <p:grpSpPr bwMode="auto">
          <a:xfrm>
            <a:off x="4427538" y="2492375"/>
            <a:ext cx="3048000" cy="1524000"/>
            <a:chOff x="3408" y="2112"/>
            <a:chExt cx="1920" cy="960"/>
          </a:xfrm>
        </p:grpSpPr>
        <p:sp>
          <p:nvSpPr>
            <p:cNvPr id="54279" name="Line 6"/>
            <p:cNvSpPr>
              <a:spLocks noChangeShapeType="1"/>
            </p:cNvSpPr>
            <p:nvPr/>
          </p:nvSpPr>
          <p:spPr bwMode="auto">
            <a:xfrm>
              <a:off x="4176" y="2208"/>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0" name="Line 7"/>
            <p:cNvSpPr>
              <a:spLocks noChangeShapeType="1"/>
            </p:cNvSpPr>
            <p:nvPr/>
          </p:nvSpPr>
          <p:spPr bwMode="auto">
            <a:xfrm>
              <a:off x="4176" y="2496"/>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1" name="Line 8"/>
            <p:cNvSpPr>
              <a:spLocks noChangeShapeType="1"/>
            </p:cNvSpPr>
            <p:nvPr/>
          </p:nvSpPr>
          <p:spPr bwMode="auto">
            <a:xfrm>
              <a:off x="4176" y="2832"/>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2" name="Line 9"/>
            <p:cNvSpPr>
              <a:spLocks noChangeShapeType="1"/>
            </p:cNvSpPr>
            <p:nvPr/>
          </p:nvSpPr>
          <p:spPr bwMode="auto">
            <a:xfrm>
              <a:off x="3744" y="2640"/>
              <a:ext cx="1392" cy="0"/>
            </a:xfrm>
            <a:prstGeom prst="line">
              <a:avLst/>
            </a:prstGeom>
            <a:noFill/>
            <a:ln w="1905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3" name="Line 10"/>
            <p:cNvSpPr>
              <a:spLocks noChangeShapeType="1"/>
            </p:cNvSpPr>
            <p:nvPr/>
          </p:nvSpPr>
          <p:spPr bwMode="auto">
            <a:xfrm>
              <a:off x="5136" y="2112"/>
              <a:ext cx="0" cy="9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4" name="Freeform 11"/>
            <p:cNvSpPr>
              <a:spLocks/>
            </p:cNvSpPr>
            <p:nvPr/>
          </p:nvSpPr>
          <p:spPr bwMode="auto">
            <a:xfrm>
              <a:off x="4172" y="2348"/>
              <a:ext cx="968" cy="124"/>
            </a:xfrm>
            <a:custGeom>
              <a:avLst/>
              <a:gdLst>
                <a:gd name="T0" fmla="*/ 0 w 968"/>
                <a:gd name="T1" fmla="*/ 124 h 124"/>
                <a:gd name="T2" fmla="*/ 968 w 968"/>
                <a:gd name="T3" fmla="*/ 0 h 124"/>
                <a:gd name="T4" fmla="*/ 0 60000 65536"/>
                <a:gd name="T5" fmla="*/ 0 60000 65536"/>
              </a:gdLst>
              <a:ahLst/>
              <a:cxnLst>
                <a:cxn ang="T4">
                  <a:pos x="T0" y="T1"/>
                </a:cxn>
                <a:cxn ang="T5">
                  <a:pos x="T2" y="T3"/>
                </a:cxn>
              </a:cxnLst>
              <a:rect l="0" t="0" r="r" b="b"/>
              <a:pathLst>
                <a:path w="968" h="124">
                  <a:moveTo>
                    <a:pt x="0" y="124"/>
                  </a:moveTo>
                  <a:lnTo>
                    <a:pt x="968" y="0"/>
                  </a:lnTo>
                </a:path>
              </a:pathLst>
            </a:custGeom>
            <a:solidFill>
              <a:schemeClr val="accent1"/>
            </a:solidFill>
            <a:ln w="19050" cap="flat" cmpd="sng">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4285" name="Object 12"/>
            <p:cNvGraphicFramePr>
              <a:graphicFrameLocks noChangeAspect="1"/>
            </p:cNvGraphicFramePr>
            <p:nvPr/>
          </p:nvGraphicFramePr>
          <p:xfrm>
            <a:off x="3408" y="2544"/>
            <a:ext cx="172" cy="223"/>
          </p:xfrm>
          <a:graphic>
            <a:graphicData uri="http://schemas.openxmlformats.org/presentationml/2006/ole">
              <mc:AlternateContent xmlns:mc="http://schemas.openxmlformats.org/markup-compatibility/2006">
                <mc:Choice xmlns:v="urn:schemas-microsoft-com:vml" Requires="v">
                  <p:oleObj spid="_x0000_s54389" name="Equation" r:id="rId3" imgW="133531" imgH="171658" progId="Equation.3">
                    <p:embed/>
                  </p:oleObj>
                </mc:Choice>
                <mc:Fallback>
                  <p:oleObj name="Equation" r:id="rId3" imgW="133531" imgH="171658"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8" y="2544"/>
                          <a:ext cx="172"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86" name="Object 13"/>
            <p:cNvGraphicFramePr>
              <a:graphicFrameLocks noChangeAspect="1"/>
            </p:cNvGraphicFramePr>
            <p:nvPr/>
          </p:nvGraphicFramePr>
          <p:xfrm>
            <a:off x="3969" y="2232"/>
            <a:ext cx="203" cy="271"/>
          </p:xfrm>
          <a:graphic>
            <a:graphicData uri="http://schemas.openxmlformats.org/presentationml/2006/ole">
              <mc:AlternateContent xmlns:mc="http://schemas.openxmlformats.org/markup-compatibility/2006">
                <mc:Choice xmlns:v="urn:schemas-microsoft-com:vml" Requires="v">
                  <p:oleObj spid="_x0000_s54390" name="Equation" r:id="rId5" imgW="158828" imgH="209481" progId="Equation.3">
                    <p:embed/>
                  </p:oleObj>
                </mc:Choice>
                <mc:Fallback>
                  <p:oleObj name="Equation" r:id="rId5" imgW="158828" imgH="209481"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9" y="2232"/>
                          <a:ext cx="2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87" name="Object 14"/>
            <p:cNvGraphicFramePr>
              <a:graphicFrameLocks noChangeAspect="1"/>
            </p:cNvGraphicFramePr>
            <p:nvPr/>
          </p:nvGraphicFramePr>
          <p:xfrm>
            <a:off x="3957" y="2784"/>
            <a:ext cx="219" cy="271"/>
          </p:xfrm>
          <a:graphic>
            <a:graphicData uri="http://schemas.openxmlformats.org/presentationml/2006/ole">
              <mc:AlternateContent xmlns:mc="http://schemas.openxmlformats.org/markup-compatibility/2006">
                <mc:Choice xmlns:v="urn:schemas-microsoft-com:vml" Requires="v">
                  <p:oleObj spid="_x0000_s54391" name="Equation" r:id="rId7" imgW="171269" imgH="209481" progId="Equation.3">
                    <p:embed/>
                  </p:oleObj>
                </mc:Choice>
                <mc:Fallback>
                  <p:oleObj name="Equation" r:id="rId7" imgW="171269" imgH="209481"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7" y="2784"/>
                          <a:ext cx="21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88" name="Object 15"/>
            <p:cNvGraphicFramePr>
              <a:graphicFrameLocks noChangeAspect="1"/>
            </p:cNvGraphicFramePr>
            <p:nvPr/>
          </p:nvGraphicFramePr>
          <p:xfrm>
            <a:off x="5172" y="2560"/>
            <a:ext cx="156" cy="176"/>
          </p:xfrm>
          <a:graphic>
            <a:graphicData uri="http://schemas.openxmlformats.org/presentationml/2006/ole">
              <mc:AlternateContent xmlns:mc="http://schemas.openxmlformats.org/markup-compatibility/2006">
                <mc:Choice xmlns:v="urn:schemas-microsoft-com:vml" Requires="v">
                  <p:oleObj spid="_x0000_s54392" name="Equation" r:id="rId9" imgW="120676" imgH="133419" progId="Equation.3">
                    <p:embed/>
                  </p:oleObj>
                </mc:Choice>
                <mc:Fallback>
                  <p:oleObj name="Equation" r:id="rId9" imgW="120676" imgH="133419"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72" y="2560"/>
                          <a:ext cx="156" cy="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4289" name="Oval 16"/>
            <p:cNvSpPr>
              <a:spLocks noChangeArrowheads="1"/>
            </p:cNvSpPr>
            <p:nvPr/>
          </p:nvSpPr>
          <p:spPr bwMode="auto">
            <a:xfrm>
              <a:off x="3648" y="2592"/>
              <a:ext cx="96" cy="96"/>
            </a:xfrm>
            <a:prstGeom prst="ellipse">
              <a:avLst/>
            </a:prstGeom>
            <a:solidFill>
              <a:srgbClr val="0000FF"/>
            </a:solidFill>
            <a:ln w="19050">
              <a:solidFill>
                <a:schemeClr val="bg1"/>
              </a:solidFill>
              <a:round/>
              <a:headEnd type="none" w="sm" len="med"/>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54290" name="Rectangle 17"/>
            <p:cNvSpPr>
              <a:spLocks noChangeArrowheads="1"/>
            </p:cNvSpPr>
            <p:nvPr/>
          </p:nvSpPr>
          <p:spPr bwMode="auto">
            <a:xfrm>
              <a:off x="4176" y="2640"/>
              <a:ext cx="960" cy="48"/>
            </a:xfrm>
            <a:prstGeom prst="rect">
              <a:avLst/>
            </a:prstGeom>
            <a:solidFill>
              <a:schemeClr val="accent1"/>
            </a:solidFill>
            <a:ln>
              <a:noFill/>
            </a:ln>
            <a:effectLst/>
            <a:extLst>
              <a:ext uri="{91240B29-F687-4F45-9708-019B960494DF}">
                <a14:hiddenLine xmlns:a14="http://schemas.microsoft.com/office/drawing/2010/main" w="9525">
                  <a:solidFill>
                    <a:schemeClr val="tx2"/>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54291" name="Freeform 18"/>
            <p:cNvSpPr>
              <a:spLocks/>
            </p:cNvSpPr>
            <p:nvPr/>
          </p:nvSpPr>
          <p:spPr bwMode="auto">
            <a:xfrm>
              <a:off x="4176" y="2468"/>
              <a:ext cx="384" cy="172"/>
            </a:xfrm>
            <a:custGeom>
              <a:avLst/>
              <a:gdLst>
                <a:gd name="T0" fmla="*/ 0 w 384"/>
                <a:gd name="T1" fmla="*/ 0 h 172"/>
                <a:gd name="T2" fmla="*/ 384 w 384"/>
                <a:gd name="T3" fmla="*/ 172 h 172"/>
                <a:gd name="T4" fmla="*/ 0 60000 65536"/>
                <a:gd name="T5" fmla="*/ 0 60000 65536"/>
              </a:gdLst>
              <a:ahLst/>
              <a:cxnLst>
                <a:cxn ang="T4">
                  <a:pos x="T0" y="T1"/>
                </a:cxn>
                <a:cxn ang="T5">
                  <a:pos x="T2" y="T3"/>
                </a:cxn>
              </a:cxnLst>
              <a:rect l="0" t="0" r="r" b="b"/>
              <a:pathLst>
                <a:path w="384" h="172">
                  <a:moveTo>
                    <a:pt x="0" y="0"/>
                  </a:moveTo>
                  <a:lnTo>
                    <a:pt x="384" y="172"/>
                  </a:lnTo>
                </a:path>
              </a:pathLst>
            </a:custGeom>
            <a:solidFill>
              <a:schemeClr val="accent1"/>
            </a:solidFill>
            <a:ln w="19050" cap="flat" cmpd="sng">
              <a:solidFill>
                <a:schemeClr val="tx2"/>
              </a:solidFill>
              <a:prstDash val="solid"/>
              <a:round/>
              <a:headEnd type="none" w="sm" len="med"/>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2" name="Line 19"/>
            <p:cNvSpPr>
              <a:spLocks noChangeShapeType="1"/>
            </p:cNvSpPr>
            <p:nvPr/>
          </p:nvSpPr>
          <p:spPr bwMode="auto">
            <a:xfrm flipV="1">
              <a:off x="4560" y="2352"/>
              <a:ext cx="576" cy="288"/>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3" name="Freeform 20"/>
            <p:cNvSpPr>
              <a:spLocks/>
            </p:cNvSpPr>
            <p:nvPr/>
          </p:nvSpPr>
          <p:spPr bwMode="auto">
            <a:xfrm flipV="1">
              <a:off x="4176" y="2640"/>
              <a:ext cx="384" cy="172"/>
            </a:xfrm>
            <a:custGeom>
              <a:avLst/>
              <a:gdLst>
                <a:gd name="T0" fmla="*/ 0 w 384"/>
                <a:gd name="T1" fmla="*/ 0 h 172"/>
                <a:gd name="T2" fmla="*/ 384 w 384"/>
                <a:gd name="T3" fmla="*/ 172 h 172"/>
                <a:gd name="T4" fmla="*/ 0 60000 65536"/>
                <a:gd name="T5" fmla="*/ 0 60000 65536"/>
              </a:gdLst>
              <a:ahLst/>
              <a:cxnLst>
                <a:cxn ang="T4">
                  <a:pos x="T0" y="T1"/>
                </a:cxn>
                <a:cxn ang="T5">
                  <a:pos x="T2" y="T3"/>
                </a:cxn>
              </a:cxnLst>
              <a:rect l="0" t="0" r="r" b="b"/>
              <a:pathLst>
                <a:path w="384" h="172">
                  <a:moveTo>
                    <a:pt x="0" y="0"/>
                  </a:moveTo>
                  <a:lnTo>
                    <a:pt x="384" y="172"/>
                  </a:lnTo>
                </a:path>
              </a:pathLst>
            </a:custGeom>
            <a:solidFill>
              <a:schemeClr val="accent1"/>
            </a:solidFill>
            <a:ln w="19050" cap="rnd" cmpd="sng">
              <a:solidFill>
                <a:schemeClr val="tx2"/>
              </a:solidFill>
              <a:prstDash val="sysDot"/>
              <a:round/>
              <a:headEnd type="none" w="sm" len="med"/>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4" name="Freeform 21"/>
            <p:cNvSpPr>
              <a:spLocks/>
            </p:cNvSpPr>
            <p:nvPr/>
          </p:nvSpPr>
          <p:spPr bwMode="auto">
            <a:xfrm>
              <a:off x="4372" y="2556"/>
              <a:ext cx="108" cy="44"/>
            </a:xfrm>
            <a:custGeom>
              <a:avLst/>
              <a:gdLst>
                <a:gd name="T0" fmla="*/ 0 w 108"/>
                <a:gd name="T1" fmla="*/ 0 h 44"/>
                <a:gd name="T2" fmla="*/ 108 w 108"/>
                <a:gd name="T3" fmla="*/ 44 h 44"/>
                <a:gd name="T4" fmla="*/ 0 60000 65536"/>
                <a:gd name="T5" fmla="*/ 0 60000 65536"/>
              </a:gdLst>
              <a:ahLst/>
              <a:cxnLst>
                <a:cxn ang="T4">
                  <a:pos x="T0" y="T1"/>
                </a:cxn>
                <a:cxn ang="T5">
                  <a:pos x="T2" y="T3"/>
                </a:cxn>
              </a:cxnLst>
              <a:rect l="0" t="0" r="r" b="b"/>
              <a:pathLst>
                <a:path w="108" h="44">
                  <a:moveTo>
                    <a:pt x="0" y="0"/>
                  </a:moveTo>
                  <a:lnTo>
                    <a:pt x="108" y="44"/>
                  </a:lnTo>
                </a:path>
              </a:pathLst>
            </a:custGeom>
            <a:solidFill>
              <a:schemeClr val="accent1"/>
            </a:solidFill>
            <a:ln w="19050" cap="flat" cmpd="sng">
              <a:solidFill>
                <a:schemeClr val="tx2"/>
              </a:solidFill>
              <a:prstDash val="solid"/>
              <a:round/>
              <a:headEnd type="none" w="sm" len="me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5" name="Freeform 22"/>
            <p:cNvSpPr>
              <a:spLocks/>
            </p:cNvSpPr>
            <p:nvPr/>
          </p:nvSpPr>
          <p:spPr bwMode="auto">
            <a:xfrm>
              <a:off x="4782" y="2454"/>
              <a:ext cx="150" cy="78"/>
            </a:xfrm>
            <a:custGeom>
              <a:avLst/>
              <a:gdLst>
                <a:gd name="T0" fmla="*/ 0 w 150"/>
                <a:gd name="T1" fmla="*/ 78 h 78"/>
                <a:gd name="T2" fmla="*/ 150 w 150"/>
                <a:gd name="T3" fmla="*/ 0 h 78"/>
                <a:gd name="T4" fmla="*/ 0 60000 65536"/>
                <a:gd name="T5" fmla="*/ 0 60000 65536"/>
              </a:gdLst>
              <a:ahLst/>
              <a:cxnLst>
                <a:cxn ang="T4">
                  <a:pos x="T0" y="T1"/>
                </a:cxn>
                <a:cxn ang="T5">
                  <a:pos x="T2" y="T3"/>
                </a:cxn>
              </a:cxnLst>
              <a:rect l="0" t="0" r="r" b="b"/>
              <a:pathLst>
                <a:path w="150" h="78">
                  <a:moveTo>
                    <a:pt x="0" y="78"/>
                  </a:moveTo>
                  <a:lnTo>
                    <a:pt x="150" y="0"/>
                  </a:lnTo>
                </a:path>
              </a:pathLst>
            </a:custGeom>
            <a:solidFill>
              <a:schemeClr val="accent1"/>
            </a:solidFill>
            <a:ln w="19050" cap="flat" cmpd="sng">
              <a:solidFill>
                <a:schemeClr val="tx2"/>
              </a:solidFill>
              <a:prstDash val="solid"/>
              <a:round/>
              <a:headEnd type="none" w="sm" len="me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6" name="Freeform 23"/>
            <p:cNvSpPr>
              <a:spLocks/>
            </p:cNvSpPr>
            <p:nvPr/>
          </p:nvSpPr>
          <p:spPr bwMode="auto">
            <a:xfrm>
              <a:off x="4632" y="2384"/>
              <a:ext cx="176" cy="28"/>
            </a:xfrm>
            <a:custGeom>
              <a:avLst/>
              <a:gdLst>
                <a:gd name="T0" fmla="*/ 0 w 176"/>
                <a:gd name="T1" fmla="*/ 28 h 28"/>
                <a:gd name="T2" fmla="*/ 176 w 176"/>
                <a:gd name="T3" fmla="*/ 0 h 28"/>
                <a:gd name="T4" fmla="*/ 0 60000 65536"/>
                <a:gd name="T5" fmla="*/ 0 60000 65536"/>
              </a:gdLst>
              <a:ahLst/>
              <a:cxnLst>
                <a:cxn ang="T4">
                  <a:pos x="T0" y="T1"/>
                </a:cxn>
                <a:cxn ang="T5">
                  <a:pos x="T2" y="T3"/>
                </a:cxn>
              </a:cxnLst>
              <a:rect l="0" t="0" r="r" b="b"/>
              <a:pathLst>
                <a:path w="176" h="28">
                  <a:moveTo>
                    <a:pt x="0" y="28"/>
                  </a:moveTo>
                  <a:lnTo>
                    <a:pt x="176" y="0"/>
                  </a:lnTo>
                </a:path>
              </a:pathLst>
            </a:custGeom>
            <a:solidFill>
              <a:schemeClr val="accent1"/>
            </a:solidFill>
            <a:ln w="19050" cap="flat" cmpd="sng">
              <a:solidFill>
                <a:schemeClr val="tx2"/>
              </a:solidFill>
              <a:prstDash val="solid"/>
              <a:round/>
              <a:headEnd type="none" w="sm" len="me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1880" name="Text Box 24"/>
          <p:cNvSpPr txBox="1">
            <a:spLocks noChangeArrowheads="1"/>
          </p:cNvSpPr>
          <p:nvPr/>
        </p:nvSpPr>
        <p:spPr bwMode="auto">
          <a:xfrm>
            <a:off x="395288" y="1125538"/>
            <a:ext cx="7943850" cy="166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zh-CN" altLang="en-US" sz="2400" b="1">
                <a:solidFill>
                  <a:schemeClr val="tx1"/>
                </a:solidFill>
                <a:latin typeface="宋体" pitchFamily="2" charset="-122"/>
              </a:rPr>
              <a:t>此时两束光的干涉如图所示</a:t>
            </a:r>
            <a:r>
              <a:rPr lang="en-US" altLang="zh-CN" sz="2400" b="1">
                <a:solidFill>
                  <a:schemeClr val="tx1"/>
                </a:solidFill>
                <a:latin typeface="宋体" pitchFamily="2" charset="-122"/>
              </a:rPr>
              <a:t>,</a:t>
            </a:r>
            <a:r>
              <a:rPr lang="zh-CN" altLang="en-US" sz="2400" b="1">
                <a:solidFill>
                  <a:schemeClr val="tx1"/>
                </a:solidFill>
                <a:latin typeface="宋体" pitchFamily="2" charset="-122"/>
              </a:rPr>
              <a:t>由于</a:t>
            </a:r>
            <a:r>
              <a:rPr lang="en-US" altLang="zh-CN" sz="2400" b="1" i="1">
                <a:solidFill>
                  <a:schemeClr val="tx1"/>
                </a:solidFill>
              </a:rPr>
              <a:t>S</a:t>
            </a:r>
            <a:r>
              <a:rPr lang="en-US" altLang="zh-CN" sz="2400" b="1">
                <a:solidFill>
                  <a:schemeClr val="tx1"/>
                </a:solidFill>
              </a:rPr>
              <a:t>1</a:t>
            </a:r>
            <a:r>
              <a:rPr lang="zh-CN" altLang="en-US" sz="2400" b="1">
                <a:solidFill>
                  <a:schemeClr val="tx1"/>
                </a:solidFill>
                <a:latin typeface="宋体" pitchFamily="2" charset="-122"/>
              </a:rPr>
              <a:t>光线在平面镜反射且有半波损失</a:t>
            </a:r>
            <a:r>
              <a:rPr lang="en-US" altLang="zh-CN" sz="2400" b="1">
                <a:solidFill>
                  <a:schemeClr val="tx1"/>
                </a:solidFill>
                <a:latin typeface="宋体" pitchFamily="2" charset="-122"/>
              </a:rPr>
              <a:t>,</a:t>
            </a:r>
            <a:r>
              <a:rPr lang="zh-CN" altLang="en-US" sz="2400" b="1">
                <a:solidFill>
                  <a:schemeClr val="tx1"/>
                </a:solidFill>
                <a:latin typeface="宋体" pitchFamily="2" charset="-122"/>
              </a:rPr>
              <a:t>因此干涉条纹仅在</a:t>
            </a:r>
            <a:r>
              <a:rPr lang="en-US" altLang="zh-CN" sz="2400" b="1">
                <a:solidFill>
                  <a:schemeClr val="tx1"/>
                </a:solidFill>
                <a:latin typeface="宋体" pitchFamily="2" charset="-122"/>
              </a:rPr>
              <a:t>O</a:t>
            </a:r>
            <a:r>
              <a:rPr lang="zh-CN" altLang="en-US" sz="2400" b="1">
                <a:solidFill>
                  <a:schemeClr val="tx1"/>
                </a:solidFill>
                <a:latin typeface="宋体" pitchFamily="2" charset="-122"/>
              </a:rPr>
              <a:t>点上方，且明暗条纹位置与原来相反</a:t>
            </a:r>
            <a:r>
              <a:rPr lang="en-US" altLang="zh-CN" sz="2400" b="1">
                <a:solidFill>
                  <a:schemeClr val="tx1"/>
                </a:solidFill>
                <a:latin typeface="宋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18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8" presetClass="entr" presetSubtype="16" fill="hold" grpId="0" nodeType="clickEffect">
                                  <p:stCondLst>
                                    <p:cond delay="0"/>
                                  </p:stCondLst>
                                  <p:childTnLst>
                                    <p:set>
                                      <p:cBhvr>
                                        <p:cTn id="10" dur="1" fill="hold">
                                          <p:stCondLst>
                                            <p:cond delay="0"/>
                                          </p:stCondLst>
                                        </p:cTn>
                                        <p:tgtEl>
                                          <p:spTgt spid="121880"/>
                                        </p:tgtEl>
                                        <p:attrNameLst>
                                          <p:attrName>style.visibility</p:attrName>
                                        </p:attrNameLst>
                                      </p:cBhvr>
                                      <p:to>
                                        <p:strVal val="visible"/>
                                      </p:to>
                                    </p:set>
                                    <p:animEffect transition="in" filter="diamond(in)">
                                      <p:cBhvr>
                                        <p:cTn id="11" dur="2000"/>
                                        <p:tgtEl>
                                          <p:spTgt spid="12188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21859"/>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218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8" grpId="0" autoUpdateAnimBg="0"/>
      <p:bldP spid="121859" grpId="0" autoUpdateAnimBg="0"/>
      <p:bldP spid="121860" grpId="0" autoUpdateAnimBg="0"/>
      <p:bldP spid="12188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 Box 2"/>
          <p:cNvSpPr txBox="1">
            <a:spLocks noChangeArrowheads="1"/>
          </p:cNvSpPr>
          <p:nvPr/>
        </p:nvSpPr>
        <p:spPr bwMode="auto">
          <a:xfrm>
            <a:off x="468313" y="1125538"/>
            <a:ext cx="63690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algn="just"/>
            <a:r>
              <a:rPr lang="zh-CN" altLang="en-US" sz="2400" b="1">
                <a:solidFill>
                  <a:schemeClr val="tx1"/>
                </a:solidFill>
                <a:latin typeface="宋体" pitchFamily="2" charset="-122"/>
              </a:rPr>
              <a:t>由于两束光频率不同</a:t>
            </a:r>
            <a:r>
              <a:rPr lang="en-US" altLang="zh-CN" sz="2400" b="1">
                <a:solidFill>
                  <a:schemeClr val="tx1"/>
                </a:solidFill>
                <a:latin typeface="宋体" pitchFamily="2" charset="-122"/>
              </a:rPr>
              <a:t>,</a:t>
            </a:r>
            <a:r>
              <a:rPr lang="zh-CN" altLang="en-US" sz="2400" b="1">
                <a:solidFill>
                  <a:schemeClr val="tx1"/>
                </a:solidFill>
                <a:latin typeface="宋体" pitchFamily="2" charset="-122"/>
              </a:rPr>
              <a:t>不相干</a:t>
            </a:r>
            <a:r>
              <a:rPr lang="en-US" altLang="zh-CN" sz="2400" b="1">
                <a:solidFill>
                  <a:schemeClr val="tx1"/>
                </a:solidFill>
                <a:latin typeface="宋体" pitchFamily="2" charset="-122"/>
              </a:rPr>
              <a:t>,</a:t>
            </a:r>
            <a:r>
              <a:rPr lang="zh-CN" altLang="en-US" sz="2400" b="1">
                <a:solidFill>
                  <a:schemeClr val="tx1"/>
                </a:solidFill>
                <a:latin typeface="宋体" pitchFamily="2" charset="-122"/>
              </a:rPr>
              <a:t>无干涉条纹</a:t>
            </a:r>
            <a:r>
              <a:rPr lang="en-US" altLang="zh-CN" sz="2400" b="1">
                <a:solidFill>
                  <a:schemeClr val="tx1"/>
                </a:solidFill>
                <a:latin typeface="宋体" pitchFamily="2" charset="-122"/>
              </a:rPr>
              <a:t>.</a:t>
            </a:r>
          </a:p>
        </p:txBody>
      </p:sp>
      <p:sp>
        <p:nvSpPr>
          <p:cNvPr id="122883" name="Rectangle 3"/>
          <p:cNvSpPr>
            <a:spLocks noChangeArrowheads="1"/>
          </p:cNvSpPr>
          <p:nvPr/>
        </p:nvSpPr>
        <p:spPr bwMode="auto">
          <a:xfrm>
            <a:off x="395288" y="590550"/>
            <a:ext cx="807878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chemeClr val="tx1"/>
                </a:solidFill>
                <a:latin typeface="宋体" pitchFamily="2" charset="-122"/>
              </a:rPr>
              <a:t>(5)</a:t>
            </a:r>
            <a:r>
              <a:rPr lang="zh-CN" altLang="en-US" sz="2400" b="1">
                <a:solidFill>
                  <a:schemeClr val="tx1"/>
                </a:solidFill>
                <a:latin typeface="宋体" pitchFamily="2" charset="-122"/>
              </a:rPr>
              <a:t>分别用红、蓝滤色片各遮住</a:t>
            </a:r>
            <a:r>
              <a:rPr lang="en-US" altLang="zh-CN" sz="2400" b="1">
                <a:solidFill>
                  <a:schemeClr val="tx1"/>
                </a:solidFill>
                <a:latin typeface="宋体" pitchFamily="2" charset="-122"/>
              </a:rPr>
              <a:t>S</a:t>
            </a:r>
            <a:r>
              <a:rPr lang="en-US" altLang="zh-CN" sz="2400" b="1" baseline="-30000">
                <a:solidFill>
                  <a:schemeClr val="tx1"/>
                </a:solidFill>
                <a:latin typeface="宋体" pitchFamily="2" charset="-122"/>
              </a:rPr>
              <a:t>1</a:t>
            </a:r>
            <a:r>
              <a:rPr lang="zh-CN" altLang="en-US" sz="2400" b="1">
                <a:solidFill>
                  <a:schemeClr val="tx1"/>
                </a:solidFill>
                <a:latin typeface="宋体" pitchFamily="2" charset="-122"/>
              </a:rPr>
              <a:t>和</a:t>
            </a:r>
            <a:r>
              <a:rPr lang="en-US" altLang="zh-CN" sz="2400" b="1">
                <a:solidFill>
                  <a:schemeClr val="tx1"/>
                </a:solidFill>
                <a:latin typeface="宋体" pitchFamily="2" charset="-122"/>
              </a:rPr>
              <a:t>S</a:t>
            </a:r>
            <a:r>
              <a:rPr lang="en-US" altLang="zh-CN" sz="2400" b="1" baseline="-30000">
                <a:solidFill>
                  <a:schemeClr val="tx1"/>
                </a:solidFill>
                <a:latin typeface="宋体" pitchFamily="2" charset="-122"/>
              </a:rPr>
              <a:t>2;</a:t>
            </a:r>
          </a:p>
        </p:txBody>
      </p:sp>
      <p:sp>
        <p:nvSpPr>
          <p:cNvPr id="122884" name="Rectangle 4"/>
          <p:cNvSpPr>
            <a:spLocks noChangeArrowheads="1"/>
          </p:cNvSpPr>
          <p:nvPr/>
        </p:nvSpPr>
        <p:spPr bwMode="auto">
          <a:xfrm>
            <a:off x="395288" y="2781300"/>
            <a:ext cx="5400675"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chemeClr val="tx1"/>
                </a:solidFill>
                <a:latin typeface="宋体" pitchFamily="2" charset="-122"/>
              </a:rPr>
              <a:t>(6)</a:t>
            </a:r>
            <a:r>
              <a:rPr lang="zh-CN" altLang="en-US" sz="2400" b="1">
                <a:solidFill>
                  <a:schemeClr val="tx1"/>
                </a:solidFill>
                <a:latin typeface="宋体" pitchFamily="2" charset="-122"/>
              </a:rPr>
              <a:t>将光源沿平行</a:t>
            </a:r>
            <a:r>
              <a:rPr lang="en-US" altLang="zh-CN" sz="2400" b="1">
                <a:solidFill>
                  <a:schemeClr val="tx1"/>
                </a:solidFill>
                <a:latin typeface="宋体" pitchFamily="2" charset="-122"/>
              </a:rPr>
              <a:t>S</a:t>
            </a:r>
            <a:r>
              <a:rPr lang="en-US" altLang="zh-CN" sz="2400" b="1" baseline="-30000">
                <a:solidFill>
                  <a:schemeClr val="tx1"/>
                </a:solidFill>
                <a:latin typeface="宋体" pitchFamily="2" charset="-122"/>
              </a:rPr>
              <a:t>1</a:t>
            </a:r>
            <a:r>
              <a:rPr lang="en-US" altLang="zh-CN" sz="2400" b="1">
                <a:solidFill>
                  <a:schemeClr val="tx1"/>
                </a:solidFill>
                <a:latin typeface="宋体" pitchFamily="2" charset="-122"/>
              </a:rPr>
              <a:t>S</a:t>
            </a:r>
            <a:r>
              <a:rPr lang="en-US" altLang="zh-CN" sz="2400" b="1" baseline="-30000">
                <a:solidFill>
                  <a:schemeClr val="tx1"/>
                </a:solidFill>
                <a:latin typeface="宋体" pitchFamily="2" charset="-122"/>
              </a:rPr>
              <a:t>2</a:t>
            </a:r>
            <a:r>
              <a:rPr lang="zh-CN" altLang="en-US" sz="2400" b="1">
                <a:solidFill>
                  <a:schemeClr val="tx1"/>
                </a:solidFill>
                <a:latin typeface="宋体" pitchFamily="2" charset="-122"/>
              </a:rPr>
              <a:t>连线方向作微小移动</a:t>
            </a:r>
            <a:r>
              <a:rPr lang="en-US" altLang="zh-CN" sz="2400" b="1">
                <a:solidFill>
                  <a:schemeClr val="tx1"/>
                </a:solidFill>
                <a:latin typeface="宋体" pitchFamily="2" charset="-122"/>
              </a:rPr>
              <a:t>.</a:t>
            </a:r>
          </a:p>
        </p:txBody>
      </p:sp>
      <p:sp>
        <p:nvSpPr>
          <p:cNvPr id="122885" name="Text Box 5"/>
          <p:cNvSpPr txBox="1">
            <a:spLocks noChangeArrowheads="1"/>
          </p:cNvSpPr>
          <p:nvPr/>
        </p:nvSpPr>
        <p:spPr bwMode="auto">
          <a:xfrm>
            <a:off x="749300" y="5630863"/>
            <a:ext cx="77978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lang="en-US" altLang="zh-CN" sz="2400" b="1">
                <a:solidFill>
                  <a:srgbClr val="FF0000"/>
                </a:solidFill>
                <a:latin typeface="宋体" pitchFamily="2" charset="-122"/>
              </a:rPr>
              <a:t>*</a:t>
            </a:r>
            <a:r>
              <a:rPr lang="zh-CN" altLang="en-US" sz="2400" b="1">
                <a:solidFill>
                  <a:srgbClr val="FF0000"/>
                </a:solidFill>
                <a:latin typeface="宋体" pitchFamily="2" charset="-122"/>
              </a:rPr>
              <a:t>如果光源</a:t>
            </a:r>
            <a:r>
              <a:rPr lang="en-US" altLang="zh-CN" sz="2400" b="1">
                <a:solidFill>
                  <a:srgbClr val="FF0000"/>
                </a:solidFill>
                <a:latin typeface="宋体" pitchFamily="2" charset="-122"/>
              </a:rPr>
              <a:t>S</a:t>
            </a:r>
            <a:r>
              <a:rPr lang="zh-CN" altLang="en-US" sz="2400" b="1">
                <a:solidFill>
                  <a:srgbClr val="FF0000"/>
                </a:solidFill>
                <a:latin typeface="宋体" pitchFamily="2" charset="-122"/>
              </a:rPr>
              <a:t>有一定宽度，情况又如何？</a:t>
            </a:r>
            <a:r>
              <a:rPr lang="en-US" altLang="zh-CN" sz="2400" b="1">
                <a:solidFill>
                  <a:srgbClr val="FF0000"/>
                </a:solidFill>
                <a:latin typeface="宋体" pitchFamily="2" charset="-122"/>
              </a:rPr>
              <a:t>(</a:t>
            </a:r>
            <a:r>
              <a:rPr lang="zh-CN" altLang="en-US" sz="2400" b="1">
                <a:solidFill>
                  <a:srgbClr val="FF0000"/>
                </a:solidFill>
                <a:latin typeface="宋体" pitchFamily="2" charset="-122"/>
              </a:rPr>
              <a:t>光的空间相干性</a:t>
            </a:r>
            <a:r>
              <a:rPr lang="en-US" altLang="zh-CN" sz="2400" b="1">
                <a:solidFill>
                  <a:srgbClr val="FF0000"/>
                </a:solidFill>
                <a:latin typeface="宋体" pitchFamily="2" charset="-122"/>
              </a:rPr>
              <a:t>)</a:t>
            </a:r>
          </a:p>
        </p:txBody>
      </p:sp>
      <p:grpSp>
        <p:nvGrpSpPr>
          <p:cNvPr id="122886" name="Group 6"/>
          <p:cNvGrpSpPr>
            <a:grpSpLocks/>
          </p:cNvGrpSpPr>
          <p:nvPr/>
        </p:nvGrpSpPr>
        <p:grpSpPr bwMode="auto">
          <a:xfrm>
            <a:off x="395288" y="3644900"/>
            <a:ext cx="8151812" cy="1114425"/>
            <a:chOff x="330" y="2296"/>
            <a:chExt cx="5135" cy="702"/>
          </a:xfrm>
        </p:grpSpPr>
        <p:sp>
          <p:nvSpPr>
            <p:cNvPr id="55324" name="Text Box 7"/>
            <p:cNvSpPr txBox="1">
              <a:spLocks noChangeArrowheads="1"/>
            </p:cNvSpPr>
            <p:nvPr/>
          </p:nvSpPr>
          <p:spPr bwMode="auto">
            <a:xfrm>
              <a:off x="330" y="2296"/>
              <a:ext cx="5135"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zh-CN" altLang="en-US" sz="2400" b="1">
                  <a:solidFill>
                    <a:schemeClr val="tx1"/>
                  </a:solidFill>
                  <a:latin typeface="宋体" pitchFamily="2" charset="-122"/>
                </a:rPr>
                <a:t>图示</a:t>
              </a:r>
              <a:r>
                <a:rPr lang="en-US" altLang="zh-CN" sz="2400" b="1">
                  <a:solidFill>
                    <a:schemeClr val="tx1"/>
                  </a:solidFill>
                  <a:latin typeface="宋体" pitchFamily="2" charset="-122"/>
                </a:rPr>
                <a:t>S</a:t>
              </a:r>
              <a:r>
                <a:rPr lang="zh-CN" altLang="en-US" sz="2400" b="1">
                  <a:solidFill>
                    <a:schemeClr val="tx1"/>
                  </a:solidFill>
                  <a:latin typeface="宋体" pitchFamily="2" charset="-122"/>
                </a:rPr>
                <a:t>向下移动，此时           </a:t>
              </a:r>
              <a:r>
                <a:rPr lang="en-US" altLang="zh-CN" sz="2400" b="1">
                  <a:solidFill>
                    <a:schemeClr val="tx1"/>
                  </a:solidFill>
                  <a:latin typeface="宋体" pitchFamily="2" charset="-122"/>
                </a:rPr>
                <a:t>,</a:t>
              </a:r>
              <a:r>
                <a:rPr lang="zh-CN" altLang="en-US" sz="2400" b="1">
                  <a:solidFill>
                    <a:schemeClr val="tx1"/>
                  </a:solidFill>
                  <a:latin typeface="宋体" pitchFamily="2" charset="-122"/>
                </a:rPr>
                <a:t>于是中央明纹的位置向上移动（为什么？）</a:t>
              </a:r>
            </a:p>
          </p:txBody>
        </p:sp>
        <p:graphicFrame>
          <p:nvGraphicFramePr>
            <p:cNvPr id="55325" name="Object 8"/>
            <p:cNvGraphicFramePr>
              <a:graphicFrameLocks noChangeAspect="1"/>
            </p:cNvGraphicFramePr>
            <p:nvPr/>
          </p:nvGraphicFramePr>
          <p:xfrm>
            <a:off x="2290" y="2387"/>
            <a:ext cx="922" cy="281"/>
          </p:xfrm>
          <a:graphic>
            <a:graphicData uri="http://schemas.openxmlformats.org/presentationml/2006/ole">
              <mc:AlternateContent xmlns:mc="http://schemas.openxmlformats.org/markup-compatibility/2006">
                <mc:Choice xmlns:v="urn:schemas-microsoft-com:vml" Requires="v">
                  <p:oleObj spid="_x0000_s55458" r:id="rId3" imgW="704980" imgH="209481" progId="Equation.3">
                    <p:embed/>
                  </p:oleObj>
                </mc:Choice>
                <mc:Fallback>
                  <p:oleObj r:id="rId3" imgW="704980" imgH="209481"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0" y="2387"/>
                          <a:ext cx="92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22889" name="Group 9"/>
          <p:cNvGrpSpPr>
            <a:grpSpLocks/>
          </p:cNvGrpSpPr>
          <p:nvPr/>
        </p:nvGrpSpPr>
        <p:grpSpPr bwMode="auto">
          <a:xfrm>
            <a:off x="6097588" y="1557338"/>
            <a:ext cx="2722562" cy="1573212"/>
            <a:chOff x="3865" y="1344"/>
            <a:chExt cx="1715" cy="991"/>
          </a:xfrm>
        </p:grpSpPr>
        <p:sp>
          <p:nvSpPr>
            <p:cNvPr id="55304" name="Line 10"/>
            <p:cNvSpPr>
              <a:spLocks noChangeShapeType="1"/>
            </p:cNvSpPr>
            <p:nvPr/>
          </p:nvSpPr>
          <p:spPr bwMode="auto">
            <a:xfrm>
              <a:off x="4512" y="1344"/>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05" name="Line 11"/>
            <p:cNvSpPr>
              <a:spLocks noChangeShapeType="1"/>
            </p:cNvSpPr>
            <p:nvPr/>
          </p:nvSpPr>
          <p:spPr bwMode="auto">
            <a:xfrm>
              <a:off x="4512" y="1680"/>
              <a:ext cx="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06" name="Line 12"/>
            <p:cNvSpPr>
              <a:spLocks noChangeShapeType="1"/>
            </p:cNvSpPr>
            <p:nvPr/>
          </p:nvSpPr>
          <p:spPr bwMode="auto">
            <a:xfrm>
              <a:off x="4512" y="2064"/>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07" name="Line 13"/>
            <p:cNvSpPr>
              <a:spLocks noChangeShapeType="1"/>
            </p:cNvSpPr>
            <p:nvPr/>
          </p:nvSpPr>
          <p:spPr bwMode="auto">
            <a:xfrm>
              <a:off x="4080" y="1824"/>
              <a:ext cx="1301" cy="0"/>
            </a:xfrm>
            <a:prstGeom prst="line">
              <a:avLst/>
            </a:prstGeom>
            <a:noFill/>
            <a:ln w="1905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08" name="Line 14"/>
            <p:cNvSpPr>
              <a:spLocks noChangeShapeType="1"/>
            </p:cNvSpPr>
            <p:nvPr/>
          </p:nvSpPr>
          <p:spPr bwMode="auto">
            <a:xfrm>
              <a:off x="5376" y="1392"/>
              <a:ext cx="5" cy="9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5309" name="Object 15"/>
            <p:cNvGraphicFramePr>
              <a:graphicFrameLocks noChangeAspect="1"/>
            </p:cNvGraphicFramePr>
            <p:nvPr/>
          </p:nvGraphicFramePr>
          <p:xfrm>
            <a:off x="3888" y="1728"/>
            <a:ext cx="172" cy="223"/>
          </p:xfrm>
          <a:graphic>
            <a:graphicData uri="http://schemas.openxmlformats.org/presentationml/2006/ole">
              <mc:AlternateContent xmlns:mc="http://schemas.openxmlformats.org/markup-compatibility/2006">
                <mc:Choice xmlns:v="urn:schemas-microsoft-com:vml" Requires="v">
                  <p:oleObj spid="_x0000_s55459" name="Equation" r:id="rId5" imgW="133531" imgH="171658" progId="Equation.3">
                    <p:embed/>
                  </p:oleObj>
                </mc:Choice>
                <mc:Fallback>
                  <p:oleObj name="Equation" r:id="rId5" imgW="133531" imgH="171658"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8" y="1728"/>
                          <a:ext cx="172"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5310" name="Object 16"/>
            <p:cNvGraphicFramePr>
              <a:graphicFrameLocks noChangeAspect="1"/>
            </p:cNvGraphicFramePr>
            <p:nvPr/>
          </p:nvGraphicFramePr>
          <p:xfrm>
            <a:off x="4305" y="1416"/>
            <a:ext cx="203" cy="271"/>
          </p:xfrm>
          <a:graphic>
            <a:graphicData uri="http://schemas.openxmlformats.org/presentationml/2006/ole">
              <mc:AlternateContent xmlns:mc="http://schemas.openxmlformats.org/markup-compatibility/2006">
                <mc:Choice xmlns:v="urn:schemas-microsoft-com:vml" Requires="v">
                  <p:oleObj spid="_x0000_s55460" name="Equation" r:id="rId7" imgW="158828" imgH="209481" progId="Equation.3">
                    <p:embed/>
                  </p:oleObj>
                </mc:Choice>
                <mc:Fallback>
                  <p:oleObj name="Equation" r:id="rId7" imgW="158828" imgH="209481"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05" y="1416"/>
                          <a:ext cx="2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5311" name="Object 17"/>
            <p:cNvGraphicFramePr>
              <a:graphicFrameLocks noChangeAspect="1"/>
            </p:cNvGraphicFramePr>
            <p:nvPr/>
          </p:nvGraphicFramePr>
          <p:xfrm>
            <a:off x="4293" y="2033"/>
            <a:ext cx="219" cy="271"/>
          </p:xfrm>
          <a:graphic>
            <a:graphicData uri="http://schemas.openxmlformats.org/presentationml/2006/ole">
              <mc:AlternateContent xmlns:mc="http://schemas.openxmlformats.org/markup-compatibility/2006">
                <mc:Choice xmlns:v="urn:schemas-microsoft-com:vml" Requires="v">
                  <p:oleObj spid="_x0000_s55461" name="Equation" r:id="rId9" imgW="171269" imgH="209481" progId="Equation.3">
                    <p:embed/>
                  </p:oleObj>
                </mc:Choice>
                <mc:Fallback>
                  <p:oleObj name="Equation" r:id="rId9" imgW="171269" imgH="209481"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93" y="2033"/>
                          <a:ext cx="21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5312" name="Object 18"/>
            <p:cNvGraphicFramePr>
              <a:graphicFrameLocks noChangeAspect="1"/>
            </p:cNvGraphicFramePr>
            <p:nvPr/>
          </p:nvGraphicFramePr>
          <p:xfrm>
            <a:off x="5424" y="1776"/>
            <a:ext cx="156" cy="176"/>
          </p:xfrm>
          <a:graphic>
            <a:graphicData uri="http://schemas.openxmlformats.org/presentationml/2006/ole">
              <mc:AlternateContent xmlns:mc="http://schemas.openxmlformats.org/markup-compatibility/2006">
                <mc:Choice xmlns:v="urn:schemas-microsoft-com:vml" Requires="v">
                  <p:oleObj spid="_x0000_s55462" name="Equation" r:id="rId11" imgW="120676" imgH="133419" progId="Equation.3">
                    <p:embed/>
                  </p:oleObj>
                </mc:Choice>
                <mc:Fallback>
                  <p:oleObj name="Equation" r:id="rId11" imgW="120676" imgH="133419" progId="Equation.3">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24" y="1776"/>
                          <a:ext cx="15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5313" name="Oval 19"/>
            <p:cNvSpPr>
              <a:spLocks noChangeArrowheads="1"/>
            </p:cNvSpPr>
            <p:nvPr/>
          </p:nvSpPr>
          <p:spPr bwMode="auto">
            <a:xfrm>
              <a:off x="4032" y="1776"/>
              <a:ext cx="96" cy="96"/>
            </a:xfrm>
            <a:prstGeom prst="ellipse">
              <a:avLst/>
            </a:prstGeom>
            <a:solidFill>
              <a:srgbClr val="0000FF"/>
            </a:solidFill>
            <a:ln>
              <a:noFill/>
            </a:ln>
            <a:effectLst/>
            <a:extLst>
              <a:ext uri="{91240B29-F687-4F45-9708-019B960494DF}">
                <a14:hiddenLine xmlns:a14="http://schemas.microsoft.com/office/drawing/2010/main" w="19050">
                  <a:solidFill>
                    <a:schemeClr val="tx1"/>
                  </a:solidFill>
                  <a:round/>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55314" name="Oval 20"/>
            <p:cNvSpPr>
              <a:spLocks noChangeArrowheads="1"/>
            </p:cNvSpPr>
            <p:nvPr/>
          </p:nvSpPr>
          <p:spPr bwMode="auto">
            <a:xfrm>
              <a:off x="4032" y="2016"/>
              <a:ext cx="96" cy="96"/>
            </a:xfrm>
            <a:prstGeom prst="ellipse">
              <a:avLst/>
            </a:prstGeom>
            <a:solidFill>
              <a:srgbClr val="0000FF"/>
            </a:solidFill>
            <a:ln>
              <a:noFill/>
            </a:ln>
            <a:effectLst/>
            <a:extLst>
              <a:ext uri="{91240B29-F687-4F45-9708-019B960494DF}">
                <a14:hiddenLine xmlns:a14="http://schemas.microsoft.com/office/drawing/2010/main" w="19050">
                  <a:solidFill>
                    <a:schemeClr val="tx1"/>
                  </a:solidFill>
                  <a:round/>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graphicFrame>
          <p:nvGraphicFramePr>
            <p:cNvPr id="55315" name="Object 21"/>
            <p:cNvGraphicFramePr>
              <a:graphicFrameLocks noChangeAspect="1"/>
            </p:cNvGraphicFramePr>
            <p:nvPr/>
          </p:nvGraphicFramePr>
          <p:xfrm>
            <a:off x="3865" y="2112"/>
            <a:ext cx="219" cy="223"/>
          </p:xfrm>
          <a:graphic>
            <a:graphicData uri="http://schemas.openxmlformats.org/presentationml/2006/ole">
              <mc:AlternateContent xmlns:mc="http://schemas.openxmlformats.org/markup-compatibility/2006">
                <mc:Choice xmlns:v="urn:schemas-microsoft-com:vml" Requires="v">
                  <p:oleObj spid="_x0000_s55463" name="Equation" r:id="rId13" imgW="171269" imgH="171658" progId="Equation.3">
                    <p:embed/>
                  </p:oleObj>
                </mc:Choice>
                <mc:Fallback>
                  <p:oleObj name="Equation" r:id="rId13" imgW="171269" imgH="171658" progId="Equation.3">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65" y="2112"/>
                          <a:ext cx="21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5316" name="Line 22"/>
            <p:cNvSpPr>
              <a:spLocks noChangeShapeType="1"/>
            </p:cNvSpPr>
            <p:nvPr/>
          </p:nvSpPr>
          <p:spPr bwMode="auto">
            <a:xfrm flipV="1">
              <a:off x="4080" y="1632"/>
              <a:ext cx="432" cy="432"/>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7" name="Line 23"/>
            <p:cNvSpPr>
              <a:spLocks noChangeShapeType="1"/>
            </p:cNvSpPr>
            <p:nvPr/>
          </p:nvSpPr>
          <p:spPr bwMode="auto">
            <a:xfrm flipV="1">
              <a:off x="4080" y="2016"/>
              <a:ext cx="432" cy="48"/>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8" name="Line 24"/>
            <p:cNvSpPr>
              <a:spLocks noChangeShapeType="1"/>
            </p:cNvSpPr>
            <p:nvPr/>
          </p:nvSpPr>
          <p:spPr bwMode="auto">
            <a:xfrm flipV="1">
              <a:off x="4512" y="1536"/>
              <a:ext cx="864" cy="96"/>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9" name="Line 25"/>
            <p:cNvSpPr>
              <a:spLocks noChangeShapeType="1"/>
            </p:cNvSpPr>
            <p:nvPr/>
          </p:nvSpPr>
          <p:spPr bwMode="auto">
            <a:xfrm flipV="1">
              <a:off x="4512" y="1536"/>
              <a:ext cx="864" cy="48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20" name="Line 26"/>
            <p:cNvSpPr>
              <a:spLocks noChangeShapeType="1"/>
            </p:cNvSpPr>
            <p:nvPr/>
          </p:nvSpPr>
          <p:spPr bwMode="auto">
            <a:xfrm flipV="1">
              <a:off x="4272" y="1776"/>
              <a:ext cx="96" cy="96"/>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21" name="Freeform 27"/>
            <p:cNvSpPr>
              <a:spLocks/>
            </p:cNvSpPr>
            <p:nvPr/>
          </p:nvSpPr>
          <p:spPr bwMode="auto">
            <a:xfrm>
              <a:off x="4269" y="2022"/>
              <a:ext cx="147" cy="18"/>
            </a:xfrm>
            <a:custGeom>
              <a:avLst/>
              <a:gdLst>
                <a:gd name="T0" fmla="*/ 0 w 147"/>
                <a:gd name="T1" fmla="*/ 18 h 18"/>
                <a:gd name="T2" fmla="*/ 147 w 147"/>
                <a:gd name="T3" fmla="*/ 0 h 18"/>
                <a:gd name="T4" fmla="*/ 0 60000 65536"/>
                <a:gd name="T5" fmla="*/ 0 60000 65536"/>
              </a:gdLst>
              <a:ahLst/>
              <a:cxnLst>
                <a:cxn ang="T4">
                  <a:pos x="T0" y="T1"/>
                </a:cxn>
                <a:cxn ang="T5">
                  <a:pos x="T2" y="T3"/>
                </a:cxn>
              </a:cxnLst>
              <a:rect l="0" t="0" r="r" b="b"/>
              <a:pathLst>
                <a:path w="147" h="18">
                  <a:moveTo>
                    <a:pt x="0" y="18"/>
                  </a:moveTo>
                  <a:lnTo>
                    <a:pt x="147" y="0"/>
                  </a:lnTo>
                </a:path>
              </a:pathLst>
            </a:custGeom>
            <a:noFill/>
            <a:ln w="19050" cap="flat"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22" name="Freeform 28"/>
            <p:cNvSpPr>
              <a:spLocks/>
            </p:cNvSpPr>
            <p:nvPr/>
          </p:nvSpPr>
          <p:spPr bwMode="auto">
            <a:xfrm>
              <a:off x="4800" y="1572"/>
              <a:ext cx="198" cy="27"/>
            </a:xfrm>
            <a:custGeom>
              <a:avLst/>
              <a:gdLst>
                <a:gd name="T0" fmla="*/ 0 w 198"/>
                <a:gd name="T1" fmla="*/ 27 h 27"/>
                <a:gd name="T2" fmla="*/ 198 w 198"/>
                <a:gd name="T3" fmla="*/ 0 h 27"/>
                <a:gd name="T4" fmla="*/ 0 60000 65536"/>
                <a:gd name="T5" fmla="*/ 0 60000 65536"/>
              </a:gdLst>
              <a:ahLst/>
              <a:cxnLst>
                <a:cxn ang="T4">
                  <a:pos x="T0" y="T1"/>
                </a:cxn>
                <a:cxn ang="T5">
                  <a:pos x="T2" y="T3"/>
                </a:cxn>
              </a:cxnLst>
              <a:rect l="0" t="0" r="r" b="b"/>
              <a:pathLst>
                <a:path w="198" h="27">
                  <a:moveTo>
                    <a:pt x="0" y="27"/>
                  </a:moveTo>
                  <a:lnTo>
                    <a:pt x="198" y="0"/>
                  </a:lnTo>
                </a:path>
              </a:pathLst>
            </a:custGeom>
            <a:noFill/>
            <a:ln w="19050" cap="flat"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23" name="Freeform 29"/>
            <p:cNvSpPr>
              <a:spLocks/>
            </p:cNvSpPr>
            <p:nvPr/>
          </p:nvSpPr>
          <p:spPr bwMode="auto">
            <a:xfrm>
              <a:off x="4899" y="1728"/>
              <a:ext cx="141" cy="72"/>
            </a:xfrm>
            <a:custGeom>
              <a:avLst/>
              <a:gdLst>
                <a:gd name="T0" fmla="*/ 0 w 141"/>
                <a:gd name="T1" fmla="*/ 72 h 72"/>
                <a:gd name="T2" fmla="*/ 141 w 141"/>
                <a:gd name="T3" fmla="*/ 0 h 72"/>
                <a:gd name="T4" fmla="*/ 0 60000 65536"/>
                <a:gd name="T5" fmla="*/ 0 60000 65536"/>
              </a:gdLst>
              <a:ahLst/>
              <a:cxnLst>
                <a:cxn ang="T4">
                  <a:pos x="T0" y="T1"/>
                </a:cxn>
                <a:cxn ang="T5">
                  <a:pos x="T2" y="T3"/>
                </a:cxn>
              </a:cxnLst>
              <a:rect l="0" t="0" r="r" b="b"/>
              <a:pathLst>
                <a:path w="141" h="72">
                  <a:moveTo>
                    <a:pt x="0" y="72"/>
                  </a:moveTo>
                  <a:lnTo>
                    <a:pt x="141" y="0"/>
                  </a:lnTo>
                </a:path>
              </a:pathLst>
            </a:custGeom>
            <a:noFill/>
            <a:ln w="19050" cap="flat"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8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288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288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5" presetClass="entr" presetSubtype="10" fill="hold" nodeType="clickEffect">
                                  <p:stCondLst>
                                    <p:cond delay="0"/>
                                  </p:stCondLst>
                                  <p:childTnLst>
                                    <p:set>
                                      <p:cBhvr>
                                        <p:cTn id="18" dur="1" fill="hold">
                                          <p:stCondLst>
                                            <p:cond delay="0"/>
                                          </p:stCondLst>
                                        </p:cTn>
                                        <p:tgtEl>
                                          <p:spTgt spid="122889"/>
                                        </p:tgtEl>
                                        <p:attrNameLst>
                                          <p:attrName>style.visibility</p:attrName>
                                        </p:attrNameLst>
                                      </p:cBhvr>
                                      <p:to>
                                        <p:strVal val="visible"/>
                                      </p:to>
                                    </p:set>
                                    <p:animEffect transition="in" filter="checkerboard(across)">
                                      <p:cBhvr>
                                        <p:cTn id="19" dur="500"/>
                                        <p:tgtEl>
                                          <p:spTgt spid="12288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ntr" presetSubtype="16" fill="hold" nodeType="clickEffect">
                                  <p:stCondLst>
                                    <p:cond delay="0"/>
                                  </p:stCondLst>
                                  <p:childTnLst>
                                    <p:set>
                                      <p:cBhvr>
                                        <p:cTn id="23" dur="1" fill="hold">
                                          <p:stCondLst>
                                            <p:cond delay="0"/>
                                          </p:stCondLst>
                                        </p:cTn>
                                        <p:tgtEl>
                                          <p:spTgt spid="122886"/>
                                        </p:tgtEl>
                                        <p:attrNameLst>
                                          <p:attrName>style.visibility</p:attrName>
                                        </p:attrNameLst>
                                      </p:cBhvr>
                                      <p:to>
                                        <p:strVal val="visible"/>
                                      </p:to>
                                    </p:set>
                                    <p:animEffect transition="in" filter="diamond(in)">
                                      <p:cBhvr>
                                        <p:cTn id="24" dur="2000"/>
                                        <p:tgtEl>
                                          <p:spTgt spid="12288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228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autoUpdateAnimBg="0"/>
      <p:bldP spid="122883" grpId="0" autoUpdateAnimBg="0"/>
      <p:bldP spid="122884" grpId="0" autoUpdateAnimBg="0"/>
      <p:bldP spid="12288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6" name="Text Box 8"/>
          <p:cNvSpPr txBox="1">
            <a:spLocks noChangeArrowheads="1"/>
          </p:cNvSpPr>
          <p:nvPr/>
        </p:nvSpPr>
        <p:spPr bwMode="auto">
          <a:xfrm>
            <a:off x="381000" y="509588"/>
            <a:ext cx="830580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en-US" altLang="zh-CN" sz="2400" b="1" dirty="0">
                <a:solidFill>
                  <a:schemeClr val="tx1"/>
                </a:solidFill>
                <a:latin typeface="宋体" pitchFamily="2" charset="-122"/>
              </a:rPr>
              <a:t>3</a:t>
            </a:r>
            <a:r>
              <a:rPr lang="zh-CN" altLang="en-US" sz="2400" b="1" dirty="0">
                <a:solidFill>
                  <a:schemeClr val="tx1"/>
                </a:solidFill>
                <a:latin typeface="宋体" pitchFamily="2" charset="-122"/>
              </a:rPr>
              <a:t>．图示，设单色光垂直入射，画出干涉条纹（形状，疏密分布和条纹数）</a:t>
            </a:r>
          </a:p>
        </p:txBody>
      </p:sp>
      <p:sp>
        <p:nvSpPr>
          <p:cNvPr id="94217" name="Text Box 9"/>
          <p:cNvSpPr txBox="1">
            <a:spLocks noChangeArrowheads="1"/>
          </p:cNvSpPr>
          <p:nvPr/>
        </p:nvSpPr>
        <p:spPr bwMode="auto">
          <a:xfrm>
            <a:off x="417513" y="1773238"/>
            <a:ext cx="81153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zh-CN" altLang="en-US" sz="2400" b="1" dirty="0">
                <a:solidFill>
                  <a:schemeClr val="tx2"/>
                </a:solidFill>
                <a:latin typeface="宋体" pitchFamily="2" charset="-122"/>
              </a:rPr>
              <a:t>（</a:t>
            </a:r>
            <a:r>
              <a:rPr lang="en-US" altLang="zh-CN" sz="2400" b="1" dirty="0">
                <a:solidFill>
                  <a:schemeClr val="tx2"/>
                </a:solidFill>
                <a:latin typeface="宋体" pitchFamily="2" charset="-122"/>
              </a:rPr>
              <a:t>1</a:t>
            </a:r>
            <a:r>
              <a:rPr lang="zh-CN" altLang="en-US" sz="2400" b="1" dirty="0">
                <a:solidFill>
                  <a:schemeClr val="tx2"/>
                </a:solidFill>
                <a:latin typeface="宋体" pitchFamily="2" charset="-122"/>
              </a:rPr>
              <a:t>）上表面为平面，下表面为圆柱面的平凸透镜放在平板玻璃上。</a:t>
            </a:r>
          </a:p>
        </p:txBody>
      </p:sp>
      <p:grpSp>
        <p:nvGrpSpPr>
          <p:cNvPr id="56324" name="Group 71"/>
          <p:cNvGrpSpPr>
            <a:grpSpLocks/>
          </p:cNvGrpSpPr>
          <p:nvPr/>
        </p:nvGrpSpPr>
        <p:grpSpPr bwMode="auto">
          <a:xfrm>
            <a:off x="533400" y="3130550"/>
            <a:ext cx="4033838" cy="803275"/>
            <a:chOff x="336" y="1972"/>
            <a:chExt cx="2541" cy="506"/>
          </a:xfrm>
        </p:grpSpPr>
        <p:sp>
          <p:nvSpPr>
            <p:cNvPr id="56346" name="Text Box 10"/>
            <p:cNvSpPr txBox="1">
              <a:spLocks noChangeArrowheads="1"/>
            </p:cNvSpPr>
            <p:nvPr/>
          </p:nvSpPr>
          <p:spPr bwMode="auto">
            <a:xfrm>
              <a:off x="336" y="2055"/>
              <a:ext cx="3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latin typeface="宋体" pitchFamily="2" charset="-122"/>
                </a:rPr>
                <a:t>由</a:t>
              </a:r>
            </a:p>
          </p:txBody>
        </p:sp>
        <p:sp>
          <p:nvSpPr>
            <p:cNvPr id="56347" name="Text Box 11"/>
            <p:cNvSpPr txBox="1">
              <a:spLocks noChangeArrowheads="1"/>
            </p:cNvSpPr>
            <p:nvPr/>
          </p:nvSpPr>
          <p:spPr bwMode="auto">
            <a:xfrm>
              <a:off x="1791" y="2069"/>
              <a:ext cx="10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dirty="0">
                  <a:solidFill>
                    <a:schemeClr val="tx1"/>
                  </a:solidFill>
                  <a:latin typeface="宋体" pitchFamily="2" charset="-122"/>
                </a:rPr>
                <a:t>得明纹条件</a:t>
              </a:r>
            </a:p>
          </p:txBody>
        </p:sp>
        <p:graphicFrame>
          <p:nvGraphicFramePr>
            <p:cNvPr id="56348" name="Object 12"/>
            <p:cNvGraphicFramePr>
              <a:graphicFrameLocks noChangeAspect="1"/>
            </p:cNvGraphicFramePr>
            <p:nvPr/>
          </p:nvGraphicFramePr>
          <p:xfrm>
            <a:off x="657" y="1972"/>
            <a:ext cx="1037" cy="506"/>
          </p:xfrm>
          <a:graphic>
            <a:graphicData uri="http://schemas.openxmlformats.org/presentationml/2006/ole">
              <mc:AlternateContent xmlns:mc="http://schemas.openxmlformats.org/markup-compatibility/2006">
                <mc:Choice xmlns:v="urn:schemas-microsoft-com:vml" Requires="v">
                  <p:oleObj spid="_x0000_s56487" r:id="rId3" imgW="755572" imgH="362019" progId="Equation.3">
                    <p:embed/>
                  </p:oleObj>
                </mc:Choice>
                <mc:Fallback>
                  <p:oleObj r:id="rId3" imgW="755572" imgH="362019"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 y="1972"/>
                          <a:ext cx="1037"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94221" name="Object 13"/>
          <p:cNvGraphicFramePr>
            <a:graphicFrameLocks noChangeAspect="1"/>
          </p:cNvGraphicFramePr>
          <p:nvPr/>
        </p:nvGraphicFramePr>
        <p:xfrm>
          <a:off x="1403350" y="4040188"/>
          <a:ext cx="2011363" cy="901700"/>
        </p:xfrm>
        <a:graphic>
          <a:graphicData uri="http://schemas.openxmlformats.org/presentationml/2006/ole">
            <mc:AlternateContent xmlns:mc="http://schemas.openxmlformats.org/markup-compatibility/2006">
              <mc:Choice xmlns:v="urn:schemas-microsoft-com:vml" Requires="v">
                <p:oleObj spid="_x0000_s56488" r:id="rId5" imgW="819020" imgH="362019" progId="Equation.3">
                  <p:embed/>
                </p:oleObj>
              </mc:Choice>
              <mc:Fallback>
                <p:oleObj r:id="rId5" imgW="819020" imgH="362019"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4040188"/>
                        <a:ext cx="2011363"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6326" name="Group 72"/>
          <p:cNvGrpSpPr>
            <a:grpSpLocks/>
          </p:cNvGrpSpPr>
          <p:nvPr/>
        </p:nvGrpSpPr>
        <p:grpSpPr bwMode="auto">
          <a:xfrm>
            <a:off x="611188" y="5048250"/>
            <a:ext cx="7180262" cy="901700"/>
            <a:chOff x="528" y="2971"/>
            <a:chExt cx="4523" cy="568"/>
          </a:xfrm>
        </p:grpSpPr>
        <p:graphicFrame>
          <p:nvGraphicFramePr>
            <p:cNvPr id="56343" name="Object 14"/>
            <p:cNvGraphicFramePr>
              <a:graphicFrameLocks noChangeAspect="1"/>
            </p:cNvGraphicFramePr>
            <p:nvPr/>
          </p:nvGraphicFramePr>
          <p:xfrm>
            <a:off x="864" y="2971"/>
            <a:ext cx="1613" cy="568"/>
          </p:xfrm>
          <a:graphic>
            <a:graphicData uri="http://schemas.openxmlformats.org/presentationml/2006/ole">
              <mc:AlternateContent xmlns:mc="http://schemas.openxmlformats.org/markup-compatibility/2006">
                <mc:Choice xmlns:v="urn:schemas-microsoft-com:vml" Requires="v">
                  <p:oleObj spid="_x0000_s56489" r:id="rId7" imgW="1047931" imgH="362019" progId="Equation.3">
                    <p:embed/>
                  </p:oleObj>
                </mc:Choice>
                <mc:Fallback>
                  <p:oleObj r:id="rId7" imgW="1047931" imgH="362019"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4" y="2971"/>
                          <a:ext cx="1613" cy="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44" name="Text Box 15"/>
            <p:cNvSpPr txBox="1">
              <a:spLocks noChangeArrowheads="1"/>
            </p:cNvSpPr>
            <p:nvPr/>
          </p:nvSpPr>
          <p:spPr bwMode="auto">
            <a:xfrm>
              <a:off x="528" y="3072"/>
              <a:ext cx="3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latin typeface="宋体" pitchFamily="2" charset="-122"/>
                </a:rPr>
                <a:t>当</a:t>
              </a:r>
            </a:p>
          </p:txBody>
        </p:sp>
        <p:sp>
          <p:nvSpPr>
            <p:cNvPr id="56345" name="Text Box 16"/>
            <p:cNvSpPr txBox="1">
              <a:spLocks noChangeArrowheads="1"/>
            </p:cNvSpPr>
            <p:nvPr/>
          </p:nvSpPr>
          <p:spPr bwMode="auto">
            <a:xfrm>
              <a:off x="2608" y="3120"/>
              <a:ext cx="244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dirty="0">
                  <a:solidFill>
                    <a:schemeClr val="tx1"/>
                  </a:solidFill>
                  <a:latin typeface="宋体" pitchFamily="2" charset="-122"/>
                </a:rPr>
                <a:t>可观察到第四级明条纹，即</a:t>
              </a:r>
            </a:p>
          </p:txBody>
        </p:sp>
      </p:grpSp>
      <p:grpSp>
        <p:nvGrpSpPr>
          <p:cNvPr id="56327" name="Group 70"/>
          <p:cNvGrpSpPr>
            <a:grpSpLocks noChangeAspect="1"/>
          </p:cNvGrpSpPr>
          <p:nvPr/>
        </p:nvGrpSpPr>
        <p:grpSpPr bwMode="auto">
          <a:xfrm>
            <a:off x="4835525" y="3149600"/>
            <a:ext cx="3840163" cy="1574800"/>
            <a:chOff x="3360" y="2496"/>
            <a:chExt cx="2214" cy="1130"/>
          </a:xfrm>
        </p:grpSpPr>
        <p:sp>
          <p:nvSpPr>
            <p:cNvPr id="56328" name="Rectangle 19"/>
            <p:cNvSpPr>
              <a:spLocks noChangeArrowheads="1"/>
            </p:cNvSpPr>
            <p:nvPr/>
          </p:nvSpPr>
          <p:spPr bwMode="auto">
            <a:xfrm>
              <a:off x="3936" y="3072"/>
              <a:ext cx="1296" cy="192"/>
            </a:xfrm>
            <a:prstGeom prst="rect">
              <a:avLst/>
            </a:prstGeom>
            <a:noFill/>
            <a:ln w="19050">
              <a:solidFill>
                <a:schemeClr val="tx1"/>
              </a:solidFill>
              <a:miter lim="800000"/>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56329" name="Line 20"/>
            <p:cNvSpPr>
              <a:spLocks noChangeShapeType="1"/>
            </p:cNvSpPr>
            <p:nvPr/>
          </p:nvSpPr>
          <p:spPr bwMode="auto">
            <a:xfrm>
              <a:off x="3936" y="2736"/>
              <a:ext cx="1296"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0" name="Freeform 21"/>
            <p:cNvSpPr>
              <a:spLocks/>
            </p:cNvSpPr>
            <p:nvPr/>
          </p:nvSpPr>
          <p:spPr bwMode="auto">
            <a:xfrm>
              <a:off x="3936" y="2736"/>
              <a:ext cx="1296" cy="336"/>
            </a:xfrm>
            <a:custGeom>
              <a:avLst/>
              <a:gdLst>
                <a:gd name="T0" fmla="*/ 0 w 1296"/>
                <a:gd name="T1" fmla="*/ 0 h 336"/>
                <a:gd name="T2" fmla="*/ 672 w 1296"/>
                <a:gd name="T3" fmla="*/ 336 h 336"/>
                <a:gd name="T4" fmla="*/ 1296 w 1296"/>
                <a:gd name="T5" fmla="*/ 0 h 336"/>
                <a:gd name="T6" fmla="*/ 0 60000 65536"/>
                <a:gd name="T7" fmla="*/ 0 60000 65536"/>
                <a:gd name="T8" fmla="*/ 0 60000 65536"/>
              </a:gdLst>
              <a:ahLst/>
              <a:cxnLst>
                <a:cxn ang="T6">
                  <a:pos x="T0" y="T1"/>
                </a:cxn>
                <a:cxn ang="T7">
                  <a:pos x="T2" y="T3"/>
                </a:cxn>
                <a:cxn ang="T8">
                  <a:pos x="T4" y="T5"/>
                </a:cxn>
              </a:cxnLst>
              <a:rect l="0" t="0" r="r" b="b"/>
              <a:pathLst>
                <a:path w="1296" h="336">
                  <a:moveTo>
                    <a:pt x="0" y="0"/>
                  </a:moveTo>
                  <a:cubicBezTo>
                    <a:pt x="180" y="198"/>
                    <a:pt x="456" y="336"/>
                    <a:pt x="672" y="336"/>
                  </a:cubicBezTo>
                  <a:cubicBezTo>
                    <a:pt x="888" y="336"/>
                    <a:pt x="1134" y="198"/>
                    <a:pt x="1296" y="0"/>
                  </a:cubicBezTo>
                </a:path>
              </a:pathLst>
            </a:custGeom>
            <a:noFill/>
            <a:ln w="19050" cap="flat" cmpd="sng">
              <a:solidFill>
                <a:schemeClr val="tx1"/>
              </a:solidFill>
              <a:prstDash val="solid"/>
              <a:round/>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1" name="Line 27"/>
            <p:cNvSpPr>
              <a:spLocks noChangeShapeType="1"/>
            </p:cNvSpPr>
            <p:nvPr/>
          </p:nvSpPr>
          <p:spPr bwMode="auto">
            <a:xfrm flipV="1">
              <a:off x="3936" y="2496"/>
              <a:ext cx="288" cy="24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2" name="Line 28"/>
            <p:cNvSpPr>
              <a:spLocks noChangeShapeType="1"/>
            </p:cNvSpPr>
            <p:nvPr/>
          </p:nvSpPr>
          <p:spPr bwMode="auto">
            <a:xfrm flipV="1">
              <a:off x="5232" y="2496"/>
              <a:ext cx="240" cy="24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3" name="Line 29"/>
            <p:cNvSpPr>
              <a:spLocks noChangeShapeType="1"/>
            </p:cNvSpPr>
            <p:nvPr/>
          </p:nvSpPr>
          <p:spPr bwMode="auto">
            <a:xfrm flipV="1">
              <a:off x="5232" y="2832"/>
              <a:ext cx="240" cy="24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4" name="Line 30"/>
            <p:cNvSpPr>
              <a:spLocks noChangeShapeType="1"/>
            </p:cNvSpPr>
            <p:nvPr/>
          </p:nvSpPr>
          <p:spPr bwMode="auto">
            <a:xfrm flipV="1">
              <a:off x="5232" y="3024"/>
              <a:ext cx="240" cy="24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5" name="Line 31"/>
            <p:cNvSpPr>
              <a:spLocks noChangeShapeType="1"/>
            </p:cNvSpPr>
            <p:nvPr/>
          </p:nvSpPr>
          <p:spPr bwMode="auto">
            <a:xfrm flipV="1">
              <a:off x="3936" y="2928"/>
              <a:ext cx="144" cy="144"/>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6" name="Line 32"/>
            <p:cNvSpPr>
              <a:spLocks noChangeShapeType="1"/>
            </p:cNvSpPr>
            <p:nvPr/>
          </p:nvSpPr>
          <p:spPr bwMode="auto">
            <a:xfrm>
              <a:off x="3600" y="2736"/>
              <a:ext cx="288"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7" name="Line 33"/>
            <p:cNvSpPr>
              <a:spLocks noChangeShapeType="1"/>
            </p:cNvSpPr>
            <p:nvPr/>
          </p:nvSpPr>
          <p:spPr bwMode="auto">
            <a:xfrm>
              <a:off x="3600" y="3072"/>
              <a:ext cx="288"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8" name="Line 34"/>
            <p:cNvSpPr>
              <a:spLocks noChangeShapeType="1"/>
            </p:cNvSpPr>
            <p:nvPr/>
          </p:nvSpPr>
          <p:spPr bwMode="auto">
            <a:xfrm>
              <a:off x="3744" y="2736"/>
              <a:ext cx="0" cy="336"/>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9" name="Freeform 35"/>
            <p:cNvSpPr>
              <a:spLocks/>
            </p:cNvSpPr>
            <p:nvPr/>
          </p:nvSpPr>
          <p:spPr bwMode="auto">
            <a:xfrm>
              <a:off x="4580" y="3060"/>
              <a:ext cx="8" cy="432"/>
            </a:xfrm>
            <a:custGeom>
              <a:avLst/>
              <a:gdLst>
                <a:gd name="T0" fmla="*/ 0 w 8"/>
                <a:gd name="T1" fmla="*/ 0 h 432"/>
                <a:gd name="T2" fmla="*/ 8 w 8"/>
                <a:gd name="T3" fmla="*/ 432 h 432"/>
                <a:gd name="T4" fmla="*/ 0 60000 65536"/>
                <a:gd name="T5" fmla="*/ 0 60000 65536"/>
              </a:gdLst>
              <a:ahLst/>
              <a:cxnLst>
                <a:cxn ang="T4">
                  <a:pos x="T0" y="T1"/>
                </a:cxn>
                <a:cxn ang="T5">
                  <a:pos x="T2" y="T3"/>
                </a:cxn>
              </a:cxnLst>
              <a:rect l="0" t="0" r="r" b="b"/>
              <a:pathLst>
                <a:path w="8" h="432">
                  <a:moveTo>
                    <a:pt x="0" y="0"/>
                  </a:moveTo>
                  <a:lnTo>
                    <a:pt x="8" y="432"/>
                  </a:lnTo>
                </a:path>
              </a:pathLst>
            </a:custGeom>
            <a:noFill/>
            <a:ln w="19050" cap="rnd" cmpd="sng">
              <a:solidFill>
                <a:schemeClr val="tx1"/>
              </a:solidFill>
              <a:prstDash val="sysDot"/>
              <a:round/>
              <a:headEnd type="none" w="sm"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6340" name="Object 53"/>
            <p:cNvGraphicFramePr>
              <a:graphicFrameLocks noChangeAspect="1"/>
            </p:cNvGraphicFramePr>
            <p:nvPr/>
          </p:nvGraphicFramePr>
          <p:xfrm>
            <a:off x="3360" y="2710"/>
            <a:ext cx="224" cy="506"/>
          </p:xfrm>
          <a:graphic>
            <a:graphicData uri="http://schemas.openxmlformats.org/presentationml/2006/ole">
              <mc:AlternateContent xmlns:mc="http://schemas.openxmlformats.org/markup-compatibility/2006">
                <mc:Choice xmlns:v="urn:schemas-microsoft-com:vml" Requires="v">
                  <p:oleObj spid="_x0000_s56490" name="Equation" r:id="rId9" imgW="235131" imgH="387373" progId="Equation.3">
                    <p:embed/>
                  </p:oleObj>
                </mc:Choice>
                <mc:Fallback>
                  <p:oleObj name="Equation" r:id="rId9" imgW="235131" imgH="387373" progId="Equation.3">
                    <p:embed/>
                    <p:pic>
                      <p:nvPicPr>
                        <p:cNvPr id="0" name="Object 5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60" y="2710"/>
                          <a:ext cx="224"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41" name="Object 54"/>
            <p:cNvGraphicFramePr>
              <a:graphicFrameLocks noChangeAspect="1"/>
            </p:cNvGraphicFramePr>
            <p:nvPr/>
          </p:nvGraphicFramePr>
          <p:xfrm>
            <a:off x="5114" y="3120"/>
            <a:ext cx="460" cy="506"/>
          </p:xfrm>
          <a:graphic>
            <a:graphicData uri="http://schemas.openxmlformats.org/presentationml/2006/ole">
              <mc:AlternateContent xmlns:mc="http://schemas.openxmlformats.org/markup-compatibility/2006">
                <mc:Choice xmlns:v="urn:schemas-microsoft-com:vml" Requires="v">
                  <p:oleObj spid="_x0000_s56491" name="Equation" r:id="rId11" imgW="488924" imgH="387373" progId="Equation.3">
                    <p:embed/>
                  </p:oleObj>
                </mc:Choice>
                <mc:Fallback>
                  <p:oleObj name="Equation" r:id="rId11" imgW="488924" imgH="387373" progId="Equation.3">
                    <p:embed/>
                    <p:pic>
                      <p:nvPicPr>
                        <p:cNvPr id="0" name="Object 5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14" y="3120"/>
                          <a:ext cx="460"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42" name="Object 55"/>
            <p:cNvGraphicFramePr>
              <a:graphicFrameLocks noChangeAspect="1"/>
            </p:cNvGraphicFramePr>
            <p:nvPr/>
          </p:nvGraphicFramePr>
          <p:xfrm>
            <a:off x="4608" y="3276"/>
            <a:ext cx="343" cy="228"/>
          </p:xfrm>
          <a:graphic>
            <a:graphicData uri="http://schemas.openxmlformats.org/presentationml/2006/ole">
              <mc:AlternateContent xmlns:mc="http://schemas.openxmlformats.org/markup-compatibility/2006">
                <mc:Choice xmlns:v="urn:schemas-microsoft-com:vml" Requires="v">
                  <p:oleObj spid="_x0000_s56492" name="Equation" r:id="rId13" imgW="362028" imgH="171658" progId="Equation.3">
                    <p:embed/>
                  </p:oleObj>
                </mc:Choice>
                <mc:Fallback>
                  <p:oleObj name="Equation" r:id="rId13" imgW="362028" imgH="171658" progId="Equation.3">
                    <p:embed/>
                    <p:pic>
                      <p:nvPicPr>
                        <p:cNvPr id="0" name="Object 5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08" y="3276"/>
                          <a:ext cx="343"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421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63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942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3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95237" name="Object 5"/>
          <p:cNvGraphicFramePr>
            <a:graphicFrameLocks noChangeAspect="1"/>
          </p:cNvGraphicFramePr>
          <p:nvPr/>
        </p:nvGraphicFramePr>
        <p:xfrm>
          <a:off x="1295400" y="976313"/>
          <a:ext cx="2560638" cy="868362"/>
        </p:xfrm>
        <a:graphic>
          <a:graphicData uri="http://schemas.openxmlformats.org/presentationml/2006/ole">
            <mc:AlternateContent xmlns:mc="http://schemas.openxmlformats.org/markup-compatibility/2006">
              <mc:Choice xmlns:v="urn:schemas-microsoft-com:vml" Requires="v">
                <p:oleObj spid="_x0000_s57646" r:id="rId3" imgW="1085669" imgH="362019" progId="Equation.3">
                  <p:embed/>
                </p:oleObj>
              </mc:Choice>
              <mc:Fallback>
                <p:oleObj r:id="rId3" imgW="1085669" imgH="362019"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976313"/>
                        <a:ext cx="2560638"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36" name="Object 4"/>
          <p:cNvGraphicFramePr>
            <a:graphicFrameLocks noChangeAspect="1"/>
          </p:cNvGraphicFramePr>
          <p:nvPr/>
        </p:nvGraphicFramePr>
        <p:xfrm>
          <a:off x="1295400" y="1738313"/>
          <a:ext cx="2560638" cy="831850"/>
        </p:xfrm>
        <a:graphic>
          <a:graphicData uri="http://schemas.openxmlformats.org/presentationml/2006/ole">
            <mc:AlternateContent xmlns:mc="http://schemas.openxmlformats.org/markup-compatibility/2006">
              <mc:Choice xmlns:v="urn:schemas-microsoft-com:vml" Requires="v">
                <p:oleObj spid="_x0000_s57647" r:id="rId5" imgW="1136676" imgH="362019" progId="Equation.3">
                  <p:embed/>
                </p:oleObj>
              </mc:Choice>
              <mc:Fallback>
                <p:oleObj r:id="rId5" imgW="1136676" imgH="362019"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1738313"/>
                        <a:ext cx="25606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35" name="Object 3"/>
          <p:cNvGraphicFramePr>
            <a:graphicFrameLocks noChangeAspect="1"/>
          </p:cNvGraphicFramePr>
          <p:nvPr/>
        </p:nvGraphicFramePr>
        <p:xfrm>
          <a:off x="1295400" y="2517775"/>
          <a:ext cx="2560638" cy="839788"/>
        </p:xfrm>
        <a:graphic>
          <a:graphicData uri="http://schemas.openxmlformats.org/presentationml/2006/ole">
            <mc:AlternateContent xmlns:mc="http://schemas.openxmlformats.org/markup-compatibility/2006">
              <mc:Choice xmlns:v="urn:schemas-microsoft-com:vml" Requires="v">
                <p:oleObj spid="_x0000_s57648" r:id="rId7" imgW="1123820" imgH="362019" progId="Equation.3">
                  <p:embed/>
                </p:oleObj>
              </mc:Choice>
              <mc:Fallback>
                <p:oleObj r:id="rId7" imgW="1123820" imgH="362019"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5400" y="2517775"/>
                        <a:ext cx="2560638"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5244" name="Text Box 12"/>
          <p:cNvSpPr txBox="1">
            <a:spLocks noChangeArrowheads="1"/>
          </p:cNvSpPr>
          <p:nvPr/>
        </p:nvSpPr>
        <p:spPr bwMode="auto">
          <a:xfrm>
            <a:off x="539750" y="4695825"/>
            <a:ext cx="842486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lang="zh-CN" altLang="en-US" sz="2400" b="1">
                <a:solidFill>
                  <a:schemeClr val="tx1"/>
                </a:solidFill>
                <a:latin typeface="宋体" pitchFamily="2" charset="-122"/>
              </a:rPr>
              <a:t>由图知可得明条为</a:t>
            </a:r>
            <a:r>
              <a:rPr lang="en-US" altLang="zh-CN" sz="2400" b="1">
                <a:solidFill>
                  <a:schemeClr val="tx1"/>
                </a:solidFill>
                <a:latin typeface="宋体" pitchFamily="2" charset="-122"/>
              </a:rPr>
              <a:t>8</a:t>
            </a:r>
            <a:r>
              <a:rPr lang="zh-CN" altLang="en-US" sz="2400" b="1">
                <a:solidFill>
                  <a:schemeClr val="tx1"/>
                </a:solidFill>
                <a:latin typeface="宋体" pitchFamily="2" charset="-122"/>
              </a:rPr>
              <a:t>条，暗条为</a:t>
            </a:r>
            <a:r>
              <a:rPr lang="en-US" altLang="zh-CN" sz="2400" b="1">
                <a:solidFill>
                  <a:schemeClr val="tx1"/>
                </a:solidFill>
                <a:latin typeface="宋体" pitchFamily="2" charset="-122"/>
              </a:rPr>
              <a:t>7</a:t>
            </a:r>
            <a:r>
              <a:rPr lang="zh-CN" altLang="en-US" sz="2400" b="1">
                <a:solidFill>
                  <a:schemeClr val="tx1"/>
                </a:solidFill>
                <a:latin typeface="宋体" pitchFamily="2" charset="-122"/>
              </a:rPr>
              <a:t>条的直线干涉条纹（图示）。</a:t>
            </a:r>
          </a:p>
        </p:txBody>
      </p:sp>
      <p:graphicFrame>
        <p:nvGraphicFramePr>
          <p:cNvPr id="95234" name="Object 2"/>
          <p:cNvGraphicFramePr>
            <a:graphicFrameLocks noChangeAspect="1"/>
          </p:cNvGraphicFramePr>
          <p:nvPr/>
        </p:nvGraphicFramePr>
        <p:xfrm>
          <a:off x="1295400" y="3387725"/>
          <a:ext cx="2560638" cy="833438"/>
        </p:xfrm>
        <a:graphic>
          <a:graphicData uri="http://schemas.openxmlformats.org/presentationml/2006/ole">
            <mc:AlternateContent xmlns:mc="http://schemas.openxmlformats.org/markup-compatibility/2006">
              <mc:Choice xmlns:v="urn:schemas-microsoft-com:vml" Requires="v">
                <p:oleObj spid="_x0000_s57649" r:id="rId9" imgW="1136676" imgH="362019" progId="Equation.3">
                  <p:embed/>
                </p:oleObj>
              </mc:Choice>
              <mc:Fallback>
                <p:oleObj r:id="rId9" imgW="1136676" imgH="362019" progId="Equation.3">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95400" y="3387725"/>
                        <a:ext cx="2560638"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7351" name="AutoShape 13"/>
          <p:cNvSpPr>
            <a:spLocks noChangeAspect="1"/>
          </p:cNvSpPr>
          <p:nvPr/>
        </p:nvSpPr>
        <p:spPr bwMode="auto">
          <a:xfrm>
            <a:off x="1042988" y="1281113"/>
            <a:ext cx="123825" cy="2652712"/>
          </a:xfrm>
          <a:prstGeom prst="leftBrace">
            <a:avLst>
              <a:gd name="adj1" fmla="val 17852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grpSp>
        <p:nvGrpSpPr>
          <p:cNvPr id="95464" name="Group 232"/>
          <p:cNvGrpSpPr>
            <a:grpSpLocks/>
          </p:cNvGrpSpPr>
          <p:nvPr/>
        </p:nvGrpSpPr>
        <p:grpSpPr bwMode="auto">
          <a:xfrm>
            <a:off x="4729163" y="760413"/>
            <a:ext cx="3475037" cy="3100387"/>
            <a:chOff x="3408" y="1430"/>
            <a:chExt cx="2214" cy="2226"/>
          </a:xfrm>
        </p:grpSpPr>
        <p:sp>
          <p:nvSpPr>
            <p:cNvPr id="57354" name="Rectangle 192"/>
            <p:cNvSpPr>
              <a:spLocks noChangeArrowheads="1"/>
            </p:cNvSpPr>
            <p:nvPr/>
          </p:nvSpPr>
          <p:spPr bwMode="auto">
            <a:xfrm>
              <a:off x="3984" y="2006"/>
              <a:ext cx="1296" cy="192"/>
            </a:xfrm>
            <a:prstGeom prst="rect">
              <a:avLst/>
            </a:prstGeom>
            <a:noFill/>
            <a:ln w="19050">
              <a:solidFill>
                <a:schemeClr val="tx1"/>
              </a:solidFill>
              <a:miter lim="800000"/>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57355" name="Line 193"/>
            <p:cNvSpPr>
              <a:spLocks noChangeShapeType="1"/>
            </p:cNvSpPr>
            <p:nvPr/>
          </p:nvSpPr>
          <p:spPr bwMode="auto">
            <a:xfrm>
              <a:off x="3984" y="1670"/>
              <a:ext cx="1296"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6" name="Freeform 194"/>
            <p:cNvSpPr>
              <a:spLocks/>
            </p:cNvSpPr>
            <p:nvPr/>
          </p:nvSpPr>
          <p:spPr bwMode="auto">
            <a:xfrm>
              <a:off x="3984" y="1670"/>
              <a:ext cx="1296" cy="336"/>
            </a:xfrm>
            <a:custGeom>
              <a:avLst/>
              <a:gdLst>
                <a:gd name="T0" fmla="*/ 0 w 1296"/>
                <a:gd name="T1" fmla="*/ 0 h 336"/>
                <a:gd name="T2" fmla="*/ 672 w 1296"/>
                <a:gd name="T3" fmla="*/ 336 h 336"/>
                <a:gd name="T4" fmla="*/ 1296 w 1296"/>
                <a:gd name="T5" fmla="*/ 0 h 336"/>
                <a:gd name="T6" fmla="*/ 0 60000 65536"/>
                <a:gd name="T7" fmla="*/ 0 60000 65536"/>
                <a:gd name="T8" fmla="*/ 0 60000 65536"/>
              </a:gdLst>
              <a:ahLst/>
              <a:cxnLst>
                <a:cxn ang="T6">
                  <a:pos x="T0" y="T1"/>
                </a:cxn>
                <a:cxn ang="T7">
                  <a:pos x="T2" y="T3"/>
                </a:cxn>
                <a:cxn ang="T8">
                  <a:pos x="T4" y="T5"/>
                </a:cxn>
              </a:cxnLst>
              <a:rect l="0" t="0" r="r" b="b"/>
              <a:pathLst>
                <a:path w="1296" h="336">
                  <a:moveTo>
                    <a:pt x="0" y="0"/>
                  </a:moveTo>
                  <a:cubicBezTo>
                    <a:pt x="180" y="198"/>
                    <a:pt x="456" y="336"/>
                    <a:pt x="672" y="336"/>
                  </a:cubicBezTo>
                  <a:cubicBezTo>
                    <a:pt x="888" y="336"/>
                    <a:pt x="1134" y="198"/>
                    <a:pt x="1296" y="0"/>
                  </a:cubicBezTo>
                </a:path>
              </a:pathLst>
            </a:custGeom>
            <a:noFill/>
            <a:ln w="19050" cap="flat" cmpd="sng">
              <a:solidFill>
                <a:schemeClr val="tx1"/>
              </a:solidFill>
              <a:prstDash val="solid"/>
              <a:round/>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7" name="Line 195"/>
            <p:cNvSpPr>
              <a:spLocks noChangeShapeType="1"/>
            </p:cNvSpPr>
            <p:nvPr/>
          </p:nvSpPr>
          <p:spPr bwMode="auto">
            <a:xfrm flipV="1">
              <a:off x="3984" y="1430"/>
              <a:ext cx="288" cy="24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8" name="Line 196"/>
            <p:cNvSpPr>
              <a:spLocks noChangeShapeType="1"/>
            </p:cNvSpPr>
            <p:nvPr/>
          </p:nvSpPr>
          <p:spPr bwMode="auto">
            <a:xfrm flipV="1">
              <a:off x="5280" y="1430"/>
              <a:ext cx="240" cy="24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9" name="Line 197"/>
            <p:cNvSpPr>
              <a:spLocks noChangeShapeType="1"/>
            </p:cNvSpPr>
            <p:nvPr/>
          </p:nvSpPr>
          <p:spPr bwMode="auto">
            <a:xfrm flipV="1">
              <a:off x="5280" y="1766"/>
              <a:ext cx="240" cy="24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0" name="Line 198"/>
            <p:cNvSpPr>
              <a:spLocks noChangeShapeType="1"/>
            </p:cNvSpPr>
            <p:nvPr/>
          </p:nvSpPr>
          <p:spPr bwMode="auto">
            <a:xfrm flipV="1">
              <a:off x="5280" y="1958"/>
              <a:ext cx="240" cy="24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1" name="Line 199"/>
            <p:cNvSpPr>
              <a:spLocks noChangeShapeType="1"/>
            </p:cNvSpPr>
            <p:nvPr/>
          </p:nvSpPr>
          <p:spPr bwMode="auto">
            <a:xfrm flipV="1">
              <a:off x="3984" y="1862"/>
              <a:ext cx="144" cy="144"/>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2" name="Line 200"/>
            <p:cNvSpPr>
              <a:spLocks noChangeShapeType="1"/>
            </p:cNvSpPr>
            <p:nvPr/>
          </p:nvSpPr>
          <p:spPr bwMode="auto">
            <a:xfrm>
              <a:off x="3648" y="1670"/>
              <a:ext cx="288"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3" name="Line 201"/>
            <p:cNvSpPr>
              <a:spLocks noChangeShapeType="1"/>
            </p:cNvSpPr>
            <p:nvPr/>
          </p:nvSpPr>
          <p:spPr bwMode="auto">
            <a:xfrm>
              <a:off x="3648" y="2006"/>
              <a:ext cx="288"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4" name="Line 202"/>
            <p:cNvSpPr>
              <a:spLocks noChangeShapeType="1"/>
            </p:cNvSpPr>
            <p:nvPr/>
          </p:nvSpPr>
          <p:spPr bwMode="auto">
            <a:xfrm>
              <a:off x="3792" y="1670"/>
              <a:ext cx="0" cy="336"/>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5" name="Freeform 203"/>
            <p:cNvSpPr>
              <a:spLocks/>
            </p:cNvSpPr>
            <p:nvPr/>
          </p:nvSpPr>
          <p:spPr bwMode="auto">
            <a:xfrm>
              <a:off x="4628" y="1994"/>
              <a:ext cx="8" cy="432"/>
            </a:xfrm>
            <a:custGeom>
              <a:avLst/>
              <a:gdLst>
                <a:gd name="T0" fmla="*/ 0 w 8"/>
                <a:gd name="T1" fmla="*/ 0 h 432"/>
                <a:gd name="T2" fmla="*/ 8 w 8"/>
                <a:gd name="T3" fmla="*/ 432 h 432"/>
                <a:gd name="T4" fmla="*/ 0 60000 65536"/>
                <a:gd name="T5" fmla="*/ 0 60000 65536"/>
              </a:gdLst>
              <a:ahLst/>
              <a:cxnLst>
                <a:cxn ang="T4">
                  <a:pos x="T0" y="T1"/>
                </a:cxn>
                <a:cxn ang="T5">
                  <a:pos x="T2" y="T3"/>
                </a:cxn>
              </a:cxnLst>
              <a:rect l="0" t="0" r="r" b="b"/>
              <a:pathLst>
                <a:path w="8" h="432">
                  <a:moveTo>
                    <a:pt x="0" y="0"/>
                  </a:moveTo>
                  <a:lnTo>
                    <a:pt x="8" y="432"/>
                  </a:lnTo>
                </a:path>
              </a:pathLst>
            </a:custGeom>
            <a:noFill/>
            <a:ln w="19050" cap="rnd" cmpd="sng">
              <a:solidFill>
                <a:schemeClr val="tx1"/>
              </a:solidFill>
              <a:prstDash val="sysDot"/>
              <a:round/>
              <a:headEnd type="none" w="sm"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6" name="Line 204"/>
            <p:cNvSpPr>
              <a:spLocks noChangeShapeType="1"/>
            </p:cNvSpPr>
            <p:nvPr/>
          </p:nvSpPr>
          <p:spPr bwMode="auto">
            <a:xfrm>
              <a:off x="3984" y="2438"/>
              <a:ext cx="1296" cy="0"/>
            </a:xfrm>
            <a:prstGeom prst="line">
              <a:avLst/>
            </a:prstGeom>
            <a:noFill/>
            <a:ln w="19050">
              <a:solidFill>
                <a:schemeClr val="bg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7" name="Line 205"/>
            <p:cNvSpPr>
              <a:spLocks noChangeShapeType="1"/>
            </p:cNvSpPr>
            <p:nvPr/>
          </p:nvSpPr>
          <p:spPr bwMode="auto">
            <a:xfrm>
              <a:off x="3984" y="3110"/>
              <a:ext cx="1296" cy="0"/>
            </a:xfrm>
            <a:prstGeom prst="line">
              <a:avLst/>
            </a:prstGeom>
            <a:noFill/>
            <a:ln w="19050">
              <a:solidFill>
                <a:schemeClr val="bg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8" name="Line 206"/>
            <p:cNvSpPr>
              <a:spLocks noChangeShapeType="1"/>
            </p:cNvSpPr>
            <p:nvPr/>
          </p:nvSpPr>
          <p:spPr bwMode="auto">
            <a:xfrm>
              <a:off x="4632" y="2438"/>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9" name="Line 207"/>
            <p:cNvSpPr>
              <a:spLocks noChangeShapeType="1"/>
            </p:cNvSpPr>
            <p:nvPr/>
          </p:nvSpPr>
          <p:spPr bwMode="auto">
            <a:xfrm>
              <a:off x="3984" y="2438"/>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0" name="Line 208"/>
            <p:cNvSpPr>
              <a:spLocks noChangeShapeType="1"/>
            </p:cNvSpPr>
            <p:nvPr/>
          </p:nvSpPr>
          <p:spPr bwMode="auto">
            <a:xfrm>
              <a:off x="5280" y="2438"/>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1" name="Line 209"/>
            <p:cNvSpPr>
              <a:spLocks noChangeShapeType="1"/>
            </p:cNvSpPr>
            <p:nvPr/>
          </p:nvSpPr>
          <p:spPr bwMode="auto">
            <a:xfrm>
              <a:off x="4080" y="2438"/>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2" name="Line 210"/>
            <p:cNvSpPr>
              <a:spLocks noChangeShapeType="1"/>
            </p:cNvSpPr>
            <p:nvPr/>
          </p:nvSpPr>
          <p:spPr bwMode="auto">
            <a:xfrm>
              <a:off x="4272" y="2438"/>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3" name="Line 211"/>
            <p:cNvSpPr>
              <a:spLocks noChangeShapeType="1"/>
            </p:cNvSpPr>
            <p:nvPr/>
          </p:nvSpPr>
          <p:spPr bwMode="auto">
            <a:xfrm>
              <a:off x="4464" y="2438"/>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4" name="Line 212"/>
            <p:cNvSpPr>
              <a:spLocks noChangeShapeType="1"/>
            </p:cNvSpPr>
            <p:nvPr/>
          </p:nvSpPr>
          <p:spPr bwMode="auto">
            <a:xfrm>
              <a:off x="4800" y="2438"/>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5" name="Line 213"/>
            <p:cNvSpPr>
              <a:spLocks noChangeShapeType="1"/>
            </p:cNvSpPr>
            <p:nvPr/>
          </p:nvSpPr>
          <p:spPr bwMode="auto">
            <a:xfrm>
              <a:off x="4992" y="2438"/>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6" name="Line 214"/>
            <p:cNvSpPr>
              <a:spLocks noChangeShapeType="1"/>
            </p:cNvSpPr>
            <p:nvPr/>
          </p:nvSpPr>
          <p:spPr bwMode="auto">
            <a:xfrm>
              <a:off x="5184" y="2438"/>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7" name="Line 215"/>
            <p:cNvSpPr>
              <a:spLocks noChangeShapeType="1"/>
            </p:cNvSpPr>
            <p:nvPr/>
          </p:nvSpPr>
          <p:spPr bwMode="auto">
            <a:xfrm>
              <a:off x="4032" y="2438"/>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8" name="Line 216"/>
            <p:cNvSpPr>
              <a:spLocks noChangeShapeType="1"/>
            </p:cNvSpPr>
            <p:nvPr/>
          </p:nvSpPr>
          <p:spPr bwMode="auto">
            <a:xfrm>
              <a:off x="5232" y="2438"/>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9" name="Line 217"/>
            <p:cNvSpPr>
              <a:spLocks noChangeShapeType="1"/>
            </p:cNvSpPr>
            <p:nvPr/>
          </p:nvSpPr>
          <p:spPr bwMode="auto">
            <a:xfrm>
              <a:off x="5088" y="2438"/>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80" name="Line 218"/>
            <p:cNvSpPr>
              <a:spLocks noChangeShapeType="1"/>
            </p:cNvSpPr>
            <p:nvPr/>
          </p:nvSpPr>
          <p:spPr bwMode="auto">
            <a:xfrm>
              <a:off x="4896" y="2438"/>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81" name="Line 219"/>
            <p:cNvSpPr>
              <a:spLocks noChangeShapeType="1"/>
            </p:cNvSpPr>
            <p:nvPr/>
          </p:nvSpPr>
          <p:spPr bwMode="auto">
            <a:xfrm>
              <a:off x="4368" y="2438"/>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82" name="Line 220"/>
            <p:cNvSpPr>
              <a:spLocks noChangeShapeType="1"/>
            </p:cNvSpPr>
            <p:nvPr/>
          </p:nvSpPr>
          <p:spPr bwMode="auto">
            <a:xfrm>
              <a:off x="4176" y="2438"/>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7383" name="Object 221"/>
            <p:cNvGraphicFramePr>
              <a:graphicFrameLocks noChangeAspect="1"/>
            </p:cNvGraphicFramePr>
            <p:nvPr/>
          </p:nvGraphicFramePr>
          <p:xfrm>
            <a:off x="3408" y="1644"/>
            <a:ext cx="224" cy="506"/>
          </p:xfrm>
          <a:graphic>
            <a:graphicData uri="http://schemas.openxmlformats.org/presentationml/2006/ole">
              <mc:AlternateContent xmlns:mc="http://schemas.openxmlformats.org/markup-compatibility/2006">
                <mc:Choice xmlns:v="urn:schemas-microsoft-com:vml" Requires="v">
                  <p:oleObj spid="_x0000_s57650" name="Equation" r:id="rId11" imgW="235131" imgH="387373" progId="Equation.3">
                    <p:embed/>
                  </p:oleObj>
                </mc:Choice>
                <mc:Fallback>
                  <p:oleObj name="Equation" r:id="rId11" imgW="235131" imgH="387373" progId="Equation.3">
                    <p:embed/>
                    <p:pic>
                      <p:nvPicPr>
                        <p:cNvPr id="0" name="Object 2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08" y="1644"/>
                          <a:ext cx="224"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84" name="Object 222"/>
            <p:cNvGraphicFramePr>
              <a:graphicFrameLocks noChangeAspect="1"/>
            </p:cNvGraphicFramePr>
            <p:nvPr/>
          </p:nvGraphicFramePr>
          <p:xfrm>
            <a:off x="5162" y="2054"/>
            <a:ext cx="460" cy="506"/>
          </p:xfrm>
          <a:graphic>
            <a:graphicData uri="http://schemas.openxmlformats.org/presentationml/2006/ole">
              <mc:AlternateContent xmlns:mc="http://schemas.openxmlformats.org/markup-compatibility/2006">
                <mc:Choice xmlns:v="urn:schemas-microsoft-com:vml" Requires="v">
                  <p:oleObj spid="_x0000_s57651" name="Equation" r:id="rId13" imgW="488924" imgH="387373" progId="Equation.3">
                    <p:embed/>
                  </p:oleObj>
                </mc:Choice>
                <mc:Fallback>
                  <p:oleObj name="Equation" r:id="rId13" imgW="488924" imgH="387373" progId="Equation.3">
                    <p:embed/>
                    <p:pic>
                      <p:nvPicPr>
                        <p:cNvPr id="0" name="Object 2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62" y="2054"/>
                          <a:ext cx="460"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85" name="Object 223"/>
            <p:cNvGraphicFramePr>
              <a:graphicFrameLocks noChangeAspect="1"/>
            </p:cNvGraphicFramePr>
            <p:nvPr/>
          </p:nvGraphicFramePr>
          <p:xfrm>
            <a:off x="4656" y="2210"/>
            <a:ext cx="343" cy="228"/>
          </p:xfrm>
          <a:graphic>
            <a:graphicData uri="http://schemas.openxmlformats.org/presentationml/2006/ole">
              <mc:AlternateContent xmlns:mc="http://schemas.openxmlformats.org/markup-compatibility/2006">
                <mc:Choice xmlns:v="urn:schemas-microsoft-com:vml" Requires="v">
                  <p:oleObj spid="_x0000_s57652" name="Equation" r:id="rId15" imgW="362028" imgH="171658" progId="Equation.3">
                    <p:embed/>
                  </p:oleObj>
                </mc:Choice>
                <mc:Fallback>
                  <p:oleObj name="Equation" r:id="rId15" imgW="362028" imgH="171658" progId="Equation.3">
                    <p:embed/>
                    <p:pic>
                      <p:nvPicPr>
                        <p:cNvPr id="0" name="Object 2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56" y="2210"/>
                          <a:ext cx="343"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86" name="Object 224"/>
            <p:cNvGraphicFramePr>
              <a:graphicFrameLocks noChangeAspect="1"/>
            </p:cNvGraphicFramePr>
            <p:nvPr/>
          </p:nvGraphicFramePr>
          <p:xfrm>
            <a:off x="4756" y="3118"/>
            <a:ext cx="82" cy="212"/>
          </p:xfrm>
          <a:graphic>
            <a:graphicData uri="http://schemas.openxmlformats.org/presentationml/2006/ole">
              <mc:AlternateContent xmlns:mc="http://schemas.openxmlformats.org/markup-compatibility/2006">
                <mc:Choice xmlns:v="urn:schemas-microsoft-com:vml" Requires="v">
                  <p:oleObj spid="_x0000_s57653" name="Equation" r:id="rId17" imgW="82524" imgH="158773" progId="Equation.3">
                    <p:embed/>
                  </p:oleObj>
                </mc:Choice>
                <mc:Fallback>
                  <p:oleObj name="Equation" r:id="rId17" imgW="82524" imgH="158773" progId="Equation.3">
                    <p:embed/>
                    <p:pic>
                      <p:nvPicPr>
                        <p:cNvPr id="0" name="Object 2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56" y="3118"/>
                          <a:ext cx="8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87" name="Object 225"/>
            <p:cNvGraphicFramePr>
              <a:graphicFrameLocks noChangeAspect="1"/>
            </p:cNvGraphicFramePr>
            <p:nvPr/>
          </p:nvGraphicFramePr>
          <p:xfrm>
            <a:off x="4937" y="3120"/>
            <a:ext cx="118" cy="212"/>
          </p:xfrm>
          <a:graphic>
            <a:graphicData uri="http://schemas.openxmlformats.org/presentationml/2006/ole">
              <mc:AlternateContent xmlns:mc="http://schemas.openxmlformats.org/markup-compatibility/2006">
                <mc:Choice xmlns:v="urn:schemas-microsoft-com:vml" Requires="v">
                  <p:oleObj spid="_x0000_s57654" name="Equation" r:id="rId19" imgW="120676" imgH="158773" progId="Equation.3">
                    <p:embed/>
                  </p:oleObj>
                </mc:Choice>
                <mc:Fallback>
                  <p:oleObj name="Equation" r:id="rId19" imgW="120676" imgH="158773" progId="Equation.3">
                    <p:embed/>
                    <p:pic>
                      <p:nvPicPr>
                        <p:cNvPr id="0" name="Object 2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37" y="3120"/>
                          <a:ext cx="11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88" name="Object 226"/>
            <p:cNvGraphicFramePr>
              <a:graphicFrameLocks noChangeAspect="1"/>
            </p:cNvGraphicFramePr>
            <p:nvPr/>
          </p:nvGraphicFramePr>
          <p:xfrm>
            <a:off x="5139" y="3122"/>
            <a:ext cx="107" cy="228"/>
          </p:xfrm>
          <a:graphic>
            <a:graphicData uri="http://schemas.openxmlformats.org/presentationml/2006/ole">
              <mc:AlternateContent xmlns:mc="http://schemas.openxmlformats.org/markup-compatibility/2006">
                <mc:Choice xmlns:v="urn:schemas-microsoft-com:vml" Requires="v">
                  <p:oleObj spid="_x0000_s57655" name="Equation" r:id="rId21" imgW="107820" imgH="171658" progId="Equation.3">
                    <p:embed/>
                  </p:oleObj>
                </mc:Choice>
                <mc:Fallback>
                  <p:oleObj name="Equation" r:id="rId21" imgW="107820" imgH="171658" progId="Equation.3">
                    <p:embed/>
                    <p:pic>
                      <p:nvPicPr>
                        <p:cNvPr id="0" name="Object 22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39" y="3122"/>
                          <a:ext cx="10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89" name="Object 227"/>
            <p:cNvGraphicFramePr>
              <a:graphicFrameLocks noChangeAspect="1"/>
            </p:cNvGraphicFramePr>
            <p:nvPr/>
          </p:nvGraphicFramePr>
          <p:xfrm>
            <a:off x="5229" y="3110"/>
            <a:ext cx="119" cy="212"/>
          </p:xfrm>
          <a:graphic>
            <a:graphicData uri="http://schemas.openxmlformats.org/presentationml/2006/ole">
              <mc:AlternateContent xmlns:mc="http://schemas.openxmlformats.org/markup-compatibility/2006">
                <mc:Choice xmlns:v="urn:schemas-microsoft-com:vml" Requires="v">
                  <p:oleObj spid="_x0000_s57656" name="Equation" r:id="rId23" imgW="120676" imgH="158773" progId="Equation.3">
                    <p:embed/>
                  </p:oleObj>
                </mc:Choice>
                <mc:Fallback>
                  <p:oleObj name="Equation" r:id="rId23" imgW="120676" imgH="158773" progId="Equation.3">
                    <p:embed/>
                    <p:pic>
                      <p:nvPicPr>
                        <p:cNvPr id="0" name="Object 22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229" y="3110"/>
                          <a:ext cx="11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90" name="Freeform 228"/>
            <p:cNvSpPr>
              <a:spLocks/>
            </p:cNvSpPr>
            <p:nvPr/>
          </p:nvSpPr>
          <p:spPr bwMode="auto">
            <a:xfrm>
              <a:off x="4632" y="3106"/>
              <a:ext cx="1" cy="244"/>
            </a:xfrm>
            <a:custGeom>
              <a:avLst/>
              <a:gdLst>
                <a:gd name="T0" fmla="*/ 0 w 1"/>
                <a:gd name="T1" fmla="*/ 0 h 244"/>
                <a:gd name="T2" fmla="*/ 0 w 1"/>
                <a:gd name="T3" fmla="*/ 244 h 244"/>
                <a:gd name="T4" fmla="*/ 0 60000 65536"/>
                <a:gd name="T5" fmla="*/ 0 60000 65536"/>
              </a:gdLst>
              <a:ahLst/>
              <a:cxnLst>
                <a:cxn ang="T4">
                  <a:pos x="T0" y="T1"/>
                </a:cxn>
                <a:cxn ang="T5">
                  <a:pos x="T2" y="T3"/>
                </a:cxn>
              </a:cxnLst>
              <a:rect l="0" t="0" r="r" b="b"/>
              <a:pathLst>
                <a:path w="1" h="244">
                  <a:moveTo>
                    <a:pt x="0" y="0"/>
                  </a:moveTo>
                  <a:lnTo>
                    <a:pt x="0" y="244"/>
                  </a:lnTo>
                </a:path>
              </a:pathLst>
            </a:custGeom>
            <a:noFill/>
            <a:ln w="19050" cap="rnd" cmpd="sng">
              <a:solidFill>
                <a:schemeClr val="bg1"/>
              </a:solidFill>
              <a:prstDash val="sysDot"/>
              <a:round/>
              <a:headEnd type="none" w="sm"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91" name="Text Box 230"/>
            <p:cNvSpPr txBox="1">
              <a:spLocks noChangeArrowheads="1"/>
            </p:cNvSpPr>
            <p:nvPr/>
          </p:nvSpPr>
          <p:spPr bwMode="auto">
            <a:xfrm>
              <a:off x="3629" y="3365"/>
              <a:ext cx="79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bg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rPr>
                <a:t>暗纹</a:t>
              </a:r>
              <a:r>
                <a:rPr lang="en-US" altLang="zh-CN" sz="2400" b="1">
                  <a:solidFill>
                    <a:schemeClr val="tx1"/>
                  </a:solidFill>
                </a:rPr>
                <a:t>7</a:t>
              </a:r>
              <a:r>
                <a:rPr lang="zh-CN" altLang="en-US" sz="2400" b="1">
                  <a:solidFill>
                    <a:schemeClr val="tx1"/>
                  </a:solidFill>
                </a:rPr>
                <a:t>条</a:t>
              </a:r>
            </a:p>
          </p:txBody>
        </p:sp>
        <p:sp>
          <p:nvSpPr>
            <p:cNvPr id="57392" name="Text Box 231"/>
            <p:cNvSpPr txBox="1">
              <a:spLocks noChangeArrowheads="1"/>
            </p:cNvSpPr>
            <p:nvPr/>
          </p:nvSpPr>
          <p:spPr bwMode="auto">
            <a:xfrm>
              <a:off x="4669" y="3262"/>
              <a:ext cx="79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bg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dirty="0">
                  <a:solidFill>
                    <a:schemeClr val="tx1"/>
                  </a:solidFill>
                </a:rPr>
                <a:t>明纹</a:t>
              </a:r>
              <a:r>
                <a:rPr lang="en-US" altLang="zh-CN" sz="2400" b="1" dirty="0">
                  <a:solidFill>
                    <a:schemeClr val="tx1"/>
                  </a:solidFill>
                </a:rPr>
                <a:t>8</a:t>
              </a:r>
              <a:r>
                <a:rPr lang="zh-CN" altLang="en-US" sz="2400" b="1" dirty="0">
                  <a:solidFill>
                    <a:schemeClr val="tx1"/>
                  </a:solidFill>
                </a:rPr>
                <a:t>条</a:t>
              </a:r>
            </a:p>
          </p:txBody>
        </p:sp>
      </p:grpSp>
      <p:cxnSp>
        <p:nvCxnSpPr>
          <p:cNvPr id="3" name="直接箭头连接符 2"/>
          <p:cNvCxnSpPr>
            <a:cxnSpLocks noChangeShapeType="1"/>
          </p:cNvCxnSpPr>
          <p:nvPr/>
        </p:nvCxnSpPr>
        <p:spPr bwMode="auto">
          <a:xfrm flipH="1">
            <a:off x="5651500" y="3114675"/>
            <a:ext cx="246063" cy="385763"/>
          </a:xfrm>
          <a:prstGeom prst="straightConnector1">
            <a:avLst/>
          </a:prstGeom>
          <a:noFill/>
          <a:ln w="19050"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523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523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9523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9523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95464"/>
                                        </p:tgtEl>
                                        <p:attrNameLst>
                                          <p:attrName>style.visibility</p:attrName>
                                        </p:attrNameLst>
                                      </p:cBhvr>
                                      <p:to>
                                        <p:strVal val="visible"/>
                                      </p:to>
                                    </p:set>
                                    <p:animEffect transition="in" filter="wipe(up)">
                                      <p:cBhvr>
                                        <p:cTn id="23" dur="500"/>
                                        <p:tgtEl>
                                          <p:spTgt spid="9546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95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44"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265" name="Text Box 9"/>
          <p:cNvSpPr txBox="1">
            <a:spLocks noChangeArrowheads="1"/>
          </p:cNvSpPr>
          <p:nvPr/>
        </p:nvSpPr>
        <p:spPr bwMode="auto">
          <a:xfrm>
            <a:off x="304800" y="590550"/>
            <a:ext cx="8370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2"/>
                </a:solidFill>
                <a:latin typeface="宋体" pitchFamily="2" charset="-122"/>
              </a:rPr>
              <a:t>（</a:t>
            </a:r>
            <a:r>
              <a:rPr lang="en-US" altLang="zh-CN" sz="2400" b="1">
                <a:solidFill>
                  <a:schemeClr val="tx2"/>
                </a:solidFill>
                <a:latin typeface="宋体" pitchFamily="2" charset="-122"/>
              </a:rPr>
              <a:t>2</a:t>
            </a:r>
            <a:r>
              <a:rPr lang="zh-CN" altLang="en-US" sz="2400" b="1">
                <a:solidFill>
                  <a:schemeClr val="tx2"/>
                </a:solidFill>
                <a:latin typeface="宋体" pitchFamily="2" charset="-122"/>
              </a:rPr>
              <a:t>）平板玻璃放在上面，下面是表面为圆柱面的平凹透镜。</a:t>
            </a:r>
          </a:p>
        </p:txBody>
      </p:sp>
      <p:grpSp>
        <p:nvGrpSpPr>
          <p:cNvPr id="96324" name="Group 68"/>
          <p:cNvGrpSpPr>
            <a:grpSpLocks/>
          </p:cNvGrpSpPr>
          <p:nvPr/>
        </p:nvGrpSpPr>
        <p:grpSpPr bwMode="auto">
          <a:xfrm>
            <a:off x="412750" y="1530350"/>
            <a:ext cx="3222625" cy="819150"/>
            <a:chOff x="460" y="895"/>
            <a:chExt cx="2030" cy="516"/>
          </a:xfrm>
        </p:grpSpPr>
        <p:sp>
          <p:nvSpPr>
            <p:cNvPr id="58416" name="Text Box 10"/>
            <p:cNvSpPr txBox="1">
              <a:spLocks noChangeArrowheads="1"/>
            </p:cNvSpPr>
            <p:nvPr/>
          </p:nvSpPr>
          <p:spPr bwMode="auto">
            <a:xfrm>
              <a:off x="460" y="988"/>
              <a:ext cx="8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latin typeface="宋体" pitchFamily="2" charset="-122"/>
                </a:rPr>
                <a:t>同理，由</a:t>
              </a:r>
            </a:p>
          </p:txBody>
        </p:sp>
        <p:graphicFrame>
          <p:nvGraphicFramePr>
            <p:cNvPr id="58417" name="Object 12"/>
            <p:cNvGraphicFramePr>
              <a:graphicFrameLocks noChangeAspect="1"/>
            </p:cNvGraphicFramePr>
            <p:nvPr/>
          </p:nvGraphicFramePr>
          <p:xfrm>
            <a:off x="1338" y="895"/>
            <a:ext cx="1152" cy="516"/>
          </p:xfrm>
          <a:graphic>
            <a:graphicData uri="http://schemas.openxmlformats.org/presentationml/2006/ole">
              <mc:AlternateContent xmlns:mc="http://schemas.openxmlformats.org/markup-compatibility/2006">
                <mc:Choice xmlns:v="urn:schemas-microsoft-com:vml" Requires="v">
                  <p:oleObj spid="_x0000_s58638" r:id="rId3" imgW="819020" imgH="362019" progId="Equation.3">
                    <p:embed/>
                  </p:oleObj>
                </mc:Choice>
                <mc:Fallback>
                  <p:oleObj r:id="rId3" imgW="819020" imgH="362019"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8" y="895"/>
                          <a:ext cx="1152"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6325" name="Group 69"/>
          <p:cNvGrpSpPr>
            <a:grpSpLocks/>
          </p:cNvGrpSpPr>
          <p:nvPr/>
        </p:nvGrpSpPr>
        <p:grpSpPr bwMode="auto">
          <a:xfrm>
            <a:off x="457200" y="2438400"/>
            <a:ext cx="4876800" cy="2770188"/>
            <a:chOff x="288" y="1536"/>
            <a:chExt cx="3072" cy="1745"/>
          </a:xfrm>
        </p:grpSpPr>
        <p:sp>
          <p:nvSpPr>
            <p:cNvPr id="58412" name="Text Box 11"/>
            <p:cNvSpPr txBox="1">
              <a:spLocks noChangeArrowheads="1"/>
            </p:cNvSpPr>
            <p:nvPr/>
          </p:nvSpPr>
          <p:spPr bwMode="auto">
            <a:xfrm>
              <a:off x="288" y="1536"/>
              <a:ext cx="3072" cy="1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zh-CN" altLang="en-US" sz="2400" b="1">
                  <a:solidFill>
                    <a:schemeClr val="tx1"/>
                  </a:solidFill>
                  <a:latin typeface="宋体" pitchFamily="2" charset="-122"/>
                </a:rPr>
                <a:t>可观察到第      的明条纹，但对应      处，只有一条明条纹，则共可看到</a:t>
              </a:r>
            </a:p>
          </p:txBody>
        </p:sp>
        <p:graphicFrame>
          <p:nvGraphicFramePr>
            <p:cNvPr id="58413" name="Object 13"/>
            <p:cNvGraphicFramePr>
              <a:graphicFrameLocks noChangeAspect="1"/>
            </p:cNvGraphicFramePr>
            <p:nvPr/>
          </p:nvGraphicFramePr>
          <p:xfrm>
            <a:off x="1383" y="1618"/>
            <a:ext cx="461" cy="224"/>
          </p:xfrm>
          <a:graphic>
            <a:graphicData uri="http://schemas.openxmlformats.org/presentationml/2006/ole">
              <mc:AlternateContent xmlns:mc="http://schemas.openxmlformats.org/markup-compatibility/2006">
                <mc:Choice xmlns:v="urn:schemas-microsoft-com:vml" Requires="v">
                  <p:oleObj spid="_x0000_s58639" r:id="rId5" imgW="323876" imgH="158773" progId="Equation.3">
                    <p:embed/>
                  </p:oleObj>
                </mc:Choice>
                <mc:Fallback>
                  <p:oleObj r:id="rId5" imgW="323876" imgH="158773"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3" y="1618"/>
                          <a:ext cx="461"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414" name="Object 14"/>
            <p:cNvGraphicFramePr>
              <a:graphicFrameLocks noChangeAspect="1"/>
            </p:cNvGraphicFramePr>
            <p:nvPr/>
          </p:nvGraphicFramePr>
          <p:xfrm>
            <a:off x="578" y="1865"/>
            <a:ext cx="518" cy="482"/>
          </p:xfrm>
          <a:graphic>
            <a:graphicData uri="http://schemas.openxmlformats.org/presentationml/2006/ole">
              <mc:AlternateContent xmlns:mc="http://schemas.openxmlformats.org/markup-compatibility/2006">
                <mc:Choice xmlns:v="urn:schemas-microsoft-com:vml" Requires="v">
                  <p:oleObj spid="_x0000_s58640" r:id="rId7" imgW="463628" imgH="362019" progId="Equation.3">
                    <p:embed/>
                  </p:oleObj>
                </mc:Choice>
                <mc:Fallback>
                  <p:oleObj r:id="rId7" imgW="463628" imgH="362019"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8" y="1865"/>
                          <a:ext cx="518"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415" name="Rectangle 15"/>
            <p:cNvSpPr>
              <a:spLocks noChangeArrowheads="1"/>
            </p:cNvSpPr>
            <p:nvPr/>
          </p:nvSpPr>
          <p:spPr bwMode="auto">
            <a:xfrm>
              <a:off x="295" y="2928"/>
              <a:ext cx="2592"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400" b="1">
                  <a:solidFill>
                    <a:schemeClr val="tx1"/>
                  </a:solidFill>
                  <a:latin typeface="宋体" pitchFamily="2" charset="-122"/>
                </a:rPr>
                <a:t>7</a:t>
              </a:r>
              <a:r>
                <a:rPr lang="zh-CN" altLang="en-US" sz="2400" b="1">
                  <a:solidFill>
                    <a:schemeClr val="tx1"/>
                  </a:solidFill>
                  <a:latin typeface="宋体" pitchFamily="2" charset="-122"/>
                </a:rPr>
                <a:t>条明纹、</a:t>
              </a:r>
              <a:r>
                <a:rPr lang="en-US" altLang="zh-CN" sz="2400" b="1">
                  <a:solidFill>
                    <a:schemeClr val="tx1"/>
                  </a:solidFill>
                  <a:latin typeface="宋体" pitchFamily="2" charset="-122"/>
                </a:rPr>
                <a:t>8</a:t>
              </a:r>
              <a:r>
                <a:rPr lang="zh-CN" altLang="en-US" sz="2400" b="1">
                  <a:solidFill>
                    <a:schemeClr val="tx1"/>
                  </a:solidFill>
                  <a:latin typeface="宋体" pitchFamily="2" charset="-122"/>
                </a:rPr>
                <a:t>条暗纹（图示）</a:t>
              </a:r>
            </a:p>
          </p:txBody>
        </p:sp>
      </p:grpSp>
      <p:grpSp>
        <p:nvGrpSpPr>
          <p:cNvPr id="96326" name="Group 70"/>
          <p:cNvGrpSpPr>
            <a:grpSpLocks/>
          </p:cNvGrpSpPr>
          <p:nvPr/>
        </p:nvGrpSpPr>
        <p:grpSpPr bwMode="auto">
          <a:xfrm>
            <a:off x="5562600" y="2133600"/>
            <a:ext cx="3257550" cy="3024188"/>
            <a:chOff x="3379" y="1344"/>
            <a:chExt cx="2052" cy="2316"/>
          </a:xfrm>
        </p:grpSpPr>
        <p:sp>
          <p:nvSpPr>
            <p:cNvPr id="58375" name="Rectangle 27" descr="5%"/>
            <p:cNvSpPr>
              <a:spLocks noChangeArrowheads="1"/>
            </p:cNvSpPr>
            <p:nvPr/>
          </p:nvSpPr>
          <p:spPr bwMode="auto">
            <a:xfrm>
              <a:off x="3744" y="1344"/>
              <a:ext cx="1392" cy="192"/>
            </a:xfrm>
            <a:prstGeom prst="rect">
              <a:avLst/>
            </a:prstGeom>
            <a:noFill/>
            <a:ln w="19050">
              <a:solidFill>
                <a:schemeClr val="tx1"/>
              </a:solidFill>
              <a:miter lim="800000"/>
              <a:headEnd type="none" w="sm" len="med"/>
              <a:tailEnd type="none" w="sm" len="med"/>
            </a:ln>
            <a:effectLst/>
            <a:extLst>
              <a:ext uri="{909E8E84-426E-40DD-AFC4-6F175D3DCCD1}">
                <a14:hiddenFill xmlns:a14="http://schemas.microsoft.com/office/drawing/2010/main">
                  <a:pattFill prst="pct5">
                    <a:fgClr>
                      <a:schemeClr val="accent1"/>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58376" name="Freeform 28"/>
            <p:cNvSpPr>
              <a:spLocks/>
            </p:cNvSpPr>
            <p:nvPr/>
          </p:nvSpPr>
          <p:spPr bwMode="auto">
            <a:xfrm>
              <a:off x="3792" y="1536"/>
              <a:ext cx="1296" cy="336"/>
            </a:xfrm>
            <a:custGeom>
              <a:avLst/>
              <a:gdLst>
                <a:gd name="T0" fmla="*/ 0 w 1296"/>
                <a:gd name="T1" fmla="*/ 0 h 336"/>
                <a:gd name="T2" fmla="*/ 672 w 1296"/>
                <a:gd name="T3" fmla="*/ 336 h 336"/>
                <a:gd name="T4" fmla="*/ 1296 w 1296"/>
                <a:gd name="T5" fmla="*/ 0 h 336"/>
                <a:gd name="T6" fmla="*/ 0 60000 65536"/>
                <a:gd name="T7" fmla="*/ 0 60000 65536"/>
                <a:gd name="T8" fmla="*/ 0 60000 65536"/>
              </a:gdLst>
              <a:ahLst/>
              <a:cxnLst>
                <a:cxn ang="T6">
                  <a:pos x="T0" y="T1"/>
                </a:cxn>
                <a:cxn ang="T7">
                  <a:pos x="T2" y="T3"/>
                </a:cxn>
                <a:cxn ang="T8">
                  <a:pos x="T4" y="T5"/>
                </a:cxn>
              </a:cxnLst>
              <a:rect l="0" t="0" r="r" b="b"/>
              <a:pathLst>
                <a:path w="1296" h="336">
                  <a:moveTo>
                    <a:pt x="0" y="0"/>
                  </a:moveTo>
                  <a:cubicBezTo>
                    <a:pt x="180" y="198"/>
                    <a:pt x="456" y="336"/>
                    <a:pt x="672" y="336"/>
                  </a:cubicBezTo>
                  <a:cubicBezTo>
                    <a:pt x="888" y="336"/>
                    <a:pt x="1134" y="198"/>
                    <a:pt x="1296" y="0"/>
                  </a:cubicBezTo>
                </a:path>
              </a:pathLst>
            </a:custGeom>
            <a:noFill/>
            <a:ln w="19050" cap="flat" cmpd="sng">
              <a:solidFill>
                <a:schemeClr val="tx1"/>
              </a:solidFill>
              <a:prstDash val="solid"/>
              <a:round/>
              <a:headEnd type="none" w="sm" len="med"/>
              <a:tailEnd type="none" w="sm"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77" name="Freeform 29"/>
            <p:cNvSpPr>
              <a:spLocks/>
            </p:cNvSpPr>
            <p:nvPr/>
          </p:nvSpPr>
          <p:spPr bwMode="auto">
            <a:xfrm>
              <a:off x="4444" y="1876"/>
              <a:ext cx="4" cy="428"/>
            </a:xfrm>
            <a:custGeom>
              <a:avLst/>
              <a:gdLst>
                <a:gd name="T0" fmla="*/ 0 w 4"/>
                <a:gd name="T1" fmla="*/ 0 h 428"/>
                <a:gd name="T2" fmla="*/ 4 w 4"/>
                <a:gd name="T3" fmla="*/ 428 h 428"/>
                <a:gd name="T4" fmla="*/ 0 60000 65536"/>
                <a:gd name="T5" fmla="*/ 0 60000 65536"/>
              </a:gdLst>
              <a:ahLst/>
              <a:cxnLst>
                <a:cxn ang="T4">
                  <a:pos x="T0" y="T1"/>
                </a:cxn>
                <a:cxn ang="T5">
                  <a:pos x="T2" y="T3"/>
                </a:cxn>
              </a:cxnLst>
              <a:rect l="0" t="0" r="r" b="b"/>
              <a:pathLst>
                <a:path w="4" h="428">
                  <a:moveTo>
                    <a:pt x="0" y="0"/>
                  </a:moveTo>
                  <a:lnTo>
                    <a:pt x="4" y="428"/>
                  </a:lnTo>
                </a:path>
              </a:pathLst>
            </a:custGeom>
            <a:noFill/>
            <a:ln w="19050" cap="rnd" cmpd="sng">
              <a:solidFill>
                <a:schemeClr val="tx1"/>
              </a:solidFill>
              <a:prstDash val="sysDot"/>
              <a:round/>
              <a:headEnd type="none" w="sm"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78" name="Line 30"/>
            <p:cNvSpPr>
              <a:spLocks noChangeShapeType="1"/>
            </p:cNvSpPr>
            <p:nvPr/>
          </p:nvSpPr>
          <p:spPr bwMode="auto">
            <a:xfrm>
              <a:off x="3792" y="2304"/>
              <a:ext cx="1296"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79" name="Line 31"/>
            <p:cNvSpPr>
              <a:spLocks noChangeShapeType="1"/>
            </p:cNvSpPr>
            <p:nvPr/>
          </p:nvSpPr>
          <p:spPr bwMode="auto">
            <a:xfrm>
              <a:off x="3792" y="2976"/>
              <a:ext cx="1296" cy="0"/>
            </a:xfrm>
            <a:prstGeom prst="line">
              <a:avLst/>
            </a:prstGeom>
            <a:noFill/>
            <a:ln w="19050">
              <a:solidFill>
                <a:schemeClr val="bg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0" name="Freeform 32"/>
            <p:cNvSpPr>
              <a:spLocks/>
            </p:cNvSpPr>
            <p:nvPr/>
          </p:nvSpPr>
          <p:spPr bwMode="auto">
            <a:xfrm>
              <a:off x="4448" y="2296"/>
              <a:ext cx="1" cy="676"/>
            </a:xfrm>
            <a:custGeom>
              <a:avLst/>
              <a:gdLst>
                <a:gd name="T0" fmla="*/ 0 w 1"/>
                <a:gd name="T1" fmla="*/ 0 h 676"/>
                <a:gd name="T2" fmla="*/ 0 w 1"/>
                <a:gd name="T3" fmla="*/ 676 h 676"/>
                <a:gd name="T4" fmla="*/ 0 60000 65536"/>
                <a:gd name="T5" fmla="*/ 0 60000 65536"/>
              </a:gdLst>
              <a:ahLst/>
              <a:cxnLst>
                <a:cxn ang="T4">
                  <a:pos x="T0" y="T1"/>
                </a:cxn>
                <a:cxn ang="T5">
                  <a:pos x="T2" y="T3"/>
                </a:cxn>
              </a:cxnLst>
              <a:rect l="0" t="0" r="r" b="b"/>
              <a:pathLst>
                <a:path w="1" h="676">
                  <a:moveTo>
                    <a:pt x="0" y="0"/>
                  </a:moveTo>
                  <a:lnTo>
                    <a:pt x="0" y="676"/>
                  </a:lnTo>
                </a:path>
              </a:pathLst>
            </a:custGeom>
            <a:noFill/>
            <a:ln w="19050" cap="rnd" cmpd="sng">
              <a:solidFill>
                <a:schemeClr val="tx1"/>
              </a:solidFill>
              <a:prstDash val="sysDot"/>
              <a:round/>
              <a:headEnd type="none" w="sm"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1" name="Line 33"/>
            <p:cNvSpPr>
              <a:spLocks noChangeShapeType="1"/>
            </p:cNvSpPr>
            <p:nvPr/>
          </p:nvSpPr>
          <p:spPr bwMode="auto">
            <a:xfrm>
              <a:off x="3792" y="2304"/>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2" name="Line 34"/>
            <p:cNvSpPr>
              <a:spLocks noChangeShapeType="1"/>
            </p:cNvSpPr>
            <p:nvPr/>
          </p:nvSpPr>
          <p:spPr bwMode="auto">
            <a:xfrm>
              <a:off x="5088" y="2304"/>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3" name="Line 35"/>
            <p:cNvSpPr>
              <a:spLocks noChangeShapeType="1"/>
            </p:cNvSpPr>
            <p:nvPr/>
          </p:nvSpPr>
          <p:spPr bwMode="auto">
            <a:xfrm>
              <a:off x="3888" y="2304"/>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4" name="Line 36"/>
            <p:cNvSpPr>
              <a:spLocks noChangeShapeType="1"/>
            </p:cNvSpPr>
            <p:nvPr/>
          </p:nvSpPr>
          <p:spPr bwMode="auto">
            <a:xfrm>
              <a:off x="4080" y="2304"/>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5" name="Line 37"/>
            <p:cNvSpPr>
              <a:spLocks noChangeShapeType="1"/>
            </p:cNvSpPr>
            <p:nvPr/>
          </p:nvSpPr>
          <p:spPr bwMode="auto">
            <a:xfrm>
              <a:off x="4320" y="2304"/>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6" name="Freeform 38"/>
            <p:cNvSpPr>
              <a:spLocks/>
            </p:cNvSpPr>
            <p:nvPr/>
          </p:nvSpPr>
          <p:spPr bwMode="auto">
            <a:xfrm>
              <a:off x="4584" y="2308"/>
              <a:ext cx="4" cy="660"/>
            </a:xfrm>
            <a:custGeom>
              <a:avLst/>
              <a:gdLst>
                <a:gd name="T0" fmla="*/ 4 w 4"/>
                <a:gd name="T1" fmla="*/ 0 h 660"/>
                <a:gd name="T2" fmla="*/ 0 w 4"/>
                <a:gd name="T3" fmla="*/ 660 h 660"/>
                <a:gd name="T4" fmla="*/ 0 60000 65536"/>
                <a:gd name="T5" fmla="*/ 0 60000 65536"/>
              </a:gdLst>
              <a:ahLst/>
              <a:cxnLst>
                <a:cxn ang="T4">
                  <a:pos x="T0" y="T1"/>
                </a:cxn>
                <a:cxn ang="T5">
                  <a:pos x="T2" y="T3"/>
                </a:cxn>
              </a:cxnLst>
              <a:rect l="0" t="0" r="r" b="b"/>
              <a:pathLst>
                <a:path w="4" h="660">
                  <a:moveTo>
                    <a:pt x="4" y="0"/>
                  </a:moveTo>
                  <a:lnTo>
                    <a:pt x="0" y="660"/>
                  </a:lnTo>
                </a:path>
              </a:pathLst>
            </a:custGeom>
            <a:noFill/>
            <a:ln w="19050" cap="flat">
              <a:solidFill>
                <a:schemeClr val="tx2"/>
              </a:solidFill>
              <a:prstDash val="solid"/>
              <a:round/>
              <a:headEnd type="none" w="sm"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7" name="Line 39"/>
            <p:cNvSpPr>
              <a:spLocks noChangeShapeType="1"/>
            </p:cNvSpPr>
            <p:nvPr/>
          </p:nvSpPr>
          <p:spPr bwMode="auto">
            <a:xfrm>
              <a:off x="4800" y="2304"/>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8" name="Line 40"/>
            <p:cNvSpPr>
              <a:spLocks noChangeShapeType="1"/>
            </p:cNvSpPr>
            <p:nvPr/>
          </p:nvSpPr>
          <p:spPr bwMode="auto">
            <a:xfrm>
              <a:off x="4992" y="2304"/>
              <a:ext cx="0" cy="672"/>
            </a:xfrm>
            <a:prstGeom prst="line">
              <a:avLst/>
            </a:prstGeom>
            <a:noFill/>
            <a:ln w="19050">
              <a:solidFill>
                <a:schemeClr val="tx2"/>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9" name="Line 41"/>
            <p:cNvSpPr>
              <a:spLocks noChangeShapeType="1"/>
            </p:cNvSpPr>
            <p:nvPr/>
          </p:nvSpPr>
          <p:spPr bwMode="auto">
            <a:xfrm>
              <a:off x="3840" y="2304"/>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0" name="Line 42"/>
            <p:cNvSpPr>
              <a:spLocks noChangeShapeType="1"/>
            </p:cNvSpPr>
            <p:nvPr/>
          </p:nvSpPr>
          <p:spPr bwMode="auto">
            <a:xfrm>
              <a:off x="5040" y="2304"/>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1" name="Line 43"/>
            <p:cNvSpPr>
              <a:spLocks noChangeShapeType="1"/>
            </p:cNvSpPr>
            <p:nvPr/>
          </p:nvSpPr>
          <p:spPr bwMode="auto">
            <a:xfrm>
              <a:off x="4896" y="2304"/>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2" name="Line 44"/>
            <p:cNvSpPr>
              <a:spLocks noChangeShapeType="1"/>
            </p:cNvSpPr>
            <p:nvPr/>
          </p:nvSpPr>
          <p:spPr bwMode="auto">
            <a:xfrm>
              <a:off x="4704" y="2304"/>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3" name="Line 45"/>
            <p:cNvSpPr>
              <a:spLocks noChangeShapeType="1"/>
            </p:cNvSpPr>
            <p:nvPr/>
          </p:nvSpPr>
          <p:spPr bwMode="auto">
            <a:xfrm>
              <a:off x="4176" y="2304"/>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4" name="Line 46"/>
            <p:cNvSpPr>
              <a:spLocks noChangeShapeType="1"/>
            </p:cNvSpPr>
            <p:nvPr/>
          </p:nvSpPr>
          <p:spPr bwMode="auto">
            <a:xfrm>
              <a:off x="3984" y="2304"/>
              <a:ext cx="0" cy="672"/>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8395" name="Object 47"/>
            <p:cNvGraphicFramePr>
              <a:graphicFrameLocks noChangeAspect="1"/>
            </p:cNvGraphicFramePr>
            <p:nvPr/>
          </p:nvGraphicFramePr>
          <p:xfrm>
            <a:off x="4464" y="1824"/>
            <a:ext cx="437" cy="480"/>
          </p:xfrm>
          <a:graphic>
            <a:graphicData uri="http://schemas.openxmlformats.org/presentationml/2006/ole">
              <mc:AlternateContent xmlns:mc="http://schemas.openxmlformats.org/markup-compatibility/2006">
                <mc:Choice xmlns:v="urn:schemas-microsoft-com:vml" Requires="v">
                  <p:oleObj spid="_x0000_s58641" name="Equation" r:id="rId9" imgW="488924" imgH="387373" progId="Equation.3">
                    <p:embed/>
                  </p:oleObj>
                </mc:Choice>
                <mc:Fallback>
                  <p:oleObj name="Equation" r:id="rId9" imgW="488924" imgH="387373" progId="Equation.3">
                    <p:embed/>
                    <p:pic>
                      <p:nvPicPr>
                        <p:cNvPr id="0" name="Object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64" y="1824"/>
                          <a:ext cx="43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8396" name="Object 48"/>
            <p:cNvGraphicFramePr>
              <a:graphicFrameLocks noChangeAspect="1"/>
            </p:cNvGraphicFramePr>
            <p:nvPr/>
          </p:nvGraphicFramePr>
          <p:xfrm>
            <a:off x="5088" y="2016"/>
            <a:ext cx="343" cy="228"/>
          </p:xfrm>
          <a:graphic>
            <a:graphicData uri="http://schemas.openxmlformats.org/presentationml/2006/ole">
              <mc:AlternateContent xmlns:mc="http://schemas.openxmlformats.org/markup-compatibility/2006">
                <mc:Choice xmlns:v="urn:schemas-microsoft-com:vml" Requires="v">
                  <p:oleObj spid="_x0000_s58642" name="Equation" r:id="rId11" imgW="362028" imgH="171658" progId="Equation.3">
                    <p:embed/>
                  </p:oleObj>
                </mc:Choice>
                <mc:Fallback>
                  <p:oleObj name="Equation" r:id="rId11" imgW="362028" imgH="171658" progId="Equation.3">
                    <p:embed/>
                    <p:pic>
                      <p:nvPicPr>
                        <p:cNvPr id="0" name="Object 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88" y="2016"/>
                          <a:ext cx="343"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8397" name="Object 49"/>
            <p:cNvGraphicFramePr>
              <a:graphicFrameLocks noChangeAspect="1"/>
            </p:cNvGraphicFramePr>
            <p:nvPr/>
          </p:nvGraphicFramePr>
          <p:xfrm>
            <a:off x="5005" y="2976"/>
            <a:ext cx="82" cy="212"/>
          </p:xfrm>
          <a:graphic>
            <a:graphicData uri="http://schemas.openxmlformats.org/presentationml/2006/ole">
              <mc:AlternateContent xmlns:mc="http://schemas.openxmlformats.org/markup-compatibility/2006">
                <mc:Choice xmlns:v="urn:schemas-microsoft-com:vml" Requires="v">
                  <p:oleObj spid="_x0000_s58643" name="Equation" r:id="rId13" imgW="82524" imgH="158773" progId="Equation.3">
                    <p:embed/>
                  </p:oleObj>
                </mc:Choice>
                <mc:Fallback>
                  <p:oleObj name="Equation" r:id="rId13" imgW="82524" imgH="158773" progId="Equation.3">
                    <p:embed/>
                    <p:pic>
                      <p:nvPicPr>
                        <p:cNvPr id="0" name="Object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05" y="2976"/>
                          <a:ext cx="8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98" name="Object 50"/>
            <p:cNvGraphicFramePr>
              <a:graphicFrameLocks noChangeAspect="1"/>
            </p:cNvGraphicFramePr>
            <p:nvPr/>
          </p:nvGraphicFramePr>
          <p:xfrm>
            <a:off x="4845" y="2976"/>
            <a:ext cx="118" cy="212"/>
          </p:xfrm>
          <a:graphic>
            <a:graphicData uri="http://schemas.openxmlformats.org/presentationml/2006/ole">
              <mc:AlternateContent xmlns:mc="http://schemas.openxmlformats.org/markup-compatibility/2006">
                <mc:Choice xmlns:v="urn:schemas-microsoft-com:vml" Requires="v">
                  <p:oleObj spid="_x0000_s58644" name="Equation" r:id="rId15" imgW="120676" imgH="158773" progId="Equation.3">
                    <p:embed/>
                  </p:oleObj>
                </mc:Choice>
                <mc:Fallback>
                  <p:oleObj name="Equation" r:id="rId15" imgW="120676" imgH="158773" progId="Equation.3">
                    <p:embed/>
                    <p:pic>
                      <p:nvPicPr>
                        <p:cNvPr id="0" name="Object 5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45" y="2976"/>
                          <a:ext cx="11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99" name="Object 51"/>
            <p:cNvGraphicFramePr>
              <a:graphicFrameLocks noChangeAspect="1"/>
            </p:cNvGraphicFramePr>
            <p:nvPr/>
          </p:nvGraphicFramePr>
          <p:xfrm>
            <a:off x="4655" y="2976"/>
            <a:ext cx="107" cy="228"/>
          </p:xfrm>
          <a:graphic>
            <a:graphicData uri="http://schemas.openxmlformats.org/presentationml/2006/ole">
              <mc:AlternateContent xmlns:mc="http://schemas.openxmlformats.org/markup-compatibility/2006">
                <mc:Choice xmlns:v="urn:schemas-microsoft-com:vml" Requires="v">
                  <p:oleObj spid="_x0000_s58645" name="Equation" r:id="rId17" imgW="107820" imgH="171658" progId="Equation.3">
                    <p:embed/>
                  </p:oleObj>
                </mc:Choice>
                <mc:Fallback>
                  <p:oleObj name="Equation" r:id="rId17" imgW="107820" imgH="171658" progId="Equation.3">
                    <p:embed/>
                    <p:pic>
                      <p:nvPicPr>
                        <p:cNvPr id="0" name="Object 5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55" y="2976"/>
                          <a:ext cx="10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400" name="Object 52"/>
            <p:cNvGraphicFramePr>
              <a:graphicFrameLocks noChangeAspect="1"/>
            </p:cNvGraphicFramePr>
            <p:nvPr/>
          </p:nvGraphicFramePr>
          <p:xfrm>
            <a:off x="4399" y="2976"/>
            <a:ext cx="119" cy="212"/>
          </p:xfrm>
          <a:graphic>
            <a:graphicData uri="http://schemas.openxmlformats.org/presentationml/2006/ole">
              <mc:AlternateContent xmlns:mc="http://schemas.openxmlformats.org/markup-compatibility/2006">
                <mc:Choice xmlns:v="urn:schemas-microsoft-com:vml" Requires="v">
                  <p:oleObj spid="_x0000_s58646" name="Equation" r:id="rId19" imgW="120676" imgH="158773" progId="Equation.3">
                    <p:embed/>
                  </p:oleObj>
                </mc:Choice>
                <mc:Fallback>
                  <p:oleObj name="Equation" r:id="rId19" imgW="120676" imgH="158773" progId="Equation.3">
                    <p:embed/>
                    <p:pic>
                      <p:nvPicPr>
                        <p:cNvPr id="0" name="Object 5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99" y="2976"/>
                          <a:ext cx="11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401" name="Freeform 53"/>
            <p:cNvSpPr>
              <a:spLocks/>
            </p:cNvSpPr>
            <p:nvPr/>
          </p:nvSpPr>
          <p:spPr bwMode="auto">
            <a:xfrm>
              <a:off x="4448" y="2972"/>
              <a:ext cx="1" cy="240"/>
            </a:xfrm>
            <a:custGeom>
              <a:avLst/>
              <a:gdLst>
                <a:gd name="T0" fmla="*/ 0 w 1"/>
                <a:gd name="T1" fmla="*/ 0 h 240"/>
                <a:gd name="T2" fmla="*/ 0 w 1"/>
                <a:gd name="T3" fmla="*/ 240 h 240"/>
                <a:gd name="T4" fmla="*/ 0 60000 65536"/>
                <a:gd name="T5" fmla="*/ 0 60000 65536"/>
              </a:gdLst>
              <a:ahLst/>
              <a:cxnLst>
                <a:cxn ang="T4">
                  <a:pos x="T0" y="T1"/>
                </a:cxn>
                <a:cxn ang="T5">
                  <a:pos x="T2" y="T3"/>
                </a:cxn>
              </a:cxnLst>
              <a:rect l="0" t="0" r="r" b="b"/>
              <a:pathLst>
                <a:path w="1" h="240">
                  <a:moveTo>
                    <a:pt x="0" y="0"/>
                  </a:moveTo>
                  <a:lnTo>
                    <a:pt x="0" y="240"/>
                  </a:lnTo>
                </a:path>
              </a:pathLst>
            </a:custGeom>
            <a:noFill/>
            <a:ln w="19050" cap="rnd" cmpd="sng">
              <a:solidFill>
                <a:schemeClr val="bg1"/>
              </a:solidFill>
              <a:prstDash val="sysDot"/>
              <a:round/>
              <a:headEnd type="none" w="sm"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2" name="Text Box 54"/>
            <p:cNvSpPr txBox="1">
              <a:spLocks noChangeArrowheads="1"/>
            </p:cNvSpPr>
            <p:nvPr/>
          </p:nvSpPr>
          <p:spPr bwMode="auto">
            <a:xfrm>
              <a:off x="3379" y="3369"/>
              <a:ext cx="79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bg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rPr>
                <a:t>暗纹</a:t>
              </a:r>
              <a:r>
                <a:rPr lang="en-US" altLang="zh-CN" sz="2400" b="1">
                  <a:solidFill>
                    <a:schemeClr val="tx1"/>
                  </a:solidFill>
                </a:rPr>
                <a:t>8</a:t>
              </a:r>
              <a:r>
                <a:rPr lang="zh-CN" altLang="en-US" sz="2400" b="1">
                  <a:solidFill>
                    <a:schemeClr val="tx1"/>
                  </a:solidFill>
                </a:rPr>
                <a:t>条</a:t>
              </a:r>
            </a:p>
          </p:txBody>
        </p:sp>
        <p:sp>
          <p:nvSpPr>
            <p:cNvPr id="58403" name="Text Box 55"/>
            <p:cNvSpPr txBox="1">
              <a:spLocks noChangeArrowheads="1"/>
            </p:cNvSpPr>
            <p:nvPr/>
          </p:nvSpPr>
          <p:spPr bwMode="auto">
            <a:xfrm>
              <a:off x="4353" y="3218"/>
              <a:ext cx="79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bg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rPr>
                <a:t>明纹</a:t>
              </a:r>
              <a:r>
                <a:rPr lang="en-US" altLang="zh-CN" sz="2400" b="1">
                  <a:solidFill>
                    <a:schemeClr val="tx1"/>
                  </a:solidFill>
                </a:rPr>
                <a:t>7</a:t>
              </a:r>
              <a:r>
                <a:rPr lang="zh-CN" altLang="en-US" sz="2400" b="1">
                  <a:solidFill>
                    <a:schemeClr val="tx1"/>
                  </a:solidFill>
                </a:rPr>
                <a:t>条</a:t>
              </a:r>
            </a:p>
          </p:txBody>
        </p:sp>
        <p:sp>
          <p:nvSpPr>
            <p:cNvPr id="58404" name="Line 56"/>
            <p:cNvSpPr>
              <a:spLocks noChangeShapeType="1"/>
            </p:cNvSpPr>
            <p:nvPr/>
          </p:nvSpPr>
          <p:spPr bwMode="auto">
            <a:xfrm flipH="1">
              <a:off x="3600" y="1536"/>
              <a:ext cx="192"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5" name="Line 57"/>
            <p:cNvSpPr>
              <a:spLocks noChangeShapeType="1"/>
            </p:cNvSpPr>
            <p:nvPr/>
          </p:nvSpPr>
          <p:spPr bwMode="auto">
            <a:xfrm>
              <a:off x="5088" y="1536"/>
              <a:ext cx="192"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6" name="Line 58"/>
            <p:cNvSpPr>
              <a:spLocks noChangeShapeType="1"/>
            </p:cNvSpPr>
            <p:nvPr/>
          </p:nvSpPr>
          <p:spPr bwMode="auto">
            <a:xfrm>
              <a:off x="3600" y="1536"/>
              <a:ext cx="0" cy="432"/>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7" name="Line 59"/>
            <p:cNvSpPr>
              <a:spLocks noChangeShapeType="1"/>
            </p:cNvSpPr>
            <p:nvPr/>
          </p:nvSpPr>
          <p:spPr bwMode="auto">
            <a:xfrm>
              <a:off x="3600" y="1968"/>
              <a:ext cx="1680"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8" name="Line 60"/>
            <p:cNvSpPr>
              <a:spLocks noChangeShapeType="1"/>
            </p:cNvSpPr>
            <p:nvPr/>
          </p:nvSpPr>
          <p:spPr bwMode="auto">
            <a:xfrm flipV="1">
              <a:off x="5280" y="1536"/>
              <a:ext cx="0" cy="432"/>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9" name="Line 61"/>
            <p:cNvSpPr>
              <a:spLocks noChangeShapeType="1"/>
            </p:cNvSpPr>
            <p:nvPr/>
          </p:nvSpPr>
          <p:spPr bwMode="auto">
            <a:xfrm>
              <a:off x="5088" y="1536"/>
              <a:ext cx="0" cy="768"/>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10" name="Line 62"/>
            <p:cNvSpPr>
              <a:spLocks noChangeShapeType="1"/>
            </p:cNvSpPr>
            <p:nvPr/>
          </p:nvSpPr>
          <p:spPr bwMode="auto">
            <a:xfrm>
              <a:off x="3792" y="1536"/>
              <a:ext cx="0" cy="768"/>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8411" name="Object 63"/>
            <p:cNvGraphicFramePr>
              <a:graphicFrameLocks noChangeAspect="1"/>
            </p:cNvGraphicFramePr>
            <p:nvPr/>
          </p:nvGraphicFramePr>
          <p:xfrm>
            <a:off x="3408" y="2016"/>
            <a:ext cx="343" cy="228"/>
          </p:xfrm>
          <a:graphic>
            <a:graphicData uri="http://schemas.openxmlformats.org/presentationml/2006/ole">
              <mc:AlternateContent xmlns:mc="http://schemas.openxmlformats.org/markup-compatibility/2006">
                <mc:Choice xmlns:v="urn:schemas-microsoft-com:vml" Requires="v">
                  <p:oleObj spid="_x0000_s58647" name="Equation" r:id="rId21" imgW="362028" imgH="171658" progId="Equation.3">
                    <p:embed/>
                  </p:oleObj>
                </mc:Choice>
                <mc:Fallback>
                  <p:oleObj name="Equation" r:id="rId21" imgW="362028" imgH="171658" progId="Equation.3">
                    <p:embed/>
                    <p:pic>
                      <p:nvPicPr>
                        <p:cNvPr id="0" name="Object 6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08" y="2016"/>
                          <a:ext cx="343"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cxnSp>
        <p:nvCxnSpPr>
          <p:cNvPr id="3" name="直接箭头连接符 2"/>
          <p:cNvCxnSpPr>
            <a:cxnSpLocks noChangeShapeType="1"/>
            <a:stCxn id="58384" idx="1"/>
          </p:cNvCxnSpPr>
          <p:nvPr/>
        </p:nvCxnSpPr>
        <p:spPr bwMode="auto">
          <a:xfrm flipH="1">
            <a:off x="6294438" y="4264025"/>
            <a:ext cx="381000" cy="604838"/>
          </a:xfrm>
          <a:prstGeom prst="straightConnector1">
            <a:avLst/>
          </a:prstGeom>
          <a:noFill/>
          <a:ln w="19050"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626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63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96325"/>
                                        </p:tgtEl>
                                        <p:attrNameLst>
                                          <p:attrName>style.visibility</p:attrName>
                                        </p:attrNameLst>
                                      </p:cBhvr>
                                      <p:to>
                                        <p:strVal val="visible"/>
                                      </p:to>
                                    </p:set>
                                    <p:animEffect transition="in" filter="dissolve">
                                      <p:cBhvr>
                                        <p:cTn id="15" dur="500"/>
                                        <p:tgtEl>
                                          <p:spTgt spid="9632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96326"/>
                                        </p:tgtEl>
                                        <p:attrNameLst>
                                          <p:attrName>style.visibility</p:attrName>
                                        </p:attrNameLst>
                                      </p:cBhvr>
                                      <p:to>
                                        <p:strVal val="visible"/>
                                      </p:to>
                                    </p:set>
                                    <p:animEffect transition="in" filter="wipe(up)">
                                      <p:cBhvr>
                                        <p:cTn id="20" dur="500"/>
                                        <p:tgtEl>
                                          <p:spTgt spid="9632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6766" name="Group 30"/>
          <p:cNvGrpSpPr>
            <a:grpSpLocks/>
          </p:cNvGrpSpPr>
          <p:nvPr/>
        </p:nvGrpSpPr>
        <p:grpSpPr bwMode="auto">
          <a:xfrm>
            <a:off x="381000" y="425450"/>
            <a:ext cx="8512175" cy="3181350"/>
            <a:chOff x="240" y="643"/>
            <a:chExt cx="5362" cy="2004"/>
          </a:xfrm>
        </p:grpSpPr>
        <p:sp>
          <p:nvSpPr>
            <p:cNvPr id="59402" name="Rectangle 2"/>
            <p:cNvSpPr>
              <a:spLocks noChangeArrowheads="1"/>
            </p:cNvSpPr>
            <p:nvPr/>
          </p:nvSpPr>
          <p:spPr bwMode="auto">
            <a:xfrm>
              <a:off x="240" y="643"/>
              <a:ext cx="5362" cy="1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indent="266700">
                <a:lnSpc>
                  <a:spcPct val="150000"/>
                </a:lnSpc>
              </a:pPr>
              <a:r>
                <a:rPr lang="en-US" altLang="zh-CN" sz="2400" b="1">
                  <a:solidFill>
                    <a:schemeClr val="tx1"/>
                  </a:solidFill>
                  <a:latin typeface="宋体" pitchFamily="2" charset="-122"/>
                </a:rPr>
                <a:t>4</a:t>
              </a:r>
              <a:r>
                <a:rPr lang="zh-CN" altLang="en-US" sz="2400" b="1">
                  <a:solidFill>
                    <a:schemeClr val="tx1"/>
                  </a:solidFill>
                  <a:latin typeface="宋体" pitchFamily="2" charset="-122"/>
                </a:rPr>
                <a:t>．图示牛顿环装置中，平板玻璃由两部分组成的               </a:t>
              </a:r>
              <a:r>
                <a:rPr lang="en-US" altLang="zh-CN" sz="2400" b="1">
                  <a:solidFill>
                    <a:schemeClr val="tx1"/>
                  </a:solidFill>
                  <a:latin typeface="宋体" pitchFamily="2" charset="-122"/>
                </a:rPr>
                <a:t>(                   )</a:t>
              </a:r>
              <a:r>
                <a:rPr lang="zh-CN" altLang="en-US" sz="2400" b="1">
                  <a:solidFill>
                    <a:schemeClr val="tx1"/>
                  </a:solidFill>
                  <a:latin typeface="宋体" pitchFamily="2" charset="-122"/>
                </a:rPr>
                <a:t>，透镜玻璃的折射率        ，玻璃与透镜之间的间隙充满        的介质，试讨论形成牛顿环的图样如何？</a:t>
              </a:r>
            </a:p>
          </p:txBody>
        </p:sp>
        <p:graphicFrame>
          <p:nvGraphicFramePr>
            <p:cNvPr id="59403" name="Object 3"/>
            <p:cNvGraphicFramePr>
              <a:graphicFrameLocks noChangeAspect="1"/>
            </p:cNvGraphicFramePr>
            <p:nvPr/>
          </p:nvGraphicFramePr>
          <p:xfrm>
            <a:off x="431" y="1054"/>
            <a:ext cx="1786" cy="286"/>
          </p:xfrm>
          <a:graphic>
            <a:graphicData uri="http://schemas.openxmlformats.org/presentationml/2006/ole">
              <mc:AlternateContent xmlns:mc="http://schemas.openxmlformats.org/markup-compatibility/2006">
                <mc:Choice xmlns:v="urn:schemas-microsoft-com:vml" Requires="v">
                  <p:oleObj spid="_x0000_s59636" r:id="rId3" imgW="1238276" imgH="197012" progId="Equation.3">
                    <p:embed/>
                  </p:oleObj>
                </mc:Choice>
                <mc:Fallback>
                  <p:oleObj r:id="rId3" imgW="1238276" imgH="197012"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 y="1054"/>
                          <a:ext cx="178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04" name="Object 4"/>
            <p:cNvGraphicFramePr>
              <a:graphicFrameLocks noChangeAspect="1"/>
            </p:cNvGraphicFramePr>
            <p:nvPr/>
          </p:nvGraphicFramePr>
          <p:xfrm>
            <a:off x="4127" y="1081"/>
            <a:ext cx="749" cy="275"/>
          </p:xfrm>
          <a:graphic>
            <a:graphicData uri="http://schemas.openxmlformats.org/presentationml/2006/ole">
              <mc:AlternateContent xmlns:mc="http://schemas.openxmlformats.org/markup-compatibility/2006">
                <mc:Choice xmlns:v="urn:schemas-microsoft-com:vml" Requires="v">
                  <p:oleObj spid="_x0000_s59637" r:id="rId5" imgW="539931" imgH="197012" progId="Equation.3">
                    <p:embed/>
                  </p:oleObj>
                </mc:Choice>
                <mc:Fallback>
                  <p:oleObj r:id="rId5" imgW="539931" imgH="197012"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7" y="1081"/>
                          <a:ext cx="749"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05" name="Object 5"/>
            <p:cNvGraphicFramePr>
              <a:graphicFrameLocks noChangeAspect="1"/>
            </p:cNvGraphicFramePr>
            <p:nvPr/>
          </p:nvGraphicFramePr>
          <p:xfrm>
            <a:off x="2280" y="1434"/>
            <a:ext cx="749" cy="267"/>
          </p:xfrm>
          <a:graphic>
            <a:graphicData uri="http://schemas.openxmlformats.org/presentationml/2006/ole">
              <mc:AlternateContent xmlns:mc="http://schemas.openxmlformats.org/markup-compatibility/2006">
                <mc:Choice xmlns:v="urn:schemas-microsoft-com:vml" Requires="v">
                  <p:oleObj spid="_x0000_s59638" r:id="rId7" imgW="552372" imgH="197012" progId="Equation.3">
                    <p:embed/>
                  </p:oleObj>
                </mc:Choice>
                <mc:Fallback>
                  <p:oleObj r:id="rId7" imgW="552372" imgH="197012"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0" y="1434"/>
                          <a:ext cx="749"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9406" name="Group 29"/>
            <p:cNvGrpSpPr>
              <a:grpSpLocks/>
            </p:cNvGrpSpPr>
            <p:nvPr/>
          </p:nvGrpSpPr>
          <p:grpSpPr bwMode="auto">
            <a:xfrm>
              <a:off x="3608" y="2064"/>
              <a:ext cx="1720" cy="583"/>
              <a:chOff x="3608" y="2064"/>
              <a:chExt cx="1720" cy="583"/>
            </a:xfrm>
          </p:grpSpPr>
          <p:sp>
            <p:nvSpPr>
              <p:cNvPr id="59407" name="Rectangle 12"/>
              <p:cNvSpPr>
                <a:spLocks noChangeArrowheads="1"/>
              </p:cNvSpPr>
              <p:nvPr/>
            </p:nvSpPr>
            <p:spPr bwMode="auto">
              <a:xfrm>
                <a:off x="4009" y="2407"/>
                <a:ext cx="1296" cy="240"/>
              </a:xfrm>
              <a:prstGeom prst="rect">
                <a:avLst/>
              </a:prstGeom>
              <a:noFill/>
              <a:ln w="19050">
                <a:solidFill>
                  <a:schemeClr val="tx1"/>
                </a:solidFill>
                <a:miter lim="800000"/>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59408" name="Line 13"/>
              <p:cNvSpPr>
                <a:spLocks noChangeShapeType="1"/>
              </p:cNvSpPr>
              <p:nvPr/>
            </p:nvSpPr>
            <p:spPr bwMode="auto">
              <a:xfrm>
                <a:off x="4009" y="2071"/>
                <a:ext cx="1296"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9" name="Freeform 14"/>
              <p:cNvSpPr>
                <a:spLocks/>
              </p:cNvSpPr>
              <p:nvPr/>
            </p:nvSpPr>
            <p:spPr bwMode="auto">
              <a:xfrm>
                <a:off x="4009" y="2071"/>
                <a:ext cx="1296" cy="336"/>
              </a:xfrm>
              <a:custGeom>
                <a:avLst/>
                <a:gdLst>
                  <a:gd name="T0" fmla="*/ 0 w 1296"/>
                  <a:gd name="T1" fmla="*/ 0 h 336"/>
                  <a:gd name="T2" fmla="*/ 672 w 1296"/>
                  <a:gd name="T3" fmla="*/ 336 h 336"/>
                  <a:gd name="T4" fmla="*/ 1296 w 1296"/>
                  <a:gd name="T5" fmla="*/ 0 h 336"/>
                  <a:gd name="T6" fmla="*/ 0 60000 65536"/>
                  <a:gd name="T7" fmla="*/ 0 60000 65536"/>
                  <a:gd name="T8" fmla="*/ 0 60000 65536"/>
                </a:gdLst>
                <a:ahLst/>
                <a:cxnLst>
                  <a:cxn ang="T6">
                    <a:pos x="T0" y="T1"/>
                  </a:cxn>
                  <a:cxn ang="T7">
                    <a:pos x="T2" y="T3"/>
                  </a:cxn>
                  <a:cxn ang="T8">
                    <a:pos x="T4" y="T5"/>
                  </a:cxn>
                </a:cxnLst>
                <a:rect l="0" t="0" r="r" b="b"/>
                <a:pathLst>
                  <a:path w="1296" h="336">
                    <a:moveTo>
                      <a:pt x="0" y="0"/>
                    </a:moveTo>
                    <a:cubicBezTo>
                      <a:pt x="180" y="198"/>
                      <a:pt x="456" y="336"/>
                      <a:pt x="672" y="336"/>
                    </a:cubicBezTo>
                    <a:cubicBezTo>
                      <a:pt x="888" y="336"/>
                      <a:pt x="1134" y="198"/>
                      <a:pt x="1296" y="0"/>
                    </a:cubicBezTo>
                  </a:path>
                </a:pathLst>
              </a:custGeom>
              <a:noFill/>
              <a:ln w="19050" cap="flat" cmpd="sng">
                <a:solidFill>
                  <a:schemeClr val="tx1"/>
                </a:solidFill>
                <a:prstDash val="solid"/>
                <a:round/>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9410" name="Object 19"/>
              <p:cNvGraphicFramePr>
                <a:graphicFrameLocks noChangeAspect="1"/>
              </p:cNvGraphicFramePr>
              <p:nvPr/>
            </p:nvGraphicFramePr>
            <p:xfrm>
              <a:off x="3608" y="2215"/>
              <a:ext cx="593" cy="223"/>
            </p:xfrm>
            <a:graphic>
              <a:graphicData uri="http://schemas.openxmlformats.org/presentationml/2006/ole">
                <mc:AlternateContent xmlns:mc="http://schemas.openxmlformats.org/markup-compatibility/2006">
                  <mc:Choice xmlns:v="urn:schemas-microsoft-com:vml" Requires="v">
                    <p:oleObj spid="_x0000_s59639" name="Equation" r:id="rId9" imgW="577669" imgH="209481" progId="Equation.3">
                      <p:embed/>
                    </p:oleObj>
                  </mc:Choice>
                  <mc:Fallback>
                    <p:oleObj name="Equation" r:id="rId9" imgW="577669" imgH="209481"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08" y="2215"/>
                            <a:ext cx="59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9411" name="Line 20"/>
              <p:cNvSpPr>
                <a:spLocks noChangeShapeType="1"/>
              </p:cNvSpPr>
              <p:nvPr/>
            </p:nvSpPr>
            <p:spPr bwMode="auto">
              <a:xfrm>
                <a:off x="4681" y="2407"/>
                <a:ext cx="0" cy="24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9412" name="Object 21"/>
              <p:cNvGraphicFramePr>
                <a:graphicFrameLocks noChangeAspect="1"/>
              </p:cNvGraphicFramePr>
              <p:nvPr/>
            </p:nvGraphicFramePr>
            <p:xfrm>
              <a:off x="4297" y="2064"/>
              <a:ext cx="672" cy="247"/>
            </p:xfrm>
            <a:graphic>
              <a:graphicData uri="http://schemas.openxmlformats.org/presentationml/2006/ole">
                <mc:AlternateContent xmlns:mc="http://schemas.openxmlformats.org/markup-compatibility/2006">
                  <mc:Choice xmlns:v="urn:schemas-microsoft-com:vml" Requires="v">
                    <p:oleObj spid="_x0000_s59640" r:id="rId11" imgW="539931" imgH="197012" progId="Equation.3">
                      <p:embed/>
                    </p:oleObj>
                  </mc:Choice>
                  <mc:Fallback>
                    <p:oleObj r:id="rId11" imgW="539931" imgH="197012"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97" y="2064"/>
                            <a:ext cx="672"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9413" name="Object 22"/>
              <p:cNvGraphicFramePr>
                <a:graphicFrameLocks noChangeAspect="1"/>
              </p:cNvGraphicFramePr>
              <p:nvPr/>
            </p:nvGraphicFramePr>
            <p:xfrm>
              <a:off x="4057" y="2407"/>
              <a:ext cx="576" cy="236"/>
            </p:xfrm>
            <a:graphic>
              <a:graphicData uri="http://schemas.openxmlformats.org/presentationml/2006/ole">
                <mc:AlternateContent xmlns:mc="http://schemas.openxmlformats.org/markup-compatibility/2006">
                  <mc:Choice xmlns:v="urn:schemas-microsoft-com:vml" Requires="v">
                    <p:oleObj spid="_x0000_s59641" name="Equation" r:id="rId13" imgW="577669" imgH="222365" progId="Equation.3">
                      <p:embed/>
                    </p:oleObj>
                  </mc:Choice>
                  <mc:Fallback>
                    <p:oleObj name="Equation" r:id="rId13" imgW="577669" imgH="222365" progId="Equation.3">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57" y="2407"/>
                            <a:ext cx="57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9414" name="Object 23"/>
              <p:cNvGraphicFramePr>
                <a:graphicFrameLocks noChangeAspect="1"/>
              </p:cNvGraphicFramePr>
              <p:nvPr/>
            </p:nvGraphicFramePr>
            <p:xfrm>
              <a:off x="4729" y="2408"/>
              <a:ext cx="528" cy="239"/>
            </p:xfrm>
            <a:graphic>
              <a:graphicData uri="http://schemas.openxmlformats.org/presentationml/2006/ole">
                <mc:AlternateContent xmlns:mc="http://schemas.openxmlformats.org/markup-compatibility/2006">
                  <mc:Choice xmlns:v="urn:schemas-microsoft-com:vml" Requires="v">
                    <p:oleObj spid="_x0000_s59642" name="Equation" r:id="rId15" imgW="577669" imgH="222365" progId="Equation.3">
                      <p:embed/>
                    </p:oleObj>
                  </mc:Choice>
                  <mc:Fallback>
                    <p:oleObj name="Equation" r:id="rId15" imgW="577669" imgH="222365" progId="Equation.3">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29" y="2408"/>
                            <a:ext cx="528"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9415" name="Object 24"/>
              <p:cNvGraphicFramePr>
                <a:graphicFrameLocks noChangeAspect="1"/>
              </p:cNvGraphicFramePr>
              <p:nvPr/>
            </p:nvGraphicFramePr>
            <p:xfrm>
              <a:off x="5161" y="2167"/>
              <a:ext cx="167" cy="223"/>
            </p:xfrm>
            <a:graphic>
              <a:graphicData uri="http://schemas.openxmlformats.org/presentationml/2006/ole">
                <mc:AlternateContent xmlns:mc="http://schemas.openxmlformats.org/markup-compatibility/2006">
                  <mc:Choice xmlns:v="urn:schemas-microsoft-com:vml" Requires="v">
                    <p:oleObj spid="_x0000_s59643" name="Equation" r:id="rId17" imgW="158828" imgH="209481" progId="Equation.3">
                      <p:embed/>
                    </p:oleObj>
                  </mc:Choice>
                  <mc:Fallback>
                    <p:oleObj name="Equation" r:id="rId17" imgW="158828" imgH="209481" progId="Equation.3">
                      <p:embed/>
                      <p:pic>
                        <p:nvPicPr>
                          <p:cNvPr id="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61" y="2167"/>
                            <a:ext cx="167"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grpSp>
      <p:sp>
        <p:nvSpPr>
          <p:cNvPr id="116743" name="Text Box 7"/>
          <p:cNvSpPr txBox="1">
            <a:spLocks noChangeArrowheads="1"/>
          </p:cNvSpPr>
          <p:nvPr/>
        </p:nvSpPr>
        <p:spPr bwMode="auto">
          <a:xfrm>
            <a:off x="468313" y="3398838"/>
            <a:ext cx="11064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2"/>
                </a:solidFill>
                <a:latin typeface="黑体" pitchFamily="49" charset="-122"/>
                <a:ea typeface="黑体" pitchFamily="49" charset="-122"/>
              </a:rPr>
              <a:t>讨论：</a:t>
            </a:r>
          </a:p>
        </p:txBody>
      </p:sp>
      <p:sp>
        <p:nvSpPr>
          <p:cNvPr id="116744" name="Text Box 8"/>
          <p:cNvSpPr txBox="1">
            <a:spLocks noChangeArrowheads="1"/>
          </p:cNvSpPr>
          <p:nvPr/>
        </p:nvSpPr>
        <p:spPr bwMode="auto">
          <a:xfrm>
            <a:off x="381000" y="3965575"/>
            <a:ext cx="82946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lang="zh-CN" altLang="en-US" sz="2400" b="1">
                <a:solidFill>
                  <a:schemeClr val="tx1"/>
                </a:solidFill>
                <a:latin typeface="宋体" pitchFamily="2" charset="-122"/>
              </a:rPr>
              <a:t>分别写出左右两侧的反射光的光程差表示式（对应同一厚度） </a:t>
            </a:r>
          </a:p>
        </p:txBody>
      </p:sp>
      <p:grpSp>
        <p:nvGrpSpPr>
          <p:cNvPr id="116768" name="Group 32"/>
          <p:cNvGrpSpPr>
            <a:grpSpLocks/>
          </p:cNvGrpSpPr>
          <p:nvPr/>
        </p:nvGrpSpPr>
        <p:grpSpPr bwMode="auto">
          <a:xfrm>
            <a:off x="1538288" y="4868863"/>
            <a:ext cx="4892675" cy="820737"/>
            <a:chOff x="969" y="3442"/>
            <a:chExt cx="3082" cy="517"/>
          </a:xfrm>
        </p:grpSpPr>
        <p:grpSp>
          <p:nvGrpSpPr>
            <p:cNvPr id="59398" name="Group 31"/>
            <p:cNvGrpSpPr>
              <a:grpSpLocks/>
            </p:cNvGrpSpPr>
            <p:nvPr/>
          </p:nvGrpSpPr>
          <p:grpSpPr bwMode="auto">
            <a:xfrm>
              <a:off x="969" y="3442"/>
              <a:ext cx="3082" cy="517"/>
              <a:chOff x="969" y="3442"/>
              <a:chExt cx="3082" cy="517"/>
            </a:xfrm>
          </p:grpSpPr>
          <p:graphicFrame>
            <p:nvGraphicFramePr>
              <p:cNvPr id="59400" name="Object 9"/>
              <p:cNvGraphicFramePr>
                <a:graphicFrameLocks noChangeAspect="1"/>
              </p:cNvGraphicFramePr>
              <p:nvPr/>
            </p:nvGraphicFramePr>
            <p:xfrm>
              <a:off x="969" y="3442"/>
              <a:ext cx="1325" cy="517"/>
            </p:xfrm>
            <a:graphic>
              <a:graphicData uri="http://schemas.openxmlformats.org/presentationml/2006/ole">
                <mc:AlternateContent xmlns:mc="http://schemas.openxmlformats.org/markup-compatibility/2006">
                  <mc:Choice xmlns:v="urn:schemas-microsoft-com:vml" Requires="v">
                    <p:oleObj spid="_x0000_s59644" r:id="rId19" imgW="946331" imgH="362019" progId="Equation.3">
                      <p:embed/>
                    </p:oleObj>
                  </mc:Choice>
                  <mc:Fallback>
                    <p:oleObj r:id="rId19" imgW="946331" imgH="362019" progId="Equation.3">
                      <p:embed/>
                      <p:pic>
                        <p:nvPicPr>
                          <p:cNvPr id="0" name="Object 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69" y="3442"/>
                            <a:ext cx="1325"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01" name="Object 10"/>
              <p:cNvGraphicFramePr>
                <a:graphicFrameLocks noChangeAspect="1"/>
              </p:cNvGraphicFramePr>
              <p:nvPr/>
            </p:nvGraphicFramePr>
            <p:xfrm>
              <a:off x="3072" y="3588"/>
              <a:ext cx="979" cy="309"/>
            </p:xfrm>
            <a:graphic>
              <a:graphicData uri="http://schemas.openxmlformats.org/presentationml/2006/ole">
                <mc:AlternateContent xmlns:mc="http://schemas.openxmlformats.org/markup-compatibility/2006">
                  <mc:Choice xmlns:v="urn:schemas-microsoft-com:vml" Requires="v">
                    <p:oleObj spid="_x0000_s59645" r:id="rId21" imgW="692124" imgH="209481" progId="Equation.3">
                      <p:embed/>
                    </p:oleObj>
                  </mc:Choice>
                  <mc:Fallback>
                    <p:oleObj r:id="rId21" imgW="692124" imgH="209481" progId="Equation.3">
                      <p:embed/>
                      <p:pic>
                        <p:nvPicPr>
                          <p:cNvPr id="0" name="Object 1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072" y="3588"/>
                            <a:ext cx="979"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59399" name="Text Box 28"/>
            <p:cNvSpPr txBox="1">
              <a:spLocks noChangeArrowheads="1"/>
            </p:cNvSpPr>
            <p:nvPr/>
          </p:nvSpPr>
          <p:spPr bwMode="auto">
            <a:xfrm>
              <a:off x="2572" y="3552"/>
              <a:ext cx="3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latin typeface="宋体" pitchFamily="2" charset="-122"/>
                </a:rPr>
                <a:t>与</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6766"/>
                                        </p:tgtEl>
                                        <p:attrNameLst>
                                          <p:attrName>style.visibility</p:attrName>
                                        </p:attrNameLst>
                                      </p:cBhvr>
                                      <p:to>
                                        <p:strVal val="visible"/>
                                      </p:to>
                                    </p:set>
                                    <p:animEffect transition="in" filter="blinds(horizontal)">
                                      <p:cBhvr>
                                        <p:cTn id="7" dur="500"/>
                                        <p:tgtEl>
                                          <p:spTgt spid="1167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1674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1674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116768"/>
                                        </p:tgtEl>
                                        <p:attrNameLst>
                                          <p:attrName>style.visibility</p:attrName>
                                        </p:attrNameLst>
                                      </p:cBhvr>
                                      <p:to>
                                        <p:strVal val="visible"/>
                                      </p:to>
                                    </p:set>
                                    <p:anim calcmode="lin" valueType="num">
                                      <p:cBhvr additive="base">
                                        <p:cTn id="20" dur="500" fill="hold"/>
                                        <p:tgtEl>
                                          <p:spTgt spid="116768"/>
                                        </p:tgtEl>
                                        <p:attrNameLst>
                                          <p:attrName>ppt_x</p:attrName>
                                        </p:attrNameLst>
                                      </p:cBhvr>
                                      <p:tavLst>
                                        <p:tav tm="0">
                                          <p:val>
                                            <p:strVal val="#ppt_x"/>
                                          </p:val>
                                        </p:tav>
                                        <p:tav tm="100000">
                                          <p:val>
                                            <p:strVal val="#ppt_x"/>
                                          </p:val>
                                        </p:tav>
                                      </p:tavLst>
                                    </p:anim>
                                    <p:anim calcmode="lin" valueType="num">
                                      <p:cBhvr additive="base">
                                        <p:cTn id="21" dur="500" fill="hold"/>
                                        <p:tgtEl>
                                          <p:spTgt spid="1167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3" grpId="0" autoUpdateAnimBg="0"/>
      <p:bldP spid="116744"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8" name="Rectangle 8"/>
          <p:cNvSpPr>
            <a:spLocks noChangeArrowheads="1"/>
          </p:cNvSpPr>
          <p:nvPr/>
        </p:nvSpPr>
        <p:spPr bwMode="auto">
          <a:xfrm>
            <a:off x="1692275" y="5848350"/>
            <a:ext cx="6002338"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indent="266700" algn="ctr"/>
            <a:r>
              <a:rPr lang="zh-CN" altLang="en-US" sz="2400" b="1" dirty="0">
                <a:solidFill>
                  <a:schemeClr val="tx1"/>
                </a:solidFill>
                <a:latin typeface="宋体" pitchFamily="2" charset="-122"/>
              </a:rPr>
              <a:t>左右两侧明暗相反的半圆环条纹</a:t>
            </a:r>
          </a:p>
        </p:txBody>
      </p:sp>
      <p:grpSp>
        <p:nvGrpSpPr>
          <p:cNvPr id="97323" name="Group 43"/>
          <p:cNvGrpSpPr>
            <a:grpSpLocks/>
          </p:cNvGrpSpPr>
          <p:nvPr/>
        </p:nvGrpSpPr>
        <p:grpSpPr bwMode="auto">
          <a:xfrm>
            <a:off x="349250" y="584200"/>
            <a:ext cx="8686800" cy="1668463"/>
            <a:chOff x="240" y="144"/>
            <a:chExt cx="5472" cy="1051"/>
          </a:xfrm>
        </p:grpSpPr>
        <p:sp>
          <p:nvSpPr>
            <p:cNvPr id="60433" name="Text Box 11"/>
            <p:cNvSpPr txBox="1">
              <a:spLocks noChangeArrowheads="1"/>
            </p:cNvSpPr>
            <p:nvPr/>
          </p:nvSpPr>
          <p:spPr bwMode="auto">
            <a:xfrm>
              <a:off x="240" y="144"/>
              <a:ext cx="5472" cy="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zh-CN" altLang="en-US" sz="2400" b="1">
                  <a:solidFill>
                    <a:schemeClr val="tx1"/>
                  </a:solidFill>
                  <a:latin typeface="宋体" pitchFamily="2" charset="-122"/>
                </a:rPr>
                <a:t>可见，对应同一厚度处，左右两侧的光程差相差半波长   ，              即左边厚度  处为暗纹时，右边对应厚度  处却为明纹，反之亦然，因此可观察到的牛顿环的图样是：</a:t>
              </a:r>
            </a:p>
          </p:txBody>
        </p:sp>
        <p:graphicFrame>
          <p:nvGraphicFramePr>
            <p:cNvPr id="60434" name="Object 7"/>
            <p:cNvGraphicFramePr>
              <a:graphicFrameLocks noChangeAspect="1"/>
            </p:cNvGraphicFramePr>
            <p:nvPr/>
          </p:nvGraphicFramePr>
          <p:xfrm>
            <a:off x="1264" y="585"/>
            <a:ext cx="230" cy="262"/>
          </p:xfrm>
          <a:graphic>
            <a:graphicData uri="http://schemas.openxmlformats.org/presentationml/2006/ole">
              <mc:AlternateContent xmlns:mc="http://schemas.openxmlformats.org/markup-compatibility/2006">
                <mc:Choice xmlns:v="urn:schemas-microsoft-com:vml" Requires="v">
                  <p:oleObj spid="_x0000_s60506" r:id="rId3" imgW="133531" imgH="158773" progId="Equation.3">
                    <p:embed/>
                  </p:oleObj>
                </mc:Choice>
                <mc:Fallback>
                  <p:oleObj r:id="rId3" imgW="133531" imgH="158773"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4" y="585"/>
                          <a:ext cx="230"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35" name="Object 4"/>
            <p:cNvGraphicFramePr>
              <a:graphicFrameLocks noChangeAspect="1"/>
            </p:cNvGraphicFramePr>
            <p:nvPr/>
          </p:nvGraphicFramePr>
          <p:xfrm>
            <a:off x="4957" y="184"/>
            <a:ext cx="230" cy="346"/>
          </p:xfrm>
          <a:graphic>
            <a:graphicData uri="http://schemas.openxmlformats.org/presentationml/2006/ole">
              <mc:AlternateContent xmlns:mc="http://schemas.openxmlformats.org/markup-compatibility/2006">
                <mc:Choice xmlns:v="urn:schemas-microsoft-com:vml" Requires="v">
                  <p:oleObj spid="_x0000_s60507" name="Equation" r:id="rId5" imgW="235131" imgH="298427" progId="Equation.3">
                    <p:embed/>
                  </p:oleObj>
                </mc:Choice>
                <mc:Fallback>
                  <p:oleObj name="Equation" r:id="rId5" imgW="235131" imgH="298427"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7" y="184"/>
                          <a:ext cx="23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36" name="Object 2"/>
            <p:cNvGraphicFramePr>
              <a:graphicFrameLocks noChangeAspect="1"/>
            </p:cNvGraphicFramePr>
            <p:nvPr/>
          </p:nvGraphicFramePr>
          <p:xfrm>
            <a:off x="3780" y="581"/>
            <a:ext cx="230" cy="261"/>
          </p:xfrm>
          <a:graphic>
            <a:graphicData uri="http://schemas.openxmlformats.org/presentationml/2006/ole">
              <mc:AlternateContent xmlns:mc="http://schemas.openxmlformats.org/markup-compatibility/2006">
                <mc:Choice xmlns:v="urn:schemas-microsoft-com:vml" Requires="v">
                  <p:oleObj spid="_x0000_s60508" r:id="rId7" imgW="133531" imgH="158773" progId="Equation.3">
                    <p:embed/>
                  </p:oleObj>
                </mc:Choice>
                <mc:Fallback>
                  <p:oleObj r:id="rId7" imgW="133531" imgH="158773"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0" y="581"/>
                          <a:ext cx="230"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7324" name="Group 44"/>
          <p:cNvGrpSpPr>
            <a:grpSpLocks/>
          </p:cNvGrpSpPr>
          <p:nvPr/>
        </p:nvGrpSpPr>
        <p:grpSpPr bwMode="auto">
          <a:xfrm>
            <a:off x="3348038" y="2455863"/>
            <a:ext cx="2609850" cy="3276600"/>
            <a:chOff x="2256" y="2256"/>
            <a:chExt cx="1644" cy="2064"/>
          </a:xfrm>
        </p:grpSpPr>
        <p:sp>
          <p:nvSpPr>
            <p:cNvPr id="60421" name="Freeform 30" descr="宽上对角线"/>
            <p:cNvSpPr>
              <a:spLocks/>
            </p:cNvSpPr>
            <p:nvPr/>
          </p:nvSpPr>
          <p:spPr bwMode="auto">
            <a:xfrm>
              <a:off x="2696" y="2892"/>
              <a:ext cx="382" cy="748"/>
            </a:xfrm>
            <a:custGeom>
              <a:avLst/>
              <a:gdLst>
                <a:gd name="T0" fmla="*/ 380 w 382"/>
                <a:gd name="T1" fmla="*/ 140 h 748"/>
                <a:gd name="T2" fmla="*/ 376 w 382"/>
                <a:gd name="T3" fmla="*/ 0 h 748"/>
                <a:gd name="T4" fmla="*/ 4 w 382"/>
                <a:gd name="T5" fmla="*/ 360 h 748"/>
                <a:gd name="T6" fmla="*/ 376 w 382"/>
                <a:gd name="T7" fmla="*/ 748 h 748"/>
                <a:gd name="T8" fmla="*/ 376 w 382"/>
                <a:gd name="T9" fmla="*/ 600 h 748"/>
                <a:gd name="T10" fmla="*/ 152 w 382"/>
                <a:gd name="T11" fmla="*/ 356 h 748"/>
                <a:gd name="T12" fmla="*/ 380 w 382"/>
                <a:gd name="T13" fmla="*/ 140 h 7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2" h="748">
                  <a:moveTo>
                    <a:pt x="380" y="140"/>
                  </a:moveTo>
                  <a:cubicBezTo>
                    <a:pt x="376" y="48"/>
                    <a:pt x="370" y="90"/>
                    <a:pt x="376" y="0"/>
                  </a:cubicBezTo>
                  <a:cubicBezTo>
                    <a:pt x="205" y="0"/>
                    <a:pt x="8" y="104"/>
                    <a:pt x="4" y="360"/>
                  </a:cubicBezTo>
                  <a:cubicBezTo>
                    <a:pt x="0" y="616"/>
                    <a:pt x="184" y="744"/>
                    <a:pt x="376" y="748"/>
                  </a:cubicBezTo>
                  <a:cubicBezTo>
                    <a:pt x="382" y="658"/>
                    <a:pt x="376" y="648"/>
                    <a:pt x="376" y="600"/>
                  </a:cubicBezTo>
                  <a:cubicBezTo>
                    <a:pt x="202" y="594"/>
                    <a:pt x="151" y="447"/>
                    <a:pt x="152" y="356"/>
                  </a:cubicBezTo>
                  <a:cubicBezTo>
                    <a:pt x="153" y="265"/>
                    <a:pt x="238" y="147"/>
                    <a:pt x="380" y="140"/>
                  </a:cubicBezTo>
                  <a:close/>
                </a:path>
              </a:pathLst>
            </a:custGeom>
            <a:pattFill prst="wdUpDiag">
              <a:fgClr>
                <a:schemeClr val="hlink"/>
              </a:fgClr>
              <a:bgClr>
                <a:schemeClr val="bg2"/>
              </a:bgClr>
            </a:pattFill>
            <a:ln w="19050" cap="flat" cmpd="sng">
              <a:solidFill>
                <a:schemeClr val="tx1"/>
              </a:solidFill>
              <a:prstDash val="solid"/>
              <a:round/>
              <a:headEnd type="none" w="sm" len="med"/>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22" name="Freeform 29" descr="宽上对角线"/>
            <p:cNvSpPr>
              <a:spLocks/>
            </p:cNvSpPr>
            <p:nvPr/>
          </p:nvSpPr>
          <p:spPr bwMode="auto">
            <a:xfrm>
              <a:off x="2400" y="2596"/>
              <a:ext cx="676" cy="1332"/>
            </a:xfrm>
            <a:custGeom>
              <a:avLst/>
              <a:gdLst>
                <a:gd name="T0" fmla="*/ 672 w 676"/>
                <a:gd name="T1" fmla="*/ 148 h 1332"/>
                <a:gd name="T2" fmla="*/ 676 w 676"/>
                <a:gd name="T3" fmla="*/ 0 h 1332"/>
                <a:gd name="T4" fmla="*/ 0 w 676"/>
                <a:gd name="T5" fmla="*/ 664 h 1332"/>
                <a:gd name="T6" fmla="*/ 676 w 676"/>
                <a:gd name="T7" fmla="*/ 1332 h 1332"/>
                <a:gd name="T8" fmla="*/ 676 w 676"/>
                <a:gd name="T9" fmla="*/ 1188 h 1332"/>
                <a:gd name="T10" fmla="*/ 148 w 676"/>
                <a:gd name="T11" fmla="*/ 672 h 1332"/>
                <a:gd name="T12" fmla="*/ 672 w 676"/>
                <a:gd name="T13" fmla="*/ 148 h 13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6" h="1332">
                  <a:moveTo>
                    <a:pt x="672" y="148"/>
                  </a:moveTo>
                  <a:cubicBezTo>
                    <a:pt x="672" y="28"/>
                    <a:pt x="672" y="100"/>
                    <a:pt x="676" y="0"/>
                  </a:cubicBezTo>
                  <a:cubicBezTo>
                    <a:pt x="300" y="8"/>
                    <a:pt x="0" y="292"/>
                    <a:pt x="0" y="664"/>
                  </a:cubicBezTo>
                  <a:cubicBezTo>
                    <a:pt x="0" y="1036"/>
                    <a:pt x="308" y="1328"/>
                    <a:pt x="676" y="1332"/>
                  </a:cubicBezTo>
                  <a:cubicBezTo>
                    <a:pt x="672" y="1244"/>
                    <a:pt x="676" y="1236"/>
                    <a:pt x="676" y="1188"/>
                  </a:cubicBezTo>
                  <a:cubicBezTo>
                    <a:pt x="288" y="1156"/>
                    <a:pt x="148" y="904"/>
                    <a:pt x="148" y="672"/>
                  </a:cubicBezTo>
                  <a:cubicBezTo>
                    <a:pt x="148" y="440"/>
                    <a:pt x="344" y="152"/>
                    <a:pt x="672" y="148"/>
                  </a:cubicBezTo>
                  <a:close/>
                </a:path>
              </a:pathLst>
            </a:custGeom>
            <a:pattFill prst="wdUpDiag">
              <a:fgClr>
                <a:schemeClr val="hlink"/>
              </a:fgClr>
              <a:bgClr>
                <a:schemeClr val="bg2"/>
              </a:bgClr>
            </a:pattFill>
            <a:ln w="19050" cap="flat" cmpd="sng">
              <a:solidFill>
                <a:schemeClr val="tx1"/>
              </a:solidFill>
              <a:prstDash val="solid"/>
              <a:round/>
              <a:headEnd type="none" w="sm" len="med"/>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23" name="Freeform 28" descr="宽上对角线"/>
            <p:cNvSpPr>
              <a:spLocks/>
            </p:cNvSpPr>
            <p:nvPr/>
          </p:nvSpPr>
          <p:spPr bwMode="auto">
            <a:xfrm>
              <a:off x="3066" y="3039"/>
              <a:ext cx="228" cy="444"/>
            </a:xfrm>
            <a:custGeom>
              <a:avLst/>
              <a:gdLst>
                <a:gd name="T0" fmla="*/ 3 w 228"/>
                <a:gd name="T1" fmla="*/ 3 h 444"/>
                <a:gd name="T2" fmla="*/ 3 w 228"/>
                <a:gd name="T3" fmla="*/ 444 h 444"/>
                <a:gd name="T4" fmla="*/ 228 w 228"/>
                <a:gd name="T5" fmla="*/ 222 h 444"/>
                <a:gd name="T6" fmla="*/ 3 w 228"/>
                <a:gd name="T7" fmla="*/ 3 h 4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8" h="444">
                  <a:moveTo>
                    <a:pt x="3" y="3"/>
                  </a:moveTo>
                  <a:cubicBezTo>
                    <a:pt x="0" y="87"/>
                    <a:pt x="6" y="354"/>
                    <a:pt x="3" y="444"/>
                  </a:cubicBezTo>
                  <a:cubicBezTo>
                    <a:pt x="102" y="441"/>
                    <a:pt x="228" y="372"/>
                    <a:pt x="228" y="222"/>
                  </a:cubicBezTo>
                  <a:cubicBezTo>
                    <a:pt x="228" y="72"/>
                    <a:pt x="90" y="0"/>
                    <a:pt x="3" y="3"/>
                  </a:cubicBezTo>
                  <a:close/>
                </a:path>
              </a:pathLst>
            </a:custGeom>
            <a:pattFill prst="wdUpDiag">
              <a:fgClr>
                <a:schemeClr val="hlink"/>
              </a:fgClr>
              <a:bgClr>
                <a:schemeClr val="bg2"/>
              </a:bgClr>
            </a:pattFill>
            <a:ln w="19050" cap="flat" cmpd="sng">
              <a:solidFill>
                <a:schemeClr val="tx1"/>
              </a:solidFill>
              <a:prstDash val="solid"/>
              <a:round/>
              <a:headEnd type="none" w="sm" len="med"/>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24" name="Freeform 27" descr="宽上对角线"/>
            <p:cNvSpPr>
              <a:spLocks/>
            </p:cNvSpPr>
            <p:nvPr/>
          </p:nvSpPr>
          <p:spPr bwMode="auto">
            <a:xfrm>
              <a:off x="3063" y="2730"/>
              <a:ext cx="525" cy="1053"/>
            </a:xfrm>
            <a:custGeom>
              <a:avLst/>
              <a:gdLst>
                <a:gd name="T0" fmla="*/ 9 w 525"/>
                <a:gd name="T1" fmla="*/ 147 h 1053"/>
                <a:gd name="T2" fmla="*/ 9 w 525"/>
                <a:gd name="T3" fmla="*/ 15 h 1053"/>
                <a:gd name="T4" fmla="*/ 525 w 525"/>
                <a:gd name="T5" fmla="*/ 531 h 1053"/>
                <a:gd name="T6" fmla="*/ 6 w 525"/>
                <a:gd name="T7" fmla="*/ 1050 h 1053"/>
                <a:gd name="T8" fmla="*/ 6 w 525"/>
                <a:gd name="T9" fmla="*/ 912 h 1053"/>
                <a:gd name="T10" fmla="*/ 384 w 525"/>
                <a:gd name="T11" fmla="*/ 540 h 1053"/>
                <a:gd name="T12" fmla="*/ 9 w 525"/>
                <a:gd name="T13" fmla="*/ 147 h 10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25" h="1053">
                  <a:moveTo>
                    <a:pt x="9" y="147"/>
                  </a:moveTo>
                  <a:cubicBezTo>
                    <a:pt x="27" y="54"/>
                    <a:pt x="15" y="105"/>
                    <a:pt x="9" y="15"/>
                  </a:cubicBezTo>
                  <a:cubicBezTo>
                    <a:pt x="192" y="0"/>
                    <a:pt x="525" y="186"/>
                    <a:pt x="525" y="531"/>
                  </a:cubicBezTo>
                  <a:cubicBezTo>
                    <a:pt x="525" y="876"/>
                    <a:pt x="210" y="1053"/>
                    <a:pt x="6" y="1050"/>
                  </a:cubicBezTo>
                  <a:cubicBezTo>
                    <a:pt x="0" y="960"/>
                    <a:pt x="6" y="960"/>
                    <a:pt x="6" y="912"/>
                  </a:cubicBezTo>
                  <a:cubicBezTo>
                    <a:pt x="264" y="894"/>
                    <a:pt x="384" y="708"/>
                    <a:pt x="384" y="540"/>
                  </a:cubicBezTo>
                  <a:cubicBezTo>
                    <a:pt x="384" y="372"/>
                    <a:pt x="276" y="165"/>
                    <a:pt x="9" y="147"/>
                  </a:cubicBezTo>
                  <a:close/>
                </a:path>
              </a:pathLst>
            </a:custGeom>
            <a:pattFill prst="wdUpDiag">
              <a:fgClr>
                <a:schemeClr val="hlink"/>
              </a:fgClr>
              <a:bgClr>
                <a:schemeClr val="bg2"/>
              </a:bgClr>
            </a:pattFill>
            <a:ln w="19050" cap="flat" cmpd="sng">
              <a:solidFill>
                <a:schemeClr val="tx1"/>
              </a:solidFill>
              <a:prstDash val="solid"/>
              <a:round/>
              <a:headEnd type="none" w="sm" len="med"/>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25" name="Freeform 26" descr="宽上对角线"/>
            <p:cNvSpPr>
              <a:spLocks/>
            </p:cNvSpPr>
            <p:nvPr/>
          </p:nvSpPr>
          <p:spPr bwMode="auto">
            <a:xfrm>
              <a:off x="3048" y="2340"/>
              <a:ext cx="852" cy="1740"/>
            </a:xfrm>
            <a:custGeom>
              <a:avLst/>
              <a:gdLst>
                <a:gd name="T0" fmla="*/ 24 w 852"/>
                <a:gd name="T1" fmla="*/ 252 h 1740"/>
                <a:gd name="T2" fmla="*/ 24 w 852"/>
                <a:gd name="T3" fmla="*/ 108 h 1740"/>
                <a:gd name="T4" fmla="*/ 840 w 852"/>
                <a:gd name="T5" fmla="*/ 924 h 1740"/>
                <a:gd name="T6" fmla="*/ 24 w 852"/>
                <a:gd name="T7" fmla="*/ 1740 h 1740"/>
                <a:gd name="T8" fmla="*/ 24 w 852"/>
                <a:gd name="T9" fmla="*/ 1596 h 1740"/>
                <a:gd name="T10" fmla="*/ 696 w 852"/>
                <a:gd name="T11" fmla="*/ 924 h 1740"/>
                <a:gd name="T12" fmla="*/ 24 w 852"/>
                <a:gd name="T13" fmla="*/ 252 h 17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52" h="1740">
                  <a:moveTo>
                    <a:pt x="24" y="252"/>
                  </a:moveTo>
                  <a:cubicBezTo>
                    <a:pt x="18" y="0"/>
                    <a:pt x="0" y="330"/>
                    <a:pt x="24" y="108"/>
                  </a:cubicBezTo>
                  <a:cubicBezTo>
                    <a:pt x="444" y="108"/>
                    <a:pt x="852" y="474"/>
                    <a:pt x="840" y="924"/>
                  </a:cubicBezTo>
                  <a:cubicBezTo>
                    <a:pt x="828" y="1374"/>
                    <a:pt x="462" y="1740"/>
                    <a:pt x="24" y="1740"/>
                  </a:cubicBezTo>
                  <a:cubicBezTo>
                    <a:pt x="18" y="1650"/>
                    <a:pt x="24" y="1644"/>
                    <a:pt x="24" y="1596"/>
                  </a:cubicBezTo>
                  <a:cubicBezTo>
                    <a:pt x="474" y="1572"/>
                    <a:pt x="702" y="1230"/>
                    <a:pt x="696" y="924"/>
                  </a:cubicBezTo>
                  <a:cubicBezTo>
                    <a:pt x="690" y="618"/>
                    <a:pt x="450" y="258"/>
                    <a:pt x="24" y="252"/>
                  </a:cubicBezTo>
                  <a:close/>
                </a:path>
              </a:pathLst>
            </a:custGeom>
            <a:pattFill prst="wdUpDiag">
              <a:fgClr>
                <a:schemeClr val="hlink"/>
              </a:fgClr>
              <a:bgClr>
                <a:schemeClr val="bg2"/>
              </a:bgClr>
            </a:pattFill>
            <a:ln w="19050" cap="flat" cmpd="sng">
              <a:solidFill>
                <a:schemeClr val="tx1"/>
              </a:solidFill>
              <a:prstDash val="solid"/>
              <a:round/>
              <a:headEnd type="none" w="sm" len="med"/>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0426" name="Group 24"/>
            <p:cNvGrpSpPr>
              <a:grpSpLocks/>
            </p:cNvGrpSpPr>
            <p:nvPr/>
          </p:nvGrpSpPr>
          <p:grpSpPr bwMode="auto">
            <a:xfrm>
              <a:off x="2256" y="2448"/>
              <a:ext cx="1632" cy="1632"/>
              <a:chOff x="2256" y="2448"/>
              <a:chExt cx="1584" cy="1584"/>
            </a:xfrm>
          </p:grpSpPr>
          <p:sp>
            <p:nvSpPr>
              <p:cNvPr id="60428" name="Oval 19"/>
              <p:cNvSpPr>
                <a:spLocks noChangeArrowheads="1"/>
              </p:cNvSpPr>
              <p:nvPr/>
            </p:nvSpPr>
            <p:spPr bwMode="auto">
              <a:xfrm>
                <a:off x="2256" y="2448"/>
                <a:ext cx="1584" cy="1584"/>
              </a:xfrm>
              <a:prstGeom prst="ellipse">
                <a:avLst/>
              </a:prstGeom>
              <a:noFill/>
              <a:ln w="19050">
                <a:solidFill>
                  <a:schemeClr val="tx1"/>
                </a:solidFill>
                <a:round/>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60429" name="Oval 20"/>
              <p:cNvSpPr>
                <a:spLocks noChangeArrowheads="1"/>
              </p:cNvSpPr>
              <p:nvPr/>
            </p:nvSpPr>
            <p:spPr bwMode="auto">
              <a:xfrm>
                <a:off x="2400" y="2592"/>
                <a:ext cx="1296" cy="1296"/>
              </a:xfrm>
              <a:prstGeom prst="ellipse">
                <a:avLst/>
              </a:prstGeom>
              <a:noFill/>
              <a:ln w="19050">
                <a:solidFill>
                  <a:schemeClr val="tx1"/>
                </a:solidFill>
                <a:round/>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60430" name="Oval 21"/>
              <p:cNvSpPr>
                <a:spLocks noChangeArrowheads="1"/>
              </p:cNvSpPr>
              <p:nvPr/>
            </p:nvSpPr>
            <p:spPr bwMode="auto">
              <a:xfrm>
                <a:off x="2544" y="2736"/>
                <a:ext cx="1008" cy="1008"/>
              </a:xfrm>
              <a:prstGeom prst="ellipse">
                <a:avLst/>
              </a:prstGeom>
              <a:noFill/>
              <a:ln w="19050">
                <a:solidFill>
                  <a:schemeClr val="tx1"/>
                </a:solidFill>
                <a:round/>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60431" name="Oval 22"/>
              <p:cNvSpPr>
                <a:spLocks noChangeArrowheads="1"/>
              </p:cNvSpPr>
              <p:nvPr/>
            </p:nvSpPr>
            <p:spPr bwMode="auto">
              <a:xfrm>
                <a:off x="2688" y="2880"/>
                <a:ext cx="720" cy="720"/>
              </a:xfrm>
              <a:prstGeom prst="ellipse">
                <a:avLst/>
              </a:prstGeom>
              <a:noFill/>
              <a:ln w="19050">
                <a:solidFill>
                  <a:schemeClr val="tx1"/>
                </a:solidFill>
                <a:round/>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60432" name="Oval 23"/>
              <p:cNvSpPr>
                <a:spLocks noChangeArrowheads="1"/>
              </p:cNvSpPr>
              <p:nvPr/>
            </p:nvSpPr>
            <p:spPr bwMode="auto">
              <a:xfrm>
                <a:off x="2832" y="3024"/>
                <a:ext cx="432" cy="432"/>
              </a:xfrm>
              <a:prstGeom prst="ellipse">
                <a:avLst/>
              </a:prstGeom>
              <a:noFill/>
              <a:ln w="19050">
                <a:solidFill>
                  <a:schemeClr val="tx1"/>
                </a:solidFill>
                <a:round/>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grpSp>
        <p:sp>
          <p:nvSpPr>
            <p:cNvPr id="60427" name="Line 25"/>
            <p:cNvSpPr>
              <a:spLocks noChangeShapeType="1"/>
            </p:cNvSpPr>
            <p:nvPr/>
          </p:nvSpPr>
          <p:spPr bwMode="auto">
            <a:xfrm>
              <a:off x="3072" y="2256"/>
              <a:ext cx="0" cy="2064"/>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7323"/>
                                        </p:tgtEl>
                                        <p:attrNameLst>
                                          <p:attrName>style.visibility</p:attrName>
                                        </p:attrNameLst>
                                      </p:cBhvr>
                                      <p:to>
                                        <p:strVal val="visible"/>
                                      </p:to>
                                    </p:set>
                                    <p:animEffect transition="in" filter="dissolve">
                                      <p:cBhvr>
                                        <p:cTn id="7" dur="500"/>
                                        <p:tgtEl>
                                          <p:spTgt spid="973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7324"/>
                                        </p:tgtEl>
                                        <p:attrNameLst>
                                          <p:attrName>style.visibility</p:attrName>
                                        </p:attrNameLst>
                                      </p:cBhvr>
                                      <p:to>
                                        <p:strVal val="visible"/>
                                      </p:to>
                                    </p:set>
                                    <p:animEffect transition="in" filter="wipe(up)">
                                      <p:cBhvr>
                                        <p:cTn id="12" dur="500"/>
                                        <p:tgtEl>
                                          <p:spTgt spid="9732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972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8"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0402" name="Group 50"/>
          <p:cNvGrpSpPr>
            <a:grpSpLocks/>
          </p:cNvGrpSpPr>
          <p:nvPr/>
        </p:nvGrpSpPr>
        <p:grpSpPr bwMode="auto">
          <a:xfrm>
            <a:off x="381000" y="3625850"/>
            <a:ext cx="4983163" cy="1839913"/>
            <a:chOff x="240" y="2284"/>
            <a:chExt cx="3139" cy="1159"/>
          </a:xfrm>
        </p:grpSpPr>
        <p:sp>
          <p:nvSpPr>
            <p:cNvPr id="61477" name="Text Box 12"/>
            <p:cNvSpPr txBox="1">
              <a:spLocks noChangeArrowheads="1"/>
            </p:cNvSpPr>
            <p:nvPr/>
          </p:nvSpPr>
          <p:spPr bwMode="auto">
            <a:xfrm>
              <a:off x="240" y="2284"/>
              <a:ext cx="3139"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algn="just" eaLnBrk="1" hangingPunct="1">
                <a:lnSpc>
                  <a:spcPct val="150000"/>
                </a:lnSpc>
              </a:pPr>
              <a:r>
                <a:rPr lang="zh-CN" altLang="en-US" sz="2400" b="1">
                  <a:solidFill>
                    <a:schemeClr val="tx2"/>
                  </a:solidFill>
                  <a:latin typeface="宋体" pitchFamily="2" charset="-122"/>
                </a:rPr>
                <a:t>解</a:t>
              </a:r>
              <a:r>
                <a:rPr lang="zh-CN" altLang="en-US" sz="2400" b="1">
                  <a:solidFill>
                    <a:schemeClr val="tx1"/>
                  </a:solidFill>
                  <a:latin typeface="宋体" pitchFamily="2" charset="-122"/>
                </a:rPr>
                <a:t>（</a:t>
              </a:r>
              <a:r>
                <a:rPr lang="en-US" altLang="zh-CN" sz="2400" b="1">
                  <a:solidFill>
                    <a:schemeClr val="tx1"/>
                  </a:solidFill>
                  <a:latin typeface="宋体" pitchFamily="2" charset="-122"/>
                </a:rPr>
                <a:t>1</a:t>
              </a:r>
              <a:r>
                <a:rPr lang="zh-CN" altLang="en-US" sz="2400" b="1">
                  <a:solidFill>
                    <a:schemeClr val="tx1"/>
                  </a:solidFill>
                  <a:latin typeface="宋体" pitchFamily="2" charset="-122"/>
                </a:rPr>
                <a:t>）设在</a:t>
              </a:r>
              <a:r>
                <a:rPr lang="en-US" altLang="zh-CN" sz="2400" b="1">
                  <a:solidFill>
                    <a:schemeClr val="tx1"/>
                  </a:solidFill>
                  <a:latin typeface="宋体" pitchFamily="2" charset="-122"/>
                </a:rPr>
                <a:t>A</a:t>
              </a:r>
              <a:r>
                <a:rPr lang="zh-CN" altLang="en-US" sz="2400" b="1">
                  <a:solidFill>
                    <a:schemeClr val="tx1"/>
                  </a:solidFill>
                  <a:latin typeface="宋体" pitchFamily="2" charset="-122"/>
                </a:rPr>
                <a:t>处，两束反射光的光程差为</a:t>
              </a:r>
            </a:p>
          </p:txBody>
        </p:sp>
        <p:graphicFrame>
          <p:nvGraphicFramePr>
            <p:cNvPr id="61478" name="Object 15"/>
            <p:cNvGraphicFramePr>
              <a:graphicFrameLocks noChangeAspect="1"/>
            </p:cNvGraphicFramePr>
            <p:nvPr/>
          </p:nvGraphicFramePr>
          <p:xfrm>
            <a:off x="1056" y="2908"/>
            <a:ext cx="1498" cy="535"/>
          </p:xfrm>
          <a:graphic>
            <a:graphicData uri="http://schemas.openxmlformats.org/presentationml/2006/ole">
              <mc:AlternateContent xmlns:mc="http://schemas.openxmlformats.org/markup-compatibility/2006">
                <mc:Choice xmlns:v="urn:schemas-microsoft-com:vml" Requires="v">
                  <p:oleObj spid="_x0000_s61699" r:id="rId3" imgW="1035076" imgH="362019" progId="Equation.3">
                    <p:embed/>
                  </p:oleObj>
                </mc:Choice>
                <mc:Fallback>
                  <p:oleObj r:id="rId3" imgW="1035076" imgH="362019"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 y="2908"/>
                          <a:ext cx="1498" cy="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00403" name="Group 51"/>
          <p:cNvGrpSpPr>
            <a:grpSpLocks/>
          </p:cNvGrpSpPr>
          <p:nvPr/>
        </p:nvGrpSpPr>
        <p:grpSpPr bwMode="auto">
          <a:xfrm>
            <a:off x="519113" y="5970588"/>
            <a:ext cx="8229600" cy="482600"/>
            <a:chOff x="432" y="3580"/>
            <a:chExt cx="5184" cy="304"/>
          </a:xfrm>
        </p:grpSpPr>
        <p:sp>
          <p:nvSpPr>
            <p:cNvPr id="61475" name="Rectangle 14"/>
            <p:cNvSpPr>
              <a:spLocks noChangeArrowheads="1"/>
            </p:cNvSpPr>
            <p:nvPr/>
          </p:nvSpPr>
          <p:spPr bwMode="auto">
            <a:xfrm>
              <a:off x="432" y="3580"/>
              <a:ext cx="51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chemeClr val="tx1"/>
                  </a:solidFill>
                  <a:latin typeface="宋体" pitchFamily="2" charset="-122"/>
                </a:rPr>
                <a:t>[</a:t>
              </a:r>
              <a:r>
                <a:rPr lang="zh-CN" altLang="en-US" sz="2400" b="1">
                  <a:solidFill>
                    <a:schemeClr val="tx1"/>
                  </a:solidFill>
                  <a:latin typeface="宋体" pitchFamily="2" charset="-122"/>
                </a:rPr>
                <a:t>若计算透射光，图示             </a:t>
              </a:r>
              <a:r>
                <a:rPr lang="en-US" altLang="zh-CN" sz="2400" b="1">
                  <a:solidFill>
                    <a:schemeClr val="tx1"/>
                  </a:solidFill>
                  <a:latin typeface="宋体" pitchFamily="2" charset="-122"/>
                </a:rPr>
                <a:t>]</a:t>
              </a:r>
            </a:p>
          </p:txBody>
        </p:sp>
        <p:graphicFrame>
          <p:nvGraphicFramePr>
            <p:cNvPr id="61476" name="Object 16"/>
            <p:cNvGraphicFramePr>
              <a:graphicFrameLocks noChangeAspect="1"/>
            </p:cNvGraphicFramePr>
            <p:nvPr/>
          </p:nvGraphicFramePr>
          <p:xfrm>
            <a:off x="2350" y="3592"/>
            <a:ext cx="1210" cy="292"/>
          </p:xfrm>
          <a:graphic>
            <a:graphicData uri="http://schemas.openxmlformats.org/presentationml/2006/ole">
              <mc:AlternateContent xmlns:mc="http://schemas.openxmlformats.org/markup-compatibility/2006">
                <mc:Choice xmlns:v="urn:schemas-microsoft-com:vml" Requires="v">
                  <p:oleObj spid="_x0000_s61700" r:id="rId5" imgW="819020" imgH="197012" progId="Equation.3">
                    <p:embed/>
                  </p:oleObj>
                </mc:Choice>
                <mc:Fallback>
                  <p:oleObj r:id="rId5" imgW="819020" imgH="197012"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0" y="3592"/>
                          <a:ext cx="121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00405" name="Group 53"/>
          <p:cNvGrpSpPr>
            <a:grpSpLocks/>
          </p:cNvGrpSpPr>
          <p:nvPr/>
        </p:nvGrpSpPr>
        <p:grpSpPr bwMode="auto">
          <a:xfrm>
            <a:off x="304800" y="323850"/>
            <a:ext cx="8424863" cy="5192713"/>
            <a:chOff x="192" y="144"/>
            <a:chExt cx="5307" cy="3271"/>
          </a:xfrm>
        </p:grpSpPr>
        <p:grpSp>
          <p:nvGrpSpPr>
            <p:cNvPr id="61445" name="Group 48"/>
            <p:cNvGrpSpPr>
              <a:grpSpLocks/>
            </p:cNvGrpSpPr>
            <p:nvPr/>
          </p:nvGrpSpPr>
          <p:grpSpPr bwMode="auto">
            <a:xfrm>
              <a:off x="192" y="144"/>
              <a:ext cx="5307" cy="1820"/>
              <a:chOff x="192" y="144"/>
              <a:chExt cx="5307" cy="1820"/>
            </a:xfrm>
          </p:grpSpPr>
          <p:sp>
            <p:nvSpPr>
              <p:cNvPr id="61470" name="Text Box 9"/>
              <p:cNvSpPr txBox="1">
                <a:spLocks noChangeArrowheads="1"/>
              </p:cNvSpPr>
              <p:nvPr/>
            </p:nvSpPr>
            <p:spPr bwMode="auto">
              <a:xfrm>
                <a:off x="192" y="144"/>
                <a:ext cx="5129"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en-US" altLang="zh-CN" sz="2400" b="1">
                    <a:solidFill>
                      <a:schemeClr val="tx1"/>
                    </a:solidFill>
                    <a:latin typeface="宋体" pitchFamily="2" charset="-122"/>
                  </a:rPr>
                  <a:t>5</a:t>
                </a:r>
                <a:r>
                  <a:rPr lang="zh-CN" altLang="en-US" sz="2400" b="1">
                    <a:solidFill>
                      <a:schemeClr val="tx1"/>
                    </a:solidFill>
                    <a:latin typeface="宋体" pitchFamily="2" charset="-122"/>
                  </a:rPr>
                  <a:t>．牛顿环装置中平凸透镜与平板玻璃有一小间隙  ，现用波长为  单色光垂直入射</a:t>
                </a:r>
              </a:p>
            </p:txBody>
          </p:sp>
          <p:sp>
            <p:nvSpPr>
              <p:cNvPr id="61471" name="Text Box 10"/>
              <p:cNvSpPr txBox="1">
                <a:spLocks noChangeArrowheads="1"/>
              </p:cNvSpPr>
              <p:nvPr/>
            </p:nvSpPr>
            <p:spPr bwMode="auto">
              <a:xfrm>
                <a:off x="316" y="920"/>
                <a:ext cx="2358"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pPr>
                <a:r>
                  <a:rPr lang="zh-CN" altLang="en-US" sz="2400" b="1">
                    <a:solidFill>
                      <a:schemeClr val="tx1"/>
                    </a:solidFill>
                    <a:latin typeface="宋体" pitchFamily="2" charset="-122"/>
                  </a:rPr>
                  <a:t>（</a:t>
                </a:r>
                <a:r>
                  <a:rPr lang="en-US" altLang="zh-CN" sz="2400" b="1">
                    <a:solidFill>
                      <a:schemeClr val="tx1"/>
                    </a:solidFill>
                    <a:latin typeface="宋体" pitchFamily="2" charset="-122"/>
                  </a:rPr>
                  <a:t>1</a:t>
                </a:r>
                <a:r>
                  <a:rPr lang="zh-CN" altLang="en-US" sz="2400" b="1">
                    <a:solidFill>
                      <a:schemeClr val="tx1"/>
                    </a:solidFill>
                    <a:latin typeface="宋体" pitchFamily="2" charset="-122"/>
                  </a:rPr>
                  <a:t>）任一位置处的光程差</a:t>
                </a:r>
              </a:p>
            </p:txBody>
          </p:sp>
          <p:sp>
            <p:nvSpPr>
              <p:cNvPr id="61472" name="Text Box 11"/>
              <p:cNvSpPr txBox="1">
                <a:spLocks noChangeArrowheads="1"/>
              </p:cNvSpPr>
              <p:nvPr/>
            </p:nvSpPr>
            <p:spPr bwMode="auto">
              <a:xfrm>
                <a:off x="324" y="1262"/>
                <a:ext cx="5175"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zh-CN" altLang="en-US" sz="2400" b="1">
                    <a:solidFill>
                      <a:schemeClr val="tx1"/>
                    </a:solidFill>
                    <a:latin typeface="宋体" pitchFamily="2" charset="-122"/>
                  </a:rPr>
                  <a:t>（</a:t>
                </a:r>
                <a:r>
                  <a:rPr lang="en-US" altLang="zh-CN" sz="2400" b="1">
                    <a:solidFill>
                      <a:schemeClr val="tx1"/>
                    </a:solidFill>
                    <a:latin typeface="宋体" pitchFamily="2" charset="-122"/>
                  </a:rPr>
                  <a:t>2</a:t>
                </a:r>
                <a:r>
                  <a:rPr lang="zh-CN" altLang="en-US" sz="2400" b="1">
                    <a:solidFill>
                      <a:schemeClr val="tx1"/>
                    </a:solidFill>
                    <a:latin typeface="宋体" pitchFamily="2" charset="-122"/>
                  </a:rPr>
                  <a:t>）求反射光形成牛顿环暗环的表述式（设透镜的曲率半径为</a:t>
                </a:r>
                <a:r>
                  <a:rPr lang="en-US" altLang="zh-CN" sz="2400" b="1">
                    <a:solidFill>
                      <a:schemeClr val="tx1"/>
                    </a:solidFill>
                    <a:latin typeface="宋体" pitchFamily="2" charset="-122"/>
                  </a:rPr>
                  <a:t>R</a:t>
                </a:r>
                <a:r>
                  <a:rPr lang="zh-CN" altLang="en-US" sz="2400" b="1">
                    <a:solidFill>
                      <a:schemeClr val="tx1"/>
                    </a:solidFill>
                    <a:latin typeface="宋体" pitchFamily="2" charset="-122"/>
                  </a:rPr>
                  <a:t>）</a:t>
                </a:r>
              </a:p>
            </p:txBody>
          </p:sp>
          <p:graphicFrame>
            <p:nvGraphicFramePr>
              <p:cNvPr id="61473" name="Object 17"/>
              <p:cNvGraphicFramePr>
                <a:graphicFrameLocks noChangeAspect="1"/>
              </p:cNvGraphicFramePr>
              <p:nvPr/>
            </p:nvGraphicFramePr>
            <p:xfrm>
              <a:off x="4395" y="210"/>
              <a:ext cx="230" cy="302"/>
            </p:xfrm>
            <a:graphic>
              <a:graphicData uri="http://schemas.openxmlformats.org/presentationml/2006/ole">
                <mc:AlternateContent xmlns:mc="http://schemas.openxmlformats.org/markup-compatibility/2006">
                  <mc:Choice xmlns:v="urn:schemas-microsoft-com:vml" Requires="v">
                    <p:oleObj spid="_x0000_s61701" r:id="rId7" imgW="145972" imgH="197012" progId="Equation.3">
                      <p:embed/>
                    </p:oleObj>
                  </mc:Choice>
                  <mc:Fallback>
                    <p:oleObj r:id="rId7" imgW="145972" imgH="197012"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95" y="210"/>
                            <a:ext cx="230"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74" name="Object 18"/>
              <p:cNvGraphicFramePr>
                <a:graphicFrameLocks noChangeAspect="1"/>
              </p:cNvGraphicFramePr>
              <p:nvPr/>
            </p:nvGraphicFramePr>
            <p:xfrm>
              <a:off x="839" y="604"/>
              <a:ext cx="173" cy="225"/>
            </p:xfrm>
            <a:graphic>
              <a:graphicData uri="http://schemas.openxmlformats.org/presentationml/2006/ole">
                <mc:AlternateContent xmlns:mc="http://schemas.openxmlformats.org/markup-compatibility/2006">
                  <mc:Choice xmlns:v="urn:schemas-microsoft-com:vml" Requires="v">
                    <p:oleObj spid="_x0000_s61702" r:id="rId9" imgW="120676" imgH="158773" progId="Equation.3">
                      <p:embed/>
                    </p:oleObj>
                  </mc:Choice>
                  <mc:Fallback>
                    <p:oleObj r:id="rId9" imgW="120676" imgH="158773"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9" y="604"/>
                            <a:ext cx="173"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1446" name="Group 52"/>
            <p:cNvGrpSpPr>
              <a:grpSpLocks/>
            </p:cNvGrpSpPr>
            <p:nvPr/>
          </p:nvGrpSpPr>
          <p:grpSpPr bwMode="auto">
            <a:xfrm>
              <a:off x="3810" y="1968"/>
              <a:ext cx="1662" cy="1447"/>
              <a:chOff x="3810" y="1968"/>
              <a:chExt cx="1662" cy="1447"/>
            </a:xfrm>
          </p:grpSpPr>
          <p:grpSp>
            <p:nvGrpSpPr>
              <p:cNvPr id="61447" name="Group 49"/>
              <p:cNvGrpSpPr>
                <a:grpSpLocks/>
              </p:cNvGrpSpPr>
              <p:nvPr/>
            </p:nvGrpSpPr>
            <p:grpSpPr bwMode="auto">
              <a:xfrm>
                <a:off x="3810" y="1968"/>
                <a:ext cx="1662" cy="1447"/>
                <a:chOff x="3810" y="1968"/>
                <a:chExt cx="1662" cy="1447"/>
              </a:xfrm>
            </p:grpSpPr>
            <p:sp>
              <p:nvSpPr>
                <p:cNvPr id="61449" name="Rectangle 20"/>
                <p:cNvSpPr>
                  <a:spLocks noChangeArrowheads="1"/>
                </p:cNvSpPr>
                <p:nvPr/>
              </p:nvSpPr>
              <p:spPr bwMode="auto">
                <a:xfrm>
                  <a:off x="3810" y="3175"/>
                  <a:ext cx="1296" cy="240"/>
                </a:xfrm>
                <a:prstGeom prst="rect">
                  <a:avLst/>
                </a:prstGeom>
                <a:noFill/>
                <a:ln w="19050">
                  <a:solidFill>
                    <a:schemeClr val="tx1"/>
                  </a:solidFill>
                  <a:miter lim="800000"/>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sz="2400" b="1"/>
                </a:p>
              </p:txBody>
            </p:sp>
            <p:sp>
              <p:nvSpPr>
                <p:cNvPr id="61450" name="Line 21"/>
                <p:cNvSpPr>
                  <a:spLocks noChangeShapeType="1"/>
                </p:cNvSpPr>
                <p:nvPr/>
              </p:nvSpPr>
              <p:spPr bwMode="auto">
                <a:xfrm>
                  <a:off x="3810" y="2640"/>
                  <a:ext cx="1296"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1" name="Freeform 22"/>
                <p:cNvSpPr>
                  <a:spLocks/>
                </p:cNvSpPr>
                <p:nvPr/>
              </p:nvSpPr>
              <p:spPr bwMode="auto">
                <a:xfrm>
                  <a:off x="3810" y="2640"/>
                  <a:ext cx="1296" cy="336"/>
                </a:xfrm>
                <a:custGeom>
                  <a:avLst/>
                  <a:gdLst>
                    <a:gd name="T0" fmla="*/ 0 w 1296"/>
                    <a:gd name="T1" fmla="*/ 0 h 336"/>
                    <a:gd name="T2" fmla="*/ 672 w 1296"/>
                    <a:gd name="T3" fmla="*/ 336 h 336"/>
                    <a:gd name="T4" fmla="*/ 1296 w 1296"/>
                    <a:gd name="T5" fmla="*/ 0 h 336"/>
                    <a:gd name="T6" fmla="*/ 0 60000 65536"/>
                    <a:gd name="T7" fmla="*/ 0 60000 65536"/>
                    <a:gd name="T8" fmla="*/ 0 60000 65536"/>
                  </a:gdLst>
                  <a:ahLst/>
                  <a:cxnLst>
                    <a:cxn ang="T6">
                      <a:pos x="T0" y="T1"/>
                    </a:cxn>
                    <a:cxn ang="T7">
                      <a:pos x="T2" y="T3"/>
                    </a:cxn>
                    <a:cxn ang="T8">
                      <a:pos x="T4" y="T5"/>
                    </a:cxn>
                  </a:cxnLst>
                  <a:rect l="0" t="0" r="r" b="b"/>
                  <a:pathLst>
                    <a:path w="1296" h="336">
                      <a:moveTo>
                        <a:pt x="0" y="0"/>
                      </a:moveTo>
                      <a:cubicBezTo>
                        <a:pt x="180" y="198"/>
                        <a:pt x="456" y="336"/>
                        <a:pt x="672" y="336"/>
                      </a:cubicBezTo>
                      <a:cubicBezTo>
                        <a:pt x="888" y="336"/>
                        <a:pt x="1134" y="198"/>
                        <a:pt x="1296" y="0"/>
                      </a:cubicBezTo>
                    </a:path>
                  </a:pathLst>
                </a:custGeom>
                <a:noFill/>
                <a:ln w="19050" cap="flat" cmpd="sng">
                  <a:solidFill>
                    <a:schemeClr val="tx1"/>
                  </a:solidFill>
                  <a:prstDash val="solid"/>
                  <a:round/>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1452" name="Object 23"/>
                <p:cNvGraphicFramePr>
                  <a:graphicFrameLocks noChangeAspect="1"/>
                </p:cNvGraphicFramePr>
                <p:nvPr/>
              </p:nvGraphicFramePr>
              <p:xfrm>
                <a:off x="4601" y="2134"/>
                <a:ext cx="155" cy="170"/>
              </p:xfrm>
              <a:graphic>
                <a:graphicData uri="http://schemas.openxmlformats.org/presentationml/2006/ole">
                  <mc:AlternateContent xmlns:mc="http://schemas.openxmlformats.org/markup-compatibility/2006">
                    <mc:Choice xmlns:v="urn:schemas-microsoft-com:vml" Requires="v">
                      <p:oleObj spid="_x0000_s61703" name="Equation" r:id="rId11" imgW="145972" imgH="158773" progId="Equation.3">
                        <p:embed/>
                      </p:oleObj>
                    </mc:Choice>
                    <mc:Fallback>
                      <p:oleObj name="Equation" r:id="rId11" imgW="145972" imgH="158773" progId="Equation.3">
                        <p:embed/>
                        <p:pic>
                          <p:nvPicPr>
                            <p:cNvPr id="0"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1" y="2134"/>
                              <a:ext cx="155"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1453" name="Object 25"/>
                <p:cNvGraphicFramePr>
                  <a:graphicFrameLocks noChangeAspect="1"/>
                </p:cNvGraphicFramePr>
                <p:nvPr/>
              </p:nvGraphicFramePr>
              <p:xfrm>
                <a:off x="3929" y="2112"/>
                <a:ext cx="172" cy="216"/>
              </p:xfrm>
              <a:graphic>
                <a:graphicData uri="http://schemas.openxmlformats.org/presentationml/2006/ole">
                  <mc:AlternateContent xmlns:mc="http://schemas.openxmlformats.org/markup-compatibility/2006">
                    <mc:Choice xmlns:v="urn:schemas-microsoft-com:vml" Requires="v">
                      <p:oleObj spid="_x0000_s61704" name="Equation" r:id="rId13" imgW="133531" imgH="171658" progId="Equation.3">
                        <p:embed/>
                      </p:oleObj>
                    </mc:Choice>
                    <mc:Fallback>
                      <p:oleObj name="Equation" r:id="rId13" imgW="133531" imgH="171658" progId="Equation.3">
                        <p:embed/>
                        <p:pic>
                          <p:nvPicPr>
                            <p:cNvPr id="0" name="Object 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29" y="2112"/>
                              <a:ext cx="17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1454" name="Object 26"/>
                <p:cNvGraphicFramePr>
                  <a:graphicFrameLocks noChangeAspect="1"/>
                </p:cNvGraphicFramePr>
                <p:nvPr/>
              </p:nvGraphicFramePr>
              <p:xfrm>
                <a:off x="5321" y="2928"/>
                <a:ext cx="151" cy="236"/>
              </p:xfrm>
              <a:graphic>
                <a:graphicData uri="http://schemas.openxmlformats.org/presentationml/2006/ole">
                  <mc:AlternateContent xmlns:mc="http://schemas.openxmlformats.org/markup-compatibility/2006">
                    <mc:Choice xmlns:v="urn:schemas-microsoft-com:vml" Requires="v">
                      <p:oleObj spid="_x0000_s61705" name="Equation" r:id="rId15" imgW="145972" imgH="222365" progId="Equation.3">
                        <p:embed/>
                      </p:oleObj>
                    </mc:Choice>
                    <mc:Fallback>
                      <p:oleObj name="Equation" r:id="rId15" imgW="145972" imgH="222365" progId="Equation.3">
                        <p:embed/>
                        <p:pic>
                          <p:nvPicPr>
                            <p:cNvPr id="0" name="Object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21" y="2928"/>
                              <a:ext cx="151"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1455" name="Object 27"/>
                <p:cNvGraphicFramePr>
                  <a:graphicFrameLocks noChangeAspect="1"/>
                </p:cNvGraphicFramePr>
                <p:nvPr/>
              </p:nvGraphicFramePr>
              <p:xfrm>
                <a:off x="5081" y="2832"/>
                <a:ext cx="104" cy="146"/>
              </p:xfrm>
              <a:graphic>
                <a:graphicData uri="http://schemas.openxmlformats.org/presentationml/2006/ole">
                  <mc:AlternateContent xmlns:mc="http://schemas.openxmlformats.org/markup-compatibility/2006">
                    <mc:Choice xmlns:v="urn:schemas-microsoft-com:vml" Requires="v">
                      <p:oleObj spid="_x0000_s61706" name="Equation" r:id="rId17" imgW="107820" imgH="133419" progId="Equation.3">
                        <p:embed/>
                      </p:oleObj>
                    </mc:Choice>
                    <mc:Fallback>
                      <p:oleObj name="Equation" r:id="rId17" imgW="107820" imgH="133419" progId="Equation.3">
                        <p:embed/>
                        <p:pic>
                          <p:nvPicPr>
                            <p:cNvPr id="0"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81" y="2832"/>
                              <a:ext cx="104"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1456" name="Object 28"/>
                <p:cNvGraphicFramePr>
                  <a:graphicFrameLocks noChangeAspect="1"/>
                </p:cNvGraphicFramePr>
                <p:nvPr/>
              </p:nvGraphicFramePr>
              <p:xfrm>
                <a:off x="4626" y="2701"/>
                <a:ext cx="116" cy="131"/>
              </p:xfrm>
              <a:graphic>
                <a:graphicData uri="http://schemas.openxmlformats.org/presentationml/2006/ole">
                  <mc:AlternateContent xmlns:mc="http://schemas.openxmlformats.org/markup-compatibility/2006">
                    <mc:Choice xmlns:v="urn:schemas-microsoft-com:vml" Requires="v">
                      <p:oleObj spid="_x0000_s61707" name="Equation" r:id="rId19" imgW="107820" imgH="120535" progId="Equation.3">
                        <p:embed/>
                      </p:oleObj>
                    </mc:Choice>
                    <mc:Fallback>
                      <p:oleObj name="Equation" r:id="rId19" imgW="107820" imgH="120535" progId="Equation.3">
                        <p:embed/>
                        <p:pic>
                          <p:nvPicPr>
                            <p:cNvPr id="0"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626" y="2701"/>
                              <a:ext cx="116"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1457" name="Line 29"/>
                <p:cNvSpPr>
                  <a:spLocks noChangeShapeType="1"/>
                </p:cNvSpPr>
                <p:nvPr/>
              </p:nvSpPr>
              <p:spPr bwMode="auto">
                <a:xfrm>
                  <a:off x="4457" y="1968"/>
                  <a:ext cx="0" cy="1440"/>
                </a:xfrm>
                <a:prstGeom prst="line">
                  <a:avLst/>
                </a:prstGeom>
                <a:noFill/>
                <a:ln w="1905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8" name="Line 30"/>
                <p:cNvSpPr>
                  <a:spLocks noChangeShapeType="1"/>
                </p:cNvSpPr>
                <p:nvPr/>
              </p:nvSpPr>
              <p:spPr bwMode="auto">
                <a:xfrm>
                  <a:off x="4457" y="2112"/>
                  <a:ext cx="0" cy="432"/>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9" name="Line 31"/>
                <p:cNvSpPr>
                  <a:spLocks noChangeShapeType="1"/>
                </p:cNvSpPr>
                <p:nvPr/>
              </p:nvSpPr>
              <p:spPr bwMode="auto">
                <a:xfrm>
                  <a:off x="4793" y="2112"/>
                  <a:ext cx="0" cy="432"/>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0" name="Line 32"/>
                <p:cNvSpPr>
                  <a:spLocks noChangeShapeType="1"/>
                </p:cNvSpPr>
                <p:nvPr/>
              </p:nvSpPr>
              <p:spPr bwMode="auto">
                <a:xfrm>
                  <a:off x="4121" y="2112"/>
                  <a:ext cx="0" cy="432"/>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1" name="Line 33"/>
                <p:cNvSpPr>
                  <a:spLocks noChangeShapeType="1"/>
                </p:cNvSpPr>
                <p:nvPr/>
              </p:nvSpPr>
              <p:spPr bwMode="auto">
                <a:xfrm>
                  <a:off x="4457" y="1968"/>
                  <a:ext cx="432" cy="864"/>
                </a:xfrm>
                <a:prstGeom prst="line">
                  <a:avLst/>
                </a:prstGeom>
                <a:noFill/>
                <a:ln w="38100" cap="rnd">
                  <a:solidFill>
                    <a:schemeClr val="tx1"/>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2" name="Line 34"/>
                <p:cNvSpPr>
                  <a:spLocks noChangeShapeType="1"/>
                </p:cNvSpPr>
                <p:nvPr/>
              </p:nvSpPr>
              <p:spPr bwMode="auto">
                <a:xfrm>
                  <a:off x="4457" y="2832"/>
                  <a:ext cx="432"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3" name="Line 35"/>
                <p:cNvSpPr>
                  <a:spLocks noChangeShapeType="1"/>
                </p:cNvSpPr>
                <p:nvPr/>
              </p:nvSpPr>
              <p:spPr bwMode="auto">
                <a:xfrm>
                  <a:off x="4889" y="2832"/>
                  <a:ext cx="288"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4" name="Line 36"/>
                <p:cNvSpPr>
                  <a:spLocks noChangeShapeType="1"/>
                </p:cNvSpPr>
                <p:nvPr/>
              </p:nvSpPr>
              <p:spPr bwMode="auto">
                <a:xfrm>
                  <a:off x="4457" y="2976"/>
                  <a:ext cx="912"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5" name="Line 37"/>
                <p:cNvSpPr>
                  <a:spLocks noChangeShapeType="1"/>
                </p:cNvSpPr>
                <p:nvPr/>
              </p:nvSpPr>
              <p:spPr bwMode="auto">
                <a:xfrm>
                  <a:off x="5129" y="3168"/>
                  <a:ext cx="240"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6" name="Line 38"/>
                <p:cNvSpPr>
                  <a:spLocks noChangeShapeType="1"/>
                </p:cNvSpPr>
                <p:nvPr/>
              </p:nvSpPr>
              <p:spPr bwMode="auto">
                <a:xfrm>
                  <a:off x="5129" y="2688"/>
                  <a:ext cx="0" cy="144"/>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7" name="Line 39"/>
                <p:cNvSpPr>
                  <a:spLocks noChangeShapeType="1"/>
                </p:cNvSpPr>
                <p:nvPr/>
              </p:nvSpPr>
              <p:spPr bwMode="auto">
                <a:xfrm flipV="1">
                  <a:off x="5129" y="2976"/>
                  <a:ext cx="0" cy="144"/>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8" name="Line 40"/>
                <p:cNvSpPr>
                  <a:spLocks noChangeShapeType="1"/>
                </p:cNvSpPr>
                <p:nvPr/>
              </p:nvSpPr>
              <p:spPr bwMode="auto">
                <a:xfrm>
                  <a:off x="5321" y="2784"/>
                  <a:ext cx="0" cy="192"/>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9" name="Line 41"/>
                <p:cNvSpPr>
                  <a:spLocks noChangeShapeType="1"/>
                </p:cNvSpPr>
                <p:nvPr/>
              </p:nvSpPr>
              <p:spPr bwMode="auto">
                <a:xfrm flipV="1">
                  <a:off x="5321" y="3168"/>
                  <a:ext cx="0" cy="192"/>
                </a:xfrm>
                <a:prstGeom prst="line">
                  <a:avLst/>
                </a:prstGeom>
                <a:noFill/>
                <a:ln w="1905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61448" name="Object 46"/>
              <p:cNvGraphicFramePr>
                <a:graphicFrameLocks noChangeAspect="1"/>
              </p:cNvGraphicFramePr>
              <p:nvPr/>
            </p:nvGraphicFramePr>
            <p:xfrm>
              <a:off x="4863" y="2588"/>
              <a:ext cx="225" cy="244"/>
            </p:xfrm>
            <a:graphic>
              <a:graphicData uri="http://schemas.openxmlformats.org/presentationml/2006/ole">
                <mc:AlternateContent xmlns:mc="http://schemas.openxmlformats.org/markup-compatibility/2006">
                  <mc:Choice xmlns:v="urn:schemas-microsoft-com:vml" Requires="v">
                    <p:oleObj spid="_x0000_s61708" name="Equation" r:id="rId21" imgW="145972" imgH="158773" progId="Equation.3">
                      <p:embed/>
                    </p:oleObj>
                  </mc:Choice>
                  <mc:Fallback>
                    <p:oleObj name="Equation" r:id="rId21" imgW="145972" imgH="158773" progId="Equation.3">
                      <p:embed/>
                      <p:pic>
                        <p:nvPicPr>
                          <p:cNvPr id="0" name="Object 4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63" y="2588"/>
                            <a:ext cx="225"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00405"/>
                                        </p:tgtEl>
                                        <p:attrNameLst>
                                          <p:attrName>style.visibility</p:attrName>
                                        </p:attrNameLst>
                                      </p:cBhvr>
                                      <p:to>
                                        <p:strVal val="visible"/>
                                      </p:to>
                                    </p:set>
                                    <p:animEffect transition="in" filter="wipe(up)">
                                      <p:cBhvr>
                                        <p:cTn id="7" dur="500"/>
                                        <p:tgtEl>
                                          <p:spTgt spid="1004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10040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nodeType="clickEffect">
                                  <p:stCondLst>
                                    <p:cond delay="0"/>
                                  </p:stCondLst>
                                  <p:childTnLst>
                                    <p:set>
                                      <p:cBhvr>
                                        <p:cTn id="15" dur="1" fill="hold">
                                          <p:stCondLst>
                                            <p:cond delay="0"/>
                                          </p:stCondLst>
                                        </p:cTn>
                                        <p:tgtEl>
                                          <p:spTgt spid="100403"/>
                                        </p:tgtEl>
                                        <p:attrNameLst>
                                          <p:attrName>style.visibility</p:attrName>
                                        </p:attrNameLst>
                                      </p:cBhvr>
                                      <p:to>
                                        <p:strVal val="visible"/>
                                      </p:to>
                                    </p:set>
                                    <p:anim calcmode="lin" valueType="num">
                                      <p:cBhvr additive="base">
                                        <p:cTn id="16" dur="500" fill="hold"/>
                                        <p:tgtEl>
                                          <p:spTgt spid="100403"/>
                                        </p:tgtEl>
                                        <p:attrNameLst>
                                          <p:attrName>ppt_x</p:attrName>
                                        </p:attrNameLst>
                                      </p:cBhvr>
                                      <p:tavLst>
                                        <p:tav tm="0">
                                          <p:val>
                                            <p:strVal val="#ppt_x"/>
                                          </p:val>
                                        </p:tav>
                                        <p:tav tm="100000">
                                          <p:val>
                                            <p:strVal val="#ppt_x"/>
                                          </p:val>
                                        </p:tav>
                                      </p:tavLst>
                                    </p:anim>
                                    <p:anim calcmode="lin" valueType="num">
                                      <p:cBhvr additive="base">
                                        <p:cTn id="17" dur="500" fill="hold"/>
                                        <p:tgtEl>
                                          <p:spTgt spid="1004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2663" name="Group 23"/>
          <p:cNvGrpSpPr>
            <a:grpSpLocks/>
          </p:cNvGrpSpPr>
          <p:nvPr/>
        </p:nvGrpSpPr>
        <p:grpSpPr bwMode="auto">
          <a:xfrm>
            <a:off x="88900" y="584200"/>
            <a:ext cx="7872413" cy="828675"/>
            <a:chOff x="125" y="56"/>
            <a:chExt cx="4959" cy="522"/>
          </a:xfrm>
        </p:grpSpPr>
        <p:sp>
          <p:nvSpPr>
            <p:cNvPr id="62478" name="Rectangle 2"/>
            <p:cNvSpPr>
              <a:spLocks noChangeArrowheads="1"/>
            </p:cNvSpPr>
            <p:nvPr/>
          </p:nvSpPr>
          <p:spPr bwMode="auto">
            <a:xfrm>
              <a:off x="125" y="172"/>
              <a:ext cx="32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indent="266700" algn="just"/>
              <a:r>
                <a:rPr lang="zh-CN" altLang="en-US" sz="2400" b="1">
                  <a:solidFill>
                    <a:schemeClr val="tx1"/>
                  </a:solidFill>
                  <a:latin typeface="宋体" pitchFamily="2" charset="-122"/>
                </a:rPr>
                <a:t>（</a:t>
              </a:r>
              <a:r>
                <a:rPr lang="en-US" altLang="zh-CN" sz="2400" b="1">
                  <a:solidFill>
                    <a:schemeClr val="tx1"/>
                  </a:solidFill>
                  <a:latin typeface="宋体" pitchFamily="2" charset="-122"/>
                </a:rPr>
                <a:t>2</a:t>
              </a:r>
              <a:r>
                <a:rPr lang="zh-CN" altLang="en-US" sz="2400" b="1">
                  <a:solidFill>
                    <a:schemeClr val="tx1"/>
                  </a:solidFill>
                  <a:latin typeface="宋体" pitchFamily="2" charset="-122"/>
                </a:rPr>
                <a:t>）形成的暗纹条件</a:t>
              </a:r>
            </a:p>
          </p:txBody>
        </p:sp>
        <p:graphicFrame>
          <p:nvGraphicFramePr>
            <p:cNvPr id="62479" name="Object 7"/>
            <p:cNvGraphicFramePr>
              <a:graphicFrameLocks noChangeAspect="1"/>
            </p:cNvGraphicFramePr>
            <p:nvPr/>
          </p:nvGraphicFramePr>
          <p:xfrm>
            <a:off x="2336" y="56"/>
            <a:ext cx="2189" cy="522"/>
          </p:xfrm>
          <a:graphic>
            <a:graphicData uri="http://schemas.openxmlformats.org/presentationml/2006/ole">
              <mc:AlternateContent xmlns:mc="http://schemas.openxmlformats.org/markup-compatibility/2006">
                <mc:Choice xmlns:v="urn:schemas-microsoft-com:vml" Requires="v">
                  <p:oleObj spid="_x0000_s62619" r:id="rId3" imgW="1543076" imgH="362019" progId="Equation.3">
                    <p:embed/>
                  </p:oleObj>
                </mc:Choice>
                <mc:Fallback>
                  <p:oleObj r:id="rId3" imgW="1543076" imgH="362019"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6" y="56"/>
                          <a:ext cx="2189"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80" name="Text Box 10"/>
            <p:cNvSpPr txBox="1">
              <a:spLocks noChangeArrowheads="1"/>
            </p:cNvSpPr>
            <p:nvPr/>
          </p:nvSpPr>
          <p:spPr bwMode="auto">
            <a:xfrm>
              <a:off x="4480" y="193"/>
              <a:ext cx="60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latin typeface="宋体" pitchFamily="2" charset="-122"/>
                </a:rPr>
                <a:t>（</a:t>
              </a:r>
              <a:r>
                <a:rPr lang="en-US" altLang="zh-CN" sz="2400" b="1">
                  <a:solidFill>
                    <a:schemeClr val="tx1"/>
                  </a:solidFill>
                  <a:latin typeface="宋体" pitchFamily="2" charset="-122"/>
                </a:rPr>
                <a:t>a</a:t>
              </a:r>
              <a:r>
                <a:rPr lang="zh-CN" altLang="en-US" sz="2400" b="1">
                  <a:solidFill>
                    <a:schemeClr val="tx1"/>
                  </a:solidFill>
                  <a:latin typeface="宋体" pitchFamily="2" charset="-122"/>
                </a:rPr>
                <a:t>）</a:t>
              </a:r>
            </a:p>
          </p:txBody>
        </p:sp>
      </p:grpSp>
      <p:grpSp>
        <p:nvGrpSpPr>
          <p:cNvPr id="112664" name="Group 24"/>
          <p:cNvGrpSpPr>
            <a:grpSpLocks/>
          </p:cNvGrpSpPr>
          <p:nvPr/>
        </p:nvGrpSpPr>
        <p:grpSpPr bwMode="auto">
          <a:xfrm>
            <a:off x="533400" y="1873250"/>
            <a:ext cx="7134225" cy="1181100"/>
            <a:chOff x="336" y="1180"/>
            <a:chExt cx="4494" cy="744"/>
          </a:xfrm>
        </p:grpSpPr>
        <p:graphicFrame>
          <p:nvGraphicFramePr>
            <p:cNvPr id="62476" name="Object 8"/>
            <p:cNvGraphicFramePr>
              <a:graphicFrameLocks noChangeAspect="1"/>
            </p:cNvGraphicFramePr>
            <p:nvPr/>
          </p:nvGraphicFramePr>
          <p:xfrm>
            <a:off x="683" y="1584"/>
            <a:ext cx="4147" cy="340"/>
          </p:xfrm>
          <a:graphic>
            <a:graphicData uri="http://schemas.openxmlformats.org/presentationml/2006/ole">
              <mc:AlternateContent xmlns:mc="http://schemas.openxmlformats.org/markup-compatibility/2006">
                <mc:Choice xmlns:v="urn:schemas-microsoft-com:vml" Requires="v">
                  <p:oleObj spid="_x0000_s62620" r:id="rId5" imgW="2762276" imgH="222365" progId="Equation.3">
                    <p:embed/>
                  </p:oleObj>
                </mc:Choice>
                <mc:Fallback>
                  <p:oleObj r:id="rId5" imgW="2762276" imgH="222365"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 y="1584"/>
                          <a:ext cx="414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51" name="Text Box 11"/>
            <p:cNvSpPr txBox="1">
              <a:spLocks noChangeArrowheads="1"/>
            </p:cNvSpPr>
            <p:nvPr/>
          </p:nvSpPr>
          <p:spPr bwMode="auto">
            <a:xfrm>
              <a:off x="336" y="1180"/>
              <a:ext cx="32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400" b="1" dirty="0">
                  <a:solidFill>
                    <a:schemeClr val="tx1"/>
                  </a:solidFill>
                  <a:latin typeface="宋体" charset="-122"/>
                  <a:ea typeface="宋体" charset="-122"/>
                </a:rPr>
                <a:t>由图示几何关系知（设</a:t>
              </a:r>
              <a:r>
                <a:rPr lang="en-US" altLang="zh-CN" sz="2400" b="1" i="1" dirty="0">
                  <a:solidFill>
                    <a:schemeClr val="tx1"/>
                  </a:solidFill>
                  <a:latin typeface="+mn-lt"/>
                  <a:ea typeface="宋体" charset="-122"/>
                </a:rPr>
                <a:t>A</a:t>
              </a:r>
              <a:r>
                <a:rPr lang="zh-CN" altLang="en-US" sz="2400" b="1" dirty="0">
                  <a:solidFill>
                    <a:schemeClr val="tx1"/>
                  </a:solidFill>
                  <a:latin typeface="宋体" charset="-122"/>
                  <a:ea typeface="宋体" charset="-122"/>
                </a:rPr>
                <a:t>处环半径</a:t>
              </a:r>
              <a:r>
                <a:rPr lang="en-US" altLang="zh-CN" sz="2400" b="1" i="1" dirty="0">
                  <a:solidFill>
                    <a:schemeClr val="tx1"/>
                  </a:solidFill>
                  <a:latin typeface="+mj-lt"/>
                  <a:ea typeface="宋体" charset="-122"/>
                </a:rPr>
                <a:t>r</a:t>
              </a:r>
              <a:r>
                <a:rPr lang="zh-CN" altLang="en-US" sz="2400" b="1" dirty="0">
                  <a:solidFill>
                    <a:schemeClr val="tx1"/>
                  </a:solidFill>
                  <a:latin typeface="宋体" charset="-122"/>
                  <a:ea typeface="宋体" charset="-122"/>
                </a:rPr>
                <a:t>）</a:t>
              </a:r>
            </a:p>
          </p:txBody>
        </p:sp>
      </p:grpSp>
      <p:graphicFrame>
        <p:nvGraphicFramePr>
          <p:cNvPr id="62468" name="Object 9"/>
          <p:cNvGraphicFramePr>
            <a:graphicFrameLocks noChangeAspect="1"/>
          </p:cNvGraphicFramePr>
          <p:nvPr/>
        </p:nvGraphicFramePr>
        <p:xfrm>
          <a:off x="2362200" y="3048000"/>
          <a:ext cx="1371600" cy="954088"/>
        </p:xfrm>
        <a:graphic>
          <a:graphicData uri="http://schemas.openxmlformats.org/presentationml/2006/ole">
            <mc:AlternateContent xmlns:mc="http://schemas.openxmlformats.org/markup-compatibility/2006">
              <mc:Choice xmlns:v="urn:schemas-microsoft-com:vml" Requires="v">
                <p:oleObj spid="_x0000_s62621" r:id="rId7" imgW="552372" imgH="387373" progId="Equation.3">
                  <p:embed/>
                </p:oleObj>
              </mc:Choice>
              <mc:Fallback>
                <p:oleObj r:id="rId7" imgW="552372" imgH="387373"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3048000"/>
                        <a:ext cx="1371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2666" name="Group 26"/>
          <p:cNvGrpSpPr>
            <a:grpSpLocks/>
          </p:cNvGrpSpPr>
          <p:nvPr/>
        </p:nvGrpSpPr>
        <p:grpSpPr bwMode="auto">
          <a:xfrm>
            <a:off x="609600" y="4038600"/>
            <a:ext cx="4694238" cy="1201738"/>
            <a:chOff x="384" y="2544"/>
            <a:chExt cx="2957" cy="757"/>
          </a:xfrm>
        </p:grpSpPr>
        <p:graphicFrame>
          <p:nvGraphicFramePr>
            <p:cNvPr id="62474" name="Object 13"/>
            <p:cNvGraphicFramePr>
              <a:graphicFrameLocks noChangeAspect="1"/>
            </p:cNvGraphicFramePr>
            <p:nvPr/>
          </p:nvGraphicFramePr>
          <p:xfrm>
            <a:off x="1728" y="2931"/>
            <a:ext cx="1613" cy="370"/>
          </p:xfrm>
          <a:graphic>
            <a:graphicData uri="http://schemas.openxmlformats.org/presentationml/2006/ole">
              <mc:AlternateContent xmlns:mc="http://schemas.openxmlformats.org/markup-compatibility/2006">
                <mc:Choice xmlns:v="urn:schemas-microsoft-com:vml" Requires="v">
                  <p:oleObj spid="_x0000_s62622" r:id="rId9" imgW="1035076" imgH="234835" progId="Equation.3">
                    <p:embed/>
                  </p:oleObj>
                </mc:Choice>
                <mc:Fallback>
                  <p:oleObj r:id="rId9" imgW="1035076" imgH="234835"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28" y="2931"/>
                          <a:ext cx="1613"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75" name="Text Box 16"/>
            <p:cNvSpPr txBox="1">
              <a:spLocks noChangeArrowheads="1"/>
            </p:cNvSpPr>
            <p:nvPr/>
          </p:nvSpPr>
          <p:spPr bwMode="auto">
            <a:xfrm>
              <a:off x="384" y="2544"/>
              <a:ext cx="137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latin typeface="宋体" pitchFamily="2" charset="-122"/>
                </a:rPr>
                <a:t>代入式（</a:t>
              </a:r>
              <a:r>
                <a:rPr lang="en-US" altLang="zh-CN" sz="2400" b="1">
                  <a:solidFill>
                    <a:schemeClr val="tx1"/>
                  </a:solidFill>
                  <a:latin typeface="宋体" pitchFamily="2" charset="-122"/>
                </a:rPr>
                <a:t>a</a:t>
              </a:r>
              <a:r>
                <a:rPr lang="zh-CN" altLang="en-US" sz="2400" b="1">
                  <a:solidFill>
                    <a:schemeClr val="tx1"/>
                  </a:solidFill>
                  <a:latin typeface="宋体" pitchFamily="2" charset="-122"/>
                </a:rPr>
                <a:t>）得</a:t>
              </a:r>
            </a:p>
          </p:txBody>
        </p:sp>
      </p:grpSp>
      <p:grpSp>
        <p:nvGrpSpPr>
          <p:cNvPr id="112667" name="Group 27"/>
          <p:cNvGrpSpPr>
            <a:grpSpLocks/>
          </p:cNvGrpSpPr>
          <p:nvPr/>
        </p:nvGrpSpPr>
        <p:grpSpPr bwMode="auto">
          <a:xfrm>
            <a:off x="827088" y="5376863"/>
            <a:ext cx="3516312" cy="931862"/>
            <a:chOff x="620" y="3294"/>
            <a:chExt cx="2215" cy="587"/>
          </a:xfrm>
        </p:grpSpPr>
        <p:graphicFrame>
          <p:nvGraphicFramePr>
            <p:cNvPr id="62471" name="Object 14"/>
            <p:cNvGraphicFramePr>
              <a:graphicFrameLocks noChangeAspect="1"/>
            </p:cNvGraphicFramePr>
            <p:nvPr/>
          </p:nvGraphicFramePr>
          <p:xfrm>
            <a:off x="620" y="3504"/>
            <a:ext cx="173" cy="227"/>
          </p:xfrm>
          <a:graphic>
            <a:graphicData uri="http://schemas.openxmlformats.org/presentationml/2006/ole">
              <mc:AlternateContent xmlns:mc="http://schemas.openxmlformats.org/markup-compatibility/2006">
                <mc:Choice xmlns:v="urn:schemas-microsoft-com:vml" Requires="v">
                  <p:oleObj spid="_x0000_s62623" r:id="rId11" imgW="120676" imgH="158773" progId="Equation.3">
                    <p:embed/>
                  </p:oleObj>
                </mc:Choice>
                <mc:Fallback>
                  <p:oleObj r:id="rId11" imgW="120676" imgH="158773"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0" y="3504"/>
                          <a:ext cx="17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72" name="Object 15"/>
            <p:cNvGraphicFramePr>
              <a:graphicFrameLocks noChangeAspect="1"/>
            </p:cNvGraphicFramePr>
            <p:nvPr/>
          </p:nvGraphicFramePr>
          <p:xfrm>
            <a:off x="2086" y="3294"/>
            <a:ext cx="749" cy="587"/>
          </p:xfrm>
          <a:graphic>
            <a:graphicData uri="http://schemas.openxmlformats.org/presentationml/2006/ole">
              <mc:AlternateContent xmlns:mc="http://schemas.openxmlformats.org/markup-compatibility/2006">
                <mc:Choice xmlns:v="urn:schemas-microsoft-com:vml" Requires="v">
                  <p:oleObj spid="_x0000_s62624" r:id="rId13" imgW="476069" imgH="374488" progId="Equation.3">
                    <p:embed/>
                  </p:oleObj>
                </mc:Choice>
                <mc:Fallback>
                  <p:oleObj r:id="rId13" imgW="476069" imgH="374488"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86" y="3294"/>
                          <a:ext cx="749" cy="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73" name="Text Box 17"/>
            <p:cNvSpPr txBox="1">
              <a:spLocks noChangeArrowheads="1"/>
            </p:cNvSpPr>
            <p:nvPr/>
          </p:nvSpPr>
          <p:spPr bwMode="auto">
            <a:xfrm>
              <a:off x="768" y="3456"/>
              <a:ext cx="12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1"/>
                  </a:solidFill>
                  <a:latin typeface="宋体" pitchFamily="2" charset="-122"/>
                </a:rPr>
                <a:t>为正整数，且</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26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1266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24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126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126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1127125" y="762000"/>
            <a:ext cx="7407275" cy="443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30000"/>
              </a:lnSpc>
            </a:pPr>
            <a:r>
              <a:rPr lang="en-US" altLang="zh-CN" sz="3200" b="1" dirty="0">
                <a:solidFill>
                  <a:srgbClr val="CC0000"/>
                </a:solidFill>
              </a:rPr>
              <a:t> </a:t>
            </a:r>
            <a:r>
              <a:rPr lang="en-US" altLang="zh-CN" sz="3200" b="1" dirty="0" smtClean="0">
                <a:solidFill>
                  <a:srgbClr val="CC0000"/>
                </a:solidFill>
              </a:rPr>
              <a:t>6</a:t>
            </a:r>
            <a:r>
              <a:rPr lang="en-US" altLang="zh-CN" sz="3200" b="1" dirty="0" smtClean="0">
                <a:solidFill>
                  <a:srgbClr val="000066"/>
                </a:solidFill>
                <a:latin typeface="宋体" pitchFamily="2" charset="-122"/>
              </a:rPr>
              <a:t> </a:t>
            </a:r>
            <a:r>
              <a:rPr kumimoji="0" lang="zh-CN" altLang="en-US" sz="3200" b="1" dirty="0">
                <a:solidFill>
                  <a:srgbClr val="000000"/>
                </a:solidFill>
                <a:latin typeface="Arial" pitchFamily="34" charset="0"/>
              </a:rPr>
              <a:t>光程是</a:t>
            </a:r>
          </a:p>
          <a:p>
            <a:pPr>
              <a:lnSpc>
                <a:spcPct val="130000"/>
              </a:lnSpc>
            </a:pPr>
            <a:r>
              <a:rPr kumimoji="0" lang="en-US" altLang="zh-CN" sz="3200" b="1" dirty="0">
                <a:solidFill>
                  <a:srgbClr val="CC0000"/>
                </a:solidFill>
                <a:latin typeface="宋体" pitchFamily="2" charset="-122"/>
              </a:rPr>
              <a:t>(</a:t>
            </a:r>
            <a:r>
              <a:rPr kumimoji="0" lang="en-US" altLang="zh-CN" sz="3200" b="1" dirty="0">
                <a:solidFill>
                  <a:srgbClr val="CC0000"/>
                </a:solidFill>
              </a:rPr>
              <a:t>A</a:t>
            </a:r>
            <a:r>
              <a:rPr kumimoji="0" lang="en-US" altLang="zh-CN" sz="3200" b="1" dirty="0">
                <a:solidFill>
                  <a:srgbClr val="CC0000"/>
                </a:solidFill>
                <a:latin typeface="宋体" pitchFamily="2" charset="-122"/>
              </a:rPr>
              <a:t>)</a:t>
            </a:r>
            <a:r>
              <a:rPr kumimoji="0" lang="zh-CN" altLang="en-US" sz="3200" b="1" dirty="0">
                <a:solidFill>
                  <a:srgbClr val="000000"/>
                </a:solidFill>
                <a:latin typeface="Arial" pitchFamily="34" charset="0"/>
              </a:rPr>
              <a:t>光在介质中传播的几何路程</a:t>
            </a:r>
            <a:r>
              <a:rPr kumimoji="0" lang="en-US" altLang="zh-CN" sz="3200" b="1" dirty="0">
                <a:solidFill>
                  <a:srgbClr val="000000"/>
                </a:solidFill>
                <a:latin typeface="Arial" pitchFamily="34" charset="0"/>
              </a:rPr>
              <a:t>.</a:t>
            </a:r>
          </a:p>
          <a:p>
            <a:pPr>
              <a:lnSpc>
                <a:spcPct val="130000"/>
              </a:lnSpc>
            </a:pPr>
            <a:r>
              <a:rPr kumimoji="0" lang="en-US" altLang="zh-CN" sz="3200" b="1" dirty="0">
                <a:solidFill>
                  <a:srgbClr val="CC0000"/>
                </a:solidFill>
                <a:latin typeface="宋体" pitchFamily="2" charset="-122"/>
              </a:rPr>
              <a:t>(</a:t>
            </a:r>
            <a:r>
              <a:rPr kumimoji="0" lang="en-US" altLang="zh-CN" sz="3200" b="1" dirty="0">
                <a:solidFill>
                  <a:srgbClr val="CC0000"/>
                </a:solidFill>
              </a:rPr>
              <a:t>B</a:t>
            </a:r>
            <a:r>
              <a:rPr kumimoji="0" lang="en-US" altLang="zh-CN" sz="3200" b="1" dirty="0">
                <a:solidFill>
                  <a:srgbClr val="CC0000"/>
                </a:solidFill>
                <a:latin typeface="宋体" pitchFamily="2" charset="-122"/>
              </a:rPr>
              <a:t>)</a:t>
            </a:r>
            <a:r>
              <a:rPr kumimoji="0" lang="zh-CN" altLang="en-US" sz="3200" b="1" dirty="0">
                <a:solidFill>
                  <a:srgbClr val="000000"/>
                </a:solidFill>
                <a:latin typeface="Arial" pitchFamily="34" charset="0"/>
              </a:rPr>
              <a:t>光在介质中传播的几何路程乘以介质的折射率</a:t>
            </a:r>
            <a:r>
              <a:rPr kumimoji="0" lang="en-US" altLang="zh-CN" sz="3200" b="1" dirty="0">
                <a:solidFill>
                  <a:srgbClr val="000000"/>
                </a:solidFill>
                <a:latin typeface="Arial" pitchFamily="34" charset="0"/>
              </a:rPr>
              <a:t>.</a:t>
            </a:r>
          </a:p>
          <a:p>
            <a:pPr>
              <a:lnSpc>
                <a:spcPct val="130000"/>
              </a:lnSpc>
            </a:pPr>
            <a:r>
              <a:rPr kumimoji="0" lang="en-US" altLang="zh-CN" sz="3200" b="1" dirty="0">
                <a:solidFill>
                  <a:srgbClr val="CC0000"/>
                </a:solidFill>
                <a:latin typeface="宋体" pitchFamily="2" charset="-122"/>
              </a:rPr>
              <a:t>(</a:t>
            </a:r>
            <a:r>
              <a:rPr kumimoji="0" lang="en-US" altLang="zh-CN" sz="3200" b="1" dirty="0">
                <a:solidFill>
                  <a:srgbClr val="CC0000"/>
                </a:solidFill>
              </a:rPr>
              <a:t>C</a:t>
            </a:r>
            <a:r>
              <a:rPr kumimoji="0" lang="en-US" altLang="zh-CN" sz="3200" b="1" dirty="0">
                <a:solidFill>
                  <a:srgbClr val="CC0000"/>
                </a:solidFill>
                <a:latin typeface="宋体" pitchFamily="2" charset="-122"/>
              </a:rPr>
              <a:t>)</a:t>
            </a:r>
            <a:r>
              <a:rPr kumimoji="0" lang="zh-CN" altLang="en-US" sz="3200" b="1" dirty="0">
                <a:solidFill>
                  <a:srgbClr val="000000"/>
                </a:solidFill>
                <a:latin typeface="Arial" pitchFamily="34" charset="0"/>
              </a:rPr>
              <a:t>在相同时间内，光在真空中传播的路程</a:t>
            </a:r>
            <a:r>
              <a:rPr kumimoji="0" lang="en-US" altLang="zh-CN" sz="3200" b="1" dirty="0">
                <a:solidFill>
                  <a:srgbClr val="000000"/>
                </a:solidFill>
                <a:latin typeface="Arial" pitchFamily="34" charset="0"/>
              </a:rPr>
              <a:t>.</a:t>
            </a:r>
          </a:p>
          <a:p>
            <a:pPr>
              <a:lnSpc>
                <a:spcPct val="130000"/>
              </a:lnSpc>
            </a:pPr>
            <a:r>
              <a:rPr kumimoji="0" lang="en-US" altLang="zh-CN" sz="3200" b="1" dirty="0">
                <a:solidFill>
                  <a:srgbClr val="CC0000"/>
                </a:solidFill>
                <a:latin typeface="宋体" pitchFamily="2" charset="-122"/>
              </a:rPr>
              <a:t>(</a:t>
            </a:r>
            <a:r>
              <a:rPr kumimoji="0" lang="en-US" altLang="zh-CN" sz="3200" b="1" dirty="0">
                <a:solidFill>
                  <a:srgbClr val="CC0000"/>
                </a:solidFill>
              </a:rPr>
              <a:t>D</a:t>
            </a:r>
            <a:r>
              <a:rPr kumimoji="0" lang="en-US" altLang="zh-CN" sz="3200" b="1" dirty="0">
                <a:solidFill>
                  <a:srgbClr val="CC0000"/>
                </a:solidFill>
                <a:latin typeface="宋体" pitchFamily="2" charset="-122"/>
              </a:rPr>
              <a:t>)</a:t>
            </a:r>
            <a:r>
              <a:rPr kumimoji="0" lang="zh-CN" altLang="en-US" sz="3200" b="1" dirty="0">
                <a:solidFill>
                  <a:srgbClr val="000000"/>
                </a:solidFill>
                <a:latin typeface="Arial" pitchFamily="34" charset="0"/>
              </a:rPr>
              <a:t>真空中的波长乘以介质的折射率</a:t>
            </a:r>
            <a:r>
              <a:rPr kumimoji="0" lang="en-US" altLang="zh-CN" sz="3200" b="1" dirty="0">
                <a:solidFill>
                  <a:srgbClr val="000000"/>
                </a:solidFill>
                <a:latin typeface="Arial" pitchFamily="34" charset="0"/>
              </a:rPr>
              <a:t>.</a:t>
            </a:r>
          </a:p>
        </p:txBody>
      </p:sp>
      <p:sp>
        <p:nvSpPr>
          <p:cNvPr id="65539" name="Text Box 3"/>
          <p:cNvSpPr txBox="1">
            <a:spLocks noChangeArrowheads="1"/>
          </p:cNvSpPr>
          <p:nvPr/>
        </p:nvSpPr>
        <p:spPr bwMode="auto">
          <a:xfrm>
            <a:off x="1050925" y="5318125"/>
            <a:ext cx="1168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lang="zh-CN" altLang="en-US" sz="3200" b="1">
                <a:solidFill>
                  <a:srgbClr val="CC0000"/>
                </a:solidFill>
              </a:rPr>
              <a:t>答案</a:t>
            </a:r>
          </a:p>
        </p:txBody>
      </p:sp>
      <p:pic>
        <p:nvPicPr>
          <p:cNvPr id="256004" name="Picture 4" descr="4C70BBA977B88F3DF7393CB7443DAF2A"/>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52450" y="2027238"/>
            <a:ext cx="66675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05" name="Text Box 5"/>
          <p:cNvSpPr txBox="1">
            <a:spLocks noChangeArrowheads="1"/>
          </p:cNvSpPr>
          <p:nvPr/>
        </p:nvSpPr>
        <p:spPr bwMode="auto">
          <a:xfrm>
            <a:off x="2057400" y="5364163"/>
            <a:ext cx="1066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kumimoji="0" lang="en-US" altLang="zh-CN" sz="3200" b="1">
                <a:solidFill>
                  <a:srgbClr val="CC0000"/>
                </a:solidFill>
                <a:latin typeface="宋体" pitchFamily="2" charset="-122"/>
              </a:rPr>
              <a:t>(</a:t>
            </a:r>
            <a:r>
              <a:rPr kumimoji="0" lang="en-US" altLang="zh-CN" sz="3200" b="1">
                <a:solidFill>
                  <a:srgbClr val="CC0000"/>
                </a:solidFill>
              </a:rPr>
              <a:t>B</a:t>
            </a:r>
            <a:r>
              <a:rPr kumimoji="0" lang="en-US" altLang="zh-CN" sz="3200" b="1">
                <a:solidFill>
                  <a:srgbClr val="CC0000"/>
                </a:solidFill>
                <a:latin typeface="宋体" pitchFamily="2"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56004"/>
                                        </p:tgtEl>
                                        <p:attrNameLst>
                                          <p:attrName>style.visibility</p:attrName>
                                        </p:attrNameLst>
                                      </p:cBhvr>
                                      <p:to>
                                        <p:strVal val="visible"/>
                                      </p:to>
                                    </p:set>
                                    <p:animEffect transition="in" filter="slide(fromBottom)">
                                      <p:cBhvr>
                                        <p:cTn id="7" dur="500"/>
                                        <p:tgtEl>
                                          <p:spTgt spid="2560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05"/>
                                        </p:tgtEl>
                                        <p:attrNameLst>
                                          <p:attrName>style.visibility</p:attrName>
                                        </p:attrNameLst>
                                      </p:cBhvr>
                                      <p:to>
                                        <p:strVal val="visible"/>
                                      </p:to>
                                    </p:set>
                                    <p:animEffect transition="in" filter="blinds(horizontal)">
                                      <p:cBhvr>
                                        <p:cTn id="12" dur="500"/>
                                        <p:tgtEl>
                                          <p:spTgt spid="256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5"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6562" name="Group 2"/>
          <p:cNvGrpSpPr>
            <a:grpSpLocks/>
          </p:cNvGrpSpPr>
          <p:nvPr/>
        </p:nvGrpSpPr>
        <p:grpSpPr bwMode="auto">
          <a:xfrm>
            <a:off x="377825" y="1060450"/>
            <a:ext cx="8766175" cy="3752850"/>
            <a:chOff x="238" y="848"/>
            <a:chExt cx="5522" cy="2364"/>
          </a:xfrm>
        </p:grpSpPr>
        <p:sp>
          <p:nvSpPr>
            <p:cNvPr id="66564" name="Text Box 3"/>
            <p:cNvSpPr txBox="1">
              <a:spLocks noChangeArrowheads="1"/>
            </p:cNvSpPr>
            <p:nvPr/>
          </p:nvSpPr>
          <p:spPr bwMode="auto">
            <a:xfrm>
              <a:off x="238" y="848"/>
              <a:ext cx="5522" cy="1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b="1" dirty="0" smtClean="0">
                  <a:solidFill>
                    <a:srgbClr val="000000"/>
                  </a:solidFill>
                  <a:latin typeface="Century Schoolbook" pitchFamily="18" charset="0"/>
                </a:rPr>
                <a:t>7.</a:t>
              </a:r>
              <a:r>
                <a:rPr lang="zh-CN" altLang="en-US" b="1" dirty="0">
                  <a:solidFill>
                    <a:srgbClr val="000000"/>
                  </a:solidFill>
                  <a:latin typeface="Century Schoolbook" pitchFamily="18" charset="0"/>
                </a:rPr>
                <a:t>在真空中波长为 </a:t>
              </a:r>
              <a:r>
                <a:rPr lang="en-US" altLang="zh-CN" b="1" i="1" dirty="0">
                  <a:solidFill>
                    <a:srgbClr val="000000"/>
                  </a:solidFill>
                  <a:latin typeface="Symbol" pitchFamily="18" charset="2"/>
                </a:rPr>
                <a:t>l</a:t>
              </a:r>
              <a:r>
                <a:rPr lang="en-US" altLang="zh-CN" b="1" dirty="0">
                  <a:solidFill>
                    <a:srgbClr val="000000"/>
                  </a:solidFill>
                  <a:latin typeface="Century Schoolbook" pitchFamily="18" charset="0"/>
                </a:rPr>
                <a:t> </a:t>
              </a:r>
              <a:r>
                <a:rPr lang="zh-CN" altLang="en-US" b="1" dirty="0">
                  <a:solidFill>
                    <a:srgbClr val="000000"/>
                  </a:solidFill>
                  <a:latin typeface="Century Schoolbook" pitchFamily="18" charset="0"/>
                </a:rPr>
                <a:t>的单色光</a:t>
              </a:r>
              <a:r>
                <a:rPr lang="en-US" altLang="zh-CN" b="1" dirty="0">
                  <a:solidFill>
                    <a:srgbClr val="000000"/>
                  </a:solidFill>
                  <a:latin typeface="Century Schoolbook" pitchFamily="18" charset="0"/>
                </a:rPr>
                <a:t>,</a:t>
              </a:r>
              <a:r>
                <a:rPr lang="zh-CN" altLang="en-US" b="1" dirty="0">
                  <a:solidFill>
                    <a:srgbClr val="000000"/>
                  </a:solidFill>
                  <a:latin typeface="Century Schoolbook" pitchFamily="18" charset="0"/>
                </a:rPr>
                <a:t>在折射率   为 </a:t>
              </a:r>
              <a:r>
                <a:rPr lang="en-US" altLang="zh-CN" b="1" i="1" dirty="0">
                  <a:solidFill>
                    <a:srgbClr val="000000"/>
                  </a:solidFill>
                  <a:latin typeface="Century Schoolbook" pitchFamily="18" charset="0"/>
                </a:rPr>
                <a:t>n </a:t>
              </a:r>
              <a:r>
                <a:rPr lang="zh-CN" altLang="en-US" b="1" dirty="0">
                  <a:solidFill>
                    <a:srgbClr val="000000"/>
                  </a:solidFill>
                  <a:latin typeface="Century Schoolbook" pitchFamily="18" charset="0"/>
                </a:rPr>
                <a:t>的透明介质中从 </a:t>
              </a:r>
              <a:r>
                <a:rPr lang="en-US" altLang="zh-CN" b="1" i="1" dirty="0">
                  <a:solidFill>
                    <a:srgbClr val="000000"/>
                  </a:solidFill>
                  <a:latin typeface="Century Schoolbook" pitchFamily="18" charset="0"/>
                </a:rPr>
                <a:t>A </a:t>
              </a:r>
              <a:r>
                <a:rPr lang="zh-CN" altLang="en-US" b="1" dirty="0">
                  <a:solidFill>
                    <a:srgbClr val="000000"/>
                  </a:solidFill>
                  <a:latin typeface="Century Schoolbook" pitchFamily="18" charset="0"/>
                </a:rPr>
                <a:t>沿某路径传播到 </a:t>
              </a:r>
              <a:r>
                <a:rPr lang="en-US" altLang="zh-CN" b="1" i="1" dirty="0">
                  <a:solidFill>
                    <a:srgbClr val="000000"/>
                  </a:solidFill>
                  <a:latin typeface="Century Schoolbook" pitchFamily="18" charset="0"/>
                </a:rPr>
                <a:t>B </a:t>
              </a:r>
              <a:r>
                <a:rPr lang="en-US" altLang="zh-CN" b="1" dirty="0">
                  <a:solidFill>
                    <a:srgbClr val="000000"/>
                  </a:solidFill>
                  <a:latin typeface="Century Schoolbook" pitchFamily="18" charset="0"/>
                </a:rPr>
                <a:t>,</a:t>
              </a:r>
              <a:r>
                <a:rPr lang="zh-CN" altLang="en-US" b="1" dirty="0">
                  <a:solidFill>
                    <a:srgbClr val="000000"/>
                  </a:solidFill>
                  <a:latin typeface="Century Schoolbook" pitchFamily="18" charset="0"/>
                </a:rPr>
                <a:t>若 </a:t>
              </a:r>
              <a:r>
                <a:rPr lang="en-US" altLang="zh-CN" b="1" i="1" dirty="0">
                  <a:solidFill>
                    <a:srgbClr val="000000"/>
                  </a:solidFill>
                  <a:latin typeface="Century Schoolbook" pitchFamily="18" charset="0"/>
                </a:rPr>
                <a:t>A</a:t>
              </a:r>
              <a:r>
                <a:rPr lang="zh-CN" altLang="en-US" b="1" dirty="0">
                  <a:solidFill>
                    <a:srgbClr val="000000"/>
                  </a:solidFill>
                  <a:latin typeface="Century Schoolbook" pitchFamily="18" charset="0"/>
                </a:rPr>
                <a:t>、</a:t>
              </a:r>
              <a:r>
                <a:rPr lang="en-US" altLang="zh-CN" b="1" i="1" dirty="0">
                  <a:solidFill>
                    <a:srgbClr val="000000"/>
                  </a:solidFill>
                  <a:latin typeface="Century Schoolbook" pitchFamily="18" charset="0"/>
                </a:rPr>
                <a:t>B </a:t>
              </a:r>
              <a:r>
                <a:rPr lang="zh-CN" altLang="en-US" b="1" dirty="0">
                  <a:solidFill>
                    <a:srgbClr val="000000"/>
                  </a:solidFill>
                  <a:latin typeface="Century Schoolbook" pitchFamily="18" charset="0"/>
                </a:rPr>
                <a:t>两点位相差为 </a:t>
              </a:r>
              <a:r>
                <a:rPr lang="en-US" altLang="zh-CN" b="1" dirty="0">
                  <a:solidFill>
                    <a:srgbClr val="000000"/>
                  </a:solidFill>
                  <a:latin typeface="Century Schoolbook" pitchFamily="18" charset="0"/>
                </a:rPr>
                <a:t>3</a:t>
              </a:r>
              <a:r>
                <a:rPr lang="en-US" altLang="zh-CN" b="1" i="1" dirty="0">
                  <a:solidFill>
                    <a:srgbClr val="000000"/>
                  </a:solidFill>
                  <a:latin typeface="Symbol" pitchFamily="18" charset="2"/>
                  <a:sym typeface="Symbol" pitchFamily="18" charset="2"/>
                </a:rPr>
                <a:t></a:t>
              </a:r>
              <a:r>
                <a:rPr lang="zh-CN" altLang="en-US" b="1" dirty="0">
                  <a:solidFill>
                    <a:srgbClr val="000000"/>
                  </a:solidFill>
                  <a:latin typeface="Century Schoolbook" pitchFamily="18" charset="0"/>
                </a:rPr>
                <a:t>，则此路径 </a:t>
              </a:r>
              <a:r>
                <a:rPr lang="en-US" altLang="zh-CN" b="1" i="1" dirty="0">
                  <a:solidFill>
                    <a:srgbClr val="000000"/>
                  </a:solidFill>
                  <a:latin typeface="Century Schoolbook" pitchFamily="18" charset="0"/>
                </a:rPr>
                <a:t>AB</a:t>
              </a:r>
              <a:r>
                <a:rPr lang="zh-CN" altLang="en-US" b="1" dirty="0">
                  <a:solidFill>
                    <a:srgbClr val="000000"/>
                  </a:solidFill>
                  <a:latin typeface="Century Schoolbook" pitchFamily="18" charset="0"/>
                </a:rPr>
                <a:t>的光程为</a:t>
              </a:r>
            </a:p>
          </p:txBody>
        </p:sp>
        <p:sp>
          <p:nvSpPr>
            <p:cNvPr id="66565" name="Text Box 4"/>
            <p:cNvSpPr txBox="1">
              <a:spLocks noChangeArrowheads="1"/>
            </p:cNvSpPr>
            <p:nvPr/>
          </p:nvSpPr>
          <p:spPr bwMode="auto">
            <a:xfrm>
              <a:off x="586" y="2328"/>
              <a:ext cx="125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b="1">
                  <a:solidFill>
                    <a:srgbClr val="000000"/>
                  </a:solidFill>
                  <a:latin typeface="Century Schoolbook" pitchFamily="18" charset="0"/>
                </a:rPr>
                <a:t>( A ) 1.5</a:t>
              </a:r>
              <a:r>
                <a:rPr lang="en-US" altLang="zh-CN" b="1" i="1">
                  <a:solidFill>
                    <a:srgbClr val="000000"/>
                  </a:solidFill>
                  <a:latin typeface="Century Schoolbook" pitchFamily="18" charset="0"/>
                  <a:sym typeface="Symbol" pitchFamily="18" charset="2"/>
                </a:rPr>
                <a:t></a:t>
              </a:r>
              <a:endParaRPr lang="en-US" altLang="zh-CN" b="1">
                <a:solidFill>
                  <a:srgbClr val="000000"/>
                </a:solidFill>
                <a:latin typeface="Century Schoolbook" pitchFamily="18" charset="0"/>
              </a:endParaRPr>
            </a:p>
          </p:txBody>
        </p:sp>
        <p:sp>
          <p:nvSpPr>
            <p:cNvPr id="66566" name="Text Box 5"/>
            <p:cNvSpPr txBox="1">
              <a:spLocks noChangeArrowheads="1"/>
            </p:cNvSpPr>
            <p:nvPr/>
          </p:nvSpPr>
          <p:spPr bwMode="auto">
            <a:xfrm>
              <a:off x="2928" y="2328"/>
              <a:ext cx="146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b="1">
                  <a:solidFill>
                    <a:srgbClr val="000000"/>
                  </a:solidFill>
                  <a:latin typeface="Century Schoolbook" pitchFamily="18" charset="0"/>
                </a:rPr>
                <a:t>( B ) 1.5 </a:t>
              </a:r>
              <a:r>
                <a:rPr lang="en-US" altLang="zh-CN" b="1" i="1">
                  <a:solidFill>
                    <a:srgbClr val="000000"/>
                  </a:solidFill>
                  <a:latin typeface="Century Schoolbook" pitchFamily="18" charset="0"/>
                </a:rPr>
                <a:t>n</a:t>
              </a:r>
              <a:r>
                <a:rPr lang="en-US" altLang="zh-CN" b="1" i="1">
                  <a:solidFill>
                    <a:srgbClr val="000000"/>
                  </a:solidFill>
                  <a:latin typeface="Century Schoolbook" pitchFamily="18" charset="0"/>
                  <a:sym typeface="Symbol" pitchFamily="18" charset="2"/>
                </a:rPr>
                <a:t></a:t>
              </a:r>
              <a:endParaRPr lang="en-US" altLang="zh-CN" b="1">
                <a:solidFill>
                  <a:srgbClr val="000000"/>
                </a:solidFill>
                <a:latin typeface="Century Schoolbook" pitchFamily="18" charset="0"/>
              </a:endParaRPr>
            </a:p>
          </p:txBody>
        </p:sp>
        <p:sp>
          <p:nvSpPr>
            <p:cNvPr id="66567" name="Text Box 6"/>
            <p:cNvSpPr txBox="1">
              <a:spLocks noChangeArrowheads="1"/>
            </p:cNvSpPr>
            <p:nvPr/>
          </p:nvSpPr>
          <p:spPr bwMode="auto">
            <a:xfrm>
              <a:off x="624" y="2760"/>
              <a:ext cx="110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b="1">
                  <a:solidFill>
                    <a:srgbClr val="000000"/>
                  </a:solidFill>
                  <a:latin typeface="Century Schoolbook" pitchFamily="18" charset="0"/>
                </a:rPr>
                <a:t>( C ) 3 </a:t>
              </a:r>
              <a:r>
                <a:rPr lang="en-US" altLang="zh-CN" b="1" i="1">
                  <a:solidFill>
                    <a:srgbClr val="000000"/>
                  </a:solidFill>
                  <a:latin typeface="Century Schoolbook" pitchFamily="18" charset="0"/>
                  <a:sym typeface="Symbol" pitchFamily="18" charset="2"/>
                </a:rPr>
                <a:t></a:t>
              </a:r>
              <a:endParaRPr lang="en-US" altLang="zh-CN" b="1">
                <a:solidFill>
                  <a:srgbClr val="000000"/>
                </a:solidFill>
                <a:latin typeface="Century Schoolbook" pitchFamily="18" charset="0"/>
              </a:endParaRPr>
            </a:p>
          </p:txBody>
        </p:sp>
        <p:sp>
          <p:nvSpPr>
            <p:cNvPr id="66568" name="Text Box 7"/>
            <p:cNvSpPr txBox="1">
              <a:spLocks noChangeArrowheads="1"/>
            </p:cNvSpPr>
            <p:nvPr/>
          </p:nvSpPr>
          <p:spPr bwMode="auto">
            <a:xfrm>
              <a:off x="2928" y="2808"/>
              <a:ext cx="156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b="1">
                  <a:solidFill>
                    <a:srgbClr val="000000"/>
                  </a:solidFill>
                  <a:latin typeface="Century Schoolbook" pitchFamily="18" charset="0"/>
                </a:rPr>
                <a:t>( D ) 1.5 </a:t>
              </a:r>
              <a:r>
                <a:rPr lang="en-US" altLang="zh-CN" b="1" i="1">
                  <a:solidFill>
                    <a:srgbClr val="000000"/>
                  </a:solidFill>
                  <a:latin typeface="Century Schoolbook" pitchFamily="18" charset="0"/>
                  <a:sym typeface="Symbol" pitchFamily="18" charset="2"/>
                </a:rPr>
                <a:t></a:t>
              </a:r>
              <a:r>
                <a:rPr lang="en-US" altLang="zh-CN" b="1">
                  <a:solidFill>
                    <a:srgbClr val="000000"/>
                  </a:solidFill>
                  <a:latin typeface="Century Schoolbook" pitchFamily="18" charset="0"/>
                </a:rPr>
                <a:t>/</a:t>
              </a:r>
              <a:r>
                <a:rPr lang="en-US" altLang="zh-CN" b="1" i="1">
                  <a:solidFill>
                    <a:srgbClr val="000000"/>
                  </a:solidFill>
                  <a:latin typeface="Century Schoolbook" pitchFamily="18" charset="0"/>
                </a:rPr>
                <a:t>n</a:t>
              </a:r>
              <a:endParaRPr lang="en-US" altLang="zh-CN" b="1">
                <a:solidFill>
                  <a:srgbClr val="000000"/>
                </a:solidFill>
                <a:latin typeface="Century Schoolbook" pitchFamily="18" charset="0"/>
              </a:endParaRPr>
            </a:p>
          </p:txBody>
        </p:sp>
      </p:grpSp>
      <p:sp>
        <p:nvSpPr>
          <p:cNvPr id="257032" name="Text Box 8"/>
          <p:cNvSpPr txBox="1">
            <a:spLocks noChangeArrowheads="1"/>
          </p:cNvSpPr>
          <p:nvPr/>
        </p:nvSpPr>
        <p:spPr bwMode="auto">
          <a:xfrm>
            <a:off x="7391400" y="556260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a:solidFill>
                  <a:srgbClr val="FF3300"/>
                </a:solidFill>
                <a:latin typeface="Century Schoolbook" pitchFamily="18" charset="0"/>
              </a:rPr>
              <a:t>[  A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57032"/>
                                        </p:tgtEl>
                                        <p:attrNameLst>
                                          <p:attrName>style.visibility</p:attrName>
                                        </p:attrNameLst>
                                      </p:cBhvr>
                                      <p:to>
                                        <p:strVal val="visible"/>
                                      </p:to>
                                    </p:set>
                                    <p:animEffect transition="in" filter="wipe(left)">
                                      <p:cBhvr>
                                        <p:cTn id="7" dur="75"/>
                                        <p:tgtEl>
                                          <p:spTgt spid="257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32"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611188" y="3806825"/>
            <a:ext cx="7924800" cy="2143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fontAlgn="t" hangingPunct="1">
              <a:lnSpc>
                <a:spcPct val="120000"/>
              </a:lnSpc>
            </a:pPr>
            <a:r>
              <a:rPr kumimoji="0" lang="zh-CN" altLang="en-US" sz="2800" b="1">
                <a:solidFill>
                  <a:srgbClr val="000000"/>
                </a:solidFill>
              </a:rPr>
              <a:t>（</a:t>
            </a:r>
            <a:r>
              <a:rPr kumimoji="0" lang="en-US" altLang="zh-CN" sz="2800" b="1">
                <a:solidFill>
                  <a:srgbClr val="000000"/>
                </a:solidFill>
              </a:rPr>
              <a:t>A</a:t>
            </a:r>
            <a:r>
              <a:rPr kumimoji="0" lang="zh-CN" altLang="en-US" sz="2800" b="1">
                <a:solidFill>
                  <a:srgbClr val="000000"/>
                </a:solidFill>
              </a:rPr>
              <a:t>）数目减小，间距变大</a:t>
            </a:r>
          </a:p>
          <a:p>
            <a:pPr eaLnBrk="1" fontAlgn="t" hangingPunct="1">
              <a:lnSpc>
                <a:spcPct val="120000"/>
              </a:lnSpc>
            </a:pPr>
            <a:r>
              <a:rPr kumimoji="0" lang="zh-CN" altLang="en-US" sz="2800" b="1">
                <a:solidFill>
                  <a:srgbClr val="000000"/>
                </a:solidFill>
              </a:rPr>
              <a:t>（</a:t>
            </a:r>
            <a:r>
              <a:rPr kumimoji="0" lang="en-US" altLang="zh-CN" sz="2800" b="1">
                <a:solidFill>
                  <a:srgbClr val="000000"/>
                </a:solidFill>
              </a:rPr>
              <a:t>B</a:t>
            </a:r>
            <a:r>
              <a:rPr kumimoji="0" lang="zh-CN" altLang="en-US" sz="2800" b="1">
                <a:solidFill>
                  <a:srgbClr val="000000"/>
                </a:solidFill>
              </a:rPr>
              <a:t>）数目减小，间距不变</a:t>
            </a:r>
          </a:p>
          <a:p>
            <a:pPr eaLnBrk="1" fontAlgn="t" hangingPunct="1">
              <a:lnSpc>
                <a:spcPct val="120000"/>
              </a:lnSpc>
            </a:pPr>
            <a:r>
              <a:rPr kumimoji="0" lang="zh-CN" altLang="en-US" sz="2800" b="1">
                <a:solidFill>
                  <a:srgbClr val="000000"/>
                </a:solidFill>
              </a:rPr>
              <a:t>（</a:t>
            </a:r>
            <a:r>
              <a:rPr kumimoji="0" lang="en-US" altLang="zh-CN" sz="2800" b="1">
                <a:solidFill>
                  <a:srgbClr val="000000"/>
                </a:solidFill>
              </a:rPr>
              <a:t>C</a:t>
            </a:r>
            <a:r>
              <a:rPr kumimoji="0" lang="zh-CN" altLang="en-US" sz="2800" b="1">
                <a:solidFill>
                  <a:srgbClr val="000000"/>
                </a:solidFill>
              </a:rPr>
              <a:t>）数目不变，间距变小</a:t>
            </a:r>
          </a:p>
          <a:p>
            <a:pPr eaLnBrk="1" fontAlgn="t" hangingPunct="1">
              <a:lnSpc>
                <a:spcPct val="120000"/>
              </a:lnSpc>
            </a:pPr>
            <a:r>
              <a:rPr kumimoji="0" lang="zh-CN" altLang="en-US" sz="2800" b="1">
                <a:solidFill>
                  <a:srgbClr val="000000"/>
                </a:solidFill>
              </a:rPr>
              <a:t>（</a:t>
            </a:r>
            <a:r>
              <a:rPr kumimoji="0" lang="en-US" altLang="zh-CN" sz="2800" b="1">
                <a:solidFill>
                  <a:srgbClr val="000000"/>
                </a:solidFill>
              </a:rPr>
              <a:t>D</a:t>
            </a:r>
            <a:r>
              <a:rPr kumimoji="0" lang="zh-CN" altLang="en-US" sz="2800" b="1">
                <a:solidFill>
                  <a:srgbClr val="000000"/>
                </a:solidFill>
              </a:rPr>
              <a:t>）数目增加，间距变小</a:t>
            </a:r>
          </a:p>
        </p:txBody>
      </p:sp>
      <p:grpSp>
        <p:nvGrpSpPr>
          <p:cNvPr id="67587" name="Group 3"/>
          <p:cNvGrpSpPr>
            <a:grpSpLocks/>
          </p:cNvGrpSpPr>
          <p:nvPr/>
        </p:nvGrpSpPr>
        <p:grpSpPr bwMode="auto">
          <a:xfrm>
            <a:off x="5292725" y="4043363"/>
            <a:ext cx="3095625" cy="1690687"/>
            <a:chOff x="3153" y="2341"/>
            <a:chExt cx="1950" cy="1065"/>
          </a:xfrm>
        </p:grpSpPr>
        <p:grpSp>
          <p:nvGrpSpPr>
            <p:cNvPr id="67590" name="Group 4"/>
            <p:cNvGrpSpPr>
              <a:grpSpLocks/>
            </p:cNvGrpSpPr>
            <p:nvPr/>
          </p:nvGrpSpPr>
          <p:grpSpPr bwMode="auto">
            <a:xfrm>
              <a:off x="3573" y="2341"/>
              <a:ext cx="1152" cy="951"/>
              <a:chOff x="3936" y="2592"/>
              <a:chExt cx="1152" cy="951"/>
            </a:xfrm>
          </p:grpSpPr>
          <p:sp>
            <p:nvSpPr>
              <p:cNvPr id="67592" name="Rectangle 5"/>
              <p:cNvSpPr>
                <a:spLocks noChangeArrowheads="1"/>
              </p:cNvSpPr>
              <p:nvPr/>
            </p:nvSpPr>
            <p:spPr bwMode="auto">
              <a:xfrm>
                <a:off x="3936" y="3168"/>
                <a:ext cx="1152" cy="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00"/>
                  </a:solidFill>
                </a:endParaRPr>
              </a:p>
            </p:txBody>
          </p:sp>
          <p:sp>
            <p:nvSpPr>
              <p:cNvPr id="67593" name="Oval 6"/>
              <p:cNvSpPr>
                <a:spLocks noChangeArrowheads="1"/>
              </p:cNvSpPr>
              <p:nvPr/>
            </p:nvSpPr>
            <p:spPr bwMode="auto">
              <a:xfrm>
                <a:off x="3984" y="311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00"/>
                  </a:solidFill>
                </a:endParaRPr>
              </a:p>
            </p:txBody>
          </p:sp>
          <p:sp>
            <p:nvSpPr>
              <p:cNvPr id="67594" name="Oval 7"/>
              <p:cNvSpPr>
                <a:spLocks noChangeArrowheads="1"/>
              </p:cNvSpPr>
              <p:nvPr/>
            </p:nvSpPr>
            <p:spPr bwMode="auto">
              <a:xfrm>
                <a:off x="4936" y="306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00"/>
                  </a:solidFill>
                </a:endParaRPr>
              </a:p>
            </p:txBody>
          </p:sp>
          <p:sp>
            <p:nvSpPr>
              <p:cNvPr id="67595" name="Rectangle 8"/>
              <p:cNvSpPr>
                <a:spLocks noChangeArrowheads="1"/>
              </p:cNvSpPr>
              <p:nvPr/>
            </p:nvSpPr>
            <p:spPr bwMode="auto">
              <a:xfrm rot="-197107">
                <a:off x="3936" y="3032"/>
                <a:ext cx="1152" cy="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00"/>
                  </a:solidFill>
                </a:endParaRPr>
              </a:p>
            </p:txBody>
          </p:sp>
          <p:sp>
            <p:nvSpPr>
              <p:cNvPr id="67596" name="Line 9"/>
              <p:cNvSpPr>
                <a:spLocks noChangeShapeType="1"/>
              </p:cNvSpPr>
              <p:nvPr/>
            </p:nvSpPr>
            <p:spPr bwMode="auto">
              <a:xfrm>
                <a:off x="4008" y="3168"/>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597" name="Line 10"/>
              <p:cNvSpPr>
                <a:spLocks noChangeShapeType="1"/>
              </p:cNvSpPr>
              <p:nvPr/>
            </p:nvSpPr>
            <p:spPr bwMode="auto">
              <a:xfrm>
                <a:off x="4984" y="3168"/>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598" name="Line 11"/>
              <p:cNvSpPr>
                <a:spLocks noChangeShapeType="1"/>
              </p:cNvSpPr>
              <p:nvPr/>
            </p:nvSpPr>
            <p:spPr bwMode="auto">
              <a:xfrm>
                <a:off x="4016" y="3312"/>
                <a:ext cx="96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599" name="Rectangle 12"/>
              <p:cNvSpPr>
                <a:spLocks noChangeArrowheads="1"/>
              </p:cNvSpPr>
              <p:nvPr/>
            </p:nvSpPr>
            <p:spPr bwMode="auto">
              <a:xfrm>
                <a:off x="4391" y="3312"/>
                <a:ext cx="26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0" lang="en-US" altLang="zh-CN" sz="1800" i="1">
                    <a:solidFill>
                      <a:srgbClr val="000000"/>
                    </a:solidFill>
                  </a:rPr>
                  <a:t>L</a:t>
                </a:r>
              </a:p>
            </p:txBody>
          </p:sp>
          <p:sp>
            <p:nvSpPr>
              <p:cNvPr id="67600" name="Line 13"/>
              <p:cNvSpPr>
                <a:spLocks noChangeShapeType="1"/>
              </p:cNvSpPr>
              <p:nvPr/>
            </p:nvSpPr>
            <p:spPr bwMode="auto">
              <a:xfrm>
                <a:off x="4224" y="2832"/>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01" name="Line 14"/>
              <p:cNvSpPr>
                <a:spLocks noChangeShapeType="1"/>
              </p:cNvSpPr>
              <p:nvPr/>
            </p:nvSpPr>
            <p:spPr bwMode="auto">
              <a:xfrm>
                <a:off x="4464" y="2832"/>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02" name="Line 15"/>
              <p:cNvSpPr>
                <a:spLocks noChangeShapeType="1"/>
              </p:cNvSpPr>
              <p:nvPr/>
            </p:nvSpPr>
            <p:spPr bwMode="auto">
              <a:xfrm>
                <a:off x="4752" y="2832"/>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03" name="Text Box 16"/>
              <p:cNvSpPr txBox="1">
                <a:spLocks noChangeArrowheads="1"/>
              </p:cNvSpPr>
              <p:nvPr/>
            </p:nvSpPr>
            <p:spPr bwMode="auto">
              <a:xfrm>
                <a:off x="4368" y="259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kumimoji="0" lang="en-US" altLang="zh-CN" sz="1800" i="1">
                    <a:solidFill>
                      <a:srgbClr val="000000"/>
                    </a:solidFill>
                    <a:sym typeface="Symbol" pitchFamily="18" charset="2"/>
                  </a:rPr>
                  <a:t></a:t>
                </a:r>
                <a:endParaRPr kumimoji="0" lang="en-US" altLang="zh-CN" sz="1800" i="1">
                  <a:solidFill>
                    <a:srgbClr val="000000"/>
                  </a:solidFill>
                </a:endParaRPr>
              </a:p>
            </p:txBody>
          </p:sp>
        </p:grpSp>
        <p:sp>
          <p:nvSpPr>
            <p:cNvPr id="67591" name="Rectangle 17"/>
            <p:cNvSpPr>
              <a:spLocks noChangeArrowheads="1"/>
            </p:cNvSpPr>
            <p:nvPr/>
          </p:nvSpPr>
          <p:spPr bwMode="auto">
            <a:xfrm>
              <a:off x="3153" y="2363"/>
              <a:ext cx="1950" cy="104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00"/>
                </a:solidFill>
              </a:endParaRPr>
            </a:p>
          </p:txBody>
        </p:sp>
      </p:grpSp>
      <p:sp>
        <p:nvSpPr>
          <p:cNvPr id="67588" name="Rectangle 19"/>
          <p:cNvSpPr>
            <a:spLocks noChangeArrowheads="1"/>
          </p:cNvSpPr>
          <p:nvPr/>
        </p:nvSpPr>
        <p:spPr bwMode="auto">
          <a:xfrm>
            <a:off x="684213" y="773113"/>
            <a:ext cx="7991475" cy="304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0" lang="en-US" altLang="zh-CN" sz="3200" b="1" dirty="0" smtClean="0">
                <a:solidFill>
                  <a:srgbClr val="CC0000"/>
                </a:solidFill>
              </a:rPr>
              <a:t>8</a:t>
            </a:r>
            <a:r>
              <a:rPr kumimoji="0" lang="en-US" altLang="zh-CN" sz="3200" b="1" dirty="0" smtClean="0">
                <a:solidFill>
                  <a:srgbClr val="CC0000"/>
                </a:solidFill>
                <a:latin typeface="Arial" pitchFamily="34" charset="0"/>
              </a:rPr>
              <a:t> </a:t>
            </a:r>
            <a:r>
              <a:rPr kumimoji="0" lang="en-US" altLang="zh-CN" sz="3200" b="1" dirty="0" smtClean="0">
                <a:solidFill>
                  <a:srgbClr val="000000"/>
                </a:solidFill>
                <a:latin typeface="Arial" pitchFamily="34" charset="0"/>
              </a:rPr>
              <a:t>  </a:t>
            </a:r>
            <a:r>
              <a:rPr kumimoji="0" lang="zh-CN" altLang="en-US" sz="3200" b="1" dirty="0">
                <a:solidFill>
                  <a:srgbClr val="000000"/>
                </a:solidFill>
                <a:latin typeface="Arial" pitchFamily="34" charset="0"/>
              </a:rPr>
              <a:t>如图所示，两个直径有微小差别的彼此平行的滚柱之间的距离为</a:t>
            </a:r>
            <a:r>
              <a:rPr kumimoji="0" lang="en-US" altLang="zh-CN" sz="3200" b="1" i="1" dirty="0">
                <a:solidFill>
                  <a:srgbClr val="000000"/>
                </a:solidFill>
              </a:rPr>
              <a:t>L</a:t>
            </a:r>
            <a:r>
              <a:rPr kumimoji="0" lang="zh-CN" altLang="en-US" sz="3200" b="1" dirty="0">
                <a:solidFill>
                  <a:srgbClr val="000000"/>
                </a:solidFill>
                <a:latin typeface="Arial" pitchFamily="34" charset="0"/>
              </a:rPr>
              <a:t>，夹在两块平面晶体的中间，形成空气劈形膜，当单色光垂直入射时，产生等厚干涉条纹，如果滚柱之间的距离</a:t>
            </a:r>
            <a:r>
              <a:rPr kumimoji="0" lang="en-US" altLang="zh-CN" sz="3200" b="1" i="1" dirty="0">
                <a:solidFill>
                  <a:srgbClr val="000000"/>
                </a:solidFill>
              </a:rPr>
              <a:t>L</a:t>
            </a:r>
            <a:r>
              <a:rPr kumimoji="0" lang="zh-CN" altLang="en-US" sz="3200" b="1" dirty="0">
                <a:solidFill>
                  <a:srgbClr val="000000"/>
                </a:solidFill>
                <a:latin typeface="Arial" pitchFamily="34" charset="0"/>
              </a:rPr>
              <a:t>变小，则在</a:t>
            </a:r>
            <a:r>
              <a:rPr kumimoji="0" lang="en-US" altLang="zh-CN" sz="3200" b="1" i="1" dirty="0">
                <a:solidFill>
                  <a:srgbClr val="000000"/>
                </a:solidFill>
              </a:rPr>
              <a:t>L</a:t>
            </a:r>
            <a:r>
              <a:rPr kumimoji="0" lang="zh-CN" altLang="en-US" sz="3200" b="1" dirty="0">
                <a:solidFill>
                  <a:srgbClr val="000000"/>
                </a:solidFill>
                <a:latin typeface="Arial" pitchFamily="34" charset="0"/>
              </a:rPr>
              <a:t>范围内干涉条纹的（    ）</a:t>
            </a:r>
          </a:p>
        </p:txBody>
      </p:sp>
      <p:sp>
        <p:nvSpPr>
          <p:cNvPr id="2" name="TextBox 1"/>
          <p:cNvSpPr txBox="1">
            <a:spLocks noChangeArrowheads="1"/>
          </p:cNvSpPr>
          <p:nvPr/>
        </p:nvSpPr>
        <p:spPr bwMode="auto">
          <a:xfrm>
            <a:off x="1259632" y="3356992"/>
            <a:ext cx="338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en-US" altLang="zh-CN" sz="1800" dirty="0">
                <a:solidFill>
                  <a:srgbClr val="000000"/>
                </a:solidFill>
              </a:rPr>
              <a:t>C</a:t>
            </a:r>
            <a:endParaRPr kumimoji="0" lang="zh-CN" altLang="en-US" sz="18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610" name="Group 2"/>
          <p:cNvGrpSpPr>
            <a:grpSpLocks/>
          </p:cNvGrpSpPr>
          <p:nvPr/>
        </p:nvGrpSpPr>
        <p:grpSpPr bwMode="auto">
          <a:xfrm>
            <a:off x="76200" y="79375"/>
            <a:ext cx="8915400" cy="4552950"/>
            <a:chOff x="48" y="50"/>
            <a:chExt cx="5616" cy="2868"/>
          </a:xfrm>
        </p:grpSpPr>
        <p:sp>
          <p:nvSpPr>
            <p:cNvPr id="68645" name="Text Box 3"/>
            <p:cNvSpPr txBox="1">
              <a:spLocks noChangeArrowheads="1"/>
            </p:cNvSpPr>
            <p:nvPr/>
          </p:nvSpPr>
          <p:spPr bwMode="auto">
            <a:xfrm>
              <a:off x="144" y="50"/>
              <a:ext cx="5520" cy="1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b="1" dirty="0" smtClean="0">
                  <a:solidFill>
                    <a:srgbClr val="000000"/>
                  </a:solidFill>
                  <a:latin typeface="Century Schoolbook" pitchFamily="18" charset="0"/>
                </a:rPr>
                <a:t>9.</a:t>
              </a:r>
              <a:r>
                <a:rPr lang="zh-CN" altLang="en-US" b="1" dirty="0">
                  <a:solidFill>
                    <a:srgbClr val="000000"/>
                  </a:solidFill>
                  <a:latin typeface="Century Schoolbook" pitchFamily="18" charset="0"/>
                </a:rPr>
                <a:t>如图所示</a:t>
              </a:r>
              <a:r>
                <a:rPr lang="en-US" altLang="zh-CN" b="1" dirty="0">
                  <a:solidFill>
                    <a:srgbClr val="000000"/>
                  </a:solidFill>
                  <a:latin typeface="Century Schoolbook" pitchFamily="18" charset="0"/>
                </a:rPr>
                <a:t>,</a:t>
              </a:r>
              <a:r>
                <a:rPr lang="zh-CN" altLang="en-US" b="1" dirty="0">
                  <a:solidFill>
                    <a:srgbClr val="000000"/>
                  </a:solidFill>
                  <a:latin typeface="Century Schoolbook" pitchFamily="18" charset="0"/>
                </a:rPr>
                <a:t>当波长为 </a:t>
              </a:r>
              <a:r>
                <a:rPr lang="zh-CN" altLang="en-US" i="1" dirty="0">
                  <a:solidFill>
                    <a:srgbClr val="000000"/>
                  </a:solidFill>
                  <a:latin typeface="Century Schoolbook" pitchFamily="18" charset="0"/>
                  <a:sym typeface="Symbol" pitchFamily="18" charset="2"/>
                </a:rPr>
                <a:t> </a:t>
              </a:r>
              <a:r>
                <a:rPr lang="zh-CN" altLang="en-US" b="1" dirty="0">
                  <a:solidFill>
                    <a:srgbClr val="000000"/>
                  </a:solidFill>
                  <a:latin typeface="Century Schoolbook" pitchFamily="18" charset="0"/>
                </a:rPr>
                <a:t>的单色平行光垂直照射时</a:t>
              </a:r>
              <a:r>
                <a:rPr lang="en-US" altLang="zh-CN" b="1" dirty="0">
                  <a:solidFill>
                    <a:srgbClr val="000000"/>
                  </a:solidFill>
                  <a:latin typeface="Century Schoolbook" pitchFamily="18" charset="0"/>
                </a:rPr>
                <a:t>,</a:t>
              </a:r>
              <a:r>
                <a:rPr lang="zh-CN" altLang="en-US" b="1" dirty="0">
                  <a:solidFill>
                    <a:srgbClr val="000000"/>
                  </a:solidFill>
                  <a:latin typeface="Century Schoolbook" pitchFamily="18" charset="0"/>
                </a:rPr>
                <a:t>观察到每一条纹弯曲部分的顶点恰好与其左边条纹的直线部分的连线相切，则工件表面与条纹弯曲处对应的部分：</a:t>
              </a:r>
            </a:p>
          </p:txBody>
        </p:sp>
        <p:sp>
          <p:nvSpPr>
            <p:cNvPr id="68646" name="Text Box 4"/>
            <p:cNvSpPr txBox="1">
              <a:spLocks noChangeArrowheads="1"/>
            </p:cNvSpPr>
            <p:nvPr/>
          </p:nvSpPr>
          <p:spPr bwMode="auto">
            <a:xfrm>
              <a:off x="48" y="1476"/>
              <a:ext cx="3792" cy="1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b="1">
                  <a:solidFill>
                    <a:srgbClr val="000000"/>
                  </a:solidFill>
                  <a:latin typeface="Century Schoolbook" pitchFamily="18" charset="0"/>
                </a:rPr>
                <a:t>（</a:t>
              </a:r>
              <a:r>
                <a:rPr lang="en-US" altLang="zh-CN">
                  <a:solidFill>
                    <a:srgbClr val="000000"/>
                  </a:solidFill>
                  <a:latin typeface="Century Schoolbook" pitchFamily="18" charset="0"/>
                </a:rPr>
                <a:t>A</a:t>
              </a:r>
              <a:r>
                <a:rPr lang="zh-CN" altLang="en-US" b="1">
                  <a:solidFill>
                    <a:srgbClr val="000000"/>
                  </a:solidFill>
                  <a:latin typeface="Century Schoolbook" pitchFamily="18" charset="0"/>
                </a:rPr>
                <a:t>）凸起，且高度为 </a:t>
              </a:r>
              <a:r>
                <a:rPr lang="zh-CN" altLang="en-US" i="1">
                  <a:solidFill>
                    <a:srgbClr val="000000"/>
                  </a:solidFill>
                  <a:latin typeface="Century Schoolbook" pitchFamily="18" charset="0"/>
                  <a:sym typeface="Symbol" pitchFamily="18" charset="2"/>
                </a:rPr>
                <a:t></a:t>
              </a:r>
              <a:r>
                <a:rPr lang="zh-CN" altLang="en-US" b="1">
                  <a:solidFill>
                    <a:srgbClr val="000000"/>
                  </a:solidFill>
                  <a:latin typeface="Century Schoolbook" pitchFamily="18" charset="0"/>
                </a:rPr>
                <a:t> </a:t>
              </a:r>
              <a:r>
                <a:rPr lang="en-US" altLang="zh-CN" b="1">
                  <a:solidFill>
                    <a:srgbClr val="000000"/>
                  </a:solidFill>
                  <a:latin typeface="Century Schoolbook" pitchFamily="18" charset="0"/>
                </a:rPr>
                <a:t>/</a:t>
              </a:r>
              <a:r>
                <a:rPr lang="en-US" altLang="zh-CN">
                  <a:solidFill>
                    <a:srgbClr val="000000"/>
                  </a:solidFill>
                  <a:latin typeface="Century Schoolbook" pitchFamily="18" charset="0"/>
                </a:rPr>
                <a:t>4</a:t>
              </a:r>
              <a:r>
                <a:rPr lang="zh-CN" altLang="en-US" b="1">
                  <a:solidFill>
                    <a:srgbClr val="000000"/>
                  </a:solidFill>
                  <a:latin typeface="Century Schoolbook" pitchFamily="18" charset="0"/>
                </a:rPr>
                <a:t>；</a:t>
              </a:r>
            </a:p>
            <a:p>
              <a:pPr eaLnBrk="1" hangingPunct="1"/>
              <a:r>
                <a:rPr lang="zh-CN" altLang="en-US" b="1">
                  <a:solidFill>
                    <a:srgbClr val="000000"/>
                  </a:solidFill>
                  <a:latin typeface="Century Schoolbook" pitchFamily="18" charset="0"/>
                </a:rPr>
                <a:t>（</a:t>
              </a:r>
              <a:r>
                <a:rPr lang="en-US" altLang="zh-CN">
                  <a:solidFill>
                    <a:srgbClr val="000000"/>
                  </a:solidFill>
                  <a:latin typeface="Century Schoolbook" pitchFamily="18" charset="0"/>
                </a:rPr>
                <a:t>B</a:t>
              </a:r>
              <a:r>
                <a:rPr lang="zh-CN" altLang="en-US" b="1">
                  <a:solidFill>
                    <a:srgbClr val="000000"/>
                  </a:solidFill>
                  <a:latin typeface="Century Schoolbook" pitchFamily="18" charset="0"/>
                </a:rPr>
                <a:t>）凸起，且高度为 </a:t>
              </a:r>
              <a:r>
                <a:rPr lang="zh-CN" altLang="en-US" i="1">
                  <a:solidFill>
                    <a:srgbClr val="000000"/>
                  </a:solidFill>
                  <a:latin typeface="Century Schoolbook" pitchFamily="18" charset="0"/>
                  <a:sym typeface="Symbol" pitchFamily="18" charset="2"/>
                </a:rPr>
                <a:t></a:t>
              </a:r>
              <a:r>
                <a:rPr lang="zh-CN" altLang="en-US" b="1">
                  <a:solidFill>
                    <a:srgbClr val="000000"/>
                  </a:solidFill>
                  <a:latin typeface="Century Schoolbook" pitchFamily="18" charset="0"/>
                </a:rPr>
                <a:t> </a:t>
              </a:r>
              <a:r>
                <a:rPr lang="en-US" altLang="zh-CN" b="1">
                  <a:solidFill>
                    <a:srgbClr val="000000"/>
                  </a:solidFill>
                  <a:latin typeface="Century Schoolbook" pitchFamily="18" charset="0"/>
                </a:rPr>
                <a:t>/</a:t>
              </a:r>
              <a:r>
                <a:rPr lang="en-US" altLang="zh-CN">
                  <a:solidFill>
                    <a:srgbClr val="000000"/>
                  </a:solidFill>
                  <a:latin typeface="Century Schoolbook" pitchFamily="18" charset="0"/>
                </a:rPr>
                <a:t>2</a:t>
              </a:r>
              <a:r>
                <a:rPr lang="zh-CN" altLang="en-US" b="1">
                  <a:solidFill>
                    <a:srgbClr val="000000"/>
                  </a:solidFill>
                  <a:latin typeface="Century Schoolbook" pitchFamily="18" charset="0"/>
                </a:rPr>
                <a:t>；</a:t>
              </a:r>
            </a:p>
            <a:p>
              <a:pPr eaLnBrk="1" hangingPunct="1"/>
              <a:r>
                <a:rPr lang="zh-CN" altLang="en-US" b="1">
                  <a:solidFill>
                    <a:srgbClr val="000000"/>
                  </a:solidFill>
                  <a:latin typeface="Century Schoolbook" pitchFamily="18" charset="0"/>
                </a:rPr>
                <a:t>（</a:t>
              </a:r>
              <a:r>
                <a:rPr lang="en-US" altLang="zh-CN">
                  <a:solidFill>
                    <a:srgbClr val="000000"/>
                  </a:solidFill>
                  <a:latin typeface="Century Schoolbook" pitchFamily="18" charset="0"/>
                </a:rPr>
                <a:t>C</a:t>
              </a:r>
              <a:r>
                <a:rPr lang="zh-CN" altLang="en-US" b="1">
                  <a:solidFill>
                    <a:srgbClr val="000000"/>
                  </a:solidFill>
                  <a:latin typeface="Century Schoolbook" pitchFamily="18" charset="0"/>
                </a:rPr>
                <a:t>）凹陷，且深度为 </a:t>
              </a:r>
              <a:r>
                <a:rPr lang="zh-CN" altLang="en-US" i="1">
                  <a:solidFill>
                    <a:srgbClr val="000000"/>
                  </a:solidFill>
                  <a:latin typeface="Century Schoolbook" pitchFamily="18" charset="0"/>
                  <a:sym typeface="Symbol" pitchFamily="18" charset="2"/>
                </a:rPr>
                <a:t></a:t>
              </a:r>
              <a:r>
                <a:rPr lang="zh-CN" altLang="en-US" b="1">
                  <a:solidFill>
                    <a:srgbClr val="000000"/>
                  </a:solidFill>
                  <a:latin typeface="Century Schoolbook" pitchFamily="18" charset="0"/>
                </a:rPr>
                <a:t> </a:t>
              </a:r>
              <a:r>
                <a:rPr lang="en-US" altLang="zh-CN" b="1">
                  <a:solidFill>
                    <a:srgbClr val="000000"/>
                  </a:solidFill>
                  <a:latin typeface="Century Schoolbook" pitchFamily="18" charset="0"/>
                </a:rPr>
                <a:t>/</a:t>
              </a:r>
              <a:r>
                <a:rPr lang="en-US" altLang="zh-CN">
                  <a:solidFill>
                    <a:srgbClr val="000000"/>
                  </a:solidFill>
                  <a:latin typeface="Century Schoolbook" pitchFamily="18" charset="0"/>
                </a:rPr>
                <a:t>2</a:t>
              </a:r>
              <a:r>
                <a:rPr lang="zh-CN" altLang="en-US" b="1">
                  <a:solidFill>
                    <a:srgbClr val="000000"/>
                  </a:solidFill>
                  <a:latin typeface="Century Schoolbook" pitchFamily="18" charset="0"/>
                </a:rPr>
                <a:t>；</a:t>
              </a:r>
            </a:p>
            <a:p>
              <a:pPr eaLnBrk="1" hangingPunct="1"/>
              <a:r>
                <a:rPr lang="zh-CN" altLang="en-US" b="1">
                  <a:solidFill>
                    <a:srgbClr val="000000"/>
                  </a:solidFill>
                  <a:latin typeface="Century Schoolbook" pitchFamily="18" charset="0"/>
                </a:rPr>
                <a:t>（</a:t>
              </a:r>
              <a:r>
                <a:rPr lang="en-US" altLang="zh-CN">
                  <a:solidFill>
                    <a:srgbClr val="000000"/>
                  </a:solidFill>
                  <a:latin typeface="Century Schoolbook" pitchFamily="18" charset="0"/>
                </a:rPr>
                <a:t>D</a:t>
              </a:r>
              <a:r>
                <a:rPr lang="zh-CN" altLang="en-US" b="1">
                  <a:solidFill>
                    <a:srgbClr val="000000"/>
                  </a:solidFill>
                  <a:latin typeface="Century Schoolbook" pitchFamily="18" charset="0"/>
                </a:rPr>
                <a:t>）凹陷，且深度为 </a:t>
              </a:r>
              <a:r>
                <a:rPr lang="zh-CN" altLang="en-US" i="1">
                  <a:solidFill>
                    <a:srgbClr val="000000"/>
                  </a:solidFill>
                  <a:latin typeface="Century Schoolbook" pitchFamily="18" charset="0"/>
                  <a:sym typeface="Symbol" pitchFamily="18" charset="2"/>
                </a:rPr>
                <a:t></a:t>
              </a:r>
              <a:r>
                <a:rPr lang="zh-CN" altLang="en-US" b="1">
                  <a:solidFill>
                    <a:srgbClr val="000000"/>
                  </a:solidFill>
                  <a:latin typeface="Century Schoolbook" pitchFamily="18" charset="0"/>
                </a:rPr>
                <a:t> </a:t>
              </a:r>
              <a:r>
                <a:rPr lang="en-US" altLang="zh-CN" b="1">
                  <a:solidFill>
                    <a:srgbClr val="000000"/>
                  </a:solidFill>
                  <a:latin typeface="Century Schoolbook" pitchFamily="18" charset="0"/>
                </a:rPr>
                <a:t>/</a:t>
              </a:r>
              <a:r>
                <a:rPr lang="en-US" altLang="zh-CN">
                  <a:solidFill>
                    <a:srgbClr val="000000"/>
                  </a:solidFill>
                  <a:latin typeface="Century Schoolbook" pitchFamily="18" charset="0"/>
                </a:rPr>
                <a:t>4</a:t>
              </a:r>
              <a:r>
                <a:rPr lang="zh-CN" altLang="en-US" b="1">
                  <a:solidFill>
                    <a:srgbClr val="000000"/>
                  </a:solidFill>
                  <a:latin typeface="Century Schoolbook" pitchFamily="18" charset="0"/>
                </a:rPr>
                <a:t>。</a:t>
              </a:r>
            </a:p>
          </p:txBody>
        </p:sp>
      </p:grpSp>
      <p:grpSp>
        <p:nvGrpSpPr>
          <p:cNvPr id="68611" name="Group 5"/>
          <p:cNvGrpSpPr>
            <a:grpSpLocks/>
          </p:cNvGrpSpPr>
          <p:nvPr/>
        </p:nvGrpSpPr>
        <p:grpSpPr bwMode="auto">
          <a:xfrm>
            <a:off x="3971925" y="3651250"/>
            <a:ext cx="4843463" cy="2684463"/>
            <a:chOff x="1950" y="2444"/>
            <a:chExt cx="3051" cy="1691"/>
          </a:xfrm>
        </p:grpSpPr>
        <p:grpSp>
          <p:nvGrpSpPr>
            <p:cNvPr id="68613" name="Group 6"/>
            <p:cNvGrpSpPr>
              <a:grpSpLocks/>
            </p:cNvGrpSpPr>
            <p:nvPr/>
          </p:nvGrpSpPr>
          <p:grpSpPr bwMode="auto">
            <a:xfrm>
              <a:off x="1950" y="2444"/>
              <a:ext cx="3051" cy="1691"/>
              <a:chOff x="1008" y="1872"/>
              <a:chExt cx="3456" cy="1960"/>
            </a:xfrm>
          </p:grpSpPr>
          <p:sp>
            <p:nvSpPr>
              <p:cNvPr id="68616" name="Rectangle 7"/>
              <p:cNvSpPr>
                <a:spLocks noChangeArrowheads="1"/>
              </p:cNvSpPr>
              <p:nvPr/>
            </p:nvSpPr>
            <p:spPr bwMode="auto">
              <a:xfrm>
                <a:off x="2016" y="3552"/>
                <a:ext cx="2304" cy="192"/>
              </a:xfrm>
              <a:prstGeom prst="rect">
                <a:avLst/>
              </a:prstGeom>
              <a:solidFill>
                <a:srgbClr val="00FFFF"/>
              </a:solidFill>
              <a:ln w="19050">
                <a:solidFill>
                  <a:schemeClr val="tx1"/>
                </a:solidFill>
                <a:miter lim="800000"/>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400" b="1">
                  <a:solidFill>
                    <a:srgbClr val="000000"/>
                  </a:solidFill>
                </a:endParaRPr>
              </a:p>
            </p:txBody>
          </p:sp>
          <p:sp>
            <p:nvSpPr>
              <p:cNvPr id="68617" name="Rectangle 8"/>
              <p:cNvSpPr>
                <a:spLocks noChangeArrowheads="1"/>
              </p:cNvSpPr>
              <p:nvPr/>
            </p:nvSpPr>
            <p:spPr bwMode="auto">
              <a:xfrm rot="-455751">
                <a:off x="2016" y="3264"/>
                <a:ext cx="2304" cy="144"/>
              </a:xfrm>
              <a:prstGeom prst="rect">
                <a:avLst/>
              </a:prstGeom>
              <a:solidFill>
                <a:srgbClr val="CCFFFF"/>
              </a:solidFill>
              <a:ln w="19050">
                <a:solidFill>
                  <a:schemeClr val="tx1"/>
                </a:solidFill>
                <a:miter lim="800000"/>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400" b="1">
                  <a:solidFill>
                    <a:srgbClr val="000000"/>
                  </a:solidFill>
                </a:endParaRPr>
              </a:p>
            </p:txBody>
          </p:sp>
          <p:sp>
            <p:nvSpPr>
              <p:cNvPr id="68618" name="Oval 9"/>
              <p:cNvSpPr>
                <a:spLocks noChangeArrowheads="1"/>
              </p:cNvSpPr>
              <p:nvPr/>
            </p:nvSpPr>
            <p:spPr bwMode="auto">
              <a:xfrm>
                <a:off x="4176" y="3264"/>
                <a:ext cx="288" cy="288"/>
              </a:xfrm>
              <a:prstGeom prst="ellipse">
                <a:avLst/>
              </a:prstGeom>
              <a:gradFill rotWithShape="0">
                <a:gsLst>
                  <a:gs pos="0">
                    <a:srgbClr val="FFFFFF"/>
                  </a:gs>
                  <a:gs pos="100000">
                    <a:srgbClr val="767676"/>
                  </a:gs>
                </a:gsLst>
                <a:path path="shape">
                  <a:fillToRect l="50000" t="50000" r="50000" b="50000"/>
                </a:path>
              </a:gra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400" b="1">
                  <a:solidFill>
                    <a:srgbClr val="000000"/>
                  </a:solidFill>
                </a:endParaRPr>
              </a:p>
            </p:txBody>
          </p:sp>
          <p:sp>
            <p:nvSpPr>
              <p:cNvPr id="68619" name="Line 10"/>
              <p:cNvSpPr>
                <a:spLocks noChangeShapeType="1"/>
              </p:cNvSpPr>
              <p:nvPr/>
            </p:nvSpPr>
            <p:spPr bwMode="auto">
              <a:xfrm>
                <a:off x="1968" y="3120"/>
                <a:ext cx="1822" cy="287"/>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68620" name="Text Box 11"/>
              <p:cNvSpPr txBox="1">
                <a:spLocks noChangeArrowheads="1"/>
              </p:cNvSpPr>
              <p:nvPr/>
            </p:nvSpPr>
            <p:spPr bwMode="auto">
              <a:xfrm>
                <a:off x="1008" y="2976"/>
                <a:ext cx="912"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endParaRPr lang="zh-CN" altLang="zh-CN" sz="2400" b="1">
                  <a:solidFill>
                    <a:srgbClr val="000000"/>
                  </a:solidFill>
                  <a:latin typeface="Century Schoolbook" pitchFamily="18" charset="0"/>
                </a:endParaRPr>
              </a:p>
            </p:txBody>
          </p:sp>
          <p:sp>
            <p:nvSpPr>
              <p:cNvPr id="68621" name="Text Box 12"/>
              <p:cNvSpPr txBox="1">
                <a:spLocks noChangeArrowheads="1"/>
              </p:cNvSpPr>
              <p:nvPr/>
            </p:nvSpPr>
            <p:spPr bwMode="auto">
              <a:xfrm>
                <a:off x="3072" y="3542"/>
                <a:ext cx="49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r>
                  <a:rPr lang="zh-CN" altLang="en-US" sz="2000" b="1">
                    <a:solidFill>
                      <a:srgbClr val="000000"/>
                    </a:solidFill>
                    <a:latin typeface="Century Schoolbook" pitchFamily="18" charset="0"/>
                  </a:rPr>
                  <a:t>工件</a:t>
                </a:r>
              </a:p>
            </p:txBody>
          </p:sp>
          <p:sp>
            <p:nvSpPr>
              <p:cNvPr id="68622" name="Text Box 13"/>
              <p:cNvSpPr txBox="1">
                <a:spLocks noChangeArrowheads="1"/>
              </p:cNvSpPr>
              <p:nvPr/>
            </p:nvSpPr>
            <p:spPr bwMode="auto">
              <a:xfrm>
                <a:off x="4320" y="2881"/>
                <a:ext cx="129"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endParaRPr lang="zh-CN" altLang="zh-CN" sz="2400" b="1">
                  <a:solidFill>
                    <a:srgbClr val="000000"/>
                  </a:solidFill>
                  <a:latin typeface="Century Schoolbook" pitchFamily="18" charset="0"/>
                </a:endParaRPr>
              </a:p>
            </p:txBody>
          </p:sp>
          <p:grpSp>
            <p:nvGrpSpPr>
              <p:cNvPr id="68623" name="Group 14"/>
              <p:cNvGrpSpPr>
                <a:grpSpLocks/>
              </p:cNvGrpSpPr>
              <p:nvPr/>
            </p:nvGrpSpPr>
            <p:grpSpPr bwMode="auto">
              <a:xfrm>
                <a:off x="2514" y="1872"/>
                <a:ext cx="1296" cy="1296"/>
                <a:chOff x="2514" y="1872"/>
                <a:chExt cx="1296" cy="1296"/>
              </a:xfrm>
            </p:grpSpPr>
            <p:sp>
              <p:nvSpPr>
                <p:cNvPr id="68624" name="Oval 15"/>
                <p:cNvSpPr>
                  <a:spLocks noChangeArrowheads="1"/>
                </p:cNvSpPr>
                <p:nvPr/>
              </p:nvSpPr>
              <p:spPr bwMode="auto">
                <a:xfrm>
                  <a:off x="2514" y="1872"/>
                  <a:ext cx="1296" cy="1296"/>
                </a:xfrm>
                <a:prstGeom prst="ellipse">
                  <a:avLst/>
                </a:prstGeom>
                <a:solidFill>
                  <a:srgbClr val="CCFFCC"/>
                </a:solidFill>
                <a:ln w="19050">
                  <a:solidFill>
                    <a:srgbClr val="0000FF"/>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400" b="1">
                    <a:solidFill>
                      <a:srgbClr val="000000"/>
                    </a:solidFill>
                  </a:endParaRPr>
                </a:p>
              </p:txBody>
            </p:sp>
            <p:grpSp>
              <p:nvGrpSpPr>
                <p:cNvPr id="68625" name="Group 16"/>
                <p:cNvGrpSpPr>
                  <a:grpSpLocks/>
                </p:cNvGrpSpPr>
                <p:nvPr/>
              </p:nvGrpSpPr>
              <p:grpSpPr bwMode="auto">
                <a:xfrm>
                  <a:off x="2907" y="1920"/>
                  <a:ext cx="117" cy="1224"/>
                  <a:chOff x="4128" y="0"/>
                  <a:chExt cx="288" cy="3504"/>
                </a:xfrm>
              </p:grpSpPr>
              <p:sp>
                <p:nvSpPr>
                  <p:cNvPr id="68642" name="Arc 17"/>
                  <p:cNvSpPr>
                    <a:spLocks/>
                  </p:cNvSpPr>
                  <p:nvPr/>
                </p:nvSpPr>
                <p:spPr bwMode="auto">
                  <a:xfrm rot="-10718367">
                    <a:off x="4128" y="1390"/>
                    <a:ext cx="288" cy="745"/>
                  </a:xfrm>
                  <a:custGeom>
                    <a:avLst/>
                    <a:gdLst>
                      <a:gd name="T0" fmla="*/ 0 w 23230"/>
                      <a:gd name="T1" fmla="*/ 1 h 43200"/>
                      <a:gd name="T2" fmla="*/ 8 w 23230"/>
                      <a:gd name="T3" fmla="*/ 745 h 43200"/>
                      <a:gd name="T4" fmla="*/ 20 w 23230"/>
                      <a:gd name="T5" fmla="*/ 373 h 43200"/>
                      <a:gd name="T6" fmla="*/ 0 60000 65536"/>
                      <a:gd name="T7" fmla="*/ 0 60000 65536"/>
                      <a:gd name="T8" fmla="*/ 0 60000 65536"/>
                    </a:gdLst>
                    <a:ahLst/>
                    <a:cxnLst>
                      <a:cxn ang="T6">
                        <a:pos x="T0" y="T1"/>
                      </a:cxn>
                      <a:cxn ang="T7">
                        <a:pos x="T2" y="T3"/>
                      </a:cxn>
                      <a:cxn ang="T8">
                        <a:pos x="T4" y="T5"/>
                      </a:cxn>
                    </a:cxnLst>
                    <a:rect l="0" t="0" r="r" b="b"/>
                    <a:pathLst>
                      <a:path w="23230" h="43200" fill="none" extrusionOk="0">
                        <a:moveTo>
                          <a:pt x="-1" y="61"/>
                        </a:moveTo>
                        <a:cubicBezTo>
                          <a:pt x="542" y="20"/>
                          <a:pt x="1086" y="-1"/>
                          <a:pt x="1630" y="0"/>
                        </a:cubicBezTo>
                        <a:cubicBezTo>
                          <a:pt x="13559" y="0"/>
                          <a:pt x="23230" y="9670"/>
                          <a:pt x="23230" y="21600"/>
                        </a:cubicBezTo>
                        <a:cubicBezTo>
                          <a:pt x="23230" y="33529"/>
                          <a:pt x="13559" y="43200"/>
                          <a:pt x="1630" y="43200"/>
                        </a:cubicBezTo>
                        <a:cubicBezTo>
                          <a:pt x="1293" y="43200"/>
                          <a:pt x="957" y="43192"/>
                          <a:pt x="620" y="43176"/>
                        </a:cubicBezTo>
                      </a:path>
                      <a:path w="23230" h="43200" stroke="0" extrusionOk="0">
                        <a:moveTo>
                          <a:pt x="-1" y="61"/>
                        </a:moveTo>
                        <a:cubicBezTo>
                          <a:pt x="542" y="20"/>
                          <a:pt x="1086" y="-1"/>
                          <a:pt x="1630" y="0"/>
                        </a:cubicBezTo>
                        <a:cubicBezTo>
                          <a:pt x="13559" y="0"/>
                          <a:pt x="23230" y="9670"/>
                          <a:pt x="23230" y="21600"/>
                        </a:cubicBezTo>
                        <a:cubicBezTo>
                          <a:pt x="23230" y="33529"/>
                          <a:pt x="13559" y="43200"/>
                          <a:pt x="1630" y="43200"/>
                        </a:cubicBezTo>
                        <a:cubicBezTo>
                          <a:pt x="1293" y="43200"/>
                          <a:pt x="957" y="43192"/>
                          <a:pt x="620" y="43176"/>
                        </a:cubicBezTo>
                        <a:lnTo>
                          <a:pt x="1630" y="21600"/>
                        </a:lnTo>
                        <a:lnTo>
                          <a:pt x="-1" y="61"/>
                        </a:lnTo>
                        <a:close/>
                      </a:path>
                    </a:pathLst>
                  </a:custGeom>
                  <a:noFill/>
                  <a:ln w="19050">
                    <a:solidFill>
                      <a:srgbClr val="0000FF"/>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43" name="Line 18"/>
                  <p:cNvSpPr>
                    <a:spLocks noChangeShapeType="1"/>
                  </p:cNvSpPr>
                  <p:nvPr/>
                </p:nvSpPr>
                <p:spPr bwMode="auto">
                  <a:xfrm flipV="1">
                    <a:off x="4409" y="0"/>
                    <a:ext cx="0" cy="1390"/>
                  </a:xfrm>
                  <a:prstGeom prst="line">
                    <a:avLst/>
                  </a:prstGeom>
                  <a:noFill/>
                  <a:ln w="190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44" name="Line 19"/>
                  <p:cNvSpPr>
                    <a:spLocks noChangeShapeType="1"/>
                  </p:cNvSpPr>
                  <p:nvPr/>
                </p:nvSpPr>
                <p:spPr bwMode="auto">
                  <a:xfrm>
                    <a:off x="4409" y="2147"/>
                    <a:ext cx="0" cy="1357"/>
                  </a:xfrm>
                  <a:prstGeom prst="line">
                    <a:avLst/>
                  </a:prstGeom>
                  <a:noFill/>
                  <a:ln w="190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8626" name="Group 20"/>
                <p:cNvGrpSpPr>
                  <a:grpSpLocks/>
                </p:cNvGrpSpPr>
                <p:nvPr/>
              </p:nvGrpSpPr>
              <p:grpSpPr bwMode="auto">
                <a:xfrm>
                  <a:off x="3044" y="1910"/>
                  <a:ext cx="117" cy="1224"/>
                  <a:chOff x="4128" y="0"/>
                  <a:chExt cx="288" cy="3504"/>
                </a:xfrm>
              </p:grpSpPr>
              <p:sp>
                <p:nvSpPr>
                  <p:cNvPr id="68639" name="Arc 21"/>
                  <p:cNvSpPr>
                    <a:spLocks/>
                  </p:cNvSpPr>
                  <p:nvPr/>
                </p:nvSpPr>
                <p:spPr bwMode="auto">
                  <a:xfrm rot="-10718367">
                    <a:off x="4128" y="1390"/>
                    <a:ext cx="288" cy="745"/>
                  </a:xfrm>
                  <a:custGeom>
                    <a:avLst/>
                    <a:gdLst>
                      <a:gd name="T0" fmla="*/ 0 w 23230"/>
                      <a:gd name="T1" fmla="*/ 1 h 43200"/>
                      <a:gd name="T2" fmla="*/ 8 w 23230"/>
                      <a:gd name="T3" fmla="*/ 745 h 43200"/>
                      <a:gd name="T4" fmla="*/ 20 w 23230"/>
                      <a:gd name="T5" fmla="*/ 373 h 43200"/>
                      <a:gd name="T6" fmla="*/ 0 60000 65536"/>
                      <a:gd name="T7" fmla="*/ 0 60000 65536"/>
                      <a:gd name="T8" fmla="*/ 0 60000 65536"/>
                    </a:gdLst>
                    <a:ahLst/>
                    <a:cxnLst>
                      <a:cxn ang="T6">
                        <a:pos x="T0" y="T1"/>
                      </a:cxn>
                      <a:cxn ang="T7">
                        <a:pos x="T2" y="T3"/>
                      </a:cxn>
                      <a:cxn ang="T8">
                        <a:pos x="T4" y="T5"/>
                      </a:cxn>
                    </a:cxnLst>
                    <a:rect l="0" t="0" r="r" b="b"/>
                    <a:pathLst>
                      <a:path w="23230" h="43200" fill="none" extrusionOk="0">
                        <a:moveTo>
                          <a:pt x="-1" y="61"/>
                        </a:moveTo>
                        <a:cubicBezTo>
                          <a:pt x="542" y="20"/>
                          <a:pt x="1086" y="-1"/>
                          <a:pt x="1630" y="0"/>
                        </a:cubicBezTo>
                        <a:cubicBezTo>
                          <a:pt x="13559" y="0"/>
                          <a:pt x="23230" y="9670"/>
                          <a:pt x="23230" y="21600"/>
                        </a:cubicBezTo>
                        <a:cubicBezTo>
                          <a:pt x="23230" y="33529"/>
                          <a:pt x="13559" y="43200"/>
                          <a:pt x="1630" y="43200"/>
                        </a:cubicBezTo>
                        <a:cubicBezTo>
                          <a:pt x="1293" y="43200"/>
                          <a:pt x="957" y="43192"/>
                          <a:pt x="620" y="43176"/>
                        </a:cubicBezTo>
                      </a:path>
                      <a:path w="23230" h="43200" stroke="0" extrusionOk="0">
                        <a:moveTo>
                          <a:pt x="-1" y="61"/>
                        </a:moveTo>
                        <a:cubicBezTo>
                          <a:pt x="542" y="20"/>
                          <a:pt x="1086" y="-1"/>
                          <a:pt x="1630" y="0"/>
                        </a:cubicBezTo>
                        <a:cubicBezTo>
                          <a:pt x="13559" y="0"/>
                          <a:pt x="23230" y="9670"/>
                          <a:pt x="23230" y="21600"/>
                        </a:cubicBezTo>
                        <a:cubicBezTo>
                          <a:pt x="23230" y="33529"/>
                          <a:pt x="13559" y="43200"/>
                          <a:pt x="1630" y="43200"/>
                        </a:cubicBezTo>
                        <a:cubicBezTo>
                          <a:pt x="1293" y="43200"/>
                          <a:pt x="957" y="43192"/>
                          <a:pt x="620" y="43176"/>
                        </a:cubicBezTo>
                        <a:lnTo>
                          <a:pt x="1630" y="21600"/>
                        </a:lnTo>
                        <a:lnTo>
                          <a:pt x="-1" y="61"/>
                        </a:lnTo>
                        <a:close/>
                      </a:path>
                    </a:pathLst>
                  </a:custGeom>
                  <a:noFill/>
                  <a:ln w="19050">
                    <a:solidFill>
                      <a:srgbClr val="0000FF"/>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40" name="Line 22"/>
                  <p:cNvSpPr>
                    <a:spLocks noChangeShapeType="1"/>
                  </p:cNvSpPr>
                  <p:nvPr/>
                </p:nvSpPr>
                <p:spPr bwMode="auto">
                  <a:xfrm flipV="1">
                    <a:off x="4409" y="0"/>
                    <a:ext cx="0" cy="1390"/>
                  </a:xfrm>
                  <a:prstGeom prst="line">
                    <a:avLst/>
                  </a:prstGeom>
                  <a:noFill/>
                  <a:ln w="190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41" name="Line 23"/>
                  <p:cNvSpPr>
                    <a:spLocks noChangeShapeType="1"/>
                  </p:cNvSpPr>
                  <p:nvPr/>
                </p:nvSpPr>
                <p:spPr bwMode="auto">
                  <a:xfrm>
                    <a:off x="4409" y="2147"/>
                    <a:ext cx="0" cy="1357"/>
                  </a:xfrm>
                  <a:prstGeom prst="line">
                    <a:avLst/>
                  </a:prstGeom>
                  <a:noFill/>
                  <a:ln w="190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8627" name="Group 24"/>
                <p:cNvGrpSpPr>
                  <a:grpSpLocks/>
                </p:cNvGrpSpPr>
                <p:nvPr/>
              </p:nvGrpSpPr>
              <p:grpSpPr bwMode="auto">
                <a:xfrm>
                  <a:off x="3195" y="1906"/>
                  <a:ext cx="117" cy="1224"/>
                  <a:chOff x="4128" y="0"/>
                  <a:chExt cx="288" cy="3504"/>
                </a:xfrm>
              </p:grpSpPr>
              <p:sp>
                <p:nvSpPr>
                  <p:cNvPr id="68636" name="Arc 25"/>
                  <p:cNvSpPr>
                    <a:spLocks/>
                  </p:cNvSpPr>
                  <p:nvPr/>
                </p:nvSpPr>
                <p:spPr bwMode="auto">
                  <a:xfrm rot="-10718367">
                    <a:off x="4128" y="1390"/>
                    <a:ext cx="288" cy="745"/>
                  </a:xfrm>
                  <a:custGeom>
                    <a:avLst/>
                    <a:gdLst>
                      <a:gd name="T0" fmla="*/ 0 w 23230"/>
                      <a:gd name="T1" fmla="*/ 1 h 43200"/>
                      <a:gd name="T2" fmla="*/ 8 w 23230"/>
                      <a:gd name="T3" fmla="*/ 745 h 43200"/>
                      <a:gd name="T4" fmla="*/ 20 w 23230"/>
                      <a:gd name="T5" fmla="*/ 373 h 43200"/>
                      <a:gd name="T6" fmla="*/ 0 60000 65536"/>
                      <a:gd name="T7" fmla="*/ 0 60000 65536"/>
                      <a:gd name="T8" fmla="*/ 0 60000 65536"/>
                    </a:gdLst>
                    <a:ahLst/>
                    <a:cxnLst>
                      <a:cxn ang="T6">
                        <a:pos x="T0" y="T1"/>
                      </a:cxn>
                      <a:cxn ang="T7">
                        <a:pos x="T2" y="T3"/>
                      </a:cxn>
                      <a:cxn ang="T8">
                        <a:pos x="T4" y="T5"/>
                      </a:cxn>
                    </a:cxnLst>
                    <a:rect l="0" t="0" r="r" b="b"/>
                    <a:pathLst>
                      <a:path w="23230" h="43200" fill="none" extrusionOk="0">
                        <a:moveTo>
                          <a:pt x="-1" y="61"/>
                        </a:moveTo>
                        <a:cubicBezTo>
                          <a:pt x="542" y="20"/>
                          <a:pt x="1086" y="-1"/>
                          <a:pt x="1630" y="0"/>
                        </a:cubicBezTo>
                        <a:cubicBezTo>
                          <a:pt x="13559" y="0"/>
                          <a:pt x="23230" y="9670"/>
                          <a:pt x="23230" y="21600"/>
                        </a:cubicBezTo>
                        <a:cubicBezTo>
                          <a:pt x="23230" y="33529"/>
                          <a:pt x="13559" y="43200"/>
                          <a:pt x="1630" y="43200"/>
                        </a:cubicBezTo>
                        <a:cubicBezTo>
                          <a:pt x="1293" y="43200"/>
                          <a:pt x="957" y="43192"/>
                          <a:pt x="620" y="43176"/>
                        </a:cubicBezTo>
                      </a:path>
                      <a:path w="23230" h="43200" stroke="0" extrusionOk="0">
                        <a:moveTo>
                          <a:pt x="-1" y="61"/>
                        </a:moveTo>
                        <a:cubicBezTo>
                          <a:pt x="542" y="20"/>
                          <a:pt x="1086" y="-1"/>
                          <a:pt x="1630" y="0"/>
                        </a:cubicBezTo>
                        <a:cubicBezTo>
                          <a:pt x="13559" y="0"/>
                          <a:pt x="23230" y="9670"/>
                          <a:pt x="23230" y="21600"/>
                        </a:cubicBezTo>
                        <a:cubicBezTo>
                          <a:pt x="23230" y="33529"/>
                          <a:pt x="13559" y="43200"/>
                          <a:pt x="1630" y="43200"/>
                        </a:cubicBezTo>
                        <a:cubicBezTo>
                          <a:pt x="1293" y="43200"/>
                          <a:pt x="957" y="43192"/>
                          <a:pt x="620" y="43176"/>
                        </a:cubicBezTo>
                        <a:lnTo>
                          <a:pt x="1630" y="21600"/>
                        </a:lnTo>
                        <a:lnTo>
                          <a:pt x="-1" y="61"/>
                        </a:lnTo>
                        <a:close/>
                      </a:path>
                    </a:pathLst>
                  </a:custGeom>
                  <a:noFill/>
                  <a:ln w="19050">
                    <a:solidFill>
                      <a:srgbClr val="0000FF"/>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7" name="Line 26"/>
                  <p:cNvSpPr>
                    <a:spLocks noChangeShapeType="1"/>
                  </p:cNvSpPr>
                  <p:nvPr/>
                </p:nvSpPr>
                <p:spPr bwMode="auto">
                  <a:xfrm flipV="1">
                    <a:off x="4409" y="0"/>
                    <a:ext cx="0" cy="1390"/>
                  </a:xfrm>
                  <a:prstGeom prst="line">
                    <a:avLst/>
                  </a:prstGeom>
                  <a:noFill/>
                  <a:ln w="190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38" name="Line 27"/>
                  <p:cNvSpPr>
                    <a:spLocks noChangeShapeType="1"/>
                  </p:cNvSpPr>
                  <p:nvPr/>
                </p:nvSpPr>
                <p:spPr bwMode="auto">
                  <a:xfrm>
                    <a:off x="4409" y="2147"/>
                    <a:ext cx="0" cy="1357"/>
                  </a:xfrm>
                  <a:prstGeom prst="line">
                    <a:avLst/>
                  </a:prstGeom>
                  <a:noFill/>
                  <a:ln w="190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8628" name="Group 28"/>
                <p:cNvGrpSpPr>
                  <a:grpSpLocks/>
                </p:cNvGrpSpPr>
                <p:nvPr/>
              </p:nvGrpSpPr>
              <p:grpSpPr bwMode="auto">
                <a:xfrm>
                  <a:off x="3332" y="1920"/>
                  <a:ext cx="124" cy="1200"/>
                  <a:chOff x="4128" y="0"/>
                  <a:chExt cx="288" cy="3504"/>
                </a:xfrm>
              </p:grpSpPr>
              <p:sp>
                <p:nvSpPr>
                  <p:cNvPr id="68633" name="Arc 29"/>
                  <p:cNvSpPr>
                    <a:spLocks/>
                  </p:cNvSpPr>
                  <p:nvPr/>
                </p:nvSpPr>
                <p:spPr bwMode="auto">
                  <a:xfrm rot="-10718367">
                    <a:off x="4128" y="1390"/>
                    <a:ext cx="288" cy="745"/>
                  </a:xfrm>
                  <a:custGeom>
                    <a:avLst/>
                    <a:gdLst>
                      <a:gd name="T0" fmla="*/ 0 w 23230"/>
                      <a:gd name="T1" fmla="*/ 1 h 43200"/>
                      <a:gd name="T2" fmla="*/ 8 w 23230"/>
                      <a:gd name="T3" fmla="*/ 745 h 43200"/>
                      <a:gd name="T4" fmla="*/ 20 w 23230"/>
                      <a:gd name="T5" fmla="*/ 373 h 43200"/>
                      <a:gd name="T6" fmla="*/ 0 60000 65536"/>
                      <a:gd name="T7" fmla="*/ 0 60000 65536"/>
                      <a:gd name="T8" fmla="*/ 0 60000 65536"/>
                    </a:gdLst>
                    <a:ahLst/>
                    <a:cxnLst>
                      <a:cxn ang="T6">
                        <a:pos x="T0" y="T1"/>
                      </a:cxn>
                      <a:cxn ang="T7">
                        <a:pos x="T2" y="T3"/>
                      </a:cxn>
                      <a:cxn ang="T8">
                        <a:pos x="T4" y="T5"/>
                      </a:cxn>
                    </a:cxnLst>
                    <a:rect l="0" t="0" r="r" b="b"/>
                    <a:pathLst>
                      <a:path w="23230" h="43200" fill="none" extrusionOk="0">
                        <a:moveTo>
                          <a:pt x="-1" y="61"/>
                        </a:moveTo>
                        <a:cubicBezTo>
                          <a:pt x="542" y="20"/>
                          <a:pt x="1086" y="-1"/>
                          <a:pt x="1630" y="0"/>
                        </a:cubicBezTo>
                        <a:cubicBezTo>
                          <a:pt x="13559" y="0"/>
                          <a:pt x="23230" y="9670"/>
                          <a:pt x="23230" y="21600"/>
                        </a:cubicBezTo>
                        <a:cubicBezTo>
                          <a:pt x="23230" y="33529"/>
                          <a:pt x="13559" y="43200"/>
                          <a:pt x="1630" y="43200"/>
                        </a:cubicBezTo>
                        <a:cubicBezTo>
                          <a:pt x="1293" y="43200"/>
                          <a:pt x="957" y="43192"/>
                          <a:pt x="620" y="43176"/>
                        </a:cubicBezTo>
                      </a:path>
                      <a:path w="23230" h="43200" stroke="0" extrusionOk="0">
                        <a:moveTo>
                          <a:pt x="-1" y="61"/>
                        </a:moveTo>
                        <a:cubicBezTo>
                          <a:pt x="542" y="20"/>
                          <a:pt x="1086" y="-1"/>
                          <a:pt x="1630" y="0"/>
                        </a:cubicBezTo>
                        <a:cubicBezTo>
                          <a:pt x="13559" y="0"/>
                          <a:pt x="23230" y="9670"/>
                          <a:pt x="23230" y="21600"/>
                        </a:cubicBezTo>
                        <a:cubicBezTo>
                          <a:pt x="23230" y="33529"/>
                          <a:pt x="13559" y="43200"/>
                          <a:pt x="1630" y="43200"/>
                        </a:cubicBezTo>
                        <a:cubicBezTo>
                          <a:pt x="1293" y="43200"/>
                          <a:pt x="957" y="43192"/>
                          <a:pt x="620" y="43176"/>
                        </a:cubicBezTo>
                        <a:lnTo>
                          <a:pt x="1630" y="21600"/>
                        </a:lnTo>
                        <a:lnTo>
                          <a:pt x="-1" y="61"/>
                        </a:lnTo>
                        <a:close/>
                      </a:path>
                    </a:pathLst>
                  </a:custGeom>
                  <a:noFill/>
                  <a:ln w="19050">
                    <a:solidFill>
                      <a:srgbClr val="0000FF"/>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4" name="Line 30"/>
                  <p:cNvSpPr>
                    <a:spLocks noChangeShapeType="1"/>
                  </p:cNvSpPr>
                  <p:nvPr/>
                </p:nvSpPr>
                <p:spPr bwMode="auto">
                  <a:xfrm flipV="1">
                    <a:off x="4409" y="0"/>
                    <a:ext cx="0" cy="1390"/>
                  </a:xfrm>
                  <a:prstGeom prst="line">
                    <a:avLst/>
                  </a:prstGeom>
                  <a:noFill/>
                  <a:ln w="190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35" name="Line 31"/>
                  <p:cNvSpPr>
                    <a:spLocks noChangeShapeType="1"/>
                  </p:cNvSpPr>
                  <p:nvPr/>
                </p:nvSpPr>
                <p:spPr bwMode="auto">
                  <a:xfrm>
                    <a:off x="4409" y="2147"/>
                    <a:ext cx="0" cy="1357"/>
                  </a:xfrm>
                  <a:prstGeom prst="line">
                    <a:avLst/>
                  </a:prstGeom>
                  <a:noFill/>
                  <a:ln w="190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8629" name="Group 32"/>
                <p:cNvGrpSpPr>
                  <a:grpSpLocks/>
                </p:cNvGrpSpPr>
                <p:nvPr/>
              </p:nvGrpSpPr>
              <p:grpSpPr bwMode="auto">
                <a:xfrm>
                  <a:off x="2784" y="1968"/>
                  <a:ext cx="96" cy="1152"/>
                  <a:chOff x="4128" y="0"/>
                  <a:chExt cx="288" cy="3504"/>
                </a:xfrm>
              </p:grpSpPr>
              <p:sp>
                <p:nvSpPr>
                  <p:cNvPr id="68630" name="Arc 33"/>
                  <p:cNvSpPr>
                    <a:spLocks/>
                  </p:cNvSpPr>
                  <p:nvPr/>
                </p:nvSpPr>
                <p:spPr bwMode="auto">
                  <a:xfrm rot="-10718367">
                    <a:off x="4128" y="1390"/>
                    <a:ext cx="288" cy="745"/>
                  </a:xfrm>
                  <a:custGeom>
                    <a:avLst/>
                    <a:gdLst>
                      <a:gd name="T0" fmla="*/ 0 w 23230"/>
                      <a:gd name="T1" fmla="*/ 1 h 43200"/>
                      <a:gd name="T2" fmla="*/ 8 w 23230"/>
                      <a:gd name="T3" fmla="*/ 745 h 43200"/>
                      <a:gd name="T4" fmla="*/ 20 w 23230"/>
                      <a:gd name="T5" fmla="*/ 373 h 43200"/>
                      <a:gd name="T6" fmla="*/ 0 60000 65536"/>
                      <a:gd name="T7" fmla="*/ 0 60000 65536"/>
                      <a:gd name="T8" fmla="*/ 0 60000 65536"/>
                    </a:gdLst>
                    <a:ahLst/>
                    <a:cxnLst>
                      <a:cxn ang="T6">
                        <a:pos x="T0" y="T1"/>
                      </a:cxn>
                      <a:cxn ang="T7">
                        <a:pos x="T2" y="T3"/>
                      </a:cxn>
                      <a:cxn ang="T8">
                        <a:pos x="T4" y="T5"/>
                      </a:cxn>
                    </a:cxnLst>
                    <a:rect l="0" t="0" r="r" b="b"/>
                    <a:pathLst>
                      <a:path w="23230" h="43200" fill="none" extrusionOk="0">
                        <a:moveTo>
                          <a:pt x="-1" y="61"/>
                        </a:moveTo>
                        <a:cubicBezTo>
                          <a:pt x="542" y="20"/>
                          <a:pt x="1086" y="-1"/>
                          <a:pt x="1630" y="0"/>
                        </a:cubicBezTo>
                        <a:cubicBezTo>
                          <a:pt x="13559" y="0"/>
                          <a:pt x="23230" y="9670"/>
                          <a:pt x="23230" y="21600"/>
                        </a:cubicBezTo>
                        <a:cubicBezTo>
                          <a:pt x="23230" y="33529"/>
                          <a:pt x="13559" y="43200"/>
                          <a:pt x="1630" y="43200"/>
                        </a:cubicBezTo>
                        <a:cubicBezTo>
                          <a:pt x="1293" y="43200"/>
                          <a:pt x="957" y="43192"/>
                          <a:pt x="620" y="43176"/>
                        </a:cubicBezTo>
                      </a:path>
                      <a:path w="23230" h="43200" stroke="0" extrusionOk="0">
                        <a:moveTo>
                          <a:pt x="-1" y="61"/>
                        </a:moveTo>
                        <a:cubicBezTo>
                          <a:pt x="542" y="20"/>
                          <a:pt x="1086" y="-1"/>
                          <a:pt x="1630" y="0"/>
                        </a:cubicBezTo>
                        <a:cubicBezTo>
                          <a:pt x="13559" y="0"/>
                          <a:pt x="23230" y="9670"/>
                          <a:pt x="23230" y="21600"/>
                        </a:cubicBezTo>
                        <a:cubicBezTo>
                          <a:pt x="23230" y="33529"/>
                          <a:pt x="13559" y="43200"/>
                          <a:pt x="1630" y="43200"/>
                        </a:cubicBezTo>
                        <a:cubicBezTo>
                          <a:pt x="1293" y="43200"/>
                          <a:pt x="957" y="43192"/>
                          <a:pt x="620" y="43176"/>
                        </a:cubicBezTo>
                        <a:lnTo>
                          <a:pt x="1630" y="21600"/>
                        </a:lnTo>
                        <a:lnTo>
                          <a:pt x="-1" y="61"/>
                        </a:lnTo>
                        <a:close/>
                      </a:path>
                    </a:pathLst>
                  </a:custGeom>
                  <a:noFill/>
                  <a:ln w="19050">
                    <a:solidFill>
                      <a:srgbClr val="0000FF"/>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1" name="Line 34"/>
                  <p:cNvSpPr>
                    <a:spLocks noChangeShapeType="1"/>
                  </p:cNvSpPr>
                  <p:nvPr/>
                </p:nvSpPr>
                <p:spPr bwMode="auto">
                  <a:xfrm flipV="1">
                    <a:off x="4409" y="0"/>
                    <a:ext cx="0" cy="1390"/>
                  </a:xfrm>
                  <a:prstGeom prst="line">
                    <a:avLst/>
                  </a:prstGeom>
                  <a:noFill/>
                  <a:ln w="190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32" name="Line 35"/>
                  <p:cNvSpPr>
                    <a:spLocks noChangeShapeType="1"/>
                  </p:cNvSpPr>
                  <p:nvPr/>
                </p:nvSpPr>
                <p:spPr bwMode="auto">
                  <a:xfrm>
                    <a:off x="4409" y="2147"/>
                    <a:ext cx="0" cy="1357"/>
                  </a:xfrm>
                  <a:prstGeom prst="line">
                    <a:avLst/>
                  </a:prstGeom>
                  <a:noFill/>
                  <a:ln w="190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68614" name="Rectangle 36"/>
            <p:cNvSpPr>
              <a:spLocks noChangeArrowheads="1"/>
            </p:cNvSpPr>
            <p:nvPr/>
          </p:nvSpPr>
          <p:spPr bwMode="auto">
            <a:xfrm>
              <a:off x="4427" y="3279"/>
              <a:ext cx="44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000" b="1" dirty="0" smtClean="0">
                  <a:solidFill>
                    <a:srgbClr val="000000"/>
                  </a:solidFill>
                </a:rPr>
                <a:t>平晶</a:t>
              </a:r>
              <a:endParaRPr lang="zh-CN" altLang="en-US" sz="2000" b="1" dirty="0">
                <a:solidFill>
                  <a:srgbClr val="000000"/>
                </a:solidFill>
              </a:endParaRPr>
            </a:p>
          </p:txBody>
        </p:sp>
        <p:sp>
          <p:nvSpPr>
            <p:cNvPr id="68615" name="Rectangle 37"/>
            <p:cNvSpPr>
              <a:spLocks noChangeArrowheads="1"/>
            </p:cNvSpPr>
            <p:nvPr/>
          </p:nvSpPr>
          <p:spPr bwMode="auto">
            <a:xfrm>
              <a:off x="2148" y="3351"/>
              <a:ext cx="7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000" b="1">
                  <a:solidFill>
                    <a:srgbClr val="000000"/>
                  </a:solidFill>
                </a:rPr>
                <a:t>空气劈尖</a:t>
              </a:r>
            </a:p>
          </p:txBody>
        </p:sp>
      </p:grpSp>
      <p:sp>
        <p:nvSpPr>
          <p:cNvPr id="195622" name="Rectangle 38"/>
          <p:cNvSpPr>
            <a:spLocks noChangeArrowheads="1"/>
          </p:cNvSpPr>
          <p:nvPr/>
        </p:nvSpPr>
        <p:spPr bwMode="auto">
          <a:xfrm>
            <a:off x="2114550" y="5487988"/>
            <a:ext cx="1250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FF3300"/>
                </a:solidFill>
                <a:latin typeface="Century Schoolbook" pitchFamily="18" charset="0"/>
                <a:sym typeface="Wingdings" pitchFamily="2" charset="2"/>
              </a:rPr>
              <a:t>[  C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95622"/>
                                        </p:tgtEl>
                                        <p:attrNameLst>
                                          <p:attrName>style.visibility</p:attrName>
                                        </p:attrNameLst>
                                      </p:cBhvr>
                                      <p:to>
                                        <p:strVal val="visible"/>
                                      </p:to>
                                    </p:set>
                                    <p:animEffect transition="in" filter="wipe(left)">
                                      <p:cBhvr>
                                        <p:cTn id="7" dur="75"/>
                                        <p:tgtEl>
                                          <p:spTgt spid="195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22"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634" name="Group 2"/>
          <p:cNvGrpSpPr>
            <a:grpSpLocks/>
          </p:cNvGrpSpPr>
          <p:nvPr/>
        </p:nvGrpSpPr>
        <p:grpSpPr bwMode="auto">
          <a:xfrm>
            <a:off x="228600" y="225425"/>
            <a:ext cx="8686800" cy="5413375"/>
            <a:chOff x="144" y="142"/>
            <a:chExt cx="5472" cy="3410"/>
          </a:xfrm>
        </p:grpSpPr>
        <p:grpSp>
          <p:nvGrpSpPr>
            <p:cNvPr id="69636" name="Group 3"/>
            <p:cNvGrpSpPr>
              <a:grpSpLocks/>
            </p:cNvGrpSpPr>
            <p:nvPr/>
          </p:nvGrpSpPr>
          <p:grpSpPr bwMode="auto">
            <a:xfrm>
              <a:off x="144" y="142"/>
              <a:ext cx="5472" cy="3326"/>
              <a:chOff x="144" y="142"/>
              <a:chExt cx="5472" cy="3326"/>
            </a:xfrm>
          </p:grpSpPr>
          <p:sp>
            <p:nvSpPr>
              <p:cNvPr id="69649" name="Text Box 4"/>
              <p:cNvSpPr txBox="1">
                <a:spLocks noChangeArrowheads="1"/>
              </p:cNvSpPr>
              <p:nvPr/>
            </p:nvSpPr>
            <p:spPr bwMode="auto">
              <a:xfrm>
                <a:off x="192" y="142"/>
                <a:ext cx="5424" cy="1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dirty="0" smtClean="0">
                    <a:solidFill>
                      <a:srgbClr val="000000"/>
                    </a:solidFill>
                    <a:latin typeface="Century Schoolbook" pitchFamily="18" charset="0"/>
                  </a:rPr>
                  <a:t>10</a:t>
                </a:r>
                <a:r>
                  <a:rPr lang="en-US" altLang="zh-CN" b="1" dirty="0" smtClean="0">
                    <a:solidFill>
                      <a:srgbClr val="000000"/>
                    </a:solidFill>
                    <a:latin typeface="Century Schoolbook" pitchFamily="18" charset="0"/>
                  </a:rPr>
                  <a:t>.</a:t>
                </a:r>
                <a:r>
                  <a:rPr lang="zh-CN" altLang="en-US" b="1" dirty="0">
                    <a:solidFill>
                      <a:srgbClr val="000000"/>
                    </a:solidFill>
                    <a:latin typeface="Century Schoolbook" pitchFamily="18" charset="0"/>
                  </a:rPr>
                  <a:t>如图，用单色光垂直照射在观察牛顿环的装置上，设其平凸透镜可以在垂直的方向上移动，在透镜离开平玻璃过程中，可以观察到这些环状干涉条纹。</a:t>
                </a:r>
              </a:p>
            </p:txBody>
          </p:sp>
          <p:sp>
            <p:nvSpPr>
              <p:cNvPr id="69650" name="Text Box 5"/>
              <p:cNvSpPr txBox="1">
                <a:spLocks noChangeArrowheads="1"/>
              </p:cNvSpPr>
              <p:nvPr/>
            </p:nvSpPr>
            <p:spPr bwMode="auto">
              <a:xfrm>
                <a:off x="144" y="1680"/>
                <a:ext cx="2640" cy="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b="1">
                    <a:solidFill>
                      <a:srgbClr val="000000"/>
                    </a:solidFill>
                    <a:latin typeface="Century Schoolbook" pitchFamily="18" charset="0"/>
                  </a:rPr>
                  <a:t>（</a:t>
                </a:r>
                <a:r>
                  <a:rPr lang="en-US" altLang="zh-CN">
                    <a:solidFill>
                      <a:srgbClr val="000000"/>
                    </a:solidFill>
                    <a:latin typeface="Century Schoolbook" pitchFamily="18" charset="0"/>
                  </a:rPr>
                  <a:t>A</a:t>
                </a:r>
                <a:r>
                  <a:rPr lang="zh-CN" altLang="en-US" b="1">
                    <a:solidFill>
                      <a:srgbClr val="000000"/>
                    </a:solidFill>
                    <a:latin typeface="Century Schoolbook" pitchFamily="18" charset="0"/>
                  </a:rPr>
                  <a:t>）向右平移；</a:t>
                </a:r>
              </a:p>
              <a:p>
                <a:pPr eaLnBrk="1" hangingPunct="1"/>
                <a:r>
                  <a:rPr lang="zh-CN" altLang="en-US" b="1">
                    <a:solidFill>
                      <a:srgbClr val="000000"/>
                    </a:solidFill>
                    <a:latin typeface="Century Schoolbook" pitchFamily="18" charset="0"/>
                  </a:rPr>
                  <a:t>（</a:t>
                </a:r>
                <a:r>
                  <a:rPr lang="en-US" altLang="zh-CN">
                    <a:solidFill>
                      <a:srgbClr val="000000"/>
                    </a:solidFill>
                    <a:latin typeface="Century Schoolbook" pitchFamily="18" charset="0"/>
                  </a:rPr>
                  <a:t>B</a:t>
                </a:r>
                <a:r>
                  <a:rPr lang="zh-CN" altLang="en-US" b="1">
                    <a:solidFill>
                      <a:srgbClr val="000000"/>
                    </a:solidFill>
                    <a:latin typeface="Century Schoolbook" pitchFamily="18" charset="0"/>
                  </a:rPr>
                  <a:t>）向中心收缩；</a:t>
                </a:r>
              </a:p>
              <a:p>
                <a:pPr eaLnBrk="1" hangingPunct="1"/>
                <a:r>
                  <a:rPr lang="zh-CN" altLang="en-US" b="1">
                    <a:solidFill>
                      <a:srgbClr val="000000"/>
                    </a:solidFill>
                    <a:latin typeface="Century Schoolbook" pitchFamily="18" charset="0"/>
                  </a:rPr>
                  <a:t>（</a:t>
                </a:r>
                <a:r>
                  <a:rPr lang="en-US" altLang="zh-CN">
                    <a:solidFill>
                      <a:srgbClr val="000000"/>
                    </a:solidFill>
                    <a:latin typeface="Century Schoolbook" pitchFamily="18" charset="0"/>
                  </a:rPr>
                  <a:t>C</a:t>
                </a:r>
                <a:r>
                  <a:rPr lang="zh-CN" altLang="en-US" b="1">
                    <a:solidFill>
                      <a:srgbClr val="000000"/>
                    </a:solidFill>
                    <a:latin typeface="Century Schoolbook" pitchFamily="18" charset="0"/>
                  </a:rPr>
                  <a:t>）向外扩张；</a:t>
                </a:r>
              </a:p>
              <a:p>
                <a:pPr eaLnBrk="1" hangingPunct="1"/>
                <a:r>
                  <a:rPr lang="zh-CN" altLang="en-US" b="1">
                    <a:solidFill>
                      <a:srgbClr val="000000"/>
                    </a:solidFill>
                    <a:latin typeface="Century Schoolbook" pitchFamily="18" charset="0"/>
                  </a:rPr>
                  <a:t>（</a:t>
                </a:r>
                <a:r>
                  <a:rPr lang="en-US" altLang="zh-CN">
                    <a:solidFill>
                      <a:srgbClr val="000000"/>
                    </a:solidFill>
                    <a:latin typeface="Century Schoolbook" pitchFamily="18" charset="0"/>
                  </a:rPr>
                  <a:t>D</a:t>
                </a:r>
                <a:r>
                  <a:rPr lang="zh-CN" altLang="en-US" b="1">
                    <a:solidFill>
                      <a:srgbClr val="000000"/>
                    </a:solidFill>
                    <a:latin typeface="Century Schoolbook" pitchFamily="18" charset="0"/>
                  </a:rPr>
                  <a:t>）静止不动；</a:t>
                </a:r>
              </a:p>
              <a:p>
                <a:pPr eaLnBrk="1" hangingPunct="1"/>
                <a:r>
                  <a:rPr lang="zh-CN" altLang="en-US" b="1">
                    <a:solidFill>
                      <a:srgbClr val="000000"/>
                    </a:solidFill>
                    <a:latin typeface="Century Schoolbook" pitchFamily="18" charset="0"/>
                  </a:rPr>
                  <a:t>（</a:t>
                </a:r>
                <a:r>
                  <a:rPr lang="en-US" altLang="zh-CN">
                    <a:solidFill>
                      <a:srgbClr val="000000"/>
                    </a:solidFill>
                    <a:latin typeface="Century Schoolbook" pitchFamily="18" charset="0"/>
                  </a:rPr>
                  <a:t>E</a:t>
                </a:r>
                <a:r>
                  <a:rPr lang="zh-CN" altLang="en-US" b="1">
                    <a:solidFill>
                      <a:srgbClr val="000000"/>
                    </a:solidFill>
                    <a:latin typeface="Century Schoolbook" pitchFamily="18" charset="0"/>
                  </a:rPr>
                  <a:t>）向左平移。   </a:t>
                </a:r>
              </a:p>
            </p:txBody>
          </p:sp>
        </p:grpSp>
        <p:grpSp>
          <p:nvGrpSpPr>
            <p:cNvPr id="69637" name="Group 6"/>
            <p:cNvGrpSpPr>
              <a:grpSpLocks/>
            </p:cNvGrpSpPr>
            <p:nvPr/>
          </p:nvGrpSpPr>
          <p:grpSpPr bwMode="auto">
            <a:xfrm>
              <a:off x="3024" y="912"/>
              <a:ext cx="2572" cy="2640"/>
              <a:chOff x="3065" y="1296"/>
              <a:chExt cx="2572" cy="2640"/>
            </a:xfrm>
          </p:grpSpPr>
          <p:sp>
            <p:nvSpPr>
              <p:cNvPr id="69638" name="Line 7"/>
              <p:cNvSpPr>
                <a:spLocks noChangeShapeType="1"/>
              </p:cNvSpPr>
              <p:nvPr/>
            </p:nvSpPr>
            <p:spPr bwMode="auto">
              <a:xfrm>
                <a:off x="3400" y="2401"/>
                <a:ext cx="0" cy="528"/>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39" name="Line 8"/>
              <p:cNvSpPr>
                <a:spLocks noChangeShapeType="1"/>
              </p:cNvSpPr>
              <p:nvPr/>
            </p:nvSpPr>
            <p:spPr bwMode="auto">
              <a:xfrm>
                <a:off x="3785" y="2400"/>
                <a:ext cx="0" cy="528"/>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0" name="Line 9"/>
              <p:cNvSpPr>
                <a:spLocks noChangeShapeType="1"/>
              </p:cNvSpPr>
              <p:nvPr/>
            </p:nvSpPr>
            <p:spPr bwMode="auto">
              <a:xfrm>
                <a:off x="4169" y="2400"/>
                <a:ext cx="0" cy="528"/>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1" name="Line 10"/>
              <p:cNvSpPr>
                <a:spLocks noChangeShapeType="1"/>
              </p:cNvSpPr>
              <p:nvPr/>
            </p:nvSpPr>
            <p:spPr bwMode="auto">
              <a:xfrm>
                <a:off x="4505" y="2400"/>
                <a:ext cx="0" cy="528"/>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2" name="Line 11"/>
              <p:cNvSpPr>
                <a:spLocks noChangeShapeType="1"/>
              </p:cNvSpPr>
              <p:nvPr/>
            </p:nvSpPr>
            <p:spPr bwMode="auto">
              <a:xfrm>
                <a:off x="4841" y="2400"/>
                <a:ext cx="0" cy="528"/>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3" name="Text Box 12"/>
              <p:cNvSpPr txBox="1">
                <a:spLocks noChangeArrowheads="1"/>
              </p:cNvSpPr>
              <p:nvPr/>
            </p:nvSpPr>
            <p:spPr bwMode="auto">
              <a:xfrm>
                <a:off x="3792" y="1968"/>
                <a:ext cx="8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lang="zh-CN" altLang="en-US" sz="2400" b="1">
                    <a:solidFill>
                      <a:srgbClr val="000000"/>
                    </a:solidFill>
                    <a:latin typeface="Century Schoolbook" pitchFamily="18" charset="0"/>
                  </a:rPr>
                  <a:t>单色光</a:t>
                </a:r>
              </a:p>
            </p:txBody>
          </p:sp>
          <p:sp>
            <p:nvSpPr>
              <p:cNvPr id="69644" name="Text Box 13"/>
              <p:cNvSpPr txBox="1">
                <a:spLocks noChangeArrowheads="1"/>
              </p:cNvSpPr>
              <p:nvPr/>
            </p:nvSpPr>
            <p:spPr bwMode="auto">
              <a:xfrm>
                <a:off x="4937" y="2688"/>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lang="zh-CN" altLang="en-US" sz="2400" b="1">
                    <a:solidFill>
                      <a:srgbClr val="000000"/>
                    </a:solidFill>
                    <a:latin typeface="Century Schoolbook" pitchFamily="18" charset="0"/>
                  </a:rPr>
                  <a:t>空气</a:t>
                </a:r>
              </a:p>
            </p:txBody>
          </p:sp>
          <p:sp>
            <p:nvSpPr>
              <p:cNvPr id="69645" name="Freeform 14"/>
              <p:cNvSpPr>
                <a:spLocks/>
              </p:cNvSpPr>
              <p:nvPr/>
            </p:nvSpPr>
            <p:spPr bwMode="auto">
              <a:xfrm>
                <a:off x="3072" y="3216"/>
                <a:ext cx="2544" cy="386"/>
              </a:xfrm>
              <a:custGeom>
                <a:avLst/>
                <a:gdLst>
                  <a:gd name="T0" fmla="*/ 0 w 2544"/>
                  <a:gd name="T1" fmla="*/ 0 h 386"/>
                  <a:gd name="T2" fmla="*/ 2544 w 2544"/>
                  <a:gd name="T3" fmla="*/ 0 h 386"/>
                  <a:gd name="T4" fmla="*/ 2438 w 2544"/>
                  <a:gd name="T5" fmla="*/ 60 h 386"/>
                  <a:gd name="T6" fmla="*/ 2379 w 2544"/>
                  <a:gd name="T7" fmla="*/ 97 h 386"/>
                  <a:gd name="T8" fmla="*/ 2298 w 2544"/>
                  <a:gd name="T9" fmla="*/ 141 h 386"/>
                  <a:gd name="T10" fmla="*/ 2194 w 2544"/>
                  <a:gd name="T11" fmla="*/ 193 h 386"/>
                  <a:gd name="T12" fmla="*/ 2105 w 2544"/>
                  <a:gd name="T13" fmla="*/ 238 h 386"/>
                  <a:gd name="T14" fmla="*/ 2001 w 2544"/>
                  <a:gd name="T15" fmla="*/ 253 h 386"/>
                  <a:gd name="T16" fmla="*/ 1898 w 2544"/>
                  <a:gd name="T17" fmla="*/ 297 h 386"/>
                  <a:gd name="T18" fmla="*/ 1772 w 2544"/>
                  <a:gd name="T19" fmla="*/ 319 h 386"/>
                  <a:gd name="T20" fmla="*/ 1616 w 2544"/>
                  <a:gd name="T21" fmla="*/ 364 h 386"/>
                  <a:gd name="T22" fmla="*/ 1475 w 2544"/>
                  <a:gd name="T23" fmla="*/ 364 h 386"/>
                  <a:gd name="T24" fmla="*/ 1298 w 2544"/>
                  <a:gd name="T25" fmla="*/ 386 h 386"/>
                  <a:gd name="T26" fmla="*/ 1105 w 2544"/>
                  <a:gd name="T27" fmla="*/ 386 h 386"/>
                  <a:gd name="T28" fmla="*/ 1009 w 2544"/>
                  <a:gd name="T29" fmla="*/ 364 h 386"/>
                  <a:gd name="T30" fmla="*/ 846 w 2544"/>
                  <a:gd name="T31" fmla="*/ 349 h 386"/>
                  <a:gd name="T32" fmla="*/ 698 w 2544"/>
                  <a:gd name="T33" fmla="*/ 319 h 386"/>
                  <a:gd name="T34" fmla="*/ 601 w 2544"/>
                  <a:gd name="T35" fmla="*/ 282 h 386"/>
                  <a:gd name="T36" fmla="*/ 490 w 2544"/>
                  <a:gd name="T37" fmla="*/ 245 h 386"/>
                  <a:gd name="T38" fmla="*/ 335 w 2544"/>
                  <a:gd name="T39" fmla="*/ 186 h 386"/>
                  <a:gd name="T40" fmla="*/ 202 w 2544"/>
                  <a:gd name="T41" fmla="*/ 112 h 386"/>
                  <a:gd name="T42" fmla="*/ 68 w 2544"/>
                  <a:gd name="T43" fmla="*/ 45 h 386"/>
                  <a:gd name="T44" fmla="*/ 0 w 2544"/>
                  <a:gd name="T45" fmla="*/ 0 h 38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544" h="386">
                    <a:moveTo>
                      <a:pt x="0" y="0"/>
                    </a:moveTo>
                    <a:lnTo>
                      <a:pt x="2544" y="0"/>
                    </a:lnTo>
                    <a:lnTo>
                      <a:pt x="2438" y="60"/>
                    </a:lnTo>
                    <a:lnTo>
                      <a:pt x="2379" y="97"/>
                    </a:lnTo>
                    <a:lnTo>
                      <a:pt x="2298" y="141"/>
                    </a:lnTo>
                    <a:lnTo>
                      <a:pt x="2194" y="193"/>
                    </a:lnTo>
                    <a:cubicBezTo>
                      <a:pt x="2109" y="231"/>
                      <a:pt x="2132" y="207"/>
                      <a:pt x="2105" y="238"/>
                    </a:cubicBezTo>
                    <a:lnTo>
                      <a:pt x="2001" y="253"/>
                    </a:lnTo>
                    <a:lnTo>
                      <a:pt x="1898" y="297"/>
                    </a:lnTo>
                    <a:lnTo>
                      <a:pt x="1772" y="319"/>
                    </a:lnTo>
                    <a:lnTo>
                      <a:pt x="1616" y="364"/>
                    </a:lnTo>
                    <a:lnTo>
                      <a:pt x="1475" y="364"/>
                    </a:lnTo>
                    <a:lnTo>
                      <a:pt x="1298" y="386"/>
                    </a:lnTo>
                    <a:lnTo>
                      <a:pt x="1105" y="386"/>
                    </a:lnTo>
                    <a:lnTo>
                      <a:pt x="1009" y="364"/>
                    </a:lnTo>
                    <a:lnTo>
                      <a:pt x="846" y="349"/>
                    </a:lnTo>
                    <a:lnTo>
                      <a:pt x="698" y="319"/>
                    </a:lnTo>
                    <a:lnTo>
                      <a:pt x="601" y="282"/>
                    </a:lnTo>
                    <a:lnTo>
                      <a:pt x="490" y="245"/>
                    </a:lnTo>
                    <a:lnTo>
                      <a:pt x="335" y="186"/>
                    </a:lnTo>
                    <a:lnTo>
                      <a:pt x="202" y="112"/>
                    </a:lnTo>
                    <a:lnTo>
                      <a:pt x="68" y="45"/>
                    </a:lnTo>
                    <a:lnTo>
                      <a:pt x="0" y="0"/>
                    </a:lnTo>
                    <a:close/>
                  </a:path>
                </a:pathLst>
              </a:custGeom>
              <a:solidFill>
                <a:srgbClr val="CCFFFF"/>
              </a:solidFill>
              <a:ln>
                <a:noFill/>
              </a:ln>
              <a:effectLst/>
              <a:extLst>
                <a:ext uri="{91240B29-F687-4F45-9708-019B960494DF}">
                  <a14:hiddenLine xmlns:a14="http://schemas.microsoft.com/office/drawing/2010/main" w="19050" cap="flat" cmpd="sng">
                    <a:solidFill>
                      <a:schemeClr val="tx1"/>
                    </a:solidFill>
                    <a:prstDash val="solid"/>
                    <a:round/>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6" name="Line 15"/>
              <p:cNvSpPr>
                <a:spLocks noChangeShapeType="1"/>
              </p:cNvSpPr>
              <p:nvPr/>
            </p:nvSpPr>
            <p:spPr bwMode="auto">
              <a:xfrm>
                <a:off x="3065" y="3216"/>
                <a:ext cx="2551" cy="0"/>
              </a:xfrm>
              <a:prstGeom prst="line">
                <a:avLst/>
              </a:prstGeom>
              <a:noFill/>
              <a:ln w="9525">
                <a:solidFill>
                  <a:schemeClr val="tx1"/>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7" name="Arc 16"/>
              <p:cNvSpPr>
                <a:spLocks/>
              </p:cNvSpPr>
              <p:nvPr/>
            </p:nvSpPr>
            <p:spPr bwMode="auto">
              <a:xfrm flipV="1">
                <a:off x="3079" y="1296"/>
                <a:ext cx="2558" cy="2304"/>
              </a:xfrm>
              <a:custGeom>
                <a:avLst/>
                <a:gdLst>
                  <a:gd name="T0" fmla="*/ 0 w 23980"/>
                  <a:gd name="T1" fmla="*/ 386 h 21600"/>
                  <a:gd name="T2" fmla="*/ 2558 w 23980"/>
                  <a:gd name="T3" fmla="*/ 389 h 21600"/>
                  <a:gd name="T4" fmla="*/ 1276 w 23980"/>
                  <a:gd name="T5" fmla="*/ 2304 h 21600"/>
                  <a:gd name="T6" fmla="*/ 0 60000 65536"/>
                  <a:gd name="T7" fmla="*/ 0 60000 65536"/>
                  <a:gd name="T8" fmla="*/ 0 60000 65536"/>
                </a:gdLst>
                <a:ahLst/>
                <a:cxnLst>
                  <a:cxn ang="T6">
                    <a:pos x="T0" y="T1"/>
                  </a:cxn>
                  <a:cxn ang="T7">
                    <a:pos x="T2" y="T3"/>
                  </a:cxn>
                  <a:cxn ang="T8">
                    <a:pos x="T4" y="T5"/>
                  </a:cxn>
                </a:cxnLst>
                <a:rect l="0" t="0" r="r" b="b"/>
                <a:pathLst>
                  <a:path w="23980" h="21600" fill="none" extrusionOk="0">
                    <a:moveTo>
                      <a:pt x="0" y="3616"/>
                    </a:moveTo>
                    <a:cubicBezTo>
                      <a:pt x="3544" y="1258"/>
                      <a:pt x="7706" y="-1"/>
                      <a:pt x="11964" y="0"/>
                    </a:cubicBezTo>
                    <a:cubicBezTo>
                      <a:pt x="16242" y="0"/>
                      <a:pt x="20424" y="1270"/>
                      <a:pt x="23980" y="3650"/>
                    </a:cubicBezTo>
                  </a:path>
                  <a:path w="23980" h="21600" stroke="0" extrusionOk="0">
                    <a:moveTo>
                      <a:pt x="0" y="3616"/>
                    </a:moveTo>
                    <a:cubicBezTo>
                      <a:pt x="3544" y="1258"/>
                      <a:pt x="7706" y="-1"/>
                      <a:pt x="11964" y="0"/>
                    </a:cubicBezTo>
                    <a:cubicBezTo>
                      <a:pt x="16242" y="0"/>
                      <a:pt x="20424" y="1270"/>
                      <a:pt x="23980" y="3650"/>
                    </a:cubicBezTo>
                    <a:lnTo>
                      <a:pt x="11964" y="21600"/>
                    </a:lnTo>
                    <a:lnTo>
                      <a:pt x="0" y="3616"/>
                    </a:lnTo>
                    <a:close/>
                  </a:path>
                </a:pathLst>
              </a:custGeom>
              <a:noFill/>
              <a:ln w="9525">
                <a:solidFill>
                  <a:schemeClr val="tx1"/>
                </a:solidFill>
                <a:round/>
                <a:headEnd type="non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8" name="Rectangle 17"/>
              <p:cNvSpPr>
                <a:spLocks noChangeArrowheads="1"/>
              </p:cNvSpPr>
              <p:nvPr/>
            </p:nvSpPr>
            <p:spPr bwMode="auto">
              <a:xfrm>
                <a:off x="3072" y="3600"/>
                <a:ext cx="2544" cy="336"/>
              </a:xfrm>
              <a:prstGeom prst="rect">
                <a:avLst/>
              </a:prstGeom>
              <a:solidFill>
                <a:srgbClr val="CCFFFF"/>
              </a:solidFill>
              <a:ln w="9525">
                <a:solidFill>
                  <a:schemeClr val="tx1"/>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00"/>
                  </a:solidFill>
                </a:endParaRPr>
              </a:p>
            </p:txBody>
          </p:sp>
        </p:grpSp>
      </p:grpSp>
      <p:sp>
        <p:nvSpPr>
          <p:cNvPr id="201746" name="Rectangle 18"/>
          <p:cNvSpPr>
            <a:spLocks noChangeArrowheads="1"/>
          </p:cNvSpPr>
          <p:nvPr/>
        </p:nvSpPr>
        <p:spPr bwMode="auto">
          <a:xfrm>
            <a:off x="7315200" y="601980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FF3300"/>
                </a:solidFill>
                <a:latin typeface="Century Schoolbook" pitchFamily="18" charset="0"/>
              </a:rPr>
              <a:t>[  B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01746"/>
                                        </p:tgtEl>
                                        <p:attrNameLst>
                                          <p:attrName>style.visibility</p:attrName>
                                        </p:attrNameLst>
                                      </p:cBhvr>
                                      <p:to>
                                        <p:strVal val="visible"/>
                                      </p:to>
                                    </p:set>
                                    <p:animEffect transition="in" filter="wipe(left)">
                                      <p:cBhvr>
                                        <p:cTn id="7" dur="75"/>
                                        <p:tgtEl>
                                          <p:spTgt spid="201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46"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文本框 1"/>
          <p:cNvSpPr txBox="1">
            <a:spLocks noChangeArrowheads="1"/>
          </p:cNvSpPr>
          <p:nvPr/>
        </p:nvSpPr>
        <p:spPr bwMode="auto">
          <a:xfrm>
            <a:off x="179388" y="836613"/>
            <a:ext cx="633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en-US" altLang="zh-CN" sz="2800" b="1" dirty="0" smtClean="0">
                <a:solidFill>
                  <a:srgbClr val="FF3300"/>
                </a:solidFill>
              </a:rPr>
              <a:t>11.</a:t>
            </a:r>
            <a:endParaRPr kumimoji="0" lang="zh-CN" altLang="en-US" sz="2800" b="1" dirty="0">
              <a:solidFill>
                <a:srgbClr val="FF3300"/>
              </a:solidFill>
            </a:endParaRPr>
          </a:p>
        </p:txBody>
      </p:sp>
      <p:pic>
        <p:nvPicPr>
          <p:cNvPr id="70659"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836613"/>
            <a:ext cx="6527800" cy="98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0" name="文本框 4"/>
          <p:cNvSpPr txBox="1">
            <a:spLocks noChangeArrowheads="1"/>
          </p:cNvSpPr>
          <p:nvPr/>
        </p:nvSpPr>
        <p:spPr bwMode="auto">
          <a:xfrm>
            <a:off x="107950" y="2205038"/>
            <a:ext cx="1165225" cy="185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ts val="3500"/>
              </a:lnSpc>
            </a:pPr>
            <a:r>
              <a:rPr kumimoji="0" lang="zh-CN" altLang="en-US" sz="1800">
                <a:solidFill>
                  <a:srgbClr val="000000"/>
                </a:solidFill>
              </a:rPr>
              <a:t>（</a:t>
            </a:r>
            <a:r>
              <a:rPr kumimoji="0" lang="en-US" altLang="zh-CN" sz="1800">
                <a:solidFill>
                  <a:srgbClr val="000000"/>
                </a:solidFill>
              </a:rPr>
              <a:t>A</a:t>
            </a:r>
            <a:r>
              <a:rPr kumimoji="0" lang="zh-CN" altLang="en-US" sz="1800">
                <a:solidFill>
                  <a:srgbClr val="000000"/>
                </a:solidFill>
              </a:rPr>
              <a:t>）</a:t>
            </a:r>
            <a:endParaRPr kumimoji="0" lang="en-US" altLang="zh-CN" sz="1800">
              <a:solidFill>
                <a:srgbClr val="000000"/>
              </a:solidFill>
            </a:endParaRPr>
          </a:p>
          <a:p>
            <a:pPr eaLnBrk="1" hangingPunct="1">
              <a:lnSpc>
                <a:spcPts val="3500"/>
              </a:lnSpc>
            </a:pPr>
            <a:r>
              <a:rPr kumimoji="0" lang="zh-CN" altLang="en-US" sz="1800">
                <a:solidFill>
                  <a:srgbClr val="000000"/>
                </a:solidFill>
              </a:rPr>
              <a:t>（</a:t>
            </a:r>
            <a:r>
              <a:rPr kumimoji="0" lang="en-US" altLang="zh-CN" sz="1800">
                <a:solidFill>
                  <a:srgbClr val="000000"/>
                </a:solidFill>
              </a:rPr>
              <a:t>B</a:t>
            </a:r>
            <a:r>
              <a:rPr kumimoji="0" lang="zh-CN" altLang="en-US" sz="1800">
                <a:solidFill>
                  <a:srgbClr val="000000"/>
                </a:solidFill>
              </a:rPr>
              <a:t>）</a:t>
            </a:r>
            <a:endParaRPr kumimoji="0" lang="en-US" altLang="zh-CN" sz="1800">
              <a:solidFill>
                <a:srgbClr val="000000"/>
              </a:solidFill>
            </a:endParaRPr>
          </a:p>
          <a:p>
            <a:pPr eaLnBrk="1" hangingPunct="1">
              <a:lnSpc>
                <a:spcPts val="3500"/>
              </a:lnSpc>
            </a:pPr>
            <a:r>
              <a:rPr kumimoji="0" lang="zh-CN" altLang="en-US" sz="1800">
                <a:solidFill>
                  <a:srgbClr val="000000"/>
                </a:solidFill>
              </a:rPr>
              <a:t>（</a:t>
            </a:r>
            <a:r>
              <a:rPr kumimoji="0" lang="en-US" altLang="zh-CN" sz="1800">
                <a:solidFill>
                  <a:srgbClr val="000000"/>
                </a:solidFill>
              </a:rPr>
              <a:t>C</a:t>
            </a:r>
            <a:r>
              <a:rPr kumimoji="0" lang="zh-CN" altLang="en-US" sz="1800">
                <a:solidFill>
                  <a:srgbClr val="000000"/>
                </a:solidFill>
              </a:rPr>
              <a:t>）</a:t>
            </a:r>
            <a:endParaRPr kumimoji="0" lang="en-US" altLang="zh-CN" sz="1800">
              <a:solidFill>
                <a:srgbClr val="000000"/>
              </a:solidFill>
            </a:endParaRPr>
          </a:p>
          <a:p>
            <a:pPr eaLnBrk="1" hangingPunct="1">
              <a:lnSpc>
                <a:spcPts val="3500"/>
              </a:lnSpc>
            </a:pPr>
            <a:r>
              <a:rPr kumimoji="0" lang="zh-CN" altLang="en-US" sz="1800">
                <a:solidFill>
                  <a:srgbClr val="000000"/>
                </a:solidFill>
              </a:rPr>
              <a:t>（</a:t>
            </a:r>
            <a:r>
              <a:rPr kumimoji="0" lang="en-US" altLang="zh-CN" sz="1800">
                <a:solidFill>
                  <a:srgbClr val="000000"/>
                </a:solidFill>
              </a:rPr>
              <a:t>D</a:t>
            </a:r>
            <a:r>
              <a:rPr kumimoji="0" lang="zh-CN" altLang="en-US" sz="1800">
                <a:solidFill>
                  <a:srgbClr val="000000"/>
                </a:solidFill>
              </a:rPr>
              <a:t>）</a:t>
            </a:r>
          </a:p>
        </p:txBody>
      </p:sp>
      <p:sp>
        <p:nvSpPr>
          <p:cNvPr id="6" name="文本框 5"/>
          <p:cNvSpPr txBox="1">
            <a:spLocks noChangeArrowheads="1"/>
          </p:cNvSpPr>
          <p:nvPr/>
        </p:nvSpPr>
        <p:spPr bwMode="auto">
          <a:xfrm>
            <a:off x="3635896" y="1412776"/>
            <a:ext cx="11445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zh-CN" altLang="en-US" sz="1800" dirty="0">
                <a:solidFill>
                  <a:srgbClr val="000000"/>
                </a:solidFill>
              </a:rPr>
              <a:t>（</a:t>
            </a:r>
            <a:r>
              <a:rPr kumimoji="0" lang="en-US" altLang="zh-CN" sz="1800" dirty="0">
                <a:solidFill>
                  <a:srgbClr val="000000"/>
                </a:solidFill>
              </a:rPr>
              <a:t>B</a:t>
            </a:r>
            <a:r>
              <a:rPr kumimoji="0" lang="zh-CN" altLang="en-US" sz="1800" dirty="0">
                <a:solidFill>
                  <a:srgbClr val="000000"/>
                </a:solidFill>
              </a:rPr>
              <a:t>）</a:t>
            </a:r>
          </a:p>
        </p:txBody>
      </p:sp>
      <p:grpSp>
        <p:nvGrpSpPr>
          <p:cNvPr id="70662" name="组合 7"/>
          <p:cNvGrpSpPr>
            <a:grpSpLocks/>
          </p:cNvGrpSpPr>
          <p:nvPr/>
        </p:nvGrpSpPr>
        <p:grpSpPr bwMode="auto">
          <a:xfrm>
            <a:off x="971550" y="2205038"/>
            <a:ext cx="5843588" cy="1935162"/>
            <a:chOff x="1187624" y="2429303"/>
            <a:chExt cx="7640398" cy="2415052"/>
          </a:xfrm>
        </p:grpSpPr>
        <p:pic>
          <p:nvPicPr>
            <p:cNvPr id="70664"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2429303"/>
              <a:ext cx="6552728" cy="2415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5" name="图片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44048" y="3084459"/>
              <a:ext cx="1183974" cy="422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Rectangle 50"/>
          <p:cNvSpPr>
            <a:spLocks noChangeArrowheads="1"/>
          </p:cNvSpPr>
          <p:nvPr/>
        </p:nvSpPr>
        <p:spPr bwMode="auto">
          <a:xfrm>
            <a:off x="1930400" y="4487863"/>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kumimoji="0" lang="zh-CN" altLang="en-US" sz="2800" b="1">
                <a:solidFill>
                  <a:srgbClr val="000000"/>
                </a:solidFill>
              </a:rPr>
              <a:t>时间相干性</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矩形 3"/>
          <p:cNvSpPr>
            <a:spLocks noChangeArrowheads="1"/>
          </p:cNvSpPr>
          <p:nvPr/>
        </p:nvSpPr>
        <p:spPr bwMode="auto">
          <a:xfrm>
            <a:off x="468313" y="908050"/>
            <a:ext cx="39227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0" lang="en-US" altLang="zh-CN" sz="2800" dirty="0" smtClean="0">
                <a:solidFill>
                  <a:srgbClr val="FF3300"/>
                </a:solidFill>
              </a:rPr>
              <a:t>12.</a:t>
            </a:r>
            <a:r>
              <a:rPr kumimoji="0" lang="en-US" altLang="zh-CN" sz="1800" dirty="0" smtClean="0">
                <a:solidFill>
                  <a:srgbClr val="000000"/>
                </a:solidFill>
              </a:rPr>
              <a:t> </a:t>
            </a:r>
            <a:r>
              <a:rPr kumimoji="0" lang="zh-CN" altLang="en-US" sz="1800" dirty="0">
                <a:solidFill>
                  <a:srgbClr val="000000"/>
                </a:solidFill>
              </a:rPr>
              <a:t>光源的空间相干性取决于光源的</a:t>
            </a:r>
          </a:p>
        </p:txBody>
      </p:sp>
      <p:sp>
        <p:nvSpPr>
          <p:cNvPr id="71683" name="文本框 4"/>
          <p:cNvSpPr txBox="1">
            <a:spLocks noChangeArrowheads="1"/>
          </p:cNvSpPr>
          <p:nvPr/>
        </p:nvSpPr>
        <p:spPr bwMode="auto">
          <a:xfrm>
            <a:off x="644029" y="2060575"/>
            <a:ext cx="3063875"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ts val="5000"/>
              </a:lnSpc>
            </a:pPr>
            <a:r>
              <a:rPr kumimoji="0" lang="zh-CN" altLang="en-US" sz="1800" dirty="0">
                <a:solidFill>
                  <a:srgbClr val="000000"/>
                </a:solidFill>
              </a:rPr>
              <a:t>（</a:t>
            </a:r>
            <a:r>
              <a:rPr kumimoji="0" lang="en-US" altLang="zh-CN" sz="1800" dirty="0">
                <a:solidFill>
                  <a:srgbClr val="000000"/>
                </a:solidFill>
              </a:rPr>
              <a:t>A</a:t>
            </a:r>
            <a:r>
              <a:rPr kumimoji="0" lang="zh-CN" altLang="en-US" sz="1800" dirty="0">
                <a:solidFill>
                  <a:srgbClr val="000000"/>
                </a:solidFill>
              </a:rPr>
              <a:t>）线度</a:t>
            </a:r>
            <a:endParaRPr kumimoji="0" lang="en-US" altLang="zh-CN" sz="1800" dirty="0">
              <a:solidFill>
                <a:srgbClr val="000000"/>
              </a:solidFill>
            </a:endParaRPr>
          </a:p>
          <a:p>
            <a:pPr eaLnBrk="1" hangingPunct="1">
              <a:lnSpc>
                <a:spcPts val="5000"/>
              </a:lnSpc>
            </a:pPr>
            <a:r>
              <a:rPr kumimoji="0" lang="zh-CN" altLang="en-US" sz="1800" dirty="0">
                <a:solidFill>
                  <a:srgbClr val="000000"/>
                </a:solidFill>
              </a:rPr>
              <a:t>（</a:t>
            </a:r>
            <a:r>
              <a:rPr kumimoji="0" lang="en-US" altLang="zh-CN" sz="1800" dirty="0">
                <a:solidFill>
                  <a:srgbClr val="000000"/>
                </a:solidFill>
              </a:rPr>
              <a:t>B</a:t>
            </a:r>
            <a:r>
              <a:rPr kumimoji="0" lang="zh-CN" altLang="en-US" sz="1800" dirty="0">
                <a:solidFill>
                  <a:srgbClr val="000000"/>
                </a:solidFill>
              </a:rPr>
              <a:t>）强度</a:t>
            </a:r>
            <a:endParaRPr kumimoji="0" lang="en-US" altLang="zh-CN" sz="1800" dirty="0">
              <a:solidFill>
                <a:srgbClr val="000000"/>
              </a:solidFill>
            </a:endParaRPr>
          </a:p>
          <a:p>
            <a:pPr eaLnBrk="1" hangingPunct="1">
              <a:lnSpc>
                <a:spcPts val="5000"/>
              </a:lnSpc>
            </a:pPr>
            <a:r>
              <a:rPr kumimoji="0" lang="zh-CN" altLang="en-US" sz="1800" dirty="0">
                <a:solidFill>
                  <a:srgbClr val="000000"/>
                </a:solidFill>
              </a:rPr>
              <a:t>（</a:t>
            </a:r>
            <a:r>
              <a:rPr kumimoji="0" lang="en-US" altLang="zh-CN" sz="1800" dirty="0">
                <a:solidFill>
                  <a:srgbClr val="000000"/>
                </a:solidFill>
              </a:rPr>
              <a:t>C</a:t>
            </a:r>
            <a:r>
              <a:rPr kumimoji="0" lang="zh-CN" altLang="en-US" sz="1800" dirty="0">
                <a:solidFill>
                  <a:srgbClr val="000000"/>
                </a:solidFill>
              </a:rPr>
              <a:t>）单色性</a:t>
            </a:r>
            <a:endParaRPr kumimoji="0" lang="en-US" altLang="zh-CN" sz="1800" dirty="0">
              <a:solidFill>
                <a:srgbClr val="000000"/>
              </a:solidFill>
            </a:endParaRPr>
          </a:p>
          <a:p>
            <a:pPr eaLnBrk="1" hangingPunct="1">
              <a:lnSpc>
                <a:spcPts val="5000"/>
              </a:lnSpc>
            </a:pPr>
            <a:r>
              <a:rPr kumimoji="0" lang="zh-CN" altLang="en-US" sz="1800" dirty="0">
                <a:solidFill>
                  <a:srgbClr val="000000"/>
                </a:solidFill>
              </a:rPr>
              <a:t>（</a:t>
            </a:r>
            <a:r>
              <a:rPr kumimoji="0" lang="en-US" altLang="zh-CN" sz="1800" dirty="0">
                <a:solidFill>
                  <a:srgbClr val="000000"/>
                </a:solidFill>
              </a:rPr>
              <a:t>D</a:t>
            </a:r>
            <a:r>
              <a:rPr kumimoji="0" lang="zh-CN" altLang="en-US" sz="1800" dirty="0">
                <a:solidFill>
                  <a:srgbClr val="000000"/>
                </a:solidFill>
              </a:rPr>
              <a:t>）光谱宽度</a:t>
            </a:r>
          </a:p>
        </p:txBody>
      </p:sp>
      <p:sp>
        <p:nvSpPr>
          <p:cNvPr id="6" name="文本框 5"/>
          <p:cNvSpPr txBox="1">
            <a:spLocks noChangeArrowheads="1"/>
          </p:cNvSpPr>
          <p:nvPr/>
        </p:nvSpPr>
        <p:spPr bwMode="auto">
          <a:xfrm>
            <a:off x="4499992" y="1032917"/>
            <a:ext cx="1165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zh-CN" altLang="en-US" sz="1800">
                <a:solidFill>
                  <a:srgbClr val="000000"/>
                </a:solidFill>
              </a:rPr>
              <a:t>（</a:t>
            </a:r>
            <a:r>
              <a:rPr kumimoji="0" lang="en-US" altLang="zh-CN" sz="1800">
                <a:solidFill>
                  <a:srgbClr val="000000"/>
                </a:solidFill>
              </a:rPr>
              <a:t>A</a:t>
            </a:r>
            <a:r>
              <a:rPr kumimoji="0" lang="zh-CN" altLang="en-US" sz="1800">
                <a:solidFill>
                  <a:srgbClr val="000000"/>
                </a:solidFill>
              </a:rPr>
              <a:t>）</a:t>
            </a:r>
          </a:p>
        </p:txBody>
      </p:sp>
      <p:sp>
        <p:nvSpPr>
          <p:cNvPr id="2" name="矩形 1"/>
          <p:cNvSpPr>
            <a:spLocks noChangeArrowheads="1"/>
          </p:cNvSpPr>
          <p:nvPr/>
        </p:nvSpPr>
        <p:spPr bwMode="auto">
          <a:xfrm>
            <a:off x="4132263" y="4268788"/>
            <a:ext cx="45720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solidFill>
                  <a:srgbClr val="000000"/>
                </a:solidFill>
              </a:rPr>
              <a:t>只有光源</a:t>
            </a:r>
            <a:r>
              <a:rPr lang="en-US" altLang="zh-CN" sz="1800">
                <a:solidFill>
                  <a:srgbClr val="000000"/>
                </a:solidFill>
              </a:rPr>
              <a:t>S</a:t>
            </a:r>
            <a:r>
              <a:rPr lang="zh-CN" altLang="en-US" sz="1800">
                <a:solidFill>
                  <a:srgbClr val="000000"/>
                </a:solidFill>
              </a:rPr>
              <a:t>的线度较小的光才是相干的</a:t>
            </a:r>
            <a:r>
              <a:rPr lang="en-US" altLang="zh-CN" sz="1800">
                <a:solidFill>
                  <a:srgbClr val="000000"/>
                </a:solidFill>
              </a:rPr>
              <a:t>.</a:t>
            </a:r>
            <a:r>
              <a:rPr lang="en-US" altLang="zh-CN" sz="1800">
                <a:solidFill>
                  <a:srgbClr val="006699"/>
                </a:solidFill>
              </a:rPr>
              <a:t> </a:t>
            </a:r>
            <a:r>
              <a:rPr lang="zh-CN" altLang="en-US" sz="1800">
                <a:solidFill>
                  <a:srgbClr val="000000"/>
                </a:solidFill>
              </a:rPr>
              <a:t>这一特性称为光场的</a:t>
            </a:r>
            <a:r>
              <a:rPr lang="zh-CN" altLang="en-US" sz="1800">
                <a:solidFill>
                  <a:srgbClr val="C00000"/>
                </a:solidFill>
              </a:rPr>
              <a:t>空间相干性 </a:t>
            </a:r>
            <a:r>
              <a:rPr lang="en-US" altLang="zh-CN" sz="1800">
                <a:solidFill>
                  <a:srgbClr val="006699"/>
                </a:solidFill>
              </a:rPr>
              <a:t>.</a:t>
            </a:r>
            <a:endParaRPr lang="zh-CN" altLang="en-US" sz="1800">
              <a:solidFill>
                <a:srgbClr val="006699"/>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文本框 2"/>
          <p:cNvSpPr txBox="1">
            <a:spLocks noChangeArrowheads="1"/>
          </p:cNvSpPr>
          <p:nvPr>
            <p:custDataLst>
              <p:tags r:id="rId1"/>
            </p:custDataLst>
          </p:nvPr>
        </p:nvSpPr>
        <p:spPr bwMode="auto">
          <a:xfrm>
            <a:off x="520700" y="574675"/>
            <a:ext cx="8158163"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ts val="4500"/>
              </a:lnSpc>
            </a:pPr>
            <a:r>
              <a:rPr kumimoji="0" lang="en-US" altLang="zh-CN" sz="2600" dirty="0" smtClean="0">
                <a:solidFill>
                  <a:srgbClr val="000000"/>
                </a:solidFill>
                <a:ea typeface="Microsoft Yahei" pitchFamily="34" charset="-122"/>
                <a:cs typeface="Times New Roman" pitchFamily="18" charset="0"/>
                <a:sym typeface="Microsoft Yahei" pitchFamily="34" charset="-122"/>
              </a:rPr>
              <a:t>13. </a:t>
            </a:r>
            <a:r>
              <a:rPr kumimoji="0" lang="zh-CN" altLang="en-US" sz="2600" dirty="0">
                <a:solidFill>
                  <a:srgbClr val="000000"/>
                </a:solidFill>
                <a:ea typeface="Microsoft Yahei" pitchFamily="34" charset="-122"/>
                <a:cs typeface="Times New Roman" pitchFamily="18" charset="0"/>
                <a:sym typeface="Microsoft Yahei" pitchFamily="34" charset="-122"/>
              </a:rPr>
              <a:t>光强分别为 </a:t>
            </a:r>
            <a:r>
              <a:rPr kumimoji="0" lang="en-US" altLang="zh-CN" sz="2600" i="1" dirty="0">
                <a:solidFill>
                  <a:srgbClr val="000000"/>
                </a:solidFill>
                <a:ea typeface="Microsoft Yahei" pitchFamily="34" charset="-122"/>
                <a:cs typeface="Times New Roman" pitchFamily="18" charset="0"/>
                <a:sym typeface="Microsoft Yahei" pitchFamily="34" charset="-122"/>
              </a:rPr>
              <a:t>I</a:t>
            </a:r>
            <a:r>
              <a:rPr kumimoji="0" lang="en-US" altLang="zh-CN" sz="2600" baseline="-25000" dirty="0">
                <a:solidFill>
                  <a:srgbClr val="000000"/>
                </a:solidFill>
                <a:ea typeface="Microsoft Yahei" pitchFamily="34" charset="-122"/>
                <a:cs typeface="Times New Roman" pitchFamily="18" charset="0"/>
                <a:sym typeface="Microsoft Yahei" pitchFamily="34" charset="-122"/>
              </a:rPr>
              <a:t>0 </a:t>
            </a:r>
            <a:r>
              <a:rPr kumimoji="0" lang="zh-CN" altLang="en-US" sz="2600" dirty="0">
                <a:solidFill>
                  <a:srgbClr val="000000"/>
                </a:solidFill>
                <a:ea typeface="Microsoft Yahei" pitchFamily="34" charset="-122"/>
                <a:cs typeface="Times New Roman" pitchFamily="18" charset="0"/>
                <a:sym typeface="Microsoft Yahei" pitchFamily="34" charset="-122"/>
              </a:rPr>
              <a:t>和</a:t>
            </a:r>
            <a:r>
              <a:rPr kumimoji="0" lang="en-US" altLang="zh-CN" sz="2600" dirty="0">
                <a:solidFill>
                  <a:srgbClr val="000000"/>
                </a:solidFill>
                <a:ea typeface="Microsoft Yahei" pitchFamily="34" charset="-122"/>
                <a:cs typeface="Times New Roman" pitchFamily="18" charset="0"/>
                <a:sym typeface="Microsoft Yahei" pitchFamily="34" charset="-122"/>
              </a:rPr>
              <a:t>9</a:t>
            </a:r>
            <a:r>
              <a:rPr kumimoji="0" lang="en-US" altLang="zh-CN" sz="2600" i="1" dirty="0">
                <a:solidFill>
                  <a:srgbClr val="000000"/>
                </a:solidFill>
                <a:ea typeface="Microsoft Yahei" pitchFamily="34" charset="-122"/>
                <a:cs typeface="Times New Roman" pitchFamily="18" charset="0"/>
                <a:sym typeface="Microsoft Yahei" pitchFamily="34" charset="-122"/>
              </a:rPr>
              <a:t>I</a:t>
            </a:r>
            <a:r>
              <a:rPr kumimoji="0" lang="en-US" altLang="zh-CN" sz="2600" baseline="-25000" dirty="0">
                <a:solidFill>
                  <a:srgbClr val="000000"/>
                </a:solidFill>
                <a:ea typeface="Microsoft Yahei" pitchFamily="34" charset="-122"/>
                <a:cs typeface="Times New Roman" pitchFamily="18" charset="0"/>
                <a:sym typeface="Microsoft Yahei" pitchFamily="34" charset="-122"/>
              </a:rPr>
              <a:t>0 </a:t>
            </a:r>
            <a:r>
              <a:rPr kumimoji="0" lang="zh-CN" altLang="en-US" sz="2600" dirty="0">
                <a:solidFill>
                  <a:srgbClr val="000000"/>
                </a:solidFill>
                <a:ea typeface="Microsoft Yahei" pitchFamily="34" charset="-122"/>
                <a:cs typeface="Times New Roman" pitchFamily="18" charset="0"/>
                <a:sym typeface="Microsoft Yahei" pitchFamily="34" charset="-122"/>
              </a:rPr>
              <a:t>的两束相干光相遇而发生干涉时，在相遇区域内有可能出现的最大光强 </a:t>
            </a:r>
            <a:r>
              <a:rPr kumimoji="0" lang="en-US" altLang="zh-CN" sz="2600" i="1" dirty="0">
                <a:solidFill>
                  <a:srgbClr val="000000"/>
                </a:solidFill>
                <a:ea typeface="Microsoft Yahei" pitchFamily="34" charset="-122"/>
                <a:cs typeface="Times New Roman" pitchFamily="18" charset="0"/>
                <a:sym typeface="Microsoft Yahei" pitchFamily="34" charset="-122"/>
              </a:rPr>
              <a:t>I</a:t>
            </a:r>
            <a:r>
              <a:rPr kumimoji="0" lang="en-US" altLang="zh-CN" sz="2600" baseline="-25000" dirty="0">
                <a:solidFill>
                  <a:srgbClr val="000000"/>
                </a:solidFill>
                <a:ea typeface="Microsoft Yahei" pitchFamily="34" charset="-122"/>
                <a:cs typeface="Times New Roman" pitchFamily="18" charset="0"/>
                <a:sym typeface="Microsoft Yahei" pitchFamily="34" charset="-122"/>
              </a:rPr>
              <a:t>max </a:t>
            </a:r>
            <a:r>
              <a:rPr kumimoji="0" lang="zh-CN" altLang="en-US" sz="2600" dirty="0">
                <a:solidFill>
                  <a:srgbClr val="000000"/>
                </a:solidFill>
                <a:ea typeface="Microsoft Yahei" pitchFamily="34" charset="-122"/>
                <a:cs typeface="Times New Roman" pitchFamily="18" charset="0"/>
                <a:sym typeface="Microsoft Yahei" pitchFamily="34" charset="-122"/>
              </a:rPr>
              <a:t>和最小光强</a:t>
            </a:r>
            <a:r>
              <a:rPr kumimoji="0" lang="en-US" altLang="zh-CN" sz="2600" i="1" dirty="0" err="1">
                <a:solidFill>
                  <a:srgbClr val="000000"/>
                </a:solidFill>
                <a:ea typeface="Microsoft Yahei" pitchFamily="34" charset="-122"/>
                <a:cs typeface="Times New Roman" pitchFamily="18" charset="0"/>
                <a:sym typeface="Microsoft Yahei" pitchFamily="34" charset="-122"/>
              </a:rPr>
              <a:t>I</a:t>
            </a:r>
            <a:r>
              <a:rPr kumimoji="0" lang="en-US" altLang="zh-CN" sz="2600" baseline="-25000" dirty="0" err="1">
                <a:solidFill>
                  <a:srgbClr val="000000"/>
                </a:solidFill>
                <a:ea typeface="Microsoft Yahei" pitchFamily="34" charset="-122"/>
                <a:cs typeface="Times New Roman" pitchFamily="18" charset="0"/>
                <a:sym typeface="Microsoft Yahei" pitchFamily="34" charset="-122"/>
              </a:rPr>
              <a:t>min</a:t>
            </a:r>
            <a:r>
              <a:rPr kumimoji="0" lang="en-US" altLang="zh-CN" sz="2600" baseline="-25000" dirty="0">
                <a:solidFill>
                  <a:srgbClr val="000000"/>
                </a:solidFill>
                <a:ea typeface="Microsoft Yahei" pitchFamily="34" charset="-122"/>
                <a:cs typeface="Times New Roman" pitchFamily="18" charset="0"/>
                <a:sym typeface="Microsoft Yahei" pitchFamily="34" charset="-122"/>
              </a:rPr>
              <a:t> </a:t>
            </a:r>
            <a:r>
              <a:rPr kumimoji="0" lang="zh-CN" altLang="en-US" sz="2600" dirty="0">
                <a:solidFill>
                  <a:srgbClr val="000000"/>
                </a:solidFill>
                <a:ea typeface="Microsoft Yahei" pitchFamily="34" charset="-122"/>
                <a:cs typeface="Times New Roman" pitchFamily="18" charset="0"/>
                <a:sym typeface="Microsoft Yahei" pitchFamily="34" charset="-122"/>
              </a:rPr>
              <a:t>分别为 （      ）</a:t>
            </a:r>
          </a:p>
        </p:txBody>
      </p:sp>
      <p:sp>
        <p:nvSpPr>
          <p:cNvPr id="3" name="矩形 2"/>
          <p:cNvSpPr/>
          <p:nvPr/>
        </p:nvSpPr>
        <p:spPr>
          <a:xfrm>
            <a:off x="1757363" y="2708275"/>
            <a:ext cx="4165600" cy="585788"/>
          </a:xfrm>
          <a:prstGeom prst="rect">
            <a:avLst/>
          </a:prstGeom>
        </p:spPr>
        <p:txBody>
          <a:bodyPr wrap="none">
            <a:spAutoFit/>
          </a:bodyPr>
          <a:lstStyle/>
          <a:p>
            <a:pPr fontAlgn="auto">
              <a:spcBef>
                <a:spcPts val="0"/>
              </a:spcBef>
              <a:spcAft>
                <a:spcPts val="0"/>
              </a:spcAft>
              <a:defRPr/>
            </a:pP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max </a:t>
            </a:r>
            <a:r>
              <a:rPr kumimoji="0" lang="en-US" altLang="zh-CN" sz="1800"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 10</a:t>
            </a: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0 </a:t>
            </a:r>
            <a:r>
              <a:rPr kumimoji="0" lang="zh-CN" altLang="en-US" sz="1800"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a:t>
            </a: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 </a:t>
            </a:r>
            <a:r>
              <a:rPr kumimoji="0" lang="en-US" altLang="zh-CN" sz="1800" i="1" kern="0" dirty="0" err="1">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err="1">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min</a:t>
            </a:r>
            <a:r>
              <a:rPr kumimoji="0" lang="en-US" altLang="zh-CN" sz="1800"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 = 8</a:t>
            </a: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0 </a:t>
            </a:r>
            <a:endParaRPr kumimoji="0" lang="zh-CN" altLang="en-US" sz="1800" kern="0" dirty="0">
              <a:solidFill>
                <a:sysClr val="windowText" lastClr="000000"/>
              </a:solidFill>
              <a:latin typeface="Times New Roman"/>
              <a:ea typeface="宋体"/>
            </a:endParaRPr>
          </a:p>
        </p:txBody>
      </p:sp>
      <p:sp>
        <p:nvSpPr>
          <p:cNvPr id="4" name="矩形 3"/>
          <p:cNvSpPr/>
          <p:nvPr/>
        </p:nvSpPr>
        <p:spPr>
          <a:xfrm>
            <a:off x="1724025" y="4437063"/>
            <a:ext cx="4062413" cy="584200"/>
          </a:xfrm>
          <a:prstGeom prst="rect">
            <a:avLst/>
          </a:prstGeom>
        </p:spPr>
        <p:txBody>
          <a:bodyPr wrap="none">
            <a:spAutoFit/>
          </a:bodyPr>
          <a:lstStyle/>
          <a:p>
            <a:pPr fontAlgn="auto">
              <a:spcBef>
                <a:spcPts val="0"/>
              </a:spcBef>
              <a:spcAft>
                <a:spcPts val="0"/>
              </a:spcAft>
              <a:defRPr/>
            </a:pP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max </a:t>
            </a:r>
            <a:r>
              <a:rPr kumimoji="0" lang="en-US" altLang="zh-CN" sz="1800"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=16</a:t>
            </a: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0 </a:t>
            </a:r>
            <a:r>
              <a:rPr kumimoji="0" lang="zh-CN" altLang="en-US" sz="1800"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a:t>
            </a: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 </a:t>
            </a:r>
            <a:r>
              <a:rPr kumimoji="0" lang="en-US" altLang="zh-CN" sz="1800" i="1" kern="0" dirty="0" err="1">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err="1">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min</a:t>
            </a:r>
            <a:r>
              <a:rPr kumimoji="0" lang="en-US" altLang="zh-CN" sz="1800"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 = 4</a:t>
            </a: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0 </a:t>
            </a:r>
            <a:endParaRPr kumimoji="0" lang="zh-CN" altLang="en-US" sz="1800" kern="0" dirty="0">
              <a:solidFill>
                <a:sysClr val="windowText" lastClr="000000"/>
              </a:solidFill>
              <a:latin typeface="Times New Roman"/>
              <a:ea typeface="宋体"/>
            </a:endParaRPr>
          </a:p>
        </p:txBody>
      </p:sp>
      <p:sp>
        <p:nvSpPr>
          <p:cNvPr id="5" name="矩形 4"/>
          <p:cNvSpPr/>
          <p:nvPr/>
        </p:nvSpPr>
        <p:spPr>
          <a:xfrm>
            <a:off x="1803400" y="3556000"/>
            <a:ext cx="3857625" cy="585788"/>
          </a:xfrm>
          <a:prstGeom prst="rect">
            <a:avLst/>
          </a:prstGeom>
        </p:spPr>
        <p:txBody>
          <a:bodyPr wrap="none">
            <a:spAutoFit/>
          </a:bodyPr>
          <a:lstStyle/>
          <a:p>
            <a:pPr fontAlgn="auto">
              <a:spcBef>
                <a:spcPts val="0"/>
              </a:spcBef>
              <a:spcAft>
                <a:spcPts val="0"/>
              </a:spcAft>
              <a:defRPr/>
            </a:pP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max </a:t>
            </a:r>
            <a:r>
              <a:rPr kumimoji="0" lang="en-US" altLang="zh-CN" sz="1800"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=4</a:t>
            </a: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0 </a:t>
            </a:r>
            <a:r>
              <a:rPr kumimoji="0" lang="zh-CN" altLang="en-US" sz="1800"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a:t>
            </a: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 </a:t>
            </a:r>
            <a:r>
              <a:rPr kumimoji="0" lang="en-US" altLang="zh-CN" sz="1800" i="1" kern="0" dirty="0" err="1">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err="1">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min</a:t>
            </a:r>
            <a:r>
              <a:rPr kumimoji="0" lang="en-US" altLang="zh-CN" sz="1800"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 = 2</a:t>
            </a: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0 </a:t>
            </a:r>
            <a:endParaRPr kumimoji="0" lang="zh-CN" altLang="en-US" sz="1800" kern="0" dirty="0">
              <a:solidFill>
                <a:sysClr val="windowText" lastClr="000000"/>
              </a:solidFill>
              <a:latin typeface="Times New Roman"/>
              <a:ea typeface="宋体"/>
            </a:endParaRPr>
          </a:p>
        </p:txBody>
      </p:sp>
      <p:sp>
        <p:nvSpPr>
          <p:cNvPr id="6" name="矩形 5"/>
          <p:cNvSpPr/>
          <p:nvPr/>
        </p:nvSpPr>
        <p:spPr>
          <a:xfrm>
            <a:off x="1746250" y="5329238"/>
            <a:ext cx="3765550" cy="584200"/>
          </a:xfrm>
          <a:prstGeom prst="rect">
            <a:avLst/>
          </a:prstGeom>
        </p:spPr>
        <p:txBody>
          <a:bodyPr wrap="none">
            <a:spAutoFit/>
          </a:bodyPr>
          <a:lstStyle/>
          <a:p>
            <a:pPr fontAlgn="auto">
              <a:spcBef>
                <a:spcPts val="0"/>
              </a:spcBef>
              <a:spcAft>
                <a:spcPts val="0"/>
              </a:spcAft>
              <a:defRPr/>
            </a:pP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max </a:t>
            </a:r>
            <a:r>
              <a:rPr kumimoji="0" lang="en-US" altLang="zh-CN" sz="1800"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=10</a:t>
            </a: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0 </a:t>
            </a:r>
            <a:r>
              <a:rPr kumimoji="0" lang="zh-CN" altLang="en-US" sz="1800"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a:t>
            </a:r>
            <a:r>
              <a:rPr kumimoji="0" lang="en-US" altLang="zh-CN" sz="1800" i="1"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 </a:t>
            </a:r>
            <a:r>
              <a:rPr kumimoji="0" lang="en-US" altLang="zh-CN" sz="1800" i="1" kern="0" dirty="0" err="1">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I</a:t>
            </a:r>
            <a:r>
              <a:rPr kumimoji="0" lang="en-US" altLang="zh-CN" sz="1800" kern="0" baseline="-25000" dirty="0" err="1">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min</a:t>
            </a:r>
            <a:r>
              <a:rPr kumimoji="0" lang="en-US" altLang="zh-CN" sz="1800" kern="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 = 0</a:t>
            </a:r>
            <a:r>
              <a:rPr kumimoji="0" lang="en-US" altLang="zh-CN" sz="1800" kern="0" baseline="-25000" dirty="0">
                <a:solidFill>
                  <a:srgbClr val="000000"/>
                </a:solidFill>
                <a:latin typeface="Times New Roman"/>
                <a:ea typeface="Microsoft Yahei" panose="020B0503020204020204" pitchFamily="34" charset="-122"/>
                <a:cs typeface="Times New Roman" panose="02020603050405020304" pitchFamily="18" charset="0"/>
                <a:sym typeface="Microsoft Yahei" panose="020B0503020204020204" pitchFamily="34" charset="-122"/>
              </a:rPr>
              <a:t> </a:t>
            </a:r>
            <a:endParaRPr kumimoji="0" lang="zh-CN" altLang="en-US" sz="1800" kern="0" dirty="0">
              <a:solidFill>
                <a:sysClr val="windowText" lastClr="000000"/>
              </a:solidFill>
              <a:latin typeface="Times New Roman"/>
              <a:ea typeface="宋体"/>
            </a:endParaRPr>
          </a:p>
        </p:txBody>
      </p:sp>
      <p:sp>
        <p:nvSpPr>
          <p:cNvPr id="72711" name="TextBox 6"/>
          <p:cNvSpPr txBox="1">
            <a:spLocks noChangeArrowheads="1"/>
          </p:cNvSpPr>
          <p:nvPr/>
        </p:nvSpPr>
        <p:spPr bwMode="auto">
          <a:xfrm>
            <a:off x="792163" y="2889250"/>
            <a:ext cx="5048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en-US" altLang="zh-CN" sz="1800">
                <a:solidFill>
                  <a:srgbClr val="000000"/>
                </a:solidFill>
              </a:rPr>
              <a:t>(A)</a:t>
            </a:r>
            <a:endParaRPr kumimoji="0" lang="zh-CN" altLang="en-US" sz="1800">
              <a:solidFill>
                <a:srgbClr val="000000"/>
              </a:solidFill>
            </a:endParaRPr>
          </a:p>
        </p:txBody>
      </p:sp>
      <p:sp>
        <p:nvSpPr>
          <p:cNvPr id="72712" name="TextBox 7"/>
          <p:cNvSpPr txBox="1">
            <a:spLocks noChangeArrowheads="1"/>
          </p:cNvSpPr>
          <p:nvPr/>
        </p:nvSpPr>
        <p:spPr bwMode="auto">
          <a:xfrm>
            <a:off x="895350" y="3556000"/>
            <a:ext cx="492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en-US" altLang="zh-CN" sz="1800">
                <a:solidFill>
                  <a:srgbClr val="000000"/>
                </a:solidFill>
              </a:rPr>
              <a:t>(B)</a:t>
            </a:r>
            <a:endParaRPr kumimoji="0" lang="zh-CN" altLang="en-US" sz="1800">
              <a:solidFill>
                <a:srgbClr val="000000"/>
              </a:solidFill>
            </a:endParaRPr>
          </a:p>
        </p:txBody>
      </p:sp>
      <p:sp>
        <p:nvSpPr>
          <p:cNvPr id="72713" name="TextBox 8"/>
          <p:cNvSpPr txBox="1">
            <a:spLocks noChangeArrowheads="1"/>
          </p:cNvSpPr>
          <p:nvPr/>
        </p:nvSpPr>
        <p:spPr bwMode="auto">
          <a:xfrm>
            <a:off x="895350" y="4437063"/>
            <a:ext cx="492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en-US" altLang="zh-CN" sz="1800">
                <a:solidFill>
                  <a:srgbClr val="000000"/>
                </a:solidFill>
              </a:rPr>
              <a:t>(C)</a:t>
            </a:r>
            <a:endParaRPr kumimoji="0" lang="zh-CN" altLang="en-US" sz="1800">
              <a:solidFill>
                <a:srgbClr val="000000"/>
              </a:solidFill>
            </a:endParaRPr>
          </a:p>
        </p:txBody>
      </p:sp>
      <p:sp>
        <p:nvSpPr>
          <p:cNvPr id="72714" name="TextBox 9"/>
          <p:cNvSpPr txBox="1">
            <a:spLocks noChangeArrowheads="1"/>
          </p:cNvSpPr>
          <p:nvPr/>
        </p:nvSpPr>
        <p:spPr bwMode="auto">
          <a:xfrm>
            <a:off x="914400" y="5376863"/>
            <a:ext cx="5048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en-US" altLang="zh-CN" sz="1800">
                <a:solidFill>
                  <a:srgbClr val="000000"/>
                </a:solidFill>
              </a:rPr>
              <a:t>(D)</a:t>
            </a:r>
            <a:endParaRPr kumimoji="0" lang="zh-CN" altLang="en-US" sz="1800">
              <a:solidFill>
                <a:srgbClr val="000000"/>
              </a:solidFill>
            </a:endParaRPr>
          </a:p>
        </p:txBody>
      </p:sp>
      <p:sp>
        <p:nvSpPr>
          <p:cNvPr id="11" name="TextBox 10"/>
          <p:cNvSpPr txBox="1">
            <a:spLocks noChangeArrowheads="1"/>
          </p:cNvSpPr>
          <p:nvPr/>
        </p:nvSpPr>
        <p:spPr bwMode="auto">
          <a:xfrm>
            <a:off x="2592388" y="2159000"/>
            <a:ext cx="3381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en-US" altLang="zh-CN" sz="1800">
                <a:solidFill>
                  <a:srgbClr val="000000"/>
                </a:solidFill>
              </a:rPr>
              <a:t>C</a:t>
            </a:r>
            <a:endParaRPr kumimoji="0" lang="zh-CN" altLang="en-US" sz="180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Text Box 4"/>
          <p:cNvSpPr txBox="1">
            <a:spLocks noChangeArrowheads="1"/>
          </p:cNvSpPr>
          <p:nvPr/>
        </p:nvSpPr>
        <p:spPr bwMode="auto">
          <a:xfrm>
            <a:off x="717550" y="188913"/>
            <a:ext cx="80645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just" eaLnBrk="1" hangingPunct="1">
              <a:lnSpc>
                <a:spcPct val="125000"/>
              </a:lnSpc>
              <a:spcBef>
                <a:spcPct val="50000"/>
              </a:spcBef>
            </a:pPr>
            <a:r>
              <a:rPr lang="zh-CN" altLang="en-US" sz="3200" b="1">
                <a:solidFill>
                  <a:srgbClr val="000000"/>
                </a:solidFill>
                <a:latin typeface="Times New Roman" pitchFamily="18" charset="0"/>
              </a:rPr>
              <a:t>用白光作光源观察杨氏双缝干涉。设缝间距为</a:t>
            </a:r>
            <a:r>
              <a:rPr lang="en-US" altLang="zh-CN" sz="3200" b="1" i="1">
                <a:solidFill>
                  <a:srgbClr val="000000"/>
                </a:solidFill>
                <a:latin typeface="Times New Roman" pitchFamily="18" charset="0"/>
              </a:rPr>
              <a:t>d </a:t>
            </a:r>
            <a:r>
              <a:rPr lang="zh-CN" altLang="en-US" sz="3200" b="1">
                <a:solidFill>
                  <a:srgbClr val="000000"/>
                </a:solidFill>
                <a:latin typeface="Times New Roman" pitchFamily="18" charset="0"/>
              </a:rPr>
              <a:t>，缝面与屏距离为 </a:t>
            </a:r>
            <a:r>
              <a:rPr lang="en-US" altLang="zh-CN" sz="3200" b="1" i="1">
                <a:solidFill>
                  <a:srgbClr val="000000"/>
                </a:solidFill>
                <a:latin typeface="Times New Roman" pitchFamily="18" charset="0"/>
              </a:rPr>
              <a:t>D</a:t>
            </a:r>
            <a:endParaRPr lang="en-US" altLang="zh-CN" sz="3200" b="1">
              <a:solidFill>
                <a:srgbClr val="000000"/>
              </a:solidFill>
              <a:latin typeface="Times New Roman" pitchFamily="18" charset="0"/>
            </a:endParaRPr>
          </a:p>
        </p:txBody>
      </p:sp>
      <p:graphicFrame>
        <p:nvGraphicFramePr>
          <p:cNvPr id="92165" name="Object 5"/>
          <p:cNvGraphicFramePr>
            <a:graphicFrameLocks noChangeAspect="1"/>
          </p:cNvGraphicFramePr>
          <p:nvPr/>
        </p:nvGraphicFramePr>
        <p:xfrm>
          <a:off x="3082925" y="2676525"/>
          <a:ext cx="1993900" cy="823913"/>
        </p:xfrm>
        <a:graphic>
          <a:graphicData uri="http://schemas.openxmlformats.org/presentationml/2006/ole">
            <mc:AlternateContent xmlns:mc="http://schemas.openxmlformats.org/markup-compatibility/2006">
              <mc:Choice xmlns:v="urn:schemas-microsoft-com:vml" Requires="v">
                <p:oleObj spid="_x0000_s87111" name="公式" r:id="rId3" imgW="1962244" imgH="809576" progId="Equation.3">
                  <p:embed/>
                </p:oleObj>
              </mc:Choice>
              <mc:Fallback>
                <p:oleObj name="公式" r:id="rId3" imgW="1962244" imgH="809576"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2925" y="2676525"/>
                        <a:ext cx="19939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166" name="Object 6"/>
          <p:cNvGraphicFramePr>
            <a:graphicFrameLocks/>
          </p:cNvGraphicFramePr>
          <p:nvPr/>
        </p:nvGraphicFramePr>
        <p:xfrm>
          <a:off x="2638425" y="4121150"/>
          <a:ext cx="2322513" cy="444500"/>
        </p:xfrm>
        <a:graphic>
          <a:graphicData uri="http://schemas.openxmlformats.org/presentationml/2006/ole">
            <mc:AlternateContent xmlns:mc="http://schemas.openxmlformats.org/markup-compatibility/2006">
              <mc:Choice xmlns:v="urn:schemas-microsoft-com:vml" Requires="v">
                <p:oleObj spid="_x0000_s87112" name="公式" r:id="rId5" imgW="2305007" imgH="428695" progId="Equation.3">
                  <p:embed/>
                </p:oleObj>
              </mc:Choice>
              <mc:Fallback>
                <p:oleObj name="公式" r:id="rId5" imgW="2305007" imgH="428695"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8425" y="4121150"/>
                        <a:ext cx="232251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167" name="Object 7"/>
          <p:cNvGraphicFramePr>
            <a:graphicFrameLocks/>
          </p:cNvGraphicFramePr>
          <p:nvPr/>
        </p:nvGraphicFramePr>
        <p:xfrm>
          <a:off x="2247900" y="4718050"/>
          <a:ext cx="4371975" cy="992188"/>
        </p:xfrm>
        <a:graphic>
          <a:graphicData uri="http://schemas.openxmlformats.org/presentationml/2006/ole">
            <mc:AlternateContent xmlns:mc="http://schemas.openxmlformats.org/markup-compatibility/2006">
              <mc:Choice xmlns:v="urn:schemas-microsoft-com:vml" Requires="v">
                <p:oleObj spid="_x0000_s87113" name="公式" r:id="rId7" imgW="4362395" imgH="971410" progId="Equation.3">
                  <p:embed/>
                </p:oleObj>
              </mc:Choice>
              <mc:Fallback>
                <p:oleObj name="公式" r:id="rId7" imgW="4362395" imgH="97141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47900" y="4718050"/>
                        <a:ext cx="4371975"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168" name="Text Box 8"/>
          <p:cNvSpPr txBox="1">
            <a:spLocks noChangeArrowheads="1"/>
          </p:cNvSpPr>
          <p:nvPr/>
        </p:nvSpPr>
        <p:spPr bwMode="auto">
          <a:xfrm>
            <a:off x="315913" y="2179638"/>
            <a:ext cx="76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800" b="1">
                <a:solidFill>
                  <a:srgbClr val="000000"/>
                </a:solidFill>
                <a:latin typeface="Times New Roman" pitchFamily="18" charset="0"/>
              </a:rPr>
              <a:t>解</a:t>
            </a:r>
            <a:r>
              <a:rPr lang="zh-CN" altLang="en-US" sz="2800">
                <a:solidFill>
                  <a:srgbClr val="000000"/>
                </a:solidFill>
                <a:latin typeface="Times New Roman" pitchFamily="18" charset="0"/>
              </a:rPr>
              <a:t> </a:t>
            </a:r>
          </a:p>
        </p:txBody>
      </p:sp>
      <p:sp>
        <p:nvSpPr>
          <p:cNvPr id="92169" name="Text Box 9"/>
          <p:cNvSpPr txBox="1">
            <a:spLocks noChangeArrowheads="1"/>
          </p:cNvSpPr>
          <p:nvPr/>
        </p:nvSpPr>
        <p:spPr bwMode="auto">
          <a:xfrm>
            <a:off x="250825" y="3379788"/>
            <a:ext cx="8640763"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lnSpc>
                <a:spcPct val="125000"/>
              </a:lnSpc>
              <a:spcBef>
                <a:spcPct val="50000"/>
              </a:spcBef>
            </a:pPr>
            <a:r>
              <a:rPr lang="zh-CN" altLang="en-US" sz="2800" b="1">
                <a:solidFill>
                  <a:srgbClr val="000000"/>
                </a:solidFill>
                <a:latin typeface="Times New Roman" pitchFamily="18" charset="0"/>
              </a:rPr>
              <a:t>最先发生重叠的是某一级次的红光和高一级次的紫光 </a:t>
            </a:r>
          </a:p>
        </p:txBody>
      </p:sp>
      <p:sp>
        <p:nvSpPr>
          <p:cNvPr id="92170" name="Text Box 10"/>
          <p:cNvSpPr txBox="1">
            <a:spLocks noChangeArrowheads="1"/>
          </p:cNvSpPr>
          <p:nvPr/>
        </p:nvSpPr>
        <p:spPr bwMode="auto">
          <a:xfrm>
            <a:off x="323528" y="5873750"/>
            <a:ext cx="5113338" cy="83099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b="1" dirty="0">
                <a:solidFill>
                  <a:srgbClr val="000000"/>
                </a:solidFill>
                <a:latin typeface="楷体_GB2312" pitchFamily="49" charset="-122"/>
                <a:ea typeface="楷体_GB2312" pitchFamily="49" charset="-122"/>
              </a:rPr>
              <a:t>清晰的可见光谱</a:t>
            </a:r>
            <a:r>
              <a:rPr lang="zh-CN" altLang="en-US" b="1" dirty="0" smtClean="0">
                <a:solidFill>
                  <a:srgbClr val="000000"/>
                </a:solidFill>
                <a:latin typeface="楷体_GB2312" pitchFamily="49" charset="-122"/>
                <a:ea typeface="楷体_GB2312" pitchFamily="49" charset="-122"/>
              </a:rPr>
              <a:t>只有</a:t>
            </a:r>
            <a:r>
              <a:rPr lang="zh-CN" altLang="en-US" b="1" dirty="0">
                <a:solidFill>
                  <a:srgbClr val="000000"/>
                </a:solidFill>
                <a:latin typeface="楷体_GB2312" pitchFamily="49" charset="-122"/>
                <a:ea typeface="楷体_GB2312" pitchFamily="49" charset="-122"/>
              </a:rPr>
              <a:t>第</a:t>
            </a:r>
            <a:r>
              <a:rPr lang="zh-CN" altLang="en-US" b="1" dirty="0" smtClean="0">
                <a:solidFill>
                  <a:srgbClr val="000000"/>
                </a:solidFill>
                <a:latin typeface="楷体_GB2312" pitchFamily="49" charset="-122"/>
                <a:ea typeface="楷体_GB2312" pitchFamily="49" charset="-122"/>
              </a:rPr>
              <a:t>一级，从第二级开始光谱开始出现重叠 </a:t>
            </a:r>
            <a:endParaRPr lang="zh-CN" altLang="en-US" b="1" dirty="0">
              <a:solidFill>
                <a:srgbClr val="000000"/>
              </a:solidFill>
              <a:latin typeface="楷体_GB2312" pitchFamily="49" charset="-122"/>
              <a:ea typeface="楷体_GB2312" pitchFamily="49" charset="-122"/>
            </a:endParaRPr>
          </a:p>
        </p:txBody>
      </p:sp>
      <p:sp>
        <p:nvSpPr>
          <p:cNvPr id="92171" name="Rectangle 11"/>
          <p:cNvSpPr>
            <a:spLocks noChangeArrowheads="1"/>
          </p:cNvSpPr>
          <p:nvPr/>
        </p:nvSpPr>
        <p:spPr bwMode="auto">
          <a:xfrm>
            <a:off x="7029450" y="4067175"/>
            <a:ext cx="1295400" cy="2314575"/>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00"/>
              </a:solidFill>
              <a:latin typeface="Tahoma" pitchFamily="34" charset="0"/>
            </a:endParaRPr>
          </a:p>
        </p:txBody>
      </p:sp>
      <p:sp>
        <p:nvSpPr>
          <p:cNvPr id="92172" name="Line 12"/>
          <p:cNvSpPr>
            <a:spLocks noChangeShapeType="1"/>
          </p:cNvSpPr>
          <p:nvPr/>
        </p:nvSpPr>
        <p:spPr bwMode="auto">
          <a:xfrm>
            <a:off x="7038975" y="5162550"/>
            <a:ext cx="1277938" cy="0"/>
          </a:xfrm>
          <a:prstGeom prst="line">
            <a:avLst/>
          </a:prstGeom>
          <a:noFill/>
          <a:ln w="762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srgbClr val="000000"/>
              </a:solidFill>
              <a:latin typeface="Tahoma" pitchFamily="34" charset="0"/>
            </a:endParaRPr>
          </a:p>
        </p:txBody>
      </p:sp>
      <p:sp>
        <p:nvSpPr>
          <p:cNvPr id="92173" name="Line 13"/>
          <p:cNvSpPr>
            <a:spLocks noChangeShapeType="1"/>
          </p:cNvSpPr>
          <p:nvPr/>
        </p:nvSpPr>
        <p:spPr bwMode="auto">
          <a:xfrm flipV="1">
            <a:off x="7029450" y="5010150"/>
            <a:ext cx="1295400" cy="0"/>
          </a:xfrm>
          <a:prstGeom prst="line">
            <a:avLst/>
          </a:prstGeom>
          <a:noFill/>
          <a:ln w="57150">
            <a:solidFill>
              <a:srgbClr val="66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srgbClr val="000000"/>
              </a:solidFill>
              <a:latin typeface="Tahoma" pitchFamily="34" charset="0"/>
            </a:endParaRPr>
          </a:p>
        </p:txBody>
      </p:sp>
      <p:sp>
        <p:nvSpPr>
          <p:cNvPr id="92174" name="Line 14"/>
          <p:cNvSpPr>
            <a:spLocks noChangeShapeType="1"/>
          </p:cNvSpPr>
          <p:nvPr/>
        </p:nvSpPr>
        <p:spPr bwMode="auto">
          <a:xfrm flipV="1">
            <a:off x="7029450" y="5314950"/>
            <a:ext cx="1295400" cy="0"/>
          </a:xfrm>
          <a:prstGeom prst="line">
            <a:avLst/>
          </a:prstGeom>
          <a:noFill/>
          <a:ln w="57150">
            <a:solidFill>
              <a:srgbClr val="66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srgbClr val="000000"/>
              </a:solidFill>
              <a:latin typeface="Tahoma" pitchFamily="34" charset="0"/>
            </a:endParaRPr>
          </a:p>
        </p:txBody>
      </p:sp>
      <p:sp>
        <p:nvSpPr>
          <p:cNvPr id="92175" name="Line 15"/>
          <p:cNvSpPr>
            <a:spLocks noChangeShapeType="1"/>
          </p:cNvSpPr>
          <p:nvPr/>
        </p:nvSpPr>
        <p:spPr bwMode="auto">
          <a:xfrm flipV="1">
            <a:off x="7029450" y="4781550"/>
            <a:ext cx="1295400" cy="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srgbClr val="000000"/>
              </a:solidFill>
              <a:latin typeface="Tahoma" pitchFamily="34" charset="0"/>
            </a:endParaRPr>
          </a:p>
        </p:txBody>
      </p:sp>
      <p:sp>
        <p:nvSpPr>
          <p:cNvPr id="92176" name="Line 16"/>
          <p:cNvSpPr>
            <a:spLocks noChangeShapeType="1"/>
          </p:cNvSpPr>
          <p:nvPr/>
        </p:nvSpPr>
        <p:spPr bwMode="auto">
          <a:xfrm flipV="1">
            <a:off x="7029450" y="5543550"/>
            <a:ext cx="1295400" cy="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srgbClr val="000000"/>
              </a:solidFill>
              <a:latin typeface="Tahoma" pitchFamily="34" charset="0"/>
            </a:endParaRPr>
          </a:p>
        </p:txBody>
      </p:sp>
      <p:sp>
        <p:nvSpPr>
          <p:cNvPr id="92177" name="Line 17"/>
          <p:cNvSpPr>
            <a:spLocks noChangeShapeType="1"/>
          </p:cNvSpPr>
          <p:nvPr/>
        </p:nvSpPr>
        <p:spPr bwMode="auto">
          <a:xfrm flipV="1">
            <a:off x="7029450" y="4673600"/>
            <a:ext cx="1295400" cy="0"/>
          </a:xfrm>
          <a:prstGeom prst="line">
            <a:avLst/>
          </a:prstGeom>
          <a:noFill/>
          <a:ln w="57150">
            <a:solidFill>
              <a:srgbClr val="66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srgbClr val="000000"/>
              </a:solidFill>
              <a:latin typeface="Tahoma" pitchFamily="34" charset="0"/>
            </a:endParaRPr>
          </a:p>
        </p:txBody>
      </p:sp>
      <p:sp>
        <p:nvSpPr>
          <p:cNvPr id="92178" name="Line 18"/>
          <p:cNvSpPr>
            <a:spLocks noChangeShapeType="1"/>
          </p:cNvSpPr>
          <p:nvPr/>
        </p:nvSpPr>
        <p:spPr bwMode="auto">
          <a:xfrm flipV="1">
            <a:off x="7019925" y="5635625"/>
            <a:ext cx="1295400" cy="0"/>
          </a:xfrm>
          <a:prstGeom prst="line">
            <a:avLst/>
          </a:prstGeom>
          <a:noFill/>
          <a:ln w="57150">
            <a:solidFill>
              <a:srgbClr val="66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srgbClr val="000000"/>
              </a:solidFill>
              <a:latin typeface="Tahoma" pitchFamily="34" charset="0"/>
            </a:endParaRPr>
          </a:p>
        </p:txBody>
      </p:sp>
      <p:sp>
        <p:nvSpPr>
          <p:cNvPr id="92179" name="Text Box 19"/>
          <p:cNvSpPr txBox="1">
            <a:spLocks noChangeArrowheads="1"/>
          </p:cNvSpPr>
          <p:nvPr/>
        </p:nvSpPr>
        <p:spPr bwMode="auto">
          <a:xfrm>
            <a:off x="34925" y="260350"/>
            <a:ext cx="8270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ctr" eaLnBrk="1" hangingPunct="1">
              <a:spcBef>
                <a:spcPct val="50000"/>
              </a:spcBef>
            </a:pPr>
            <a:r>
              <a:rPr lang="en-US" altLang="zh-CN" sz="3200" b="1" dirty="0" smtClean="0">
                <a:solidFill>
                  <a:srgbClr val="000000"/>
                </a:solidFill>
                <a:latin typeface="Times New Roman" pitchFamily="18" charset="0"/>
              </a:rPr>
              <a:t>14</a:t>
            </a:r>
            <a:endParaRPr lang="zh-CN" altLang="en-US" sz="3200" b="1" dirty="0">
              <a:solidFill>
                <a:srgbClr val="000000"/>
              </a:solidFill>
              <a:latin typeface="Times New Roman" pitchFamily="18" charset="0"/>
            </a:endParaRPr>
          </a:p>
        </p:txBody>
      </p:sp>
      <p:sp>
        <p:nvSpPr>
          <p:cNvPr id="92180" name="Text Box 20"/>
          <p:cNvSpPr txBox="1">
            <a:spLocks noChangeArrowheads="1"/>
          </p:cNvSpPr>
          <p:nvPr/>
        </p:nvSpPr>
        <p:spPr bwMode="auto">
          <a:xfrm>
            <a:off x="1217613" y="2179638"/>
            <a:ext cx="7315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sz="2800" b="1">
                <a:solidFill>
                  <a:srgbClr val="000000"/>
                </a:solidFill>
                <a:latin typeface="Times New Roman" pitchFamily="18" charset="0"/>
              </a:rPr>
              <a:t>在</a:t>
            </a:r>
            <a:r>
              <a:rPr lang="en-US" altLang="zh-CN" sz="2800" b="1">
                <a:solidFill>
                  <a:srgbClr val="000000"/>
                </a:solidFill>
                <a:latin typeface="Times New Roman" pitchFamily="18" charset="0"/>
              </a:rPr>
              <a:t>400 ~ 760 nm </a:t>
            </a:r>
            <a:r>
              <a:rPr lang="zh-CN" altLang="en-US" sz="2800" b="1">
                <a:solidFill>
                  <a:srgbClr val="000000"/>
                </a:solidFill>
                <a:latin typeface="Times New Roman" pitchFamily="18" charset="0"/>
              </a:rPr>
              <a:t>范围内，明纹条件为</a:t>
            </a:r>
          </a:p>
        </p:txBody>
      </p:sp>
      <p:sp>
        <p:nvSpPr>
          <p:cNvPr id="92181" name="Text Box 21"/>
          <p:cNvSpPr txBox="1">
            <a:spLocks noChangeArrowheads="1"/>
          </p:cNvSpPr>
          <p:nvPr/>
        </p:nvSpPr>
        <p:spPr bwMode="auto">
          <a:xfrm>
            <a:off x="65088" y="1481138"/>
            <a:ext cx="74596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ctr" eaLnBrk="1" hangingPunct="1">
              <a:spcBef>
                <a:spcPct val="50000"/>
              </a:spcBef>
            </a:pPr>
            <a:r>
              <a:rPr lang="zh-CN" altLang="en-US" sz="3200" b="1">
                <a:solidFill>
                  <a:srgbClr val="000000"/>
                </a:solidFill>
                <a:latin typeface="Times New Roman" pitchFamily="18" charset="0"/>
              </a:rPr>
              <a:t>求  能观察到的清晰可见光谱的级次</a:t>
            </a:r>
          </a:p>
        </p:txBody>
      </p:sp>
    </p:spTree>
    <p:extLst>
      <p:ext uri="{BB962C8B-B14F-4D97-AF65-F5344CB8AC3E}">
        <p14:creationId xmlns:p14="http://schemas.microsoft.com/office/powerpoint/2010/main" val="26601215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79"/>
                                        </p:tgtEl>
                                        <p:attrNameLst>
                                          <p:attrName>style.visibility</p:attrName>
                                        </p:attrNameLst>
                                      </p:cBhvr>
                                      <p:to>
                                        <p:strVal val="visible"/>
                                      </p:to>
                                    </p:set>
                                    <p:animEffect transition="in" filter="wipe(left)">
                                      <p:cBhvr>
                                        <p:cTn id="7" dur="500"/>
                                        <p:tgtEl>
                                          <p:spTgt spid="92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164"/>
                                        </p:tgtEl>
                                        <p:attrNameLst>
                                          <p:attrName>style.visibility</p:attrName>
                                        </p:attrNameLst>
                                      </p:cBhvr>
                                      <p:to>
                                        <p:strVal val="visible"/>
                                      </p:to>
                                    </p:set>
                                    <p:animEffect transition="in" filter="wipe(left)">
                                      <p:cBhvr>
                                        <p:cTn id="12" dur="500"/>
                                        <p:tgtEl>
                                          <p:spTgt spid="921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81"/>
                                        </p:tgtEl>
                                        <p:attrNameLst>
                                          <p:attrName>style.visibility</p:attrName>
                                        </p:attrNameLst>
                                      </p:cBhvr>
                                      <p:to>
                                        <p:strVal val="visible"/>
                                      </p:to>
                                    </p:set>
                                    <p:animEffect transition="in" filter="wipe(left)">
                                      <p:cBhvr>
                                        <p:cTn id="17" dur="500"/>
                                        <p:tgtEl>
                                          <p:spTgt spid="921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168"/>
                                        </p:tgtEl>
                                        <p:attrNameLst>
                                          <p:attrName>style.visibility</p:attrName>
                                        </p:attrNameLst>
                                      </p:cBhvr>
                                      <p:to>
                                        <p:strVal val="visible"/>
                                      </p:to>
                                    </p:set>
                                    <p:animEffect transition="in" filter="wipe(left)">
                                      <p:cBhvr>
                                        <p:cTn id="22" dur="500"/>
                                        <p:tgtEl>
                                          <p:spTgt spid="921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2180"/>
                                        </p:tgtEl>
                                        <p:attrNameLst>
                                          <p:attrName>style.visibility</p:attrName>
                                        </p:attrNameLst>
                                      </p:cBhvr>
                                      <p:to>
                                        <p:strVal val="visible"/>
                                      </p:to>
                                    </p:set>
                                    <p:animEffect transition="in" filter="wipe(left)">
                                      <p:cBhvr>
                                        <p:cTn id="27" dur="500"/>
                                        <p:tgtEl>
                                          <p:spTgt spid="9218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2165"/>
                                        </p:tgtEl>
                                        <p:attrNameLst>
                                          <p:attrName>style.visibility</p:attrName>
                                        </p:attrNameLst>
                                      </p:cBhvr>
                                      <p:to>
                                        <p:strVal val="visible"/>
                                      </p:to>
                                    </p:set>
                                    <p:animEffect transition="in" filter="wipe(left)">
                                      <p:cBhvr>
                                        <p:cTn id="32" dur="500"/>
                                        <p:tgtEl>
                                          <p:spTgt spid="9216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2169"/>
                                        </p:tgtEl>
                                        <p:attrNameLst>
                                          <p:attrName>style.visibility</p:attrName>
                                        </p:attrNameLst>
                                      </p:cBhvr>
                                      <p:to>
                                        <p:strVal val="visible"/>
                                      </p:to>
                                    </p:set>
                                    <p:animEffect transition="in" filter="wipe(left)">
                                      <p:cBhvr>
                                        <p:cTn id="37" dur="500"/>
                                        <p:tgtEl>
                                          <p:spTgt spid="9216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2166"/>
                                        </p:tgtEl>
                                        <p:attrNameLst>
                                          <p:attrName>style.visibility</p:attrName>
                                        </p:attrNameLst>
                                      </p:cBhvr>
                                      <p:to>
                                        <p:strVal val="visible"/>
                                      </p:to>
                                    </p:set>
                                    <p:animEffect transition="in" filter="wipe(left)">
                                      <p:cBhvr>
                                        <p:cTn id="42" dur="500"/>
                                        <p:tgtEl>
                                          <p:spTgt spid="9216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2167"/>
                                        </p:tgtEl>
                                        <p:attrNameLst>
                                          <p:attrName>style.visibility</p:attrName>
                                        </p:attrNameLst>
                                      </p:cBhvr>
                                      <p:to>
                                        <p:strVal val="visible"/>
                                      </p:to>
                                    </p:set>
                                    <p:animEffect transition="in" filter="wipe(left)">
                                      <p:cBhvr>
                                        <p:cTn id="47" dur="500"/>
                                        <p:tgtEl>
                                          <p:spTgt spid="9216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2170"/>
                                        </p:tgtEl>
                                        <p:attrNameLst>
                                          <p:attrName>style.visibility</p:attrName>
                                        </p:attrNameLst>
                                      </p:cBhvr>
                                      <p:to>
                                        <p:strVal val="visible"/>
                                      </p:to>
                                    </p:set>
                                    <p:animEffect transition="in" filter="wipe(left)">
                                      <p:cBhvr>
                                        <p:cTn id="52" dur="500"/>
                                        <p:tgtEl>
                                          <p:spTgt spid="9217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16" fill="hold" grpId="0" nodeType="clickEffect">
                                  <p:stCondLst>
                                    <p:cond delay="0"/>
                                  </p:stCondLst>
                                  <p:childTnLst>
                                    <p:set>
                                      <p:cBhvr>
                                        <p:cTn id="56" dur="1" fill="hold">
                                          <p:stCondLst>
                                            <p:cond delay="0"/>
                                          </p:stCondLst>
                                        </p:cTn>
                                        <p:tgtEl>
                                          <p:spTgt spid="92171"/>
                                        </p:tgtEl>
                                        <p:attrNameLst>
                                          <p:attrName>style.visibility</p:attrName>
                                        </p:attrNameLst>
                                      </p:cBhvr>
                                      <p:to>
                                        <p:strVal val="visible"/>
                                      </p:to>
                                    </p:set>
                                    <p:anim calcmode="lin" valueType="num">
                                      <p:cBhvr>
                                        <p:cTn id="57" dur="500" fill="hold"/>
                                        <p:tgtEl>
                                          <p:spTgt spid="92171"/>
                                        </p:tgtEl>
                                        <p:attrNameLst>
                                          <p:attrName>ppt_w</p:attrName>
                                        </p:attrNameLst>
                                      </p:cBhvr>
                                      <p:tavLst>
                                        <p:tav tm="0">
                                          <p:val>
                                            <p:fltVal val="0"/>
                                          </p:val>
                                        </p:tav>
                                        <p:tav tm="100000">
                                          <p:val>
                                            <p:strVal val="#ppt_w"/>
                                          </p:val>
                                        </p:tav>
                                      </p:tavLst>
                                    </p:anim>
                                    <p:anim calcmode="lin" valueType="num">
                                      <p:cBhvr>
                                        <p:cTn id="58" dur="500" fill="hold"/>
                                        <p:tgtEl>
                                          <p:spTgt spid="92171"/>
                                        </p:tgtEl>
                                        <p:attrNameLst>
                                          <p:attrName>ppt_h</p:attrName>
                                        </p:attrNameLst>
                                      </p:cBhvr>
                                      <p:tavLst>
                                        <p:tav tm="0">
                                          <p:val>
                                            <p:fltVal val="0"/>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92172"/>
                                        </p:tgtEl>
                                        <p:attrNameLst>
                                          <p:attrName>style.visibility</p:attrName>
                                        </p:attrNameLst>
                                      </p:cBhvr>
                                      <p:to>
                                        <p:strVal val="visible"/>
                                      </p:to>
                                    </p:set>
                                    <p:animEffect transition="in" filter="wipe(down)">
                                      <p:cBhvr>
                                        <p:cTn id="63" dur="500"/>
                                        <p:tgtEl>
                                          <p:spTgt spid="9217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92173"/>
                                        </p:tgtEl>
                                        <p:attrNameLst>
                                          <p:attrName>style.visibility</p:attrName>
                                        </p:attrNameLst>
                                      </p:cBhvr>
                                      <p:to>
                                        <p:strVal val="visible"/>
                                      </p:to>
                                    </p:set>
                                    <p:animEffect transition="in" filter="wipe(down)">
                                      <p:cBhvr>
                                        <p:cTn id="68" dur="500"/>
                                        <p:tgtEl>
                                          <p:spTgt spid="92173"/>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92174"/>
                                        </p:tgtEl>
                                        <p:attrNameLst>
                                          <p:attrName>style.visibility</p:attrName>
                                        </p:attrNameLst>
                                      </p:cBhvr>
                                      <p:to>
                                        <p:strVal val="visible"/>
                                      </p:to>
                                    </p:set>
                                    <p:animEffect transition="in" filter="wipe(up)">
                                      <p:cBhvr>
                                        <p:cTn id="71" dur="500"/>
                                        <p:tgtEl>
                                          <p:spTgt spid="9217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92175"/>
                                        </p:tgtEl>
                                        <p:attrNameLst>
                                          <p:attrName>style.visibility</p:attrName>
                                        </p:attrNameLst>
                                      </p:cBhvr>
                                      <p:to>
                                        <p:strVal val="visible"/>
                                      </p:to>
                                    </p:set>
                                    <p:animEffect transition="in" filter="wipe(down)">
                                      <p:cBhvr>
                                        <p:cTn id="76" dur="500"/>
                                        <p:tgtEl>
                                          <p:spTgt spid="92175"/>
                                        </p:tgtEl>
                                      </p:cBhvr>
                                    </p:animEffect>
                                  </p:childTnLst>
                                </p:cTn>
                              </p:par>
                              <p:par>
                                <p:cTn id="77" presetID="22" presetClass="entr" presetSubtype="1" fill="hold" grpId="0" nodeType="withEffect">
                                  <p:stCondLst>
                                    <p:cond delay="0"/>
                                  </p:stCondLst>
                                  <p:childTnLst>
                                    <p:set>
                                      <p:cBhvr>
                                        <p:cTn id="78" dur="1" fill="hold">
                                          <p:stCondLst>
                                            <p:cond delay="0"/>
                                          </p:stCondLst>
                                        </p:cTn>
                                        <p:tgtEl>
                                          <p:spTgt spid="92176"/>
                                        </p:tgtEl>
                                        <p:attrNameLst>
                                          <p:attrName>style.visibility</p:attrName>
                                        </p:attrNameLst>
                                      </p:cBhvr>
                                      <p:to>
                                        <p:strVal val="visible"/>
                                      </p:to>
                                    </p:set>
                                    <p:animEffect transition="in" filter="wipe(up)">
                                      <p:cBhvr>
                                        <p:cTn id="79" dur="500"/>
                                        <p:tgtEl>
                                          <p:spTgt spid="92176"/>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92177"/>
                                        </p:tgtEl>
                                        <p:attrNameLst>
                                          <p:attrName>style.visibility</p:attrName>
                                        </p:attrNameLst>
                                      </p:cBhvr>
                                      <p:to>
                                        <p:strVal val="visible"/>
                                      </p:to>
                                    </p:set>
                                    <p:animEffect transition="in" filter="wipe(down)">
                                      <p:cBhvr>
                                        <p:cTn id="84" dur="500"/>
                                        <p:tgtEl>
                                          <p:spTgt spid="92177"/>
                                        </p:tgtEl>
                                      </p:cBhvr>
                                    </p:animEffect>
                                  </p:childTnLst>
                                </p:cTn>
                              </p:par>
                              <p:par>
                                <p:cTn id="85" presetID="22" presetClass="entr" presetSubtype="1" fill="hold" grpId="0" nodeType="withEffect">
                                  <p:stCondLst>
                                    <p:cond delay="0"/>
                                  </p:stCondLst>
                                  <p:childTnLst>
                                    <p:set>
                                      <p:cBhvr>
                                        <p:cTn id="86" dur="1" fill="hold">
                                          <p:stCondLst>
                                            <p:cond delay="0"/>
                                          </p:stCondLst>
                                        </p:cTn>
                                        <p:tgtEl>
                                          <p:spTgt spid="92178"/>
                                        </p:tgtEl>
                                        <p:attrNameLst>
                                          <p:attrName>style.visibility</p:attrName>
                                        </p:attrNameLst>
                                      </p:cBhvr>
                                      <p:to>
                                        <p:strVal val="visible"/>
                                      </p:to>
                                    </p:set>
                                    <p:animEffect transition="in" filter="wipe(up)">
                                      <p:cBhvr>
                                        <p:cTn id="87" dur="500"/>
                                        <p:tgtEl>
                                          <p:spTgt spid="92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autoUpdateAnimBg="0"/>
      <p:bldP spid="92168" grpId="0" autoUpdateAnimBg="0"/>
      <p:bldP spid="92169" grpId="0" autoUpdateAnimBg="0"/>
      <p:bldP spid="92170" grpId="0"/>
      <p:bldP spid="92171" grpId="0" animBg="1"/>
      <p:bldP spid="92172" grpId="0" animBg="1"/>
      <p:bldP spid="92173" grpId="0" animBg="1"/>
      <p:bldP spid="92174" grpId="0" animBg="1"/>
      <p:bldP spid="92175" grpId="0" animBg="1"/>
      <p:bldP spid="92176" grpId="0" animBg="1"/>
      <p:bldP spid="92177" grpId="0" animBg="1"/>
      <p:bldP spid="92178" grpId="0" animBg="1"/>
      <p:bldP spid="92179" grpId="0"/>
      <p:bldP spid="92180" grpId="0" autoUpdateAnimBg="0"/>
      <p:bldP spid="92181"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8786" name="Text Box 1026"/>
          <p:cNvSpPr txBox="1">
            <a:spLocks noChangeArrowheads="1"/>
          </p:cNvSpPr>
          <p:nvPr/>
        </p:nvSpPr>
        <p:spPr bwMode="auto">
          <a:xfrm>
            <a:off x="3211513" y="2133600"/>
            <a:ext cx="264795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4800" b="1" dirty="0">
                <a:solidFill>
                  <a:srgbClr val="FF3300"/>
                </a:solidFill>
                <a:latin typeface="+mn-ea"/>
                <a:ea typeface="+mn-ea"/>
              </a:rPr>
              <a:t>光的衍射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118786"/>
                                        </p:tgtEl>
                                        <p:attrNameLst>
                                          <p:attrName>style.visibility</p:attrName>
                                        </p:attrNameLst>
                                      </p:cBhvr>
                                      <p:to>
                                        <p:strVal val="visible"/>
                                      </p:to>
                                    </p:set>
                                    <p:anim calcmode="lin" valueType="num">
                                      <p:cBhvr>
                                        <p:cTn id="7" dur="1000" fill="hold"/>
                                        <p:tgtEl>
                                          <p:spTgt spid="118786"/>
                                        </p:tgtEl>
                                        <p:attrNameLst>
                                          <p:attrName>ppt_w</p:attrName>
                                        </p:attrNameLst>
                                      </p:cBhvr>
                                      <p:tavLst>
                                        <p:tav tm="0">
                                          <p:val>
                                            <p:fltVal val="0"/>
                                          </p:val>
                                        </p:tav>
                                        <p:tav tm="100000">
                                          <p:val>
                                            <p:strVal val="#ppt_w"/>
                                          </p:val>
                                        </p:tav>
                                      </p:tavLst>
                                    </p:anim>
                                    <p:anim calcmode="lin" valueType="num">
                                      <p:cBhvr>
                                        <p:cTn id="8" dur="1000" fill="hold"/>
                                        <p:tgtEl>
                                          <p:spTgt spid="118786"/>
                                        </p:tgtEl>
                                        <p:attrNameLst>
                                          <p:attrName>ppt_h</p:attrName>
                                        </p:attrNameLst>
                                      </p:cBhvr>
                                      <p:tavLst>
                                        <p:tav tm="0">
                                          <p:val>
                                            <p:fltVal val="0"/>
                                          </p:val>
                                        </p:tav>
                                        <p:tav tm="100000">
                                          <p:val>
                                            <p:strVal val="#ppt_h"/>
                                          </p:val>
                                        </p:tav>
                                      </p:tavLst>
                                    </p:anim>
                                    <p:anim calcmode="lin" valueType="num">
                                      <p:cBhvr>
                                        <p:cTn id="9" dur="1000" fill="hold"/>
                                        <p:tgtEl>
                                          <p:spTgt spid="11878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878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3" name="Text Box 5"/>
          <p:cNvSpPr txBox="1">
            <a:spLocks noChangeArrowheads="1"/>
          </p:cNvSpPr>
          <p:nvPr/>
        </p:nvSpPr>
        <p:spPr bwMode="auto">
          <a:xfrm>
            <a:off x="152400" y="493713"/>
            <a:ext cx="2041525"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pPr>
            <a:r>
              <a:rPr lang="zh-CN" altLang="en-US" sz="2400" b="1" dirty="0">
                <a:solidFill>
                  <a:srgbClr val="FF3300"/>
                </a:solidFill>
                <a:latin typeface="黑体" pitchFamily="49" charset="-122"/>
                <a:ea typeface="黑体" pitchFamily="49" charset="-122"/>
              </a:rPr>
              <a:t>一、基本要求</a:t>
            </a:r>
          </a:p>
        </p:txBody>
      </p:sp>
      <p:sp>
        <p:nvSpPr>
          <p:cNvPr id="2054" name="Text Box 6"/>
          <p:cNvSpPr txBox="1">
            <a:spLocks noChangeArrowheads="1"/>
          </p:cNvSpPr>
          <p:nvPr/>
        </p:nvSpPr>
        <p:spPr bwMode="auto">
          <a:xfrm>
            <a:off x="228600" y="1268413"/>
            <a:ext cx="4051300"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pPr>
            <a:r>
              <a:rPr lang="en-US" altLang="zh-CN" sz="2400" b="1">
                <a:solidFill>
                  <a:srgbClr val="0000FF"/>
                </a:solidFill>
                <a:latin typeface="宋体" pitchFamily="2" charset="-122"/>
              </a:rPr>
              <a:t>1</a:t>
            </a:r>
            <a:r>
              <a:rPr lang="zh-CN" altLang="en-US" sz="2400" b="1">
                <a:solidFill>
                  <a:srgbClr val="0000FF"/>
                </a:solidFill>
                <a:latin typeface="宋体" pitchFamily="2" charset="-122"/>
              </a:rPr>
              <a:t>．了解惠更斯</a:t>
            </a:r>
            <a:r>
              <a:rPr lang="en-US" altLang="zh-CN" sz="2400" b="1">
                <a:solidFill>
                  <a:srgbClr val="0000FF"/>
                </a:solidFill>
              </a:rPr>
              <a:t>—</a:t>
            </a:r>
            <a:r>
              <a:rPr lang="zh-CN" altLang="en-US" sz="2400" b="1">
                <a:solidFill>
                  <a:srgbClr val="0000FF"/>
                </a:solidFill>
                <a:latin typeface="宋体" pitchFamily="2" charset="-122"/>
              </a:rPr>
              <a:t>菲涅耳原理</a:t>
            </a:r>
          </a:p>
        </p:txBody>
      </p:sp>
      <p:sp>
        <p:nvSpPr>
          <p:cNvPr id="2055" name="Text Box 7"/>
          <p:cNvSpPr txBox="1">
            <a:spLocks noChangeArrowheads="1"/>
          </p:cNvSpPr>
          <p:nvPr/>
        </p:nvSpPr>
        <p:spPr bwMode="auto">
          <a:xfrm>
            <a:off x="228600" y="1978025"/>
            <a:ext cx="8686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en-US" altLang="zh-CN" sz="2400" b="1" dirty="0">
                <a:solidFill>
                  <a:srgbClr val="0000FF"/>
                </a:solidFill>
                <a:latin typeface="宋体" pitchFamily="2" charset="-122"/>
              </a:rPr>
              <a:t>2</a:t>
            </a:r>
            <a:r>
              <a:rPr lang="zh-CN" altLang="en-US" sz="2400" b="1" dirty="0">
                <a:solidFill>
                  <a:srgbClr val="0000FF"/>
                </a:solidFill>
                <a:latin typeface="宋体" pitchFamily="2" charset="-122"/>
              </a:rPr>
              <a:t>．掌握单缝夫琅禾费衍射</a:t>
            </a:r>
            <a:r>
              <a:rPr lang="zh-CN" altLang="en-US" sz="2400" b="1" dirty="0" smtClean="0">
                <a:solidFill>
                  <a:srgbClr val="0000FF"/>
                </a:solidFill>
                <a:latin typeface="宋体" pitchFamily="2" charset="-122"/>
              </a:rPr>
              <a:t>的明暗条纹条件，</a:t>
            </a:r>
            <a:r>
              <a:rPr lang="zh-CN" altLang="en-US" sz="2400" b="1" dirty="0">
                <a:solidFill>
                  <a:srgbClr val="0000FF"/>
                </a:solidFill>
                <a:latin typeface="宋体" pitchFamily="2" charset="-122"/>
              </a:rPr>
              <a:t>以及缝宽，波长等对衍射条纹的影响</a:t>
            </a:r>
          </a:p>
        </p:txBody>
      </p:sp>
      <p:sp>
        <p:nvSpPr>
          <p:cNvPr id="2056" name="Text Box 8"/>
          <p:cNvSpPr txBox="1">
            <a:spLocks noChangeArrowheads="1"/>
          </p:cNvSpPr>
          <p:nvPr/>
        </p:nvSpPr>
        <p:spPr bwMode="auto">
          <a:xfrm>
            <a:off x="228600" y="3213100"/>
            <a:ext cx="8839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en-US" altLang="zh-CN" sz="2400" b="1" dirty="0">
                <a:solidFill>
                  <a:srgbClr val="0000FF"/>
                </a:solidFill>
                <a:latin typeface="宋体" pitchFamily="2" charset="-122"/>
              </a:rPr>
              <a:t>3</a:t>
            </a:r>
            <a:r>
              <a:rPr lang="zh-CN" altLang="en-US" sz="2400" b="1" dirty="0">
                <a:solidFill>
                  <a:srgbClr val="0000FF"/>
                </a:solidFill>
                <a:latin typeface="宋体" pitchFamily="2" charset="-122"/>
              </a:rPr>
              <a:t>．理解光栅衍射方程，会分析光栅常数，光栅缝数</a:t>
            </a:r>
            <a:r>
              <a:rPr lang="en-US" altLang="zh-CN" sz="2400" b="1" i="1" dirty="0">
                <a:solidFill>
                  <a:srgbClr val="0000FF"/>
                </a:solidFill>
                <a:latin typeface="+mn-lt"/>
              </a:rPr>
              <a:t>N</a:t>
            </a:r>
            <a:r>
              <a:rPr lang="zh-CN" altLang="en-US" sz="2400" b="1" dirty="0">
                <a:solidFill>
                  <a:srgbClr val="0000FF"/>
                </a:solidFill>
                <a:latin typeface="宋体" pitchFamily="2" charset="-122"/>
              </a:rPr>
              <a:t>等对条纹的影响</a:t>
            </a:r>
          </a:p>
        </p:txBody>
      </p:sp>
      <p:sp>
        <p:nvSpPr>
          <p:cNvPr id="2057" name="Text Box 9"/>
          <p:cNvSpPr txBox="1">
            <a:spLocks noChangeArrowheads="1"/>
          </p:cNvSpPr>
          <p:nvPr/>
        </p:nvSpPr>
        <p:spPr bwMode="auto">
          <a:xfrm>
            <a:off x="228600" y="4508500"/>
            <a:ext cx="499147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spcBef>
                <a:spcPct val="50000"/>
              </a:spcBef>
            </a:pPr>
            <a:r>
              <a:rPr lang="en-US" altLang="zh-CN" sz="2400" b="1" dirty="0">
                <a:solidFill>
                  <a:srgbClr val="0000FF"/>
                </a:solidFill>
                <a:latin typeface="宋体" pitchFamily="2" charset="-122"/>
              </a:rPr>
              <a:t>4</a:t>
            </a:r>
            <a:r>
              <a:rPr lang="zh-CN" altLang="en-US" sz="2400" b="1" dirty="0" smtClean="0">
                <a:solidFill>
                  <a:srgbClr val="0000FF"/>
                </a:solidFill>
                <a:latin typeface="宋体" pitchFamily="2" charset="-122"/>
              </a:rPr>
              <a:t>．了解</a:t>
            </a:r>
            <a:r>
              <a:rPr lang="en-US" altLang="zh-CN" sz="2400" b="1" dirty="0" smtClean="0">
                <a:solidFill>
                  <a:srgbClr val="0000FF"/>
                </a:solidFill>
                <a:latin typeface="+mn-lt"/>
              </a:rPr>
              <a:t>X</a:t>
            </a:r>
            <a:r>
              <a:rPr lang="zh-CN" altLang="en-US" sz="2400" b="1" dirty="0" smtClean="0">
                <a:solidFill>
                  <a:srgbClr val="0000FF"/>
                </a:solidFill>
                <a:latin typeface="宋体" pitchFamily="2" charset="-122"/>
              </a:rPr>
              <a:t>衍射</a:t>
            </a:r>
            <a:endParaRPr lang="zh-CN" altLang="en-US" sz="2400" b="1" dirty="0">
              <a:solidFill>
                <a:srgbClr val="0000FF"/>
              </a:solidFill>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5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55">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56">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5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4" grpId="0" build="p" autoUpdateAnimBg="0"/>
      <p:bldP spid="2055" grpId="0" build="p" autoUpdateAnimBg="0"/>
      <p:bldP spid="2056" grpId="0" build="p" autoUpdateAnimBg="0"/>
      <p:bldP spid="2057"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96261" name="Object 5"/>
          <p:cNvGraphicFramePr>
            <a:graphicFrameLocks noChangeAspect="1"/>
          </p:cNvGraphicFramePr>
          <p:nvPr/>
        </p:nvGraphicFramePr>
        <p:xfrm>
          <a:off x="1643063" y="2974975"/>
          <a:ext cx="6034087" cy="1800225"/>
        </p:xfrm>
        <a:graphic>
          <a:graphicData uri="http://schemas.openxmlformats.org/presentationml/2006/ole">
            <mc:AlternateContent xmlns:mc="http://schemas.openxmlformats.org/markup-compatibility/2006">
              <mc:Choice xmlns:v="urn:schemas-microsoft-com:vml" Requires="v">
                <p:oleObj spid="_x0000_s75881" name="Equation" r:id="rId3" imgW="2622524" imgH="780981" progId="Equation.3">
                  <p:embed/>
                </p:oleObj>
              </mc:Choice>
              <mc:Fallback>
                <p:oleObj name="Equation" r:id="rId3" imgW="2622524" imgH="780981"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3063" y="2974975"/>
                        <a:ext cx="603408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6263" name="Text Box 7"/>
          <p:cNvSpPr txBox="1">
            <a:spLocks noChangeArrowheads="1"/>
          </p:cNvSpPr>
          <p:nvPr/>
        </p:nvSpPr>
        <p:spPr bwMode="auto">
          <a:xfrm>
            <a:off x="400050" y="338138"/>
            <a:ext cx="203041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rgbClr val="FF3300"/>
                </a:solidFill>
                <a:latin typeface="黑体" pitchFamily="49" charset="-122"/>
                <a:ea typeface="黑体" pitchFamily="49" charset="-122"/>
              </a:rPr>
              <a:t>二、基本内容</a:t>
            </a:r>
          </a:p>
        </p:txBody>
      </p:sp>
      <p:sp>
        <p:nvSpPr>
          <p:cNvPr id="96264" name="Text Box 8"/>
          <p:cNvSpPr txBox="1">
            <a:spLocks noChangeArrowheads="1"/>
          </p:cNvSpPr>
          <p:nvPr/>
        </p:nvSpPr>
        <p:spPr bwMode="auto">
          <a:xfrm>
            <a:off x="704850" y="992188"/>
            <a:ext cx="31083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rgbClr val="FF3300"/>
                </a:solidFill>
                <a:latin typeface="宋体" pitchFamily="2" charset="-122"/>
              </a:rPr>
              <a:t>1</a:t>
            </a:r>
            <a:r>
              <a:rPr lang="zh-CN" altLang="en-US" sz="2400" b="1">
                <a:solidFill>
                  <a:srgbClr val="FF3300"/>
                </a:solidFill>
                <a:latin typeface="宋体" pitchFamily="2" charset="-122"/>
              </a:rPr>
              <a:t>．单缝夫琅禾费衍射</a:t>
            </a:r>
          </a:p>
        </p:txBody>
      </p:sp>
      <p:sp>
        <p:nvSpPr>
          <p:cNvPr id="96265" name="Text Box 9"/>
          <p:cNvSpPr txBox="1">
            <a:spLocks noChangeArrowheads="1"/>
          </p:cNvSpPr>
          <p:nvPr/>
        </p:nvSpPr>
        <p:spPr bwMode="auto">
          <a:xfrm>
            <a:off x="323850" y="1693863"/>
            <a:ext cx="37242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rgbClr val="000000"/>
                </a:solidFill>
                <a:latin typeface="宋体" pitchFamily="2" charset="-122"/>
              </a:rPr>
              <a:t>（</a:t>
            </a:r>
            <a:r>
              <a:rPr lang="en-US" altLang="zh-CN" sz="2400" b="1">
                <a:solidFill>
                  <a:srgbClr val="000000"/>
                </a:solidFill>
                <a:latin typeface="宋体" pitchFamily="2" charset="-122"/>
              </a:rPr>
              <a:t>1</a:t>
            </a:r>
            <a:r>
              <a:rPr lang="zh-CN" altLang="en-US" sz="2400" b="1">
                <a:solidFill>
                  <a:srgbClr val="000000"/>
                </a:solidFill>
                <a:latin typeface="宋体" pitchFamily="2" charset="-122"/>
              </a:rPr>
              <a:t>）半波带法的基本原理</a:t>
            </a:r>
          </a:p>
        </p:txBody>
      </p:sp>
      <p:sp>
        <p:nvSpPr>
          <p:cNvPr id="96266" name="Text Box 10"/>
          <p:cNvSpPr txBox="1">
            <a:spLocks noChangeArrowheads="1"/>
          </p:cNvSpPr>
          <p:nvPr/>
        </p:nvSpPr>
        <p:spPr bwMode="auto">
          <a:xfrm>
            <a:off x="368300" y="2319338"/>
            <a:ext cx="31083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rgbClr val="000000"/>
                </a:solidFill>
                <a:latin typeface="宋体" pitchFamily="2" charset="-122"/>
              </a:rPr>
              <a:t>（</a:t>
            </a:r>
            <a:r>
              <a:rPr lang="en-US" altLang="zh-CN" sz="2400" b="1">
                <a:solidFill>
                  <a:srgbClr val="000000"/>
                </a:solidFill>
                <a:latin typeface="宋体" pitchFamily="2" charset="-122"/>
              </a:rPr>
              <a:t>2</a:t>
            </a:r>
            <a:r>
              <a:rPr lang="zh-CN" altLang="en-US" sz="2400" b="1">
                <a:solidFill>
                  <a:srgbClr val="000000"/>
                </a:solidFill>
                <a:latin typeface="宋体" pitchFamily="2" charset="-122"/>
              </a:rPr>
              <a:t>）明暗条纹的条件</a:t>
            </a:r>
          </a:p>
        </p:txBody>
      </p:sp>
      <p:sp>
        <p:nvSpPr>
          <p:cNvPr id="96267" name="Text Box 11"/>
          <p:cNvSpPr txBox="1">
            <a:spLocks noChangeArrowheads="1"/>
          </p:cNvSpPr>
          <p:nvPr/>
        </p:nvSpPr>
        <p:spPr bwMode="auto">
          <a:xfrm>
            <a:off x="444500" y="5138738"/>
            <a:ext cx="2338388"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rgbClr val="000000"/>
                </a:solidFill>
                <a:latin typeface="宋体" pitchFamily="2" charset="-122"/>
              </a:rPr>
              <a:t>（</a:t>
            </a:r>
            <a:r>
              <a:rPr lang="en-US" altLang="zh-CN" sz="2400" b="1">
                <a:solidFill>
                  <a:srgbClr val="000000"/>
                </a:solidFill>
                <a:latin typeface="宋体" pitchFamily="2" charset="-122"/>
              </a:rPr>
              <a:t>3</a:t>
            </a:r>
            <a:r>
              <a:rPr lang="zh-CN" altLang="en-US" sz="2400" b="1">
                <a:solidFill>
                  <a:srgbClr val="000000"/>
                </a:solidFill>
                <a:latin typeface="宋体" pitchFamily="2" charset="-122"/>
              </a:rPr>
              <a:t>） 条纹宽度</a:t>
            </a:r>
          </a:p>
        </p:txBody>
      </p:sp>
      <p:grpSp>
        <p:nvGrpSpPr>
          <p:cNvPr id="96271" name="Group 15"/>
          <p:cNvGrpSpPr>
            <a:grpSpLocks/>
          </p:cNvGrpSpPr>
          <p:nvPr/>
        </p:nvGrpSpPr>
        <p:grpSpPr bwMode="auto">
          <a:xfrm>
            <a:off x="1187450" y="5746750"/>
            <a:ext cx="4519613" cy="765175"/>
            <a:chOff x="316" y="3388"/>
            <a:chExt cx="2847" cy="482"/>
          </a:xfrm>
        </p:grpSpPr>
        <p:graphicFrame>
          <p:nvGraphicFramePr>
            <p:cNvPr id="75791" name="Object 4"/>
            <p:cNvGraphicFramePr>
              <a:graphicFrameLocks noChangeAspect="1"/>
            </p:cNvGraphicFramePr>
            <p:nvPr/>
          </p:nvGraphicFramePr>
          <p:xfrm>
            <a:off x="2357" y="3388"/>
            <a:ext cx="806" cy="482"/>
          </p:xfrm>
          <a:graphic>
            <a:graphicData uri="http://schemas.openxmlformats.org/presentationml/2006/ole">
              <mc:AlternateContent xmlns:mc="http://schemas.openxmlformats.org/markup-compatibility/2006">
                <mc:Choice xmlns:v="urn:schemas-microsoft-com:vml" Requires="v">
                  <p:oleObj spid="_x0000_s75882" name="Equation" r:id="rId5" imgW="653972" imgH="387373" progId="Equation.3">
                    <p:embed/>
                  </p:oleObj>
                </mc:Choice>
                <mc:Fallback>
                  <p:oleObj name="Equation" r:id="rId5" imgW="653972" imgH="387373"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7" y="3388"/>
                          <a:ext cx="806"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92" name="Text Box 12"/>
            <p:cNvSpPr txBox="1">
              <a:spLocks noChangeArrowheads="1"/>
            </p:cNvSpPr>
            <p:nvPr/>
          </p:nvSpPr>
          <p:spPr bwMode="auto">
            <a:xfrm>
              <a:off x="316" y="3456"/>
              <a:ext cx="205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rgbClr val="000000"/>
                  </a:solidFill>
                  <a:latin typeface="宋体" pitchFamily="2" charset="-122"/>
                </a:rPr>
                <a:t>中央明条宽度：角宽度</a:t>
              </a:r>
            </a:p>
          </p:txBody>
        </p:sp>
      </p:grpSp>
      <p:grpSp>
        <p:nvGrpSpPr>
          <p:cNvPr id="11" name="Group 17"/>
          <p:cNvGrpSpPr>
            <a:grpSpLocks/>
          </p:cNvGrpSpPr>
          <p:nvPr/>
        </p:nvGrpSpPr>
        <p:grpSpPr bwMode="auto">
          <a:xfrm>
            <a:off x="6002338" y="5761038"/>
            <a:ext cx="2601912" cy="787400"/>
            <a:chOff x="892" y="114"/>
            <a:chExt cx="1639" cy="496"/>
          </a:xfrm>
        </p:grpSpPr>
        <p:sp>
          <p:nvSpPr>
            <p:cNvPr id="75789" name="Rectangle 2"/>
            <p:cNvSpPr>
              <a:spLocks noChangeArrowheads="1"/>
            </p:cNvSpPr>
            <p:nvPr/>
          </p:nvSpPr>
          <p:spPr bwMode="auto">
            <a:xfrm>
              <a:off x="892" y="204"/>
              <a:ext cx="69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00"/>
                  </a:solidFill>
                  <a:latin typeface="宋体" pitchFamily="2" charset="-122"/>
                </a:rPr>
                <a:t>线宽度</a:t>
              </a:r>
            </a:p>
          </p:txBody>
        </p:sp>
        <p:graphicFrame>
          <p:nvGraphicFramePr>
            <p:cNvPr id="75790" name="Object 3"/>
            <p:cNvGraphicFramePr>
              <a:graphicFrameLocks noChangeAspect="1"/>
            </p:cNvGraphicFramePr>
            <p:nvPr/>
          </p:nvGraphicFramePr>
          <p:xfrm>
            <a:off x="1552" y="114"/>
            <a:ext cx="979" cy="496"/>
          </p:xfrm>
          <a:graphic>
            <a:graphicData uri="http://schemas.openxmlformats.org/presentationml/2006/ole">
              <mc:AlternateContent xmlns:mc="http://schemas.openxmlformats.org/markup-compatibility/2006">
                <mc:Choice xmlns:v="urn:schemas-microsoft-com:vml" Requires="v">
                  <p:oleObj spid="_x0000_s75883" r:id="rId7" imgW="730276" imgH="362019" progId="Equation.3">
                    <p:embed/>
                  </p:oleObj>
                </mc:Choice>
                <mc:Fallback>
                  <p:oleObj r:id="rId7" imgW="730276" imgH="362019"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52" y="114"/>
                          <a:ext cx="979"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4" name="Group 18"/>
          <p:cNvGrpSpPr>
            <a:grpSpLocks/>
          </p:cNvGrpSpPr>
          <p:nvPr/>
        </p:nvGrpSpPr>
        <p:grpSpPr bwMode="auto">
          <a:xfrm>
            <a:off x="3392488" y="5013325"/>
            <a:ext cx="3627437" cy="774700"/>
            <a:chOff x="912" y="657"/>
            <a:chExt cx="2285" cy="488"/>
          </a:xfrm>
        </p:grpSpPr>
        <p:graphicFrame>
          <p:nvGraphicFramePr>
            <p:cNvPr id="75787" name="Object 4"/>
            <p:cNvGraphicFramePr>
              <a:graphicFrameLocks noChangeAspect="1"/>
            </p:cNvGraphicFramePr>
            <p:nvPr/>
          </p:nvGraphicFramePr>
          <p:xfrm>
            <a:off x="2448" y="657"/>
            <a:ext cx="749" cy="488"/>
          </p:xfrm>
          <a:graphic>
            <a:graphicData uri="http://schemas.openxmlformats.org/presentationml/2006/ole">
              <mc:AlternateContent xmlns:mc="http://schemas.openxmlformats.org/markup-compatibility/2006">
                <mc:Choice xmlns:v="urn:schemas-microsoft-com:vml" Requires="v">
                  <p:oleObj spid="_x0000_s75884" r:id="rId9" imgW="565228" imgH="362019" progId="Equation.3">
                    <p:embed/>
                  </p:oleObj>
                </mc:Choice>
                <mc:Fallback>
                  <p:oleObj r:id="rId9" imgW="565228" imgH="362019"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48" y="657"/>
                          <a:ext cx="749"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88" name="Text Box 5"/>
            <p:cNvSpPr txBox="1">
              <a:spLocks noChangeArrowheads="1"/>
            </p:cNvSpPr>
            <p:nvPr/>
          </p:nvSpPr>
          <p:spPr bwMode="auto">
            <a:xfrm>
              <a:off x="912" y="756"/>
              <a:ext cx="148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rgbClr val="000000"/>
                  </a:solidFill>
                  <a:latin typeface="宋体" pitchFamily="2" charset="-122"/>
                </a:rPr>
                <a:t>其它明条纹宽度</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62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6264">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6265">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6266">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42" fill="hold" nodeType="clickEffect">
                                  <p:stCondLst>
                                    <p:cond delay="0"/>
                                  </p:stCondLst>
                                  <p:childTnLst>
                                    <p:set>
                                      <p:cBhvr>
                                        <p:cTn id="22" dur="1" fill="hold">
                                          <p:stCondLst>
                                            <p:cond delay="0"/>
                                          </p:stCondLst>
                                        </p:cTn>
                                        <p:tgtEl>
                                          <p:spTgt spid="96261"/>
                                        </p:tgtEl>
                                        <p:attrNameLst>
                                          <p:attrName>style.visibility</p:attrName>
                                        </p:attrNameLst>
                                      </p:cBhvr>
                                      <p:to>
                                        <p:strVal val="visible"/>
                                      </p:to>
                                    </p:set>
                                    <p:animEffect transition="in" filter="barn(outHorizontal)">
                                      <p:cBhvr>
                                        <p:cTn id="23" dur="500"/>
                                        <p:tgtEl>
                                          <p:spTgt spid="9626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96267">
                                            <p:txEl>
                                              <p:pRg st="0" end="0"/>
                                            </p:txEl>
                                          </p:spTgt>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499"/>
                                          </p:stCondLst>
                                        </p:cTn>
                                        <p:tgtEl>
                                          <p:spTgt spid="96271"/>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3" grpId="0" build="p" autoUpdateAnimBg="0"/>
      <p:bldP spid="96264" grpId="0" build="p" autoUpdateAnimBg="0"/>
      <p:bldP spid="96265" grpId="0" build="p" autoUpdateAnimBg="0"/>
      <p:bldP spid="96266" grpId="0" build="p" autoUpdateAnimBg="0"/>
      <p:bldP spid="96267"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692696"/>
            <a:ext cx="8208912" cy="1015663"/>
          </a:xfrm>
          <a:prstGeom prst="rect">
            <a:avLst/>
          </a:prstGeom>
          <a:noFill/>
        </p:spPr>
        <p:txBody>
          <a:bodyPr wrap="square" rtlCol="0">
            <a:spAutoFit/>
          </a:bodyPr>
          <a:lstStyle/>
          <a:p>
            <a:r>
              <a:rPr lang="zh-CN" altLang="zh-CN" sz="2000" b="1" dirty="0">
                <a:solidFill>
                  <a:srgbClr val="000000"/>
                </a:solidFill>
                <a:ea typeface="宋体"/>
                <a:cs typeface="宋体"/>
              </a:rPr>
              <a:t>在某单缝夫琅禾费衍射装置中，中央明纹的衍射角范围很小。若使单缝宽度</a:t>
            </a:r>
            <a:r>
              <a:rPr lang="en-US" altLang="zh-CN" sz="2000" b="1" i="1" dirty="0">
                <a:solidFill>
                  <a:srgbClr val="000000"/>
                </a:solidFill>
                <a:ea typeface="宋体"/>
              </a:rPr>
              <a:t>b</a:t>
            </a:r>
            <a:r>
              <a:rPr lang="zh-CN" altLang="zh-CN" sz="2000" b="1" dirty="0">
                <a:solidFill>
                  <a:srgbClr val="000000"/>
                </a:solidFill>
                <a:ea typeface="宋体"/>
                <a:cs typeface="宋体"/>
              </a:rPr>
              <a:t>变为原来的</a:t>
            </a:r>
            <a:r>
              <a:rPr lang="en-US" altLang="zh-CN" sz="2000" b="1" dirty="0">
                <a:solidFill>
                  <a:srgbClr val="000000"/>
                </a:solidFill>
                <a:latin typeface="Times New Roman"/>
                <a:ea typeface="宋体"/>
              </a:rPr>
              <a:t>5/4</a:t>
            </a:r>
            <a:r>
              <a:rPr lang="zh-CN" altLang="zh-CN" sz="2000" b="1" dirty="0">
                <a:solidFill>
                  <a:srgbClr val="000000"/>
                </a:solidFill>
                <a:ea typeface="宋体"/>
                <a:cs typeface="宋体"/>
              </a:rPr>
              <a:t>，同时使入射单色光的波长变为原来的</a:t>
            </a:r>
            <a:r>
              <a:rPr lang="en-US" altLang="zh-CN" sz="2000" b="1" dirty="0">
                <a:solidFill>
                  <a:srgbClr val="000000"/>
                </a:solidFill>
                <a:latin typeface="Times New Roman"/>
                <a:ea typeface="宋体"/>
              </a:rPr>
              <a:t>1/2</a:t>
            </a:r>
            <a:r>
              <a:rPr lang="zh-CN" altLang="zh-CN" sz="2000" b="1" dirty="0">
                <a:solidFill>
                  <a:srgbClr val="000000"/>
                </a:solidFill>
                <a:ea typeface="宋体"/>
                <a:cs typeface="宋体"/>
              </a:rPr>
              <a:t>，则屏幕上单缝衍射条纹中央明纹的宽度</a:t>
            </a:r>
            <a:r>
              <a:rPr lang="en-US" altLang="zh-CN" sz="2000" b="1" dirty="0">
                <a:solidFill>
                  <a:srgbClr val="000000"/>
                </a:solidFill>
                <a:latin typeface="Times New Roman"/>
                <a:ea typeface="宋体"/>
              </a:rPr>
              <a:t>∆</a:t>
            </a:r>
            <a:r>
              <a:rPr lang="en-US" altLang="zh-CN" sz="2000" b="1" i="1" dirty="0">
                <a:solidFill>
                  <a:srgbClr val="000000"/>
                </a:solidFill>
                <a:latin typeface="Cambria"/>
                <a:ea typeface="宋体"/>
              </a:rPr>
              <a:t>x</a:t>
            </a:r>
            <a:r>
              <a:rPr lang="zh-CN" altLang="zh-CN" sz="2000" b="1" dirty="0">
                <a:solidFill>
                  <a:srgbClr val="000000"/>
                </a:solidFill>
                <a:ea typeface="宋体"/>
                <a:cs typeface="宋体"/>
              </a:rPr>
              <a:t>将变为原来的（</a:t>
            </a:r>
            <a:r>
              <a:rPr lang="en-US" altLang="zh-CN" sz="2000" b="1" dirty="0">
                <a:solidFill>
                  <a:srgbClr val="000000"/>
                </a:solidFill>
                <a:latin typeface="Times New Roman"/>
                <a:ea typeface="宋体"/>
              </a:rPr>
              <a:t>    </a:t>
            </a:r>
            <a:r>
              <a:rPr lang="zh-CN" altLang="zh-CN" sz="2000" b="1" dirty="0">
                <a:solidFill>
                  <a:srgbClr val="000000"/>
                </a:solidFill>
                <a:ea typeface="宋体"/>
                <a:cs typeface="宋体"/>
              </a:rPr>
              <a:t>）</a:t>
            </a:r>
            <a:r>
              <a:rPr lang="en-US" altLang="zh-CN" sz="2000" b="1" dirty="0">
                <a:solidFill>
                  <a:srgbClr val="000000"/>
                </a:solidFill>
                <a:latin typeface="Times New Roman"/>
                <a:ea typeface="宋体"/>
              </a:rPr>
              <a:t> </a:t>
            </a:r>
            <a:endParaRPr lang="zh-CN" altLang="en-US" sz="2000" dirty="0">
              <a:solidFill>
                <a:srgbClr val="000000"/>
              </a:solidFill>
            </a:endParaRPr>
          </a:p>
        </p:txBody>
      </p:sp>
      <p:sp>
        <p:nvSpPr>
          <p:cNvPr id="3" name="矩形 2"/>
          <p:cNvSpPr/>
          <p:nvPr/>
        </p:nvSpPr>
        <p:spPr>
          <a:xfrm>
            <a:off x="1115616" y="1988840"/>
            <a:ext cx="4572000" cy="1323439"/>
          </a:xfrm>
          <a:prstGeom prst="rect">
            <a:avLst/>
          </a:prstGeom>
        </p:spPr>
        <p:txBody>
          <a:bodyPr>
            <a:spAutoFit/>
          </a:bodyPr>
          <a:lstStyle/>
          <a:p>
            <a:pPr>
              <a:spcAft>
                <a:spcPts val="0"/>
              </a:spcAft>
            </a:pPr>
            <a:r>
              <a:rPr lang="en-US" altLang="zh-CN" sz="2000" dirty="0">
                <a:solidFill>
                  <a:srgbClr val="000000"/>
                </a:solidFill>
                <a:latin typeface="宋体"/>
                <a:cs typeface="宋体"/>
              </a:rPr>
              <a:t>A</a:t>
            </a:r>
            <a:r>
              <a:rPr lang="zh-CN" altLang="zh-CN" sz="2000" dirty="0">
                <a:solidFill>
                  <a:srgbClr val="000000"/>
                </a:solidFill>
                <a:latin typeface="宋体"/>
                <a:cs typeface="宋体"/>
              </a:rPr>
              <a:t>、 </a:t>
            </a:r>
            <a:r>
              <a:rPr lang="en-US" altLang="zh-CN" sz="2000" dirty="0">
                <a:solidFill>
                  <a:srgbClr val="000000"/>
                </a:solidFill>
                <a:latin typeface="Times New Roman"/>
                <a:cs typeface="宋体"/>
              </a:rPr>
              <a:t>4 / 5 </a:t>
            </a:r>
            <a:r>
              <a:rPr lang="zh-CN" altLang="zh-CN" sz="2000" dirty="0">
                <a:solidFill>
                  <a:srgbClr val="000000"/>
                </a:solidFill>
                <a:latin typeface="宋体"/>
                <a:cs typeface="宋体"/>
              </a:rPr>
              <a:t>倍</a:t>
            </a:r>
            <a:r>
              <a:rPr lang="en-US" altLang="zh-CN" sz="2000" dirty="0">
                <a:solidFill>
                  <a:srgbClr val="000000"/>
                </a:solidFill>
                <a:latin typeface="Times New Roman"/>
                <a:cs typeface="宋体"/>
              </a:rPr>
              <a:t>  </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B</a:t>
            </a:r>
            <a:r>
              <a:rPr lang="zh-CN" altLang="zh-CN" sz="2000" dirty="0">
                <a:solidFill>
                  <a:srgbClr val="000000"/>
                </a:solidFill>
                <a:latin typeface="宋体"/>
                <a:cs typeface="宋体"/>
              </a:rPr>
              <a:t>、 </a:t>
            </a:r>
            <a:r>
              <a:rPr lang="en-US" altLang="zh-CN" sz="2000" dirty="0">
                <a:solidFill>
                  <a:srgbClr val="000000"/>
                </a:solidFill>
                <a:latin typeface="Times New Roman"/>
                <a:cs typeface="宋体"/>
              </a:rPr>
              <a:t>2 / 5 </a:t>
            </a:r>
            <a:r>
              <a:rPr lang="zh-CN" altLang="zh-CN" sz="2000" dirty="0">
                <a:solidFill>
                  <a:srgbClr val="000000"/>
                </a:solidFill>
                <a:latin typeface="宋体"/>
                <a:cs typeface="宋体"/>
              </a:rPr>
              <a:t>倍</a:t>
            </a:r>
            <a:r>
              <a:rPr lang="en-US" altLang="zh-CN" sz="2000" dirty="0">
                <a:solidFill>
                  <a:srgbClr val="000000"/>
                </a:solidFill>
                <a:latin typeface="Times New Roman"/>
                <a:cs typeface="宋体"/>
              </a:rPr>
              <a:t>  </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C</a:t>
            </a:r>
            <a:r>
              <a:rPr lang="zh-CN" altLang="zh-CN" sz="2000" dirty="0">
                <a:solidFill>
                  <a:srgbClr val="000000"/>
                </a:solidFill>
                <a:latin typeface="宋体"/>
                <a:cs typeface="宋体"/>
              </a:rPr>
              <a:t>、 </a:t>
            </a:r>
            <a:r>
              <a:rPr lang="en-US" altLang="zh-CN" sz="2000" dirty="0">
                <a:solidFill>
                  <a:srgbClr val="000000"/>
                </a:solidFill>
                <a:latin typeface="Times New Roman"/>
                <a:cs typeface="宋体"/>
              </a:rPr>
              <a:t>2 </a:t>
            </a:r>
            <a:r>
              <a:rPr lang="zh-CN" altLang="zh-CN" sz="2000" dirty="0">
                <a:solidFill>
                  <a:srgbClr val="000000"/>
                </a:solidFill>
                <a:latin typeface="宋体"/>
                <a:cs typeface="宋体"/>
              </a:rPr>
              <a:t>倍</a:t>
            </a:r>
            <a:r>
              <a:rPr lang="en-US" altLang="zh-CN" sz="2000" dirty="0">
                <a:solidFill>
                  <a:srgbClr val="000000"/>
                </a:solidFill>
                <a:latin typeface="Times New Roman"/>
                <a:cs typeface="宋体"/>
              </a:rPr>
              <a:t>  </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D</a:t>
            </a:r>
            <a:r>
              <a:rPr lang="zh-CN" altLang="zh-CN" sz="2000" dirty="0">
                <a:solidFill>
                  <a:srgbClr val="000000"/>
                </a:solidFill>
                <a:latin typeface="宋体"/>
                <a:cs typeface="宋体"/>
              </a:rPr>
              <a:t>、 </a:t>
            </a:r>
            <a:r>
              <a:rPr lang="en-US" altLang="zh-CN" sz="2000" dirty="0">
                <a:solidFill>
                  <a:srgbClr val="000000"/>
                </a:solidFill>
                <a:latin typeface="Times New Roman"/>
                <a:cs typeface="宋体"/>
              </a:rPr>
              <a:t>5 / 8 </a:t>
            </a:r>
            <a:r>
              <a:rPr lang="zh-CN" altLang="zh-CN" sz="2000" dirty="0">
                <a:solidFill>
                  <a:srgbClr val="000000"/>
                </a:solidFill>
                <a:latin typeface="宋体"/>
                <a:cs typeface="宋体"/>
              </a:rPr>
              <a:t>倍</a:t>
            </a:r>
            <a:r>
              <a:rPr lang="en-US" altLang="zh-CN" sz="2000" dirty="0">
                <a:solidFill>
                  <a:srgbClr val="000000"/>
                </a:solidFill>
                <a:latin typeface="Times New Roman"/>
                <a:cs typeface="宋体"/>
              </a:rPr>
              <a:t>  </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p:txBody>
      </p:sp>
      <p:sp>
        <p:nvSpPr>
          <p:cNvPr id="4" name="矩形 3"/>
          <p:cNvSpPr/>
          <p:nvPr/>
        </p:nvSpPr>
        <p:spPr>
          <a:xfrm>
            <a:off x="6300192" y="1317026"/>
            <a:ext cx="356188" cy="400110"/>
          </a:xfrm>
          <a:prstGeom prst="rect">
            <a:avLst/>
          </a:prstGeom>
        </p:spPr>
        <p:txBody>
          <a:bodyPr wrap="none">
            <a:spAutoFit/>
          </a:bodyPr>
          <a:lstStyle/>
          <a:p>
            <a:r>
              <a:rPr lang="en-US" altLang="zh-CN" sz="2000" dirty="0">
                <a:solidFill>
                  <a:srgbClr val="000000"/>
                </a:solidFill>
              </a:rPr>
              <a:t>B</a:t>
            </a:r>
            <a:endParaRPr lang="zh-CN" altLang="en-US" dirty="0">
              <a:solidFill>
                <a:srgbClr val="FFFFFF"/>
              </a:solidFill>
            </a:endParaRPr>
          </a:p>
        </p:txBody>
      </p:sp>
    </p:spTree>
    <p:extLst>
      <p:ext uri="{BB962C8B-B14F-4D97-AF65-F5344CB8AC3E}">
        <p14:creationId xmlns:p14="http://schemas.microsoft.com/office/powerpoint/2010/main" val="198617572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692696"/>
            <a:ext cx="8208912" cy="1015663"/>
          </a:xfrm>
          <a:prstGeom prst="rect">
            <a:avLst/>
          </a:prstGeom>
          <a:noFill/>
        </p:spPr>
        <p:txBody>
          <a:bodyPr wrap="square" rtlCol="0">
            <a:spAutoFit/>
          </a:bodyPr>
          <a:lstStyle/>
          <a:p>
            <a:r>
              <a:rPr lang="zh-CN" altLang="zh-CN" sz="2000" b="1" dirty="0">
                <a:solidFill>
                  <a:srgbClr val="000000"/>
                </a:solidFill>
                <a:ea typeface="宋体"/>
                <a:cs typeface="宋体"/>
              </a:rPr>
              <a:t>在某单缝夫琅禾费衍射装置中，中央明纹的衍射角范围很小。若使单缝宽度</a:t>
            </a:r>
            <a:r>
              <a:rPr lang="en-US" altLang="zh-CN" sz="2000" b="1" i="1" dirty="0">
                <a:solidFill>
                  <a:srgbClr val="000000"/>
                </a:solidFill>
                <a:ea typeface="宋体"/>
              </a:rPr>
              <a:t>b</a:t>
            </a:r>
            <a:r>
              <a:rPr lang="zh-CN" altLang="zh-CN" sz="2000" b="1" dirty="0">
                <a:solidFill>
                  <a:srgbClr val="000000"/>
                </a:solidFill>
                <a:ea typeface="宋体"/>
                <a:cs typeface="宋体"/>
              </a:rPr>
              <a:t>变为原来的</a:t>
            </a:r>
            <a:r>
              <a:rPr lang="en-US" altLang="zh-CN" sz="2000" b="1" dirty="0">
                <a:solidFill>
                  <a:srgbClr val="000000"/>
                </a:solidFill>
                <a:latin typeface="Times New Roman"/>
                <a:ea typeface="宋体"/>
              </a:rPr>
              <a:t>5/4</a:t>
            </a:r>
            <a:r>
              <a:rPr lang="zh-CN" altLang="zh-CN" sz="2000" b="1" dirty="0">
                <a:solidFill>
                  <a:srgbClr val="000000"/>
                </a:solidFill>
                <a:ea typeface="宋体"/>
                <a:cs typeface="宋体"/>
              </a:rPr>
              <a:t>，同时使入射单色光的波长变为原来的</a:t>
            </a:r>
            <a:r>
              <a:rPr lang="en-US" altLang="zh-CN" sz="2000" b="1" dirty="0">
                <a:solidFill>
                  <a:srgbClr val="000000"/>
                </a:solidFill>
                <a:latin typeface="Times New Roman"/>
                <a:ea typeface="宋体"/>
              </a:rPr>
              <a:t>1/2</a:t>
            </a:r>
            <a:r>
              <a:rPr lang="zh-CN" altLang="zh-CN" sz="2000" b="1" dirty="0">
                <a:solidFill>
                  <a:srgbClr val="000000"/>
                </a:solidFill>
                <a:ea typeface="宋体"/>
                <a:cs typeface="宋体"/>
              </a:rPr>
              <a:t>，则屏幕上单缝衍射条纹中央明纹的宽度</a:t>
            </a:r>
            <a:r>
              <a:rPr lang="en-US" altLang="zh-CN" sz="2000" b="1" dirty="0">
                <a:solidFill>
                  <a:srgbClr val="000000"/>
                </a:solidFill>
                <a:latin typeface="Times New Roman"/>
                <a:ea typeface="宋体"/>
              </a:rPr>
              <a:t>∆</a:t>
            </a:r>
            <a:r>
              <a:rPr lang="en-US" altLang="zh-CN" sz="2000" b="1" i="1" dirty="0">
                <a:solidFill>
                  <a:srgbClr val="000000"/>
                </a:solidFill>
                <a:latin typeface="Cambria"/>
                <a:ea typeface="宋体"/>
              </a:rPr>
              <a:t>x</a:t>
            </a:r>
            <a:r>
              <a:rPr lang="zh-CN" altLang="zh-CN" sz="2000" b="1" dirty="0">
                <a:solidFill>
                  <a:srgbClr val="000000"/>
                </a:solidFill>
                <a:ea typeface="宋体"/>
                <a:cs typeface="宋体"/>
              </a:rPr>
              <a:t>将变为原来的（</a:t>
            </a:r>
            <a:r>
              <a:rPr lang="en-US" altLang="zh-CN" sz="2000" b="1" dirty="0">
                <a:solidFill>
                  <a:srgbClr val="000000"/>
                </a:solidFill>
                <a:latin typeface="Times New Roman"/>
                <a:ea typeface="宋体"/>
              </a:rPr>
              <a:t>    </a:t>
            </a:r>
            <a:r>
              <a:rPr lang="zh-CN" altLang="zh-CN" sz="2000" b="1" dirty="0">
                <a:solidFill>
                  <a:srgbClr val="000000"/>
                </a:solidFill>
                <a:ea typeface="宋体"/>
                <a:cs typeface="宋体"/>
              </a:rPr>
              <a:t>）</a:t>
            </a:r>
            <a:r>
              <a:rPr lang="en-US" altLang="zh-CN" sz="2000" b="1" dirty="0">
                <a:solidFill>
                  <a:srgbClr val="000000"/>
                </a:solidFill>
                <a:latin typeface="Times New Roman"/>
                <a:ea typeface="宋体"/>
              </a:rPr>
              <a:t> </a:t>
            </a:r>
            <a:endParaRPr lang="zh-CN" altLang="en-US" sz="2000" dirty="0">
              <a:solidFill>
                <a:srgbClr val="000000"/>
              </a:solidFill>
            </a:endParaRPr>
          </a:p>
        </p:txBody>
      </p:sp>
      <p:sp>
        <p:nvSpPr>
          <p:cNvPr id="3" name="矩形 2"/>
          <p:cNvSpPr/>
          <p:nvPr/>
        </p:nvSpPr>
        <p:spPr>
          <a:xfrm>
            <a:off x="1115616" y="1988840"/>
            <a:ext cx="4572000" cy="1323439"/>
          </a:xfrm>
          <a:prstGeom prst="rect">
            <a:avLst/>
          </a:prstGeom>
        </p:spPr>
        <p:txBody>
          <a:bodyPr>
            <a:spAutoFit/>
          </a:bodyPr>
          <a:lstStyle/>
          <a:p>
            <a:pPr>
              <a:spcAft>
                <a:spcPts val="0"/>
              </a:spcAft>
            </a:pPr>
            <a:r>
              <a:rPr lang="en-US" altLang="zh-CN" sz="2000" dirty="0">
                <a:solidFill>
                  <a:srgbClr val="000000"/>
                </a:solidFill>
                <a:latin typeface="宋体"/>
                <a:cs typeface="宋体"/>
              </a:rPr>
              <a:t>A</a:t>
            </a:r>
            <a:r>
              <a:rPr lang="zh-CN" altLang="zh-CN" sz="2000" dirty="0">
                <a:solidFill>
                  <a:srgbClr val="000000"/>
                </a:solidFill>
                <a:latin typeface="宋体"/>
                <a:cs typeface="宋体"/>
              </a:rPr>
              <a:t>、 </a:t>
            </a:r>
            <a:r>
              <a:rPr lang="en-US" altLang="zh-CN" sz="2000" dirty="0">
                <a:solidFill>
                  <a:srgbClr val="000000"/>
                </a:solidFill>
                <a:latin typeface="Times New Roman"/>
                <a:cs typeface="宋体"/>
              </a:rPr>
              <a:t>4 / 5 </a:t>
            </a:r>
            <a:r>
              <a:rPr lang="zh-CN" altLang="zh-CN" sz="2000" dirty="0">
                <a:solidFill>
                  <a:srgbClr val="000000"/>
                </a:solidFill>
                <a:latin typeface="宋体"/>
                <a:cs typeface="宋体"/>
              </a:rPr>
              <a:t>倍</a:t>
            </a:r>
            <a:r>
              <a:rPr lang="en-US" altLang="zh-CN" sz="2000" dirty="0">
                <a:solidFill>
                  <a:srgbClr val="000000"/>
                </a:solidFill>
                <a:latin typeface="Times New Roman"/>
                <a:cs typeface="宋体"/>
              </a:rPr>
              <a:t>  </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B</a:t>
            </a:r>
            <a:r>
              <a:rPr lang="zh-CN" altLang="zh-CN" sz="2000" dirty="0">
                <a:solidFill>
                  <a:srgbClr val="000000"/>
                </a:solidFill>
                <a:latin typeface="宋体"/>
                <a:cs typeface="宋体"/>
              </a:rPr>
              <a:t>、 </a:t>
            </a:r>
            <a:r>
              <a:rPr lang="en-US" altLang="zh-CN" sz="2000" dirty="0">
                <a:solidFill>
                  <a:srgbClr val="000000"/>
                </a:solidFill>
                <a:latin typeface="Times New Roman"/>
                <a:cs typeface="宋体"/>
              </a:rPr>
              <a:t>2 / 5 </a:t>
            </a:r>
            <a:r>
              <a:rPr lang="zh-CN" altLang="zh-CN" sz="2000" dirty="0">
                <a:solidFill>
                  <a:srgbClr val="000000"/>
                </a:solidFill>
                <a:latin typeface="宋体"/>
                <a:cs typeface="宋体"/>
              </a:rPr>
              <a:t>倍</a:t>
            </a:r>
            <a:r>
              <a:rPr lang="en-US" altLang="zh-CN" sz="2000" dirty="0">
                <a:solidFill>
                  <a:srgbClr val="000000"/>
                </a:solidFill>
                <a:latin typeface="Times New Roman"/>
                <a:cs typeface="宋体"/>
              </a:rPr>
              <a:t>  </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C</a:t>
            </a:r>
            <a:r>
              <a:rPr lang="zh-CN" altLang="zh-CN" sz="2000" dirty="0">
                <a:solidFill>
                  <a:srgbClr val="000000"/>
                </a:solidFill>
                <a:latin typeface="宋体"/>
                <a:cs typeface="宋体"/>
              </a:rPr>
              <a:t>、 </a:t>
            </a:r>
            <a:r>
              <a:rPr lang="en-US" altLang="zh-CN" sz="2000" dirty="0">
                <a:solidFill>
                  <a:srgbClr val="000000"/>
                </a:solidFill>
                <a:latin typeface="Times New Roman"/>
                <a:cs typeface="宋体"/>
              </a:rPr>
              <a:t>2 </a:t>
            </a:r>
            <a:r>
              <a:rPr lang="zh-CN" altLang="zh-CN" sz="2000" dirty="0">
                <a:solidFill>
                  <a:srgbClr val="000000"/>
                </a:solidFill>
                <a:latin typeface="宋体"/>
                <a:cs typeface="宋体"/>
              </a:rPr>
              <a:t>倍</a:t>
            </a:r>
            <a:r>
              <a:rPr lang="en-US" altLang="zh-CN" sz="2000" dirty="0">
                <a:solidFill>
                  <a:srgbClr val="000000"/>
                </a:solidFill>
                <a:latin typeface="Times New Roman"/>
                <a:cs typeface="宋体"/>
              </a:rPr>
              <a:t>  </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D</a:t>
            </a:r>
            <a:r>
              <a:rPr lang="zh-CN" altLang="zh-CN" sz="2000" dirty="0">
                <a:solidFill>
                  <a:srgbClr val="000000"/>
                </a:solidFill>
                <a:latin typeface="宋体"/>
                <a:cs typeface="宋体"/>
              </a:rPr>
              <a:t>、 </a:t>
            </a:r>
            <a:r>
              <a:rPr lang="en-US" altLang="zh-CN" sz="2000" dirty="0">
                <a:solidFill>
                  <a:srgbClr val="000000"/>
                </a:solidFill>
                <a:latin typeface="Times New Roman"/>
                <a:cs typeface="宋体"/>
              </a:rPr>
              <a:t>5 / 8 </a:t>
            </a:r>
            <a:r>
              <a:rPr lang="zh-CN" altLang="zh-CN" sz="2000" dirty="0">
                <a:solidFill>
                  <a:srgbClr val="000000"/>
                </a:solidFill>
                <a:latin typeface="宋体"/>
                <a:cs typeface="宋体"/>
              </a:rPr>
              <a:t>倍</a:t>
            </a:r>
            <a:r>
              <a:rPr lang="en-US" altLang="zh-CN" sz="2000" dirty="0">
                <a:solidFill>
                  <a:srgbClr val="000000"/>
                </a:solidFill>
                <a:latin typeface="Times New Roman"/>
                <a:cs typeface="宋体"/>
              </a:rPr>
              <a:t>  </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p:txBody>
      </p:sp>
      <p:sp>
        <p:nvSpPr>
          <p:cNvPr id="4" name="矩形 3"/>
          <p:cNvSpPr/>
          <p:nvPr/>
        </p:nvSpPr>
        <p:spPr>
          <a:xfrm>
            <a:off x="6300192" y="1317026"/>
            <a:ext cx="356188" cy="400110"/>
          </a:xfrm>
          <a:prstGeom prst="rect">
            <a:avLst/>
          </a:prstGeom>
        </p:spPr>
        <p:txBody>
          <a:bodyPr wrap="none">
            <a:spAutoFit/>
          </a:bodyPr>
          <a:lstStyle/>
          <a:p>
            <a:r>
              <a:rPr lang="en-US" altLang="zh-CN" sz="2000" dirty="0">
                <a:solidFill>
                  <a:srgbClr val="000000"/>
                </a:solidFill>
              </a:rPr>
              <a:t>B</a:t>
            </a:r>
            <a:endParaRPr lang="zh-CN" altLang="en-US" dirty="0">
              <a:solidFill>
                <a:srgbClr val="FFFFFF"/>
              </a:solidFill>
            </a:endParaRPr>
          </a:p>
        </p:txBody>
      </p:sp>
    </p:spTree>
    <p:extLst>
      <p:ext uri="{BB962C8B-B14F-4D97-AF65-F5344CB8AC3E}">
        <p14:creationId xmlns:p14="http://schemas.microsoft.com/office/powerpoint/2010/main" val="286511213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620688"/>
            <a:ext cx="8136904" cy="1015663"/>
          </a:xfrm>
          <a:prstGeom prst="rect">
            <a:avLst/>
          </a:prstGeom>
          <a:noFill/>
        </p:spPr>
        <p:txBody>
          <a:bodyPr wrap="square" rtlCol="0">
            <a:spAutoFit/>
          </a:bodyPr>
          <a:lstStyle/>
          <a:p>
            <a:r>
              <a:rPr lang="zh-CN" altLang="zh-CN" sz="2000" b="1" dirty="0">
                <a:solidFill>
                  <a:srgbClr val="000000"/>
                </a:solidFill>
                <a:ea typeface="宋体"/>
                <a:cs typeface="宋体"/>
              </a:rPr>
              <a:t>如图所示，狭缝的宽度</a:t>
            </a:r>
            <a:r>
              <a:rPr lang="en-US" altLang="zh-CN" sz="2000" b="1" i="1" dirty="0">
                <a:solidFill>
                  <a:srgbClr val="000000"/>
                </a:solidFill>
                <a:latin typeface="Cambria"/>
                <a:ea typeface="宋体"/>
                <a:cs typeface="宋体"/>
              </a:rPr>
              <a:t>b</a:t>
            </a:r>
            <a:r>
              <a:rPr lang="en-US" altLang="zh-CN" sz="2000" b="1" i="1" dirty="0">
                <a:solidFill>
                  <a:srgbClr val="000000"/>
                </a:solidFill>
                <a:latin typeface="宋体"/>
                <a:cs typeface="宋体"/>
              </a:rPr>
              <a:t>=</a:t>
            </a:r>
            <a:r>
              <a:rPr lang="en-US" altLang="zh-CN" sz="2000" b="1" dirty="0">
                <a:solidFill>
                  <a:srgbClr val="000000"/>
                </a:solidFill>
                <a:latin typeface="宋体"/>
                <a:cs typeface="宋体"/>
              </a:rPr>
              <a:t>0.60mm</a:t>
            </a:r>
            <a:r>
              <a:rPr lang="zh-CN" altLang="zh-CN" sz="2000" b="1" dirty="0">
                <a:solidFill>
                  <a:srgbClr val="000000"/>
                </a:solidFill>
                <a:ea typeface="宋体"/>
                <a:cs typeface="宋体"/>
              </a:rPr>
              <a:t>，透镜焦距</a:t>
            </a:r>
            <a:r>
              <a:rPr lang="en-US" altLang="zh-CN" sz="2000" b="1" i="1" dirty="0">
                <a:solidFill>
                  <a:srgbClr val="000000"/>
                </a:solidFill>
                <a:latin typeface="Cambria"/>
                <a:ea typeface="宋体"/>
                <a:cs typeface="宋体"/>
              </a:rPr>
              <a:t>f</a:t>
            </a:r>
            <a:r>
              <a:rPr lang="en-US" altLang="zh-CN" sz="2000" b="1" i="1" dirty="0">
                <a:solidFill>
                  <a:srgbClr val="000000"/>
                </a:solidFill>
                <a:latin typeface="宋体"/>
                <a:cs typeface="宋体"/>
              </a:rPr>
              <a:t>=</a:t>
            </a:r>
            <a:r>
              <a:rPr lang="en-US" altLang="zh-CN" sz="2000" b="1" dirty="0">
                <a:solidFill>
                  <a:srgbClr val="000000"/>
                </a:solidFill>
                <a:latin typeface="宋体"/>
                <a:cs typeface="宋体"/>
              </a:rPr>
              <a:t>0.40m</a:t>
            </a:r>
            <a:r>
              <a:rPr lang="zh-CN" altLang="zh-CN" sz="2000" b="1" dirty="0">
                <a:solidFill>
                  <a:srgbClr val="000000"/>
                </a:solidFill>
                <a:ea typeface="宋体"/>
                <a:cs typeface="宋体"/>
              </a:rPr>
              <a:t>，有一与狭缝平行的屏放置在透镜的焦平面处。以波长为</a:t>
            </a:r>
            <a:r>
              <a:rPr lang="en-US" altLang="zh-CN" sz="2000" b="1" dirty="0">
                <a:solidFill>
                  <a:srgbClr val="000000"/>
                </a:solidFill>
                <a:ea typeface="宋体"/>
                <a:cs typeface="宋体"/>
              </a:rPr>
              <a:t>600nm</a:t>
            </a:r>
            <a:r>
              <a:rPr lang="zh-CN" altLang="zh-CN" sz="2000" b="1" dirty="0">
                <a:solidFill>
                  <a:srgbClr val="000000"/>
                </a:solidFill>
                <a:ea typeface="宋体"/>
                <a:cs typeface="宋体"/>
              </a:rPr>
              <a:t>的单色平行光垂直照射狭缝，则在屏上坐标</a:t>
            </a:r>
            <a:r>
              <a:rPr lang="en-US" altLang="zh-CN" sz="2000" b="1" i="1" dirty="0">
                <a:solidFill>
                  <a:srgbClr val="000000"/>
                </a:solidFill>
                <a:latin typeface="Cambria"/>
                <a:ea typeface="宋体"/>
                <a:cs typeface="宋体"/>
              </a:rPr>
              <a:t>x</a:t>
            </a:r>
            <a:r>
              <a:rPr lang="en-US" altLang="zh-CN" sz="2000" b="1" i="1" dirty="0">
                <a:solidFill>
                  <a:srgbClr val="000000"/>
                </a:solidFill>
                <a:latin typeface="宋体"/>
                <a:cs typeface="宋体"/>
              </a:rPr>
              <a:t>=</a:t>
            </a:r>
            <a:r>
              <a:rPr lang="en-US" altLang="zh-CN" sz="2000" b="1" dirty="0">
                <a:solidFill>
                  <a:srgbClr val="000000"/>
                </a:solidFill>
                <a:latin typeface="宋体"/>
                <a:cs typeface="宋体"/>
              </a:rPr>
              <a:t>1.2mm</a:t>
            </a:r>
            <a:r>
              <a:rPr lang="zh-CN" altLang="zh-CN" sz="2000" b="1" dirty="0">
                <a:solidFill>
                  <a:srgbClr val="000000"/>
                </a:solidFill>
                <a:ea typeface="宋体"/>
                <a:cs typeface="宋体"/>
              </a:rPr>
              <a:t>的点</a:t>
            </a:r>
            <a:r>
              <a:rPr lang="en-US" altLang="zh-CN" sz="2000" b="1" i="1" dirty="0">
                <a:solidFill>
                  <a:srgbClr val="000000"/>
                </a:solidFill>
                <a:latin typeface="Cambria"/>
                <a:ea typeface="宋体"/>
                <a:cs typeface="宋体"/>
              </a:rPr>
              <a:t>P</a:t>
            </a:r>
            <a:r>
              <a:rPr lang="zh-CN" altLang="zh-CN" sz="2000" b="1" dirty="0">
                <a:solidFill>
                  <a:srgbClr val="000000"/>
                </a:solidFill>
                <a:ea typeface="宋体"/>
                <a:cs typeface="宋体"/>
              </a:rPr>
              <a:t>处（</a:t>
            </a:r>
            <a:r>
              <a:rPr lang="en-US" altLang="zh-CN" sz="2000" b="1" dirty="0">
                <a:solidFill>
                  <a:srgbClr val="000000"/>
                </a:solidFill>
                <a:ea typeface="宋体"/>
                <a:cs typeface="宋体"/>
              </a:rPr>
              <a:t>   </a:t>
            </a:r>
            <a:r>
              <a:rPr lang="zh-CN" altLang="zh-CN" sz="2000" b="1" dirty="0">
                <a:solidFill>
                  <a:srgbClr val="000000"/>
                </a:solidFill>
                <a:ea typeface="宋体"/>
                <a:cs typeface="宋体"/>
              </a:rPr>
              <a:t>）</a:t>
            </a:r>
            <a:endParaRPr lang="zh-CN" altLang="en-US" sz="2000" dirty="0">
              <a:solidFill>
                <a:srgbClr val="000000"/>
              </a:solidFill>
            </a:endParaRPr>
          </a:p>
        </p:txBody>
      </p:sp>
      <p:pic>
        <p:nvPicPr>
          <p:cNvPr id="3" name="图片 2" descr="https://p.ananas.chaoxing.com/star3/origin/81c7fb3c3f0a59fb2f1f76a35698f9ac.png"/>
          <p:cNvPicPr/>
          <p:nvPr/>
        </p:nvPicPr>
        <p:blipFill>
          <a:blip r:link="rId2">
            <a:extLst>
              <a:ext uri="{28A0092B-C50C-407E-A947-70E740481C1C}">
                <a14:useLocalDpi xmlns:a14="http://schemas.microsoft.com/office/drawing/2010/main" val="0"/>
              </a:ext>
            </a:extLst>
          </a:blip>
          <a:srcRect/>
          <a:stretch>
            <a:fillRect/>
          </a:stretch>
        </p:blipFill>
        <p:spPr bwMode="auto">
          <a:xfrm>
            <a:off x="2555776" y="1844824"/>
            <a:ext cx="3724275" cy="1885950"/>
          </a:xfrm>
          <a:prstGeom prst="rect">
            <a:avLst/>
          </a:prstGeom>
          <a:noFill/>
          <a:ln>
            <a:noFill/>
          </a:ln>
        </p:spPr>
      </p:pic>
      <p:sp>
        <p:nvSpPr>
          <p:cNvPr id="4" name="矩形 3"/>
          <p:cNvSpPr/>
          <p:nvPr/>
        </p:nvSpPr>
        <p:spPr>
          <a:xfrm>
            <a:off x="755576" y="3761745"/>
            <a:ext cx="7128792" cy="1323439"/>
          </a:xfrm>
          <a:prstGeom prst="rect">
            <a:avLst/>
          </a:prstGeom>
        </p:spPr>
        <p:txBody>
          <a:bodyPr wrap="square">
            <a:spAutoFit/>
          </a:bodyPr>
          <a:lstStyle/>
          <a:p>
            <a:pPr>
              <a:spcAft>
                <a:spcPts val="0"/>
              </a:spcAft>
            </a:pPr>
            <a:r>
              <a:rPr lang="en-US" altLang="zh-CN" sz="2000" dirty="0">
                <a:solidFill>
                  <a:srgbClr val="000000"/>
                </a:solidFill>
                <a:latin typeface="宋体"/>
                <a:cs typeface="宋体"/>
              </a:rPr>
              <a:t>A</a:t>
            </a:r>
            <a:r>
              <a:rPr lang="zh-CN" altLang="zh-CN" sz="2000" dirty="0">
                <a:solidFill>
                  <a:srgbClr val="000000"/>
                </a:solidFill>
                <a:latin typeface="宋体"/>
                <a:cs typeface="宋体"/>
              </a:rPr>
              <a:t>、 为暗纹中心，单缝处波面可分成的半波带数目为</a:t>
            </a:r>
            <a:r>
              <a:rPr lang="en-US" altLang="zh-CN" sz="2000" dirty="0">
                <a:solidFill>
                  <a:srgbClr val="000000"/>
                </a:solidFill>
                <a:latin typeface="Times New Roman"/>
                <a:cs typeface="宋体"/>
              </a:rPr>
              <a:t>6</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B</a:t>
            </a:r>
            <a:r>
              <a:rPr lang="zh-CN" altLang="zh-CN" sz="2000" dirty="0">
                <a:solidFill>
                  <a:srgbClr val="000000"/>
                </a:solidFill>
                <a:latin typeface="宋体"/>
                <a:cs typeface="宋体"/>
              </a:rPr>
              <a:t>、 为明纹中心，单缝处波面可分成的半波带数目为</a:t>
            </a:r>
            <a:r>
              <a:rPr lang="en-US" altLang="zh-CN" sz="2000" dirty="0">
                <a:solidFill>
                  <a:srgbClr val="000000"/>
                </a:solidFill>
                <a:latin typeface="Times New Roman"/>
                <a:cs typeface="宋体"/>
              </a:rPr>
              <a:t>7</a:t>
            </a:r>
            <a:r>
              <a:rPr lang="en-US" altLang="zh-CN" sz="2000" dirty="0">
                <a:solidFill>
                  <a:srgbClr val="000000"/>
                </a:solidFill>
                <a:latin typeface="宋体"/>
                <a:cs typeface="宋体"/>
              </a:rPr>
              <a:t>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C</a:t>
            </a:r>
            <a:r>
              <a:rPr lang="zh-CN" altLang="zh-CN" sz="2000" dirty="0">
                <a:solidFill>
                  <a:srgbClr val="000000"/>
                </a:solidFill>
                <a:latin typeface="宋体"/>
                <a:cs typeface="宋体"/>
              </a:rPr>
              <a:t>、 </a:t>
            </a:r>
            <a:r>
              <a:rPr lang="zh-CN" altLang="zh-CN" sz="2000" dirty="0" smtClean="0">
                <a:solidFill>
                  <a:srgbClr val="000000"/>
                </a:solidFill>
                <a:latin typeface="宋体"/>
                <a:cs typeface="宋体"/>
              </a:rPr>
              <a:t>为</a:t>
            </a:r>
            <a:r>
              <a:rPr lang="zh-CN" altLang="zh-CN" sz="2000" dirty="0">
                <a:solidFill>
                  <a:srgbClr val="000000"/>
                </a:solidFill>
                <a:latin typeface="宋体"/>
                <a:cs typeface="宋体"/>
              </a:rPr>
              <a:t>暗纹中心，单缝处波面可分成的半波带数目为</a:t>
            </a:r>
            <a:r>
              <a:rPr lang="en-US" altLang="zh-CN" sz="2000" dirty="0">
                <a:solidFill>
                  <a:srgbClr val="000000"/>
                </a:solidFill>
                <a:latin typeface="宋体"/>
                <a:cs typeface="宋体"/>
              </a:rPr>
              <a:t>4</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D</a:t>
            </a:r>
            <a:r>
              <a:rPr lang="zh-CN" altLang="zh-CN" sz="2000" dirty="0">
                <a:solidFill>
                  <a:srgbClr val="000000"/>
                </a:solidFill>
                <a:latin typeface="宋体"/>
                <a:cs typeface="宋体"/>
              </a:rPr>
              <a:t>、 </a:t>
            </a:r>
            <a:r>
              <a:rPr lang="zh-CN" altLang="zh-CN" sz="2000" dirty="0" smtClean="0">
                <a:solidFill>
                  <a:srgbClr val="000000"/>
                </a:solidFill>
                <a:latin typeface="宋体"/>
                <a:cs typeface="宋体"/>
              </a:rPr>
              <a:t>为</a:t>
            </a:r>
            <a:r>
              <a:rPr lang="zh-CN" altLang="zh-CN" sz="2000" dirty="0">
                <a:solidFill>
                  <a:srgbClr val="000000"/>
                </a:solidFill>
                <a:latin typeface="宋体"/>
                <a:cs typeface="宋体"/>
              </a:rPr>
              <a:t>明纹中心，单缝处波面可分成的半波带数目为</a:t>
            </a:r>
            <a:r>
              <a:rPr lang="en-US" altLang="zh-CN" sz="2000" dirty="0">
                <a:solidFill>
                  <a:srgbClr val="000000"/>
                </a:solidFill>
                <a:latin typeface="宋体"/>
                <a:cs typeface="宋体"/>
              </a:rPr>
              <a:t>3</a:t>
            </a:r>
            <a:endParaRPr lang="zh-CN" altLang="zh-CN" sz="2000" dirty="0">
              <a:solidFill>
                <a:srgbClr val="000000"/>
              </a:solidFill>
              <a:latin typeface="宋体"/>
              <a:cs typeface="宋体"/>
            </a:endParaRPr>
          </a:p>
        </p:txBody>
      </p:sp>
      <p:sp>
        <p:nvSpPr>
          <p:cNvPr id="5" name="TextBox 4"/>
          <p:cNvSpPr txBox="1"/>
          <p:nvPr/>
        </p:nvSpPr>
        <p:spPr>
          <a:xfrm>
            <a:off x="4650035" y="1228690"/>
            <a:ext cx="282005" cy="400110"/>
          </a:xfrm>
          <a:prstGeom prst="rect">
            <a:avLst/>
          </a:prstGeom>
          <a:noFill/>
        </p:spPr>
        <p:txBody>
          <a:bodyPr wrap="square" rtlCol="0">
            <a:spAutoFit/>
          </a:bodyPr>
          <a:lstStyle/>
          <a:p>
            <a:r>
              <a:rPr lang="en-US" altLang="zh-CN" sz="2000" b="1" dirty="0" smtClean="0">
                <a:solidFill>
                  <a:srgbClr val="000000"/>
                </a:solidFill>
              </a:rPr>
              <a:t>A</a:t>
            </a:r>
            <a:endParaRPr lang="zh-CN" altLang="en-US" sz="2000" b="1" dirty="0">
              <a:solidFill>
                <a:srgbClr val="000000"/>
              </a:solidFill>
            </a:endParaRPr>
          </a:p>
        </p:txBody>
      </p:sp>
    </p:spTree>
    <p:extLst>
      <p:ext uri="{BB962C8B-B14F-4D97-AF65-F5344CB8AC3E}">
        <p14:creationId xmlns:p14="http://schemas.microsoft.com/office/powerpoint/2010/main" val="84504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9814" name="Text Box 6"/>
          <p:cNvSpPr txBox="1">
            <a:spLocks noChangeArrowheads="1"/>
          </p:cNvSpPr>
          <p:nvPr/>
        </p:nvSpPr>
        <p:spPr bwMode="auto">
          <a:xfrm>
            <a:off x="577850" y="2133600"/>
            <a:ext cx="187801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rgbClr val="FF3300"/>
                </a:solidFill>
                <a:latin typeface="宋体" pitchFamily="2" charset="-122"/>
              </a:rPr>
              <a:t>3</a:t>
            </a:r>
            <a:r>
              <a:rPr lang="zh-CN" altLang="en-US" sz="2400" b="1">
                <a:solidFill>
                  <a:srgbClr val="FF3300"/>
                </a:solidFill>
                <a:latin typeface="宋体" pitchFamily="2" charset="-122"/>
              </a:rPr>
              <a:t>．衍射光栅</a:t>
            </a:r>
          </a:p>
        </p:txBody>
      </p:sp>
      <p:sp>
        <p:nvSpPr>
          <p:cNvPr id="119815" name="Text Box 7"/>
          <p:cNvSpPr txBox="1">
            <a:spLocks noChangeArrowheads="1"/>
          </p:cNvSpPr>
          <p:nvPr/>
        </p:nvSpPr>
        <p:spPr bwMode="auto">
          <a:xfrm>
            <a:off x="336550" y="2751138"/>
            <a:ext cx="798036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lang="zh-CN" altLang="en-US" sz="2400" b="1">
                <a:solidFill>
                  <a:srgbClr val="000000"/>
                </a:solidFill>
                <a:latin typeface="宋体" pitchFamily="2" charset="-122"/>
              </a:rPr>
              <a:t>（</a:t>
            </a:r>
            <a:r>
              <a:rPr lang="en-US" altLang="zh-CN" sz="2400" b="1">
                <a:solidFill>
                  <a:srgbClr val="000000"/>
                </a:solidFill>
                <a:latin typeface="宋体" pitchFamily="2" charset="-122"/>
              </a:rPr>
              <a:t>1</a:t>
            </a:r>
            <a:r>
              <a:rPr lang="zh-CN" altLang="en-US" sz="2400" b="1">
                <a:solidFill>
                  <a:srgbClr val="000000"/>
                </a:solidFill>
                <a:latin typeface="宋体" pitchFamily="2" charset="-122"/>
              </a:rPr>
              <a:t>）光栅衍射是单缝衍射和各缝干涉的总效果</a:t>
            </a:r>
          </a:p>
        </p:txBody>
      </p:sp>
      <p:grpSp>
        <p:nvGrpSpPr>
          <p:cNvPr id="119827" name="Group 19"/>
          <p:cNvGrpSpPr>
            <a:grpSpLocks/>
          </p:cNvGrpSpPr>
          <p:nvPr/>
        </p:nvGrpSpPr>
        <p:grpSpPr bwMode="auto">
          <a:xfrm>
            <a:off x="330200" y="3500438"/>
            <a:ext cx="7254875" cy="490537"/>
            <a:chOff x="192" y="2428"/>
            <a:chExt cx="4570" cy="309"/>
          </a:xfrm>
        </p:grpSpPr>
        <p:sp>
          <p:nvSpPr>
            <p:cNvPr id="76817" name="Text Box 8"/>
            <p:cNvSpPr txBox="1">
              <a:spLocks noChangeArrowheads="1"/>
            </p:cNvSpPr>
            <p:nvPr/>
          </p:nvSpPr>
          <p:spPr bwMode="auto">
            <a:xfrm>
              <a:off x="192" y="2428"/>
              <a:ext cx="137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rgbClr val="000000"/>
                  </a:solidFill>
                  <a:latin typeface="宋体" pitchFamily="2" charset="-122"/>
                </a:rPr>
                <a:t>（</a:t>
              </a:r>
              <a:r>
                <a:rPr lang="en-US" altLang="zh-CN" sz="2400" b="1">
                  <a:solidFill>
                    <a:srgbClr val="000000"/>
                  </a:solidFill>
                  <a:latin typeface="宋体" pitchFamily="2" charset="-122"/>
                </a:rPr>
                <a:t>2</a:t>
              </a:r>
              <a:r>
                <a:rPr lang="zh-CN" altLang="en-US" sz="2400" b="1">
                  <a:solidFill>
                    <a:srgbClr val="000000"/>
                  </a:solidFill>
                  <a:latin typeface="宋体" pitchFamily="2" charset="-122"/>
                </a:rPr>
                <a:t>）光栅方程</a:t>
              </a:r>
            </a:p>
          </p:txBody>
        </p:sp>
        <p:graphicFrame>
          <p:nvGraphicFramePr>
            <p:cNvPr id="76818" name="Object 9"/>
            <p:cNvGraphicFramePr>
              <a:graphicFrameLocks noChangeAspect="1"/>
            </p:cNvGraphicFramePr>
            <p:nvPr/>
          </p:nvGraphicFramePr>
          <p:xfrm>
            <a:off x="1594" y="2435"/>
            <a:ext cx="3168" cy="302"/>
          </p:xfrm>
          <a:graphic>
            <a:graphicData uri="http://schemas.openxmlformats.org/presentationml/2006/ole">
              <mc:AlternateContent xmlns:mc="http://schemas.openxmlformats.org/markup-compatibility/2006">
                <mc:Choice xmlns:v="urn:schemas-microsoft-com:vml" Requires="v">
                  <p:oleObj spid="_x0000_s76929" name="Equation" r:id="rId3" imgW="2114524" imgH="197012" progId="Equation.3">
                    <p:embed/>
                  </p:oleObj>
                </mc:Choice>
                <mc:Fallback>
                  <p:oleObj name="Equation" r:id="rId3" imgW="2114524" imgH="197012"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4" y="2435"/>
                          <a:ext cx="3168"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19828" name="Group 20"/>
          <p:cNvGrpSpPr>
            <a:grpSpLocks/>
          </p:cNvGrpSpPr>
          <p:nvPr/>
        </p:nvGrpSpPr>
        <p:grpSpPr bwMode="auto">
          <a:xfrm>
            <a:off x="349250" y="4298950"/>
            <a:ext cx="8035925" cy="498475"/>
            <a:chOff x="220" y="3216"/>
            <a:chExt cx="5062" cy="314"/>
          </a:xfrm>
        </p:grpSpPr>
        <p:graphicFrame>
          <p:nvGraphicFramePr>
            <p:cNvPr id="76815" name="Object 10"/>
            <p:cNvGraphicFramePr>
              <a:graphicFrameLocks noChangeAspect="1"/>
            </p:cNvGraphicFramePr>
            <p:nvPr/>
          </p:nvGraphicFramePr>
          <p:xfrm>
            <a:off x="1999" y="3217"/>
            <a:ext cx="3283" cy="313"/>
          </p:xfrm>
          <a:graphic>
            <a:graphicData uri="http://schemas.openxmlformats.org/presentationml/2006/ole">
              <mc:AlternateContent xmlns:mc="http://schemas.openxmlformats.org/markup-compatibility/2006">
                <mc:Choice xmlns:v="urn:schemas-microsoft-com:vml" Requires="v">
                  <p:oleObj spid="_x0000_s76930" name="Equation" r:id="rId5" imgW="2114524" imgH="197012" progId="Equation.3">
                    <p:embed/>
                  </p:oleObj>
                </mc:Choice>
                <mc:Fallback>
                  <p:oleObj name="Equation" r:id="rId5" imgW="2114524" imgH="197012"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9" y="3217"/>
                          <a:ext cx="328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16" name="Text Box 12"/>
            <p:cNvSpPr txBox="1">
              <a:spLocks noChangeArrowheads="1"/>
            </p:cNvSpPr>
            <p:nvPr/>
          </p:nvSpPr>
          <p:spPr bwMode="auto">
            <a:xfrm>
              <a:off x="220" y="3216"/>
              <a:ext cx="176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rgbClr val="000000"/>
                  </a:solidFill>
                  <a:latin typeface="宋体" pitchFamily="2" charset="-122"/>
                </a:rPr>
                <a:t>（</a:t>
              </a:r>
              <a:r>
                <a:rPr lang="en-US" altLang="zh-CN" sz="2400" b="1">
                  <a:solidFill>
                    <a:srgbClr val="000000"/>
                  </a:solidFill>
                  <a:latin typeface="宋体" pitchFamily="2" charset="-122"/>
                </a:rPr>
                <a:t>3</a:t>
              </a:r>
              <a:r>
                <a:rPr lang="zh-CN" altLang="en-US" sz="2400" b="1">
                  <a:solidFill>
                    <a:srgbClr val="000000"/>
                  </a:solidFill>
                  <a:latin typeface="宋体" pitchFamily="2" charset="-122"/>
                </a:rPr>
                <a:t>）缺级条件，当</a:t>
              </a:r>
            </a:p>
          </p:txBody>
        </p:sp>
      </p:grpSp>
      <p:grpSp>
        <p:nvGrpSpPr>
          <p:cNvPr id="76806" name="Group 26"/>
          <p:cNvGrpSpPr>
            <a:grpSpLocks/>
          </p:cNvGrpSpPr>
          <p:nvPr/>
        </p:nvGrpSpPr>
        <p:grpSpPr bwMode="auto">
          <a:xfrm>
            <a:off x="539750" y="417513"/>
            <a:ext cx="3802063" cy="1293812"/>
            <a:chOff x="240" y="1536"/>
            <a:chExt cx="2395" cy="815"/>
          </a:xfrm>
        </p:grpSpPr>
        <p:graphicFrame>
          <p:nvGraphicFramePr>
            <p:cNvPr id="76812" name="Object 16"/>
            <p:cNvGraphicFramePr>
              <a:graphicFrameLocks noChangeAspect="1"/>
            </p:cNvGraphicFramePr>
            <p:nvPr/>
          </p:nvGraphicFramePr>
          <p:xfrm>
            <a:off x="1713" y="1872"/>
            <a:ext cx="922" cy="479"/>
          </p:xfrm>
          <a:graphic>
            <a:graphicData uri="http://schemas.openxmlformats.org/presentationml/2006/ole">
              <mc:AlternateContent xmlns:mc="http://schemas.openxmlformats.org/markup-compatibility/2006">
                <mc:Choice xmlns:v="urn:schemas-microsoft-com:vml" Requires="v">
                  <p:oleObj spid="_x0000_s76931" r:id="rId7" imgW="704980" imgH="362019" progId="Equation.3">
                    <p:embed/>
                  </p:oleObj>
                </mc:Choice>
                <mc:Fallback>
                  <p:oleObj r:id="rId7" imgW="704980" imgH="362019"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3" y="1872"/>
                          <a:ext cx="922" cy="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13" name="Text Box 17"/>
            <p:cNvSpPr txBox="1">
              <a:spLocks noChangeArrowheads="1"/>
            </p:cNvSpPr>
            <p:nvPr/>
          </p:nvSpPr>
          <p:spPr bwMode="auto">
            <a:xfrm>
              <a:off x="240" y="1536"/>
              <a:ext cx="195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rgbClr val="FF3300"/>
                  </a:solidFill>
                  <a:latin typeface="宋体" pitchFamily="2" charset="-122"/>
                </a:rPr>
                <a:t>2</a:t>
              </a:r>
              <a:r>
                <a:rPr lang="zh-CN" altLang="en-US" sz="2400" b="1">
                  <a:solidFill>
                    <a:srgbClr val="FF3300"/>
                  </a:solidFill>
                  <a:latin typeface="宋体" pitchFamily="2" charset="-122"/>
                </a:rPr>
                <a:t>．光学仪器的分辩率</a:t>
              </a:r>
            </a:p>
          </p:txBody>
        </p:sp>
        <p:sp>
          <p:nvSpPr>
            <p:cNvPr id="76814" name="Text Box 18"/>
            <p:cNvSpPr txBox="1">
              <a:spLocks noChangeArrowheads="1"/>
            </p:cNvSpPr>
            <p:nvPr/>
          </p:nvSpPr>
          <p:spPr bwMode="auto">
            <a:xfrm>
              <a:off x="536" y="1968"/>
              <a:ext cx="108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rgbClr val="000000"/>
                  </a:solidFill>
                  <a:latin typeface="宋体" pitchFamily="2" charset="-122"/>
                </a:rPr>
                <a:t>最小分辨角</a:t>
              </a:r>
            </a:p>
          </p:txBody>
        </p:sp>
      </p:grpSp>
      <p:grpSp>
        <p:nvGrpSpPr>
          <p:cNvPr id="20" name="Group 25"/>
          <p:cNvGrpSpPr>
            <a:grpSpLocks/>
          </p:cNvGrpSpPr>
          <p:nvPr/>
        </p:nvGrpSpPr>
        <p:grpSpPr bwMode="auto">
          <a:xfrm>
            <a:off x="1116013" y="4941888"/>
            <a:ext cx="6248400" cy="1439862"/>
            <a:chOff x="283" y="163"/>
            <a:chExt cx="3936" cy="907"/>
          </a:xfrm>
        </p:grpSpPr>
        <p:sp>
          <p:nvSpPr>
            <p:cNvPr id="76809" name="Text Box 14"/>
            <p:cNvSpPr txBox="1">
              <a:spLocks noChangeArrowheads="1"/>
            </p:cNvSpPr>
            <p:nvPr/>
          </p:nvSpPr>
          <p:spPr bwMode="auto">
            <a:xfrm>
              <a:off x="283" y="643"/>
              <a:ext cx="39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dirty="0">
                  <a:solidFill>
                    <a:srgbClr val="000000"/>
                  </a:solidFill>
                  <a:latin typeface="宋体" pitchFamily="2" charset="-122"/>
                </a:rPr>
                <a:t>同时成立时，则  </a:t>
              </a:r>
            </a:p>
          </p:txBody>
        </p:sp>
        <p:graphicFrame>
          <p:nvGraphicFramePr>
            <p:cNvPr id="76810" name="Object 2"/>
            <p:cNvGraphicFramePr>
              <a:graphicFrameLocks noChangeAspect="1"/>
            </p:cNvGraphicFramePr>
            <p:nvPr/>
          </p:nvGraphicFramePr>
          <p:xfrm>
            <a:off x="1753" y="541"/>
            <a:ext cx="979" cy="529"/>
          </p:xfrm>
          <a:graphic>
            <a:graphicData uri="http://schemas.openxmlformats.org/presentationml/2006/ole">
              <mc:AlternateContent xmlns:mc="http://schemas.openxmlformats.org/markup-compatibility/2006">
                <mc:Choice xmlns:v="urn:schemas-microsoft-com:vml" Requires="v">
                  <p:oleObj spid="_x0000_s76932" name="Equation" r:id="rId9" imgW="730276" imgH="387373" progId="Equation.3">
                    <p:embed/>
                  </p:oleObj>
                </mc:Choice>
                <mc:Fallback>
                  <p:oleObj name="Equation" r:id="rId9" imgW="730276" imgH="387373" progId="Equation.3">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53" y="541"/>
                          <a:ext cx="979" cy="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11" name="Object 15"/>
            <p:cNvGraphicFramePr>
              <a:graphicFrameLocks noChangeAspect="1"/>
            </p:cNvGraphicFramePr>
            <p:nvPr/>
          </p:nvGraphicFramePr>
          <p:xfrm>
            <a:off x="1598" y="163"/>
            <a:ext cx="2534" cy="307"/>
          </p:xfrm>
          <a:graphic>
            <a:graphicData uri="http://schemas.openxmlformats.org/presentationml/2006/ole">
              <mc:AlternateContent xmlns:mc="http://schemas.openxmlformats.org/markup-compatibility/2006">
                <mc:Choice xmlns:v="urn:schemas-microsoft-com:vml" Requires="v">
                  <p:oleObj spid="_x0000_s76933" name="Equation" r:id="rId11" imgW="1669972" imgH="197012" progId="Equation.3">
                    <p:embed/>
                  </p:oleObj>
                </mc:Choice>
                <mc:Fallback>
                  <p:oleObj name="Equation" r:id="rId11" imgW="1669972" imgH="197012"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98" y="163"/>
                          <a:ext cx="253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5" name="Text Box 6"/>
          <p:cNvSpPr txBox="1">
            <a:spLocks noChangeArrowheads="1"/>
          </p:cNvSpPr>
          <p:nvPr/>
        </p:nvSpPr>
        <p:spPr bwMode="auto">
          <a:xfrm>
            <a:off x="5430838" y="404813"/>
            <a:ext cx="18002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400" b="1" dirty="0">
                <a:solidFill>
                  <a:srgbClr val="FF3300"/>
                </a:solidFill>
                <a:latin typeface="宋体" charset="-122"/>
                <a:ea typeface="宋体" charset="-122"/>
              </a:rPr>
              <a:t>4</a:t>
            </a:r>
            <a:r>
              <a:rPr lang="zh-CN" altLang="en-US" sz="2400" b="1" dirty="0">
                <a:solidFill>
                  <a:srgbClr val="FF3300"/>
                </a:solidFill>
                <a:latin typeface="宋体" charset="-122"/>
                <a:ea typeface="宋体" charset="-122"/>
              </a:rPr>
              <a:t>．</a:t>
            </a:r>
            <a:r>
              <a:rPr lang="en-US" altLang="zh-CN" sz="2400" b="1" dirty="0">
                <a:solidFill>
                  <a:srgbClr val="FF3300"/>
                </a:solidFill>
                <a:latin typeface="+mn-lt"/>
                <a:ea typeface="宋体" charset="-122"/>
              </a:rPr>
              <a:t>X</a:t>
            </a:r>
            <a:r>
              <a:rPr lang="zh-CN" altLang="en-US" sz="2400" b="1" dirty="0">
                <a:solidFill>
                  <a:srgbClr val="FF3300"/>
                </a:solidFill>
                <a:latin typeface="宋体" charset="-122"/>
                <a:ea typeface="宋体" charset="-122"/>
              </a:rPr>
              <a:t>光衍射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98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981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198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198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4" grpId="0" build="p" autoUpdateAnimBg="0"/>
      <p:bldP spid="119815" grpId="0" build="p" autoUpdateAnimBg="0"/>
      <p:bldP spid="25"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7826" name="Group 1049"/>
          <p:cNvGrpSpPr>
            <a:grpSpLocks/>
          </p:cNvGrpSpPr>
          <p:nvPr/>
        </p:nvGrpSpPr>
        <p:grpSpPr bwMode="auto">
          <a:xfrm>
            <a:off x="439738" y="1760538"/>
            <a:ext cx="8596312" cy="1212850"/>
            <a:chOff x="96" y="293"/>
            <a:chExt cx="5415" cy="764"/>
          </a:xfrm>
        </p:grpSpPr>
        <p:sp>
          <p:nvSpPr>
            <p:cNvPr id="77849" name="Text Box 1027"/>
            <p:cNvSpPr txBox="1">
              <a:spLocks noChangeArrowheads="1"/>
            </p:cNvSpPr>
            <p:nvPr/>
          </p:nvSpPr>
          <p:spPr bwMode="auto">
            <a:xfrm>
              <a:off x="96" y="301"/>
              <a:ext cx="5415"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pPr>
              <a:r>
                <a:rPr lang="zh-CN" altLang="en-US" sz="2400" b="1" dirty="0">
                  <a:solidFill>
                    <a:schemeClr val="tx2"/>
                  </a:solidFill>
                  <a:latin typeface="宋体" pitchFamily="2" charset="-122"/>
                </a:rPr>
                <a:t>是几缝衍射</a:t>
              </a:r>
              <a:r>
                <a:rPr lang="zh-CN" altLang="en-US" sz="2400" b="1" dirty="0" smtClean="0">
                  <a:solidFill>
                    <a:schemeClr val="tx2"/>
                  </a:solidFill>
                  <a:latin typeface="宋体" pitchFamily="2" charset="-122"/>
                </a:rPr>
                <a:t>？    </a:t>
              </a:r>
              <a:r>
                <a:rPr lang="zh-CN" altLang="en-US" sz="2400" b="1" dirty="0">
                  <a:solidFill>
                    <a:schemeClr val="tx2"/>
                  </a:solidFill>
                  <a:latin typeface="宋体" pitchFamily="2" charset="-122"/>
                </a:rPr>
                <a:t>等于多少？有哪些缺级？单缝中央明纹有几个主极大？</a:t>
              </a:r>
              <a:endParaRPr lang="en-US" altLang="zh-CN" sz="2400" b="1" dirty="0">
                <a:solidFill>
                  <a:schemeClr val="tx2"/>
                </a:solidFill>
                <a:latin typeface="宋体" pitchFamily="2" charset="-122"/>
              </a:endParaRPr>
            </a:p>
          </p:txBody>
        </p:sp>
        <p:graphicFrame>
          <p:nvGraphicFramePr>
            <p:cNvPr id="77850" name="Object 1026"/>
            <p:cNvGraphicFramePr>
              <a:graphicFrameLocks noChangeAspect="1"/>
            </p:cNvGraphicFramePr>
            <p:nvPr>
              <p:extLst>
                <p:ext uri="{D42A27DB-BD31-4B8C-83A1-F6EECF244321}">
                  <p14:modId xmlns:p14="http://schemas.microsoft.com/office/powerpoint/2010/main" val="3824279214"/>
                </p:ext>
              </p:extLst>
            </p:nvPr>
          </p:nvGraphicFramePr>
          <p:xfrm>
            <a:off x="1293" y="293"/>
            <a:ext cx="389" cy="461"/>
          </p:xfrm>
          <a:graphic>
            <a:graphicData uri="http://schemas.openxmlformats.org/presentationml/2006/ole">
              <mc:AlternateContent xmlns:mc="http://schemas.openxmlformats.org/markup-compatibility/2006">
                <mc:Choice xmlns:v="urn:schemas-microsoft-com:vml" Requires="v">
                  <p:oleObj spid="_x0000_s78005" r:id="rId3" imgW="387324" imgH="362019" progId="Equation.3">
                    <p:embed/>
                  </p:oleObj>
                </mc:Choice>
                <mc:Fallback>
                  <p:oleObj r:id="rId3" imgW="387324" imgH="362019" progId="Equation.3">
                    <p:embed/>
                    <p:pic>
                      <p:nvPicPr>
                        <p:cNvPr id="0" name="Object 10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3" y="293"/>
                          <a:ext cx="389"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21883" name="Group 1051"/>
          <p:cNvGrpSpPr>
            <a:grpSpLocks/>
          </p:cNvGrpSpPr>
          <p:nvPr/>
        </p:nvGrpSpPr>
        <p:grpSpPr bwMode="auto">
          <a:xfrm>
            <a:off x="4932363" y="3368675"/>
            <a:ext cx="3416300" cy="2652713"/>
            <a:chOff x="2204" y="2039"/>
            <a:chExt cx="2152" cy="1671"/>
          </a:xfrm>
        </p:grpSpPr>
        <p:grpSp>
          <p:nvGrpSpPr>
            <p:cNvPr id="77843" name="Group 1050"/>
            <p:cNvGrpSpPr>
              <a:grpSpLocks/>
            </p:cNvGrpSpPr>
            <p:nvPr/>
          </p:nvGrpSpPr>
          <p:grpSpPr bwMode="auto">
            <a:xfrm>
              <a:off x="2269" y="2039"/>
              <a:ext cx="1961" cy="1282"/>
              <a:chOff x="2269" y="2039"/>
              <a:chExt cx="1961" cy="1282"/>
            </a:xfrm>
          </p:grpSpPr>
          <p:graphicFrame>
            <p:nvGraphicFramePr>
              <p:cNvPr id="77845" name="Object 1034"/>
              <p:cNvGraphicFramePr>
                <a:graphicFrameLocks noChangeAspect="1"/>
              </p:cNvGraphicFramePr>
              <p:nvPr/>
            </p:nvGraphicFramePr>
            <p:xfrm>
              <a:off x="2269" y="2039"/>
              <a:ext cx="518" cy="220"/>
            </p:xfrm>
            <a:graphic>
              <a:graphicData uri="http://schemas.openxmlformats.org/presentationml/2006/ole">
                <mc:AlternateContent xmlns:mc="http://schemas.openxmlformats.org/markup-compatibility/2006">
                  <mc:Choice xmlns:v="urn:schemas-microsoft-com:vml" Requires="v">
                    <p:oleObj spid="_x0000_s78006" r:id="rId5" imgW="374469" imgH="158773" progId="Equation.3">
                      <p:embed/>
                    </p:oleObj>
                  </mc:Choice>
                  <mc:Fallback>
                    <p:oleObj r:id="rId5" imgW="374469" imgH="158773" progId="Equation.3">
                      <p:embed/>
                      <p:pic>
                        <p:nvPicPr>
                          <p:cNvPr id="0" name="Object 10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9" y="2039"/>
                            <a:ext cx="51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46" name="Object 1035"/>
              <p:cNvGraphicFramePr>
                <a:graphicFrameLocks noChangeAspect="1"/>
              </p:cNvGraphicFramePr>
              <p:nvPr/>
            </p:nvGraphicFramePr>
            <p:xfrm>
              <a:off x="2269" y="2447"/>
              <a:ext cx="806" cy="492"/>
            </p:xfrm>
            <a:graphic>
              <a:graphicData uri="http://schemas.openxmlformats.org/presentationml/2006/ole">
                <mc:AlternateContent xmlns:mc="http://schemas.openxmlformats.org/markup-compatibility/2006">
                  <mc:Choice xmlns:v="urn:schemas-microsoft-com:vml" Requires="v">
                    <p:oleObj spid="_x0000_s78007" r:id="rId7" imgW="603380" imgH="362019" progId="Equation.3">
                      <p:embed/>
                    </p:oleObj>
                  </mc:Choice>
                  <mc:Fallback>
                    <p:oleObj r:id="rId7" imgW="603380" imgH="362019" progId="Equation.3">
                      <p:embed/>
                      <p:pic>
                        <p:nvPicPr>
                          <p:cNvPr id="0" name="Object 10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9" y="2447"/>
                            <a:ext cx="806"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47" name="Object 1037"/>
              <p:cNvGraphicFramePr>
                <a:graphicFrameLocks noChangeAspect="1"/>
              </p:cNvGraphicFramePr>
              <p:nvPr/>
            </p:nvGraphicFramePr>
            <p:xfrm>
              <a:off x="2276" y="3072"/>
              <a:ext cx="1037" cy="244"/>
            </p:xfrm>
            <a:graphic>
              <a:graphicData uri="http://schemas.openxmlformats.org/presentationml/2006/ole">
                <mc:AlternateContent xmlns:mc="http://schemas.openxmlformats.org/markup-compatibility/2006">
                  <mc:Choice xmlns:v="urn:schemas-microsoft-com:vml" Requires="v">
                    <p:oleObj spid="_x0000_s78008" r:id="rId9" imgW="768428" imgH="171658" progId="Equation.3">
                      <p:embed/>
                    </p:oleObj>
                  </mc:Choice>
                  <mc:Fallback>
                    <p:oleObj r:id="rId9" imgW="768428" imgH="171658" progId="Equation.3">
                      <p:embed/>
                      <p:pic>
                        <p:nvPicPr>
                          <p:cNvPr id="0" name="Object 10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76" y="3072"/>
                            <a:ext cx="103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48" name="Text Box 1038"/>
              <p:cNvSpPr txBox="1">
                <a:spLocks noChangeArrowheads="1"/>
              </p:cNvSpPr>
              <p:nvPr/>
            </p:nvSpPr>
            <p:spPr bwMode="auto">
              <a:xfrm>
                <a:off x="3338" y="3030"/>
                <a:ext cx="8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a:solidFill>
                      <a:srgbClr val="000000"/>
                    </a:solidFill>
                  </a:rPr>
                  <a:t>……</a:t>
                </a:r>
                <a:r>
                  <a:rPr lang="zh-CN" altLang="en-US" sz="2400" b="1">
                    <a:solidFill>
                      <a:srgbClr val="000000"/>
                    </a:solidFill>
                    <a:latin typeface="宋体" pitchFamily="2" charset="-122"/>
                  </a:rPr>
                  <a:t>缺级</a:t>
                </a:r>
              </a:p>
            </p:txBody>
          </p:sp>
        </p:grpSp>
        <p:sp>
          <p:nvSpPr>
            <p:cNvPr id="77844" name="Text Box 1039"/>
            <p:cNvSpPr txBox="1">
              <a:spLocks noChangeArrowheads="1"/>
            </p:cNvSpPr>
            <p:nvPr/>
          </p:nvSpPr>
          <p:spPr bwMode="auto">
            <a:xfrm>
              <a:off x="2204" y="3419"/>
              <a:ext cx="215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rgbClr val="000000"/>
                  </a:solidFill>
                  <a:latin typeface="宋体" pitchFamily="2" charset="-122"/>
                </a:rPr>
                <a:t>中央明纹中有</a:t>
              </a:r>
              <a:r>
                <a:rPr lang="en-US" altLang="zh-CN" sz="2400" b="1">
                  <a:solidFill>
                    <a:srgbClr val="000000"/>
                  </a:solidFill>
                  <a:latin typeface="宋体" pitchFamily="2" charset="-122"/>
                </a:rPr>
                <a:t>3</a:t>
              </a:r>
              <a:r>
                <a:rPr lang="zh-CN" altLang="en-US" sz="2400" b="1">
                  <a:solidFill>
                    <a:srgbClr val="000000"/>
                  </a:solidFill>
                  <a:latin typeface="宋体" pitchFamily="2" charset="-122"/>
                </a:rPr>
                <a:t>个主极大</a:t>
              </a:r>
            </a:p>
          </p:txBody>
        </p:sp>
      </p:grpSp>
      <p:grpSp>
        <p:nvGrpSpPr>
          <p:cNvPr id="121888" name="Group 1056"/>
          <p:cNvGrpSpPr>
            <a:grpSpLocks/>
          </p:cNvGrpSpPr>
          <p:nvPr/>
        </p:nvGrpSpPr>
        <p:grpSpPr bwMode="auto">
          <a:xfrm>
            <a:off x="941388" y="3140075"/>
            <a:ext cx="3198812" cy="3168650"/>
            <a:chOff x="337" y="1104"/>
            <a:chExt cx="2015" cy="1996"/>
          </a:xfrm>
        </p:grpSpPr>
        <p:graphicFrame>
          <p:nvGraphicFramePr>
            <p:cNvPr id="77831" name="Object 1043"/>
            <p:cNvGraphicFramePr>
              <a:graphicFrameLocks noChangeAspect="1"/>
            </p:cNvGraphicFramePr>
            <p:nvPr/>
          </p:nvGraphicFramePr>
          <p:xfrm>
            <a:off x="864" y="2418"/>
            <a:ext cx="250" cy="270"/>
          </p:xfrm>
          <a:graphic>
            <a:graphicData uri="http://schemas.openxmlformats.org/presentationml/2006/ole">
              <mc:AlternateContent xmlns:mc="http://schemas.openxmlformats.org/markup-compatibility/2006">
                <mc:Choice xmlns:v="urn:schemas-microsoft-com:vml" Requires="v">
                  <p:oleObj spid="_x0000_s78009" name="Equation" r:id="rId11" imgW="120676" imgH="133419" progId="Equation.3">
                    <p:embed/>
                  </p:oleObj>
                </mc:Choice>
                <mc:Fallback>
                  <p:oleObj name="Equation" r:id="rId11" imgW="120676" imgH="133419" progId="Equation.3">
                    <p:embed/>
                    <p:pic>
                      <p:nvPicPr>
                        <p:cNvPr id="0" name="Object 10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64" y="2418"/>
                          <a:ext cx="25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32" name="Line 1045"/>
            <p:cNvSpPr>
              <a:spLocks noChangeShapeType="1"/>
            </p:cNvSpPr>
            <p:nvPr/>
          </p:nvSpPr>
          <p:spPr bwMode="auto">
            <a:xfrm flipV="1">
              <a:off x="1152" y="1362"/>
              <a:ext cx="0" cy="144"/>
            </a:xfrm>
            <a:prstGeom prst="line">
              <a:avLst/>
            </a:prstGeom>
            <a:noFill/>
            <a:ln w="12700" cap="sq">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77833" name="Object 1046"/>
            <p:cNvGraphicFramePr>
              <a:graphicFrameLocks noChangeAspect="1"/>
            </p:cNvGraphicFramePr>
            <p:nvPr/>
          </p:nvGraphicFramePr>
          <p:xfrm>
            <a:off x="824" y="1104"/>
            <a:ext cx="232" cy="487"/>
          </p:xfrm>
          <a:graphic>
            <a:graphicData uri="http://schemas.openxmlformats.org/presentationml/2006/ole">
              <mc:AlternateContent xmlns:mc="http://schemas.openxmlformats.org/markup-compatibility/2006">
                <mc:Choice xmlns:v="urn:schemas-microsoft-com:vml" Requires="v">
                  <p:oleObj spid="_x0000_s78010" name="Equation" r:id="rId13" imgW="196980" imgH="425612" progId="Equation.3">
                    <p:embed/>
                  </p:oleObj>
                </mc:Choice>
                <mc:Fallback>
                  <p:oleObj name="Equation" r:id="rId13" imgW="196980" imgH="425612" progId="Equation.3">
                    <p:embed/>
                    <p:pic>
                      <p:nvPicPr>
                        <p:cNvPr id="0" name="Object 104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4" y="1104"/>
                          <a:ext cx="232" cy="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34" name="Object 1047"/>
            <p:cNvGraphicFramePr>
              <a:graphicFrameLocks noChangeAspect="1"/>
            </p:cNvGraphicFramePr>
            <p:nvPr/>
          </p:nvGraphicFramePr>
          <p:xfrm>
            <a:off x="1975" y="2487"/>
            <a:ext cx="377" cy="201"/>
          </p:xfrm>
          <a:graphic>
            <a:graphicData uri="http://schemas.openxmlformats.org/presentationml/2006/ole">
              <mc:AlternateContent xmlns:mc="http://schemas.openxmlformats.org/markup-compatibility/2006">
                <mc:Choice xmlns:v="urn:schemas-microsoft-com:vml" Requires="v">
                  <p:oleObj spid="_x0000_s78011" name="Equation" r:id="rId15" imgW="323876" imgH="171658" progId="Equation.3">
                    <p:embed/>
                  </p:oleObj>
                </mc:Choice>
                <mc:Fallback>
                  <p:oleObj name="Equation" r:id="rId15" imgW="323876" imgH="171658" progId="Equation.3">
                    <p:embed/>
                    <p:pic>
                      <p:nvPicPr>
                        <p:cNvPr id="0" name="Object 104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75" y="2487"/>
                          <a:ext cx="37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35" name="Rectangle 1048"/>
            <p:cNvSpPr>
              <a:spLocks noChangeArrowheads="1"/>
            </p:cNvSpPr>
            <p:nvPr/>
          </p:nvSpPr>
          <p:spPr bwMode="auto">
            <a:xfrm>
              <a:off x="937" y="2809"/>
              <a:ext cx="7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a:solidFill>
                    <a:srgbClr val="000000"/>
                  </a:solidFill>
                  <a:latin typeface="宋体" pitchFamily="2" charset="-122"/>
                </a:rPr>
                <a:t>图（</a:t>
              </a:r>
              <a:r>
                <a:rPr lang="en-US" altLang="zh-CN" sz="2400" b="1">
                  <a:solidFill>
                    <a:srgbClr val="000000"/>
                  </a:solidFill>
                  <a:latin typeface="宋体" pitchFamily="2" charset="-122"/>
                </a:rPr>
                <a:t>a</a:t>
              </a:r>
              <a:r>
                <a:rPr lang="zh-CN" altLang="en-US" sz="2400" b="1">
                  <a:solidFill>
                    <a:srgbClr val="000000"/>
                  </a:solidFill>
                  <a:latin typeface="宋体" pitchFamily="2" charset="-122"/>
                </a:rPr>
                <a:t>）</a:t>
              </a:r>
            </a:p>
          </p:txBody>
        </p:sp>
        <p:grpSp>
          <p:nvGrpSpPr>
            <p:cNvPr id="77836" name="Group 1055"/>
            <p:cNvGrpSpPr>
              <a:grpSpLocks/>
            </p:cNvGrpSpPr>
            <p:nvPr/>
          </p:nvGrpSpPr>
          <p:grpSpPr bwMode="auto">
            <a:xfrm>
              <a:off x="337" y="1440"/>
              <a:ext cx="1871" cy="1207"/>
              <a:chOff x="337" y="1440"/>
              <a:chExt cx="1871" cy="1207"/>
            </a:xfrm>
          </p:grpSpPr>
          <p:grpSp>
            <p:nvGrpSpPr>
              <p:cNvPr id="77837" name="Group 1052"/>
              <p:cNvGrpSpPr>
                <a:grpSpLocks/>
              </p:cNvGrpSpPr>
              <p:nvPr/>
            </p:nvGrpSpPr>
            <p:grpSpPr bwMode="auto">
              <a:xfrm>
                <a:off x="337" y="1440"/>
                <a:ext cx="1823" cy="1207"/>
                <a:chOff x="288" y="1410"/>
                <a:chExt cx="1823" cy="1207"/>
              </a:xfrm>
            </p:grpSpPr>
            <p:sp>
              <p:nvSpPr>
                <p:cNvPr id="77839" name="Line 1029"/>
                <p:cNvSpPr>
                  <a:spLocks noChangeShapeType="1"/>
                </p:cNvSpPr>
                <p:nvPr/>
              </p:nvSpPr>
              <p:spPr bwMode="auto">
                <a:xfrm>
                  <a:off x="288" y="2411"/>
                  <a:ext cx="1823"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0" name="Line 1030"/>
                <p:cNvSpPr>
                  <a:spLocks noChangeShapeType="1"/>
                </p:cNvSpPr>
                <p:nvPr/>
              </p:nvSpPr>
              <p:spPr bwMode="auto">
                <a:xfrm>
                  <a:off x="1152" y="1410"/>
                  <a:ext cx="0" cy="1207"/>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1" name="Freeform 1031"/>
                <p:cNvSpPr>
                  <a:spLocks/>
                </p:cNvSpPr>
                <p:nvPr/>
              </p:nvSpPr>
              <p:spPr bwMode="auto">
                <a:xfrm>
                  <a:off x="528" y="1545"/>
                  <a:ext cx="1219" cy="969"/>
                </a:xfrm>
                <a:custGeom>
                  <a:avLst/>
                  <a:gdLst>
                    <a:gd name="T0" fmla="*/ 0 w 3050"/>
                    <a:gd name="T1" fmla="*/ 885 h 2422"/>
                    <a:gd name="T2" fmla="*/ 164 w 3050"/>
                    <a:gd name="T3" fmla="*/ 536 h 2422"/>
                    <a:gd name="T4" fmla="*/ 380 w 3050"/>
                    <a:gd name="T5" fmla="*/ 877 h 2422"/>
                    <a:gd name="T6" fmla="*/ 627 w 3050"/>
                    <a:gd name="T7" fmla="*/ 1 h 2422"/>
                    <a:gd name="T8" fmla="*/ 871 w 3050"/>
                    <a:gd name="T9" fmla="*/ 881 h 2422"/>
                    <a:gd name="T10" fmla="*/ 1087 w 3050"/>
                    <a:gd name="T11" fmla="*/ 533 h 2422"/>
                    <a:gd name="T12" fmla="*/ 1219 w 3050"/>
                    <a:gd name="T13" fmla="*/ 893 h 24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50" h="2422">
                      <a:moveTo>
                        <a:pt x="0" y="2211"/>
                      </a:moveTo>
                      <a:cubicBezTo>
                        <a:pt x="260" y="2110"/>
                        <a:pt x="252" y="1343"/>
                        <a:pt x="410" y="1340"/>
                      </a:cubicBezTo>
                      <a:cubicBezTo>
                        <a:pt x="568" y="1337"/>
                        <a:pt x="757" y="2414"/>
                        <a:pt x="950" y="2191"/>
                      </a:cubicBezTo>
                      <a:cubicBezTo>
                        <a:pt x="1143" y="1968"/>
                        <a:pt x="1365" y="0"/>
                        <a:pt x="1570" y="2"/>
                      </a:cubicBezTo>
                      <a:cubicBezTo>
                        <a:pt x="1775" y="4"/>
                        <a:pt x="1988" y="1980"/>
                        <a:pt x="2180" y="2201"/>
                      </a:cubicBezTo>
                      <a:cubicBezTo>
                        <a:pt x="2372" y="2422"/>
                        <a:pt x="2575" y="1326"/>
                        <a:pt x="2720" y="1331"/>
                      </a:cubicBezTo>
                      <a:cubicBezTo>
                        <a:pt x="2865" y="1336"/>
                        <a:pt x="2905" y="2088"/>
                        <a:pt x="3050" y="2231"/>
                      </a:cubicBezTo>
                    </a:path>
                  </a:pathLst>
                </a:custGeom>
                <a:noFill/>
                <a:ln w="3810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842" name="Freeform 1032"/>
                <p:cNvSpPr>
                  <a:spLocks/>
                </p:cNvSpPr>
                <p:nvPr/>
              </p:nvSpPr>
              <p:spPr bwMode="auto">
                <a:xfrm>
                  <a:off x="468" y="1528"/>
                  <a:ext cx="1407" cy="901"/>
                </a:xfrm>
                <a:custGeom>
                  <a:avLst/>
                  <a:gdLst>
                    <a:gd name="T0" fmla="*/ 0 w 3520"/>
                    <a:gd name="T1" fmla="*/ 889 h 2253"/>
                    <a:gd name="T2" fmla="*/ 224 w 3520"/>
                    <a:gd name="T3" fmla="*/ 533 h 2253"/>
                    <a:gd name="T4" fmla="*/ 692 w 3520"/>
                    <a:gd name="T5" fmla="*/ 6 h 2253"/>
                    <a:gd name="T6" fmla="*/ 1163 w 3520"/>
                    <a:gd name="T7" fmla="*/ 533 h 2253"/>
                    <a:gd name="T8" fmla="*/ 1407 w 3520"/>
                    <a:gd name="T9" fmla="*/ 901 h 22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20" h="2253">
                      <a:moveTo>
                        <a:pt x="0" y="2223"/>
                      </a:moveTo>
                      <a:cubicBezTo>
                        <a:pt x="200" y="2063"/>
                        <a:pt x="300" y="1803"/>
                        <a:pt x="560" y="1333"/>
                      </a:cubicBezTo>
                      <a:cubicBezTo>
                        <a:pt x="870" y="958"/>
                        <a:pt x="1338" y="14"/>
                        <a:pt x="1730" y="14"/>
                      </a:cubicBezTo>
                      <a:cubicBezTo>
                        <a:pt x="2120" y="0"/>
                        <a:pt x="2630" y="993"/>
                        <a:pt x="2910" y="1333"/>
                      </a:cubicBezTo>
                      <a:cubicBezTo>
                        <a:pt x="3140" y="1693"/>
                        <a:pt x="3350" y="2103"/>
                        <a:pt x="3520" y="2253"/>
                      </a:cubicBezTo>
                    </a:path>
                  </a:pathLst>
                </a:custGeom>
                <a:noFill/>
                <a:ln w="19050" cap="rnd" cmpd="sng">
                  <a:solidFill>
                    <a:schemeClr val="hlink"/>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7838" name="Line 1054"/>
              <p:cNvSpPr>
                <a:spLocks noChangeShapeType="1"/>
              </p:cNvSpPr>
              <p:nvPr/>
            </p:nvSpPr>
            <p:spPr bwMode="auto">
              <a:xfrm>
                <a:off x="2160" y="2448"/>
                <a:ext cx="48" cy="0"/>
              </a:xfrm>
              <a:prstGeom prst="line">
                <a:avLst/>
              </a:prstGeom>
              <a:noFill/>
              <a:ln w="12700" cap="sq">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26" name="Text Box 18"/>
          <p:cNvSpPr txBox="1">
            <a:spLocks noChangeArrowheads="1"/>
          </p:cNvSpPr>
          <p:nvPr/>
        </p:nvSpPr>
        <p:spPr bwMode="auto">
          <a:xfrm>
            <a:off x="609600" y="1227138"/>
            <a:ext cx="62183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en-US" altLang="zh-CN" sz="2400" b="1" dirty="0">
                <a:solidFill>
                  <a:schemeClr val="tx1"/>
                </a:solidFill>
                <a:latin typeface="宋体" pitchFamily="2" charset="-122"/>
              </a:rPr>
              <a:t>1</a:t>
            </a:r>
            <a:r>
              <a:rPr lang="zh-CN" altLang="en-US" sz="2400" b="1" dirty="0">
                <a:solidFill>
                  <a:schemeClr val="tx1"/>
                </a:solidFill>
                <a:latin typeface="宋体" pitchFamily="2" charset="-122"/>
              </a:rPr>
              <a:t>．由</a:t>
            </a:r>
            <a:r>
              <a:rPr lang="zh-CN" altLang="en-US" sz="2400" b="1" dirty="0" smtClean="0">
                <a:solidFill>
                  <a:schemeClr val="tx1"/>
                </a:solidFill>
                <a:latin typeface="宋体" pitchFamily="2" charset="-122"/>
              </a:rPr>
              <a:t>下列衍射光强分布曲线</a:t>
            </a:r>
            <a:r>
              <a:rPr lang="zh-CN" altLang="en-US" sz="2400" b="1" dirty="0">
                <a:solidFill>
                  <a:schemeClr val="tx1"/>
                </a:solidFill>
                <a:latin typeface="宋体" pitchFamily="2" charset="-122"/>
              </a:rPr>
              <a:t>，回答下列问题</a:t>
            </a:r>
          </a:p>
        </p:txBody>
      </p:sp>
      <p:sp>
        <p:nvSpPr>
          <p:cNvPr id="27" name="Rectangle 18"/>
          <p:cNvSpPr>
            <a:spLocks noChangeArrowheads="1"/>
          </p:cNvSpPr>
          <p:nvPr/>
        </p:nvSpPr>
        <p:spPr bwMode="auto">
          <a:xfrm>
            <a:off x="450850" y="447675"/>
            <a:ext cx="14224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kumimoji="0" lang="zh-CN" altLang="en-US" sz="2400" b="1" kern="0" dirty="0">
                <a:solidFill>
                  <a:srgbClr val="FF3300"/>
                </a:solidFill>
                <a:latin typeface="黑体" pitchFamily="2" charset="-122"/>
                <a:ea typeface="黑体" pitchFamily="2" charset="-122"/>
              </a:rPr>
              <a:t>三、练习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8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121888"/>
                                        </p:tgtEl>
                                        <p:attrNameLst>
                                          <p:attrName>style.visibility</p:attrName>
                                        </p:attrNameLst>
                                      </p:cBhvr>
                                      <p:to>
                                        <p:strVal val="visible"/>
                                      </p:to>
                                    </p:set>
                                    <p:anim calcmode="lin" valueType="num">
                                      <p:cBhvr additive="base">
                                        <p:cTn id="15" dur="500" fill="hold"/>
                                        <p:tgtEl>
                                          <p:spTgt spid="121888"/>
                                        </p:tgtEl>
                                        <p:attrNameLst>
                                          <p:attrName>ppt_x</p:attrName>
                                        </p:attrNameLst>
                                      </p:cBhvr>
                                      <p:tavLst>
                                        <p:tav tm="0">
                                          <p:val>
                                            <p:strVal val="0-#ppt_w/2"/>
                                          </p:val>
                                        </p:tav>
                                        <p:tav tm="100000">
                                          <p:val>
                                            <p:strVal val="#ppt_x"/>
                                          </p:val>
                                        </p:tav>
                                      </p:tavLst>
                                    </p:anim>
                                    <p:anim calcmode="lin" valueType="num">
                                      <p:cBhvr additive="base">
                                        <p:cTn id="16" dur="500" fill="hold"/>
                                        <p:tgtEl>
                                          <p:spTgt spid="121888"/>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121883"/>
                                        </p:tgtEl>
                                        <p:attrNameLst>
                                          <p:attrName>style.visibility</p:attrName>
                                        </p:attrNameLst>
                                      </p:cBhvr>
                                      <p:to>
                                        <p:strVal val="visible"/>
                                      </p:to>
                                    </p:set>
                                    <p:anim calcmode="lin" valueType="num">
                                      <p:cBhvr additive="base">
                                        <p:cTn id="21" dur="500" fill="hold"/>
                                        <p:tgtEl>
                                          <p:spTgt spid="121883"/>
                                        </p:tgtEl>
                                        <p:attrNameLst>
                                          <p:attrName>ppt_x</p:attrName>
                                        </p:attrNameLst>
                                      </p:cBhvr>
                                      <p:tavLst>
                                        <p:tav tm="0">
                                          <p:val>
                                            <p:strVal val="1+#ppt_w/2"/>
                                          </p:val>
                                        </p:tav>
                                        <p:tav tm="100000">
                                          <p:val>
                                            <p:strVal val="#ppt_x"/>
                                          </p:val>
                                        </p:tav>
                                      </p:tavLst>
                                    </p:anim>
                                    <p:anim calcmode="lin" valueType="num">
                                      <p:cBhvr additive="base">
                                        <p:cTn id="22" dur="500" fill="hold"/>
                                        <p:tgtEl>
                                          <p:spTgt spid="1218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2920" name="Group 1064"/>
          <p:cNvGrpSpPr>
            <a:grpSpLocks/>
          </p:cNvGrpSpPr>
          <p:nvPr/>
        </p:nvGrpSpPr>
        <p:grpSpPr bwMode="auto">
          <a:xfrm>
            <a:off x="4395788" y="2605088"/>
            <a:ext cx="3424237" cy="2984500"/>
            <a:chOff x="2276" y="1673"/>
            <a:chExt cx="2157" cy="1880"/>
          </a:xfrm>
        </p:grpSpPr>
        <p:graphicFrame>
          <p:nvGraphicFramePr>
            <p:cNvPr id="78874" name="Object 1048"/>
            <p:cNvGraphicFramePr>
              <a:graphicFrameLocks noChangeAspect="1"/>
            </p:cNvGraphicFramePr>
            <p:nvPr/>
          </p:nvGraphicFramePr>
          <p:xfrm>
            <a:off x="2341" y="1673"/>
            <a:ext cx="576" cy="247"/>
          </p:xfrm>
          <a:graphic>
            <a:graphicData uri="http://schemas.openxmlformats.org/presentationml/2006/ole">
              <mc:AlternateContent xmlns:mc="http://schemas.openxmlformats.org/markup-compatibility/2006">
                <mc:Choice xmlns:v="urn:schemas-microsoft-com:vml" Requires="v">
                  <p:oleObj spid="_x0000_s79033" r:id="rId3" imgW="374469" imgH="158773" progId="Equation.3">
                    <p:embed/>
                  </p:oleObj>
                </mc:Choice>
                <mc:Fallback>
                  <p:oleObj r:id="rId3" imgW="374469" imgH="158773" progId="Equation.3">
                    <p:embed/>
                    <p:pic>
                      <p:nvPicPr>
                        <p:cNvPr id="0" name="Object 1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1" y="1673"/>
                          <a:ext cx="576"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75" name="Object 1049"/>
            <p:cNvGraphicFramePr>
              <a:graphicFrameLocks noChangeAspect="1"/>
            </p:cNvGraphicFramePr>
            <p:nvPr/>
          </p:nvGraphicFramePr>
          <p:xfrm>
            <a:off x="2352" y="2102"/>
            <a:ext cx="806" cy="492"/>
          </p:xfrm>
          <a:graphic>
            <a:graphicData uri="http://schemas.openxmlformats.org/presentationml/2006/ole">
              <mc:AlternateContent xmlns:mc="http://schemas.openxmlformats.org/markup-compatibility/2006">
                <mc:Choice xmlns:v="urn:schemas-microsoft-com:vml" Requires="v">
                  <p:oleObj spid="_x0000_s79034" r:id="rId5" imgW="603380" imgH="362019" progId="Equation.3">
                    <p:embed/>
                  </p:oleObj>
                </mc:Choice>
                <mc:Fallback>
                  <p:oleObj r:id="rId5" imgW="603380" imgH="362019" progId="Equation.3">
                    <p:embed/>
                    <p:pic>
                      <p:nvPicPr>
                        <p:cNvPr id="0" name="Object 10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2" y="2102"/>
                          <a:ext cx="806"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76" name="Object 1050"/>
            <p:cNvGraphicFramePr>
              <a:graphicFrameLocks noChangeAspect="1"/>
            </p:cNvGraphicFramePr>
            <p:nvPr/>
          </p:nvGraphicFramePr>
          <p:xfrm>
            <a:off x="2341" y="2737"/>
            <a:ext cx="1498" cy="274"/>
          </p:xfrm>
          <a:graphic>
            <a:graphicData uri="http://schemas.openxmlformats.org/presentationml/2006/ole">
              <mc:AlternateContent xmlns:mc="http://schemas.openxmlformats.org/markup-compatibility/2006">
                <mc:Choice xmlns:v="urn:schemas-microsoft-com:vml" Requires="v">
                  <p:oleObj spid="_x0000_s79035" r:id="rId7" imgW="984069" imgH="171658" progId="Equation.3">
                    <p:embed/>
                  </p:oleObj>
                </mc:Choice>
                <mc:Fallback>
                  <p:oleObj r:id="rId7" imgW="984069" imgH="171658" progId="Equation.3">
                    <p:embed/>
                    <p:pic>
                      <p:nvPicPr>
                        <p:cNvPr id="0" name="Object 10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1" y="2737"/>
                          <a:ext cx="1498"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77" name="Rectangle 1051"/>
            <p:cNvSpPr>
              <a:spLocks noChangeArrowheads="1"/>
            </p:cNvSpPr>
            <p:nvPr/>
          </p:nvSpPr>
          <p:spPr bwMode="auto">
            <a:xfrm>
              <a:off x="3929" y="2737"/>
              <a:ext cx="50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00"/>
                  </a:solidFill>
                  <a:latin typeface="宋体" pitchFamily="2" charset="-122"/>
                </a:rPr>
                <a:t>缺级</a:t>
              </a:r>
            </a:p>
          </p:txBody>
        </p:sp>
        <p:sp>
          <p:nvSpPr>
            <p:cNvPr id="78878" name="Rectangle 1052"/>
            <p:cNvSpPr>
              <a:spLocks noChangeArrowheads="1"/>
            </p:cNvSpPr>
            <p:nvPr/>
          </p:nvSpPr>
          <p:spPr bwMode="auto">
            <a:xfrm>
              <a:off x="2276" y="3262"/>
              <a:ext cx="215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00"/>
                  </a:solidFill>
                  <a:latin typeface="宋体" pitchFamily="2" charset="-122"/>
                </a:rPr>
                <a:t>中央明纹中有</a:t>
              </a:r>
              <a:r>
                <a:rPr lang="en-US" altLang="zh-CN" sz="2400" b="1">
                  <a:solidFill>
                    <a:srgbClr val="000000"/>
                  </a:solidFill>
                  <a:latin typeface="宋体" pitchFamily="2" charset="-122"/>
                </a:rPr>
                <a:t>7</a:t>
              </a:r>
              <a:r>
                <a:rPr lang="zh-CN" altLang="en-US" sz="2400" b="1">
                  <a:solidFill>
                    <a:srgbClr val="000000"/>
                  </a:solidFill>
                  <a:latin typeface="宋体" pitchFamily="2" charset="-122"/>
                </a:rPr>
                <a:t>个主极大</a:t>
              </a:r>
            </a:p>
          </p:txBody>
        </p:sp>
      </p:grpSp>
      <p:grpSp>
        <p:nvGrpSpPr>
          <p:cNvPr id="122922" name="Group 1066"/>
          <p:cNvGrpSpPr>
            <a:grpSpLocks/>
          </p:cNvGrpSpPr>
          <p:nvPr/>
        </p:nvGrpSpPr>
        <p:grpSpPr bwMode="auto">
          <a:xfrm>
            <a:off x="984250" y="2711450"/>
            <a:ext cx="2819400" cy="2747963"/>
            <a:chOff x="240" y="1632"/>
            <a:chExt cx="1776" cy="1731"/>
          </a:xfrm>
        </p:grpSpPr>
        <p:sp>
          <p:nvSpPr>
            <p:cNvPr id="78855" name="Rectangle 1053"/>
            <p:cNvSpPr>
              <a:spLocks noChangeArrowheads="1"/>
            </p:cNvSpPr>
            <p:nvPr/>
          </p:nvSpPr>
          <p:spPr bwMode="auto">
            <a:xfrm>
              <a:off x="528" y="3072"/>
              <a:ext cx="79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00"/>
                  </a:solidFill>
                  <a:latin typeface="宋体" pitchFamily="2" charset="-122"/>
                </a:rPr>
                <a:t>图（</a:t>
              </a:r>
              <a:r>
                <a:rPr lang="en-US" altLang="zh-CN" sz="2400" b="1">
                  <a:solidFill>
                    <a:srgbClr val="000000"/>
                  </a:solidFill>
                  <a:latin typeface="宋体" pitchFamily="2" charset="-122"/>
                </a:rPr>
                <a:t>b</a:t>
              </a:r>
              <a:r>
                <a:rPr lang="zh-CN" altLang="en-US" sz="2400" b="1">
                  <a:solidFill>
                    <a:srgbClr val="000000"/>
                  </a:solidFill>
                  <a:latin typeface="宋体" pitchFamily="2" charset="-122"/>
                </a:rPr>
                <a:t>）</a:t>
              </a:r>
            </a:p>
          </p:txBody>
        </p:sp>
        <p:grpSp>
          <p:nvGrpSpPr>
            <p:cNvPr id="78856" name="Group 1063"/>
            <p:cNvGrpSpPr>
              <a:grpSpLocks/>
            </p:cNvGrpSpPr>
            <p:nvPr/>
          </p:nvGrpSpPr>
          <p:grpSpPr bwMode="auto">
            <a:xfrm>
              <a:off x="240" y="1632"/>
              <a:ext cx="1776" cy="1488"/>
              <a:chOff x="240" y="1632"/>
              <a:chExt cx="1776" cy="1488"/>
            </a:xfrm>
          </p:grpSpPr>
          <p:grpSp>
            <p:nvGrpSpPr>
              <p:cNvPr id="78857" name="Group 1036"/>
              <p:cNvGrpSpPr>
                <a:grpSpLocks/>
              </p:cNvGrpSpPr>
              <p:nvPr/>
            </p:nvGrpSpPr>
            <p:grpSpPr bwMode="auto">
              <a:xfrm>
                <a:off x="240" y="1776"/>
                <a:ext cx="1622" cy="1119"/>
                <a:chOff x="8458" y="297"/>
                <a:chExt cx="4055" cy="2799"/>
              </a:xfrm>
            </p:grpSpPr>
            <p:sp>
              <p:nvSpPr>
                <p:cNvPr id="78863" name="Freeform 1037"/>
                <p:cNvSpPr>
                  <a:spLocks/>
                </p:cNvSpPr>
                <p:nvPr/>
              </p:nvSpPr>
              <p:spPr bwMode="auto">
                <a:xfrm flipV="1">
                  <a:off x="8458" y="2910"/>
                  <a:ext cx="4055" cy="38"/>
                </a:xfrm>
                <a:custGeom>
                  <a:avLst/>
                  <a:gdLst>
                    <a:gd name="T0" fmla="*/ 0 w 3730"/>
                    <a:gd name="T1" fmla="*/ 0 h 1"/>
                    <a:gd name="T2" fmla="*/ 3390 w 3730"/>
                    <a:gd name="T3" fmla="*/ 0 h 1"/>
                    <a:gd name="T4" fmla="*/ 3995 w 3730"/>
                    <a:gd name="T5" fmla="*/ 38 h 1"/>
                    <a:gd name="T6" fmla="*/ 0 60000 65536"/>
                    <a:gd name="T7" fmla="*/ 0 60000 65536"/>
                    <a:gd name="T8" fmla="*/ 0 60000 65536"/>
                  </a:gdLst>
                  <a:ahLst/>
                  <a:cxnLst>
                    <a:cxn ang="T6">
                      <a:pos x="T0" y="T1"/>
                    </a:cxn>
                    <a:cxn ang="T7">
                      <a:pos x="T2" y="T3"/>
                    </a:cxn>
                    <a:cxn ang="T8">
                      <a:pos x="T4" y="T5"/>
                    </a:cxn>
                  </a:cxnLst>
                  <a:rect l="0" t="0" r="r" b="b"/>
                  <a:pathLst>
                    <a:path w="3730" h="1">
                      <a:moveTo>
                        <a:pt x="0" y="0"/>
                      </a:moveTo>
                      <a:cubicBezTo>
                        <a:pt x="1257" y="0"/>
                        <a:pt x="2506" y="0"/>
                        <a:pt x="3118" y="0"/>
                      </a:cubicBezTo>
                      <a:cubicBezTo>
                        <a:pt x="3730" y="0"/>
                        <a:pt x="3559" y="1"/>
                        <a:pt x="3675" y="1"/>
                      </a:cubicBezTo>
                    </a:path>
                  </a:pathLst>
                </a:custGeom>
                <a:noFill/>
                <a:ln w="38100"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64" name="Freeform 1038"/>
                <p:cNvSpPr>
                  <a:spLocks/>
                </p:cNvSpPr>
                <p:nvPr/>
              </p:nvSpPr>
              <p:spPr bwMode="auto">
                <a:xfrm>
                  <a:off x="9255" y="690"/>
                  <a:ext cx="3136" cy="2234"/>
                </a:xfrm>
                <a:custGeom>
                  <a:avLst/>
                  <a:gdLst>
                    <a:gd name="T0" fmla="*/ 0 w 3136"/>
                    <a:gd name="T1" fmla="*/ 30 h 2234"/>
                    <a:gd name="T2" fmla="*/ 868 w 3136"/>
                    <a:gd name="T3" fmla="*/ 184 h 2234"/>
                    <a:gd name="T4" fmla="*/ 2095 w 3136"/>
                    <a:gd name="T5" fmla="*/ 1134 h 2234"/>
                    <a:gd name="T6" fmla="*/ 3136 w 3136"/>
                    <a:gd name="T7" fmla="*/ 2234 h 22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36" h="2234">
                      <a:moveTo>
                        <a:pt x="0" y="30"/>
                      </a:moveTo>
                      <a:cubicBezTo>
                        <a:pt x="150" y="56"/>
                        <a:pt x="519" y="0"/>
                        <a:pt x="868" y="184"/>
                      </a:cubicBezTo>
                      <a:cubicBezTo>
                        <a:pt x="1217" y="368"/>
                        <a:pt x="1717" y="793"/>
                        <a:pt x="2095" y="1134"/>
                      </a:cubicBezTo>
                      <a:cubicBezTo>
                        <a:pt x="2472" y="1475"/>
                        <a:pt x="2919" y="2005"/>
                        <a:pt x="3136" y="2234"/>
                      </a:cubicBezTo>
                    </a:path>
                  </a:pathLst>
                </a:custGeom>
                <a:noFill/>
                <a:ln w="38100" cap="rnd" cmpd="sng">
                  <a:solidFill>
                    <a:schemeClr val="hlink"/>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8865" name="Group 1039"/>
                <p:cNvGrpSpPr>
                  <a:grpSpLocks/>
                </p:cNvGrpSpPr>
                <p:nvPr/>
              </p:nvGrpSpPr>
              <p:grpSpPr bwMode="auto">
                <a:xfrm>
                  <a:off x="8889" y="675"/>
                  <a:ext cx="3112" cy="2311"/>
                  <a:chOff x="8889" y="675"/>
                  <a:chExt cx="3112" cy="2311"/>
                </a:xfrm>
              </p:grpSpPr>
              <p:sp>
                <p:nvSpPr>
                  <p:cNvPr id="78867" name="Freeform 1040"/>
                  <p:cNvSpPr>
                    <a:spLocks/>
                  </p:cNvSpPr>
                  <p:nvPr/>
                </p:nvSpPr>
                <p:spPr bwMode="auto">
                  <a:xfrm flipH="1">
                    <a:off x="11009" y="1745"/>
                    <a:ext cx="421" cy="1198"/>
                  </a:xfrm>
                  <a:custGeom>
                    <a:avLst/>
                    <a:gdLst>
                      <a:gd name="T0" fmla="*/ 0 w 300"/>
                      <a:gd name="T1" fmla="*/ 1162 h 529"/>
                      <a:gd name="T2" fmla="*/ 38 w 300"/>
                      <a:gd name="T3" fmla="*/ 1094 h 529"/>
                      <a:gd name="T4" fmla="*/ 101 w 300"/>
                      <a:gd name="T5" fmla="*/ 550 h 529"/>
                      <a:gd name="T6" fmla="*/ 159 w 300"/>
                      <a:gd name="T7" fmla="*/ 88 h 529"/>
                      <a:gd name="T8" fmla="*/ 223 w 300"/>
                      <a:gd name="T9" fmla="*/ 20 h 529"/>
                      <a:gd name="T10" fmla="*/ 265 w 300"/>
                      <a:gd name="T11" fmla="*/ 129 h 529"/>
                      <a:gd name="T12" fmla="*/ 316 w 300"/>
                      <a:gd name="T13" fmla="*/ 516 h 529"/>
                      <a:gd name="T14" fmla="*/ 383 w 300"/>
                      <a:gd name="T15" fmla="*/ 1094 h 529"/>
                      <a:gd name="T16" fmla="*/ 421 w 300"/>
                      <a:gd name="T17" fmla="*/ 1148 h 5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0" h="529">
                        <a:moveTo>
                          <a:pt x="0" y="513"/>
                        </a:moveTo>
                        <a:cubicBezTo>
                          <a:pt x="4" y="508"/>
                          <a:pt x="15" y="528"/>
                          <a:pt x="27" y="483"/>
                        </a:cubicBezTo>
                        <a:cubicBezTo>
                          <a:pt x="39" y="438"/>
                          <a:pt x="58" y="317"/>
                          <a:pt x="72" y="243"/>
                        </a:cubicBezTo>
                        <a:cubicBezTo>
                          <a:pt x="86" y="169"/>
                          <a:pt x="99" y="78"/>
                          <a:pt x="113" y="39"/>
                        </a:cubicBezTo>
                        <a:cubicBezTo>
                          <a:pt x="127" y="0"/>
                          <a:pt x="146" y="6"/>
                          <a:pt x="159" y="9"/>
                        </a:cubicBezTo>
                        <a:cubicBezTo>
                          <a:pt x="172" y="12"/>
                          <a:pt x="178" y="21"/>
                          <a:pt x="189" y="57"/>
                        </a:cubicBezTo>
                        <a:cubicBezTo>
                          <a:pt x="200" y="93"/>
                          <a:pt x="211" y="157"/>
                          <a:pt x="225" y="228"/>
                        </a:cubicBezTo>
                        <a:cubicBezTo>
                          <a:pt x="239" y="299"/>
                          <a:pt x="261" y="437"/>
                          <a:pt x="273" y="483"/>
                        </a:cubicBezTo>
                        <a:cubicBezTo>
                          <a:pt x="285" y="529"/>
                          <a:pt x="295" y="502"/>
                          <a:pt x="300" y="507"/>
                        </a:cubicBezTo>
                      </a:path>
                    </a:pathLst>
                  </a:custGeom>
                  <a:noFill/>
                  <a:ln w="38100"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68" name="Freeform 1041"/>
                  <p:cNvSpPr>
                    <a:spLocks/>
                  </p:cNvSpPr>
                  <p:nvPr/>
                </p:nvSpPr>
                <p:spPr bwMode="auto">
                  <a:xfrm flipH="1">
                    <a:off x="11420" y="2773"/>
                    <a:ext cx="404" cy="159"/>
                  </a:xfrm>
                  <a:custGeom>
                    <a:avLst/>
                    <a:gdLst>
                      <a:gd name="T0" fmla="*/ 0 w 342"/>
                      <a:gd name="T1" fmla="*/ 131 h 143"/>
                      <a:gd name="T2" fmla="*/ 59 w 342"/>
                      <a:gd name="T3" fmla="*/ 24 h 143"/>
                      <a:gd name="T4" fmla="*/ 96 w 342"/>
                      <a:gd name="T5" fmla="*/ 1 h 143"/>
                      <a:gd name="T6" fmla="*/ 128 w 342"/>
                      <a:gd name="T7" fmla="*/ 34 h 143"/>
                      <a:gd name="T8" fmla="*/ 180 w 342"/>
                      <a:gd name="T9" fmla="*/ 145 h 143"/>
                      <a:gd name="T10" fmla="*/ 222 w 342"/>
                      <a:gd name="T11" fmla="*/ 125 h 143"/>
                      <a:gd name="T12" fmla="*/ 269 w 342"/>
                      <a:gd name="T13" fmla="*/ 21 h 143"/>
                      <a:gd name="T14" fmla="*/ 308 w 342"/>
                      <a:gd name="T15" fmla="*/ 4 h 143"/>
                      <a:gd name="T16" fmla="*/ 347 w 342"/>
                      <a:gd name="T17" fmla="*/ 51 h 143"/>
                      <a:gd name="T18" fmla="*/ 379 w 342"/>
                      <a:gd name="T19" fmla="*/ 131 h 143"/>
                      <a:gd name="T20" fmla="*/ 404 w 342"/>
                      <a:gd name="T21" fmla="*/ 125 h 14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42" h="143">
                        <a:moveTo>
                          <a:pt x="0" y="118"/>
                        </a:moveTo>
                        <a:cubicBezTo>
                          <a:pt x="16" y="77"/>
                          <a:pt x="36" y="42"/>
                          <a:pt x="50" y="22"/>
                        </a:cubicBezTo>
                        <a:cubicBezTo>
                          <a:pt x="64" y="2"/>
                          <a:pt x="71" y="0"/>
                          <a:pt x="81" y="1"/>
                        </a:cubicBezTo>
                        <a:cubicBezTo>
                          <a:pt x="91" y="2"/>
                          <a:pt x="96" y="10"/>
                          <a:pt x="108" y="31"/>
                        </a:cubicBezTo>
                        <a:cubicBezTo>
                          <a:pt x="120" y="52"/>
                          <a:pt x="139" y="117"/>
                          <a:pt x="152" y="130"/>
                        </a:cubicBezTo>
                        <a:cubicBezTo>
                          <a:pt x="165" y="143"/>
                          <a:pt x="175" y="130"/>
                          <a:pt x="188" y="112"/>
                        </a:cubicBezTo>
                        <a:cubicBezTo>
                          <a:pt x="201" y="94"/>
                          <a:pt x="216" y="37"/>
                          <a:pt x="228" y="19"/>
                        </a:cubicBezTo>
                        <a:cubicBezTo>
                          <a:pt x="240" y="1"/>
                          <a:pt x="250" y="0"/>
                          <a:pt x="261" y="4"/>
                        </a:cubicBezTo>
                        <a:cubicBezTo>
                          <a:pt x="272" y="8"/>
                          <a:pt x="284" y="27"/>
                          <a:pt x="294" y="46"/>
                        </a:cubicBezTo>
                        <a:cubicBezTo>
                          <a:pt x="304" y="65"/>
                          <a:pt x="313" y="107"/>
                          <a:pt x="321" y="118"/>
                        </a:cubicBezTo>
                        <a:cubicBezTo>
                          <a:pt x="329" y="129"/>
                          <a:pt x="338" y="113"/>
                          <a:pt x="342" y="112"/>
                        </a:cubicBezTo>
                      </a:path>
                    </a:pathLst>
                  </a:custGeom>
                  <a:noFill/>
                  <a:ln w="38100"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69" name="Freeform 1042"/>
                  <p:cNvSpPr>
                    <a:spLocks/>
                  </p:cNvSpPr>
                  <p:nvPr/>
                </p:nvSpPr>
                <p:spPr bwMode="auto">
                  <a:xfrm flipH="1">
                    <a:off x="11836" y="2460"/>
                    <a:ext cx="165" cy="471"/>
                  </a:xfrm>
                  <a:custGeom>
                    <a:avLst/>
                    <a:gdLst>
                      <a:gd name="T0" fmla="*/ 0 w 300"/>
                      <a:gd name="T1" fmla="*/ 457 h 529"/>
                      <a:gd name="T2" fmla="*/ 15 w 300"/>
                      <a:gd name="T3" fmla="*/ 430 h 529"/>
                      <a:gd name="T4" fmla="*/ 40 w 300"/>
                      <a:gd name="T5" fmla="*/ 216 h 529"/>
                      <a:gd name="T6" fmla="*/ 62 w 300"/>
                      <a:gd name="T7" fmla="*/ 35 h 529"/>
                      <a:gd name="T8" fmla="*/ 87 w 300"/>
                      <a:gd name="T9" fmla="*/ 8 h 529"/>
                      <a:gd name="T10" fmla="*/ 104 w 300"/>
                      <a:gd name="T11" fmla="*/ 51 h 529"/>
                      <a:gd name="T12" fmla="*/ 124 w 300"/>
                      <a:gd name="T13" fmla="*/ 203 h 529"/>
                      <a:gd name="T14" fmla="*/ 150 w 300"/>
                      <a:gd name="T15" fmla="*/ 430 h 529"/>
                      <a:gd name="T16" fmla="*/ 165 w 300"/>
                      <a:gd name="T17" fmla="*/ 451 h 5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0" h="529">
                        <a:moveTo>
                          <a:pt x="0" y="513"/>
                        </a:moveTo>
                        <a:cubicBezTo>
                          <a:pt x="4" y="508"/>
                          <a:pt x="15" y="528"/>
                          <a:pt x="27" y="483"/>
                        </a:cubicBezTo>
                        <a:cubicBezTo>
                          <a:pt x="39" y="438"/>
                          <a:pt x="58" y="317"/>
                          <a:pt x="72" y="243"/>
                        </a:cubicBezTo>
                        <a:cubicBezTo>
                          <a:pt x="86" y="169"/>
                          <a:pt x="99" y="78"/>
                          <a:pt x="113" y="39"/>
                        </a:cubicBezTo>
                        <a:cubicBezTo>
                          <a:pt x="127" y="0"/>
                          <a:pt x="146" y="6"/>
                          <a:pt x="159" y="9"/>
                        </a:cubicBezTo>
                        <a:cubicBezTo>
                          <a:pt x="172" y="12"/>
                          <a:pt x="178" y="21"/>
                          <a:pt x="189" y="57"/>
                        </a:cubicBezTo>
                        <a:cubicBezTo>
                          <a:pt x="200" y="93"/>
                          <a:pt x="211" y="157"/>
                          <a:pt x="225" y="228"/>
                        </a:cubicBezTo>
                        <a:cubicBezTo>
                          <a:pt x="239" y="299"/>
                          <a:pt x="261" y="437"/>
                          <a:pt x="273" y="483"/>
                        </a:cubicBezTo>
                        <a:cubicBezTo>
                          <a:pt x="285" y="529"/>
                          <a:pt x="295" y="502"/>
                          <a:pt x="300" y="507"/>
                        </a:cubicBezTo>
                      </a:path>
                    </a:pathLst>
                  </a:custGeom>
                  <a:noFill/>
                  <a:ln w="38100"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70" name="Freeform 1043"/>
                  <p:cNvSpPr>
                    <a:spLocks/>
                  </p:cNvSpPr>
                  <p:nvPr/>
                </p:nvSpPr>
                <p:spPr bwMode="auto">
                  <a:xfrm flipH="1">
                    <a:off x="10604" y="2773"/>
                    <a:ext cx="405" cy="159"/>
                  </a:xfrm>
                  <a:custGeom>
                    <a:avLst/>
                    <a:gdLst>
                      <a:gd name="T0" fmla="*/ 0 w 342"/>
                      <a:gd name="T1" fmla="*/ 131 h 143"/>
                      <a:gd name="T2" fmla="*/ 59 w 342"/>
                      <a:gd name="T3" fmla="*/ 24 h 143"/>
                      <a:gd name="T4" fmla="*/ 96 w 342"/>
                      <a:gd name="T5" fmla="*/ 1 h 143"/>
                      <a:gd name="T6" fmla="*/ 128 w 342"/>
                      <a:gd name="T7" fmla="*/ 34 h 143"/>
                      <a:gd name="T8" fmla="*/ 180 w 342"/>
                      <a:gd name="T9" fmla="*/ 145 h 143"/>
                      <a:gd name="T10" fmla="*/ 223 w 342"/>
                      <a:gd name="T11" fmla="*/ 125 h 143"/>
                      <a:gd name="T12" fmla="*/ 270 w 342"/>
                      <a:gd name="T13" fmla="*/ 21 h 143"/>
                      <a:gd name="T14" fmla="*/ 309 w 342"/>
                      <a:gd name="T15" fmla="*/ 4 h 143"/>
                      <a:gd name="T16" fmla="*/ 348 w 342"/>
                      <a:gd name="T17" fmla="*/ 51 h 143"/>
                      <a:gd name="T18" fmla="*/ 380 w 342"/>
                      <a:gd name="T19" fmla="*/ 131 h 143"/>
                      <a:gd name="T20" fmla="*/ 405 w 342"/>
                      <a:gd name="T21" fmla="*/ 125 h 14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42" h="143">
                        <a:moveTo>
                          <a:pt x="0" y="118"/>
                        </a:moveTo>
                        <a:cubicBezTo>
                          <a:pt x="16" y="77"/>
                          <a:pt x="36" y="42"/>
                          <a:pt x="50" y="22"/>
                        </a:cubicBezTo>
                        <a:cubicBezTo>
                          <a:pt x="64" y="2"/>
                          <a:pt x="71" y="0"/>
                          <a:pt x="81" y="1"/>
                        </a:cubicBezTo>
                        <a:cubicBezTo>
                          <a:pt x="91" y="2"/>
                          <a:pt x="96" y="10"/>
                          <a:pt x="108" y="31"/>
                        </a:cubicBezTo>
                        <a:cubicBezTo>
                          <a:pt x="120" y="52"/>
                          <a:pt x="139" y="117"/>
                          <a:pt x="152" y="130"/>
                        </a:cubicBezTo>
                        <a:cubicBezTo>
                          <a:pt x="165" y="143"/>
                          <a:pt x="175" y="130"/>
                          <a:pt x="188" y="112"/>
                        </a:cubicBezTo>
                        <a:cubicBezTo>
                          <a:pt x="201" y="94"/>
                          <a:pt x="216" y="37"/>
                          <a:pt x="228" y="19"/>
                        </a:cubicBezTo>
                        <a:cubicBezTo>
                          <a:pt x="240" y="1"/>
                          <a:pt x="250" y="0"/>
                          <a:pt x="261" y="4"/>
                        </a:cubicBezTo>
                        <a:cubicBezTo>
                          <a:pt x="272" y="8"/>
                          <a:pt x="284" y="27"/>
                          <a:pt x="294" y="46"/>
                        </a:cubicBezTo>
                        <a:cubicBezTo>
                          <a:pt x="304" y="65"/>
                          <a:pt x="313" y="107"/>
                          <a:pt x="321" y="118"/>
                        </a:cubicBezTo>
                        <a:cubicBezTo>
                          <a:pt x="329" y="129"/>
                          <a:pt x="338" y="113"/>
                          <a:pt x="342" y="112"/>
                        </a:cubicBezTo>
                      </a:path>
                    </a:pathLst>
                  </a:custGeom>
                  <a:noFill/>
                  <a:ln w="38100"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71" name="Freeform 1044"/>
                  <p:cNvSpPr>
                    <a:spLocks/>
                  </p:cNvSpPr>
                  <p:nvPr/>
                </p:nvSpPr>
                <p:spPr bwMode="auto">
                  <a:xfrm flipH="1">
                    <a:off x="10072" y="1026"/>
                    <a:ext cx="549" cy="1927"/>
                  </a:xfrm>
                  <a:custGeom>
                    <a:avLst/>
                    <a:gdLst>
                      <a:gd name="T0" fmla="*/ 0 w 300"/>
                      <a:gd name="T1" fmla="*/ 1869 h 529"/>
                      <a:gd name="T2" fmla="*/ 49 w 300"/>
                      <a:gd name="T3" fmla="*/ 1759 h 529"/>
                      <a:gd name="T4" fmla="*/ 132 w 300"/>
                      <a:gd name="T5" fmla="*/ 885 h 529"/>
                      <a:gd name="T6" fmla="*/ 207 w 300"/>
                      <a:gd name="T7" fmla="*/ 142 h 529"/>
                      <a:gd name="T8" fmla="*/ 291 w 300"/>
                      <a:gd name="T9" fmla="*/ 33 h 529"/>
                      <a:gd name="T10" fmla="*/ 346 w 300"/>
                      <a:gd name="T11" fmla="*/ 208 h 529"/>
                      <a:gd name="T12" fmla="*/ 412 w 300"/>
                      <a:gd name="T13" fmla="*/ 831 h 529"/>
                      <a:gd name="T14" fmla="*/ 500 w 300"/>
                      <a:gd name="T15" fmla="*/ 1759 h 529"/>
                      <a:gd name="T16" fmla="*/ 549 w 300"/>
                      <a:gd name="T17" fmla="*/ 1847 h 5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0" h="529">
                        <a:moveTo>
                          <a:pt x="0" y="513"/>
                        </a:moveTo>
                        <a:cubicBezTo>
                          <a:pt x="4" y="508"/>
                          <a:pt x="15" y="528"/>
                          <a:pt x="27" y="483"/>
                        </a:cubicBezTo>
                        <a:cubicBezTo>
                          <a:pt x="39" y="438"/>
                          <a:pt x="58" y="317"/>
                          <a:pt x="72" y="243"/>
                        </a:cubicBezTo>
                        <a:cubicBezTo>
                          <a:pt x="86" y="169"/>
                          <a:pt x="99" y="78"/>
                          <a:pt x="113" y="39"/>
                        </a:cubicBezTo>
                        <a:cubicBezTo>
                          <a:pt x="127" y="0"/>
                          <a:pt x="146" y="6"/>
                          <a:pt x="159" y="9"/>
                        </a:cubicBezTo>
                        <a:cubicBezTo>
                          <a:pt x="172" y="12"/>
                          <a:pt x="178" y="21"/>
                          <a:pt x="189" y="57"/>
                        </a:cubicBezTo>
                        <a:cubicBezTo>
                          <a:pt x="200" y="93"/>
                          <a:pt x="211" y="157"/>
                          <a:pt x="225" y="228"/>
                        </a:cubicBezTo>
                        <a:cubicBezTo>
                          <a:pt x="239" y="299"/>
                          <a:pt x="261" y="437"/>
                          <a:pt x="273" y="483"/>
                        </a:cubicBezTo>
                        <a:cubicBezTo>
                          <a:pt x="285" y="529"/>
                          <a:pt x="295" y="502"/>
                          <a:pt x="300" y="507"/>
                        </a:cubicBezTo>
                      </a:path>
                    </a:pathLst>
                  </a:custGeom>
                  <a:noFill/>
                  <a:ln w="38100"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72" name="Freeform 1045"/>
                  <p:cNvSpPr>
                    <a:spLocks/>
                  </p:cNvSpPr>
                  <p:nvPr/>
                </p:nvSpPr>
                <p:spPr bwMode="auto">
                  <a:xfrm flipH="1">
                    <a:off x="9671" y="2770"/>
                    <a:ext cx="405" cy="159"/>
                  </a:xfrm>
                  <a:custGeom>
                    <a:avLst/>
                    <a:gdLst>
                      <a:gd name="T0" fmla="*/ 0 w 342"/>
                      <a:gd name="T1" fmla="*/ 131 h 143"/>
                      <a:gd name="T2" fmla="*/ 59 w 342"/>
                      <a:gd name="T3" fmla="*/ 24 h 143"/>
                      <a:gd name="T4" fmla="*/ 96 w 342"/>
                      <a:gd name="T5" fmla="*/ 1 h 143"/>
                      <a:gd name="T6" fmla="*/ 128 w 342"/>
                      <a:gd name="T7" fmla="*/ 34 h 143"/>
                      <a:gd name="T8" fmla="*/ 180 w 342"/>
                      <a:gd name="T9" fmla="*/ 145 h 143"/>
                      <a:gd name="T10" fmla="*/ 223 w 342"/>
                      <a:gd name="T11" fmla="*/ 125 h 143"/>
                      <a:gd name="T12" fmla="*/ 270 w 342"/>
                      <a:gd name="T13" fmla="*/ 21 h 143"/>
                      <a:gd name="T14" fmla="*/ 309 w 342"/>
                      <a:gd name="T15" fmla="*/ 4 h 143"/>
                      <a:gd name="T16" fmla="*/ 348 w 342"/>
                      <a:gd name="T17" fmla="*/ 51 h 143"/>
                      <a:gd name="T18" fmla="*/ 380 w 342"/>
                      <a:gd name="T19" fmla="*/ 131 h 143"/>
                      <a:gd name="T20" fmla="*/ 405 w 342"/>
                      <a:gd name="T21" fmla="*/ 125 h 14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42" h="143">
                        <a:moveTo>
                          <a:pt x="0" y="118"/>
                        </a:moveTo>
                        <a:cubicBezTo>
                          <a:pt x="16" y="77"/>
                          <a:pt x="36" y="42"/>
                          <a:pt x="50" y="22"/>
                        </a:cubicBezTo>
                        <a:cubicBezTo>
                          <a:pt x="64" y="2"/>
                          <a:pt x="71" y="0"/>
                          <a:pt x="81" y="1"/>
                        </a:cubicBezTo>
                        <a:cubicBezTo>
                          <a:pt x="91" y="2"/>
                          <a:pt x="96" y="10"/>
                          <a:pt x="108" y="31"/>
                        </a:cubicBezTo>
                        <a:cubicBezTo>
                          <a:pt x="120" y="52"/>
                          <a:pt x="139" y="117"/>
                          <a:pt x="152" y="130"/>
                        </a:cubicBezTo>
                        <a:cubicBezTo>
                          <a:pt x="165" y="143"/>
                          <a:pt x="175" y="130"/>
                          <a:pt x="188" y="112"/>
                        </a:cubicBezTo>
                        <a:cubicBezTo>
                          <a:pt x="201" y="94"/>
                          <a:pt x="216" y="37"/>
                          <a:pt x="228" y="19"/>
                        </a:cubicBezTo>
                        <a:cubicBezTo>
                          <a:pt x="240" y="1"/>
                          <a:pt x="250" y="0"/>
                          <a:pt x="261" y="4"/>
                        </a:cubicBezTo>
                        <a:cubicBezTo>
                          <a:pt x="272" y="8"/>
                          <a:pt x="284" y="27"/>
                          <a:pt x="294" y="46"/>
                        </a:cubicBezTo>
                        <a:cubicBezTo>
                          <a:pt x="304" y="65"/>
                          <a:pt x="313" y="107"/>
                          <a:pt x="321" y="118"/>
                        </a:cubicBezTo>
                        <a:cubicBezTo>
                          <a:pt x="329" y="129"/>
                          <a:pt x="338" y="113"/>
                          <a:pt x="342" y="112"/>
                        </a:cubicBezTo>
                      </a:path>
                    </a:pathLst>
                  </a:custGeom>
                  <a:noFill/>
                  <a:ln w="38100"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73" name="Freeform 1046"/>
                  <p:cNvSpPr>
                    <a:spLocks/>
                  </p:cNvSpPr>
                  <p:nvPr/>
                </p:nvSpPr>
                <p:spPr bwMode="auto">
                  <a:xfrm>
                    <a:off x="8889" y="675"/>
                    <a:ext cx="814" cy="2311"/>
                  </a:xfrm>
                  <a:custGeom>
                    <a:avLst/>
                    <a:gdLst>
                      <a:gd name="T0" fmla="*/ 0 w 300"/>
                      <a:gd name="T1" fmla="*/ 2241 h 529"/>
                      <a:gd name="T2" fmla="*/ 73 w 300"/>
                      <a:gd name="T3" fmla="*/ 2110 h 529"/>
                      <a:gd name="T4" fmla="*/ 195 w 300"/>
                      <a:gd name="T5" fmla="*/ 1062 h 529"/>
                      <a:gd name="T6" fmla="*/ 307 w 300"/>
                      <a:gd name="T7" fmla="*/ 170 h 529"/>
                      <a:gd name="T8" fmla="*/ 431 w 300"/>
                      <a:gd name="T9" fmla="*/ 39 h 529"/>
                      <a:gd name="T10" fmla="*/ 513 w 300"/>
                      <a:gd name="T11" fmla="*/ 249 h 529"/>
                      <a:gd name="T12" fmla="*/ 611 w 300"/>
                      <a:gd name="T13" fmla="*/ 996 h 529"/>
                      <a:gd name="T14" fmla="*/ 741 w 300"/>
                      <a:gd name="T15" fmla="*/ 2110 h 529"/>
                      <a:gd name="T16" fmla="*/ 814 w 300"/>
                      <a:gd name="T17" fmla="*/ 2215 h 5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0" h="529">
                        <a:moveTo>
                          <a:pt x="0" y="513"/>
                        </a:moveTo>
                        <a:cubicBezTo>
                          <a:pt x="4" y="508"/>
                          <a:pt x="15" y="528"/>
                          <a:pt x="27" y="483"/>
                        </a:cubicBezTo>
                        <a:cubicBezTo>
                          <a:pt x="39" y="438"/>
                          <a:pt x="58" y="317"/>
                          <a:pt x="72" y="243"/>
                        </a:cubicBezTo>
                        <a:cubicBezTo>
                          <a:pt x="86" y="169"/>
                          <a:pt x="99" y="78"/>
                          <a:pt x="113" y="39"/>
                        </a:cubicBezTo>
                        <a:cubicBezTo>
                          <a:pt x="127" y="0"/>
                          <a:pt x="146" y="6"/>
                          <a:pt x="159" y="9"/>
                        </a:cubicBezTo>
                        <a:cubicBezTo>
                          <a:pt x="172" y="12"/>
                          <a:pt x="178" y="21"/>
                          <a:pt x="189" y="57"/>
                        </a:cubicBezTo>
                        <a:cubicBezTo>
                          <a:pt x="200" y="93"/>
                          <a:pt x="211" y="157"/>
                          <a:pt x="225" y="228"/>
                        </a:cubicBezTo>
                        <a:cubicBezTo>
                          <a:pt x="239" y="299"/>
                          <a:pt x="261" y="437"/>
                          <a:pt x="273" y="483"/>
                        </a:cubicBezTo>
                        <a:cubicBezTo>
                          <a:pt x="285" y="529"/>
                          <a:pt x="295" y="502"/>
                          <a:pt x="300" y="507"/>
                        </a:cubicBezTo>
                      </a:path>
                    </a:pathLst>
                  </a:custGeom>
                  <a:noFill/>
                  <a:ln w="38100"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8866" name="Line 1047"/>
                <p:cNvSpPr>
                  <a:spLocks noChangeShapeType="1"/>
                </p:cNvSpPr>
                <p:nvPr/>
              </p:nvSpPr>
              <p:spPr bwMode="auto">
                <a:xfrm flipV="1">
                  <a:off x="9290" y="297"/>
                  <a:ext cx="0" cy="2799"/>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aphicFrame>
            <p:nvGraphicFramePr>
              <p:cNvPr id="78858" name="Object 1057"/>
              <p:cNvGraphicFramePr>
                <a:graphicFrameLocks noChangeAspect="1"/>
              </p:cNvGraphicFramePr>
              <p:nvPr/>
            </p:nvGraphicFramePr>
            <p:xfrm>
              <a:off x="240" y="1632"/>
              <a:ext cx="232" cy="487"/>
            </p:xfrm>
            <a:graphic>
              <a:graphicData uri="http://schemas.openxmlformats.org/presentationml/2006/ole">
                <mc:AlternateContent xmlns:mc="http://schemas.openxmlformats.org/markup-compatibility/2006">
                  <mc:Choice xmlns:v="urn:schemas-microsoft-com:vml" Requires="v">
                    <p:oleObj spid="_x0000_s79036" name="Equation" r:id="rId9" imgW="196980" imgH="425612" progId="Equation.3">
                      <p:embed/>
                    </p:oleObj>
                  </mc:Choice>
                  <mc:Fallback>
                    <p:oleObj name="Equation" r:id="rId9" imgW="196980" imgH="425612" progId="Equation.3">
                      <p:embed/>
                      <p:pic>
                        <p:nvPicPr>
                          <p:cNvPr id="0" name="Object 10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0" y="1632"/>
                            <a:ext cx="232" cy="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59" name="Object 1058"/>
              <p:cNvGraphicFramePr>
                <a:graphicFrameLocks noChangeAspect="1"/>
              </p:cNvGraphicFramePr>
              <p:nvPr/>
            </p:nvGraphicFramePr>
            <p:xfrm>
              <a:off x="1639" y="2919"/>
              <a:ext cx="377" cy="201"/>
            </p:xfrm>
            <a:graphic>
              <a:graphicData uri="http://schemas.openxmlformats.org/presentationml/2006/ole">
                <mc:AlternateContent xmlns:mc="http://schemas.openxmlformats.org/markup-compatibility/2006">
                  <mc:Choice xmlns:v="urn:schemas-microsoft-com:vml" Requires="v">
                    <p:oleObj spid="_x0000_s79037" name="Equation" r:id="rId11" imgW="323876" imgH="171658" progId="Equation.3">
                      <p:embed/>
                    </p:oleObj>
                  </mc:Choice>
                  <mc:Fallback>
                    <p:oleObj name="Equation" r:id="rId11" imgW="323876" imgH="171658" progId="Equation.3">
                      <p:embed/>
                      <p:pic>
                        <p:nvPicPr>
                          <p:cNvPr id="0" name="Object 105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39" y="2919"/>
                            <a:ext cx="37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60" name="Line 1060"/>
              <p:cNvSpPr>
                <a:spLocks noChangeShapeType="1"/>
              </p:cNvSpPr>
              <p:nvPr/>
            </p:nvSpPr>
            <p:spPr bwMode="auto">
              <a:xfrm flipV="1">
                <a:off x="576" y="1680"/>
                <a:ext cx="0" cy="192"/>
              </a:xfrm>
              <a:prstGeom prst="line">
                <a:avLst/>
              </a:prstGeom>
              <a:noFill/>
              <a:ln w="28575" cap="sq">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61" name="Line 1061"/>
              <p:cNvSpPr>
                <a:spLocks noChangeShapeType="1"/>
              </p:cNvSpPr>
              <p:nvPr/>
            </p:nvSpPr>
            <p:spPr bwMode="auto">
              <a:xfrm>
                <a:off x="1680" y="2832"/>
                <a:ext cx="336" cy="0"/>
              </a:xfrm>
              <a:prstGeom prst="line">
                <a:avLst/>
              </a:prstGeom>
              <a:noFill/>
              <a:ln w="28575" cap="sq">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78862" name="Object 1062"/>
              <p:cNvGraphicFramePr>
                <a:graphicFrameLocks noChangeAspect="1"/>
              </p:cNvGraphicFramePr>
              <p:nvPr/>
            </p:nvGraphicFramePr>
            <p:xfrm>
              <a:off x="398" y="2880"/>
              <a:ext cx="178" cy="192"/>
            </p:xfrm>
            <a:graphic>
              <a:graphicData uri="http://schemas.openxmlformats.org/presentationml/2006/ole">
                <mc:AlternateContent xmlns:mc="http://schemas.openxmlformats.org/markup-compatibility/2006">
                  <mc:Choice xmlns:v="urn:schemas-microsoft-com:vml" Requires="v">
                    <p:oleObj spid="_x0000_s79038" name="Equation" r:id="rId13" imgW="120676" imgH="133419" progId="Equation.3">
                      <p:embed/>
                    </p:oleObj>
                  </mc:Choice>
                  <mc:Fallback>
                    <p:oleObj name="Equation" r:id="rId13" imgW="120676" imgH="133419" progId="Equation.3">
                      <p:embed/>
                      <p:pic>
                        <p:nvPicPr>
                          <p:cNvPr id="0" name="Object 106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8" y="2880"/>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nvGrpSpPr>
          <p:cNvPr id="78852" name="Group 1049"/>
          <p:cNvGrpSpPr>
            <a:grpSpLocks/>
          </p:cNvGrpSpPr>
          <p:nvPr/>
        </p:nvGrpSpPr>
        <p:grpSpPr bwMode="auto">
          <a:xfrm>
            <a:off x="323850" y="788988"/>
            <a:ext cx="8596313" cy="1212850"/>
            <a:chOff x="96" y="293"/>
            <a:chExt cx="5415" cy="764"/>
          </a:xfrm>
        </p:grpSpPr>
        <p:sp>
          <p:nvSpPr>
            <p:cNvPr id="78853" name="Text Box 1027"/>
            <p:cNvSpPr txBox="1">
              <a:spLocks noChangeArrowheads="1"/>
            </p:cNvSpPr>
            <p:nvPr/>
          </p:nvSpPr>
          <p:spPr bwMode="auto">
            <a:xfrm>
              <a:off x="96" y="301"/>
              <a:ext cx="5415"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pPr>
              <a:r>
                <a:rPr lang="zh-CN" altLang="en-US" sz="2400" b="1" dirty="0">
                  <a:solidFill>
                    <a:schemeClr val="tx2"/>
                  </a:solidFill>
                  <a:latin typeface="宋体" pitchFamily="2" charset="-122"/>
                </a:rPr>
                <a:t>是几缝衍射</a:t>
              </a:r>
              <a:r>
                <a:rPr lang="zh-CN" altLang="en-US" sz="2400" b="1" dirty="0" smtClean="0">
                  <a:solidFill>
                    <a:schemeClr val="tx2"/>
                  </a:solidFill>
                  <a:latin typeface="宋体" pitchFamily="2" charset="-122"/>
                </a:rPr>
                <a:t>；    </a:t>
              </a:r>
              <a:r>
                <a:rPr lang="zh-CN" altLang="en-US" sz="2400" b="1" dirty="0">
                  <a:solidFill>
                    <a:schemeClr val="tx2"/>
                  </a:solidFill>
                  <a:latin typeface="宋体" pitchFamily="2" charset="-122"/>
                </a:rPr>
                <a:t>等于多少？有哪些缺级？单缝中央明纹有几个主极大？</a:t>
              </a:r>
              <a:endParaRPr lang="en-US" altLang="zh-CN" sz="2400" b="1" dirty="0">
                <a:solidFill>
                  <a:schemeClr val="tx2"/>
                </a:solidFill>
                <a:latin typeface="宋体" pitchFamily="2" charset="-122"/>
              </a:endParaRPr>
            </a:p>
          </p:txBody>
        </p:sp>
        <p:graphicFrame>
          <p:nvGraphicFramePr>
            <p:cNvPr id="78854" name="Object 1026"/>
            <p:cNvGraphicFramePr>
              <a:graphicFrameLocks noChangeAspect="1"/>
            </p:cNvGraphicFramePr>
            <p:nvPr>
              <p:extLst>
                <p:ext uri="{D42A27DB-BD31-4B8C-83A1-F6EECF244321}">
                  <p14:modId xmlns:p14="http://schemas.microsoft.com/office/powerpoint/2010/main" val="1823725398"/>
                </p:ext>
              </p:extLst>
            </p:nvPr>
          </p:nvGraphicFramePr>
          <p:xfrm>
            <a:off x="1275" y="293"/>
            <a:ext cx="389" cy="461"/>
          </p:xfrm>
          <a:graphic>
            <a:graphicData uri="http://schemas.openxmlformats.org/presentationml/2006/ole">
              <mc:AlternateContent xmlns:mc="http://schemas.openxmlformats.org/markup-compatibility/2006">
                <mc:Choice xmlns:v="urn:schemas-microsoft-com:vml" Requires="v">
                  <p:oleObj spid="_x0000_s79039" r:id="rId15" imgW="387324" imgH="362019" progId="Equation.3">
                    <p:embed/>
                  </p:oleObj>
                </mc:Choice>
                <mc:Fallback>
                  <p:oleObj r:id="rId15" imgW="387324" imgH="362019" progId="Equation.3">
                    <p:embed/>
                    <p:pic>
                      <p:nvPicPr>
                        <p:cNvPr id="0" name="Object 10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75" y="293"/>
                          <a:ext cx="389"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1229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122920"/>
                                        </p:tgtEl>
                                        <p:attrNameLst>
                                          <p:attrName>style.visibility</p:attrName>
                                        </p:attrNameLst>
                                      </p:cBhvr>
                                      <p:to>
                                        <p:strVal val="visible"/>
                                      </p:to>
                                    </p:set>
                                    <p:animEffect transition="in" filter="wipe(up)">
                                      <p:cBhvr>
                                        <p:cTn id="11" dur="500"/>
                                        <p:tgtEl>
                                          <p:spTgt spid="122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0417" name="Group 65"/>
          <p:cNvGrpSpPr>
            <a:grpSpLocks/>
          </p:cNvGrpSpPr>
          <p:nvPr/>
        </p:nvGrpSpPr>
        <p:grpSpPr bwMode="auto">
          <a:xfrm>
            <a:off x="4427538" y="2260600"/>
            <a:ext cx="4176712" cy="2824163"/>
            <a:chOff x="2472" y="192"/>
            <a:chExt cx="2631" cy="1779"/>
          </a:xfrm>
        </p:grpSpPr>
        <p:sp>
          <p:nvSpPr>
            <p:cNvPr id="79890" name="Text Box 16"/>
            <p:cNvSpPr txBox="1">
              <a:spLocks noChangeArrowheads="1"/>
            </p:cNvSpPr>
            <p:nvPr/>
          </p:nvSpPr>
          <p:spPr bwMode="auto">
            <a:xfrm>
              <a:off x="4105" y="1294"/>
              <a:ext cx="50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rgbClr val="000000"/>
                  </a:solidFill>
                  <a:latin typeface="宋体" pitchFamily="2" charset="-122"/>
                </a:rPr>
                <a:t>缺级</a:t>
              </a:r>
            </a:p>
          </p:txBody>
        </p:sp>
        <p:sp>
          <p:nvSpPr>
            <p:cNvPr id="79891" name="Text Box 17"/>
            <p:cNvSpPr txBox="1">
              <a:spLocks noChangeArrowheads="1"/>
            </p:cNvSpPr>
            <p:nvPr/>
          </p:nvSpPr>
          <p:spPr bwMode="auto">
            <a:xfrm>
              <a:off x="2472" y="1680"/>
              <a:ext cx="263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spcBef>
                  <a:spcPct val="50000"/>
                </a:spcBef>
              </a:pPr>
              <a:r>
                <a:rPr lang="zh-CN" altLang="en-US" sz="2400" b="1">
                  <a:solidFill>
                    <a:srgbClr val="000000"/>
                  </a:solidFill>
                  <a:latin typeface="宋体" pitchFamily="2" charset="-122"/>
                </a:rPr>
                <a:t>中央明纹中有</a:t>
              </a:r>
              <a:r>
                <a:rPr lang="en-US" altLang="zh-CN" sz="2400" b="1">
                  <a:solidFill>
                    <a:srgbClr val="000000"/>
                  </a:solidFill>
                  <a:latin typeface="宋体" pitchFamily="2" charset="-122"/>
                </a:rPr>
                <a:t>5</a:t>
              </a:r>
              <a:r>
                <a:rPr lang="zh-CN" altLang="en-US" sz="2400" b="1">
                  <a:solidFill>
                    <a:srgbClr val="000000"/>
                  </a:solidFill>
                  <a:latin typeface="宋体" pitchFamily="2" charset="-122"/>
                </a:rPr>
                <a:t>个主极大</a:t>
              </a:r>
            </a:p>
          </p:txBody>
        </p:sp>
        <p:graphicFrame>
          <p:nvGraphicFramePr>
            <p:cNvPr id="79892" name="Object 23"/>
            <p:cNvGraphicFramePr>
              <a:graphicFrameLocks noChangeAspect="1"/>
            </p:cNvGraphicFramePr>
            <p:nvPr/>
          </p:nvGraphicFramePr>
          <p:xfrm>
            <a:off x="2496" y="192"/>
            <a:ext cx="576" cy="251"/>
          </p:xfrm>
          <a:graphic>
            <a:graphicData uri="http://schemas.openxmlformats.org/presentationml/2006/ole">
              <mc:AlternateContent xmlns:mc="http://schemas.openxmlformats.org/markup-compatibility/2006">
                <mc:Choice xmlns:v="urn:schemas-microsoft-com:vml" Requires="v">
                  <p:oleObj spid="_x0000_s80049" r:id="rId3" imgW="362028" imgH="158773" progId="Equation.3">
                    <p:embed/>
                  </p:oleObj>
                </mc:Choice>
                <mc:Fallback>
                  <p:oleObj r:id="rId3" imgW="362028" imgH="158773" progId="Equation.3">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6" y="192"/>
                          <a:ext cx="57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93" name="Object 24"/>
            <p:cNvGraphicFramePr>
              <a:graphicFrameLocks noChangeAspect="1"/>
            </p:cNvGraphicFramePr>
            <p:nvPr/>
          </p:nvGraphicFramePr>
          <p:xfrm>
            <a:off x="2517" y="658"/>
            <a:ext cx="806" cy="523"/>
          </p:xfrm>
          <a:graphic>
            <a:graphicData uri="http://schemas.openxmlformats.org/presentationml/2006/ole">
              <mc:AlternateContent xmlns:mc="http://schemas.openxmlformats.org/markup-compatibility/2006">
                <mc:Choice xmlns:v="urn:schemas-microsoft-com:vml" Requires="v">
                  <p:oleObj spid="_x0000_s80050" name="Equation" r:id="rId5" imgW="603380" imgH="387373" progId="Equation.3">
                    <p:embed/>
                  </p:oleObj>
                </mc:Choice>
                <mc:Fallback>
                  <p:oleObj name="Equation" r:id="rId5" imgW="603380" imgH="387373" progId="Equation.3">
                    <p:embed/>
                    <p:pic>
                      <p:nvPicPr>
                        <p:cNvPr id="0"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7" y="658"/>
                          <a:ext cx="80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94" name="Object 25"/>
            <p:cNvGraphicFramePr>
              <a:graphicFrameLocks noChangeAspect="1"/>
            </p:cNvGraphicFramePr>
            <p:nvPr/>
          </p:nvGraphicFramePr>
          <p:xfrm>
            <a:off x="2529" y="1296"/>
            <a:ext cx="1440" cy="307"/>
          </p:xfrm>
          <a:graphic>
            <a:graphicData uri="http://schemas.openxmlformats.org/presentationml/2006/ole">
              <mc:AlternateContent xmlns:mc="http://schemas.openxmlformats.org/markup-compatibility/2006">
                <mc:Choice xmlns:v="urn:schemas-microsoft-com:vml" Requires="v">
                  <p:oleObj spid="_x0000_s80051" name="Equation" r:id="rId7" imgW="971628" imgH="197012" progId="Equation.3">
                    <p:embed/>
                  </p:oleObj>
                </mc:Choice>
                <mc:Fallback>
                  <p:oleObj name="Equation" r:id="rId7" imgW="971628" imgH="197012" progId="Equation.3">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29" y="1296"/>
                          <a:ext cx="144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79875" name="Group 66"/>
          <p:cNvGrpSpPr>
            <a:grpSpLocks/>
          </p:cNvGrpSpPr>
          <p:nvPr/>
        </p:nvGrpSpPr>
        <p:grpSpPr bwMode="auto">
          <a:xfrm>
            <a:off x="1203325" y="2132013"/>
            <a:ext cx="2425700" cy="3168650"/>
            <a:chOff x="440" y="96"/>
            <a:chExt cx="1528" cy="1996"/>
          </a:xfrm>
        </p:grpSpPr>
        <p:sp>
          <p:nvSpPr>
            <p:cNvPr id="79879" name="Text Box 15"/>
            <p:cNvSpPr txBox="1">
              <a:spLocks noChangeArrowheads="1"/>
            </p:cNvSpPr>
            <p:nvPr/>
          </p:nvSpPr>
          <p:spPr bwMode="auto">
            <a:xfrm>
              <a:off x="679" y="1801"/>
              <a:ext cx="7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rgbClr val="000000"/>
                  </a:solidFill>
                  <a:latin typeface="宋体" pitchFamily="2" charset="-122"/>
                </a:rPr>
                <a:t>图（</a:t>
              </a:r>
              <a:r>
                <a:rPr lang="en-US" altLang="zh-CN" sz="2400" b="1">
                  <a:solidFill>
                    <a:srgbClr val="000000"/>
                  </a:solidFill>
                  <a:latin typeface="宋体" pitchFamily="2" charset="-122"/>
                </a:rPr>
                <a:t>c</a:t>
              </a:r>
              <a:r>
                <a:rPr lang="zh-CN" altLang="en-US" sz="2400" b="1">
                  <a:solidFill>
                    <a:srgbClr val="000000"/>
                  </a:solidFill>
                  <a:latin typeface="宋体" pitchFamily="2" charset="-122"/>
                </a:rPr>
                <a:t>）</a:t>
              </a:r>
            </a:p>
          </p:txBody>
        </p:sp>
        <p:grpSp>
          <p:nvGrpSpPr>
            <p:cNvPr id="79880" name="Group 63"/>
            <p:cNvGrpSpPr>
              <a:grpSpLocks/>
            </p:cNvGrpSpPr>
            <p:nvPr/>
          </p:nvGrpSpPr>
          <p:grpSpPr bwMode="auto">
            <a:xfrm>
              <a:off x="440" y="96"/>
              <a:ext cx="1528" cy="1632"/>
              <a:chOff x="200" y="192"/>
              <a:chExt cx="1528" cy="1632"/>
            </a:xfrm>
          </p:grpSpPr>
          <p:sp>
            <p:nvSpPr>
              <p:cNvPr id="79881" name="Line 31"/>
              <p:cNvSpPr>
                <a:spLocks noChangeShapeType="1"/>
              </p:cNvSpPr>
              <p:nvPr/>
            </p:nvSpPr>
            <p:spPr bwMode="auto">
              <a:xfrm>
                <a:off x="288" y="1572"/>
                <a:ext cx="1056" cy="12"/>
              </a:xfrm>
              <a:prstGeom prst="line">
                <a:avLst/>
              </a:prstGeom>
              <a:noFill/>
              <a:ln w="38100" cap="sq">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lstStyle/>
              <a:p>
                <a:endParaRPr lang="zh-CN" altLang="en-US"/>
              </a:p>
            </p:txBody>
          </p:sp>
          <p:sp>
            <p:nvSpPr>
              <p:cNvPr id="79882" name="Freeform 32"/>
              <p:cNvSpPr>
                <a:spLocks/>
              </p:cNvSpPr>
              <p:nvPr/>
            </p:nvSpPr>
            <p:spPr bwMode="auto">
              <a:xfrm>
                <a:off x="534" y="468"/>
                <a:ext cx="663" cy="1068"/>
              </a:xfrm>
              <a:custGeom>
                <a:avLst/>
                <a:gdLst>
                  <a:gd name="T0" fmla="*/ 0 w 663"/>
                  <a:gd name="T1" fmla="*/ 0 h 1068"/>
                  <a:gd name="T2" fmla="*/ 494 w 663"/>
                  <a:gd name="T3" fmla="*/ 424 h 1068"/>
                  <a:gd name="T4" fmla="*/ 663 w 663"/>
                  <a:gd name="T5" fmla="*/ 1068 h 1068"/>
                  <a:gd name="T6" fmla="*/ 0 60000 65536"/>
                  <a:gd name="T7" fmla="*/ 0 60000 65536"/>
                  <a:gd name="T8" fmla="*/ 0 60000 65536"/>
                </a:gdLst>
                <a:ahLst/>
                <a:cxnLst>
                  <a:cxn ang="T6">
                    <a:pos x="T0" y="T1"/>
                  </a:cxn>
                  <a:cxn ang="T7">
                    <a:pos x="T2" y="T3"/>
                  </a:cxn>
                  <a:cxn ang="T8">
                    <a:pos x="T4" y="T5"/>
                  </a:cxn>
                </a:cxnLst>
                <a:rect l="0" t="0" r="r" b="b"/>
                <a:pathLst>
                  <a:path w="663" h="1068">
                    <a:moveTo>
                      <a:pt x="0" y="0"/>
                    </a:moveTo>
                    <a:cubicBezTo>
                      <a:pt x="278" y="34"/>
                      <a:pt x="342" y="327"/>
                      <a:pt x="494" y="424"/>
                    </a:cubicBezTo>
                    <a:cubicBezTo>
                      <a:pt x="618" y="662"/>
                      <a:pt x="602" y="1068"/>
                      <a:pt x="663" y="1068"/>
                    </a:cubicBezTo>
                  </a:path>
                </a:pathLst>
              </a:custGeom>
              <a:noFill/>
              <a:ln w="38100" cap="rnd" cmpd="sng">
                <a:solidFill>
                  <a:schemeClr val="hlink"/>
                </a:solidFill>
                <a:prstDash val="sysDot"/>
                <a:round/>
                <a:headEnd type="none" w="sm" len="sm"/>
                <a:tailEnd type="none" w="sm" len="sm"/>
              </a:ln>
              <a:effectLst/>
              <a:extLst>
                <a:ext uri="{909E8E84-426E-40DD-AFC4-6F175D3DCCD1}">
                  <a14:hiddenFill xmlns:a14="http://schemas.microsoft.com/office/drawing/2010/main">
                    <a:solidFill>
                      <a:srgbClr val="00CCCC"/>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lstStyle/>
              <a:p>
                <a:endParaRPr lang="zh-CN" altLang="en-US"/>
              </a:p>
            </p:txBody>
          </p:sp>
          <p:sp>
            <p:nvSpPr>
              <p:cNvPr id="79883" name="Freeform 33"/>
              <p:cNvSpPr>
                <a:spLocks/>
              </p:cNvSpPr>
              <p:nvPr/>
            </p:nvSpPr>
            <p:spPr bwMode="auto">
              <a:xfrm>
                <a:off x="534" y="468"/>
                <a:ext cx="657" cy="1107"/>
              </a:xfrm>
              <a:custGeom>
                <a:avLst/>
                <a:gdLst>
                  <a:gd name="T0" fmla="*/ 0 w 657"/>
                  <a:gd name="T1" fmla="*/ 0 h 1107"/>
                  <a:gd name="T2" fmla="*/ 78 w 657"/>
                  <a:gd name="T3" fmla="*/ 1098 h 1107"/>
                  <a:gd name="T4" fmla="*/ 123 w 657"/>
                  <a:gd name="T5" fmla="*/ 960 h 1107"/>
                  <a:gd name="T6" fmla="*/ 174 w 657"/>
                  <a:gd name="T7" fmla="*/ 1104 h 1107"/>
                  <a:gd name="T8" fmla="*/ 240 w 657"/>
                  <a:gd name="T9" fmla="*/ 144 h 1107"/>
                  <a:gd name="T10" fmla="*/ 315 w 657"/>
                  <a:gd name="T11" fmla="*/ 1101 h 1107"/>
                  <a:gd name="T12" fmla="*/ 369 w 657"/>
                  <a:gd name="T13" fmla="*/ 993 h 1107"/>
                  <a:gd name="T14" fmla="*/ 405 w 657"/>
                  <a:gd name="T15" fmla="*/ 1101 h 1107"/>
                  <a:gd name="T16" fmla="*/ 480 w 657"/>
                  <a:gd name="T17" fmla="*/ 432 h 1107"/>
                  <a:gd name="T18" fmla="*/ 555 w 657"/>
                  <a:gd name="T19" fmla="*/ 1107 h 1107"/>
                  <a:gd name="T20" fmla="*/ 609 w 657"/>
                  <a:gd name="T21" fmla="*/ 996 h 1107"/>
                  <a:gd name="T22" fmla="*/ 657 w 657"/>
                  <a:gd name="T23" fmla="*/ 1107 h 1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57" h="1107">
                    <a:moveTo>
                      <a:pt x="0" y="0"/>
                    </a:moveTo>
                    <a:cubicBezTo>
                      <a:pt x="13" y="183"/>
                      <a:pt x="57" y="938"/>
                      <a:pt x="78" y="1098"/>
                    </a:cubicBezTo>
                    <a:cubicBezTo>
                      <a:pt x="108" y="1059"/>
                      <a:pt x="108" y="958"/>
                      <a:pt x="123" y="960"/>
                    </a:cubicBezTo>
                    <a:cubicBezTo>
                      <a:pt x="139" y="961"/>
                      <a:pt x="147" y="1014"/>
                      <a:pt x="174" y="1104"/>
                    </a:cubicBezTo>
                    <a:cubicBezTo>
                      <a:pt x="194" y="968"/>
                      <a:pt x="219" y="144"/>
                      <a:pt x="240" y="144"/>
                    </a:cubicBezTo>
                    <a:cubicBezTo>
                      <a:pt x="263" y="144"/>
                      <a:pt x="293" y="959"/>
                      <a:pt x="315" y="1101"/>
                    </a:cubicBezTo>
                    <a:cubicBezTo>
                      <a:pt x="348" y="1032"/>
                      <a:pt x="352" y="993"/>
                      <a:pt x="369" y="993"/>
                    </a:cubicBezTo>
                    <a:cubicBezTo>
                      <a:pt x="384" y="993"/>
                      <a:pt x="369" y="1029"/>
                      <a:pt x="405" y="1101"/>
                    </a:cubicBezTo>
                    <a:cubicBezTo>
                      <a:pt x="426" y="1017"/>
                      <a:pt x="456" y="432"/>
                      <a:pt x="480" y="432"/>
                    </a:cubicBezTo>
                    <a:cubicBezTo>
                      <a:pt x="505" y="433"/>
                      <a:pt x="534" y="1013"/>
                      <a:pt x="555" y="1107"/>
                    </a:cubicBezTo>
                    <a:cubicBezTo>
                      <a:pt x="582" y="1059"/>
                      <a:pt x="592" y="996"/>
                      <a:pt x="609" y="996"/>
                    </a:cubicBezTo>
                    <a:cubicBezTo>
                      <a:pt x="626" y="996"/>
                      <a:pt x="636" y="1086"/>
                      <a:pt x="657" y="1107"/>
                    </a:cubicBezTo>
                  </a:path>
                </a:pathLst>
              </a:custGeom>
              <a:noFill/>
              <a:ln w="38100" cap="sq" cmpd="sng">
                <a:solidFill>
                  <a:schemeClr val="hlink"/>
                </a:solidFill>
                <a:prstDash val="solid"/>
                <a:round/>
                <a:headEnd type="none" w="sm" len="sm"/>
                <a:tailEnd type="none" w="sm" len="sm"/>
              </a:ln>
              <a:effectLst/>
              <a:extLst>
                <a:ext uri="{909E8E84-426E-40DD-AFC4-6F175D3DCCD1}">
                  <a14:hiddenFill xmlns:a14="http://schemas.microsoft.com/office/drawing/2010/main">
                    <a:solidFill>
                      <a:srgbClr val="00CCCC"/>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lstStyle/>
              <a:p>
                <a:endParaRPr lang="zh-CN" altLang="en-US"/>
              </a:p>
            </p:txBody>
          </p:sp>
          <p:sp>
            <p:nvSpPr>
              <p:cNvPr id="79884" name="Line 35"/>
              <p:cNvSpPr>
                <a:spLocks noChangeShapeType="1"/>
              </p:cNvSpPr>
              <p:nvPr/>
            </p:nvSpPr>
            <p:spPr bwMode="auto">
              <a:xfrm>
                <a:off x="527" y="288"/>
                <a:ext cx="1" cy="1374"/>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85" name="Line 58"/>
              <p:cNvSpPr>
                <a:spLocks noChangeShapeType="1"/>
              </p:cNvSpPr>
              <p:nvPr/>
            </p:nvSpPr>
            <p:spPr bwMode="auto">
              <a:xfrm>
                <a:off x="1248" y="1584"/>
                <a:ext cx="240" cy="0"/>
              </a:xfrm>
              <a:prstGeom prst="line">
                <a:avLst/>
              </a:prstGeom>
              <a:noFill/>
              <a:ln w="38100" cap="sq">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9886" name="Line 59"/>
              <p:cNvSpPr>
                <a:spLocks noChangeShapeType="1"/>
              </p:cNvSpPr>
              <p:nvPr/>
            </p:nvSpPr>
            <p:spPr bwMode="auto">
              <a:xfrm flipV="1">
                <a:off x="528" y="192"/>
                <a:ext cx="0" cy="192"/>
              </a:xfrm>
              <a:prstGeom prst="line">
                <a:avLst/>
              </a:prstGeom>
              <a:noFill/>
              <a:ln w="38100" cap="sq">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79887" name="Object 60"/>
              <p:cNvGraphicFramePr>
                <a:graphicFrameLocks noChangeAspect="1"/>
              </p:cNvGraphicFramePr>
              <p:nvPr/>
            </p:nvGraphicFramePr>
            <p:xfrm>
              <a:off x="240" y="1554"/>
              <a:ext cx="250" cy="270"/>
            </p:xfrm>
            <a:graphic>
              <a:graphicData uri="http://schemas.openxmlformats.org/presentationml/2006/ole">
                <mc:AlternateContent xmlns:mc="http://schemas.openxmlformats.org/markup-compatibility/2006">
                  <mc:Choice xmlns:v="urn:schemas-microsoft-com:vml" Requires="v">
                    <p:oleObj spid="_x0000_s80052" name="Equation" r:id="rId9" imgW="120676" imgH="133419" progId="Equation.3">
                      <p:embed/>
                    </p:oleObj>
                  </mc:Choice>
                  <mc:Fallback>
                    <p:oleObj name="Equation" r:id="rId9" imgW="120676" imgH="133419" progId="Equation.3">
                      <p:embed/>
                      <p:pic>
                        <p:nvPicPr>
                          <p:cNvPr id="0" name="Object 6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0" y="1554"/>
                            <a:ext cx="25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88" name="Object 61"/>
              <p:cNvGraphicFramePr>
                <a:graphicFrameLocks noChangeAspect="1"/>
              </p:cNvGraphicFramePr>
              <p:nvPr/>
            </p:nvGraphicFramePr>
            <p:xfrm>
              <a:off x="200" y="240"/>
              <a:ext cx="232" cy="487"/>
            </p:xfrm>
            <a:graphic>
              <a:graphicData uri="http://schemas.openxmlformats.org/presentationml/2006/ole">
                <mc:AlternateContent xmlns:mc="http://schemas.openxmlformats.org/markup-compatibility/2006">
                  <mc:Choice xmlns:v="urn:schemas-microsoft-com:vml" Requires="v">
                    <p:oleObj spid="_x0000_s80053" name="Equation" r:id="rId11" imgW="196980" imgH="425612" progId="Equation.3">
                      <p:embed/>
                    </p:oleObj>
                  </mc:Choice>
                  <mc:Fallback>
                    <p:oleObj name="Equation" r:id="rId11" imgW="196980" imgH="425612" progId="Equation.3">
                      <p:embed/>
                      <p:pic>
                        <p:nvPicPr>
                          <p:cNvPr id="0" name="Object 6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0" y="240"/>
                            <a:ext cx="232" cy="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89" name="Object 62"/>
              <p:cNvGraphicFramePr>
                <a:graphicFrameLocks noChangeAspect="1"/>
              </p:cNvGraphicFramePr>
              <p:nvPr/>
            </p:nvGraphicFramePr>
            <p:xfrm>
              <a:off x="1351" y="1623"/>
              <a:ext cx="377" cy="201"/>
            </p:xfrm>
            <a:graphic>
              <a:graphicData uri="http://schemas.openxmlformats.org/presentationml/2006/ole">
                <mc:AlternateContent xmlns:mc="http://schemas.openxmlformats.org/markup-compatibility/2006">
                  <mc:Choice xmlns:v="urn:schemas-microsoft-com:vml" Requires="v">
                    <p:oleObj spid="_x0000_s80054" name="Equation" r:id="rId13" imgW="323876" imgH="171658" progId="Equation.3">
                      <p:embed/>
                    </p:oleObj>
                  </mc:Choice>
                  <mc:Fallback>
                    <p:oleObj name="Equation" r:id="rId13" imgW="323876" imgH="171658" progId="Equation.3">
                      <p:embed/>
                      <p:pic>
                        <p:nvPicPr>
                          <p:cNvPr id="0" name="Object 6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51" y="1623"/>
                            <a:ext cx="37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nvGrpSpPr>
          <p:cNvPr id="79876" name="Group 1049"/>
          <p:cNvGrpSpPr>
            <a:grpSpLocks/>
          </p:cNvGrpSpPr>
          <p:nvPr/>
        </p:nvGrpSpPr>
        <p:grpSpPr bwMode="auto">
          <a:xfrm>
            <a:off x="323850" y="692150"/>
            <a:ext cx="8596313" cy="1200150"/>
            <a:chOff x="96" y="293"/>
            <a:chExt cx="5415" cy="756"/>
          </a:xfrm>
        </p:grpSpPr>
        <p:sp>
          <p:nvSpPr>
            <p:cNvPr id="79877" name="Text Box 1027"/>
            <p:cNvSpPr txBox="1">
              <a:spLocks noChangeArrowheads="1"/>
            </p:cNvSpPr>
            <p:nvPr/>
          </p:nvSpPr>
          <p:spPr bwMode="auto">
            <a:xfrm>
              <a:off x="96" y="293"/>
              <a:ext cx="5415"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pPr>
              <a:r>
                <a:rPr lang="zh-CN" altLang="en-US" sz="2400" b="1" dirty="0">
                  <a:solidFill>
                    <a:schemeClr val="tx2"/>
                  </a:solidFill>
                  <a:latin typeface="宋体" pitchFamily="2" charset="-122"/>
                </a:rPr>
                <a:t>是几缝衍射</a:t>
              </a:r>
              <a:r>
                <a:rPr lang="zh-CN" altLang="en-US" sz="2400" b="1" dirty="0" smtClean="0">
                  <a:solidFill>
                    <a:schemeClr val="tx2"/>
                  </a:solidFill>
                  <a:latin typeface="宋体" pitchFamily="2" charset="-122"/>
                </a:rPr>
                <a:t>；    </a:t>
              </a:r>
              <a:r>
                <a:rPr lang="zh-CN" altLang="en-US" sz="2400" b="1" dirty="0">
                  <a:solidFill>
                    <a:schemeClr val="tx2"/>
                  </a:solidFill>
                  <a:latin typeface="宋体" pitchFamily="2" charset="-122"/>
                </a:rPr>
                <a:t>等于多少？有哪些缺级？单缝中央明纹有几个主极大？</a:t>
              </a:r>
              <a:endParaRPr lang="en-US" altLang="zh-CN" sz="2400" b="1" dirty="0">
                <a:solidFill>
                  <a:schemeClr val="tx2"/>
                </a:solidFill>
                <a:latin typeface="宋体" pitchFamily="2" charset="-122"/>
              </a:endParaRPr>
            </a:p>
          </p:txBody>
        </p:sp>
        <p:graphicFrame>
          <p:nvGraphicFramePr>
            <p:cNvPr id="79878" name="Object 1026"/>
            <p:cNvGraphicFramePr>
              <a:graphicFrameLocks noChangeAspect="1"/>
            </p:cNvGraphicFramePr>
            <p:nvPr>
              <p:extLst>
                <p:ext uri="{D42A27DB-BD31-4B8C-83A1-F6EECF244321}">
                  <p14:modId xmlns:p14="http://schemas.microsoft.com/office/powerpoint/2010/main" val="3758278140"/>
                </p:ext>
              </p:extLst>
            </p:nvPr>
          </p:nvGraphicFramePr>
          <p:xfrm>
            <a:off x="1275" y="293"/>
            <a:ext cx="389" cy="461"/>
          </p:xfrm>
          <a:graphic>
            <a:graphicData uri="http://schemas.openxmlformats.org/presentationml/2006/ole">
              <mc:AlternateContent xmlns:mc="http://schemas.openxmlformats.org/markup-compatibility/2006">
                <mc:Choice xmlns:v="urn:schemas-microsoft-com:vml" Requires="v">
                  <p:oleObj spid="_x0000_s80055" r:id="rId15" imgW="387324" imgH="362019" progId="Equation.3">
                    <p:embed/>
                  </p:oleObj>
                </mc:Choice>
                <mc:Fallback>
                  <p:oleObj r:id="rId15" imgW="387324" imgH="362019" progId="Equation.3">
                    <p:embed/>
                    <p:pic>
                      <p:nvPicPr>
                        <p:cNvPr id="0" name="Object 10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75" y="293"/>
                          <a:ext cx="389"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04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9391" name="Group 63"/>
          <p:cNvGrpSpPr>
            <a:grpSpLocks/>
          </p:cNvGrpSpPr>
          <p:nvPr/>
        </p:nvGrpSpPr>
        <p:grpSpPr bwMode="auto">
          <a:xfrm>
            <a:off x="1620838" y="1628775"/>
            <a:ext cx="2590800" cy="2838450"/>
            <a:chOff x="432" y="1863"/>
            <a:chExt cx="1632" cy="1788"/>
          </a:xfrm>
        </p:grpSpPr>
        <p:sp>
          <p:nvSpPr>
            <p:cNvPr id="80909" name="Rectangle 50"/>
            <p:cNvSpPr>
              <a:spLocks noChangeArrowheads="1"/>
            </p:cNvSpPr>
            <p:nvPr/>
          </p:nvSpPr>
          <p:spPr bwMode="auto">
            <a:xfrm>
              <a:off x="652" y="3360"/>
              <a:ext cx="79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00"/>
                  </a:solidFill>
                  <a:latin typeface="宋体" pitchFamily="2" charset="-122"/>
                </a:rPr>
                <a:t>图（</a:t>
              </a:r>
              <a:r>
                <a:rPr lang="en-US" altLang="zh-CN" sz="2400" b="1">
                  <a:solidFill>
                    <a:srgbClr val="000000"/>
                  </a:solidFill>
                  <a:latin typeface="宋体" pitchFamily="2" charset="-122"/>
                </a:rPr>
                <a:t>d</a:t>
              </a:r>
              <a:r>
                <a:rPr lang="zh-CN" altLang="en-US" sz="2400" b="1">
                  <a:solidFill>
                    <a:srgbClr val="000000"/>
                  </a:solidFill>
                  <a:latin typeface="宋体" pitchFamily="2" charset="-122"/>
                </a:rPr>
                <a:t>）</a:t>
              </a:r>
            </a:p>
          </p:txBody>
        </p:sp>
        <p:grpSp>
          <p:nvGrpSpPr>
            <p:cNvPr id="80910" name="Group 59"/>
            <p:cNvGrpSpPr>
              <a:grpSpLocks/>
            </p:cNvGrpSpPr>
            <p:nvPr/>
          </p:nvGrpSpPr>
          <p:grpSpPr bwMode="auto">
            <a:xfrm>
              <a:off x="432" y="1863"/>
              <a:ext cx="1632" cy="1449"/>
              <a:chOff x="432" y="1824"/>
              <a:chExt cx="1632" cy="1449"/>
            </a:xfrm>
          </p:grpSpPr>
          <p:grpSp>
            <p:nvGrpSpPr>
              <p:cNvPr id="80911" name="Group 41"/>
              <p:cNvGrpSpPr>
                <a:grpSpLocks/>
              </p:cNvGrpSpPr>
              <p:nvPr/>
            </p:nvGrpSpPr>
            <p:grpSpPr bwMode="auto">
              <a:xfrm>
                <a:off x="575" y="2112"/>
                <a:ext cx="1005" cy="924"/>
                <a:chOff x="2086" y="147"/>
                <a:chExt cx="2512" cy="2311"/>
              </a:xfrm>
            </p:grpSpPr>
            <p:sp>
              <p:nvSpPr>
                <p:cNvPr id="80918" name="Freeform 42"/>
                <p:cNvSpPr>
                  <a:spLocks/>
                </p:cNvSpPr>
                <p:nvPr/>
              </p:nvSpPr>
              <p:spPr bwMode="auto">
                <a:xfrm>
                  <a:off x="2086" y="2031"/>
                  <a:ext cx="808" cy="384"/>
                </a:xfrm>
                <a:custGeom>
                  <a:avLst/>
                  <a:gdLst>
                    <a:gd name="T0" fmla="*/ 0 w 342"/>
                    <a:gd name="T1" fmla="*/ 317 h 143"/>
                    <a:gd name="T2" fmla="*/ 118 w 342"/>
                    <a:gd name="T3" fmla="*/ 59 h 143"/>
                    <a:gd name="T4" fmla="*/ 191 w 342"/>
                    <a:gd name="T5" fmla="*/ 3 h 143"/>
                    <a:gd name="T6" fmla="*/ 255 w 342"/>
                    <a:gd name="T7" fmla="*/ 83 h 143"/>
                    <a:gd name="T8" fmla="*/ 359 w 342"/>
                    <a:gd name="T9" fmla="*/ 349 h 143"/>
                    <a:gd name="T10" fmla="*/ 444 w 342"/>
                    <a:gd name="T11" fmla="*/ 301 h 143"/>
                    <a:gd name="T12" fmla="*/ 539 w 342"/>
                    <a:gd name="T13" fmla="*/ 51 h 143"/>
                    <a:gd name="T14" fmla="*/ 617 w 342"/>
                    <a:gd name="T15" fmla="*/ 11 h 143"/>
                    <a:gd name="T16" fmla="*/ 695 w 342"/>
                    <a:gd name="T17" fmla="*/ 124 h 143"/>
                    <a:gd name="T18" fmla="*/ 758 w 342"/>
                    <a:gd name="T19" fmla="*/ 317 h 143"/>
                    <a:gd name="T20" fmla="*/ 808 w 342"/>
                    <a:gd name="T21" fmla="*/ 301 h 14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42" h="143">
                      <a:moveTo>
                        <a:pt x="0" y="118"/>
                      </a:moveTo>
                      <a:cubicBezTo>
                        <a:pt x="16" y="77"/>
                        <a:pt x="36" y="42"/>
                        <a:pt x="50" y="22"/>
                      </a:cubicBezTo>
                      <a:cubicBezTo>
                        <a:pt x="64" y="2"/>
                        <a:pt x="71" y="0"/>
                        <a:pt x="81" y="1"/>
                      </a:cubicBezTo>
                      <a:cubicBezTo>
                        <a:pt x="91" y="2"/>
                        <a:pt x="96" y="10"/>
                        <a:pt x="108" y="31"/>
                      </a:cubicBezTo>
                      <a:cubicBezTo>
                        <a:pt x="120" y="52"/>
                        <a:pt x="139" y="117"/>
                        <a:pt x="152" y="130"/>
                      </a:cubicBezTo>
                      <a:cubicBezTo>
                        <a:pt x="165" y="143"/>
                        <a:pt x="175" y="130"/>
                        <a:pt x="188" y="112"/>
                      </a:cubicBezTo>
                      <a:cubicBezTo>
                        <a:pt x="201" y="94"/>
                        <a:pt x="216" y="37"/>
                        <a:pt x="228" y="19"/>
                      </a:cubicBezTo>
                      <a:cubicBezTo>
                        <a:pt x="240" y="1"/>
                        <a:pt x="250" y="0"/>
                        <a:pt x="261" y="4"/>
                      </a:cubicBezTo>
                      <a:cubicBezTo>
                        <a:pt x="272" y="8"/>
                        <a:pt x="284" y="27"/>
                        <a:pt x="294" y="46"/>
                      </a:cubicBezTo>
                      <a:cubicBezTo>
                        <a:pt x="304" y="65"/>
                        <a:pt x="313" y="107"/>
                        <a:pt x="321" y="118"/>
                      </a:cubicBezTo>
                      <a:cubicBezTo>
                        <a:pt x="329" y="129"/>
                        <a:pt x="338" y="113"/>
                        <a:pt x="342" y="112"/>
                      </a:cubicBezTo>
                    </a:path>
                  </a:pathLst>
                </a:custGeom>
                <a:noFill/>
                <a:ln w="38100"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19" name="Freeform 43"/>
                <p:cNvSpPr>
                  <a:spLocks/>
                </p:cNvSpPr>
                <p:nvPr/>
              </p:nvSpPr>
              <p:spPr bwMode="auto">
                <a:xfrm flipH="1">
                  <a:off x="3653" y="2001"/>
                  <a:ext cx="945" cy="399"/>
                </a:xfrm>
                <a:custGeom>
                  <a:avLst/>
                  <a:gdLst>
                    <a:gd name="T0" fmla="*/ 0 w 342"/>
                    <a:gd name="T1" fmla="*/ 329 h 143"/>
                    <a:gd name="T2" fmla="*/ 138 w 342"/>
                    <a:gd name="T3" fmla="*/ 61 h 143"/>
                    <a:gd name="T4" fmla="*/ 224 w 342"/>
                    <a:gd name="T5" fmla="*/ 3 h 143"/>
                    <a:gd name="T6" fmla="*/ 298 w 342"/>
                    <a:gd name="T7" fmla="*/ 86 h 143"/>
                    <a:gd name="T8" fmla="*/ 420 w 342"/>
                    <a:gd name="T9" fmla="*/ 363 h 143"/>
                    <a:gd name="T10" fmla="*/ 519 w 342"/>
                    <a:gd name="T11" fmla="*/ 313 h 143"/>
                    <a:gd name="T12" fmla="*/ 630 w 342"/>
                    <a:gd name="T13" fmla="*/ 53 h 143"/>
                    <a:gd name="T14" fmla="*/ 721 w 342"/>
                    <a:gd name="T15" fmla="*/ 11 h 143"/>
                    <a:gd name="T16" fmla="*/ 812 w 342"/>
                    <a:gd name="T17" fmla="*/ 128 h 143"/>
                    <a:gd name="T18" fmla="*/ 887 w 342"/>
                    <a:gd name="T19" fmla="*/ 329 h 143"/>
                    <a:gd name="T20" fmla="*/ 945 w 342"/>
                    <a:gd name="T21" fmla="*/ 313 h 14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42" h="143">
                      <a:moveTo>
                        <a:pt x="0" y="118"/>
                      </a:moveTo>
                      <a:cubicBezTo>
                        <a:pt x="16" y="77"/>
                        <a:pt x="36" y="42"/>
                        <a:pt x="50" y="22"/>
                      </a:cubicBezTo>
                      <a:cubicBezTo>
                        <a:pt x="64" y="2"/>
                        <a:pt x="71" y="0"/>
                        <a:pt x="81" y="1"/>
                      </a:cubicBezTo>
                      <a:cubicBezTo>
                        <a:pt x="91" y="2"/>
                        <a:pt x="96" y="10"/>
                        <a:pt x="108" y="31"/>
                      </a:cubicBezTo>
                      <a:cubicBezTo>
                        <a:pt x="120" y="52"/>
                        <a:pt x="139" y="117"/>
                        <a:pt x="152" y="130"/>
                      </a:cubicBezTo>
                      <a:cubicBezTo>
                        <a:pt x="165" y="143"/>
                        <a:pt x="175" y="130"/>
                        <a:pt x="188" y="112"/>
                      </a:cubicBezTo>
                      <a:cubicBezTo>
                        <a:pt x="201" y="94"/>
                        <a:pt x="216" y="37"/>
                        <a:pt x="228" y="19"/>
                      </a:cubicBezTo>
                      <a:cubicBezTo>
                        <a:pt x="240" y="1"/>
                        <a:pt x="250" y="0"/>
                        <a:pt x="261" y="4"/>
                      </a:cubicBezTo>
                      <a:cubicBezTo>
                        <a:pt x="272" y="8"/>
                        <a:pt x="284" y="27"/>
                        <a:pt x="294" y="46"/>
                      </a:cubicBezTo>
                      <a:cubicBezTo>
                        <a:pt x="304" y="65"/>
                        <a:pt x="313" y="107"/>
                        <a:pt x="321" y="118"/>
                      </a:cubicBezTo>
                      <a:cubicBezTo>
                        <a:pt x="329" y="129"/>
                        <a:pt x="338" y="113"/>
                        <a:pt x="342" y="112"/>
                      </a:cubicBezTo>
                    </a:path>
                  </a:pathLst>
                </a:custGeom>
                <a:noFill/>
                <a:ln w="38100"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20" name="Freeform 44"/>
                <p:cNvSpPr>
                  <a:spLocks/>
                </p:cNvSpPr>
                <p:nvPr/>
              </p:nvSpPr>
              <p:spPr bwMode="auto">
                <a:xfrm>
                  <a:off x="2871" y="147"/>
                  <a:ext cx="814" cy="2311"/>
                </a:xfrm>
                <a:custGeom>
                  <a:avLst/>
                  <a:gdLst>
                    <a:gd name="T0" fmla="*/ 0 w 300"/>
                    <a:gd name="T1" fmla="*/ 2241 h 529"/>
                    <a:gd name="T2" fmla="*/ 73 w 300"/>
                    <a:gd name="T3" fmla="*/ 2110 h 529"/>
                    <a:gd name="T4" fmla="*/ 195 w 300"/>
                    <a:gd name="T5" fmla="*/ 1062 h 529"/>
                    <a:gd name="T6" fmla="*/ 307 w 300"/>
                    <a:gd name="T7" fmla="*/ 170 h 529"/>
                    <a:gd name="T8" fmla="*/ 431 w 300"/>
                    <a:gd name="T9" fmla="*/ 39 h 529"/>
                    <a:gd name="T10" fmla="*/ 513 w 300"/>
                    <a:gd name="T11" fmla="*/ 249 h 529"/>
                    <a:gd name="T12" fmla="*/ 611 w 300"/>
                    <a:gd name="T13" fmla="*/ 996 h 529"/>
                    <a:gd name="T14" fmla="*/ 741 w 300"/>
                    <a:gd name="T15" fmla="*/ 2110 h 529"/>
                    <a:gd name="T16" fmla="*/ 814 w 300"/>
                    <a:gd name="T17" fmla="*/ 2215 h 5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0" h="529">
                      <a:moveTo>
                        <a:pt x="0" y="513"/>
                      </a:moveTo>
                      <a:cubicBezTo>
                        <a:pt x="4" y="508"/>
                        <a:pt x="15" y="528"/>
                        <a:pt x="27" y="483"/>
                      </a:cubicBezTo>
                      <a:cubicBezTo>
                        <a:pt x="39" y="438"/>
                        <a:pt x="58" y="317"/>
                        <a:pt x="72" y="243"/>
                      </a:cubicBezTo>
                      <a:cubicBezTo>
                        <a:pt x="86" y="169"/>
                        <a:pt x="99" y="78"/>
                        <a:pt x="113" y="39"/>
                      </a:cubicBezTo>
                      <a:cubicBezTo>
                        <a:pt x="127" y="0"/>
                        <a:pt x="146" y="6"/>
                        <a:pt x="159" y="9"/>
                      </a:cubicBezTo>
                      <a:cubicBezTo>
                        <a:pt x="172" y="12"/>
                        <a:pt x="178" y="21"/>
                        <a:pt x="189" y="57"/>
                      </a:cubicBezTo>
                      <a:cubicBezTo>
                        <a:pt x="200" y="93"/>
                        <a:pt x="211" y="157"/>
                        <a:pt x="225" y="228"/>
                      </a:cubicBezTo>
                      <a:cubicBezTo>
                        <a:pt x="239" y="299"/>
                        <a:pt x="261" y="437"/>
                        <a:pt x="273" y="483"/>
                      </a:cubicBezTo>
                      <a:cubicBezTo>
                        <a:pt x="285" y="529"/>
                        <a:pt x="295" y="502"/>
                        <a:pt x="300" y="507"/>
                      </a:cubicBezTo>
                    </a:path>
                  </a:pathLst>
                </a:custGeom>
                <a:noFill/>
                <a:ln w="38100"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0912" name="Line 45"/>
              <p:cNvSpPr>
                <a:spLocks noChangeShapeType="1"/>
              </p:cNvSpPr>
              <p:nvPr/>
            </p:nvSpPr>
            <p:spPr bwMode="auto">
              <a:xfrm>
                <a:off x="432" y="3024"/>
                <a:ext cx="1362"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80913" name="Object 54"/>
              <p:cNvGraphicFramePr>
                <a:graphicFrameLocks noChangeAspect="1"/>
              </p:cNvGraphicFramePr>
              <p:nvPr/>
            </p:nvGraphicFramePr>
            <p:xfrm>
              <a:off x="720" y="1824"/>
              <a:ext cx="232" cy="487"/>
            </p:xfrm>
            <a:graphic>
              <a:graphicData uri="http://schemas.openxmlformats.org/presentationml/2006/ole">
                <mc:AlternateContent xmlns:mc="http://schemas.openxmlformats.org/markup-compatibility/2006">
                  <mc:Choice xmlns:v="urn:schemas-microsoft-com:vml" Requires="v">
                    <p:oleObj spid="_x0000_s81053" name="Equation" r:id="rId3" imgW="196980" imgH="425612" progId="Equation.3">
                      <p:embed/>
                    </p:oleObj>
                  </mc:Choice>
                  <mc:Fallback>
                    <p:oleObj name="Equation" r:id="rId3" imgW="196980" imgH="425612" progId="Equation.3">
                      <p:embed/>
                      <p:pic>
                        <p:nvPicPr>
                          <p:cNvPr id="0" name="Object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1824"/>
                            <a:ext cx="232" cy="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0914" name="Object 55"/>
              <p:cNvGraphicFramePr>
                <a:graphicFrameLocks noChangeAspect="1"/>
              </p:cNvGraphicFramePr>
              <p:nvPr/>
            </p:nvGraphicFramePr>
            <p:xfrm>
              <a:off x="1687" y="3072"/>
              <a:ext cx="377" cy="201"/>
            </p:xfrm>
            <a:graphic>
              <a:graphicData uri="http://schemas.openxmlformats.org/presentationml/2006/ole">
                <mc:AlternateContent xmlns:mc="http://schemas.openxmlformats.org/markup-compatibility/2006">
                  <mc:Choice xmlns:v="urn:schemas-microsoft-com:vml" Requires="v">
                    <p:oleObj spid="_x0000_s81054" name="Equation" r:id="rId5" imgW="323876" imgH="171658" progId="Equation.3">
                      <p:embed/>
                    </p:oleObj>
                  </mc:Choice>
                  <mc:Fallback>
                    <p:oleObj name="Equation" r:id="rId5" imgW="323876" imgH="171658" progId="Equation.3">
                      <p:embed/>
                      <p:pic>
                        <p:nvPicPr>
                          <p:cNvPr id="0" name="Object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87" y="3072"/>
                            <a:ext cx="37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15" name="Line 56"/>
              <p:cNvSpPr>
                <a:spLocks noChangeShapeType="1"/>
              </p:cNvSpPr>
              <p:nvPr/>
            </p:nvSpPr>
            <p:spPr bwMode="auto">
              <a:xfrm flipV="1">
                <a:off x="1056" y="1872"/>
                <a:ext cx="0" cy="1152"/>
              </a:xfrm>
              <a:prstGeom prst="line">
                <a:avLst/>
              </a:prstGeom>
              <a:noFill/>
              <a:ln w="38100" cap="sq">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916" name="Line 57"/>
              <p:cNvSpPr>
                <a:spLocks noChangeShapeType="1"/>
              </p:cNvSpPr>
              <p:nvPr/>
            </p:nvSpPr>
            <p:spPr bwMode="auto">
              <a:xfrm>
                <a:off x="1632" y="3024"/>
                <a:ext cx="336" cy="0"/>
              </a:xfrm>
              <a:prstGeom prst="line">
                <a:avLst/>
              </a:prstGeom>
              <a:noFill/>
              <a:ln w="38100" cap="sq">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80917" name="Object 58"/>
              <p:cNvGraphicFramePr>
                <a:graphicFrameLocks noChangeAspect="1"/>
              </p:cNvGraphicFramePr>
              <p:nvPr/>
            </p:nvGraphicFramePr>
            <p:xfrm>
              <a:off x="864" y="3072"/>
              <a:ext cx="178" cy="192"/>
            </p:xfrm>
            <a:graphic>
              <a:graphicData uri="http://schemas.openxmlformats.org/presentationml/2006/ole">
                <mc:AlternateContent xmlns:mc="http://schemas.openxmlformats.org/markup-compatibility/2006">
                  <mc:Choice xmlns:v="urn:schemas-microsoft-com:vml" Requires="v">
                    <p:oleObj spid="_x0000_s81055" name="Equation" r:id="rId7" imgW="120676" imgH="133419" progId="Equation.3">
                      <p:embed/>
                    </p:oleObj>
                  </mc:Choice>
                  <mc:Fallback>
                    <p:oleObj name="Equation" r:id="rId7" imgW="120676" imgH="133419" progId="Equation.3">
                      <p:embed/>
                      <p:pic>
                        <p:nvPicPr>
                          <p:cNvPr id="0" name="Object 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4" y="3072"/>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nvGrpSpPr>
          <p:cNvPr id="80899" name="Group 62"/>
          <p:cNvGrpSpPr>
            <a:grpSpLocks/>
          </p:cNvGrpSpPr>
          <p:nvPr/>
        </p:nvGrpSpPr>
        <p:grpSpPr bwMode="auto">
          <a:xfrm>
            <a:off x="5141913" y="3398838"/>
            <a:ext cx="2309812" cy="461962"/>
            <a:chOff x="2771" y="1642"/>
            <a:chExt cx="1455" cy="291"/>
          </a:xfrm>
        </p:grpSpPr>
        <p:sp>
          <p:nvSpPr>
            <p:cNvPr id="80907" name="Rectangle 46"/>
            <p:cNvSpPr>
              <a:spLocks noChangeArrowheads="1"/>
            </p:cNvSpPr>
            <p:nvPr/>
          </p:nvSpPr>
          <p:spPr bwMode="auto">
            <a:xfrm>
              <a:off x="3334" y="1642"/>
              <a:ext cx="8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00"/>
                  </a:solidFill>
                  <a:latin typeface="宋体" pitchFamily="2" charset="-122"/>
                </a:rPr>
                <a:t>单缝衍射</a:t>
              </a:r>
            </a:p>
          </p:txBody>
        </p:sp>
        <p:graphicFrame>
          <p:nvGraphicFramePr>
            <p:cNvPr id="80908" name="Object 49"/>
            <p:cNvGraphicFramePr>
              <a:graphicFrameLocks noChangeAspect="1"/>
            </p:cNvGraphicFramePr>
            <p:nvPr/>
          </p:nvGraphicFramePr>
          <p:xfrm>
            <a:off x="2771" y="1683"/>
            <a:ext cx="461" cy="228"/>
          </p:xfrm>
          <a:graphic>
            <a:graphicData uri="http://schemas.openxmlformats.org/presentationml/2006/ole">
              <mc:AlternateContent xmlns:mc="http://schemas.openxmlformats.org/markup-compatibility/2006">
                <mc:Choice xmlns:v="urn:schemas-microsoft-com:vml" Requires="v">
                  <p:oleObj spid="_x0000_s81056" name="Equation" r:id="rId9" imgW="362028" imgH="171658" progId="Equation.3">
                    <p:embed/>
                  </p:oleObj>
                </mc:Choice>
                <mc:Fallback>
                  <p:oleObj name="Equation" r:id="rId9" imgW="362028" imgH="171658" progId="Equation.3">
                    <p:embed/>
                    <p:pic>
                      <p:nvPicPr>
                        <p:cNvPr id="0" name="Object 4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71" y="1683"/>
                          <a:ext cx="461"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0900" name="Group 1049"/>
          <p:cNvGrpSpPr>
            <a:grpSpLocks/>
          </p:cNvGrpSpPr>
          <p:nvPr/>
        </p:nvGrpSpPr>
        <p:grpSpPr bwMode="auto">
          <a:xfrm>
            <a:off x="323850" y="404813"/>
            <a:ext cx="8596313" cy="1212850"/>
            <a:chOff x="96" y="293"/>
            <a:chExt cx="5415" cy="764"/>
          </a:xfrm>
        </p:grpSpPr>
        <p:sp>
          <p:nvSpPr>
            <p:cNvPr id="80905" name="Text Box 1027"/>
            <p:cNvSpPr txBox="1">
              <a:spLocks noChangeArrowheads="1"/>
            </p:cNvSpPr>
            <p:nvPr/>
          </p:nvSpPr>
          <p:spPr bwMode="auto">
            <a:xfrm>
              <a:off x="96" y="301"/>
              <a:ext cx="5415"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ct val="150000"/>
                </a:lnSpc>
              </a:pPr>
              <a:r>
                <a:rPr lang="zh-CN" altLang="en-US" sz="2400" b="1" dirty="0">
                  <a:solidFill>
                    <a:schemeClr val="tx2"/>
                  </a:solidFill>
                  <a:latin typeface="宋体" pitchFamily="2" charset="-122"/>
                </a:rPr>
                <a:t>是几缝衍射</a:t>
              </a:r>
              <a:r>
                <a:rPr lang="zh-CN" altLang="en-US" sz="2400" b="1" dirty="0" smtClean="0">
                  <a:solidFill>
                    <a:schemeClr val="tx2"/>
                  </a:solidFill>
                  <a:latin typeface="宋体" pitchFamily="2" charset="-122"/>
                </a:rPr>
                <a:t>；    </a:t>
              </a:r>
              <a:r>
                <a:rPr lang="zh-CN" altLang="en-US" sz="2400" b="1" dirty="0">
                  <a:solidFill>
                    <a:schemeClr val="tx2"/>
                  </a:solidFill>
                  <a:latin typeface="宋体" pitchFamily="2" charset="-122"/>
                </a:rPr>
                <a:t>等于多少？有哪些缺级？单缝中央明纹有几个主极大？</a:t>
              </a:r>
              <a:endParaRPr lang="en-US" altLang="zh-CN" sz="2400" b="1" dirty="0">
                <a:solidFill>
                  <a:schemeClr val="tx2"/>
                </a:solidFill>
                <a:latin typeface="宋体" pitchFamily="2" charset="-122"/>
              </a:endParaRPr>
            </a:p>
          </p:txBody>
        </p:sp>
        <p:graphicFrame>
          <p:nvGraphicFramePr>
            <p:cNvPr id="80906" name="Object 1026"/>
            <p:cNvGraphicFramePr>
              <a:graphicFrameLocks noChangeAspect="1"/>
            </p:cNvGraphicFramePr>
            <p:nvPr>
              <p:extLst>
                <p:ext uri="{D42A27DB-BD31-4B8C-83A1-F6EECF244321}">
                  <p14:modId xmlns:p14="http://schemas.microsoft.com/office/powerpoint/2010/main" val="321756159"/>
                </p:ext>
              </p:extLst>
            </p:nvPr>
          </p:nvGraphicFramePr>
          <p:xfrm>
            <a:off x="1275" y="293"/>
            <a:ext cx="389" cy="461"/>
          </p:xfrm>
          <a:graphic>
            <a:graphicData uri="http://schemas.openxmlformats.org/presentationml/2006/ole">
              <mc:AlternateContent xmlns:mc="http://schemas.openxmlformats.org/markup-compatibility/2006">
                <mc:Choice xmlns:v="urn:schemas-microsoft-com:vml" Requires="v">
                  <p:oleObj spid="_x0000_s81057" r:id="rId11" imgW="387324" imgH="362019" progId="Equation.3">
                    <p:embed/>
                  </p:oleObj>
                </mc:Choice>
                <mc:Fallback>
                  <p:oleObj r:id="rId11" imgW="387324" imgH="362019" progId="Equation.3">
                    <p:embed/>
                    <p:pic>
                      <p:nvPicPr>
                        <p:cNvPr id="0" name="Object 10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75" y="293"/>
                          <a:ext cx="389"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0" name="Text Box 20"/>
          <p:cNvSpPr txBox="1">
            <a:spLocks noChangeArrowheads="1"/>
          </p:cNvSpPr>
          <p:nvPr/>
        </p:nvSpPr>
        <p:spPr bwMode="auto">
          <a:xfrm>
            <a:off x="633413" y="5157788"/>
            <a:ext cx="7467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a:solidFill>
                  <a:schemeClr val="tx2"/>
                </a:solidFill>
                <a:latin typeface="宋体" pitchFamily="2" charset="-122"/>
              </a:rPr>
              <a:t>问：入射波长相同，哪一个图对应的缝最宽？</a:t>
            </a:r>
          </a:p>
        </p:txBody>
      </p:sp>
      <p:grpSp>
        <p:nvGrpSpPr>
          <p:cNvPr id="31" name="组合 30"/>
          <p:cNvGrpSpPr>
            <a:grpSpLocks/>
          </p:cNvGrpSpPr>
          <p:nvPr/>
        </p:nvGrpSpPr>
        <p:grpSpPr bwMode="auto">
          <a:xfrm>
            <a:off x="1281113" y="5762625"/>
            <a:ext cx="4987925" cy="692150"/>
            <a:chOff x="827584" y="5949280"/>
            <a:chExt cx="4988866" cy="692596"/>
          </a:xfrm>
        </p:grpSpPr>
        <p:sp>
          <p:nvSpPr>
            <p:cNvPr id="80903" name="Rectangle 47"/>
            <p:cNvSpPr>
              <a:spLocks noChangeArrowheads="1"/>
            </p:cNvSpPr>
            <p:nvPr/>
          </p:nvSpPr>
          <p:spPr bwMode="auto">
            <a:xfrm>
              <a:off x="827584" y="6021288"/>
              <a:ext cx="49888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00"/>
                  </a:solidFill>
                  <a:latin typeface="宋体" pitchFamily="2" charset="-122"/>
                </a:rPr>
                <a:t>因为        ，所以图</a:t>
              </a:r>
              <a:r>
                <a:rPr lang="en-US" altLang="zh-CN" sz="2400" b="1">
                  <a:solidFill>
                    <a:srgbClr val="000000"/>
                  </a:solidFill>
                  <a:latin typeface="宋体" pitchFamily="2" charset="-122"/>
                </a:rPr>
                <a:t>(d)</a:t>
              </a:r>
              <a:r>
                <a:rPr lang="zh-CN" altLang="en-US" sz="2400" b="1">
                  <a:solidFill>
                    <a:srgbClr val="000000"/>
                  </a:solidFill>
                  <a:latin typeface="宋体" pitchFamily="2" charset="-122"/>
                </a:rPr>
                <a:t>缝最宽。</a:t>
              </a:r>
            </a:p>
          </p:txBody>
        </p:sp>
        <p:graphicFrame>
          <p:nvGraphicFramePr>
            <p:cNvPr id="80904" name="Object 48"/>
            <p:cNvGraphicFramePr>
              <a:graphicFrameLocks noChangeAspect="1"/>
            </p:cNvGraphicFramePr>
            <p:nvPr/>
          </p:nvGraphicFramePr>
          <p:xfrm>
            <a:off x="1619672" y="5949280"/>
            <a:ext cx="1188720" cy="692596"/>
          </p:xfrm>
          <a:graphic>
            <a:graphicData uri="http://schemas.openxmlformats.org/presentationml/2006/ole">
              <mc:AlternateContent xmlns:mc="http://schemas.openxmlformats.org/markup-compatibility/2006">
                <mc:Choice xmlns:v="urn:schemas-microsoft-com:vml" Requires="v">
                  <p:oleObj spid="_x0000_s81058" name="Equation" r:id="rId13" imgW="679269" imgH="387373" progId="Equation.3">
                    <p:embed/>
                  </p:oleObj>
                </mc:Choice>
                <mc:Fallback>
                  <p:oleObj name="Equation" r:id="rId13" imgW="679269" imgH="387373" progId="Equation.3">
                    <p:embed/>
                    <p:pic>
                      <p:nvPicPr>
                        <p:cNvPr id="0" name="Object 4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19672" y="5949280"/>
                          <a:ext cx="1188720" cy="69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9391"/>
                                        </p:tgtEl>
                                        <p:attrNameLst>
                                          <p:attrName>style.visibility</p:attrName>
                                        </p:attrNameLst>
                                      </p:cBhvr>
                                      <p:to>
                                        <p:strVal val="visible"/>
                                      </p:to>
                                    </p:set>
                                    <p:anim calcmode="lin" valueType="num">
                                      <p:cBhvr additive="base">
                                        <p:cTn id="7" dur="500" fill="hold"/>
                                        <p:tgtEl>
                                          <p:spTgt spid="99391"/>
                                        </p:tgtEl>
                                        <p:attrNameLst>
                                          <p:attrName>ppt_x</p:attrName>
                                        </p:attrNameLst>
                                      </p:cBhvr>
                                      <p:tavLst>
                                        <p:tav tm="0">
                                          <p:val>
                                            <p:strVal val="0-#ppt_w/2"/>
                                          </p:val>
                                        </p:tav>
                                        <p:tav tm="100000">
                                          <p:val>
                                            <p:strVal val="#ppt_x"/>
                                          </p:val>
                                        </p:tav>
                                      </p:tavLst>
                                    </p:anim>
                                    <p:anim calcmode="lin" valueType="num">
                                      <p:cBhvr additive="base">
                                        <p:cTn id="8" dur="500" fill="hold"/>
                                        <p:tgtEl>
                                          <p:spTgt spid="9939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8089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620713"/>
            <a:ext cx="6446837"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3" name="文本框 2"/>
          <p:cNvSpPr txBox="1">
            <a:spLocks noChangeArrowheads="1"/>
          </p:cNvSpPr>
          <p:nvPr/>
        </p:nvSpPr>
        <p:spPr bwMode="auto">
          <a:xfrm>
            <a:off x="179388" y="620713"/>
            <a:ext cx="454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en-US" altLang="zh-CN" sz="2800" b="1">
                <a:solidFill>
                  <a:srgbClr val="FF3300"/>
                </a:solidFill>
              </a:rPr>
              <a:t>2.</a:t>
            </a:r>
            <a:endParaRPr kumimoji="0" lang="zh-CN" altLang="en-US" sz="2800" b="1">
              <a:solidFill>
                <a:srgbClr val="FF3300"/>
              </a:solidFill>
            </a:endParaRPr>
          </a:p>
        </p:txBody>
      </p:sp>
      <p:sp>
        <p:nvSpPr>
          <p:cNvPr id="81924" name="文本框 3"/>
          <p:cNvSpPr txBox="1">
            <a:spLocks noChangeArrowheads="1"/>
          </p:cNvSpPr>
          <p:nvPr/>
        </p:nvSpPr>
        <p:spPr bwMode="auto">
          <a:xfrm>
            <a:off x="512763" y="3330575"/>
            <a:ext cx="2114550"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ts val="5000"/>
              </a:lnSpc>
            </a:pPr>
            <a:r>
              <a:rPr kumimoji="0" lang="zh-CN" altLang="en-US" sz="1800">
                <a:solidFill>
                  <a:srgbClr val="000000"/>
                </a:solidFill>
              </a:rPr>
              <a:t>（</a:t>
            </a:r>
            <a:r>
              <a:rPr kumimoji="0" lang="en-US" altLang="zh-CN" sz="1800">
                <a:solidFill>
                  <a:srgbClr val="000000"/>
                </a:solidFill>
              </a:rPr>
              <a:t>A</a:t>
            </a:r>
            <a:r>
              <a:rPr kumimoji="0" lang="zh-CN" altLang="en-US" sz="1800">
                <a:solidFill>
                  <a:srgbClr val="000000"/>
                </a:solidFill>
              </a:rPr>
              <a:t>）</a:t>
            </a:r>
            <a:r>
              <a:rPr kumimoji="0" lang="en-US" altLang="zh-CN" sz="1800">
                <a:solidFill>
                  <a:srgbClr val="000000"/>
                </a:solidFill>
              </a:rPr>
              <a:t>2.5um</a:t>
            </a:r>
          </a:p>
          <a:p>
            <a:pPr eaLnBrk="1" hangingPunct="1">
              <a:lnSpc>
                <a:spcPts val="5000"/>
              </a:lnSpc>
            </a:pPr>
            <a:r>
              <a:rPr kumimoji="0" lang="zh-CN" altLang="en-US" sz="1800">
                <a:solidFill>
                  <a:srgbClr val="000000"/>
                </a:solidFill>
              </a:rPr>
              <a:t>（</a:t>
            </a:r>
            <a:r>
              <a:rPr kumimoji="0" lang="en-US" altLang="zh-CN" sz="1800">
                <a:solidFill>
                  <a:srgbClr val="000000"/>
                </a:solidFill>
              </a:rPr>
              <a:t>B</a:t>
            </a:r>
            <a:r>
              <a:rPr kumimoji="0" lang="zh-CN" altLang="en-US" sz="1800">
                <a:solidFill>
                  <a:srgbClr val="000000"/>
                </a:solidFill>
              </a:rPr>
              <a:t>）</a:t>
            </a:r>
            <a:r>
              <a:rPr kumimoji="0" lang="en-US" altLang="zh-CN" sz="1800">
                <a:solidFill>
                  <a:srgbClr val="000000"/>
                </a:solidFill>
              </a:rPr>
              <a:t>3.5um</a:t>
            </a:r>
          </a:p>
          <a:p>
            <a:pPr eaLnBrk="1" hangingPunct="1">
              <a:lnSpc>
                <a:spcPts val="5000"/>
              </a:lnSpc>
            </a:pPr>
            <a:r>
              <a:rPr kumimoji="0" lang="zh-CN" altLang="en-US" sz="1800">
                <a:solidFill>
                  <a:srgbClr val="000000"/>
                </a:solidFill>
              </a:rPr>
              <a:t>（</a:t>
            </a:r>
            <a:r>
              <a:rPr kumimoji="0" lang="en-US" altLang="zh-CN" sz="1800">
                <a:solidFill>
                  <a:srgbClr val="000000"/>
                </a:solidFill>
              </a:rPr>
              <a:t>C</a:t>
            </a:r>
            <a:r>
              <a:rPr kumimoji="0" lang="zh-CN" altLang="en-US" sz="1800">
                <a:solidFill>
                  <a:srgbClr val="000000"/>
                </a:solidFill>
              </a:rPr>
              <a:t>）</a:t>
            </a:r>
            <a:r>
              <a:rPr kumimoji="0" lang="en-US" altLang="zh-CN" sz="1800">
                <a:solidFill>
                  <a:srgbClr val="000000"/>
                </a:solidFill>
              </a:rPr>
              <a:t>4.5um</a:t>
            </a:r>
          </a:p>
          <a:p>
            <a:pPr eaLnBrk="1" hangingPunct="1">
              <a:lnSpc>
                <a:spcPts val="5000"/>
              </a:lnSpc>
            </a:pPr>
            <a:r>
              <a:rPr kumimoji="0" lang="zh-CN" altLang="en-US" sz="1800">
                <a:solidFill>
                  <a:srgbClr val="000000"/>
                </a:solidFill>
              </a:rPr>
              <a:t>（</a:t>
            </a:r>
            <a:r>
              <a:rPr kumimoji="0" lang="en-US" altLang="zh-CN" sz="1800">
                <a:solidFill>
                  <a:srgbClr val="000000"/>
                </a:solidFill>
              </a:rPr>
              <a:t>D</a:t>
            </a:r>
            <a:r>
              <a:rPr kumimoji="0" lang="zh-CN" altLang="en-US" sz="1800">
                <a:solidFill>
                  <a:srgbClr val="000000"/>
                </a:solidFill>
              </a:rPr>
              <a:t>）</a:t>
            </a:r>
            <a:r>
              <a:rPr kumimoji="0" lang="en-US" altLang="zh-CN" sz="1800">
                <a:solidFill>
                  <a:srgbClr val="000000"/>
                </a:solidFill>
              </a:rPr>
              <a:t>5.5um</a:t>
            </a:r>
            <a:endParaRPr kumimoji="0" lang="zh-CN" altLang="en-US" sz="1800">
              <a:solidFill>
                <a:srgbClr val="000000"/>
              </a:solidFill>
            </a:endParaRPr>
          </a:p>
        </p:txBody>
      </p:sp>
      <p:sp>
        <p:nvSpPr>
          <p:cNvPr id="5" name="文本框 4"/>
          <p:cNvSpPr txBox="1">
            <a:spLocks noChangeArrowheads="1"/>
          </p:cNvSpPr>
          <p:nvPr/>
        </p:nvSpPr>
        <p:spPr bwMode="auto">
          <a:xfrm>
            <a:off x="4198937" y="2808287"/>
            <a:ext cx="11445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zh-CN" altLang="en-US" sz="1800" dirty="0">
                <a:solidFill>
                  <a:srgbClr val="000000"/>
                </a:solidFill>
              </a:rPr>
              <a:t>（</a:t>
            </a:r>
            <a:r>
              <a:rPr kumimoji="0" lang="en-US" altLang="zh-CN" sz="1800" dirty="0">
                <a:solidFill>
                  <a:srgbClr val="000000"/>
                </a:solidFill>
              </a:rPr>
              <a:t>B</a:t>
            </a:r>
            <a:r>
              <a:rPr kumimoji="0" lang="zh-CN" altLang="en-US" sz="1800" dirty="0">
                <a:solidFill>
                  <a:srgbClr val="000000"/>
                </a:solidFill>
              </a:rPr>
              <a:t>）</a:t>
            </a:r>
          </a:p>
        </p:txBody>
      </p:sp>
      <p:grpSp>
        <p:nvGrpSpPr>
          <p:cNvPr id="2" name="组合 1"/>
          <p:cNvGrpSpPr/>
          <p:nvPr/>
        </p:nvGrpSpPr>
        <p:grpSpPr>
          <a:xfrm>
            <a:off x="3779838" y="3387725"/>
            <a:ext cx="3665537" cy="1271588"/>
            <a:chOff x="3779838" y="3387725"/>
            <a:chExt cx="3665537" cy="1271588"/>
          </a:xfrm>
        </p:grpSpPr>
        <p:graphicFrame>
          <p:nvGraphicFramePr>
            <p:cNvPr id="81926" name="Object 7"/>
            <p:cNvGraphicFramePr>
              <a:graphicFrameLocks noChangeAspect="1"/>
            </p:cNvGraphicFramePr>
            <p:nvPr>
              <p:extLst>
                <p:ext uri="{D42A27DB-BD31-4B8C-83A1-F6EECF244321}">
                  <p14:modId xmlns:p14="http://schemas.microsoft.com/office/powerpoint/2010/main" val="358613751"/>
                </p:ext>
              </p:extLst>
            </p:nvPr>
          </p:nvGraphicFramePr>
          <p:xfrm>
            <a:off x="3779838" y="3387725"/>
            <a:ext cx="3446462" cy="465138"/>
          </p:xfrm>
          <a:graphic>
            <a:graphicData uri="http://schemas.openxmlformats.org/presentationml/2006/ole">
              <mc:AlternateContent xmlns:mc="http://schemas.openxmlformats.org/markup-compatibility/2006">
                <mc:Choice xmlns:v="urn:schemas-microsoft-com:vml" Requires="v">
                  <p:oleObj spid="_x0000_s81972" name="Equation" r:id="rId4" imgW="1346040" imgH="203040" progId="Equation.DSMT4">
                    <p:embed/>
                  </p:oleObj>
                </mc:Choice>
                <mc:Fallback>
                  <p:oleObj name="Equation" r:id="rId4" imgW="1346040" imgH="20304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838" y="3387725"/>
                          <a:ext cx="344646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27" name="Object 7"/>
            <p:cNvGraphicFramePr>
              <a:graphicFrameLocks noChangeAspect="1"/>
            </p:cNvGraphicFramePr>
            <p:nvPr>
              <p:extLst>
                <p:ext uri="{D42A27DB-BD31-4B8C-83A1-F6EECF244321}">
                  <p14:modId xmlns:p14="http://schemas.microsoft.com/office/powerpoint/2010/main" val="990448067"/>
                </p:ext>
              </p:extLst>
            </p:nvPr>
          </p:nvGraphicFramePr>
          <p:xfrm>
            <a:off x="4356100" y="4252913"/>
            <a:ext cx="3089275" cy="406400"/>
          </p:xfrm>
          <a:graphic>
            <a:graphicData uri="http://schemas.openxmlformats.org/presentationml/2006/ole">
              <mc:AlternateContent xmlns:mc="http://schemas.openxmlformats.org/markup-compatibility/2006">
                <mc:Choice xmlns:v="urn:schemas-microsoft-com:vml" Requires="v">
                  <p:oleObj spid="_x0000_s81973" name="Equation" r:id="rId6" imgW="1206360" imgH="177480" progId="Equation.DSMT4">
                    <p:embed/>
                  </p:oleObj>
                </mc:Choice>
                <mc:Fallback>
                  <p:oleObj name="Equation" r:id="rId6" imgW="1206360" imgH="17748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6100" y="4252913"/>
                          <a:ext cx="30892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692150"/>
            <a:ext cx="6553200" cy="261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文本框 2"/>
          <p:cNvSpPr txBox="1">
            <a:spLocks noChangeArrowheads="1"/>
          </p:cNvSpPr>
          <p:nvPr/>
        </p:nvSpPr>
        <p:spPr bwMode="auto">
          <a:xfrm>
            <a:off x="179388" y="692150"/>
            <a:ext cx="454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en-US" altLang="zh-CN" sz="2800" b="1">
                <a:solidFill>
                  <a:srgbClr val="FF3300"/>
                </a:solidFill>
              </a:rPr>
              <a:t>3.</a:t>
            </a:r>
            <a:endParaRPr kumimoji="0" lang="zh-CN" altLang="en-US" sz="2800" b="1">
              <a:solidFill>
                <a:srgbClr val="FF3300"/>
              </a:solidFill>
            </a:endParaRPr>
          </a:p>
        </p:txBody>
      </p:sp>
      <p:sp>
        <p:nvSpPr>
          <p:cNvPr id="82948" name="文本框 3"/>
          <p:cNvSpPr txBox="1">
            <a:spLocks noChangeArrowheads="1"/>
          </p:cNvSpPr>
          <p:nvPr/>
        </p:nvSpPr>
        <p:spPr bwMode="auto">
          <a:xfrm>
            <a:off x="179388" y="3500438"/>
            <a:ext cx="2114550"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ts val="5000"/>
              </a:lnSpc>
            </a:pPr>
            <a:r>
              <a:rPr kumimoji="0" lang="zh-CN" altLang="en-US" sz="1800">
                <a:solidFill>
                  <a:srgbClr val="000000"/>
                </a:solidFill>
              </a:rPr>
              <a:t>（</a:t>
            </a:r>
            <a:r>
              <a:rPr kumimoji="0" lang="en-US" altLang="zh-CN" sz="1800">
                <a:solidFill>
                  <a:srgbClr val="000000"/>
                </a:solidFill>
              </a:rPr>
              <a:t>A</a:t>
            </a:r>
            <a:r>
              <a:rPr kumimoji="0" lang="zh-CN" altLang="en-US" sz="1800">
                <a:solidFill>
                  <a:srgbClr val="000000"/>
                </a:solidFill>
              </a:rPr>
              <a:t>）</a:t>
            </a:r>
            <a:r>
              <a:rPr kumimoji="0" lang="en-US" altLang="zh-CN" sz="1800">
                <a:solidFill>
                  <a:srgbClr val="000000"/>
                </a:solidFill>
              </a:rPr>
              <a:t>1.0um</a:t>
            </a:r>
          </a:p>
          <a:p>
            <a:pPr eaLnBrk="1" hangingPunct="1">
              <a:lnSpc>
                <a:spcPts val="5000"/>
              </a:lnSpc>
            </a:pPr>
            <a:r>
              <a:rPr kumimoji="0" lang="zh-CN" altLang="en-US" sz="1800">
                <a:solidFill>
                  <a:srgbClr val="000000"/>
                </a:solidFill>
              </a:rPr>
              <a:t>（</a:t>
            </a:r>
            <a:r>
              <a:rPr kumimoji="0" lang="en-US" altLang="zh-CN" sz="1800">
                <a:solidFill>
                  <a:srgbClr val="000000"/>
                </a:solidFill>
              </a:rPr>
              <a:t>B</a:t>
            </a:r>
            <a:r>
              <a:rPr kumimoji="0" lang="zh-CN" altLang="en-US" sz="1800">
                <a:solidFill>
                  <a:srgbClr val="000000"/>
                </a:solidFill>
              </a:rPr>
              <a:t>）</a:t>
            </a:r>
            <a:r>
              <a:rPr kumimoji="0" lang="en-US" altLang="zh-CN" sz="1800">
                <a:solidFill>
                  <a:srgbClr val="000000"/>
                </a:solidFill>
              </a:rPr>
              <a:t>1.5um</a:t>
            </a:r>
          </a:p>
          <a:p>
            <a:pPr eaLnBrk="1" hangingPunct="1">
              <a:lnSpc>
                <a:spcPts val="5000"/>
              </a:lnSpc>
            </a:pPr>
            <a:r>
              <a:rPr kumimoji="0" lang="zh-CN" altLang="en-US" sz="1800">
                <a:solidFill>
                  <a:srgbClr val="000000"/>
                </a:solidFill>
              </a:rPr>
              <a:t>（</a:t>
            </a:r>
            <a:r>
              <a:rPr kumimoji="0" lang="en-US" altLang="zh-CN" sz="1800">
                <a:solidFill>
                  <a:srgbClr val="000000"/>
                </a:solidFill>
              </a:rPr>
              <a:t>C</a:t>
            </a:r>
            <a:r>
              <a:rPr kumimoji="0" lang="zh-CN" altLang="en-US" sz="1800">
                <a:solidFill>
                  <a:srgbClr val="000000"/>
                </a:solidFill>
              </a:rPr>
              <a:t>）</a:t>
            </a:r>
            <a:r>
              <a:rPr kumimoji="0" lang="en-US" altLang="zh-CN" sz="1800">
                <a:solidFill>
                  <a:srgbClr val="000000"/>
                </a:solidFill>
              </a:rPr>
              <a:t>2.0um</a:t>
            </a:r>
          </a:p>
          <a:p>
            <a:pPr eaLnBrk="1" hangingPunct="1">
              <a:lnSpc>
                <a:spcPts val="5000"/>
              </a:lnSpc>
            </a:pPr>
            <a:r>
              <a:rPr kumimoji="0" lang="zh-CN" altLang="en-US" sz="1800">
                <a:solidFill>
                  <a:srgbClr val="000000"/>
                </a:solidFill>
              </a:rPr>
              <a:t>（</a:t>
            </a:r>
            <a:r>
              <a:rPr kumimoji="0" lang="en-US" altLang="zh-CN" sz="1800">
                <a:solidFill>
                  <a:srgbClr val="000000"/>
                </a:solidFill>
              </a:rPr>
              <a:t>D</a:t>
            </a:r>
            <a:r>
              <a:rPr kumimoji="0" lang="zh-CN" altLang="en-US" sz="1800">
                <a:solidFill>
                  <a:srgbClr val="000000"/>
                </a:solidFill>
              </a:rPr>
              <a:t>）</a:t>
            </a:r>
            <a:r>
              <a:rPr kumimoji="0" lang="en-US" altLang="zh-CN" sz="1800">
                <a:solidFill>
                  <a:srgbClr val="000000"/>
                </a:solidFill>
              </a:rPr>
              <a:t>2.5um</a:t>
            </a:r>
            <a:endParaRPr kumimoji="0" lang="zh-CN" altLang="en-US" sz="1800">
              <a:solidFill>
                <a:srgbClr val="000000"/>
              </a:solidFill>
            </a:endParaRPr>
          </a:p>
        </p:txBody>
      </p:sp>
      <p:sp>
        <p:nvSpPr>
          <p:cNvPr id="5" name="文本框 4"/>
          <p:cNvSpPr txBox="1">
            <a:spLocks noChangeArrowheads="1"/>
          </p:cNvSpPr>
          <p:nvPr/>
        </p:nvSpPr>
        <p:spPr bwMode="auto">
          <a:xfrm>
            <a:off x="4583986" y="2949641"/>
            <a:ext cx="1165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zh-CN" altLang="en-US" sz="1800" dirty="0">
                <a:solidFill>
                  <a:srgbClr val="000000"/>
                </a:solidFill>
              </a:rPr>
              <a:t>（</a:t>
            </a:r>
            <a:r>
              <a:rPr kumimoji="0" lang="en-US" altLang="zh-CN" sz="1800" dirty="0">
                <a:solidFill>
                  <a:srgbClr val="000000"/>
                </a:solidFill>
              </a:rPr>
              <a:t>A</a:t>
            </a:r>
            <a:r>
              <a:rPr kumimoji="0" lang="zh-CN" altLang="en-US" sz="1800" dirty="0">
                <a:solidFill>
                  <a:srgbClr val="000000"/>
                </a:solidFill>
              </a:rPr>
              <a:t>）</a:t>
            </a:r>
          </a:p>
        </p:txBody>
      </p:sp>
      <p:graphicFrame>
        <p:nvGraphicFramePr>
          <p:cNvPr id="6" name="Object 9"/>
          <p:cNvGraphicFramePr>
            <a:graphicFrameLocks noChangeAspect="1"/>
          </p:cNvGraphicFramePr>
          <p:nvPr/>
        </p:nvGraphicFramePr>
        <p:xfrm>
          <a:off x="3135313" y="4270375"/>
          <a:ext cx="4519612" cy="465138"/>
        </p:xfrm>
        <a:graphic>
          <a:graphicData uri="http://schemas.openxmlformats.org/presentationml/2006/ole">
            <mc:AlternateContent xmlns:mc="http://schemas.openxmlformats.org/markup-compatibility/2006">
              <mc:Choice xmlns:v="urn:schemas-microsoft-com:vml" Requires="v">
                <p:oleObj spid="_x0000_s83043" name="公式" r:id="rId4" imgW="1765300" imgH="203200" progId="Equation.3">
                  <p:embed/>
                </p:oleObj>
              </mc:Choice>
              <mc:Fallback>
                <p:oleObj name="公式" r:id="rId4" imgW="1765300" imgH="2032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5313" y="4270375"/>
                        <a:ext cx="45196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12"/>
          <p:cNvSpPr txBox="1">
            <a:spLocks noChangeArrowheads="1"/>
          </p:cNvSpPr>
          <p:nvPr/>
        </p:nvSpPr>
        <p:spPr bwMode="auto">
          <a:xfrm>
            <a:off x="2709863" y="5370513"/>
            <a:ext cx="37957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lang="zh-CN" altLang="en-US" sz="2400" b="1" dirty="0">
                <a:solidFill>
                  <a:srgbClr val="000000"/>
                </a:solidFill>
              </a:rPr>
              <a:t>第四即缺级，即</a:t>
            </a:r>
          </a:p>
        </p:txBody>
      </p:sp>
      <p:graphicFrame>
        <p:nvGraphicFramePr>
          <p:cNvPr id="82952" name="Object 10"/>
          <p:cNvGraphicFramePr>
            <a:graphicFrameLocks noChangeAspect="1"/>
          </p:cNvGraphicFramePr>
          <p:nvPr/>
        </p:nvGraphicFramePr>
        <p:xfrm>
          <a:off x="5218113" y="5224463"/>
          <a:ext cx="1604962" cy="904875"/>
        </p:xfrm>
        <a:graphic>
          <a:graphicData uri="http://schemas.openxmlformats.org/presentationml/2006/ole">
            <mc:AlternateContent xmlns:mc="http://schemas.openxmlformats.org/markup-compatibility/2006">
              <mc:Choice xmlns:v="urn:schemas-microsoft-com:vml" Requires="v">
                <p:oleObj spid="_x0000_s83044" name="Equation" r:id="rId6" imgW="698400" imgH="393480" progId="Equation.DSMT4">
                  <p:embed/>
                </p:oleObj>
              </mc:Choice>
              <mc:Fallback>
                <p:oleObj name="Equation" r:id="rId6" imgW="698400" imgH="39348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8113" y="5224463"/>
                        <a:ext cx="1604962" cy="90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7"/>
          <p:cNvGraphicFramePr>
            <a:graphicFrameLocks noChangeAspect="1"/>
          </p:cNvGraphicFramePr>
          <p:nvPr/>
        </p:nvGraphicFramePr>
        <p:xfrm>
          <a:off x="3135313" y="3783013"/>
          <a:ext cx="5527675" cy="465137"/>
        </p:xfrm>
        <a:graphic>
          <a:graphicData uri="http://schemas.openxmlformats.org/presentationml/2006/ole">
            <mc:AlternateContent xmlns:mc="http://schemas.openxmlformats.org/markup-compatibility/2006">
              <mc:Choice xmlns:v="urn:schemas-microsoft-com:vml" Requires="v">
                <p:oleObj spid="_x0000_s83045" name="Equation" r:id="rId8" imgW="2159000" imgH="203200" progId="Equation.DSMT4">
                  <p:embed/>
                </p:oleObj>
              </mc:Choice>
              <mc:Fallback>
                <p:oleObj name="Equation" r:id="rId8" imgW="2159000" imgH="2032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5313" y="3783013"/>
                        <a:ext cx="55276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954" name="Object 7"/>
          <p:cNvGraphicFramePr>
            <a:graphicFrameLocks noChangeAspect="1"/>
          </p:cNvGraphicFramePr>
          <p:nvPr/>
        </p:nvGraphicFramePr>
        <p:xfrm>
          <a:off x="3121025" y="4811713"/>
          <a:ext cx="2633663" cy="406400"/>
        </p:xfrm>
        <a:graphic>
          <a:graphicData uri="http://schemas.openxmlformats.org/presentationml/2006/ole">
            <mc:AlternateContent xmlns:mc="http://schemas.openxmlformats.org/markup-compatibility/2006">
              <mc:Choice xmlns:v="urn:schemas-microsoft-com:vml" Requires="v">
                <p:oleObj spid="_x0000_s83046" name="Equation" r:id="rId10" imgW="1028520" imgH="177480" progId="Equation.DSMT4">
                  <p:embed/>
                </p:oleObj>
              </mc:Choice>
              <mc:Fallback>
                <p:oleObj name="Equation" r:id="rId10" imgW="1028520" imgH="177480"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21025" y="4811713"/>
                        <a:ext cx="26336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8295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295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7088" y="692150"/>
            <a:ext cx="6769100" cy="269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1" name="文本框 2"/>
          <p:cNvSpPr txBox="1">
            <a:spLocks noChangeArrowheads="1"/>
          </p:cNvSpPr>
          <p:nvPr/>
        </p:nvSpPr>
        <p:spPr bwMode="auto">
          <a:xfrm>
            <a:off x="0" y="692150"/>
            <a:ext cx="454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en-US" altLang="zh-CN" sz="2800" b="1">
                <a:solidFill>
                  <a:srgbClr val="FF3300"/>
                </a:solidFill>
              </a:rPr>
              <a:t>4.</a:t>
            </a:r>
            <a:endParaRPr kumimoji="0" lang="zh-CN" altLang="en-US" sz="2800" b="1">
              <a:solidFill>
                <a:srgbClr val="FF3300"/>
              </a:solidFill>
            </a:endParaRPr>
          </a:p>
        </p:txBody>
      </p:sp>
      <p:sp>
        <p:nvSpPr>
          <p:cNvPr id="83972" name="文本框 3"/>
          <p:cNvSpPr txBox="1">
            <a:spLocks noChangeArrowheads="1"/>
          </p:cNvSpPr>
          <p:nvPr/>
        </p:nvSpPr>
        <p:spPr bwMode="auto">
          <a:xfrm>
            <a:off x="317500" y="3487738"/>
            <a:ext cx="1524000"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lnSpc>
                <a:spcPts val="5000"/>
              </a:lnSpc>
            </a:pPr>
            <a:r>
              <a:rPr kumimoji="0" lang="zh-CN" altLang="en-US" sz="1800">
                <a:solidFill>
                  <a:srgbClr val="000000"/>
                </a:solidFill>
              </a:rPr>
              <a:t>（</a:t>
            </a:r>
            <a:r>
              <a:rPr kumimoji="0" lang="en-US" altLang="zh-CN" sz="1800">
                <a:solidFill>
                  <a:srgbClr val="000000"/>
                </a:solidFill>
              </a:rPr>
              <a:t>A</a:t>
            </a:r>
            <a:r>
              <a:rPr kumimoji="0" lang="zh-CN" altLang="en-US" sz="1800">
                <a:solidFill>
                  <a:srgbClr val="000000"/>
                </a:solidFill>
              </a:rPr>
              <a:t>）</a:t>
            </a:r>
            <a:r>
              <a:rPr kumimoji="0" lang="en-US" altLang="zh-CN" sz="1800">
                <a:solidFill>
                  <a:srgbClr val="000000"/>
                </a:solidFill>
              </a:rPr>
              <a:t>5</a:t>
            </a:r>
          </a:p>
          <a:p>
            <a:pPr eaLnBrk="1" hangingPunct="1">
              <a:lnSpc>
                <a:spcPts val="5000"/>
              </a:lnSpc>
            </a:pPr>
            <a:r>
              <a:rPr kumimoji="0" lang="zh-CN" altLang="en-US" sz="1800">
                <a:solidFill>
                  <a:srgbClr val="000000"/>
                </a:solidFill>
              </a:rPr>
              <a:t>（</a:t>
            </a:r>
            <a:r>
              <a:rPr kumimoji="0" lang="en-US" altLang="zh-CN" sz="1800">
                <a:solidFill>
                  <a:srgbClr val="000000"/>
                </a:solidFill>
              </a:rPr>
              <a:t>B</a:t>
            </a:r>
            <a:r>
              <a:rPr kumimoji="0" lang="zh-CN" altLang="en-US" sz="1800">
                <a:solidFill>
                  <a:srgbClr val="000000"/>
                </a:solidFill>
              </a:rPr>
              <a:t>）</a:t>
            </a:r>
            <a:r>
              <a:rPr kumimoji="0" lang="en-US" altLang="zh-CN" sz="1800">
                <a:solidFill>
                  <a:srgbClr val="000000"/>
                </a:solidFill>
              </a:rPr>
              <a:t>9</a:t>
            </a:r>
          </a:p>
          <a:p>
            <a:pPr eaLnBrk="1" hangingPunct="1">
              <a:lnSpc>
                <a:spcPts val="5000"/>
              </a:lnSpc>
            </a:pPr>
            <a:r>
              <a:rPr kumimoji="0" lang="zh-CN" altLang="en-US" sz="1800">
                <a:solidFill>
                  <a:srgbClr val="000000"/>
                </a:solidFill>
              </a:rPr>
              <a:t>（</a:t>
            </a:r>
            <a:r>
              <a:rPr kumimoji="0" lang="en-US" altLang="zh-CN" sz="1800">
                <a:solidFill>
                  <a:srgbClr val="000000"/>
                </a:solidFill>
              </a:rPr>
              <a:t>C</a:t>
            </a:r>
            <a:r>
              <a:rPr kumimoji="0" lang="zh-CN" altLang="en-US" sz="1800">
                <a:solidFill>
                  <a:srgbClr val="000000"/>
                </a:solidFill>
              </a:rPr>
              <a:t>）</a:t>
            </a:r>
            <a:r>
              <a:rPr kumimoji="0" lang="en-US" altLang="zh-CN" sz="1800">
                <a:solidFill>
                  <a:srgbClr val="000000"/>
                </a:solidFill>
              </a:rPr>
              <a:t>11</a:t>
            </a:r>
          </a:p>
          <a:p>
            <a:pPr eaLnBrk="1" hangingPunct="1">
              <a:lnSpc>
                <a:spcPts val="5000"/>
              </a:lnSpc>
            </a:pPr>
            <a:r>
              <a:rPr kumimoji="0" lang="zh-CN" altLang="en-US" sz="1800">
                <a:solidFill>
                  <a:srgbClr val="000000"/>
                </a:solidFill>
              </a:rPr>
              <a:t>（</a:t>
            </a:r>
            <a:r>
              <a:rPr kumimoji="0" lang="en-US" altLang="zh-CN" sz="1800">
                <a:solidFill>
                  <a:srgbClr val="000000"/>
                </a:solidFill>
              </a:rPr>
              <a:t>D</a:t>
            </a:r>
            <a:r>
              <a:rPr kumimoji="0" lang="zh-CN" altLang="en-US" sz="1800">
                <a:solidFill>
                  <a:srgbClr val="000000"/>
                </a:solidFill>
              </a:rPr>
              <a:t>）</a:t>
            </a:r>
            <a:r>
              <a:rPr kumimoji="0" lang="en-US" altLang="zh-CN" sz="1800">
                <a:solidFill>
                  <a:srgbClr val="000000"/>
                </a:solidFill>
              </a:rPr>
              <a:t>13</a:t>
            </a:r>
            <a:endParaRPr kumimoji="0" lang="zh-CN" altLang="en-US" sz="1800">
              <a:solidFill>
                <a:srgbClr val="000000"/>
              </a:solidFill>
            </a:endParaRPr>
          </a:p>
        </p:txBody>
      </p:sp>
      <p:sp>
        <p:nvSpPr>
          <p:cNvPr id="5" name="文本框 4"/>
          <p:cNvSpPr txBox="1">
            <a:spLocks noChangeArrowheads="1"/>
          </p:cNvSpPr>
          <p:nvPr/>
        </p:nvSpPr>
        <p:spPr bwMode="auto">
          <a:xfrm>
            <a:off x="5580112" y="3049141"/>
            <a:ext cx="1144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bg1"/>
                </a:solidFill>
                <a:latin typeface="Times New Roman" pitchFamily="18" charset="0"/>
                <a:ea typeface="宋体" pitchFamily="2" charset="-122"/>
              </a:defRPr>
            </a:lvl1pPr>
            <a:lvl2pPr marL="742950" indent="-285750" eaLnBrk="0" hangingPunct="0">
              <a:defRPr kumimoji="1" sz="3600">
                <a:solidFill>
                  <a:schemeClr val="bg1"/>
                </a:solidFill>
                <a:latin typeface="Times New Roman" pitchFamily="18" charset="0"/>
                <a:ea typeface="宋体" pitchFamily="2" charset="-122"/>
              </a:defRPr>
            </a:lvl2pPr>
            <a:lvl3pPr marL="1143000" indent="-228600" eaLnBrk="0" hangingPunct="0">
              <a:defRPr kumimoji="1" sz="3600">
                <a:solidFill>
                  <a:schemeClr val="bg1"/>
                </a:solidFill>
                <a:latin typeface="Times New Roman" pitchFamily="18" charset="0"/>
                <a:ea typeface="宋体" pitchFamily="2" charset="-122"/>
              </a:defRPr>
            </a:lvl3pPr>
            <a:lvl4pPr marL="1600200" indent="-228600" eaLnBrk="0" hangingPunct="0">
              <a:defRPr kumimoji="1" sz="3600">
                <a:solidFill>
                  <a:schemeClr val="bg1"/>
                </a:solidFill>
                <a:latin typeface="Times New Roman" pitchFamily="18" charset="0"/>
                <a:ea typeface="宋体" pitchFamily="2" charset="-122"/>
              </a:defRPr>
            </a:lvl4pPr>
            <a:lvl5pPr marL="2057400" indent="-228600" eaLnBrk="0" hangingPunct="0">
              <a:defRPr kumimoji="1" sz="3600">
                <a:solidFill>
                  <a:schemeClr val="bg1"/>
                </a:solidFill>
                <a:latin typeface="Times New Roman" pitchFamily="18" charset="0"/>
                <a:ea typeface="宋体" pitchFamily="2" charset="-122"/>
              </a:defRPr>
            </a:lvl5pPr>
            <a:lvl6pPr marL="25146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6pPr>
            <a:lvl7pPr marL="29718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7pPr>
            <a:lvl8pPr marL="34290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8pPr>
            <a:lvl9pPr marL="3886200" indent="-228600" eaLnBrk="0" fontAlgn="base" hangingPunct="0">
              <a:spcBef>
                <a:spcPct val="0"/>
              </a:spcBef>
              <a:spcAft>
                <a:spcPct val="0"/>
              </a:spcAft>
              <a:defRPr kumimoji="1" sz="3600">
                <a:solidFill>
                  <a:schemeClr val="bg1"/>
                </a:solidFill>
                <a:latin typeface="Times New Roman" pitchFamily="18" charset="0"/>
                <a:ea typeface="宋体" pitchFamily="2" charset="-122"/>
              </a:defRPr>
            </a:lvl9pPr>
          </a:lstStyle>
          <a:p>
            <a:pPr eaLnBrk="1" hangingPunct="1"/>
            <a:r>
              <a:rPr kumimoji="0" lang="zh-CN" altLang="en-US" sz="1800" dirty="0">
                <a:solidFill>
                  <a:srgbClr val="000000"/>
                </a:solidFill>
              </a:rPr>
              <a:t>（</a:t>
            </a:r>
            <a:r>
              <a:rPr kumimoji="0" lang="en-US" altLang="zh-CN" sz="1800" dirty="0">
                <a:solidFill>
                  <a:srgbClr val="000000"/>
                </a:solidFill>
              </a:rPr>
              <a:t>B</a:t>
            </a:r>
            <a:r>
              <a:rPr kumimoji="0" lang="zh-CN" altLang="en-US" sz="1800" dirty="0">
                <a:solidFill>
                  <a:srgbClr val="000000"/>
                </a:solidFill>
              </a:rPr>
              <a:t>）</a:t>
            </a:r>
          </a:p>
        </p:txBody>
      </p:sp>
      <p:graphicFrame>
        <p:nvGraphicFramePr>
          <p:cNvPr id="6" name="Object 9"/>
          <p:cNvGraphicFramePr>
            <a:graphicFrameLocks noChangeAspect="1"/>
          </p:cNvGraphicFramePr>
          <p:nvPr/>
        </p:nvGraphicFramePr>
        <p:xfrm>
          <a:off x="3076575" y="4000500"/>
          <a:ext cx="4519613" cy="465138"/>
        </p:xfrm>
        <a:graphic>
          <a:graphicData uri="http://schemas.openxmlformats.org/presentationml/2006/ole">
            <mc:AlternateContent xmlns:mc="http://schemas.openxmlformats.org/markup-compatibility/2006">
              <mc:Choice xmlns:v="urn:schemas-microsoft-com:vml" Requires="v">
                <p:oleObj spid="_x0000_s84089" name="公式" r:id="rId4" imgW="1765300" imgH="203200" progId="Equation.3">
                  <p:embed/>
                </p:oleObj>
              </mc:Choice>
              <mc:Fallback>
                <p:oleObj name="公式" r:id="rId4" imgW="1765300" imgH="2032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6575" y="4000500"/>
                        <a:ext cx="4519613"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975" name="Object 10"/>
          <p:cNvGraphicFramePr>
            <a:graphicFrameLocks noChangeAspect="1"/>
          </p:cNvGraphicFramePr>
          <p:nvPr/>
        </p:nvGraphicFramePr>
        <p:xfrm>
          <a:off x="3995738" y="4435475"/>
          <a:ext cx="1604962" cy="904875"/>
        </p:xfrm>
        <a:graphic>
          <a:graphicData uri="http://schemas.openxmlformats.org/presentationml/2006/ole">
            <mc:AlternateContent xmlns:mc="http://schemas.openxmlformats.org/markup-compatibility/2006">
              <mc:Choice xmlns:v="urn:schemas-microsoft-com:vml" Requires="v">
                <p:oleObj spid="_x0000_s84090" name="Equation" r:id="rId6" imgW="698400" imgH="393480" progId="Equation.DSMT4">
                  <p:embed/>
                </p:oleObj>
              </mc:Choice>
              <mc:Fallback>
                <p:oleObj name="Equation" r:id="rId6" imgW="698400" imgH="39348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95738" y="4435475"/>
                        <a:ext cx="1604962" cy="90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76" name="Object 7"/>
          <p:cNvGraphicFramePr>
            <a:graphicFrameLocks noChangeAspect="1"/>
          </p:cNvGraphicFramePr>
          <p:nvPr/>
        </p:nvGraphicFramePr>
        <p:xfrm>
          <a:off x="3076575" y="3513138"/>
          <a:ext cx="5527675" cy="465137"/>
        </p:xfrm>
        <a:graphic>
          <a:graphicData uri="http://schemas.openxmlformats.org/presentationml/2006/ole">
            <mc:AlternateContent xmlns:mc="http://schemas.openxmlformats.org/markup-compatibility/2006">
              <mc:Choice xmlns:v="urn:schemas-microsoft-com:vml" Requires="v">
                <p:oleObj spid="_x0000_s84091" name="Equation" r:id="rId8" imgW="2159000" imgH="203200" progId="Equation.DSMT4">
                  <p:embed/>
                </p:oleObj>
              </mc:Choice>
              <mc:Fallback>
                <p:oleObj name="Equation" r:id="rId8" imgW="2159000" imgH="2032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76575" y="3513138"/>
                        <a:ext cx="55276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977" name="Object 7"/>
          <p:cNvGraphicFramePr>
            <a:graphicFrameLocks noChangeAspect="1"/>
          </p:cNvGraphicFramePr>
          <p:nvPr/>
        </p:nvGraphicFramePr>
        <p:xfrm>
          <a:off x="4946650" y="6094413"/>
          <a:ext cx="3055938" cy="463550"/>
        </p:xfrm>
        <a:graphic>
          <a:graphicData uri="http://schemas.openxmlformats.org/presentationml/2006/ole">
            <mc:AlternateContent xmlns:mc="http://schemas.openxmlformats.org/markup-compatibility/2006">
              <mc:Choice xmlns:v="urn:schemas-microsoft-com:vml" Requires="v">
                <p:oleObj spid="_x0000_s84092" name="Equation" r:id="rId10" imgW="1193760" imgH="203040" progId="Equation.DSMT4">
                  <p:embed/>
                </p:oleObj>
              </mc:Choice>
              <mc:Fallback>
                <p:oleObj name="Equation" r:id="rId10" imgW="1193760" imgH="203040"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46650" y="6094413"/>
                        <a:ext cx="3055938"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47"/>
          <p:cNvGraphicFramePr>
            <a:graphicFrameLocks noChangeAspect="1"/>
          </p:cNvGraphicFramePr>
          <p:nvPr/>
        </p:nvGraphicFramePr>
        <p:xfrm>
          <a:off x="2971800" y="5240338"/>
          <a:ext cx="2755900" cy="928687"/>
        </p:xfrm>
        <a:graphic>
          <a:graphicData uri="http://schemas.openxmlformats.org/presentationml/2006/ole">
            <mc:AlternateContent xmlns:mc="http://schemas.openxmlformats.org/markup-compatibility/2006">
              <mc:Choice xmlns:v="urn:schemas-microsoft-com:vml" Requires="v">
                <p:oleObj spid="_x0000_s84093" name="Equation" r:id="rId12" imgW="1384200" imgH="393480" progId="Equation.DSMT4">
                  <p:embed/>
                </p:oleObj>
              </mc:Choice>
              <mc:Fallback>
                <p:oleObj name="Equation" r:id="rId12" imgW="1384200" imgH="393480" progId="Equation.DSMT4">
                  <p:embed/>
                  <p:pic>
                    <p:nvPicPr>
                      <p:cNvPr id="0" name="Object 14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71800" y="5240338"/>
                        <a:ext cx="2755900"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vertical)">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8397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620688"/>
            <a:ext cx="8280920" cy="707886"/>
          </a:xfrm>
          <a:prstGeom prst="rect">
            <a:avLst/>
          </a:prstGeom>
          <a:noFill/>
        </p:spPr>
        <p:txBody>
          <a:bodyPr wrap="square" rtlCol="0">
            <a:spAutoFit/>
          </a:bodyPr>
          <a:lstStyle/>
          <a:p>
            <a:r>
              <a:rPr lang="zh-CN" altLang="zh-CN" sz="2000" b="1" dirty="0">
                <a:solidFill>
                  <a:srgbClr val="000000"/>
                </a:solidFill>
                <a:ea typeface="宋体"/>
                <a:cs typeface="宋体"/>
              </a:rPr>
              <a:t>在双缝衍射实验中，若同时将两条缝的宽度变窄（每个缝中心位置不变），则有（</a:t>
            </a:r>
            <a:r>
              <a:rPr lang="en-US" altLang="zh-CN" sz="2000" b="1" dirty="0">
                <a:solidFill>
                  <a:srgbClr val="000000"/>
                </a:solidFill>
                <a:ea typeface="宋体"/>
                <a:cs typeface="宋体"/>
              </a:rPr>
              <a:t>     </a:t>
            </a:r>
            <a:r>
              <a:rPr lang="zh-CN" altLang="zh-CN" sz="2000" b="1" dirty="0">
                <a:solidFill>
                  <a:srgbClr val="000000"/>
                </a:solidFill>
                <a:ea typeface="宋体"/>
                <a:cs typeface="宋体"/>
              </a:rPr>
              <a:t>）</a:t>
            </a:r>
            <a:endParaRPr lang="zh-CN" altLang="en-US" sz="2000" dirty="0">
              <a:solidFill>
                <a:srgbClr val="000000"/>
              </a:solidFill>
            </a:endParaRPr>
          </a:p>
        </p:txBody>
      </p:sp>
      <p:sp>
        <p:nvSpPr>
          <p:cNvPr id="3" name="矩形 2"/>
          <p:cNvSpPr/>
          <p:nvPr/>
        </p:nvSpPr>
        <p:spPr>
          <a:xfrm>
            <a:off x="755576" y="1628800"/>
            <a:ext cx="7704856" cy="1323439"/>
          </a:xfrm>
          <a:prstGeom prst="rect">
            <a:avLst/>
          </a:prstGeom>
        </p:spPr>
        <p:txBody>
          <a:bodyPr wrap="square">
            <a:spAutoFit/>
          </a:bodyPr>
          <a:lstStyle/>
          <a:p>
            <a:pPr>
              <a:spcAft>
                <a:spcPts val="0"/>
              </a:spcAft>
            </a:pPr>
            <a:r>
              <a:rPr lang="en-US" altLang="zh-CN" sz="2000" dirty="0">
                <a:solidFill>
                  <a:srgbClr val="000000"/>
                </a:solidFill>
                <a:latin typeface="宋体"/>
                <a:cs typeface="宋体"/>
              </a:rPr>
              <a:t>A</a:t>
            </a:r>
            <a:r>
              <a:rPr lang="zh-CN" altLang="zh-CN" sz="2000" dirty="0">
                <a:solidFill>
                  <a:srgbClr val="000000"/>
                </a:solidFill>
                <a:latin typeface="宋体"/>
                <a:cs typeface="宋体"/>
              </a:rPr>
              <a:t>、 干涉条纹的间距变窄，单缝衍射中央亮纹范围内条纹数目增多 </a:t>
            </a:r>
          </a:p>
          <a:p>
            <a:pPr>
              <a:spcAft>
                <a:spcPts val="0"/>
              </a:spcAft>
            </a:pPr>
            <a:r>
              <a:rPr lang="en-US" altLang="zh-CN" sz="2000" dirty="0">
                <a:solidFill>
                  <a:srgbClr val="000000"/>
                </a:solidFill>
                <a:latin typeface="宋体"/>
                <a:cs typeface="宋体"/>
              </a:rPr>
              <a:t>B</a:t>
            </a:r>
            <a:r>
              <a:rPr lang="zh-CN" altLang="zh-CN" sz="2000" dirty="0">
                <a:solidFill>
                  <a:srgbClr val="000000"/>
                </a:solidFill>
                <a:latin typeface="宋体"/>
                <a:cs typeface="宋体"/>
              </a:rPr>
              <a:t>、 干涉条纹的间距变宽，单缝衍射中央亮纹范围内条纹数目减少 </a:t>
            </a:r>
          </a:p>
          <a:p>
            <a:pPr>
              <a:spcAft>
                <a:spcPts val="0"/>
              </a:spcAft>
            </a:pPr>
            <a:r>
              <a:rPr lang="en-US" altLang="zh-CN" sz="2000" dirty="0">
                <a:solidFill>
                  <a:srgbClr val="000000"/>
                </a:solidFill>
                <a:latin typeface="宋体"/>
                <a:cs typeface="宋体"/>
              </a:rPr>
              <a:t>C</a:t>
            </a:r>
            <a:r>
              <a:rPr lang="zh-CN" altLang="zh-CN" sz="2000" dirty="0">
                <a:solidFill>
                  <a:srgbClr val="000000"/>
                </a:solidFill>
                <a:latin typeface="宋体"/>
                <a:cs typeface="宋体"/>
              </a:rPr>
              <a:t>、 干涉条纹的间距不变，单缝衍射中央亮纹范围内条纹数目增多 </a:t>
            </a:r>
          </a:p>
          <a:p>
            <a:pPr>
              <a:spcAft>
                <a:spcPts val="0"/>
              </a:spcAft>
            </a:pPr>
            <a:r>
              <a:rPr lang="en-US" altLang="zh-CN" sz="2000" dirty="0">
                <a:solidFill>
                  <a:srgbClr val="000000"/>
                </a:solidFill>
                <a:latin typeface="宋体"/>
                <a:cs typeface="宋体"/>
              </a:rPr>
              <a:t>D</a:t>
            </a:r>
            <a:r>
              <a:rPr lang="zh-CN" altLang="zh-CN" sz="2000" dirty="0">
                <a:solidFill>
                  <a:srgbClr val="000000"/>
                </a:solidFill>
                <a:latin typeface="宋体"/>
                <a:cs typeface="宋体"/>
              </a:rPr>
              <a:t>、 干涉条纹的间距不变，单缝衍射中央亮纹范围内条纹数目减少 </a:t>
            </a:r>
          </a:p>
        </p:txBody>
      </p:sp>
      <p:sp>
        <p:nvSpPr>
          <p:cNvPr id="4" name="TextBox 3"/>
          <p:cNvSpPr txBox="1"/>
          <p:nvPr/>
        </p:nvSpPr>
        <p:spPr>
          <a:xfrm>
            <a:off x="2123728" y="978485"/>
            <a:ext cx="282005" cy="400110"/>
          </a:xfrm>
          <a:prstGeom prst="rect">
            <a:avLst/>
          </a:prstGeom>
          <a:noFill/>
        </p:spPr>
        <p:txBody>
          <a:bodyPr wrap="square" rtlCol="0">
            <a:spAutoFit/>
          </a:bodyPr>
          <a:lstStyle/>
          <a:p>
            <a:r>
              <a:rPr lang="en-US" altLang="zh-CN" sz="2000" b="1" dirty="0" smtClean="0">
                <a:solidFill>
                  <a:srgbClr val="000000"/>
                </a:solidFill>
              </a:rPr>
              <a:t>C</a:t>
            </a:r>
            <a:endParaRPr lang="zh-CN" altLang="en-US" sz="2000" b="1" dirty="0">
              <a:solidFill>
                <a:srgbClr val="000000"/>
              </a:solidFill>
            </a:endParaRPr>
          </a:p>
        </p:txBody>
      </p:sp>
    </p:spTree>
    <p:extLst>
      <p:ext uri="{BB962C8B-B14F-4D97-AF65-F5344CB8AC3E}">
        <p14:creationId xmlns:p14="http://schemas.microsoft.com/office/powerpoint/2010/main" val="93273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548680"/>
            <a:ext cx="8136904" cy="400110"/>
          </a:xfrm>
          <a:prstGeom prst="rect">
            <a:avLst/>
          </a:prstGeom>
          <a:noFill/>
        </p:spPr>
        <p:txBody>
          <a:bodyPr wrap="square" rtlCol="0">
            <a:spAutoFit/>
          </a:bodyPr>
          <a:lstStyle/>
          <a:p>
            <a:r>
              <a:rPr lang="zh-CN" altLang="zh-CN" sz="2000" b="1" dirty="0">
                <a:solidFill>
                  <a:srgbClr val="000000"/>
                </a:solidFill>
                <a:ea typeface="宋体"/>
                <a:cs typeface="宋体"/>
              </a:rPr>
              <a:t>利用下列方法测量单色光的波长时，最为准确的是</a:t>
            </a:r>
            <a:endParaRPr lang="zh-CN" altLang="en-US" sz="2000" dirty="0">
              <a:solidFill>
                <a:srgbClr val="000000"/>
              </a:solidFill>
            </a:endParaRPr>
          </a:p>
        </p:txBody>
      </p:sp>
      <p:sp>
        <p:nvSpPr>
          <p:cNvPr id="3" name="矩形 2"/>
          <p:cNvSpPr/>
          <p:nvPr/>
        </p:nvSpPr>
        <p:spPr>
          <a:xfrm>
            <a:off x="1187624" y="1484784"/>
            <a:ext cx="4572000" cy="1323439"/>
          </a:xfrm>
          <a:prstGeom prst="rect">
            <a:avLst/>
          </a:prstGeom>
        </p:spPr>
        <p:txBody>
          <a:bodyPr>
            <a:spAutoFit/>
          </a:bodyPr>
          <a:lstStyle/>
          <a:p>
            <a:pPr>
              <a:spcAft>
                <a:spcPts val="0"/>
              </a:spcAft>
            </a:pPr>
            <a:r>
              <a:rPr lang="en-US" altLang="zh-CN" sz="2000" dirty="0">
                <a:solidFill>
                  <a:srgbClr val="000000"/>
                </a:solidFill>
                <a:latin typeface="宋体"/>
                <a:cs typeface="宋体"/>
              </a:rPr>
              <a:t>A</a:t>
            </a:r>
            <a:r>
              <a:rPr lang="zh-CN" altLang="zh-CN" sz="2000" dirty="0">
                <a:solidFill>
                  <a:srgbClr val="000000"/>
                </a:solidFill>
                <a:latin typeface="宋体"/>
                <a:cs typeface="宋体"/>
              </a:rPr>
              <a:t>、 双缝干涉 </a:t>
            </a:r>
          </a:p>
          <a:p>
            <a:pPr>
              <a:spcAft>
                <a:spcPts val="0"/>
              </a:spcAft>
            </a:pPr>
            <a:r>
              <a:rPr lang="en-US" altLang="zh-CN" sz="2000" dirty="0">
                <a:solidFill>
                  <a:srgbClr val="000000"/>
                </a:solidFill>
                <a:latin typeface="宋体"/>
                <a:cs typeface="宋体"/>
              </a:rPr>
              <a:t>B</a:t>
            </a:r>
            <a:r>
              <a:rPr lang="zh-CN" altLang="zh-CN" sz="2000" dirty="0">
                <a:solidFill>
                  <a:srgbClr val="000000"/>
                </a:solidFill>
                <a:latin typeface="宋体"/>
                <a:cs typeface="宋体"/>
              </a:rPr>
              <a:t>、 牛顿环 </a:t>
            </a:r>
          </a:p>
          <a:p>
            <a:pPr>
              <a:spcAft>
                <a:spcPts val="0"/>
              </a:spcAft>
            </a:pPr>
            <a:r>
              <a:rPr lang="en-US" altLang="zh-CN" sz="2000" dirty="0">
                <a:solidFill>
                  <a:srgbClr val="000000"/>
                </a:solidFill>
                <a:latin typeface="宋体"/>
                <a:cs typeface="宋体"/>
              </a:rPr>
              <a:t>C</a:t>
            </a:r>
            <a:r>
              <a:rPr lang="zh-CN" altLang="zh-CN" sz="2000" dirty="0">
                <a:solidFill>
                  <a:srgbClr val="000000"/>
                </a:solidFill>
                <a:latin typeface="宋体"/>
                <a:cs typeface="宋体"/>
              </a:rPr>
              <a:t>、 单缝衍射 </a:t>
            </a:r>
          </a:p>
          <a:p>
            <a:pPr>
              <a:spcAft>
                <a:spcPts val="0"/>
              </a:spcAft>
            </a:pPr>
            <a:r>
              <a:rPr lang="en-US" altLang="zh-CN" sz="2000" dirty="0">
                <a:solidFill>
                  <a:srgbClr val="000000"/>
                </a:solidFill>
                <a:latin typeface="宋体"/>
                <a:cs typeface="宋体"/>
              </a:rPr>
              <a:t>D</a:t>
            </a:r>
            <a:r>
              <a:rPr lang="zh-CN" altLang="zh-CN" sz="2000" dirty="0">
                <a:solidFill>
                  <a:srgbClr val="000000"/>
                </a:solidFill>
                <a:latin typeface="宋体"/>
                <a:cs typeface="宋体"/>
              </a:rPr>
              <a:t>、 </a:t>
            </a:r>
            <a:r>
              <a:rPr lang="zh-CN" altLang="zh-CN" sz="2000" dirty="0" smtClean="0">
                <a:solidFill>
                  <a:srgbClr val="000000"/>
                </a:solidFill>
                <a:latin typeface="宋体"/>
                <a:cs typeface="宋体"/>
              </a:rPr>
              <a:t>光栅</a:t>
            </a:r>
            <a:r>
              <a:rPr lang="zh-CN" altLang="zh-CN" sz="2000" dirty="0">
                <a:solidFill>
                  <a:srgbClr val="000000"/>
                </a:solidFill>
                <a:latin typeface="宋体"/>
                <a:cs typeface="宋体"/>
              </a:rPr>
              <a:t>衍射</a:t>
            </a:r>
          </a:p>
        </p:txBody>
      </p:sp>
      <p:sp>
        <p:nvSpPr>
          <p:cNvPr id="4" name="矩形 3"/>
          <p:cNvSpPr/>
          <p:nvPr/>
        </p:nvSpPr>
        <p:spPr>
          <a:xfrm>
            <a:off x="6664084" y="620688"/>
            <a:ext cx="370614" cy="400110"/>
          </a:xfrm>
          <a:prstGeom prst="rect">
            <a:avLst/>
          </a:prstGeom>
        </p:spPr>
        <p:txBody>
          <a:bodyPr wrap="none">
            <a:spAutoFit/>
          </a:bodyPr>
          <a:lstStyle/>
          <a:p>
            <a:r>
              <a:rPr lang="en-US" altLang="zh-CN" sz="2000" dirty="0" smtClean="0">
                <a:solidFill>
                  <a:srgbClr val="000000"/>
                </a:solidFill>
              </a:rPr>
              <a:t>D</a:t>
            </a:r>
            <a:endParaRPr lang="zh-CN" altLang="en-US" sz="2000" dirty="0">
              <a:solidFill>
                <a:srgbClr val="000000"/>
              </a:solidFill>
            </a:endParaRPr>
          </a:p>
        </p:txBody>
      </p:sp>
    </p:spTree>
    <p:extLst>
      <p:ext uri="{BB962C8B-B14F-4D97-AF65-F5344CB8AC3E}">
        <p14:creationId xmlns:p14="http://schemas.microsoft.com/office/powerpoint/2010/main" val="1808256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26"/>
          <p:cNvSpPr txBox="1">
            <a:spLocks noChangeArrowheads="1"/>
          </p:cNvSpPr>
          <p:nvPr/>
        </p:nvSpPr>
        <p:spPr bwMode="auto">
          <a:xfrm>
            <a:off x="3205637" y="2133600"/>
            <a:ext cx="265970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4800" b="1" dirty="0">
                <a:solidFill>
                  <a:srgbClr val="FF3300"/>
                </a:solidFill>
                <a:latin typeface="+mn-ea"/>
                <a:ea typeface="+mn-ea"/>
              </a:rPr>
              <a:t>光</a:t>
            </a:r>
            <a:r>
              <a:rPr lang="zh-CN" altLang="en-US" sz="4800" b="1" dirty="0" smtClean="0">
                <a:solidFill>
                  <a:srgbClr val="FF3300"/>
                </a:solidFill>
                <a:latin typeface="+mn-ea"/>
                <a:ea typeface="+mn-ea"/>
              </a:rPr>
              <a:t>的偏振</a:t>
            </a:r>
            <a:endParaRPr lang="zh-CN" altLang="en-US" sz="4800" b="1" dirty="0">
              <a:solidFill>
                <a:srgbClr val="FF3300"/>
              </a:solidFill>
              <a:latin typeface="+mn-ea"/>
              <a:ea typeface="+mn-ea"/>
            </a:endParaRPr>
          </a:p>
        </p:txBody>
      </p:sp>
    </p:spTree>
    <p:extLst>
      <p:ext uri="{BB962C8B-B14F-4D97-AF65-F5344CB8AC3E}">
        <p14:creationId xmlns:p14="http://schemas.microsoft.com/office/powerpoint/2010/main" val="590371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692696"/>
            <a:ext cx="8352928" cy="1015663"/>
          </a:xfrm>
          <a:prstGeom prst="rect">
            <a:avLst/>
          </a:prstGeom>
          <a:noFill/>
        </p:spPr>
        <p:txBody>
          <a:bodyPr wrap="square" rtlCol="0">
            <a:spAutoFit/>
          </a:bodyPr>
          <a:lstStyle/>
          <a:p>
            <a:r>
              <a:rPr lang="zh-CN" altLang="zh-CN" sz="2000" b="1" dirty="0">
                <a:solidFill>
                  <a:srgbClr val="000000"/>
                </a:solidFill>
                <a:latin typeface="宋体"/>
                <a:cs typeface="宋体"/>
              </a:rPr>
              <a:t>一束光是自然光和线偏振光的混合光，让它垂直通过一偏振片，若以此入射光束为轴旋转偏振片，测得透射光强度最大值是最小值的</a:t>
            </a:r>
            <a:r>
              <a:rPr lang="en-US" altLang="zh-CN" sz="2000" b="1" dirty="0">
                <a:solidFill>
                  <a:srgbClr val="000000"/>
                </a:solidFill>
                <a:latin typeface="Times New Roman"/>
                <a:cs typeface="宋体"/>
              </a:rPr>
              <a:t>3</a:t>
            </a:r>
            <a:r>
              <a:rPr lang="zh-CN" altLang="zh-CN" sz="2000" b="1" dirty="0">
                <a:solidFill>
                  <a:srgbClr val="000000"/>
                </a:solidFill>
                <a:latin typeface="宋体"/>
                <a:cs typeface="宋体"/>
              </a:rPr>
              <a:t>倍，则入射光束中自然光与线偏振光的光强比值为</a:t>
            </a:r>
            <a:endParaRPr lang="zh-CN" altLang="zh-CN" sz="2000" dirty="0">
              <a:solidFill>
                <a:srgbClr val="000000"/>
              </a:solidFill>
              <a:latin typeface="宋体"/>
              <a:cs typeface="宋体"/>
            </a:endParaRPr>
          </a:p>
        </p:txBody>
      </p:sp>
      <p:sp>
        <p:nvSpPr>
          <p:cNvPr id="3" name="矩形 2"/>
          <p:cNvSpPr/>
          <p:nvPr/>
        </p:nvSpPr>
        <p:spPr>
          <a:xfrm>
            <a:off x="827584" y="1916832"/>
            <a:ext cx="4572000" cy="1323439"/>
          </a:xfrm>
          <a:prstGeom prst="rect">
            <a:avLst/>
          </a:prstGeom>
        </p:spPr>
        <p:txBody>
          <a:bodyPr>
            <a:spAutoFit/>
          </a:bodyPr>
          <a:lstStyle/>
          <a:p>
            <a:pPr>
              <a:spcAft>
                <a:spcPts val="0"/>
              </a:spcAft>
            </a:pPr>
            <a:r>
              <a:rPr lang="en-US" altLang="zh-CN" sz="2000" dirty="0">
                <a:solidFill>
                  <a:srgbClr val="000000"/>
                </a:solidFill>
                <a:latin typeface="宋体"/>
                <a:cs typeface="宋体"/>
              </a:rPr>
              <a:t>A</a:t>
            </a:r>
            <a:r>
              <a:rPr lang="zh-CN" altLang="zh-CN" sz="2000" dirty="0">
                <a:solidFill>
                  <a:srgbClr val="000000"/>
                </a:solidFill>
                <a:latin typeface="宋体"/>
                <a:cs typeface="宋体"/>
              </a:rPr>
              <a:t>、 </a:t>
            </a:r>
            <a:r>
              <a:rPr lang="en-US" altLang="zh-CN" sz="2000" dirty="0">
                <a:solidFill>
                  <a:srgbClr val="000000"/>
                </a:solidFill>
                <a:latin typeface="宋体"/>
                <a:cs typeface="宋体"/>
              </a:rPr>
              <a:t>1</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B</a:t>
            </a:r>
            <a:r>
              <a:rPr lang="zh-CN" altLang="zh-CN" sz="2000" dirty="0">
                <a:solidFill>
                  <a:srgbClr val="000000"/>
                </a:solidFill>
                <a:latin typeface="宋体"/>
                <a:cs typeface="宋体"/>
              </a:rPr>
              <a:t>、 </a:t>
            </a:r>
            <a:r>
              <a:rPr lang="en-US" altLang="zh-CN" sz="2000" dirty="0">
                <a:solidFill>
                  <a:srgbClr val="000000"/>
                </a:solidFill>
                <a:latin typeface="宋体"/>
                <a:cs typeface="宋体"/>
              </a:rPr>
              <a:t>1/2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C</a:t>
            </a:r>
            <a:r>
              <a:rPr lang="zh-CN" altLang="zh-CN" sz="2000" dirty="0">
                <a:solidFill>
                  <a:srgbClr val="000000"/>
                </a:solidFill>
                <a:latin typeface="宋体"/>
                <a:cs typeface="宋体"/>
              </a:rPr>
              <a:t>、 </a:t>
            </a:r>
            <a:r>
              <a:rPr lang="en-US" altLang="zh-CN" sz="2000" dirty="0">
                <a:solidFill>
                  <a:srgbClr val="000000"/>
                </a:solidFill>
                <a:latin typeface="宋体"/>
                <a:cs typeface="宋体"/>
              </a:rPr>
              <a:t>2/3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D</a:t>
            </a:r>
            <a:r>
              <a:rPr lang="zh-CN" altLang="zh-CN" sz="2000" dirty="0">
                <a:solidFill>
                  <a:srgbClr val="000000"/>
                </a:solidFill>
                <a:latin typeface="宋体"/>
                <a:cs typeface="宋体"/>
              </a:rPr>
              <a:t>、 </a:t>
            </a:r>
            <a:r>
              <a:rPr lang="en-US" altLang="zh-CN" sz="2000" dirty="0">
                <a:solidFill>
                  <a:srgbClr val="000000"/>
                </a:solidFill>
                <a:latin typeface="宋体"/>
                <a:cs typeface="宋体"/>
              </a:rPr>
              <a:t>3/2 </a:t>
            </a:r>
            <a:endParaRPr lang="zh-CN" altLang="zh-CN" sz="2000" dirty="0">
              <a:solidFill>
                <a:srgbClr val="000000"/>
              </a:solidFill>
              <a:latin typeface="宋体"/>
              <a:cs typeface="宋体"/>
            </a:endParaRPr>
          </a:p>
        </p:txBody>
      </p:sp>
      <p:sp>
        <p:nvSpPr>
          <p:cNvPr id="4" name="TextBox 3"/>
          <p:cNvSpPr txBox="1"/>
          <p:nvPr/>
        </p:nvSpPr>
        <p:spPr>
          <a:xfrm>
            <a:off x="5298107" y="1444714"/>
            <a:ext cx="282005" cy="400110"/>
          </a:xfrm>
          <a:prstGeom prst="rect">
            <a:avLst/>
          </a:prstGeom>
          <a:noFill/>
        </p:spPr>
        <p:txBody>
          <a:bodyPr wrap="square" rtlCol="0">
            <a:spAutoFit/>
          </a:bodyPr>
          <a:lstStyle/>
          <a:p>
            <a:r>
              <a:rPr lang="en-US" altLang="zh-CN" sz="2000" b="1" dirty="0" smtClean="0">
                <a:solidFill>
                  <a:srgbClr val="000000"/>
                </a:solidFill>
              </a:rPr>
              <a:t>A</a:t>
            </a:r>
            <a:endParaRPr lang="zh-CN" altLang="en-US" sz="2000" b="1" dirty="0">
              <a:solidFill>
                <a:srgbClr val="000000"/>
              </a:solidFill>
            </a:endParaRPr>
          </a:p>
        </p:txBody>
      </p:sp>
    </p:spTree>
    <p:extLst>
      <p:ext uri="{BB962C8B-B14F-4D97-AF65-F5344CB8AC3E}">
        <p14:creationId xmlns:p14="http://schemas.microsoft.com/office/powerpoint/2010/main" val="8600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548680"/>
            <a:ext cx="8208912" cy="707886"/>
          </a:xfrm>
          <a:prstGeom prst="rect">
            <a:avLst/>
          </a:prstGeom>
          <a:noFill/>
        </p:spPr>
        <p:txBody>
          <a:bodyPr wrap="square" rtlCol="0">
            <a:spAutoFit/>
          </a:bodyPr>
          <a:lstStyle/>
          <a:p>
            <a:r>
              <a:rPr lang="zh-CN" altLang="zh-CN" sz="2000" b="1" dirty="0">
                <a:solidFill>
                  <a:srgbClr val="000000"/>
                </a:solidFill>
                <a:ea typeface="宋体"/>
                <a:cs typeface="宋体"/>
              </a:rPr>
              <a:t>光由某种透明介质射向空气时，发生全反射的临界角等于</a:t>
            </a:r>
            <a:r>
              <a:rPr lang="en-US" altLang="zh-CN" sz="2000" b="1" dirty="0">
                <a:solidFill>
                  <a:srgbClr val="000000"/>
                </a:solidFill>
                <a:ea typeface="宋体"/>
                <a:cs typeface="宋体"/>
              </a:rPr>
              <a:t>45°</a:t>
            </a:r>
            <a:r>
              <a:rPr lang="zh-CN" altLang="zh-CN" sz="2000" b="1" dirty="0">
                <a:solidFill>
                  <a:srgbClr val="000000"/>
                </a:solidFill>
                <a:ea typeface="宋体"/>
                <a:cs typeface="宋体"/>
              </a:rPr>
              <a:t>，则光从该介质射向空气时的布儒斯特角是（</a:t>
            </a:r>
            <a:r>
              <a:rPr lang="en-US" altLang="zh-CN" sz="2000" b="1" dirty="0">
                <a:solidFill>
                  <a:srgbClr val="000000"/>
                </a:solidFill>
                <a:ea typeface="宋体"/>
                <a:cs typeface="宋体"/>
              </a:rPr>
              <a:t>      </a:t>
            </a:r>
            <a:r>
              <a:rPr lang="zh-CN" altLang="zh-CN" sz="2000" b="1" dirty="0">
                <a:solidFill>
                  <a:srgbClr val="000000"/>
                </a:solidFill>
                <a:ea typeface="宋体"/>
                <a:cs typeface="宋体"/>
              </a:rPr>
              <a:t>）</a:t>
            </a:r>
            <a:endParaRPr lang="zh-CN" altLang="en-US" sz="2000" dirty="0">
              <a:solidFill>
                <a:srgbClr val="000000"/>
              </a:solidFill>
            </a:endParaRPr>
          </a:p>
        </p:txBody>
      </p:sp>
      <p:sp>
        <p:nvSpPr>
          <p:cNvPr id="3" name="矩形 2"/>
          <p:cNvSpPr/>
          <p:nvPr/>
        </p:nvSpPr>
        <p:spPr>
          <a:xfrm>
            <a:off x="971600" y="1700808"/>
            <a:ext cx="4572000" cy="1323439"/>
          </a:xfrm>
          <a:prstGeom prst="rect">
            <a:avLst/>
          </a:prstGeom>
        </p:spPr>
        <p:txBody>
          <a:bodyPr>
            <a:spAutoFit/>
          </a:bodyPr>
          <a:lstStyle/>
          <a:p>
            <a:pPr>
              <a:spcAft>
                <a:spcPts val="0"/>
              </a:spcAft>
            </a:pPr>
            <a:r>
              <a:rPr lang="en-US" altLang="zh-CN" sz="2000" dirty="0">
                <a:solidFill>
                  <a:srgbClr val="000000"/>
                </a:solidFill>
                <a:latin typeface="宋体"/>
                <a:cs typeface="宋体"/>
              </a:rPr>
              <a:t>A</a:t>
            </a:r>
            <a:r>
              <a:rPr lang="zh-CN" altLang="zh-CN" sz="2000" dirty="0">
                <a:solidFill>
                  <a:srgbClr val="000000"/>
                </a:solidFill>
                <a:latin typeface="宋体"/>
                <a:cs typeface="宋体"/>
              </a:rPr>
              <a:t>、 </a:t>
            </a:r>
            <a:r>
              <a:rPr lang="en-US" altLang="zh-CN" sz="2000" dirty="0">
                <a:solidFill>
                  <a:srgbClr val="000000"/>
                </a:solidFill>
                <a:latin typeface="宋体"/>
                <a:cs typeface="宋体"/>
              </a:rPr>
              <a:t>35.3°</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B</a:t>
            </a:r>
            <a:r>
              <a:rPr lang="zh-CN" altLang="zh-CN" sz="2000" dirty="0">
                <a:solidFill>
                  <a:srgbClr val="000000"/>
                </a:solidFill>
                <a:latin typeface="宋体"/>
                <a:cs typeface="宋体"/>
              </a:rPr>
              <a:t>、 </a:t>
            </a:r>
            <a:r>
              <a:rPr lang="en-US" altLang="zh-CN" sz="2000" dirty="0">
                <a:solidFill>
                  <a:srgbClr val="000000"/>
                </a:solidFill>
                <a:latin typeface="宋体"/>
                <a:cs typeface="宋体"/>
              </a:rPr>
              <a:t>40.9° </a:t>
            </a:r>
            <a:endParaRPr lang="zh-CN" altLang="zh-CN" sz="2000" dirty="0">
              <a:solidFill>
                <a:srgbClr val="000000"/>
              </a:solidFill>
              <a:latin typeface="宋体"/>
              <a:cs typeface="宋体"/>
            </a:endParaRPr>
          </a:p>
          <a:p>
            <a:pPr>
              <a:spcAft>
                <a:spcPts val="0"/>
              </a:spcAft>
            </a:pPr>
            <a:r>
              <a:rPr lang="en-US" altLang="zh-CN" sz="2000" dirty="0">
                <a:solidFill>
                  <a:srgbClr val="000000"/>
                </a:solidFill>
                <a:latin typeface="宋体"/>
                <a:cs typeface="宋体"/>
              </a:rPr>
              <a:t>C</a:t>
            </a:r>
            <a:r>
              <a:rPr lang="zh-CN" altLang="zh-CN" sz="2000" dirty="0">
                <a:solidFill>
                  <a:srgbClr val="000000"/>
                </a:solidFill>
                <a:latin typeface="宋体"/>
                <a:cs typeface="宋体"/>
              </a:rPr>
              <a:t>、 </a:t>
            </a:r>
            <a:r>
              <a:rPr lang="en-US" altLang="zh-CN" sz="2000" dirty="0">
                <a:solidFill>
                  <a:srgbClr val="000000"/>
                </a:solidFill>
                <a:latin typeface="宋体"/>
                <a:cs typeface="宋体"/>
              </a:rPr>
              <a:t>45° </a:t>
            </a:r>
            <a:endParaRPr lang="zh-CN" altLang="zh-CN" sz="2000" dirty="0">
              <a:solidFill>
                <a:srgbClr val="000000"/>
              </a:solidFill>
              <a:latin typeface="宋体"/>
              <a:cs typeface="宋体"/>
            </a:endParaRPr>
          </a:p>
          <a:p>
            <a:r>
              <a:rPr lang="en-US" altLang="zh-CN" sz="2000" dirty="0">
                <a:solidFill>
                  <a:srgbClr val="000000"/>
                </a:solidFill>
                <a:latin typeface="宋体"/>
                <a:cs typeface="宋体"/>
              </a:rPr>
              <a:t>D</a:t>
            </a:r>
            <a:r>
              <a:rPr lang="zh-CN" altLang="zh-CN" sz="2000" dirty="0">
                <a:solidFill>
                  <a:srgbClr val="000000"/>
                </a:solidFill>
                <a:ea typeface="宋体"/>
                <a:cs typeface="宋体"/>
              </a:rPr>
              <a:t>、 </a:t>
            </a:r>
            <a:r>
              <a:rPr lang="en-US" altLang="zh-CN" sz="2000" dirty="0">
                <a:solidFill>
                  <a:srgbClr val="000000"/>
                </a:solidFill>
                <a:latin typeface="宋体"/>
                <a:cs typeface="宋体"/>
              </a:rPr>
              <a:t>54.7°</a:t>
            </a:r>
            <a:endParaRPr lang="zh-CN" altLang="en-US" sz="2000" dirty="0">
              <a:solidFill>
                <a:srgbClr val="000000"/>
              </a:solidFill>
            </a:endParaRPr>
          </a:p>
        </p:txBody>
      </p:sp>
      <p:sp>
        <p:nvSpPr>
          <p:cNvPr id="4" name="TextBox 3"/>
          <p:cNvSpPr txBox="1"/>
          <p:nvPr/>
        </p:nvSpPr>
        <p:spPr>
          <a:xfrm>
            <a:off x="4644008" y="908720"/>
            <a:ext cx="282005" cy="400110"/>
          </a:xfrm>
          <a:prstGeom prst="rect">
            <a:avLst/>
          </a:prstGeom>
          <a:noFill/>
        </p:spPr>
        <p:txBody>
          <a:bodyPr wrap="square" rtlCol="0">
            <a:spAutoFit/>
          </a:bodyPr>
          <a:lstStyle/>
          <a:p>
            <a:r>
              <a:rPr lang="en-US" altLang="zh-CN" sz="2000" b="1" dirty="0" smtClean="0">
                <a:solidFill>
                  <a:srgbClr val="000000"/>
                </a:solidFill>
              </a:rPr>
              <a:t>A</a:t>
            </a:r>
            <a:endParaRPr lang="zh-CN" altLang="en-US" sz="2000" b="1" dirty="0">
              <a:solidFill>
                <a:srgbClr val="000000"/>
              </a:solidFill>
            </a:endParaRPr>
          </a:p>
        </p:txBody>
      </p:sp>
    </p:spTree>
    <p:extLst>
      <p:ext uri="{BB962C8B-B14F-4D97-AF65-F5344CB8AC3E}">
        <p14:creationId xmlns:p14="http://schemas.microsoft.com/office/powerpoint/2010/main" val="2486640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548680"/>
            <a:ext cx="8496944" cy="707886"/>
          </a:xfrm>
          <a:prstGeom prst="rect">
            <a:avLst/>
          </a:prstGeom>
          <a:noFill/>
        </p:spPr>
        <p:txBody>
          <a:bodyPr wrap="square" rtlCol="0">
            <a:spAutoFit/>
          </a:bodyPr>
          <a:lstStyle/>
          <a:p>
            <a:r>
              <a:rPr lang="zh-CN" altLang="zh-CN" sz="2000" b="1" dirty="0">
                <a:solidFill>
                  <a:srgbClr val="000000"/>
                </a:solidFill>
                <a:ea typeface="宋体"/>
                <a:cs typeface="宋体"/>
              </a:rPr>
              <a:t>如图所示，一束自然光自空气射向一块平板玻璃，设在界面</a:t>
            </a:r>
            <a:r>
              <a:rPr lang="en-US" altLang="zh-CN" sz="2000" b="1" dirty="0">
                <a:solidFill>
                  <a:srgbClr val="000000"/>
                </a:solidFill>
                <a:latin typeface="Times New Roman"/>
                <a:ea typeface="宋体"/>
              </a:rPr>
              <a:t>1</a:t>
            </a:r>
            <a:r>
              <a:rPr lang="zh-CN" altLang="zh-CN" sz="2000" b="1" dirty="0">
                <a:solidFill>
                  <a:srgbClr val="000000"/>
                </a:solidFill>
                <a:ea typeface="宋体"/>
                <a:cs typeface="宋体"/>
              </a:rPr>
              <a:t>处入射角等于布儒斯特角</a:t>
            </a:r>
            <a:r>
              <a:rPr lang="en-US" altLang="zh-CN" sz="2000" b="1" i="1" dirty="0">
                <a:solidFill>
                  <a:srgbClr val="000000"/>
                </a:solidFill>
                <a:latin typeface="Cambria"/>
                <a:ea typeface="宋体"/>
              </a:rPr>
              <a:t> </a:t>
            </a:r>
            <a:r>
              <a:rPr lang="en-US" altLang="zh-CN" sz="2000" b="1" i="1" dirty="0" err="1">
                <a:solidFill>
                  <a:srgbClr val="000000"/>
                </a:solidFill>
                <a:latin typeface="Cambria"/>
                <a:ea typeface="宋体"/>
              </a:rPr>
              <a:t>i</a:t>
            </a:r>
            <a:r>
              <a:rPr lang="en-US" altLang="zh-CN" sz="2000" b="1" baseline="-25000" dirty="0" err="1">
                <a:solidFill>
                  <a:srgbClr val="000000"/>
                </a:solidFill>
                <a:latin typeface="Times New Roman"/>
                <a:ea typeface="宋体"/>
              </a:rPr>
              <a:t>B</a:t>
            </a:r>
            <a:r>
              <a:rPr lang="zh-CN" altLang="zh-CN" sz="2000" b="1" dirty="0">
                <a:solidFill>
                  <a:srgbClr val="000000"/>
                </a:solidFill>
                <a:ea typeface="宋体"/>
                <a:cs typeface="宋体"/>
              </a:rPr>
              <a:t>，则在界面</a:t>
            </a:r>
            <a:r>
              <a:rPr lang="en-US" altLang="zh-CN" sz="2000" b="1" dirty="0">
                <a:solidFill>
                  <a:srgbClr val="000000"/>
                </a:solidFill>
                <a:latin typeface="Times New Roman"/>
                <a:ea typeface="宋体"/>
              </a:rPr>
              <a:t>2</a:t>
            </a:r>
            <a:r>
              <a:rPr lang="zh-CN" altLang="zh-CN" sz="2000" b="1" dirty="0">
                <a:solidFill>
                  <a:srgbClr val="000000"/>
                </a:solidFill>
                <a:ea typeface="宋体"/>
                <a:cs typeface="宋体"/>
              </a:rPr>
              <a:t>处，</a:t>
            </a:r>
            <a:endParaRPr lang="zh-CN" altLang="en-US" sz="2000" dirty="0">
              <a:solidFill>
                <a:srgbClr val="000000"/>
              </a:solidFill>
            </a:endParaRPr>
          </a:p>
        </p:txBody>
      </p:sp>
      <p:pic>
        <p:nvPicPr>
          <p:cNvPr id="3" name="图片 2" descr="https://p.ananas.chaoxing.com/star3/origin/6b6b9083862a883156e83fa6445c1b0a.png"/>
          <p:cNvPicPr/>
          <p:nvPr/>
        </p:nvPicPr>
        <p:blipFill>
          <a:blip r:link="rId2">
            <a:extLst>
              <a:ext uri="{28A0092B-C50C-407E-A947-70E740481C1C}">
                <a14:useLocalDpi xmlns:a14="http://schemas.microsoft.com/office/drawing/2010/main" val="0"/>
              </a:ext>
            </a:extLst>
          </a:blip>
          <a:srcRect/>
          <a:stretch>
            <a:fillRect/>
          </a:stretch>
        </p:blipFill>
        <p:spPr bwMode="auto">
          <a:xfrm>
            <a:off x="3203848" y="1256566"/>
            <a:ext cx="3629025" cy="1476375"/>
          </a:xfrm>
          <a:prstGeom prst="rect">
            <a:avLst/>
          </a:prstGeom>
          <a:noFill/>
          <a:ln>
            <a:noFill/>
          </a:ln>
        </p:spPr>
      </p:pic>
      <p:sp>
        <p:nvSpPr>
          <p:cNvPr id="4" name="矩形 3"/>
          <p:cNvSpPr/>
          <p:nvPr/>
        </p:nvSpPr>
        <p:spPr>
          <a:xfrm>
            <a:off x="611560" y="2924944"/>
            <a:ext cx="7776864" cy="2554545"/>
          </a:xfrm>
          <a:prstGeom prst="rect">
            <a:avLst/>
          </a:prstGeom>
        </p:spPr>
        <p:txBody>
          <a:bodyPr wrap="square">
            <a:spAutoFit/>
          </a:bodyPr>
          <a:lstStyle/>
          <a:p>
            <a:pPr>
              <a:spcAft>
                <a:spcPts val="0"/>
              </a:spcAft>
            </a:pPr>
            <a:r>
              <a:rPr lang="en-US" altLang="zh-CN" sz="2000" dirty="0">
                <a:solidFill>
                  <a:srgbClr val="000000"/>
                </a:solidFill>
                <a:latin typeface="宋体"/>
                <a:cs typeface="宋体"/>
              </a:rPr>
              <a:t>A</a:t>
            </a:r>
            <a:r>
              <a:rPr lang="zh-CN" altLang="zh-CN" sz="2000" dirty="0">
                <a:solidFill>
                  <a:srgbClr val="000000"/>
                </a:solidFill>
                <a:latin typeface="宋体"/>
                <a:cs typeface="宋体"/>
              </a:rPr>
              <a:t>、 反射光</a:t>
            </a:r>
            <a:r>
              <a:rPr lang="en-US" altLang="zh-CN" sz="2000" i="1" dirty="0">
                <a:solidFill>
                  <a:srgbClr val="000000"/>
                </a:solidFill>
                <a:latin typeface="Cambria"/>
                <a:cs typeface="宋体"/>
              </a:rPr>
              <a:t>a</a:t>
            </a:r>
            <a:r>
              <a:rPr lang="zh-CN" altLang="zh-CN" sz="2000" dirty="0">
                <a:solidFill>
                  <a:srgbClr val="000000"/>
                </a:solidFill>
                <a:latin typeface="宋体"/>
                <a:cs typeface="宋体"/>
              </a:rPr>
              <a:t>是垂直于入射面的光振动占优势的部分偏振光，而折射光</a:t>
            </a:r>
            <a:r>
              <a:rPr lang="en-US" altLang="zh-CN" sz="2000" i="1" dirty="0">
                <a:solidFill>
                  <a:srgbClr val="000000"/>
                </a:solidFill>
                <a:latin typeface="Cambria"/>
                <a:cs typeface="宋体"/>
              </a:rPr>
              <a:t>b</a:t>
            </a:r>
            <a:r>
              <a:rPr lang="zh-CN" altLang="zh-CN" sz="2000" dirty="0">
                <a:solidFill>
                  <a:srgbClr val="000000"/>
                </a:solidFill>
                <a:latin typeface="宋体"/>
                <a:cs typeface="宋体"/>
              </a:rPr>
              <a:t>是平行于入射面的光振动占优势的部分偏振光。 </a:t>
            </a:r>
          </a:p>
          <a:p>
            <a:pPr>
              <a:spcAft>
                <a:spcPts val="0"/>
              </a:spcAft>
            </a:pPr>
            <a:r>
              <a:rPr lang="en-US" altLang="zh-CN" sz="2000" dirty="0">
                <a:solidFill>
                  <a:srgbClr val="000000"/>
                </a:solidFill>
                <a:latin typeface="宋体"/>
                <a:cs typeface="宋体"/>
              </a:rPr>
              <a:t>B</a:t>
            </a:r>
            <a:r>
              <a:rPr lang="zh-CN" altLang="zh-CN" sz="2000" dirty="0">
                <a:solidFill>
                  <a:srgbClr val="000000"/>
                </a:solidFill>
                <a:latin typeface="宋体"/>
                <a:cs typeface="宋体"/>
              </a:rPr>
              <a:t>、 反射光</a:t>
            </a:r>
            <a:r>
              <a:rPr lang="en-US" altLang="zh-CN" sz="2000" i="1" dirty="0">
                <a:solidFill>
                  <a:srgbClr val="000000"/>
                </a:solidFill>
                <a:latin typeface="Cambria"/>
                <a:cs typeface="宋体"/>
              </a:rPr>
              <a:t>a</a:t>
            </a:r>
            <a:r>
              <a:rPr lang="zh-CN" altLang="zh-CN" sz="2000" dirty="0">
                <a:solidFill>
                  <a:srgbClr val="000000"/>
                </a:solidFill>
                <a:latin typeface="宋体"/>
                <a:cs typeface="宋体"/>
              </a:rPr>
              <a:t>是光振动垂直于入射面的线偏振光，而折射光</a:t>
            </a:r>
            <a:r>
              <a:rPr lang="en-US" altLang="zh-CN" sz="2000" i="1" dirty="0">
                <a:solidFill>
                  <a:srgbClr val="000000"/>
                </a:solidFill>
                <a:latin typeface="Cambria"/>
                <a:cs typeface="宋体"/>
              </a:rPr>
              <a:t>b</a:t>
            </a:r>
            <a:r>
              <a:rPr lang="zh-CN" altLang="zh-CN" sz="2000" dirty="0">
                <a:solidFill>
                  <a:srgbClr val="000000"/>
                </a:solidFill>
                <a:latin typeface="宋体"/>
                <a:cs typeface="宋体"/>
              </a:rPr>
              <a:t>是平行于入射面的光振动占优势的部分偏振光。 </a:t>
            </a:r>
          </a:p>
          <a:p>
            <a:pPr>
              <a:spcAft>
                <a:spcPts val="0"/>
              </a:spcAft>
            </a:pPr>
            <a:r>
              <a:rPr lang="en-US" altLang="zh-CN" sz="2000" dirty="0">
                <a:solidFill>
                  <a:srgbClr val="000000"/>
                </a:solidFill>
                <a:latin typeface="宋体"/>
                <a:cs typeface="宋体"/>
              </a:rPr>
              <a:t>C</a:t>
            </a:r>
            <a:r>
              <a:rPr lang="zh-CN" altLang="zh-CN" sz="2000" dirty="0">
                <a:solidFill>
                  <a:srgbClr val="000000"/>
                </a:solidFill>
                <a:latin typeface="宋体"/>
                <a:cs typeface="宋体"/>
              </a:rPr>
              <a:t>、 反射光</a:t>
            </a:r>
            <a:r>
              <a:rPr lang="en-US" altLang="zh-CN" sz="2000" i="1" dirty="0">
                <a:solidFill>
                  <a:srgbClr val="000000"/>
                </a:solidFill>
                <a:latin typeface="Cambria"/>
                <a:cs typeface="宋体"/>
              </a:rPr>
              <a:t>a</a:t>
            </a:r>
            <a:r>
              <a:rPr lang="zh-CN" altLang="zh-CN" sz="2000" dirty="0">
                <a:solidFill>
                  <a:srgbClr val="000000"/>
                </a:solidFill>
                <a:latin typeface="宋体"/>
                <a:cs typeface="宋体"/>
              </a:rPr>
              <a:t>是光振动平行于入射面的线偏振光，而折射光</a:t>
            </a:r>
            <a:r>
              <a:rPr lang="en-US" altLang="zh-CN" sz="2000" i="1" dirty="0">
                <a:solidFill>
                  <a:srgbClr val="000000"/>
                </a:solidFill>
                <a:latin typeface="Cambria"/>
                <a:cs typeface="宋体"/>
              </a:rPr>
              <a:t>b</a:t>
            </a:r>
            <a:r>
              <a:rPr lang="zh-CN" altLang="zh-CN" sz="2000" dirty="0">
                <a:solidFill>
                  <a:srgbClr val="000000"/>
                </a:solidFill>
                <a:latin typeface="宋体"/>
                <a:cs typeface="宋体"/>
              </a:rPr>
              <a:t>是垂直于入射面的光振动占优势的部分偏振光。 </a:t>
            </a:r>
          </a:p>
          <a:p>
            <a:pPr>
              <a:spcAft>
                <a:spcPts val="0"/>
              </a:spcAft>
            </a:pPr>
            <a:r>
              <a:rPr lang="en-US" altLang="zh-CN" sz="2000" dirty="0">
                <a:solidFill>
                  <a:srgbClr val="000000"/>
                </a:solidFill>
                <a:latin typeface="宋体"/>
                <a:cs typeface="宋体"/>
              </a:rPr>
              <a:t>D</a:t>
            </a:r>
            <a:r>
              <a:rPr lang="zh-CN" altLang="zh-CN" sz="2000" dirty="0">
                <a:solidFill>
                  <a:srgbClr val="000000"/>
                </a:solidFill>
                <a:latin typeface="宋体"/>
                <a:cs typeface="宋体"/>
              </a:rPr>
              <a:t>、 </a:t>
            </a:r>
            <a:r>
              <a:rPr lang="zh-CN" altLang="zh-CN" sz="2000" dirty="0" smtClean="0">
                <a:solidFill>
                  <a:srgbClr val="000000"/>
                </a:solidFill>
                <a:latin typeface="宋体"/>
                <a:cs typeface="宋体"/>
              </a:rPr>
              <a:t>反射光</a:t>
            </a:r>
            <a:r>
              <a:rPr lang="en-US" altLang="zh-CN" sz="2000" i="1" dirty="0">
                <a:solidFill>
                  <a:srgbClr val="000000"/>
                </a:solidFill>
                <a:latin typeface="Cambria"/>
                <a:cs typeface="宋体"/>
              </a:rPr>
              <a:t>a</a:t>
            </a:r>
            <a:r>
              <a:rPr lang="zh-CN" altLang="zh-CN" sz="2000" dirty="0">
                <a:solidFill>
                  <a:srgbClr val="000000"/>
                </a:solidFill>
                <a:latin typeface="宋体"/>
                <a:cs typeface="宋体"/>
              </a:rPr>
              <a:t>是光振动垂直于入射面的线偏振光，而折射光</a:t>
            </a:r>
            <a:r>
              <a:rPr lang="en-US" altLang="zh-CN" sz="2000" i="1" dirty="0">
                <a:solidFill>
                  <a:srgbClr val="000000"/>
                </a:solidFill>
                <a:latin typeface="Cambria"/>
                <a:cs typeface="宋体"/>
              </a:rPr>
              <a:t>b</a:t>
            </a:r>
            <a:r>
              <a:rPr lang="zh-CN" altLang="zh-CN" sz="2000" dirty="0">
                <a:solidFill>
                  <a:srgbClr val="000000"/>
                </a:solidFill>
                <a:latin typeface="宋体"/>
                <a:cs typeface="宋体"/>
              </a:rPr>
              <a:t>是光振动平行于入射面的线偏振光。</a:t>
            </a:r>
          </a:p>
        </p:txBody>
      </p:sp>
      <p:sp>
        <p:nvSpPr>
          <p:cNvPr id="5" name="矩形 4"/>
          <p:cNvSpPr/>
          <p:nvPr/>
        </p:nvSpPr>
        <p:spPr>
          <a:xfrm>
            <a:off x="5292080" y="1056511"/>
            <a:ext cx="356188" cy="400110"/>
          </a:xfrm>
          <a:prstGeom prst="rect">
            <a:avLst/>
          </a:prstGeom>
        </p:spPr>
        <p:txBody>
          <a:bodyPr wrap="none">
            <a:spAutoFit/>
          </a:bodyPr>
          <a:lstStyle/>
          <a:p>
            <a:r>
              <a:rPr lang="en-US" altLang="zh-CN" sz="2000" dirty="0">
                <a:solidFill>
                  <a:srgbClr val="000000"/>
                </a:solidFill>
              </a:rPr>
              <a:t>B</a:t>
            </a:r>
            <a:endParaRPr lang="zh-CN" altLang="en-US" dirty="0">
              <a:solidFill>
                <a:srgbClr val="FFFFFF"/>
              </a:solidFill>
            </a:endParaRPr>
          </a:p>
        </p:txBody>
      </p:sp>
    </p:spTree>
    <p:extLst>
      <p:ext uri="{BB962C8B-B14F-4D97-AF65-F5344CB8AC3E}">
        <p14:creationId xmlns:p14="http://schemas.microsoft.com/office/powerpoint/2010/main" val="401709886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ProblemBody"/>
</p:tagLst>
</file>

<file path=ppt/theme/theme1.xml><?xml version="1.0" encoding="utf-8"?>
<a:theme xmlns:a="http://schemas.openxmlformats.org/drawingml/2006/main" name="第十三章习题课">
  <a:themeElements>
    <a:clrScheme name="第十三章习题课 8">
      <a:dk1>
        <a:srgbClr val="000000"/>
      </a:dk1>
      <a:lt1>
        <a:srgbClr val="FFFFFF"/>
      </a:lt1>
      <a:dk2>
        <a:srgbClr val="FF3300"/>
      </a:dk2>
      <a:lt2>
        <a:srgbClr val="808080"/>
      </a:lt2>
      <a:accent1>
        <a:srgbClr val="0000FF"/>
      </a:accent1>
      <a:accent2>
        <a:srgbClr val="FF9900"/>
      </a:accent2>
      <a:accent3>
        <a:srgbClr val="FFFFFF"/>
      </a:accent3>
      <a:accent4>
        <a:srgbClr val="000000"/>
      </a:accent4>
      <a:accent5>
        <a:srgbClr val="AAAAFF"/>
      </a:accent5>
      <a:accent6>
        <a:srgbClr val="E78A00"/>
      </a:accent6>
      <a:hlink>
        <a:srgbClr val="008000"/>
      </a:hlink>
      <a:folHlink>
        <a:srgbClr val="B2B2B2"/>
      </a:folHlink>
    </a:clrScheme>
    <a:fontScheme name="第十三章习题课">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9050" cap="flat" cmpd="sng" algn="ctr">
          <a:solidFill>
            <a:schemeClr val="bg1"/>
          </a:solidFill>
          <a:prstDash val="solid"/>
          <a:round/>
          <a:headEnd type="triangle" w="sm" len="me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3600" b="0" i="0" u="none" strike="noStrike" cap="none" normalizeH="0" baseline="0" smtClean="0">
            <a:ln>
              <a:noFill/>
            </a:ln>
            <a:solidFill>
              <a:schemeClr val="bg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chemeClr val="accent1"/>
        </a:solidFill>
        <a:ln w="19050" cap="flat" cmpd="sng" algn="ctr">
          <a:solidFill>
            <a:schemeClr val="bg1"/>
          </a:solidFill>
          <a:prstDash val="solid"/>
          <a:round/>
          <a:headEnd type="triangle" w="sm" len="me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3600" b="0" i="0" u="none" strike="noStrike" cap="none" normalizeH="0" baseline="0" smtClean="0">
            <a:ln>
              <a:noFill/>
            </a:ln>
            <a:solidFill>
              <a:schemeClr val="bg1"/>
            </a:solidFill>
            <a:effectLst/>
            <a:latin typeface="Times New Roman" pitchFamily="18" charset="0"/>
            <a:ea typeface="宋体" charset="-122"/>
          </a:defRPr>
        </a:defPPr>
      </a:lstStyle>
    </a:lnDef>
  </a:objectDefaults>
  <a:extraClrSchemeLst>
    <a:extraClrScheme>
      <a:clrScheme name="第十三章习题课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第十三章习题课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第十三章习题课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第十三章习题课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第十三章习题课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第十三章习题课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第十三章习题课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第十三章习题课 8">
        <a:dk1>
          <a:srgbClr val="000000"/>
        </a:dk1>
        <a:lt1>
          <a:srgbClr val="FFFFFF"/>
        </a:lt1>
        <a:dk2>
          <a:srgbClr val="FF3300"/>
        </a:dk2>
        <a:lt2>
          <a:srgbClr val="808080"/>
        </a:lt2>
        <a:accent1>
          <a:srgbClr val="0000FF"/>
        </a:accent1>
        <a:accent2>
          <a:srgbClr val="FF9900"/>
        </a:accent2>
        <a:accent3>
          <a:srgbClr val="FFFFFF"/>
        </a:accent3>
        <a:accent4>
          <a:srgbClr val="000000"/>
        </a:accent4>
        <a:accent5>
          <a:srgbClr val="AAAAFF"/>
        </a:accent5>
        <a:accent6>
          <a:srgbClr val="E78A00"/>
        </a:accent6>
        <a:hlink>
          <a:srgbClr val="00800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DESIGNA">
  <a:themeElements>
    <a:clrScheme name="">
      <a:dk1>
        <a:srgbClr val="000000"/>
      </a:dk1>
      <a:lt1>
        <a:srgbClr val="FFFFFF"/>
      </a:lt1>
      <a:dk2>
        <a:srgbClr val="FF3300"/>
      </a:dk2>
      <a:lt2>
        <a:srgbClr val="000000"/>
      </a:lt2>
      <a:accent1>
        <a:srgbClr val="0000FF"/>
      </a:accent1>
      <a:accent2>
        <a:srgbClr val="FF9900"/>
      </a:accent2>
      <a:accent3>
        <a:srgbClr val="FFFFFF"/>
      </a:accent3>
      <a:accent4>
        <a:srgbClr val="000000"/>
      </a:accent4>
      <a:accent5>
        <a:srgbClr val="AAAAFF"/>
      </a:accent5>
      <a:accent6>
        <a:srgbClr val="E78A00"/>
      </a:accent6>
      <a:hlink>
        <a:srgbClr val="008000"/>
      </a:hlink>
      <a:folHlink>
        <a:srgbClr val="B2B2B2"/>
      </a:folHlink>
    </a:clrScheme>
    <a:fontScheme name="CDESIGNA">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CDESIGN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DESIGN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DESIGN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DESIGN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DESIGN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DESIGN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DESIGN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CDESIGNA">
  <a:themeElements>
    <a:clrScheme name="">
      <a:dk1>
        <a:srgbClr val="000000"/>
      </a:dk1>
      <a:lt1>
        <a:srgbClr val="FFFFFF"/>
      </a:lt1>
      <a:dk2>
        <a:srgbClr val="FF3300"/>
      </a:dk2>
      <a:lt2>
        <a:srgbClr val="000000"/>
      </a:lt2>
      <a:accent1>
        <a:srgbClr val="0000FF"/>
      </a:accent1>
      <a:accent2>
        <a:srgbClr val="FF9900"/>
      </a:accent2>
      <a:accent3>
        <a:srgbClr val="FFFFFF"/>
      </a:accent3>
      <a:accent4>
        <a:srgbClr val="000000"/>
      </a:accent4>
      <a:accent5>
        <a:srgbClr val="AAAAFF"/>
      </a:accent5>
      <a:accent6>
        <a:srgbClr val="E78A00"/>
      </a:accent6>
      <a:hlink>
        <a:srgbClr val="008000"/>
      </a:hlink>
      <a:folHlink>
        <a:srgbClr val="B2B2B2"/>
      </a:folHlink>
    </a:clrScheme>
    <a:fontScheme name="CDESIGNA">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CDESIGN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DESIGN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DESIGN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DESIGN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DESIGN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DESIGN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DESIGN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
  <Words>3463</Words>
  <Application>Microsoft Office PowerPoint</Application>
  <PresentationFormat>全屏显示(4:3)</PresentationFormat>
  <Paragraphs>337</Paragraphs>
  <Slides>58</Slides>
  <Notes>0</Notes>
  <HiddenSlides>2</HiddenSlides>
  <MMClips>0</MMClips>
  <ScaleCrop>false</ScaleCrop>
  <HeadingPairs>
    <vt:vector size="6" baseType="variant">
      <vt:variant>
        <vt:lpstr>主题</vt:lpstr>
      </vt:variant>
      <vt:variant>
        <vt:i4>6</vt:i4>
      </vt:variant>
      <vt:variant>
        <vt:lpstr>嵌入 OLE 服务器</vt:lpstr>
      </vt:variant>
      <vt:variant>
        <vt:i4>3</vt:i4>
      </vt:variant>
      <vt:variant>
        <vt:lpstr>幻灯片标题</vt:lpstr>
      </vt:variant>
      <vt:variant>
        <vt:i4>58</vt:i4>
      </vt:variant>
    </vt:vector>
  </HeadingPairs>
  <TitlesOfParts>
    <vt:vector size="67" baseType="lpstr">
      <vt:lpstr>第十三章习题课</vt:lpstr>
      <vt:lpstr>CDESIGNA</vt:lpstr>
      <vt:lpstr>Blends</vt:lpstr>
      <vt:lpstr>1_Blends</vt:lpstr>
      <vt:lpstr>1_CDESIGNA</vt:lpstr>
      <vt:lpstr>2_Blends</vt:lpstr>
      <vt:lpstr>Equation</vt:lpstr>
      <vt:lpstr>Microsoft 公式 3.0</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dc:title>PowerPoint 演示文稿</dc:title>
  <cp:revision>273</cp:revision>
</cp:coreProperties>
</file>