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udio/unknown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0" r:id="rId2"/>
    <p:sldId id="298" r:id="rId3"/>
    <p:sldId id="297" r:id="rId4"/>
    <p:sldId id="295" r:id="rId5"/>
    <p:sldId id="291" r:id="rId6"/>
    <p:sldId id="300" r:id="rId7"/>
    <p:sldId id="293" r:id="rId8"/>
    <p:sldId id="301" r:id="rId9"/>
    <p:sldId id="294" r:id="rId10"/>
    <p:sldId id="299" r:id="rId11"/>
  </p:sldIdLst>
  <p:sldSz cx="9144000" cy="6858000" type="screen4x3"/>
  <p:notesSz cx="6994525" cy="92789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3200" kern="1200">
        <a:solidFill>
          <a:srgbClr val="FFFF00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9">
          <p15:clr>
            <a:srgbClr val="A4A3A4"/>
          </p15:clr>
        </p15:guide>
        <p15:guide id="2" pos="288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00"/>
    <a:srgbClr val="336600"/>
    <a:srgbClr val="FFFFFF"/>
    <a:srgbClr val="FFFF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3" autoAdjust="0"/>
    <p:restoredTop sz="86422" autoAdjust="0"/>
  </p:normalViewPr>
  <p:slideViewPr>
    <p:cSldViewPr>
      <p:cViewPr varScale="1">
        <p:scale>
          <a:sx n="92" d="100"/>
          <a:sy n="92" d="100"/>
        </p:scale>
        <p:origin x="19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44" y="76076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5" d="100"/>
          <a:sy n="35" d="100"/>
        </p:scale>
        <p:origin x="-1025" y="-86"/>
      </p:cViewPr>
      <p:guideLst>
        <p:guide orient="horz" pos="2159"/>
        <p:guide pos="288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611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-1588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1675"/>
            <a:ext cx="4621213" cy="3465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06900"/>
            <a:ext cx="5127625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380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380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5CAD2B15-9AE1-FC44-871D-FB23B3FA39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737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9pPr>
          </a:lstStyle>
          <a:p>
            <a:fld id="{790318C1-8675-124E-99F3-551160304F05}" type="slidenum">
              <a:rPr kumimoji="0" lang="en-US" altLang="zh-CN" sz="1000">
                <a:solidFill>
                  <a:schemeClr val="tx1"/>
                </a:solidFill>
              </a:rPr>
              <a:pPr/>
              <a:t>1</a:t>
            </a:fld>
            <a:endParaRPr kumimoji="0" lang="en-US" alt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FF00"/>
                </a:solidFill>
                <a:latin typeface="Times New Roman" charset="0"/>
                <a:ea typeface="宋体" charset="0"/>
              </a:defRPr>
            </a:lvl9pPr>
          </a:lstStyle>
          <a:p>
            <a:fld id="{C485C221-0C1D-134E-9FB0-6CC2BCBAFAF9}" type="slidenum">
              <a:rPr kumimoji="0" lang="en-US" altLang="zh-CN" sz="1000">
                <a:solidFill>
                  <a:schemeClr val="tx1"/>
                </a:solidFill>
              </a:rPr>
              <a:pPr/>
              <a:t>3</a:t>
            </a:fld>
            <a:endParaRPr kumimoji="0" lang="en-US" altLang="zh-CN" sz="1000">
              <a:solidFill>
                <a:schemeClr val="tx1"/>
              </a:solidFill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1213" cy="3465512"/>
          </a:xfrm>
          <a:ln cap="flat"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594" tIns="46798" rIns="93594" bIns="46798"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32455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AD2B15-9AE1-FC44-871D-FB23B3FA395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540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AD2B15-9AE1-FC44-871D-FB23B3FA395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2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18BB2-8FE7-8B40-9F61-B5B967953B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847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BB19C-141A-6C4C-A86E-100ACE829D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904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00DB6-7488-CF4B-BDDD-A1DF92E5A8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748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DB118-0DD2-F245-955C-D1C1F12730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21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C2D47-C57A-9343-88FF-83E4DE96AE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58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6DA80-7154-B749-917A-B1924576DC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28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F04C1-2ACA-A949-9AF6-47C59A586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83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A7F057-6A7C-A344-8C51-AD8AAF696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901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402E9-FB0F-CB4F-BBCA-85DF3EAE6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37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289ED-0F7B-374E-B2C4-D7398E9154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876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2790D-5E3D-C648-8117-BE2E4658D1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53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A6286B6A-318E-C143-BCE0-88E549B8FD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宋体" charset="0"/>
          <a:cs typeface="宋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0"/>
          <a:cs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0"/>
          <a:cs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0"/>
          <a:cs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0"/>
          <a:cs typeface="宋体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kumimoji="1" sz="3200">
          <a:solidFill>
            <a:schemeClr val="tx1"/>
          </a:solidFill>
          <a:latin typeface="+mn-lt"/>
          <a:ea typeface="宋体" charset="0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charset="0"/>
        <a:buChar char="§"/>
        <a:defRPr kumimoji="1" sz="28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4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hyperlink" Target="mailto:lujianhua@seu.edu.cn" TargetMode="External"/><Relationship Id="rId5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audio" Target="../media/audio2.bin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audio" Target="../media/audio2.bin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audio" Target="../media/audio2.bin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 descr="C:\sahni\clip\barry\welcome4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33400"/>
            <a:ext cx="2640013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710406" y="1962150"/>
            <a:ext cx="7772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1" hangingPunct="1"/>
            <a:r>
              <a:rPr lang="zh-CN" altLang="en-US" sz="4400" dirty="0">
                <a:solidFill>
                  <a:srgbClr val="0066FF"/>
                </a:solidFill>
              </a:rPr>
              <a:t>数据结构与算法专题实践</a:t>
            </a:r>
            <a:r>
              <a:rPr lang="en-US" altLang="zh-CN" sz="4400" dirty="0">
                <a:solidFill>
                  <a:srgbClr val="0066FF"/>
                </a:solidFill>
              </a:rPr>
              <a:t/>
            </a:r>
            <a:br>
              <a:rPr lang="en-US" altLang="zh-CN" sz="4400" dirty="0">
                <a:solidFill>
                  <a:srgbClr val="0066FF"/>
                </a:solidFill>
              </a:rPr>
            </a:br>
            <a:r>
              <a:rPr lang="en-US" altLang="zh-CN" sz="4400" dirty="0">
                <a:solidFill>
                  <a:srgbClr val="0066FF"/>
                </a:solidFill>
              </a:rPr>
              <a:t/>
            </a:r>
            <a:br>
              <a:rPr lang="en-US" altLang="zh-CN" sz="4400" dirty="0">
                <a:solidFill>
                  <a:srgbClr val="0066FF"/>
                </a:solidFill>
              </a:rPr>
            </a:br>
            <a:r>
              <a:rPr lang="zh-CN" altLang="en-US" sz="4400" dirty="0">
                <a:solidFill>
                  <a:srgbClr val="0066FF"/>
                </a:solidFill>
              </a:rPr>
              <a:t>吕建华</a:t>
            </a:r>
            <a:endParaRPr lang="en-US" altLang="zh-CN" sz="4400" dirty="0">
              <a:solidFill>
                <a:srgbClr val="0066FF"/>
              </a:solidFill>
            </a:endParaRPr>
          </a:p>
          <a:p>
            <a:pPr algn="ctr" eaLnBrk="1" hangingPunct="1"/>
            <a:r>
              <a:rPr lang="en-US" altLang="zh-CN" sz="2800" dirty="0">
                <a:solidFill>
                  <a:srgbClr val="0066FF"/>
                </a:solidFill>
                <a:hlinkClick r:id="rId4"/>
              </a:rPr>
              <a:t>lujianhua@seu.edu.cn</a:t>
            </a:r>
            <a:endParaRPr lang="en-US" altLang="zh-CN" sz="2800" dirty="0">
              <a:solidFill>
                <a:srgbClr val="0066FF"/>
              </a:solidFill>
            </a:endParaRPr>
          </a:p>
          <a:p>
            <a:pPr algn="ctr" eaLnBrk="1" hangingPunct="1"/>
            <a:r>
              <a:rPr lang="en-US" altLang="zh-CN" sz="2800" dirty="0">
                <a:solidFill>
                  <a:srgbClr val="0066FF"/>
                </a:solidFill>
              </a:rPr>
              <a:t>Office: </a:t>
            </a:r>
            <a:r>
              <a:rPr lang="zh-CN" altLang="en-US" sz="2800" dirty="0">
                <a:solidFill>
                  <a:srgbClr val="0066FF"/>
                </a:solidFill>
              </a:rPr>
              <a:t>计算机楼</a:t>
            </a:r>
            <a:r>
              <a:rPr lang="en-US" altLang="zh-CN" sz="2800" dirty="0">
                <a:solidFill>
                  <a:srgbClr val="0066FF"/>
                </a:solidFill>
              </a:rPr>
              <a:t>:</a:t>
            </a:r>
            <a:r>
              <a:rPr lang="zh-CN" altLang="en-US" sz="2800" dirty="0">
                <a:solidFill>
                  <a:srgbClr val="0066FF"/>
                </a:solidFill>
              </a:rPr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230</a:t>
            </a:r>
          </a:p>
          <a:p>
            <a:pPr algn="ctr" eaLnBrk="1" hangingPunct="1"/>
            <a:endParaRPr lang="en-US" altLang="zh-CN" sz="2800" dirty="0">
              <a:solidFill>
                <a:srgbClr val="0066FF"/>
              </a:solidFill>
            </a:endParaRPr>
          </a:p>
        </p:txBody>
      </p:sp>
      <p:pic>
        <p:nvPicPr>
          <p:cNvPr id="15363" name="Picture 4" descr="C:\sahni\clip\barry\welcome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953000"/>
            <a:ext cx="2971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me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5105400"/>
          </a:xfrm>
        </p:spPr>
        <p:txBody>
          <a:bodyPr/>
          <a:lstStyle/>
          <a:p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Science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Engineering,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Discovery,</a:t>
            </a:r>
            <a:r>
              <a:rPr lang="zh-CN" altLang="en-US" dirty="0"/>
              <a:t> </a:t>
            </a:r>
            <a:r>
              <a:rPr lang="en-US" altLang="zh-CN" dirty="0"/>
              <a:t>Artificial</a:t>
            </a:r>
            <a:r>
              <a:rPr lang="zh-CN" altLang="en-US" dirty="0"/>
              <a:t> </a:t>
            </a:r>
            <a:r>
              <a:rPr lang="en-US" altLang="zh-CN" dirty="0"/>
              <a:t>Intelligence</a:t>
            </a:r>
          </a:p>
          <a:p>
            <a:pPr lvl="1"/>
            <a:r>
              <a:rPr kumimoji="1" lang="en-US" altLang="zh-CN" dirty="0"/>
              <a:t>Intelligent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manufacturing</a:t>
            </a:r>
          </a:p>
          <a:p>
            <a:pPr lvl="1"/>
            <a:r>
              <a:rPr lang="en-US" altLang="zh-CN" dirty="0"/>
              <a:t>Prognostics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Health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</a:p>
          <a:p>
            <a:pPr lvl="1"/>
            <a:r>
              <a:rPr lang="en-US" altLang="zh-CN" dirty="0"/>
              <a:t>Healthcare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analytics</a:t>
            </a:r>
          </a:p>
          <a:p>
            <a:pPr lvl="1"/>
            <a:r>
              <a:rPr lang="mr-IN" altLang="zh-CN" dirty="0"/>
              <a:t>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What’s</a:t>
            </a:r>
            <a:r>
              <a:rPr lang="zh-CN" altLang="en-US" dirty="0"/>
              <a:t> </a:t>
            </a:r>
            <a:r>
              <a:rPr lang="en-US" altLang="zh-CN" dirty="0"/>
              <a:t>going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What’re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reasons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endParaRPr kumimoji="1" lang="en-US" altLang="zh-CN" dirty="0"/>
          </a:p>
        </p:txBody>
      </p:sp>
      <p:pic>
        <p:nvPicPr>
          <p:cNvPr id="4" name="Picture 4" descr="C:\sahni\clip\rad\CE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29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0" lang="en-US" altLang="zh-CN">
                <a:latin typeface="Times New Roman" charset="0"/>
              </a:rPr>
              <a:t>Prerequisites</a:t>
            </a:r>
          </a:p>
        </p:txBody>
      </p:sp>
      <p:sp>
        <p:nvSpPr>
          <p:cNvPr id="348163" name="Rectangle 3"/>
          <p:cNvSpPr>
            <a:spLocks noChangeArrowheads="1"/>
          </p:cNvSpPr>
          <p:nvPr/>
        </p:nvSpPr>
        <p:spPr bwMode="auto">
          <a:xfrm>
            <a:off x="685800" y="16764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ü"/>
            </a:pPr>
            <a:r>
              <a:rPr lang="en-US" altLang="zh-CN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C++</a:t>
            </a:r>
            <a:endParaRPr lang="en-US" altLang="zh-CN" sz="2800" dirty="0">
              <a:solidFill>
                <a:schemeClr val="tx1"/>
              </a:solidFill>
              <a:ea typeface="Times New Roman" charset="0"/>
              <a:cs typeface="Times New Roman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File</a:t>
            </a:r>
            <a:r>
              <a:rPr lang="zh-CN" altLang="en-US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operations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Parallel</a:t>
            </a:r>
            <a:r>
              <a:rPr lang="zh-CN" altLang="en-US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programing:</a:t>
            </a:r>
            <a:r>
              <a:rPr lang="zh-CN" altLang="en-US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threads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ü"/>
            </a:pPr>
            <a:r>
              <a:rPr lang="en-US" altLang="zh-CN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Undergraduate data structures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Stacks and Queues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Linked lists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Trees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charset="0"/>
              <a:buChar char="§"/>
            </a:pPr>
            <a:r>
              <a:rPr lang="en-US" altLang="zh-CN" sz="2800" dirty="0">
                <a:solidFill>
                  <a:schemeClr val="tx1"/>
                </a:solidFill>
                <a:ea typeface="Times New Roman" charset="0"/>
                <a:cs typeface="Times New Roman" charset="0"/>
              </a:rPr>
              <a:t>Graphs</a:t>
            </a:r>
          </a:p>
        </p:txBody>
      </p:sp>
      <p:pic>
        <p:nvPicPr>
          <p:cNvPr id="4" name="Picture 4" descr="C:\sahni\clip\rad\CE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91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3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  <a:noFill/>
        </p:spPr>
        <p:txBody>
          <a:bodyPr/>
          <a:lstStyle/>
          <a:p>
            <a:r>
              <a:rPr kumimoji="0" lang="en-US" altLang="zh-CN">
                <a:latin typeface="Times New Roman" charset="0"/>
              </a:rPr>
              <a:t>What The Course Is About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114800"/>
          </a:xfrm>
          <a:noFill/>
        </p:spPr>
        <p:txBody>
          <a:bodyPr/>
          <a:lstStyle/>
          <a:p>
            <a:r>
              <a:rPr kumimoji="0" lang="en-US" altLang="zh-CN" sz="2800" dirty="0">
                <a:latin typeface="Times New Roman" charset="0"/>
              </a:rPr>
              <a:t>Programing</a:t>
            </a:r>
            <a:r>
              <a:rPr kumimoji="0" lang="zh-CN" altLang="en-US" sz="2800" dirty="0">
                <a:latin typeface="Times New Roman" charset="0"/>
              </a:rPr>
              <a:t> </a:t>
            </a:r>
            <a:r>
              <a:rPr kumimoji="0" lang="en-US" altLang="zh-CN" sz="2800" dirty="0">
                <a:latin typeface="Times New Roman" charset="0"/>
              </a:rPr>
              <a:t>practices for</a:t>
            </a:r>
            <a:r>
              <a:rPr kumimoji="0" lang="zh-CN" altLang="en-US" sz="2800" dirty="0">
                <a:latin typeface="Times New Roman" charset="0"/>
              </a:rPr>
              <a:t> </a:t>
            </a:r>
            <a:r>
              <a:rPr kumimoji="0" lang="en-US" altLang="zh-CN" sz="2800" dirty="0">
                <a:latin typeface="Times New Roman" charset="0"/>
              </a:rPr>
              <a:t>(some)</a:t>
            </a:r>
          </a:p>
          <a:p>
            <a:pPr lvl="1"/>
            <a:r>
              <a:rPr kumimoji="0" lang="en-US" altLang="zh-CN" dirty="0">
                <a:latin typeface="Times New Roman" charset="0"/>
              </a:rPr>
              <a:t>Data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structures</a:t>
            </a:r>
          </a:p>
          <a:p>
            <a:pPr lvl="1"/>
            <a:r>
              <a:rPr kumimoji="0" lang="en-US" altLang="zh-CN" dirty="0">
                <a:latin typeface="Times New Roman" charset="0"/>
              </a:rPr>
              <a:t>Algorithms</a:t>
            </a:r>
          </a:p>
        </p:txBody>
      </p:sp>
      <p:pic>
        <p:nvPicPr>
          <p:cNvPr id="17411" name="Picture 4" descr="C:\sahni\clip\rad\CE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060014"/>
      </p:ext>
    </p:extLst>
  </p:cSld>
  <p:clrMapOvr>
    <a:masterClrMapping/>
  </p:clrMapOvr>
  <p:transition>
    <p:sndAc>
      <p:stSnd>
        <p:snd r:embed="rId2" name="drumroll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  <a:noFill/>
        </p:spPr>
        <p:txBody>
          <a:bodyPr/>
          <a:lstStyle/>
          <a:p>
            <a:r>
              <a:rPr kumimoji="0" lang="en-US" altLang="zh-CN" dirty="0">
                <a:latin typeface="Times New Roman" charset="0"/>
              </a:rPr>
              <a:t>How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The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Course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is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Organized</a:t>
            </a:r>
          </a:p>
        </p:txBody>
      </p:sp>
      <p:pic>
        <p:nvPicPr>
          <p:cNvPr id="17411" name="Picture 4" descr="C:\sahni\clip\rad\CE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458200" cy="3591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947" tIns="56473" rIns="112947" bIns="56473">
            <a:spAutoFit/>
          </a:bodyPr>
          <a:lstStyle>
            <a:lvl1pPr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1pPr>
            <a:lvl2pPr marL="742950" indent="-28575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2pPr>
            <a:lvl3pPr marL="11430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3pPr>
            <a:lvl4pPr marL="16002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4pPr>
            <a:lvl5pPr marL="20574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9pPr>
          </a:lstStyle>
          <a:p>
            <a:pPr marL="457200" lvl="1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Introduction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(4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class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hours: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Instructor)</a:t>
            </a:r>
          </a:p>
          <a:p>
            <a:pPr marL="1200150" lvl="1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Arial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for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projects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1,2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(Week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1)</a:t>
            </a:r>
          </a:p>
          <a:p>
            <a:pPr marL="1200150" lvl="1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Arial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for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projects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3,4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(Week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2)</a:t>
            </a:r>
          </a:p>
          <a:p>
            <a:pPr marL="1200150" lvl="1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Arial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Necessary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knowledges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Project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Programming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(24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class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hours)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Presentation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(4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class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hours,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Week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 smtClean="0">
                <a:solidFill>
                  <a:schemeClr val="bg2"/>
                </a:solidFill>
                <a:ea typeface="Times New Roman" charset="0"/>
                <a:cs typeface="Times New Roman" charset="0"/>
              </a:rPr>
              <a:t>8)</a:t>
            </a:r>
            <a:endParaRPr lang="en-US" altLang="zh-CN" sz="2800" dirty="0">
              <a:solidFill>
                <a:schemeClr val="bg2"/>
              </a:solidFill>
              <a:ea typeface="Times New Roman" charset="0"/>
              <a:cs typeface="Times New Roman" charset="0"/>
            </a:endParaRPr>
          </a:p>
          <a:p>
            <a:pPr marL="457200" indent="-457200" eaLnBrk="1" hangingPunct="1">
              <a:spcBef>
                <a:spcPts val="6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sz="2800" dirty="0" smtClean="0">
                <a:solidFill>
                  <a:schemeClr val="bg2"/>
                </a:solidFill>
                <a:ea typeface="Times New Roman" charset="0"/>
                <a:cs typeface="Times New Roman" charset="0"/>
              </a:rPr>
              <a:t>Project</a:t>
            </a:r>
            <a:r>
              <a:rPr lang="zh-CN" altLang="en-US" sz="2800" dirty="0" smtClean="0">
                <a:solidFill>
                  <a:schemeClr val="bg2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report</a:t>
            </a:r>
            <a:r>
              <a:rPr lang="zh-CN" altLang="en-US" sz="2800" dirty="0">
                <a:solidFill>
                  <a:schemeClr val="bg2"/>
                </a:solidFill>
                <a:ea typeface="Times New Roman" charset="0"/>
                <a:cs typeface="Times New Roman" charset="0"/>
              </a:rPr>
              <a:t>  </a:t>
            </a:r>
            <a:r>
              <a:rPr lang="en-US" altLang="zh-CN" sz="2800" dirty="0" smtClean="0">
                <a:solidFill>
                  <a:schemeClr val="bg2"/>
                </a:solidFill>
                <a:ea typeface="Times New Roman" charset="0"/>
                <a:cs typeface="Times New Roman" charset="0"/>
              </a:rPr>
              <a:t>(e-version)</a:t>
            </a:r>
            <a:r>
              <a:rPr lang="zh-CN" altLang="en-US" sz="2800" dirty="0" smtClean="0">
                <a:solidFill>
                  <a:schemeClr val="bg2"/>
                </a:solidFill>
                <a:ea typeface="Times New Roman" charset="0"/>
                <a:cs typeface="Times New Roman" charset="0"/>
              </a:rPr>
              <a:t>                 </a:t>
            </a:r>
            <a:endParaRPr lang="en-US" altLang="zh-CN" sz="2800" dirty="0">
              <a:solidFill>
                <a:schemeClr val="bg2"/>
              </a:solidFill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33925"/>
      </p:ext>
    </p:extLst>
  </p:cSld>
  <p:clrMapOvr>
    <a:masterClrMapping/>
  </p:clrMapOvr>
  <p:transition>
    <p:sndAc>
      <p:stSnd>
        <p:snd r:embed="rId2" name="drumroll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D758B8F-5F72-E84A-AE85-2D7B8DB1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Venues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310CBA3-FADE-D74D-A288-0467DBFD5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1-2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Tuesday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Room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529,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1-2</a:t>
            </a:r>
            <a:endParaRPr lang="en-US" altLang="zh-CN" dirty="0"/>
          </a:p>
          <a:p>
            <a:r>
              <a:rPr kumimoji="1" lang="en-US" altLang="zh-CN" dirty="0"/>
              <a:t>Week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1-8,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Tuesday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Room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529,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11-13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(18:30 – 20:55)</a:t>
            </a:r>
          </a:p>
          <a:p>
            <a:r>
              <a:rPr kumimoji="1" lang="en-US" altLang="zh-CN" dirty="0"/>
              <a:t>Week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8,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FF0000"/>
                </a:solidFill>
              </a:rPr>
              <a:t>aturday</a:t>
            </a:r>
            <a:r>
              <a:rPr lang="zh-CN" altLang="en-US" dirty="0"/>
              <a:t> </a:t>
            </a:r>
            <a:r>
              <a:rPr lang="en-US" altLang="zh-CN" dirty="0" smtClean="0"/>
              <a:t>6-9,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 Room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529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54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  <a:noFill/>
        </p:spPr>
        <p:txBody>
          <a:bodyPr/>
          <a:lstStyle/>
          <a:p>
            <a:r>
              <a:rPr kumimoji="0" lang="en-US" altLang="zh-CN" dirty="0">
                <a:latin typeface="Times New Roman" charset="0"/>
              </a:rPr>
              <a:t>Evaluation</a:t>
            </a:r>
          </a:p>
        </p:txBody>
      </p:sp>
      <p:pic>
        <p:nvPicPr>
          <p:cNvPr id="17411" name="Picture 4" descr="C:\sahni\clip\rad\CE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001000" cy="454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1pPr>
            <a:lvl2pPr marL="742950" indent="-28575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2pPr>
            <a:lvl3pPr marL="11430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3pPr>
            <a:lvl4pPr marL="16002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4pPr>
            <a:lvl5pPr marL="20574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9pPr>
          </a:lstStyle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Scores:</a:t>
            </a: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cs typeface="Times New Roman" charset="0"/>
              </a:rPr>
              <a:t>*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Representations:       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50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%</a:t>
            </a: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cs typeface="Times New Roman" charset="0"/>
              </a:rPr>
              <a:t>*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Project Reports:          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50%</a:t>
            </a: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cs typeface="Times New Roman" charset="0"/>
              </a:rPr>
              <a:t>*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Random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Checkpoint: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  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30%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(optional)  </a:t>
            </a: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10917"/>
      </p:ext>
    </p:extLst>
  </p:cSld>
  <p:clrMapOvr>
    <a:masterClrMapping/>
  </p:clrMapOvr>
  <p:transition>
    <p:sndAc>
      <p:stSnd>
        <p:snd r:embed="rId3" name="drumroll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  <a:noFill/>
        </p:spPr>
        <p:txBody>
          <a:bodyPr/>
          <a:lstStyle/>
          <a:p>
            <a:r>
              <a:rPr kumimoji="0" lang="en-US" altLang="zh-CN" dirty="0">
                <a:latin typeface="Times New Roman" charset="0"/>
              </a:rPr>
              <a:t>Evaluation</a:t>
            </a:r>
          </a:p>
        </p:txBody>
      </p:sp>
      <p:pic>
        <p:nvPicPr>
          <p:cNvPr id="17411" name="Picture 4" descr="C:\sahni\clip\rad\CE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001000" cy="5333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1pPr>
            <a:lvl2pPr marL="742950" indent="-28575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2pPr>
            <a:lvl3pPr marL="11430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3pPr>
            <a:lvl4pPr marL="16002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4pPr>
            <a:lvl5pPr marL="20574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9pPr>
          </a:lstStyle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*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Representations: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about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mins</a:t>
            </a: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   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Selected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Issues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(Tuesday,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week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8)</a:t>
            </a: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cs typeface="Times New Roman" charset="0"/>
              </a:rPr>
              <a:t>*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Project Reports: </a:t>
            </a:r>
            <a:endParaRPr lang="en-US" altLang="zh-CN" dirty="0" smtClean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  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About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all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you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did,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projects</a:t>
            </a:r>
            <a:endParaRPr lang="en-US" altLang="zh-CN" dirty="0" smtClean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*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Random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Checkpoints</a:t>
            </a: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   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Several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selected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students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(in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529)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eaLnBrk="1" hangingPunct="1">
              <a:spcBef>
                <a:spcPct val="60000"/>
              </a:spcBef>
              <a:buClr>
                <a:schemeClr val="hlink"/>
              </a:buClr>
              <a:buSzPct val="50000"/>
              <a:buFont typeface="Monotype Sorts" charset="0"/>
              <a:buNone/>
            </a:pP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**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Register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your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location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if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not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in</a:t>
            </a:r>
            <a:r>
              <a:rPr lang="zh-CN" altLang="en-US" dirty="0" smtClean="0">
                <a:solidFill>
                  <a:srgbClr val="FF0000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cs typeface="Times New Roman" charset="0"/>
              </a:rPr>
              <a:t>529</a:t>
            </a:r>
            <a:endParaRPr lang="en-US" altLang="zh-CN" dirty="0">
              <a:solidFill>
                <a:srgbClr val="FF0000"/>
              </a:solidFill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035072"/>
      </p:ext>
    </p:extLst>
  </p:cSld>
  <p:clrMapOvr>
    <a:masterClrMapping/>
  </p:clrMapOvr>
  <p:transition>
    <p:sndAc>
      <p:stSnd>
        <p:snd r:embed="rId3" name="drumroll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  <a:noFill/>
        </p:spPr>
        <p:txBody>
          <a:bodyPr/>
          <a:lstStyle/>
          <a:p>
            <a:r>
              <a:rPr kumimoji="0" lang="en-US" altLang="zh-CN" dirty="0">
                <a:latin typeface="Times New Roman" charset="0"/>
              </a:rPr>
              <a:t>The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Project</a:t>
            </a:r>
            <a:r>
              <a:rPr kumimoji="0" lang="zh-CN" altLang="en-US" dirty="0">
                <a:latin typeface="Times New Roman" charset="0"/>
              </a:rPr>
              <a:t> </a:t>
            </a:r>
            <a:r>
              <a:rPr kumimoji="0" lang="en-US" altLang="zh-CN" dirty="0">
                <a:latin typeface="Times New Roman" charset="0"/>
              </a:rPr>
              <a:t>Report</a:t>
            </a:r>
          </a:p>
        </p:txBody>
      </p:sp>
      <p:pic>
        <p:nvPicPr>
          <p:cNvPr id="17411" name="Picture 4" descr="C:\sahni\clip\rad\CE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25" y="0"/>
            <a:ext cx="1336675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5800" y="1371600"/>
            <a:ext cx="8001000" cy="3758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1pPr>
            <a:lvl2pPr marL="742950" indent="-28575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2pPr>
            <a:lvl3pPr marL="11430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3pPr>
            <a:lvl4pPr marL="16002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4pPr>
            <a:lvl5pPr marL="2057400" indent="-228600" defTabSz="1128713"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5pPr>
            <a:lvl6pPr marL="25146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6pPr>
            <a:lvl7pPr marL="29718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7pPr>
            <a:lvl8pPr marL="34290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8pPr>
            <a:lvl9pPr marL="3886200" indent="-228600" defTabSz="112871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charset="0"/>
                <a:ea typeface="隶书" charset="0"/>
                <a:cs typeface="隶书" charset="0"/>
              </a:defRPr>
            </a:lvl9pPr>
          </a:lstStyle>
          <a:p>
            <a:pPr marL="457200" indent="-457200" eaLnBrk="1" hangingPunct="1">
              <a:spcBef>
                <a:spcPct val="600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One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report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per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project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In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one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file:</a:t>
            </a:r>
          </a:p>
          <a:p>
            <a:pPr marL="1200150" lvl="1" indent="-457200" eaLnBrk="1" hangingPunct="1">
              <a:spcBef>
                <a:spcPct val="600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MS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Word: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   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.doc; </a:t>
            </a:r>
            <a:endParaRPr lang="en-US" altLang="zh-CN" dirty="0" smtClean="0">
              <a:solidFill>
                <a:schemeClr val="bg2"/>
              </a:solidFill>
              <a:cs typeface="Times New Roman" charset="0"/>
            </a:endParaRPr>
          </a:p>
          <a:p>
            <a:pPr marL="1200150" lvl="1" indent="-457200" eaLnBrk="1" hangingPunct="1">
              <a:spcBef>
                <a:spcPct val="600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Latex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: 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      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.</a:t>
            </a:r>
            <a:r>
              <a:rPr lang="en-US" altLang="zh-CN" dirty="0" err="1" smtClean="0">
                <a:solidFill>
                  <a:schemeClr val="bg2"/>
                </a:solidFill>
                <a:cs typeface="Times New Roman" charset="0"/>
              </a:rPr>
              <a:t>tex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.</a:t>
            </a:r>
            <a:r>
              <a:rPr lang="en-US" altLang="zh-CN" dirty="0" err="1" smtClean="0">
                <a:solidFill>
                  <a:schemeClr val="bg2"/>
                </a:solidFill>
                <a:cs typeface="Times New Roman" charset="0"/>
              </a:rPr>
              <a:t>png</a:t>
            </a:r>
            <a:r>
              <a:rPr lang="zh-CN" altLang="en-US" dirty="0" smtClean="0">
                <a:solidFill>
                  <a:schemeClr val="bg2"/>
                </a:solidFill>
                <a:cs typeface="Times New Roman" charset="0"/>
              </a:rPr>
              <a:t>  </a:t>
            </a:r>
            <a:r>
              <a:rPr lang="en-US" altLang="zh-CN" dirty="0" smtClean="0">
                <a:solidFill>
                  <a:schemeClr val="bg2"/>
                </a:solidFill>
                <a:cs typeface="Times New Roman" charset="0"/>
              </a:rPr>
              <a:t>.pdf</a:t>
            </a:r>
            <a:endParaRPr lang="en-US" altLang="zh-CN" dirty="0">
              <a:solidFill>
                <a:schemeClr val="bg2"/>
              </a:solidFill>
              <a:cs typeface="Times New Roman" charset="0"/>
            </a:endParaRPr>
          </a:p>
          <a:p>
            <a:pPr marL="457200" indent="-457200" eaLnBrk="1" hangingPunct="1">
              <a:spcBef>
                <a:spcPct val="60000"/>
              </a:spcBef>
              <a:buClr>
                <a:schemeClr val="hlink"/>
              </a:buClr>
              <a:buSzPct val="80000"/>
              <a:buFont typeface="Wingdings" charset="2"/>
              <a:buChar char="ü"/>
            </a:pP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About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ALL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the</a:t>
            </a:r>
            <a:r>
              <a:rPr lang="zh-CN" altLang="en-US" dirty="0">
                <a:solidFill>
                  <a:schemeClr val="bg2"/>
                </a:solidFill>
                <a:cs typeface="Times New Roman" charset="0"/>
              </a:rPr>
              <a:t> </a:t>
            </a:r>
            <a:r>
              <a:rPr lang="en-US" altLang="zh-CN" dirty="0">
                <a:solidFill>
                  <a:schemeClr val="bg2"/>
                </a:solidFill>
                <a:cs typeface="Times New Roman" charset="0"/>
              </a:rPr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89020830"/>
      </p:ext>
    </p:extLst>
  </p:cSld>
  <p:clrMapOvr>
    <a:masterClrMapping/>
  </p:clrMapOvr>
  <p:transition>
    <p:sndAc>
      <p:stSnd>
        <p:snd r:embed="rId2" name="drumroll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438151" y="1428751"/>
            <a:ext cx="8267697" cy="76194"/>
          </a:xfrm>
          <a:custGeom>
            <a:avLst/>
            <a:gdLst>
              <a:gd name="connsiteX0" fmla="*/ 19048 w 8267697"/>
              <a:gd name="connsiteY0" fmla="*/ 19048 h 76194"/>
              <a:gd name="connsiteX1" fmla="*/ 8248648 w 8267697"/>
              <a:gd name="connsiteY1" fmla="*/ 20318 h 7619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267697" h="76194">
                <a:moveTo>
                  <a:pt x="19048" y="19048"/>
                </a:moveTo>
                <a:lnTo>
                  <a:pt x="8248648" y="20318"/>
                </a:lnTo>
              </a:path>
            </a:pathLst>
          </a:custGeom>
          <a:ln w="38100">
            <a:solidFill>
              <a:srgbClr val="99CC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946400" y="584200"/>
            <a:ext cx="3494546" cy="67454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900"/>
              </a:lnSpc>
              <a:tabLst/>
            </a:pPr>
            <a:r>
              <a:rPr lang="en-US" altLang="zh-CN" sz="4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zh-CN" altLang="en-US" sz="4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Reports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914400" y="1674952"/>
            <a:ext cx="7791448" cy="5198859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zh-CN" sz="2000" b="1" dirty="0">
                <a:solidFill>
                  <a:schemeClr val="tx1"/>
                </a:solidFill>
              </a:rPr>
              <a:t>．</a:t>
            </a:r>
            <a:r>
              <a:rPr lang="zh-CN" altLang="zh-CN" sz="2400" b="1" dirty="0">
                <a:solidFill>
                  <a:schemeClr val="tx1"/>
                </a:solidFill>
              </a:rPr>
              <a:t>问题描述</a:t>
            </a:r>
            <a:r>
              <a:rPr lang="en-US" altLang="zh-CN" sz="2400" b="1" dirty="0">
                <a:solidFill>
                  <a:schemeClr val="tx1"/>
                </a:solidFill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</a:rPr>
              <a:t>需求分析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            </a:t>
            </a:r>
            <a:r>
              <a:rPr lang="zh-CN" altLang="zh-CN" sz="2000" dirty="0">
                <a:solidFill>
                  <a:schemeClr val="tx1"/>
                </a:solidFill>
              </a:rPr>
              <a:t>仔细分析实验要求，对实验内容进行需求分析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r>
              <a:rPr lang="zh-CN" altLang="zh-CN" sz="2000" b="1" dirty="0">
                <a:solidFill>
                  <a:schemeClr val="tx1"/>
                </a:solidFill>
              </a:rPr>
              <a:t>．</a:t>
            </a:r>
            <a:r>
              <a:rPr lang="zh-CN" altLang="en-US" sz="2400" b="1" dirty="0">
                <a:solidFill>
                  <a:schemeClr val="tx1"/>
                </a:solidFill>
              </a:rPr>
              <a:t>系统结构</a:t>
            </a:r>
            <a:r>
              <a:rPr lang="en-US" altLang="zh-CN" sz="2400" b="1" dirty="0">
                <a:solidFill>
                  <a:schemeClr val="tx1"/>
                </a:solidFill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</a:rPr>
              <a:t>算法思想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            基本思路，系统框架，</a:t>
            </a:r>
            <a:r>
              <a:rPr lang="zh-CN" altLang="zh-CN" sz="2000" dirty="0">
                <a:solidFill>
                  <a:schemeClr val="tx1"/>
                </a:solidFill>
              </a:rPr>
              <a:t>描述</a:t>
            </a:r>
            <a:r>
              <a:rPr lang="zh-CN" altLang="en-US" sz="2000" dirty="0">
                <a:solidFill>
                  <a:schemeClr val="tx1"/>
                </a:solidFill>
              </a:rPr>
              <a:t>各模块功能及其关系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3</a:t>
            </a:r>
            <a:r>
              <a:rPr lang="zh-CN" altLang="zh-CN" sz="2000" b="1" dirty="0">
                <a:solidFill>
                  <a:schemeClr val="tx1"/>
                </a:solidFill>
              </a:rPr>
              <a:t>．</a:t>
            </a:r>
            <a:r>
              <a:rPr lang="zh-CN" altLang="en-US" sz="2400" b="1" dirty="0">
                <a:solidFill>
                  <a:schemeClr val="tx1"/>
                </a:solidFill>
              </a:rPr>
              <a:t>功能模块设计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            模块设计思想、流程图、算法复杂度分析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4</a:t>
            </a:r>
            <a:r>
              <a:rPr lang="zh-CN" altLang="zh-CN" sz="2000" b="1" dirty="0">
                <a:solidFill>
                  <a:schemeClr val="tx1"/>
                </a:solidFill>
              </a:rPr>
              <a:t>．</a:t>
            </a:r>
            <a:r>
              <a:rPr lang="zh-CN" altLang="zh-CN" sz="2400" b="1" dirty="0">
                <a:solidFill>
                  <a:schemeClr val="tx1"/>
                </a:solidFill>
              </a:rPr>
              <a:t>测试</a:t>
            </a:r>
            <a:r>
              <a:rPr lang="zh-CN" altLang="en-US" sz="2400" b="1" dirty="0">
                <a:solidFill>
                  <a:schemeClr val="tx1"/>
                </a:solidFill>
              </a:rPr>
              <a:t>结果与分析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            </a:t>
            </a:r>
            <a:r>
              <a:rPr lang="zh-CN" altLang="zh-CN" sz="2000" dirty="0">
                <a:solidFill>
                  <a:schemeClr val="tx1"/>
                </a:solidFill>
              </a:rPr>
              <a:t>测试数据</a:t>
            </a:r>
            <a:r>
              <a:rPr lang="zh-CN" altLang="en-US" sz="2000" dirty="0">
                <a:solidFill>
                  <a:schemeClr val="tx1"/>
                </a:solidFill>
              </a:rPr>
              <a:t>选择或生成办法，</a:t>
            </a:r>
            <a:r>
              <a:rPr lang="zh-CN" altLang="zh-CN" sz="2000" dirty="0">
                <a:solidFill>
                  <a:schemeClr val="tx1"/>
                </a:solidFill>
              </a:rPr>
              <a:t>运行结果</a:t>
            </a:r>
            <a:r>
              <a:rPr lang="zh-CN" altLang="en-US" sz="2000" dirty="0">
                <a:solidFill>
                  <a:schemeClr val="tx1"/>
                </a:solidFill>
              </a:rPr>
              <a:t>截图</a:t>
            </a:r>
            <a:r>
              <a:rPr lang="zh-CN" altLang="zh-CN" sz="2000" dirty="0">
                <a:solidFill>
                  <a:schemeClr val="tx1"/>
                </a:solidFill>
              </a:rPr>
              <a:t>，</a:t>
            </a:r>
            <a:r>
              <a:rPr lang="zh-CN" altLang="en-US" sz="2000" dirty="0">
                <a:solidFill>
                  <a:schemeClr val="tx1"/>
                </a:solidFill>
              </a:rPr>
              <a:t>性能图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5</a:t>
            </a:r>
            <a:r>
              <a:rPr lang="zh-CN" altLang="zh-CN" sz="2000" b="1" dirty="0">
                <a:solidFill>
                  <a:schemeClr val="tx1"/>
                </a:solidFill>
              </a:rPr>
              <a:t>．</a:t>
            </a:r>
            <a:r>
              <a:rPr lang="zh-CN" altLang="zh-CN" sz="2400" b="1" dirty="0">
                <a:solidFill>
                  <a:schemeClr val="tx1"/>
                </a:solidFill>
              </a:rPr>
              <a:t>实验总结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            </a:t>
            </a:r>
            <a:r>
              <a:rPr lang="zh-CN" altLang="zh-CN" sz="2000" dirty="0">
                <a:solidFill>
                  <a:schemeClr val="tx1"/>
                </a:solidFill>
              </a:rPr>
              <a:t>遇到的问题，问题的解决过程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zh-CN" altLang="zh-CN" sz="2000" dirty="0">
                <a:solidFill>
                  <a:schemeClr val="tx1"/>
                </a:solidFill>
              </a:rPr>
              <a:t>总结实验心得体会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6. </a:t>
            </a:r>
            <a:r>
              <a:rPr lang="zh-CN" altLang="en-US" sz="2000" b="1" dirty="0">
                <a:solidFill>
                  <a:schemeClr val="tx1"/>
                </a:solidFill>
              </a:rPr>
              <a:t>  </a:t>
            </a:r>
            <a:r>
              <a:rPr lang="zh-CN" altLang="zh-CN" sz="2400" b="1" dirty="0">
                <a:solidFill>
                  <a:schemeClr val="tx1"/>
                </a:solidFill>
              </a:rPr>
              <a:t>源代码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            </a:t>
            </a:r>
            <a:r>
              <a:rPr lang="zh-CN" altLang="zh-CN" sz="2000" dirty="0">
                <a:solidFill>
                  <a:schemeClr val="tx1"/>
                </a:solidFill>
              </a:rPr>
              <a:t>项目所有源程序清单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zh-CN" altLang="zh-CN" sz="2000" dirty="0">
                <a:solidFill>
                  <a:schemeClr val="tx1"/>
                </a:solidFill>
              </a:rPr>
              <a:t>应有充分的</a:t>
            </a:r>
            <a:r>
              <a:rPr lang="zh-CN" altLang="zh-CN" sz="2000" dirty="0" smtClean="0">
                <a:solidFill>
                  <a:schemeClr val="tx1"/>
                </a:solidFill>
              </a:rPr>
              <a:t>注释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           </a:t>
            </a:r>
            <a:r>
              <a:rPr lang="zh-CN" altLang="en-US" sz="2000" dirty="0" smtClean="0">
                <a:solidFill>
                  <a:srgbClr val="FF0000"/>
                </a:solidFill>
              </a:rPr>
              <a:t>不要</a:t>
            </a:r>
            <a:r>
              <a:rPr lang="en-US" altLang="zh-CN" sz="2000" dirty="0" smtClean="0">
                <a:solidFill>
                  <a:srgbClr val="FF0000"/>
                </a:solidFill>
              </a:rPr>
              <a:t>C++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projects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 </a:t>
            </a:r>
            <a:endParaRPr lang="zh-CN" altLang="zh-CN" sz="2000" dirty="0">
              <a:solidFill>
                <a:schemeClr val="tx1"/>
              </a:solidFill>
            </a:endParaRPr>
          </a:p>
          <a:p>
            <a:pPr>
              <a:lnSpc>
                <a:spcPts val="3700"/>
              </a:lnSpc>
              <a:tabLst/>
            </a:pPr>
            <a:endParaRPr lang="en-US" altLang="zh-C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47116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0000FF"/>
      </a:lt1>
      <a:dk2>
        <a:srgbClr val="000099"/>
      </a:dk2>
      <a:lt2>
        <a:srgbClr val="000000"/>
      </a:lt2>
      <a:accent1>
        <a:srgbClr val="FF9900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14721</TotalTime>
  <Words>389</Words>
  <Application>Microsoft Macintosh PowerPoint</Application>
  <PresentationFormat>全屏显示(4:3)</PresentationFormat>
  <Paragraphs>75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Monotype Sorts</vt:lpstr>
      <vt:lpstr>Times New Roman</vt:lpstr>
      <vt:lpstr>Wingdings</vt:lpstr>
      <vt:lpstr>隶书</vt:lpstr>
      <vt:lpstr>宋体</vt:lpstr>
      <vt:lpstr>Arial</vt:lpstr>
      <vt:lpstr>Blank Presentation</vt:lpstr>
      <vt:lpstr>PowerPoint 演示文稿</vt:lpstr>
      <vt:lpstr>About me</vt:lpstr>
      <vt:lpstr>Prerequisites</vt:lpstr>
      <vt:lpstr>What The Course Is About</vt:lpstr>
      <vt:lpstr>How The Course is Organized</vt:lpstr>
      <vt:lpstr>Venues</vt:lpstr>
      <vt:lpstr>Evaluation</vt:lpstr>
      <vt:lpstr>Evaluation</vt:lpstr>
      <vt:lpstr>The Project Report</vt:lpstr>
      <vt:lpstr>PowerPoint 演示文稿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 Methods</dc:title>
  <dc:creator>Preferred Customer</dc:creator>
  <cp:lastModifiedBy>Microsoft Office 用户</cp:lastModifiedBy>
  <cp:revision>410</cp:revision>
  <cp:lastPrinted>2019-04-22T02:30:17Z</cp:lastPrinted>
  <dcterms:created xsi:type="dcterms:W3CDTF">1995-06-17T23:31:02Z</dcterms:created>
  <dcterms:modified xsi:type="dcterms:W3CDTF">2024-09-23T15:41:08Z</dcterms:modified>
</cp:coreProperties>
</file>