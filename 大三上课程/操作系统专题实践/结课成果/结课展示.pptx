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操作系统专题实践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环境部署、</a:t>
            </a:r>
            <a:r>
              <a:rPr lang="en-US" altLang="zh-CN"/>
              <a:t>xv6</a:t>
            </a:r>
            <a:r>
              <a:rPr lang="zh-CN" altLang="en-US"/>
              <a:t>下载</a:t>
            </a:r>
            <a:r>
              <a:rPr lang="zh-CN" altLang="en-US"/>
              <a:t>编译运行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rcRect r="8781"/>
          <a:stretch>
            <a:fillRect/>
          </a:stretch>
        </p:blipFill>
        <p:spPr>
          <a:xfrm>
            <a:off x="359410" y="1981835"/>
            <a:ext cx="5224145" cy="3217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30935" y="6443345"/>
            <a:ext cx="6911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https://blog.csdn.net/weixin_52553215/article/details/130956910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46100" y="1519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环境部署</a:t>
            </a:r>
            <a:r>
              <a:rPr lang="en-US" altLang="zh-CN"/>
              <a:t>——</a:t>
            </a:r>
            <a:r>
              <a:rPr lang="zh-CN" altLang="en-US"/>
              <a:t>安装</a:t>
            </a:r>
            <a:r>
              <a:rPr lang="en-US" altLang="zh-CN"/>
              <a:t>qemu</a:t>
            </a:r>
            <a:r>
              <a:rPr lang="zh-CN" altLang="en-US"/>
              <a:t>、</a:t>
            </a:r>
            <a:r>
              <a:rPr lang="zh-CN" altLang="en-US"/>
              <a:t>工具链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111365" y="1519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xv6</a:t>
            </a:r>
            <a:r>
              <a:rPr lang="zh-CN" altLang="en-US"/>
              <a:t>下载</a:t>
            </a:r>
            <a:r>
              <a:rPr lang="zh-CN" altLang="en-US"/>
              <a:t>编译运行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835" y="1981835"/>
            <a:ext cx="5684520" cy="3193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初始化输出</a:t>
            </a:r>
            <a:r>
              <a:rPr lang="en-US" altLang="zh-CN"/>
              <a:t>hello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377190" y="1366520"/>
            <a:ext cx="5931535" cy="468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spcBef>
                <a:spcPts val="300"/>
              </a:spcBef>
              <a:spcAft>
                <a:spcPts val="600"/>
              </a:spcAft>
            </a:pPr>
            <a:r>
              <a:rPr lang="en-US" altLang="zh-CN"/>
              <a:t>entry.S</a:t>
            </a:r>
            <a:r>
              <a:rPr lang="zh-CN" altLang="en-US"/>
              <a:t>：启动引导代码、设置堆栈指针、</a:t>
            </a:r>
            <a:endParaRPr lang="zh-CN" altLang="en-US"/>
          </a:p>
          <a:p>
            <a:pPr marL="457200" lvl="1" indent="457200" fontAlgn="auto">
              <a:spcBef>
                <a:spcPts val="300"/>
              </a:spcBef>
              <a:spcAft>
                <a:spcPts val="600"/>
              </a:spcAft>
            </a:pPr>
            <a:r>
              <a:rPr lang="zh-CN" altLang="en-US"/>
              <a:t>配置异常向量表、跳转到</a:t>
            </a:r>
            <a:r>
              <a:rPr lang="en-US" altLang="zh-CN"/>
              <a:t> C </a:t>
            </a:r>
            <a:r>
              <a:rPr lang="zh-CN" altLang="en-US"/>
              <a:t>语言启动函数</a:t>
            </a:r>
            <a:endParaRPr lang="zh-CN" altLang="en-US"/>
          </a:p>
          <a:p>
            <a:pPr indent="0" fontAlgn="auto">
              <a:spcBef>
                <a:spcPts val="300"/>
              </a:spcBef>
              <a:spcAft>
                <a:spcPts val="600"/>
              </a:spcAft>
            </a:pPr>
            <a:r>
              <a:rPr lang="en-US" altLang="zh-CN"/>
              <a:t>start.c</a:t>
            </a:r>
            <a:r>
              <a:rPr lang="zh-CN" altLang="en-US"/>
              <a:t>：</a:t>
            </a:r>
            <a:r>
              <a:rPr lang="en-US" altLang="zh-CN"/>
              <a:t>C </a:t>
            </a:r>
            <a:r>
              <a:rPr lang="zh-CN" altLang="en-US"/>
              <a:t>语言级启动函数、内核初始化准备、</a:t>
            </a:r>
            <a:endParaRPr lang="zh-CN" altLang="en-US"/>
          </a:p>
          <a:p>
            <a:pPr marL="457200" lvl="1" indent="457200" fontAlgn="auto">
              <a:spcBef>
                <a:spcPts val="300"/>
              </a:spcBef>
              <a:spcAft>
                <a:spcPts val="600"/>
              </a:spcAft>
            </a:pPr>
            <a:r>
              <a:rPr lang="zh-CN" altLang="en-US"/>
              <a:t>调用内核主函数</a:t>
            </a:r>
            <a:endParaRPr lang="zh-CN" altLang="en-US"/>
          </a:p>
          <a:p>
            <a:pPr indent="0" fontAlgn="auto">
              <a:spcBef>
                <a:spcPts val="300"/>
              </a:spcBef>
              <a:spcAft>
                <a:spcPts val="600"/>
              </a:spcAft>
            </a:pPr>
            <a:r>
              <a:rPr lang="en-US" altLang="zh-CN"/>
              <a:t>main.c</a:t>
            </a:r>
            <a:r>
              <a:rPr lang="zh-CN" altLang="en-US"/>
              <a:t>：内核主函数核心入口点、</a:t>
            </a:r>
            <a:endParaRPr lang="zh-CN" altLang="en-US"/>
          </a:p>
          <a:p>
            <a:pPr marL="457200" lvl="1" indent="457200" fontAlgn="auto">
              <a:spcBef>
                <a:spcPts val="300"/>
              </a:spcBef>
              <a:spcAft>
                <a:spcPts val="600"/>
              </a:spcAft>
            </a:pPr>
            <a:r>
              <a:rPr lang="zh-CN" altLang="en-US"/>
              <a:t>内存进程</a:t>
            </a:r>
            <a:r>
              <a:rPr lang="zh-CN" altLang="en-US"/>
              <a:t>硬件管理初始化</a:t>
            </a:r>
            <a:endParaRPr lang="zh-CN" altLang="en-US"/>
          </a:p>
          <a:p>
            <a:pPr indent="0" fontAlgn="auto">
              <a:spcBef>
                <a:spcPts val="300"/>
              </a:spcBef>
              <a:spcAft>
                <a:spcPts val="600"/>
              </a:spcAft>
            </a:pPr>
            <a:r>
              <a:rPr lang="en-US" altLang="zh-CN"/>
              <a:t>printf.c</a:t>
            </a:r>
            <a:r>
              <a:rPr lang="zh-CN" altLang="en-US"/>
              <a:t>：实现内核级</a:t>
            </a:r>
            <a:r>
              <a:rPr lang="en-US" altLang="zh-CN"/>
              <a:t> printf </a:t>
            </a:r>
            <a:r>
              <a:rPr lang="zh-CN" altLang="en-US"/>
              <a:t>函数、解析格式字符串、</a:t>
            </a:r>
            <a:endParaRPr lang="zh-CN" altLang="en-US"/>
          </a:p>
          <a:p>
            <a:pPr marL="457200" lvl="1" indent="457200" fontAlgn="auto">
              <a:spcBef>
                <a:spcPts val="300"/>
              </a:spcBef>
              <a:spcAft>
                <a:spcPts val="600"/>
              </a:spcAft>
            </a:pPr>
            <a:r>
              <a:rPr lang="zh-CN" altLang="en-US"/>
              <a:t>处理可变参数、调用低级输出函数</a:t>
            </a:r>
            <a:r>
              <a:rPr lang="zh-CN" altLang="en-US"/>
              <a:t>输出</a:t>
            </a:r>
            <a:endParaRPr lang="zh-CN" altLang="en-US"/>
          </a:p>
          <a:p>
            <a:pPr indent="0" fontAlgn="auto">
              <a:spcBef>
                <a:spcPts val="300"/>
              </a:spcBef>
              <a:spcAft>
                <a:spcPts val="600"/>
              </a:spcAft>
            </a:pPr>
            <a:r>
              <a:rPr lang="en-US" altLang="zh-CN"/>
              <a:t>uart.c</a:t>
            </a:r>
            <a:r>
              <a:rPr lang="zh-CN" altLang="en-US"/>
              <a:t>：</a:t>
            </a:r>
            <a:r>
              <a:rPr lang="en-US" altLang="zh-CN"/>
              <a:t>RISC-V </a:t>
            </a:r>
            <a:r>
              <a:rPr lang="zh-CN" altLang="en-US"/>
              <a:t>特定定义和宏、控制状态寄存器访问宏、</a:t>
            </a:r>
            <a:endParaRPr lang="zh-CN" altLang="en-US"/>
          </a:p>
          <a:p>
            <a:pPr marL="457200" lvl="1" indent="457200" fontAlgn="auto">
              <a:spcBef>
                <a:spcPts val="300"/>
              </a:spcBef>
              <a:spcAft>
                <a:spcPts val="600"/>
              </a:spcAft>
            </a:pPr>
            <a:r>
              <a:rPr lang="zh-CN" altLang="en-US"/>
              <a:t>中断和异常处理定义、内存映射寄存器地址</a:t>
            </a:r>
            <a:endParaRPr lang="zh-CN" altLang="en-US"/>
          </a:p>
          <a:p>
            <a:pPr indent="0" fontAlgn="auto">
              <a:spcBef>
                <a:spcPts val="300"/>
              </a:spcBef>
              <a:spcAft>
                <a:spcPts val="600"/>
              </a:spcAft>
            </a:pPr>
            <a:r>
              <a:rPr lang="en-US" altLang="zh-CN"/>
              <a:t>riscv.h</a:t>
            </a:r>
            <a:r>
              <a:rPr lang="zh-CN" altLang="en-US"/>
              <a:t>：</a:t>
            </a:r>
            <a:r>
              <a:rPr lang="en-US" altLang="zh-CN"/>
              <a:t>UART </a:t>
            </a:r>
            <a:r>
              <a:rPr lang="zh-CN" altLang="en-US"/>
              <a:t>驱动实现、初始化</a:t>
            </a:r>
            <a:r>
              <a:rPr lang="en-US" altLang="zh-CN"/>
              <a:t> UART</a:t>
            </a:r>
            <a:r>
              <a:rPr lang="zh-CN" altLang="en-US"/>
              <a:t>、</a:t>
            </a:r>
            <a:endParaRPr lang="zh-CN" altLang="en-US"/>
          </a:p>
          <a:p>
            <a:pPr marL="457200" lvl="1" indent="457200" fontAlgn="auto">
              <a:spcBef>
                <a:spcPts val="300"/>
              </a:spcBef>
              <a:spcAft>
                <a:spcPts val="600"/>
              </a:spcAft>
            </a:pPr>
            <a:r>
              <a:rPr lang="zh-CN" altLang="en-US"/>
              <a:t>发送字符、接收字符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89075" y="6440170"/>
            <a:ext cx="7510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https://th0ar.gitbooks.io/xv6-chinese/content/content/chapter0.html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261735" y="1051560"/>
            <a:ext cx="5775960" cy="3595370"/>
            <a:chOff x="9861" y="1656"/>
            <a:chExt cx="9096" cy="566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869" y="1656"/>
              <a:ext cx="9088" cy="5662"/>
            </a:xfrm>
            <a:prstGeom prst="rect">
              <a:avLst/>
            </a:prstGeom>
          </p:spPr>
        </p:pic>
        <p:sp>
          <p:nvSpPr>
            <p:cNvPr id="7" name="图文框 6"/>
            <p:cNvSpPr/>
            <p:nvPr/>
          </p:nvSpPr>
          <p:spPr>
            <a:xfrm>
              <a:off x="9861" y="5682"/>
              <a:ext cx="2504" cy="301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</a:t>
            </a:r>
            <a:r>
              <a:rPr lang="zh-CN" altLang="en-US"/>
              <a:t>号</a:t>
            </a:r>
            <a:r>
              <a:rPr lang="zh-CN" altLang="en-US"/>
              <a:t>进程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58215" y="1358900"/>
            <a:ext cx="9858375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proc.c </a:t>
            </a:r>
            <a:endParaRPr lang="zh-CN" altLang="en-US"/>
          </a:p>
          <a:p>
            <a:r>
              <a:rPr lang="zh-CN" altLang="en-US"/>
              <a:t>进程表与系统初始化：进程表管理、初始化进程结构体和</a:t>
            </a:r>
            <a:r>
              <a:rPr lang="zh-CN" altLang="en-US"/>
              <a:t>锁</a:t>
            </a:r>
            <a:endParaRPr lang="zh-CN" altLang="en-US"/>
          </a:p>
          <a:p>
            <a:r>
              <a:rPr lang="zh-CN" altLang="en-US"/>
              <a:t>调度器：无限循环将</a:t>
            </a:r>
            <a:r>
              <a:rPr lang="en-US" altLang="zh-CN"/>
              <a:t>CPU</a:t>
            </a:r>
            <a:r>
              <a:rPr lang="zh-CN" altLang="en-US"/>
              <a:t>资源分配给</a:t>
            </a:r>
            <a:r>
              <a:rPr lang="en-US" altLang="zh-CN"/>
              <a:t>RUNNABLE</a:t>
            </a:r>
            <a:r>
              <a:rPr lang="zh-CN" altLang="en-US"/>
              <a:t>进程、进程选择与切换、循环与持续调度</a:t>
            </a:r>
            <a:endParaRPr lang="zh-CN" altLang="en-US"/>
          </a:p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247900" y="2298700"/>
            <a:ext cx="6513830" cy="4051300"/>
            <a:chOff x="7316" y="4105"/>
            <a:chExt cx="10258" cy="638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42" y="4105"/>
              <a:ext cx="10232" cy="6381"/>
            </a:xfrm>
            <a:prstGeom prst="rect">
              <a:avLst/>
            </a:prstGeom>
          </p:spPr>
        </p:pic>
        <p:sp>
          <p:nvSpPr>
            <p:cNvPr id="7" name="图文框 6"/>
            <p:cNvSpPr/>
            <p:nvPr/>
          </p:nvSpPr>
          <p:spPr>
            <a:xfrm>
              <a:off x="7316" y="8676"/>
              <a:ext cx="2673" cy="301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图文框 5"/>
            <p:cNvSpPr/>
            <p:nvPr/>
          </p:nvSpPr>
          <p:spPr>
            <a:xfrm>
              <a:off x="7316" y="9435"/>
              <a:ext cx="2621" cy="566"/>
            </a:xfrm>
            <a:prstGeom prst="frame">
              <a:avLst>
                <a:gd name="adj1" fmla="val 7629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60095" y="6489700"/>
            <a:ext cx="81864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https://th0ar.gitbooks.io/xv6-chinese/content/content/chapter1.html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中断处理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8025" y="1407160"/>
            <a:ext cx="6173470" cy="3909060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/>
              <a:t>中断触发</a:t>
            </a:r>
            <a:r>
              <a:rPr lang="zh-CN" altLang="en-US" sz="1600"/>
              <a:t>：外部设备或用户进程触发中断信号。</a:t>
            </a:r>
            <a:endParaRPr lang="zh-CN" altLang="en-US" sz="1600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/>
              <a:t>中断向量跳转</a:t>
            </a:r>
            <a:r>
              <a:rPr lang="zh-CN" altLang="en-US" sz="1600"/>
              <a:t>：处理器根据中断类型，从由 </a:t>
            </a:r>
            <a:r>
              <a:rPr lang="en-US" altLang="zh-CN" sz="1600"/>
              <a:t>kernelvec.S </a:t>
            </a:r>
            <a:r>
              <a:rPr lang="zh-CN" altLang="en-US" sz="1600"/>
              <a:t>定义的中断向量表中跳转到对应的中断处理入口。</a:t>
            </a:r>
            <a:endParaRPr lang="zh-CN" altLang="en-US" sz="1600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/>
              <a:t>进入内核态</a:t>
            </a:r>
            <a:r>
              <a:rPr lang="zh-CN" altLang="en-US" sz="1600"/>
              <a:t>：</a:t>
            </a:r>
            <a:r>
              <a:rPr lang="en-US" altLang="zh-CN" sz="1600"/>
              <a:t>kernelvec.S </a:t>
            </a:r>
            <a:r>
              <a:rPr lang="zh-CN" altLang="en-US" sz="1600"/>
              <a:t>中的汇编代码负责保存当前用户进程的上下文，并调用 </a:t>
            </a:r>
            <a:r>
              <a:rPr lang="en-US" altLang="zh-CN" sz="1600"/>
              <a:t>trampoline.S </a:t>
            </a:r>
            <a:r>
              <a:rPr lang="zh-CN" altLang="en-US" sz="1600"/>
              <a:t>中的代码，安全地切换到内核态。</a:t>
            </a:r>
            <a:endParaRPr lang="zh-CN" altLang="en-US" sz="1600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/>
              <a:t>调用陷阱处理函数</a:t>
            </a:r>
            <a:r>
              <a:rPr lang="zh-CN" altLang="en-US" sz="1600"/>
              <a:t>：</a:t>
            </a:r>
            <a:r>
              <a:rPr lang="en-US" altLang="zh-CN" sz="1600"/>
              <a:t>trampoline.S </a:t>
            </a:r>
            <a:r>
              <a:rPr lang="zh-CN" altLang="en-US" sz="1600"/>
              <a:t>中的代码将控制权转移到 </a:t>
            </a:r>
            <a:r>
              <a:rPr lang="en-US" altLang="zh-CN" sz="1600"/>
              <a:t>trap.c </a:t>
            </a:r>
            <a:r>
              <a:rPr lang="zh-CN" altLang="en-US" sz="1600"/>
              <a:t>中的 </a:t>
            </a:r>
            <a:r>
              <a:rPr lang="en-US" altLang="zh-CN" sz="1600"/>
              <a:t>trap </a:t>
            </a:r>
            <a:r>
              <a:rPr lang="zh-CN" altLang="en-US" sz="1600"/>
              <a:t>函数，进行具体的中断处理。</a:t>
            </a:r>
            <a:endParaRPr lang="zh-CN" altLang="en-US" sz="1600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/>
              <a:t>处理中断</a:t>
            </a:r>
            <a:r>
              <a:rPr lang="zh-CN" altLang="en-US" sz="1600"/>
              <a:t>：</a:t>
            </a:r>
            <a:r>
              <a:rPr lang="en-US" altLang="zh-CN" sz="1600"/>
              <a:t>trap.c </a:t>
            </a:r>
            <a:r>
              <a:rPr lang="zh-CN" altLang="en-US" sz="1600"/>
              <a:t>根据中断类型调用相应的处理程序，如系统调用处理函数或设备中断处理函数。</a:t>
            </a:r>
            <a:endParaRPr lang="zh-CN" altLang="en-US" sz="1600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/>
              <a:t>恢复上下文</a:t>
            </a:r>
            <a:r>
              <a:rPr lang="zh-CN" altLang="en-US" sz="1600"/>
              <a:t>：处理中断后，</a:t>
            </a:r>
            <a:r>
              <a:rPr lang="en-US" altLang="zh-CN" sz="1600"/>
              <a:t>trap.c </a:t>
            </a:r>
            <a:r>
              <a:rPr lang="zh-CN" altLang="en-US" sz="1600"/>
              <a:t>调用 </a:t>
            </a:r>
            <a:r>
              <a:rPr lang="en-US" altLang="zh-CN" sz="1600"/>
              <a:t>trampoline.S </a:t>
            </a:r>
            <a:r>
              <a:rPr lang="zh-CN" altLang="en-US" sz="1600"/>
              <a:t>的代码，恢复被中断进程的上下文，切换回用户模式。</a:t>
            </a:r>
            <a:endParaRPr lang="zh-CN" altLang="en-US" sz="1600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/>
              <a:t>继续执行</a:t>
            </a:r>
            <a:r>
              <a:rPr lang="zh-CN" altLang="en-US" sz="1600"/>
              <a:t>：被中断的用户进程从中断点继续执行，系统恢复正常运行状态。</a:t>
            </a:r>
            <a:endParaRPr lang="zh-CN" altLang="en-US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495" y="1565910"/>
            <a:ext cx="5186680" cy="32258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8025" y="6096635"/>
            <a:ext cx="10789285" cy="721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spcAft>
                <a:spcPts val="600"/>
              </a:spcAft>
            </a:pPr>
            <a:r>
              <a:rPr lang="en-US" altLang="zh-CN"/>
              <a:t>https://th0ar.gitbooks.io/xv6-chinese/content/content/chapter3.html</a:t>
            </a:r>
            <a:endParaRPr lang="en-US" altLang="zh-CN"/>
          </a:p>
          <a:p>
            <a:pPr indent="0" fontAlgn="auto">
              <a:spcAft>
                <a:spcPts val="600"/>
              </a:spcAft>
            </a:pPr>
            <a:r>
              <a:rPr lang="en-US" altLang="zh-CN"/>
              <a:t>http://huibai.art/xv6/mit6-s081-%E7%AC%AC%E5%8D%81%E5%A4%A9%EF%BC%9Alab4_traps/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进程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57885" y="1486535"/>
            <a:ext cx="143637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proc.h</a:t>
            </a:r>
            <a:endParaRPr lang="en-US" altLang="zh-CN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proc.c</a:t>
            </a:r>
            <a:endParaRPr lang="en-US" altLang="zh-CN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swtch.S</a:t>
            </a:r>
            <a:endParaRPr lang="en-US" altLang="zh-CN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syscall.c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410" y="1424305"/>
            <a:ext cx="2857500" cy="3657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440" y="1424305"/>
            <a:ext cx="1520190" cy="40220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908675" y="203581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保存当前上下文的寄存器状态，并加载另一个上下文的寄存器状态，从而完成从一个任务到另一个任务的切换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767705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swtch.S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进程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5340" y="1487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proc.h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15340" y="1955800"/>
            <a:ext cx="7016115" cy="3687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struct context </a:t>
            </a:r>
            <a:endParaRPr lang="en-US" altLang="zh-CN"/>
          </a:p>
          <a:p>
            <a:pPr lvl="1" indent="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/>
              <a:t>用于进程的上下文切换</a:t>
            </a:r>
            <a:endParaRPr lang="en-US" altLang="zh-CN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struct </a:t>
            </a:r>
            <a:r>
              <a:rPr lang="en-US" altLang="zh-CN"/>
              <a:t>cpu </a:t>
            </a:r>
            <a:endParaRPr lang="en-US" altLang="zh-CN"/>
          </a:p>
          <a:p>
            <a:pPr indent="45720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/>
              <a:t>记录每个CPU的状态及其当前运行的进程</a:t>
            </a:r>
            <a:endParaRPr lang="en-US" altLang="zh-CN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struct </a:t>
            </a:r>
            <a:r>
              <a:rPr lang="en-US" altLang="zh-CN"/>
              <a:t>trapframe </a:t>
            </a:r>
            <a:endParaRPr lang="en-US" altLang="zh-CN"/>
          </a:p>
          <a:p>
            <a:pPr indent="45720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/>
              <a:t>保存中断或异常发生时的CPU状态</a:t>
            </a:r>
            <a:endParaRPr lang="en-US" altLang="zh-CN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struct </a:t>
            </a:r>
            <a:r>
              <a:rPr lang="en-US" altLang="zh-CN"/>
              <a:t>procstate 和 </a:t>
            </a:r>
            <a:r>
              <a:rPr lang="en-US" altLang="zh-CN">
                <a:sym typeface="+mn-ea"/>
              </a:rPr>
              <a:t>struct </a:t>
            </a:r>
            <a:r>
              <a:rPr lang="en-US" altLang="zh-CN"/>
              <a:t>proc </a:t>
            </a:r>
            <a:endParaRPr lang="en-US" altLang="zh-CN"/>
          </a:p>
          <a:p>
            <a:pPr indent="45720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/>
              <a:t>描述进程的状态及其相关信息，包括内存、文件、父子关系等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00" y="1536700"/>
            <a:ext cx="3434715" cy="3221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进程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5340" y="1313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proc.c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15340" y="1739900"/>
            <a:ext cx="6049645" cy="5039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proc_mapstacks</a:t>
            </a:r>
            <a:r>
              <a:rPr lang="zh-CN" altLang="en-US"/>
              <a:t>：为每个进程分配内核栈并映射到页表。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procinit</a:t>
            </a:r>
            <a:r>
              <a:rPr lang="zh-CN" altLang="en-US"/>
              <a:t>：初始化进程表和相关锁。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userinit</a:t>
            </a:r>
            <a:r>
              <a:rPr lang="zh-CN" altLang="en-US"/>
              <a:t>：创建第一个用户进程。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allocproc</a:t>
            </a:r>
            <a:r>
              <a:rPr lang="zh-CN" altLang="en-US"/>
              <a:t>：分配并初始化一个空闲进程。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freeproc</a:t>
            </a:r>
            <a:r>
              <a:rPr lang="zh-CN" altLang="en-US"/>
              <a:t>：释放进程的资源。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proc_pagetable</a:t>
            </a:r>
            <a:r>
              <a:rPr lang="zh-CN" altLang="en-US"/>
              <a:t>：创建并初始化用户页表。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proc_freepagetable</a:t>
            </a:r>
            <a:r>
              <a:rPr lang="zh-CN" altLang="en-US"/>
              <a:t>：释放进程的页表。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allocpid</a:t>
            </a:r>
            <a:r>
              <a:rPr lang="zh-CN" altLang="en-US"/>
              <a:t>：分配唯一的进程</a:t>
            </a:r>
            <a:r>
              <a:rPr lang="en-US" altLang="zh-CN"/>
              <a:t> ID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fork</a:t>
            </a:r>
            <a:r>
              <a:rPr lang="zh-CN" altLang="en-US"/>
              <a:t>：复制当前进程。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exit</a:t>
            </a:r>
            <a:r>
              <a:rPr lang="zh-CN" altLang="en-US"/>
              <a:t>：终止当前进程，释放资源。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wait</a:t>
            </a:r>
            <a:r>
              <a:rPr lang="zh-CN" altLang="en-US"/>
              <a:t>：等待子进程退出并获取状态。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reparent</a:t>
            </a:r>
            <a:r>
              <a:rPr lang="zh-CN" altLang="en-US"/>
              <a:t>：将子进程的父进程指向</a:t>
            </a:r>
            <a:r>
              <a:rPr lang="en-US" altLang="zh-CN"/>
              <a:t> initproc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72935" y="1626870"/>
            <a:ext cx="5095240" cy="5231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scheduler</a:t>
            </a:r>
            <a:r>
              <a:rPr lang="zh-CN" altLang="en-US"/>
              <a:t>：调度可运行进程。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sched</a:t>
            </a:r>
            <a:r>
              <a:rPr lang="zh-CN" altLang="en-US"/>
              <a:t>：保存当前进程状态并调度其他进程。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yield</a:t>
            </a:r>
            <a:r>
              <a:rPr lang="zh-CN" altLang="en-US"/>
              <a:t>：主动放弃</a:t>
            </a:r>
            <a:r>
              <a:rPr lang="en-US" altLang="zh-CN"/>
              <a:t> CPU</a:t>
            </a:r>
            <a:r>
              <a:rPr lang="zh-CN" altLang="en-US"/>
              <a:t>，触发调度。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forkret</a:t>
            </a:r>
            <a:r>
              <a:rPr lang="zh-CN" altLang="en-US"/>
              <a:t>：新进程初始化完成后切换到用户模式。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sleep</a:t>
            </a:r>
            <a:r>
              <a:rPr lang="zh-CN" altLang="en-US"/>
              <a:t>：让进程进入睡眠。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wakeup</a:t>
            </a:r>
            <a:r>
              <a:rPr lang="zh-CN" altLang="en-US"/>
              <a:t>：唤醒等待特定事件的进程。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either_copyout/either_copyin</a:t>
            </a:r>
            <a:r>
              <a:rPr lang="zh-CN" altLang="en-US"/>
              <a:t>：在内核和用户空间间复制数据。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procdump</a:t>
            </a:r>
            <a:r>
              <a:rPr lang="zh-CN" altLang="en-US"/>
              <a:t>：打印所有非空闲进程状态。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cpuid/mycpu/myproc</a:t>
            </a:r>
            <a:r>
              <a:rPr lang="zh-CN" altLang="en-US"/>
              <a:t>：获取当前</a:t>
            </a:r>
            <a:r>
              <a:rPr lang="en-US" altLang="zh-CN"/>
              <a:t> CPU </a:t>
            </a:r>
            <a:r>
              <a:rPr lang="zh-CN" altLang="en-US"/>
              <a:t>和进程信息。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kill</a:t>
            </a:r>
            <a:r>
              <a:rPr lang="zh-CN" altLang="en-US"/>
              <a:t>：终止指定进程。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growproc</a:t>
            </a:r>
            <a:r>
              <a:rPr lang="zh-CN" altLang="en-US">
                <a:sym typeface="+mn-ea"/>
              </a:rPr>
              <a:t>：调整进程内存大小。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进程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98220" y="1505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syscall.c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141730" y="1948815"/>
            <a:ext cx="769048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实现系统调用机制，解析用户参数、分发系统调用并处理错误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73760" y="2547620"/>
            <a:ext cx="7440295" cy="2811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fetchaddr</a:t>
            </a:r>
            <a:r>
              <a:rPr lang="zh-CN" altLang="en-US"/>
              <a:t>：从用户内存读取</a:t>
            </a:r>
            <a:r>
              <a:rPr lang="en-US" altLang="zh-CN"/>
              <a:t> uint64 </a:t>
            </a:r>
            <a:r>
              <a:rPr lang="zh-CN" altLang="en-US"/>
              <a:t>值。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fetchstr</a:t>
            </a:r>
            <a:r>
              <a:rPr lang="zh-CN" altLang="en-US"/>
              <a:t>：从用户内存读取字符串，确保安全。</a:t>
            </a:r>
            <a:endParaRPr lang="en-US" altLang="zh-CN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argraw</a:t>
            </a:r>
            <a:r>
              <a:rPr lang="zh-CN" altLang="en-US"/>
              <a:t>：获取系统调用的原始参数。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argint/argaddr/argstr</a:t>
            </a:r>
            <a:r>
              <a:rPr lang="zh-CN" altLang="en-US"/>
              <a:t>：解析整数、地址、字符串参数。</a:t>
            </a:r>
            <a:endParaRPr lang="en-US" altLang="zh-CN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syscalls</a:t>
            </a:r>
            <a:r>
              <a:rPr lang="zh-CN" altLang="en-US"/>
              <a:t>：函数指针数组，映射系统调用编号到具体实现。</a:t>
            </a:r>
            <a:endParaRPr lang="zh-CN" altLang="en-US"/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syscall</a:t>
            </a:r>
            <a:r>
              <a:rPr lang="zh-CN" altLang="en-US"/>
              <a:t>：根据</a:t>
            </a:r>
            <a:r>
              <a:rPr lang="en-US" altLang="zh-CN"/>
              <a:t> a7 </a:t>
            </a:r>
            <a:r>
              <a:rPr lang="zh-CN" altLang="en-US"/>
              <a:t>寄存器中的编号分发系统调用，返回值存入</a:t>
            </a:r>
            <a:r>
              <a:rPr lang="en-US" altLang="zh-CN"/>
              <a:t> a0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4055" y="791210"/>
            <a:ext cx="3129915" cy="4838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030" y="4069080"/>
            <a:ext cx="4009390" cy="25838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2037</Words>
  <Application>WPS 演示</Application>
  <PresentationFormat>宽屏</PresentationFormat>
  <Paragraphs>116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操作系统专题实践期中</vt:lpstr>
      <vt:lpstr>环境部署、xv6下载编译运行</vt:lpstr>
      <vt:lpstr>初始化输出hello</vt:lpstr>
      <vt:lpstr>0号进程</vt:lpstr>
      <vt:lpstr>中断处理</vt:lpstr>
      <vt:lpstr>中断处理</vt:lpstr>
      <vt:lpstr>进程</vt:lpstr>
      <vt:lpstr>进程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/>
  <cp:revision>159</cp:revision>
  <dcterms:created xsi:type="dcterms:W3CDTF">2019-06-19T02:08:00Z</dcterms:created>
  <dcterms:modified xsi:type="dcterms:W3CDTF">2024-12-25T12:29:35Z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222566937B334F4CABA2D1BD7E5DF1FB_11</vt:lpwstr>
  </property>
</Properties>
</file>