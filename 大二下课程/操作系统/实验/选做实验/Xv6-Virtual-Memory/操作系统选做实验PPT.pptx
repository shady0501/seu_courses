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6" r:id="rId5"/>
    <p:sldId id="258" r:id="rId6"/>
    <p:sldId id="261" r:id="rId7"/>
    <p:sldId id="263" r:id="rId8"/>
    <p:sldId id="259" r:id="rId9"/>
    <p:sldId id="266" r:id="rId10"/>
    <p:sldId id="260" r:id="rId11"/>
    <p:sldId id="268" r:id="rId12"/>
    <p:sldId id="262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78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3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2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1.png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../media/image5.png"/><Relationship Id="rId7" Type="http://schemas.openxmlformats.org/officeDocument/2006/relationships/tags" Target="../tags/tag77.xml"/><Relationship Id="rId6" Type="http://schemas.openxmlformats.org/officeDocument/2006/relationships/image" Target="../media/image4.png"/><Relationship Id="rId5" Type="http://schemas.openxmlformats.org/officeDocument/2006/relationships/tags" Target="../tags/tag76.xml"/><Relationship Id="rId4" Type="http://schemas.openxmlformats.org/officeDocument/2006/relationships/image" Target="../media/image3.png"/><Relationship Id="rId3" Type="http://schemas.openxmlformats.org/officeDocument/2006/relationships/tags" Target="../tags/tag75.xml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image" Target="../media/image6.png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image" Target="../media/image7.png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90.xml"/><Relationship Id="rId7" Type="http://schemas.openxmlformats.org/officeDocument/2006/relationships/image" Target="../media/image10.png"/><Relationship Id="rId6" Type="http://schemas.openxmlformats.org/officeDocument/2006/relationships/tags" Target="../tags/tag89.xml"/><Relationship Id="rId5" Type="http://schemas.openxmlformats.org/officeDocument/2006/relationships/image" Target="../media/image9.png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image" Target="../media/image8.png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image" Target="../media/image11.png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image" Target="../media/image13.png"/><Relationship Id="rId3" Type="http://schemas.openxmlformats.org/officeDocument/2006/relationships/tags" Target="../tags/tag94.xml"/><Relationship Id="rId2" Type="http://schemas.openxmlformats.org/officeDocument/2006/relationships/image" Target="../media/image12.png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image" Target="../media/image17.png"/><Relationship Id="rId7" Type="http://schemas.openxmlformats.org/officeDocument/2006/relationships/tags" Target="../tags/tag99.xml"/><Relationship Id="rId6" Type="http://schemas.openxmlformats.org/officeDocument/2006/relationships/image" Target="../media/image16.png"/><Relationship Id="rId5" Type="http://schemas.openxmlformats.org/officeDocument/2006/relationships/tags" Target="../tags/tag98.xml"/><Relationship Id="rId4" Type="http://schemas.openxmlformats.org/officeDocument/2006/relationships/image" Target="../media/image15.png"/><Relationship Id="rId3" Type="http://schemas.openxmlformats.org/officeDocument/2006/relationships/tags" Target="../tags/tag97.xml"/><Relationship Id="rId2" Type="http://schemas.openxmlformats.org/officeDocument/2006/relationships/image" Target="../media/image14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05.xml"/><Relationship Id="rId6" Type="http://schemas.openxmlformats.org/officeDocument/2006/relationships/image" Target="../media/image19.png"/><Relationship Id="rId5" Type="http://schemas.openxmlformats.org/officeDocument/2006/relationships/tags" Target="../tags/tag104.xml"/><Relationship Id="rId4" Type="http://schemas.openxmlformats.org/officeDocument/2006/relationships/image" Target="../media/image18.png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09.xml"/><Relationship Id="rId6" Type="http://schemas.openxmlformats.org/officeDocument/2006/relationships/image" Target="../media/image22.png"/><Relationship Id="rId5" Type="http://schemas.openxmlformats.org/officeDocument/2006/relationships/tags" Target="../tags/tag108.xml"/><Relationship Id="rId4" Type="http://schemas.openxmlformats.org/officeDocument/2006/relationships/image" Target="../media/image21.png"/><Relationship Id="rId3" Type="http://schemas.openxmlformats.org/officeDocument/2006/relationships/tags" Target="../tags/tag107.xml"/><Relationship Id="rId2" Type="http://schemas.openxmlformats.org/officeDocument/2006/relationships/image" Target="../media/image20.png"/><Relationship Id="rId1" Type="http://schemas.openxmlformats.org/officeDocument/2006/relationships/tags" Target="../tags/tag10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image" Target="../media/image23.png"/><Relationship Id="rId1" Type="http://schemas.openxmlformats.org/officeDocument/2006/relationships/tags" Target="../tags/tag11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image" Target="../media/image24.png"/><Relationship Id="rId1" Type="http://schemas.openxmlformats.org/officeDocument/2006/relationships/tags" Target="../tags/tag11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18.xml"/><Relationship Id="rId7" Type="http://schemas.openxmlformats.org/officeDocument/2006/relationships/image" Target="../media/image27.png"/><Relationship Id="rId6" Type="http://schemas.openxmlformats.org/officeDocument/2006/relationships/tags" Target="../tags/tag117.xml"/><Relationship Id="rId5" Type="http://schemas.openxmlformats.org/officeDocument/2006/relationships/image" Target="../media/image26.png"/><Relationship Id="rId4" Type="http://schemas.openxmlformats.org/officeDocument/2006/relationships/tags" Target="../tags/tag116.xml"/><Relationship Id="rId3" Type="http://schemas.openxmlformats.org/officeDocument/2006/relationships/image" Target="../media/image25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image" Target="../media/image28.png"/><Relationship Id="rId1" Type="http://schemas.openxmlformats.org/officeDocument/2006/relationships/tags" Target="../tags/tag1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操作系统</a:t>
            </a:r>
            <a:r>
              <a:rPr lang="zh-CN" altLang="zh-CN"/>
              <a:t>选做实验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Xv6-Virtual_Memory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0270" y="1227455"/>
            <a:ext cx="4236085" cy="934085"/>
          </a:xfrm>
        </p:spPr>
        <p:txBody>
          <a:bodyPr>
            <a:noAutofit/>
          </a:bodyPr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pc="0">
                <a:solidFill>
                  <a:schemeClr val="tx1"/>
                </a:solidFill>
                <a:latin typeface="+mn-ea"/>
                <a:cs typeface="+mn-ea"/>
              </a:rPr>
              <a:t>1. 理解当前的xv6虚拟内存系统：</a:t>
            </a:r>
            <a:endParaRPr lang="zh-CN" altLang="en-US" spc="0">
              <a:solidFill>
                <a:schemeClr val="tx1"/>
              </a:solidFill>
              <a:latin typeface="+mn-ea"/>
              <a:cs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pc="0">
                <a:solidFill>
                  <a:schemeClr val="tx1"/>
                </a:solidFill>
                <a:latin typeface="+mn-ea"/>
                <a:cs typeface="+mn-ea"/>
              </a:rPr>
              <a:t>   - 阅读和理解xv6的exec()函数</a:t>
            </a:r>
            <a:endParaRPr lang="zh-CN" altLang="en-US" spc="0">
              <a:solidFill>
                <a:schemeClr val="tx1"/>
              </a:solidFill>
              <a:latin typeface="+mn-ea"/>
              <a:cs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pc="0">
                <a:solidFill>
                  <a:schemeClr val="tx1"/>
                </a:solidFill>
                <a:latin typeface="+mn-ea"/>
                <a:cs typeface="+mn-ea"/>
              </a:rPr>
              <a:t>   - 阅读和理解xv6的fork()函数</a:t>
            </a:r>
            <a:endParaRPr lang="zh-CN" altLang="en-US" spc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lnSpc>
                <a:spcPct val="80000"/>
              </a:lnSpc>
              <a:buNone/>
            </a:pPr>
            <a:endParaRPr lang="zh-CN" altLang="en-US" spc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0270" y="2887980"/>
            <a:ext cx="6096000" cy="2138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>
                <a:uFillTx/>
                <a:latin typeface="+mn-ea"/>
                <a:cs typeface="+mn-ea"/>
                <a:sym typeface="+mn-ea"/>
              </a:rPr>
              <a:t>2. 实现空指针解引用异常：</a:t>
            </a:r>
            <a:endParaRPr lang="zh-CN" altLang="en-US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>
                <a:uFillTx/>
                <a:latin typeface="+mn-ea"/>
                <a:cs typeface="+mn-ea"/>
                <a:sym typeface="+mn-ea"/>
              </a:rPr>
              <a:t>   - 修改xv6的内核，使得解引用空指针会触发异常。</a:t>
            </a:r>
            <a:endParaRPr lang="zh-CN" altLang="en-US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>
                <a:uFillTx/>
                <a:latin typeface="+mn-ea"/>
                <a:cs typeface="+mn-ea"/>
                <a:sym typeface="+mn-ea"/>
              </a:rPr>
              <a:t>   - 修改Makefile，将用户程序的入口点从0x0更改为其他地址（例如0x1000），以避免空指针指向有效代码。</a:t>
            </a:r>
            <a:endParaRPr lang="zh-CN" altLang="en-US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>
                <a:uFillTx/>
                <a:latin typeface="+mn-ea"/>
                <a:cs typeface="+mn-ea"/>
                <a:sym typeface="+mn-ea"/>
              </a:rPr>
              <a:t>   - 编写一个简单的用户程序尝试解引用空指针，并验证在修改后的xv6中确实触发了异常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96920"/>
            <a:ext cx="10969200" cy="705600"/>
          </a:xfrm>
        </p:spPr>
        <p:txBody>
          <a:bodyPr/>
          <a:p>
            <a:r>
              <a:rPr lang="zh-CN" altLang="en-US"/>
              <a:t>任务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08330" y="4321810"/>
            <a:ext cx="10919460" cy="239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4. 验证功能：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- 编写测试程序验证mprotect()和munprotect()功能：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  - 一个程序尝试在受保护区域写入，确保触发异常。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  - 一个程序尝试在解除保护后写入，确保写入成功。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- 编写测试程序验证fork()后保护继承功能：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  - 一个父进程对某些页面调用mprotect()，然后fork()一个子进程，验证子进程是否继承了页面保护。</a:t>
            </a:r>
            <a:endParaRPr lang="zh-CN" altLang="en-US" sz="1800"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410" y="984250"/>
            <a:ext cx="11222355" cy="3076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3. 实现只读代码保护：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- 修改xv6内核，增加两个系统调用：mprotect(void *addr, int len) 和 munprotect(void *addr, int len)。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  - mprotect()：将从addr开始的len页的保护位设置为只读。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  - munprotect()：将从addr开始的len页的保护位设置为可读写。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- 确保mprotect()和munprotect()函数能够正确处理对齐和边界检查，如地址未对齐、地址不在当前地址空间内或长度小于等于零等情况。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- 在修改页表项后，使用lcr3()函数更新CR3寄存器，以确保硬件使用最新的页表项。</a:t>
            </a:r>
            <a:endParaRPr lang="zh-CN" altLang="en-US" sz="1800" spc="0">
              <a:solidFill>
                <a:schemeClr val="tx1"/>
              </a:solidFill>
              <a:uFillTx/>
              <a:latin typeface="+mn-ea"/>
              <a:cs typeface="+mn-ea"/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z="1800">
                <a:uFillTx/>
                <a:latin typeface="+mn-ea"/>
                <a:cs typeface="+mn-ea"/>
                <a:sym typeface="+mn-ea"/>
              </a:rPr>
              <a:t>   - 确保页面保护在fork()时被继承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96920"/>
            <a:ext cx="10969200" cy="705600"/>
          </a:xfrm>
        </p:spPr>
        <p:txBody>
          <a:bodyPr/>
          <a:p>
            <a:r>
              <a:rPr lang="zh-CN" altLang="en-US"/>
              <a:t>任务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196920"/>
            <a:ext cx="10969200" cy="705600"/>
          </a:xfrm>
        </p:spPr>
        <p:txBody>
          <a:bodyPr/>
          <a:p>
            <a:r>
              <a:rPr lang="en-US" altLang="zh-CN"/>
              <a:t>exec()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71495" y="1001395"/>
            <a:ext cx="4137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900">
                <a:sym typeface="+mn-ea"/>
              </a:rPr>
              <a:t> </a:t>
            </a:r>
            <a:r>
              <a:rPr lang="zh-CN" altLang="en-US" sz="900">
                <a:sym typeface="+mn-ea"/>
              </a:rPr>
              <a:t>  // 检查ELF头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if(readi(ip, (char*)&amp;elf, 0, sizeof(elf)) != sizeof(elf)) // 读取ELF头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goto bad;                        // 读取失败，跳转到错误处理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if(elf.magic != ELF_MAGIC)         // 检查ELF魔数不匹配，跳转到错误处理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goto bad;        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if((pgdir = setupkvm()) == 0)      // 创建新的页目录失败，跳转到错误处理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goto bad;                 </a:t>
            </a:r>
            <a:endParaRPr lang="zh-CN" altLang="en-US" sz="900">
              <a:sym typeface="+mn-ea"/>
            </a:endParaRPr>
          </a:p>
          <a:p>
            <a:pPr marL="0" indent="0">
              <a:buNone/>
            </a:pPr>
            <a:endParaRPr lang="zh-CN" altLang="en-US" sz="900">
              <a:sym typeface="+mn-ea"/>
            </a:endParaRPr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// 加载程序到内存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sz = 0;                            // 初始化地址空间大小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for(i=0, off=elf.phoff; i&lt;elf.phnum; i++, off+=sizeof(ph)){ // 遍历所有程序头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if(readi(ip, (char*)&amp;ph, off, sizeof(ph)) != sizeof(ph)) // 读取程序头</a:t>
            </a:r>
            <a:r>
              <a:rPr lang="zh-CN" altLang="en-US" sz="900">
                <a:sym typeface="+mn-ea"/>
              </a:rPr>
              <a:t>失败错误处理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   // 读取   </a:t>
            </a:r>
            <a:endParaRPr lang="zh-CN" altLang="en-US" sz="900">
              <a:sym typeface="+mn-ea"/>
            </a:endParaRPr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</a:t>
            </a:r>
            <a:r>
              <a:rPr lang="en-US" altLang="zh-CN" sz="900">
                <a:sym typeface="+mn-ea"/>
              </a:rPr>
              <a:t>  </a:t>
            </a:r>
            <a:r>
              <a:rPr lang="zh-CN" altLang="en-US" sz="900">
                <a:sym typeface="+mn-ea"/>
              </a:rPr>
              <a:t> if(ph.type != ELF_PROG_LOAD)   // 检查程序头类型</a:t>
            </a:r>
            <a:r>
              <a:rPr lang="zh-CN" altLang="en-US" sz="900">
                <a:sym typeface="+mn-ea"/>
              </a:rPr>
              <a:t>不是可加载段，跳过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continue;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if(ph.memsz &lt; ph.filesz)       // 检查内存大小小于文件大小，</a:t>
            </a:r>
            <a:r>
              <a:rPr lang="zh-CN" altLang="en-US" sz="900">
                <a:sym typeface="+mn-ea"/>
              </a:rPr>
              <a:t>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if(ph.vaddr + ph.memsz &lt; ph.vaddr) // 检查地址溢出</a:t>
            </a:r>
            <a:r>
              <a:rPr lang="zh-CN" altLang="en-US" sz="900">
                <a:sym typeface="+mn-ea"/>
              </a:rPr>
              <a:t>，跳转到错误处理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</a:t>
            </a:r>
            <a:endParaRPr lang="zh-CN" altLang="en-US" sz="900">
              <a:sym typeface="+mn-ea"/>
            </a:endParaRPr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</a:t>
            </a:r>
            <a:r>
              <a:rPr lang="en-US" altLang="zh-CN" sz="900">
                <a:sym typeface="+mn-ea"/>
              </a:rPr>
              <a:t>   </a:t>
            </a:r>
            <a:r>
              <a:rPr lang="zh-CN" altLang="en-US" sz="900">
                <a:sym typeface="+mn-ea"/>
              </a:rPr>
              <a:t>if((sz = allocuvm(pgdir, sz, ph.vaddr + ph.memsz)) == 0) // 分配内存</a:t>
            </a:r>
            <a:r>
              <a:rPr lang="zh-CN" altLang="en-US" sz="900">
                <a:sym typeface="+mn-ea"/>
              </a:rPr>
              <a:t>失败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if(ph.vaddr % PGSIZE != 0)     // 检查地址未对齐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if(loaduvm(pgdir, (char*)ph.vaddr, ip, ph.off, ph.filesz) &lt; 0) // 加载段到内存失败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}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iunlockput(ip);                   // 解锁并释放文件节点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end_op();                         // 结束文件系统操作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ip = 0;                           // 置文件节点指针为0</a:t>
            </a:r>
            <a:endParaRPr lang="zh-CN" altLang="en-US" sz="900"/>
          </a:p>
          <a:p>
            <a:endParaRPr lang="zh-CN" altLang="en-US" sz="900"/>
          </a:p>
        </p:txBody>
      </p:sp>
      <p:sp>
        <p:nvSpPr>
          <p:cNvPr id="5" name="文本框 4"/>
          <p:cNvSpPr txBox="1"/>
          <p:nvPr/>
        </p:nvSpPr>
        <p:spPr>
          <a:xfrm>
            <a:off x="7478395" y="1001395"/>
            <a:ext cx="4713605" cy="580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zh-CN" altLang="en-US" sz="900">
                <a:sym typeface="+mn-ea"/>
              </a:rPr>
              <a:t> </a:t>
            </a:r>
            <a:r>
              <a:rPr lang="zh-CN" altLang="en-US" sz="900">
                <a:sym typeface="+mn-ea"/>
              </a:rPr>
              <a:t>  // 分配两页内存用于堆栈，第一页不可访问，用于堆栈溢出保护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sz = PGROUNDUP(sz);               // 地址空间大小向上取整到页边界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if((sz = allocuvm(pgdir, sz, sz + 2*PGSIZE)) == 0) // 分配两页内存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goto bad;                      // 分配失败，跳转到错误处理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clearpteu(pgdir, (char*)(sz - 2*PGSIZE)); // 清除页表项，使第一页不可访问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sp = sz;                         // 设置堆栈指针</a:t>
            </a:r>
            <a:endParaRPr lang="zh-CN" altLang="en-US" sz="900"/>
          </a:p>
          <a:p>
            <a:pPr marL="0" indent="0">
              <a:buNone/>
            </a:pP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// 将命令行参数压入堆栈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for(argc = 0; argv[argc]; argc++) { // 计算参数个数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if(argc &gt;= MAXARG)               // 检查参数个数是否超过最大值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sp = (sp - (strlen(argv[argc]) + 1)) &amp; ~3; // 为参数分配空间并对齐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if(copyout(pgdir, sp, argv[argc], strlen(argv[argc]) + 1) &lt; 0) // 复制参数到用户空间失败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goto bad;                   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ustack[3+argc] = sp;           // 保存参数地址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}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ustack[3+argc] = 0;              // 最后一个参数置为0</a:t>
            </a:r>
            <a:endParaRPr lang="zh-CN" altLang="en-US" sz="900"/>
          </a:p>
          <a:p>
            <a:pPr marL="0" indent="0">
              <a:buNone/>
            </a:pP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ustack[0] = 0xffffffff;  // 假的返回地址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ustack[1] = argc;        // 参数个数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ustack[2] = sp - (argc+1)*4;  // argv指针</a:t>
            </a:r>
            <a:endParaRPr lang="zh-CN" altLang="en-US" sz="900"/>
          </a:p>
          <a:p>
            <a:pPr marL="0" indent="0">
              <a:buNone/>
            </a:pP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sp -= (3+argc+1) * 4;    // 为用户栈分配空间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if(copyout(pgdir, sp, ustack, (3+argc+1)*4) &lt; 0) // 复制用户栈到用户空间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goto bad;                // 复制失败，跳转到错误处理</a:t>
            </a:r>
            <a:endParaRPr lang="zh-CN" altLang="en-US" sz="900"/>
          </a:p>
          <a:p>
            <a:pPr marL="0" indent="0">
              <a:buNone/>
            </a:pP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// 保存程序名称用于调试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for(last=s=path; *s; s++)   // 找到路径中的最后一个斜杠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if(*s == '/')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  last = s+1;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safestrcpy(curproc-&gt;name, last, sizeof(curproc-&gt;name)); // 复制程序名称</a:t>
            </a:r>
            <a:endParaRPr lang="zh-CN" altLang="en-US" sz="900"/>
          </a:p>
          <a:p>
            <a:pPr marL="0" indent="0">
              <a:buNone/>
            </a:pP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// 切换到新地址空间并启动程序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oldpgdir = curproc-&gt;pgdir;   // 保存旧的页目录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curproc-&gt;pgdir = pgdir;      // 设置新的页目录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curproc-&gt;sz = sz;            // 设置新的地址空间大小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curproc-&gt;tf-&gt;eip = elf.entry;  // 设置入口点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curproc-&gt;tf-&gt;esp = sp;       // 设置堆栈指针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switchuvm(curproc);          // 切换到新的地址空间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freevm(oldpgdir);            // 释放旧的地址空间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return 0;                    // 成功返回</a:t>
            </a:r>
            <a:endParaRPr lang="zh-CN" altLang="en-US" sz="900"/>
          </a:p>
          <a:p>
            <a:pPr marL="0" indent="0">
              <a:buNone/>
            </a:pPr>
            <a:endParaRPr lang="zh-CN" altLang="en-US" sz="900"/>
          </a:p>
          <a:p>
            <a:endParaRPr lang="zh-CN" altLang="en-US" sz="900"/>
          </a:p>
        </p:txBody>
      </p:sp>
      <p:sp>
        <p:nvSpPr>
          <p:cNvPr id="7" name="文本框 6"/>
          <p:cNvSpPr txBox="1"/>
          <p:nvPr/>
        </p:nvSpPr>
        <p:spPr>
          <a:xfrm>
            <a:off x="4117340" y="5520055"/>
            <a:ext cx="25679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900">
                <a:sym typeface="+mn-ea"/>
              </a:rPr>
              <a:t> bad: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if(pgdir)                     // 错误处理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freevm(pgdir);              // 释放页目录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if(ip){                       // 如果文件节点已打开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iunlockput(ip);             // 解锁并释放文件节点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  end_op();                   // 结束文件系统操作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}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  return -1;                    // 返回错误</a:t>
            </a:r>
            <a:endParaRPr lang="zh-CN" altLang="en-US" sz="900"/>
          </a:p>
          <a:p>
            <a:pPr marL="0" indent="0">
              <a:buNone/>
            </a:pPr>
            <a:r>
              <a:rPr lang="zh-CN" altLang="en-US" sz="900">
                <a:sym typeface="+mn-ea"/>
              </a:rPr>
              <a:t>}</a:t>
            </a:r>
            <a:endParaRPr lang="zh-CN" altLang="en-US" sz="9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0380" y="1062355"/>
            <a:ext cx="2350135" cy="4930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setupkvm函数创建新的页目录，初始化内核部分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通过读取ELF文件的程序头表，allocuvm和loaduvm函数分配内存并加载程序段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为用户堆栈分配内存并设置初始状态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更新当前进程的页目录和相关信息，切换到新地址空间并启动新程序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635" y="6216015"/>
            <a:ext cx="7619365" cy="641985"/>
          </a:xfrm>
        </p:spPr>
        <p:txBody>
          <a:bodyPr>
            <a:noAutofit/>
          </a:bodyPr>
          <a:p>
            <a:r>
              <a:rPr lang="zh-CN" altLang="en-US" sz="1600" b="0">
                <a:latin typeface="+mn-ea"/>
                <a:ea typeface="+mn-ea"/>
              </a:rPr>
              <a:t>http://staff.ustc.edu.cn/~chizhang/OS/Labs</a:t>
            </a:r>
            <a:br>
              <a:rPr lang="zh-CN" altLang="en-US" sz="1600" b="0">
                <a:latin typeface="+mn-ea"/>
                <a:ea typeface="+mn-ea"/>
              </a:rPr>
            </a:br>
            <a:r>
              <a:rPr lang="zh-CN" altLang="en-US" sz="1600" b="0">
                <a:latin typeface="+mn-ea"/>
                <a:ea typeface="+mn-ea"/>
              </a:rPr>
              <a:t>/MIT-XV6-%D6%D0%CE%C4%B7%AD%D2%EB%B0%E6.pdf</a:t>
            </a:r>
            <a:endParaRPr lang="zh-CN" altLang="en-US" sz="1600" b="0">
              <a:latin typeface="+mn-ea"/>
              <a:ea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1059815"/>
            <a:ext cx="10968990" cy="4393565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400" y="19692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exec()</a:t>
            </a:r>
            <a:r>
              <a:rPr lang="zh-CN" altLang="en-US"/>
              <a:t>函数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2430" y="944880"/>
            <a:ext cx="2327275" cy="30619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50965" y="6212840"/>
            <a:ext cx="57410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https://github.com/YehudaShapira/xv6-explained/blob/master/xv6%20Code%20Explained.md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2430" y="4006850"/>
            <a:ext cx="2921000" cy="19615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10180" y="964565"/>
            <a:ext cx="4643120" cy="30422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53300" y="975360"/>
            <a:ext cx="4566285" cy="27470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353300" y="3722370"/>
            <a:ext cx="4566285" cy="222758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8400" y="19692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exec()</a:t>
            </a:r>
            <a:r>
              <a:rPr lang="zh-CN" altLang="en-US"/>
              <a:t>函数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57370" y="1536700"/>
            <a:ext cx="380365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// 创建一个新的进程，将当前进程作为父进程</a:t>
            </a:r>
            <a:endParaRPr lang="zh-CN" altLang="en-US" sz="1000"/>
          </a:p>
          <a:p>
            <a:r>
              <a:rPr lang="zh-CN" altLang="en-US" sz="1000"/>
              <a:t>int</a:t>
            </a:r>
            <a:endParaRPr lang="zh-CN" altLang="en-US" sz="1000"/>
          </a:p>
          <a:p>
            <a:r>
              <a:rPr lang="zh-CN" altLang="en-US" sz="1000"/>
              <a:t>fork(void)</a:t>
            </a:r>
            <a:endParaRPr lang="zh-CN" altLang="en-US" sz="1000"/>
          </a:p>
          <a:p>
            <a:r>
              <a:rPr lang="zh-CN" altLang="en-US" sz="1000"/>
              <a:t>{</a:t>
            </a:r>
            <a:endParaRPr lang="zh-CN" altLang="en-US" sz="1000"/>
          </a:p>
          <a:p>
            <a:r>
              <a:rPr lang="zh-CN" altLang="en-US" sz="1000"/>
              <a:t>  int i, pid;</a:t>
            </a:r>
            <a:endParaRPr lang="zh-CN" altLang="en-US" sz="1000"/>
          </a:p>
          <a:p>
            <a:r>
              <a:rPr lang="zh-CN" altLang="en-US" sz="1000"/>
              <a:t>  struct proc *np;  // 新进程</a:t>
            </a:r>
            <a:endParaRPr lang="zh-CN" altLang="en-US" sz="1000"/>
          </a:p>
          <a:p>
            <a:r>
              <a:rPr lang="zh-CN" altLang="en-US" sz="1000"/>
              <a:t>  struct proc *curproc = myproc();  // 当前进程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  // 分配新进程控制块</a:t>
            </a:r>
            <a:endParaRPr lang="zh-CN" altLang="en-US" sz="1000"/>
          </a:p>
          <a:p>
            <a:r>
              <a:rPr lang="zh-CN" altLang="en-US" sz="1000"/>
              <a:t>  if((np = allocproc()) == 0){</a:t>
            </a:r>
            <a:endParaRPr lang="zh-CN" altLang="en-US" sz="1000"/>
          </a:p>
          <a:p>
            <a:r>
              <a:rPr lang="zh-CN" altLang="en-US" sz="1000"/>
              <a:t>    return -1;  // 分配失败，返回-1</a:t>
            </a:r>
            <a:endParaRPr lang="zh-CN" altLang="en-US" sz="1000"/>
          </a:p>
          <a:p>
            <a:r>
              <a:rPr lang="zh-CN" altLang="en-US" sz="1000"/>
              <a:t>  }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  // 复制父进程的地址空间</a:t>
            </a:r>
            <a:endParaRPr lang="zh-CN" altLang="en-US" sz="1000"/>
          </a:p>
          <a:p>
            <a:r>
              <a:rPr lang="zh-CN" altLang="en-US" sz="1000"/>
              <a:t>  if((np-&gt;pgdir = copyuvm(curproc-&gt;pgdir, curproc-&gt;sz)) == 0){</a:t>
            </a:r>
            <a:endParaRPr lang="zh-CN" altLang="en-US" sz="1000"/>
          </a:p>
          <a:p>
            <a:r>
              <a:rPr lang="zh-CN" altLang="en-US" sz="1000"/>
              <a:t>    kfree(np-&gt;kstack);  // 释放为新进程分配的内核栈</a:t>
            </a:r>
            <a:endParaRPr lang="zh-CN" altLang="en-US" sz="1000"/>
          </a:p>
          <a:p>
            <a:r>
              <a:rPr lang="zh-CN" altLang="en-US" sz="1000"/>
              <a:t>    np-&gt;kstack = 0;  // 将内核栈指针置为空</a:t>
            </a:r>
            <a:endParaRPr lang="zh-CN" altLang="en-US" sz="1000"/>
          </a:p>
          <a:p>
            <a:r>
              <a:rPr lang="zh-CN" altLang="en-US" sz="1000"/>
              <a:t>    np-&gt;state = UNUSED;  // 设置新进程状态为未使用</a:t>
            </a:r>
            <a:endParaRPr lang="zh-CN" altLang="en-US" sz="1000"/>
          </a:p>
          <a:p>
            <a:r>
              <a:rPr lang="zh-CN" altLang="en-US" sz="1000"/>
              <a:t>    return -1;  // 返回-1</a:t>
            </a:r>
            <a:endParaRPr lang="zh-CN" altLang="en-US" sz="1000"/>
          </a:p>
          <a:p>
            <a:r>
              <a:rPr lang="zh-CN" altLang="en-US" sz="1000"/>
              <a:t>  }</a:t>
            </a:r>
            <a:endParaRPr lang="zh-CN" altLang="en-US" sz="1000"/>
          </a:p>
          <a:p>
            <a:r>
              <a:rPr lang="zh-CN" altLang="en-US" sz="1000"/>
              <a:t>  np-&gt;sz = curproc-&gt;sz;  // 复制地址空间大小</a:t>
            </a:r>
            <a:endParaRPr lang="zh-CN" altLang="en-US" sz="1000"/>
          </a:p>
          <a:p>
            <a:r>
              <a:rPr lang="zh-CN" altLang="en-US" sz="1000"/>
              <a:t>  np-&gt;parent = curproc;  // 设置父进程</a:t>
            </a:r>
            <a:endParaRPr lang="zh-CN" altLang="en-US" sz="1000"/>
          </a:p>
          <a:p>
            <a:r>
              <a:rPr lang="zh-CN" altLang="en-US" sz="1000"/>
              <a:t>  *np-&gt;tf = *curproc-&gt;tf;  // 复制trap frame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5" name="文本框 4"/>
          <p:cNvSpPr txBox="1"/>
          <p:nvPr/>
        </p:nvSpPr>
        <p:spPr>
          <a:xfrm>
            <a:off x="8041640" y="1407795"/>
            <a:ext cx="40640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// 清除%eax，以使fork在子进程中返回0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  np-&gt;tf-&gt;eax = 0;  // 子进程的eax寄存器设置为0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// 复制父进程的打开文件描述符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  for(i = 0; i &lt; NOFILE; i++)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    if(curproc-&gt;ofile[i])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      np-&gt;ofile[i] = filedup(curproc-&gt;ofile[i]);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  np-&gt;cwd = idup(curproc-&gt;cwd);  // 复制当前工作目录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safestrcpy(np-&gt;name, curproc-&gt;name, sizeof(curproc-&gt;name));  // 复制进程名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pid = np-&gt;pid;  // 获取新进程的PID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acquire(&amp;ptable.lock);  // 获取进程表锁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np-&gt;state = RUNNABLE;  // 设置新进程状态为可运行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release(&amp;ptable.lock);  // 释放进程表锁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  return pid;  // 返回新进程的PID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}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6" name="文本框 5"/>
          <p:cNvSpPr txBox="1"/>
          <p:nvPr/>
        </p:nvSpPr>
        <p:spPr>
          <a:xfrm>
            <a:off x="166370" y="1444625"/>
            <a:ext cx="4064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分配新进程控制块：通过allocproc函数为新进程分配内存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复制父进程地址空间：通过copyuvm函数复制父进程的地址空间，包括分配新内存并复制内容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复制其他状态：包括进程大小、寄存器状态、打开的文件和当前工作目录等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设置子进程为可运行状态：将子进程状态设置为RUNNABLE，并返回子进程的PID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400" y="19692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fork()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78940" y="817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15590" y="1082675"/>
            <a:ext cx="6722110" cy="5531485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400" y="19692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fork()</a:t>
            </a:r>
            <a:r>
              <a:rPr lang="zh-CN" altLang="en-US"/>
              <a:t>函数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3915" y="20835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实现空指针解引用异常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9925" y="1645285"/>
            <a:ext cx="6711315" cy="1910715"/>
          </a:xfrm>
          <a:prstGeom prst="rect">
            <a:avLst/>
          </a:prstGeom>
        </p:spPr>
      </p:pic>
      <p:sp>
        <p:nvSpPr>
          <p:cNvPr id="5" name="图文框 4"/>
          <p:cNvSpPr/>
          <p:nvPr/>
        </p:nvSpPr>
        <p:spPr>
          <a:xfrm>
            <a:off x="3682365" y="1828800"/>
            <a:ext cx="612140" cy="274955"/>
          </a:xfrm>
          <a:prstGeom prst="frame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图文框 5"/>
          <p:cNvSpPr/>
          <p:nvPr>
            <p:custDataLst>
              <p:tags r:id="rId3"/>
            </p:custDataLst>
          </p:nvPr>
        </p:nvSpPr>
        <p:spPr>
          <a:xfrm>
            <a:off x="3682365" y="3057525"/>
            <a:ext cx="612140" cy="274955"/>
          </a:xfrm>
          <a:prstGeom prst="frame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0395" y="11233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修改Makefile，将用户程序的入口点从0x0更改为其他地址（例如0x1000），以避免空指针指向有效代码。</a:t>
            </a:r>
            <a:endParaRPr lang="zh-CN" altLang="en-US" sz="14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9925" y="36899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编写一个简单的用户程序尝试解引用空指针，并验证在修改后的xv6中确实触发了异常。</a:t>
            </a:r>
            <a:endParaRPr lang="zh-CN" altLang="en-US" sz="140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23180" y="4569460"/>
            <a:ext cx="1289685" cy="17583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36625" y="4287520"/>
            <a:ext cx="147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null_deref.c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191125" y="4201160"/>
            <a:ext cx="1155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Makefile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9925" y="4777105"/>
            <a:ext cx="3427730" cy="15525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3915" y="20835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实现空指针解引用异常</a:t>
            </a:r>
            <a:endParaRPr lang="zh-CN" altLang="en-US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95438" y="1136650"/>
            <a:ext cx="7940675" cy="499618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实现只读代码保护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2573655"/>
            <a:ext cx="37985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mprotect(void *addr, int len)</a:t>
            </a:r>
            <a:r>
              <a:rPr lang="en-US" altLang="zh-CN" sz="1400">
                <a:sym typeface="+mn-ea"/>
              </a:rPr>
              <a:t>  </a:t>
            </a:r>
            <a:endParaRPr lang="en-US" altLang="zh-CN" sz="1400">
              <a:sym typeface="+mn-ea"/>
            </a:endParaRPr>
          </a:p>
          <a:p>
            <a:r>
              <a:rPr lang="zh-CN" altLang="en-US" sz="1400">
                <a:sym typeface="+mn-ea"/>
              </a:rPr>
              <a:t>将从addr开始的len页的保护位设置为只读</a:t>
            </a:r>
            <a:endParaRPr lang="zh-CN" altLang="en-US" sz="1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6880" y="2573655"/>
            <a:ext cx="36868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munprotect(void *addr, int len)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将从addr开始的len页的保护位设置为可读写</a:t>
            </a:r>
            <a:endParaRPr lang="zh-CN" altLang="en-US" sz="140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786880" y="3095625"/>
            <a:ext cx="3949065" cy="37077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44220" y="1105535"/>
            <a:ext cx="702056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确保mprotect()和munprotect()函数能够正确处理对齐和边界检查，如地址未对齐、地址不在当前地址空间内或长度小于等于零等情况</a:t>
            </a:r>
            <a:endParaRPr lang="zh-CN" altLang="en-US" sz="1600" spc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在修改页表项后，使用lcr3()函数更新CR3寄存器，以确保硬件使用最新的页表项</a:t>
            </a:r>
            <a:endParaRPr lang="zh-CN" altLang="en-US" sz="1600" spc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spc="0">
                <a:solidFill>
                  <a:schemeClr val="tx1"/>
                </a:solidFill>
                <a:sym typeface="+mn-ea"/>
              </a:rPr>
              <a:t>页面保护应该在fork()时继承</a:t>
            </a:r>
            <a:endParaRPr lang="zh-CN" altLang="en-US" sz="16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0420" y="3258820"/>
            <a:ext cx="3751580" cy="35445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实现只读代码保护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2968625" y="1144270"/>
            <a:ext cx="2519680" cy="4982845"/>
            <a:chOff x="969" y="1468"/>
            <a:chExt cx="3968" cy="7847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969" y="2073"/>
              <a:ext cx="3969" cy="7243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611" y="1468"/>
              <a:ext cx="185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syscall.h</a:t>
              </a:r>
              <a:endParaRPr lang="en-US" altLang="zh-CN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847080" y="1033145"/>
            <a:ext cx="2185670" cy="5064125"/>
            <a:chOff x="6700" y="1308"/>
            <a:chExt cx="3442" cy="7975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6700" y="2053"/>
              <a:ext cx="3442" cy="7231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7668" y="1308"/>
              <a:ext cx="15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usys.S</a:t>
              </a:r>
              <a:endParaRPr lang="en-US" altLang="zh-CN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5135" y="1042670"/>
            <a:ext cx="2125980" cy="5170805"/>
            <a:chOff x="11013" y="1308"/>
            <a:chExt cx="3348" cy="8143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1013" y="2073"/>
              <a:ext cx="3348" cy="7379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1778" y="1308"/>
              <a:ext cx="18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syscall.c</a:t>
              </a:r>
              <a:endParaRPr lang="en-US" altLang="zh-CN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569960" y="1042670"/>
            <a:ext cx="3267710" cy="5055235"/>
            <a:chOff x="13151" y="1642"/>
            <a:chExt cx="5146" cy="7961"/>
          </a:xfrm>
        </p:grpSpPr>
        <p:pic>
          <p:nvPicPr>
            <p:cNvPr id="17" name="图片 1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3151" y="2325"/>
              <a:ext cx="5146" cy="7278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14969" y="1642"/>
              <a:ext cx="1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user.h</a:t>
              </a:r>
              <a:endParaRPr lang="en-US" altLang="zh-CN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716395" y="6489700"/>
            <a:ext cx="54756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https://github.com/relaxcn/xv6-labs-2022-solutions/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验证mprotect()和munprotect()功能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221865" y="1417955"/>
            <a:ext cx="1068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test1.c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853045" y="1417955"/>
            <a:ext cx="923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test2.c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6290" y="1941195"/>
            <a:ext cx="3646170" cy="3305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79590" y="1941195"/>
            <a:ext cx="3566795" cy="33051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验证mprotect()和munprotect()功能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79320" y="1787525"/>
            <a:ext cx="4488815" cy="2873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86040" y="1618615"/>
            <a:ext cx="1621790" cy="3477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53665" y="5221605"/>
            <a:ext cx="6110605" cy="13011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05120" y="1111885"/>
            <a:ext cx="118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Makefile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验证mprotect()和munprotect()功能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9870" y="991870"/>
            <a:ext cx="8612505" cy="55664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验证fork()后保护继承功能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615690" y="1419225"/>
            <a:ext cx="4136390" cy="4624070"/>
            <a:chOff x="5861" y="2460"/>
            <a:chExt cx="6514" cy="7282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5861" y="3220"/>
              <a:ext cx="6514" cy="652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7771" y="2460"/>
              <a:ext cx="296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test_mprotect.c</a:t>
              </a:r>
              <a:endParaRPr lang="en-US" altLang="zh-CN"/>
            </a:p>
          </p:txBody>
        </p:sp>
      </p:grp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验证fork()后保护继承功能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443730" y="1111885"/>
            <a:ext cx="118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Makefile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62420" y="1675765"/>
            <a:ext cx="1725295" cy="33902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6305" y="5218430"/>
            <a:ext cx="7471410" cy="1202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6305" y="1630045"/>
            <a:ext cx="5177155" cy="339852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135" y="210890"/>
            <a:ext cx="10969200" cy="705600"/>
          </a:xfrm>
        </p:spPr>
        <p:txBody>
          <a:bodyPr/>
          <a:p>
            <a:r>
              <a:rPr lang="zh-CN" altLang="en-US" spc="0">
                <a:solidFill>
                  <a:schemeClr val="tx1"/>
                </a:solidFill>
                <a:sym typeface="+mn-ea"/>
              </a:rPr>
              <a:t>验证fork()后保护继承功能</a:t>
            </a:r>
            <a:endParaRPr lang="zh-CN" altLang="en-US"/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1145" y="1109980"/>
            <a:ext cx="8672830" cy="55918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END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DIAGRAM_VIRTUALLY_FRAME" val="{&quot;height&quot;:401.15,&quot;left&quot;:83,&quot;top&quot;:111.65,&quot;width&quot;:701.95}"/>
</p:tagLst>
</file>

<file path=ppt/tags/tag102.xml><?xml version="1.0" encoding="utf-8"?>
<p:tagLst xmlns:p="http://schemas.openxmlformats.org/presentationml/2006/main">
  <p:tag name="KSO_WM_DIAGRAM_VIRTUALLY_FRAME" val="{&quot;height&quot;:401.15,&quot;left&quot;:83,&quot;top&quot;:111.65,&quot;width&quot;:701.95}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commondata" val="eyJoZGlkIjoiNGJmNzI5ZDQzM2JkZTcxMjE1N2Y3MDc1NzM2ZTNlYj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5857</Words>
  <Application>WPS 演示</Application>
  <PresentationFormat>宽屏</PresentationFormat>
  <Paragraphs>256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操作系统选做实验</vt:lpstr>
      <vt:lpstr>任务</vt:lpstr>
      <vt:lpstr>任务</vt:lpstr>
      <vt:lpstr>exec()函数</vt:lpstr>
      <vt:lpstr>http://staff.ustc.edu.cn/~chizhang/OS/Labs /MIT-XV6-%D6%D0%CE%C4%B7%AD%D2%EB%B0%E6.pdf</vt:lpstr>
      <vt:lpstr>PowerPoint 演示文稿</vt:lpstr>
      <vt:lpstr>PowerPoint 演示文稿</vt:lpstr>
      <vt:lpstr>PowerPoint 演示文稿</vt:lpstr>
      <vt:lpstr>实现空指针解引用异常</vt:lpstr>
      <vt:lpstr>实现空指针解引用异常</vt:lpstr>
      <vt:lpstr>实现只读代码保护</vt:lpstr>
      <vt:lpstr>实现只读代码保护</vt:lpstr>
      <vt:lpstr>验证mprotect()和munprotect()功能</vt:lpstr>
      <vt:lpstr>验证mprotect()和munprotect()功能</vt:lpstr>
      <vt:lpstr>验证mprotect()和munprotect()功能</vt:lpstr>
      <vt:lpstr>验证fork()后保护继承功能</vt:lpstr>
      <vt:lpstr>验证fork()后保护继承功能</vt:lpstr>
      <vt:lpstr>验证fork()后保护继承功能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空白演示</dc:title>
  <cp:revision>159</cp:revision>
</cp:coreProperties>
</file>

<file path=docProps/custom.xml><?xml version="1.0" encoding="utf-8"?>
<Properties xmlns="http://schemas.openxmlformats.org/officeDocument/2006/custom-properties"/>
</file>