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70" r:id="rId7"/>
    <p:sldId id="285" r:id="rId8"/>
    <p:sldId id="283" r:id="rId9"/>
    <p:sldId id="284" r:id="rId10"/>
    <p:sldId id="286" r:id="rId11"/>
    <p:sldId id="287" r:id="rId12"/>
    <p:sldId id="288" r:id="rId13"/>
    <p:sldId id="289"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99787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05370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088045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90345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986747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076827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072264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2575937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831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415281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1258192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75352-0D83-4770-90BD-FCF881551174}" type="datetimeFigureOut">
              <a:rPr lang="zh-CN" altLang="en-US" smtClean="0"/>
              <a:t>2024/5/28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D3B8C-AEBB-4FCE-9775-8692FF23F1B4}" type="slidenum">
              <a:rPr lang="zh-CN" altLang="en-US" smtClean="0"/>
              <a:t>‹#›</a:t>
            </a:fld>
            <a:endParaRPr lang="zh-CN" altLang="en-US"/>
          </a:p>
        </p:txBody>
      </p:sp>
    </p:spTree>
    <p:extLst>
      <p:ext uri="{BB962C8B-B14F-4D97-AF65-F5344CB8AC3E}">
        <p14:creationId xmlns:p14="http://schemas.microsoft.com/office/powerpoint/2010/main" val="3282252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复习纲要（</a:t>
            </a:r>
            <a:r>
              <a:rPr lang="en-US" altLang="zh-CN" dirty="0"/>
              <a:t>6-7</a:t>
            </a:r>
            <a:r>
              <a:rPr lang="zh-CN" altLang="en-US" dirty="0"/>
              <a:t>）</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355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 </a:t>
            </a:r>
            <a:r>
              <a:rPr lang="zh-CN" altLang="en-US" dirty="0"/>
              <a:t>进程同步</a:t>
            </a:r>
          </a:p>
        </p:txBody>
      </p:sp>
      <p:sp>
        <p:nvSpPr>
          <p:cNvPr id="3" name="内容占位符 2"/>
          <p:cNvSpPr>
            <a:spLocks noGrp="1"/>
          </p:cNvSpPr>
          <p:nvPr>
            <p:ph idx="1"/>
          </p:nvPr>
        </p:nvSpPr>
        <p:spPr/>
        <p:txBody>
          <a:bodyPr>
            <a:normAutofit/>
          </a:bodyPr>
          <a:lstStyle/>
          <a:p>
            <a:r>
              <a:rPr lang="zh-CN" altLang="en-US" dirty="0"/>
              <a:t>竞争条件</a:t>
            </a:r>
            <a:endParaRPr lang="en-US" altLang="zh-CN" dirty="0"/>
          </a:p>
          <a:p>
            <a:r>
              <a:rPr lang="zh-CN" altLang="en-US" dirty="0"/>
              <a:t>临界区问题（三个要求：互斥、前进、有限等待，理解）</a:t>
            </a:r>
            <a:endParaRPr lang="en-US" altLang="zh-CN" dirty="0"/>
          </a:p>
          <a:p>
            <a:pPr lvl="1"/>
            <a:r>
              <a:rPr lang="zh-CN" altLang="en-US" dirty="0"/>
              <a:t>软件同步（</a:t>
            </a:r>
            <a:r>
              <a:rPr lang="en-US" altLang="zh-CN" dirty="0"/>
              <a:t>Peterson</a:t>
            </a:r>
            <a:r>
              <a:rPr lang="zh-CN" altLang="en-US" dirty="0"/>
              <a:t>算法，仅适用两个进程）</a:t>
            </a:r>
            <a:endParaRPr lang="en-US" altLang="zh-CN" dirty="0"/>
          </a:p>
          <a:p>
            <a:pPr lvl="1"/>
            <a:r>
              <a:rPr lang="zh-CN" altLang="en-US" dirty="0"/>
              <a:t>硬件同步（</a:t>
            </a:r>
            <a:r>
              <a:rPr lang="en-US" altLang="zh-CN" dirty="0" err="1"/>
              <a:t>testandset</a:t>
            </a:r>
            <a:r>
              <a:rPr lang="zh-CN" altLang="en-US" dirty="0"/>
              <a:t>，适用多进程，使用复杂）</a:t>
            </a:r>
            <a:endParaRPr lang="en-US" altLang="zh-CN" dirty="0"/>
          </a:p>
          <a:p>
            <a:pPr lvl="1"/>
            <a:r>
              <a:rPr lang="zh-CN" altLang="en-US" b="1" dirty="0"/>
              <a:t>信号量</a:t>
            </a:r>
            <a:r>
              <a:rPr lang="zh-CN" altLang="en-US" dirty="0"/>
              <a:t>（重点，须在理解的基础上做题）</a:t>
            </a:r>
            <a:endParaRPr lang="en-US" altLang="zh-CN" dirty="0"/>
          </a:p>
          <a:p>
            <a:r>
              <a:rPr lang="zh-CN" altLang="en-US" dirty="0"/>
              <a:t>若干经典同步问题（有限缓冲、读者</a:t>
            </a:r>
            <a:r>
              <a:rPr lang="en-US" altLang="zh-CN" dirty="0"/>
              <a:t>-</a:t>
            </a:r>
            <a:r>
              <a:rPr lang="zh-CN" altLang="en-US" dirty="0"/>
              <a:t>写者、哲学家就餐、习题课上的若干问题）</a:t>
            </a:r>
          </a:p>
        </p:txBody>
      </p:sp>
    </p:spTree>
    <p:extLst>
      <p:ext uri="{BB962C8B-B14F-4D97-AF65-F5344CB8AC3E}">
        <p14:creationId xmlns:p14="http://schemas.microsoft.com/office/powerpoint/2010/main" val="1349464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 </a:t>
            </a:r>
            <a:r>
              <a:rPr lang="zh-CN" altLang="en-US" dirty="0"/>
              <a:t>死锁</a:t>
            </a:r>
          </a:p>
        </p:txBody>
      </p:sp>
      <p:sp>
        <p:nvSpPr>
          <p:cNvPr id="3" name="内容占位符 2"/>
          <p:cNvSpPr>
            <a:spLocks noGrp="1"/>
          </p:cNvSpPr>
          <p:nvPr>
            <p:ph idx="1"/>
          </p:nvPr>
        </p:nvSpPr>
        <p:spPr/>
        <p:txBody>
          <a:bodyPr/>
          <a:lstStyle/>
          <a:p>
            <a:r>
              <a:rPr lang="zh-CN" altLang="en-US" dirty="0"/>
              <a:t>死锁的</a:t>
            </a:r>
            <a:r>
              <a:rPr lang="en-US" altLang="zh-CN" dirty="0"/>
              <a:t>4</a:t>
            </a:r>
            <a:r>
              <a:rPr lang="zh-CN" altLang="en-US" dirty="0"/>
              <a:t>个必要条件</a:t>
            </a:r>
            <a:endParaRPr lang="en-US" altLang="zh-CN" dirty="0"/>
          </a:p>
          <a:p>
            <a:r>
              <a:rPr lang="zh-CN" altLang="en-US" dirty="0"/>
              <a:t>死锁预防</a:t>
            </a:r>
            <a:endParaRPr lang="en-US" altLang="zh-CN" dirty="0"/>
          </a:p>
          <a:p>
            <a:r>
              <a:rPr lang="zh-CN" altLang="en-US" dirty="0"/>
              <a:t>死锁避免</a:t>
            </a:r>
            <a:endParaRPr lang="en-US" altLang="zh-CN" dirty="0"/>
          </a:p>
          <a:p>
            <a:pPr lvl="1"/>
            <a:r>
              <a:rPr lang="zh-CN" altLang="en-US" dirty="0"/>
              <a:t>安全状态（与死锁的关系）</a:t>
            </a:r>
            <a:endParaRPr lang="en-US" altLang="zh-CN" dirty="0"/>
          </a:p>
          <a:p>
            <a:pPr lvl="1"/>
            <a:r>
              <a:rPr lang="zh-CN" altLang="en-US" dirty="0"/>
              <a:t>银行家算法（书上的例题必须会做）</a:t>
            </a:r>
            <a:endParaRPr lang="en-US" altLang="zh-CN" dirty="0"/>
          </a:p>
          <a:p>
            <a:r>
              <a:rPr lang="zh-CN" altLang="en-US" dirty="0"/>
              <a:t>死锁检测与恢复</a:t>
            </a:r>
          </a:p>
        </p:txBody>
      </p:sp>
    </p:spTree>
    <p:extLst>
      <p:ext uri="{BB962C8B-B14F-4D97-AF65-F5344CB8AC3E}">
        <p14:creationId xmlns:p14="http://schemas.microsoft.com/office/powerpoint/2010/main" val="120612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384"/>
            <a:ext cx="8229600" cy="1143000"/>
          </a:xfrm>
        </p:spPr>
        <p:txBody>
          <a:bodyPr/>
          <a:lstStyle/>
          <a:p>
            <a:r>
              <a:rPr lang="zh-CN" altLang="en-US" dirty="0"/>
              <a:t>进程同步</a:t>
            </a:r>
            <a:r>
              <a:rPr lang="en-US" altLang="zh-CN" dirty="0">
                <a:ea typeface="宋体" pitchFamily="2" charset="-122"/>
              </a:rPr>
              <a:t>:</a:t>
            </a:r>
            <a:r>
              <a:rPr lang="zh-CN" altLang="en-US" dirty="0">
                <a:ea typeface="宋体" pitchFamily="2" charset="-122"/>
              </a:rPr>
              <a:t>习题</a:t>
            </a:r>
            <a:r>
              <a:rPr lang="en-US" altLang="zh-CN" dirty="0">
                <a:ea typeface="宋体" pitchFamily="2" charset="-122"/>
              </a:rPr>
              <a:t>1</a:t>
            </a:r>
            <a:endParaRPr lang="zh-CN" altLang="en-US" dirty="0"/>
          </a:p>
        </p:txBody>
      </p:sp>
      <p:sp>
        <p:nvSpPr>
          <p:cNvPr id="3" name="内容占位符 2"/>
          <p:cNvSpPr>
            <a:spLocks noGrp="1"/>
          </p:cNvSpPr>
          <p:nvPr>
            <p:ph idx="1"/>
          </p:nvPr>
        </p:nvSpPr>
        <p:spPr>
          <a:xfrm>
            <a:off x="457200" y="1052736"/>
            <a:ext cx="8229600" cy="5400600"/>
          </a:xfrm>
        </p:spPr>
        <p:txBody>
          <a:bodyPr>
            <a:normAutofit fontScale="92500" lnSpcReduction="10000"/>
          </a:bodyPr>
          <a:lstStyle/>
          <a:p>
            <a:r>
              <a:rPr lang="zh-CN" altLang="en-US" sz="2000" dirty="0"/>
              <a:t>某银行提供</a:t>
            </a:r>
            <a:r>
              <a:rPr lang="en-US" altLang="zh-CN" sz="2000" dirty="0"/>
              <a:t>1</a:t>
            </a:r>
            <a:r>
              <a:rPr lang="zh-CN" altLang="en-US" sz="2000" dirty="0"/>
              <a:t>个服务窗口和</a:t>
            </a:r>
            <a:r>
              <a:rPr lang="en-US" altLang="zh-CN" sz="2000" dirty="0"/>
              <a:t>10</a:t>
            </a:r>
            <a:r>
              <a:rPr lang="zh-CN" altLang="en-US" sz="2000" dirty="0"/>
              <a:t>个供顾客等待的座位。顾客到达银行时，若有空座位，则到取号机上领取一个号，等待叫号。取号机每次仅允许一位顾客使用。当营业员空闲时，通过叫号选取一位顾客，并为其服务。顾客和营业员的活动过程描述如下：</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zh-CN" altLang="en-US" sz="2000" dirty="0"/>
          </a:p>
          <a:p>
            <a:pPr marL="0" indent="0">
              <a:buNone/>
            </a:pPr>
            <a:r>
              <a:rPr lang="zh-CN" altLang="en-US" sz="1600" dirty="0"/>
              <a:t>　　</a:t>
            </a:r>
            <a:endParaRPr lang="en-US" altLang="zh-CN" sz="2000" dirty="0"/>
          </a:p>
          <a:p>
            <a:endParaRPr lang="en-US" altLang="zh-CN" sz="2000" dirty="0"/>
          </a:p>
          <a:p>
            <a:endParaRPr lang="en-US" altLang="zh-CN" sz="2000" dirty="0"/>
          </a:p>
          <a:p>
            <a:r>
              <a:rPr lang="zh-CN" altLang="en-US" sz="2000" dirty="0"/>
              <a:t>请添加必要的信号量以及</a:t>
            </a:r>
            <a:r>
              <a:rPr lang="en-US" altLang="zh-CN" sz="2000" dirty="0"/>
              <a:t>wait()</a:t>
            </a:r>
            <a:r>
              <a:rPr lang="zh-CN" altLang="en-US" sz="2000" dirty="0"/>
              <a:t>、</a:t>
            </a:r>
            <a:r>
              <a:rPr lang="en-US" altLang="zh-CN" sz="2000" dirty="0"/>
              <a:t>signal()</a:t>
            </a:r>
            <a:r>
              <a:rPr lang="zh-CN" altLang="en-US" sz="2000" dirty="0"/>
              <a:t>操作，实现上述过程中的互斥与同步。要求写出完整的过程，说明信号量的含义并赋初值。</a:t>
            </a:r>
          </a:p>
          <a:p>
            <a:endParaRPr lang="zh-CN" altLang="en-US" dirty="0"/>
          </a:p>
        </p:txBody>
      </p:sp>
      <p:sp>
        <p:nvSpPr>
          <p:cNvPr id="4" name="矩形 3"/>
          <p:cNvSpPr/>
          <p:nvPr/>
        </p:nvSpPr>
        <p:spPr>
          <a:xfrm>
            <a:off x="755576" y="2202859"/>
            <a:ext cx="4176464" cy="2862322"/>
          </a:xfrm>
          <a:prstGeom prst="rect">
            <a:avLst/>
          </a:prstGeom>
        </p:spPr>
        <p:txBody>
          <a:bodyPr wrap="square">
            <a:spAutoFit/>
          </a:bodyPr>
          <a:lstStyle/>
          <a:p>
            <a:r>
              <a:rPr lang="en-US" altLang="zh-CN" dirty="0" err="1"/>
              <a:t>cobegin</a:t>
            </a:r>
            <a:endParaRPr lang="en-US" altLang="zh-CN" dirty="0"/>
          </a:p>
          <a:p>
            <a:r>
              <a:rPr lang="zh-CN" altLang="en-US" dirty="0"/>
              <a:t>　　    </a:t>
            </a:r>
            <a:endParaRPr lang="en-US" altLang="zh-CN" dirty="0"/>
          </a:p>
          <a:p>
            <a:r>
              <a:rPr lang="zh-CN" altLang="en-US" dirty="0"/>
              <a:t>　　    </a:t>
            </a:r>
            <a:r>
              <a:rPr lang="en-US" altLang="zh-CN" dirty="0"/>
              <a:t>process</a:t>
            </a:r>
            <a:r>
              <a:rPr lang="zh-CN" altLang="en-US" dirty="0"/>
              <a:t>顾客</a:t>
            </a:r>
            <a:r>
              <a:rPr lang="en-US" altLang="zh-CN" dirty="0"/>
              <a:t>i</a:t>
            </a:r>
          </a:p>
          <a:p>
            <a:r>
              <a:rPr lang="zh-CN" altLang="en-US" dirty="0"/>
              <a:t>　　        </a:t>
            </a:r>
            <a:r>
              <a:rPr lang="en-US" altLang="zh-CN" dirty="0"/>
              <a:t>{</a:t>
            </a:r>
          </a:p>
          <a:p>
            <a:r>
              <a:rPr lang="zh-CN" altLang="en-US" dirty="0"/>
              <a:t>                从取号机获得一个号码；</a:t>
            </a:r>
          </a:p>
          <a:p>
            <a:r>
              <a:rPr lang="zh-CN" altLang="en-US" dirty="0"/>
              <a:t>　　        等待叫号；</a:t>
            </a:r>
          </a:p>
          <a:p>
            <a:r>
              <a:rPr lang="zh-CN" altLang="en-US" dirty="0"/>
              <a:t>　　        获得服务；</a:t>
            </a:r>
          </a:p>
          <a:p>
            <a:r>
              <a:rPr lang="zh-CN" altLang="en-US" dirty="0"/>
              <a:t>　　        </a:t>
            </a:r>
            <a:r>
              <a:rPr lang="en-US" altLang="zh-CN" dirty="0"/>
              <a:t>}</a:t>
            </a:r>
          </a:p>
          <a:p>
            <a:r>
              <a:rPr lang="en-US" altLang="zh-CN" dirty="0"/>
              <a:t> </a:t>
            </a:r>
          </a:p>
          <a:p>
            <a:r>
              <a:rPr lang="en-US" altLang="zh-CN" dirty="0" err="1"/>
              <a:t>coend</a:t>
            </a:r>
            <a:endParaRPr lang="en-US" altLang="zh-CN" dirty="0"/>
          </a:p>
        </p:txBody>
      </p:sp>
      <p:sp>
        <p:nvSpPr>
          <p:cNvPr id="5" name="矩形 4"/>
          <p:cNvSpPr/>
          <p:nvPr/>
        </p:nvSpPr>
        <p:spPr>
          <a:xfrm>
            <a:off x="4499992" y="2492896"/>
            <a:ext cx="4572000" cy="2585323"/>
          </a:xfrm>
          <a:prstGeom prst="rect">
            <a:avLst/>
          </a:prstGeom>
        </p:spPr>
        <p:txBody>
          <a:bodyPr>
            <a:spAutoFit/>
          </a:bodyPr>
          <a:lstStyle/>
          <a:p>
            <a:r>
              <a:rPr lang="zh-CN" altLang="en-US" dirty="0"/>
              <a:t> </a:t>
            </a:r>
            <a:r>
              <a:rPr lang="en-US" altLang="zh-CN" dirty="0"/>
              <a:t>process</a:t>
            </a:r>
            <a:r>
              <a:rPr lang="zh-CN" altLang="en-US" dirty="0"/>
              <a:t>营业员</a:t>
            </a:r>
          </a:p>
          <a:p>
            <a:r>
              <a:rPr lang="zh-CN" altLang="en-US" dirty="0"/>
              <a:t>　　        </a:t>
            </a:r>
            <a:r>
              <a:rPr lang="en-US" altLang="zh-CN" dirty="0"/>
              <a:t>{</a:t>
            </a:r>
          </a:p>
          <a:p>
            <a:r>
              <a:rPr lang="zh-CN" altLang="en-US" dirty="0"/>
              <a:t>　　        </a:t>
            </a:r>
            <a:r>
              <a:rPr lang="en-US" altLang="zh-CN" dirty="0"/>
              <a:t>while(TRUE)</a:t>
            </a:r>
          </a:p>
          <a:p>
            <a:r>
              <a:rPr lang="zh-CN" altLang="en-US" dirty="0"/>
              <a:t>　　             </a:t>
            </a:r>
            <a:r>
              <a:rPr lang="en-US" altLang="zh-CN" dirty="0"/>
              <a:t>{</a:t>
            </a:r>
          </a:p>
          <a:p>
            <a:r>
              <a:rPr lang="zh-CN" altLang="en-US" dirty="0"/>
              <a:t>　　             叫号；</a:t>
            </a:r>
          </a:p>
          <a:p>
            <a:r>
              <a:rPr lang="zh-CN" altLang="en-US" dirty="0"/>
              <a:t>　　             为顾客服务；</a:t>
            </a:r>
          </a:p>
          <a:p>
            <a:r>
              <a:rPr lang="zh-CN" altLang="en-US" dirty="0"/>
              <a:t>　　             </a:t>
            </a:r>
            <a:r>
              <a:rPr lang="en-US" altLang="zh-CN" dirty="0"/>
              <a:t>}</a:t>
            </a:r>
          </a:p>
          <a:p>
            <a:r>
              <a:rPr lang="zh-CN" altLang="en-US" dirty="0"/>
              <a:t>　　        </a:t>
            </a:r>
            <a:r>
              <a:rPr lang="en-US" altLang="zh-CN" dirty="0"/>
              <a:t>}</a:t>
            </a:r>
          </a:p>
          <a:p>
            <a:r>
              <a:rPr lang="zh-CN" altLang="en-US" dirty="0"/>
              <a:t>　　</a:t>
            </a:r>
          </a:p>
        </p:txBody>
      </p:sp>
    </p:spTree>
    <p:extLst>
      <p:ext uri="{BB962C8B-B14F-4D97-AF65-F5344CB8AC3E}">
        <p14:creationId xmlns:p14="http://schemas.microsoft.com/office/powerpoint/2010/main" val="314417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88640"/>
            <a:ext cx="8229600" cy="4525963"/>
          </a:xfrm>
        </p:spPr>
        <p:txBody>
          <a:bodyPr>
            <a:normAutofit fontScale="25000" lnSpcReduction="20000"/>
          </a:bodyPr>
          <a:lstStyle/>
          <a:p>
            <a:pPr marL="0" indent="0">
              <a:buNone/>
            </a:pPr>
            <a:r>
              <a:rPr lang="en-US" altLang="zh-CN" sz="7200" dirty="0"/>
              <a:t>Semaphore seats =10;//</a:t>
            </a:r>
            <a:r>
              <a:rPr lang="zh-CN" altLang="en-US" sz="7200" dirty="0"/>
              <a:t>表示空余座位数量的资源信号量，初值为</a:t>
            </a:r>
            <a:r>
              <a:rPr lang="en-US" altLang="zh-CN" sz="7200" dirty="0"/>
              <a:t>10</a:t>
            </a:r>
          </a:p>
          <a:p>
            <a:pPr marL="0" indent="0">
              <a:buNone/>
            </a:pPr>
            <a:r>
              <a:rPr lang="en-US" altLang="zh-CN" sz="7200" dirty="0"/>
              <a:t>Semaphore </a:t>
            </a:r>
            <a:r>
              <a:rPr lang="en-US" altLang="zh-CN" sz="7200" dirty="0" err="1"/>
              <a:t>mutex</a:t>
            </a:r>
            <a:r>
              <a:rPr lang="en-US" altLang="zh-CN" sz="7200" dirty="0"/>
              <a:t> = 1; //</a:t>
            </a:r>
            <a:r>
              <a:rPr lang="zh-CN" altLang="en-US" sz="7200" dirty="0"/>
              <a:t>管理取号机的互斥信号量，初值为</a:t>
            </a:r>
            <a:r>
              <a:rPr lang="en-US" altLang="zh-CN" sz="7200" dirty="0"/>
              <a:t>1</a:t>
            </a:r>
            <a:r>
              <a:rPr lang="zh-CN" altLang="en-US" sz="7200" dirty="0"/>
              <a:t>，表示取号机空闲</a:t>
            </a:r>
          </a:p>
          <a:p>
            <a:pPr marL="0" indent="0">
              <a:buNone/>
            </a:pPr>
            <a:r>
              <a:rPr lang="en-US" altLang="zh-CN" sz="7200" dirty="0"/>
              <a:t>Semaphore custom = 0; //</a:t>
            </a:r>
            <a:r>
              <a:rPr lang="zh-CN" altLang="en-US" sz="7200" dirty="0"/>
              <a:t>表示顾客数量的资源信号量，初值为</a:t>
            </a:r>
            <a:r>
              <a:rPr lang="en-US" altLang="zh-CN" sz="7200" dirty="0"/>
              <a:t>0</a:t>
            </a:r>
          </a:p>
          <a:p>
            <a:pPr marL="0" indent="0">
              <a:buNone/>
            </a:pPr>
            <a:r>
              <a:rPr lang="zh-CN" altLang="en-US" sz="7200" dirty="0"/>
              <a:t>　</a:t>
            </a:r>
            <a:r>
              <a:rPr lang="en-US" altLang="zh-CN" sz="7200" dirty="0"/>
              <a:t>Process </a:t>
            </a:r>
            <a:r>
              <a:rPr lang="zh-CN" altLang="en-US" sz="7200" dirty="0"/>
              <a:t>顾客</a:t>
            </a:r>
          </a:p>
          <a:p>
            <a:pPr marL="0" indent="0">
              <a:buNone/>
            </a:pPr>
            <a:r>
              <a:rPr lang="zh-CN" altLang="en-US" sz="7200" dirty="0"/>
              <a:t>　　</a:t>
            </a:r>
            <a:r>
              <a:rPr lang="en-US" altLang="zh-CN" sz="7200" dirty="0"/>
              <a:t>{</a:t>
            </a:r>
          </a:p>
          <a:p>
            <a:pPr marL="0" indent="0">
              <a:buNone/>
            </a:pPr>
            <a:r>
              <a:rPr lang="zh-CN" altLang="en-US" sz="7200" dirty="0"/>
              <a:t>　　     </a:t>
            </a:r>
            <a:r>
              <a:rPr lang="en-US" altLang="zh-CN" sz="7200" dirty="0"/>
              <a:t>wait(seats); //</a:t>
            </a:r>
            <a:r>
              <a:rPr lang="zh-CN" altLang="en-US" sz="7200" dirty="0"/>
              <a:t>找个空座位</a:t>
            </a:r>
          </a:p>
          <a:p>
            <a:pPr marL="0" indent="0">
              <a:buNone/>
            </a:pPr>
            <a:r>
              <a:rPr lang="zh-CN" altLang="en-US" sz="7200" dirty="0"/>
              <a:t>　　     </a:t>
            </a:r>
            <a:r>
              <a:rPr lang="en-US" altLang="zh-CN" sz="7200" dirty="0"/>
              <a:t>wait(</a:t>
            </a:r>
            <a:r>
              <a:rPr lang="en-US" altLang="zh-CN" sz="7200" dirty="0" err="1"/>
              <a:t>mutex</a:t>
            </a:r>
            <a:r>
              <a:rPr lang="en-US" altLang="zh-CN" sz="7200" dirty="0"/>
              <a:t>); //</a:t>
            </a:r>
            <a:r>
              <a:rPr lang="zh-CN" altLang="en-US" sz="7200" dirty="0"/>
              <a:t>在看看取号机是否空闲</a:t>
            </a:r>
          </a:p>
          <a:p>
            <a:pPr marL="0" indent="0">
              <a:buNone/>
            </a:pPr>
            <a:r>
              <a:rPr lang="zh-CN" altLang="en-US" sz="7200" dirty="0"/>
              <a:t>　　        从取号机取号</a:t>
            </a:r>
            <a:r>
              <a:rPr lang="en-US" altLang="zh-CN" sz="7200" dirty="0"/>
              <a:t>;</a:t>
            </a:r>
          </a:p>
          <a:p>
            <a:pPr marL="0" indent="0">
              <a:buNone/>
            </a:pPr>
            <a:r>
              <a:rPr lang="zh-CN" altLang="en-US" sz="7200" dirty="0"/>
              <a:t>　　     </a:t>
            </a:r>
            <a:r>
              <a:rPr lang="en-US" altLang="zh-CN" sz="7200" dirty="0"/>
              <a:t>signal(</a:t>
            </a:r>
            <a:r>
              <a:rPr lang="en-US" altLang="zh-CN" sz="7200" dirty="0" err="1"/>
              <a:t>mutex</a:t>
            </a:r>
            <a:r>
              <a:rPr lang="en-US" altLang="zh-CN" sz="7200" dirty="0"/>
              <a:t>) //</a:t>
            </a:r>
            <a:r>
              <a:rPr lang="zh-CN" altLang="en-US" sz="7200" dirty="0"/>
              <a:t>放开那个取号机</a:t>
            </a:r>
          </a:p>
          <a:p>
            <a:pPr marL="0" indent="0">
              <a:buNone/>
            </a:pPr>
            <a:r>
              <a:rPr lang="zh-CN" altLang="en-US" sz="7200" dirty="0"/>
              <a:t>　　     </a:t>
            </a:r>
            <a:r>
              <a:rPr lang="en-US" altLang="zh-CN" sz="7200" dirty="0"/>
              <a:t>signal(custom); //</a:t>
            </a:r>
            <a:r>
              <a:rPr lang="zh-CN" altLang="en-US" sz="7200" dirty="0"/>
              <a:t>取到号，告诉营业员有顾客</a:t>
            </a:r>
          </a:p>
          <a:p>
            <a:pPr marL="0" indent="0">
              <a:buNone/>
            </a:pPr>
            <a:r>
              <a:rPr lang="zh-CN" altLang="en-US" sz="7200" dirty="0"/>
              <a:t>　　        等待叫号</a:t>
            </a:r>
            <a:r>
              <a:rPr lang="en-US" altLang="zh-CN" sz="7200" dirty="0"/>
              <a:t>;</a:t>
            </a:r>
          </a:p>
          <a:p>
            <a:pPr marL="0" indent="0">
              <a:buNone/>
            </a:pPr>
            <a:r>
              <a:rPr lang="zh-CN" altLang="en-US" sz="7200" dirty="0"/>
              <a:t>　　     </a:t>
            </a:r>
            <a:r>
              <a:rPr lang="en-US" altLang="zh-CN" sz="7200" dirty="0"/>
              <a:t>signal(seats) //</a:t>
            </a:r>
            <a:r>
              <a:rPr lang="zh-CN" altLang="en-US" sz="7200" dirty="0"/>
              <a:t>被叫号，离开座位</a:t>
            </a:r>
          </a:p>
          <a:p>
            <a:pPr marL="0" indent="0">
              <a:buNone/>
            </a:pPr>
            <a:r>
              <a:rPr lang="zh-CN" altLang="en-US" sz="7200" dirty="0"/>
              <a:t>　　        接受服务</a:t>
            </a:r>
            <a:r>
              <a:rPr lang="en-US" altLang="zh-CN" sz="7200" dirty="0"/>
              <a:t>;</a:t>
            </a:r>
          </a:p>
          <a:p>
            <a:pPr marL="0" indent="0">
              <a:buNone/>
            </a:pPr>
            <a:r>
              <a:rPr lang="zh-CN" altLang="en-US" sz="7200" dirty="0"/>
              <a:t>　　</a:t>
            </a:r>
            <a:r>
              <a:rPr lang="en-US" altLang="zh-CN" sz="7200" dirty="0"/>
              <a:t>}</a:t>
            </a:r>
          </a:p>
          <a:p>
            <a:pPr marL="0" indent="0">
              <a:buNone/>
            </a:pPr>
            <a:r>
              <a:rPr lang="zh-CN" altLang="en-US" sz="7200" dirty="0"/>
              <a:t>　　</a:t>
            </a:r>
            <a:endParaRPr lang="en-US" altLang="zh-CN" sz="7200" dirty="0"/>
          </a:p>
          <a:p>
            <a:pPr marL="0" indent="0">
              <a:buNone/>
            </a:pPr>
            <a:r>
              <a:rPr lang="en-US" altLang="zh-CN" sz="7200" dirty="0"/>
              <a:t>  Process </a:t>
            </a:r>
            <a:r>
              <a:rPr lang="zh-CN" altLang="en-US" sz="7200" dirty="0"/>
              <a:t>营业员</a:t>
            </a:r>
          </a:p>
          <a:p>
            <a:pPr marL="0" indent="0">
              <a:buNone/>
            </a:pPr>
            <a:r>
              <a:rPr lang="zh-CN" altLang="en-US" sz="7200" dirty="0"/>
              <a:t>　　</a:t>
            </a:r>
            <a:r>
              <a:rPr lang="en-US" altLang="zh-CN" sz="7200" dirty="0"/>
              <a:t>{</a:t>
            </a:r>
          </a:p>
          <a:p>
            <a:pPr marL="0" indent="0">
              <a:buNone/>
            </a:pPr>
            <a:r>
              <a:rPr lang="zh-CN" altLang="en-US" sz="7200" dirty="0"/>
              <a:t>　　    </a:t>
            </a:r>
            <a:r>
              <a:rPr lang="en-US" altLang="zh-CN" sz="7200" dirty="0"/>
              <a:t>While(true)</a:t>
            </a:r>
          </a:p>
          <a:p>
            <a:pPr marL="0" indent="0">
              <a:buNone/>
            </a:pPr>
            <a:r>
              <a:rPr lang="zh-CN" altLang="en-US" sz="7200" dirty="0"/>
              <a:t>　　   </a:t>
            </a:r>
            <a:r>
              <a:rPr lang="en-US" altLang="zh-CN" sz="7200" dirty="0"/>
              <a:t>{</a:t>
            </a:r>
          </a:p>
          <a:p>
            <a:pPr marL="0" indent="0">
              <a:buNone/>
            </a:pPr>
            <a:r>
              <a:rPr lang="zh-CN" altLang="en-US" sz="7200" dirty="0"/>
              <a:t>　　       </a:t>
            </a:r>
            <a:r>
              <a:rPr lang="en-US" altLang="zh-CN" sz="7200" dirty="0"/>
              <a:t>wait(custom); //</a:t>
            </a:r>
            <a:r>
              <a:rPr lang="zh-CN" altLang="en-US" sz="7200" dirty="0"/>
              <a:t>看看有没有等待的顾客</a:t>
            </a:r>
          </a:p>
          <a:p>
            <a:pPr marL="0" indent="0">
              <a:buNone/>
            </a:pPr>
            <a:r>
              <a:rPr lang="zh-CN" altLang="en-US" sz="7200" dirty="0"/>
              <a:t>　　       叫号</a:t>
            </a:r>
            <a:r>
              <a:rPr lang="en-US" altLang="zh-CN" sz="7200" dirty="0"/>
              <a:t>;</a:t>
            </a:r>
          </a:p>
          <a:p>
            <a:pPr marL="0" indent="0">
              <a:buNone/>
            </a:pPr>
            <a:r>
              <a:rPr lang="zh-CN" altLang="en-US" sz="7200" dirty="0"/>
              <a:t>　　      为顾客服务</a:t>
            </a:r>
            <a:r>
              <a:rPr lang="en-US" altLang="zh-CN" sz="7200" dirty="0"/>
              <a:t>;</a:t>
            </a:r>
          </a:p>
          <a:p>
            <a:pPr marL="0" indent="0">
              <a:buNone/>
            </a:pPr>
            <a:r>
              <a:rPr lang="zh-CN" altLang="en-US" sz="7200" dirty="0"/>
              <a:t>　　   </a:t>
            </a:r>
            <a:r>
              <a:rPr lang="en-US" altLang="zh-CN" sz="7200" dirty="0"/>
              <a:t>}</a:t>
            </a:r>
          </a:p>
          <a:p>
            <a:pPr marL="0" indent="0">
              <a:buNone/>
            </a:pPr>
            <a:r>
              <a:rPr lang="zh-CN" altLang="en-US" sz="7200" dirty="0"/>
              <a:t>　　</a:t>
            </a:r>
            <a:r>
              <a:rPr lang="en-US" altLang="zh-CN" sz="7200" dirty="0"/>
              <a:t>}</a:t>
            </a:r>
          </a:p>
          <a:p>
            <a:endParaRPr lang="zh-CN" altLang="en-US" dirty="0"/>
          </a:p>
        </p:txBody>
      </p:sp>
    </p:spTree>
    <p:extLst>
      <p:ext uri="{BB962C8B-B14F-4D97-AF65-F5344CB8AC3E}">
        <p14:creationId xmlns:p14="http://schemas.microsoft.com/office/powerpoint/2010/main" val="2503854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5760"/>
            <a:ext cx="8229600" cy="1143000"/>
          </a:xfrm>
        </p:spPr>
        <p:txBody>
          <a:bodyPr/>
          <a:lstStyle/>
          <a:p>
            <a:r>
              <a:rPr lang="zh-CN" altLang="en-US" dirty="0"/>
              <a:t>死锁：习题</a:t>
            </a:r>
            <a:r>
              <a:rPr lang="en-US" altLang="zh-CN" dirty="0"/>
              <a:t>1</a:t>
            </a: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1943988625"/>
              </p:ext>
            </p:extLst>
          </p:nvPr>
        </p:nvGraphicFramePr>
        <p:xfrm>
          <a:off x="1691680" y="2264727"/>
          <a:ext cx="4896543" cy="1959864"/>
        </p:xfrm>
        <a:graphic>
          <a:graphicData uri="http://schemas.openxmlformats.org/drawingml/2006/table">
            <a:tbl>
              <a:tblPr firstRow="1" firstCol="1" bandRow="1">
                <a:tableStyleId>{5C22544A-7EE6-4342-B048-85BDC9FD1C3A}</a:tableStyleId>
              </a:tblPr>
              <a:tblGrid>
                <a:gridCol w="457133">
                  <a:extLst>
                    <a:ext uri="{9D8B030D-6E8A-4147-A177-3AD203B41FA5}">
                      <a16:colId xmlns:a16="http://schemas.microsoft.com/office/drawing/2014/main" val="20000"/>
                    </a:ext>
                  </a:extLst>
                </a:gridCol>
                <a:gridCol w="634202">
                  <a:extLst>
                    <a:ext uri="{9D8B030D-6E8A-4147-A177-3AD203B41FA5}">
                      <a16:colId xmlns:a16="http://schemas.microsoft.com/office/drawing/2014/main" val="20001"/>
                    </a:ext>
                  </a:extLst>
                </a:gridCol>
                <a:gridCol w="633496">
                  <a:extLst>
                    <a:ext uri="{9D8B030D-6E8A-4147-A177-3AD203B41FA5}">
                      <a16:colId xmlns:a16="http://schemas.microsoft.com/office/drawing/2014/main" val="20002"/>
                    </a:ext>
                  </a:extLst>
                </a:gridCol>
                <a:gridCol w="507220">
                  <a:extLst>
                    <a:ext uri="{9D8B030D-6E8A-4147-A177-3AD203B41FA5}">
                      <a16:colId xmlns:a16="http://schemas.microsoft.com/office/drawing/2014/main" val="20003"/>
                    </a:ext>
                  </a:extLst>
                </a:gridCol>
                <a:gridCol w="507220">
                  <a:extLst>
                    <a:ext uri="{9D8B030D-6E8A-4147-A177-3AD203B41FA5}">
                      <a16:colId xmlns:a16="http://schemas.microsoft.com/office/drawing/2014/main" val="20004"/>
                    </a:ext>
                  </a:extLst>
                </a:gridCol>
                <a:gridCol w="760478">
                  <a:extLst>
                    <a:ext uri="{9D8B030D-6E8A-4147-A177-3AD203B41FA5}">
                      <a16:colId xmlns:a16="http://schemas.microsoft.com/office/drawing/2014/main" val="20005"/>
                    </a:ext>
                  </a:extLst>
                </a:gridCol>
                <a:gridCol w="633496">
                  <a:extLst>
                    <a:ext uri="{9D8B030D-6E8A-4147-A177-3AD203B41FA5}">
                      <a16:colId xmlns:a16="http://schemas.microsoft.com/office/drawing/2014/main" val="20006"/>
                    </a:ext>
                  </a:extLst>
                </a:gridCol>
                <a:gridCol w="259606">
                  <a:extLst>
                    <a:ext uri="{9D8B030D-6E8A-4147-A177-3AD203B41FA5}">
                      <a16:colId xmlns:a16="http://schemas.microsoft.com/office/drawing/2014/main" val="20007"/>
                    </a:ext>
                  </a:extLst>
                </a:gridCol>
                <a:gridCol w="251846">
                  <a:extLst>
                    <a:ext uri="{9D8B030D-6E8A-4147-A177-3AD203B41FA5}">
                      <a16:colId xmlns:a16="http://schemas.microsoft.com/office/drawing/2014/main" val="20008"/>
                    </a:ext>
                  </a:extLst>
                </a:gridCol>
                <a:gridCol w="251846">
                  <a:extLst>
                    <a:ext uri="{9D8B030D-6E8A-4147-A177-3AD203B41FA5}">
                      <a16:colId xmlns:a16="http://schemas.microsoft.com/office/drawing/2014/main" val="20009"/>
                    </a:ext>
                  </a:extLst>
                </a:gridCol>
              </a:tblGrid>
              <a:tr h="240027">
                <a:tc>
                  <a:txBody>
                    <a:bodyPr/>
                    <a:lstStyle/>
                    <a:p>
                      <a:pPr algn="ctr">
                        <a:lnSpc>
                          <a:spcPct val="150000"/>
                        </a:lnSpc>
                        <a:spcAft>
                          <a:spcPts val="0"/>
                        </a:spcAft>
                      </a:pPr>
                      <a:r>
                        <a:rPr lang="en-US" sz="1600" kern="100" dirty="0">
                          <a:effectLst/>
                        </a:rPr>
                        <a:t> </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A</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B</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C</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A</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B</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C</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A</a:t>
                      </a:r>
                      <a:endParaRPr lang="zh-CN" sz="1600" kern="100">
                        <a:effectLst/>
                        <a:latin typeface="Times New Roman"/>
                        <a:ea typeface="宋体"/>
                        <a:cs typeface="Times New Roman"/>
                      </a:endParaRPr>
                    </a:p>
                  </a:txBody>
                  <a:tcPr marL="68580" marR="68580" marT="0" marB="0"/>
                </a:tc>
                <a:tc>
                  <a:txBody>
                    <a:bodyPr/>
                    <a:lstStyle/>
                    <a:p>
                      <a:pPr algn="ctr">
                        <a:lnSpc>
                          <a:spcPct val="150000"/>
                        </a:lnSpc>
                        <a:spcAft>
                          <a:spcPts val="0"/>
                        </a:spcAft>
                      </a:pPr>
                      <a:r>
                        <a:rPr lang="en-US" sz="1600" kern="100">
                          <a:effectLst/>
                        </a:rPr>
                        <a:t>B</a:t>
                      </a:r>
                      <a:endParaRPr lang="zh-CN" sz="1600" kern="100">
                        <a:effectLst/>
                        <a:latin typeface="Times New Roman"/>
                        <a:ea typeface="宋体"/>
                        <a:cs typeface="Times New Roman"/>
                      </a:endParaRPr>
                    </a:p>
                  </a:txBody>
                  <a:tcPr marL="68580" marR="68580" marT="0" marB="0"/>
                </a:tc>
                <a:tc>
                  <a:txBody>
                    <a:bodyPr/>
                    <a:lstStyle/>
                    <a:p>
                      <a:pPr algn="ctr">
                        <a:lnSpc>
                          <a:spcPct val="150000"/>
                        </a:lnSpc>
                        <a:spcAft>
                          <a:spcPts val="0"/>
                        </a:spcAft>
                      </a:pPr>
                      <a:r>
                        <a:rPr lang="en-US" sz="1600" kern="100">
                          <a:effectLst/>
                        </a:rPr>
                        <a:t>C</a:t>
                      </a:r>
                      <a:endParaRPr lang="zh-CN" sz="1600" kern="100">
                        <a:effectLst/>
                        <a:latin typeface="Times New Roman"/>
                        <a:ea typeface="宋体"/>
                        <a:cs typeface="Times New Roman"/>
                      </a:endParaRPr>
                    </a:p>
                  </a:txBody>
                  <a:tcPr marL="68580" marR="68580" marT="0" marB="0"/>
                </a:tc>
                <a:extLst>
                  <a:ext uri="{0D108BD9-81ED-4DB2-BD59-A6C34878D82A}">
                    <a16:rowId xmlns:a16="http://schemas.microsoft.com/office/drawing/2014/main" val="10000"/>
                  </a:ext>
                </a:extLst>
              </a:tr>
              <a:tr h="240027">
                <a:tc>
                  <a:txBody>
                    <a:bodyPr/>
                    <a:lstStyle/>
                    <a:p>
                      <a:pPr algn="ctr">
                        <a:lnSpc>
                          <a:spcPct val="150000"/>
                        </a:lnSpc>
                        <a:spcAft>
                          <a:spcPts val="0"/>
                        </a:spcAft>
                      </a:pPr>
                      <a:r>
                        <a:rPr lang="en-US" sz="1600" kern="100">
                          <a:effectLst/>
                        </a:rPr>
                        <a:t>P1</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5</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5</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9</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2</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1</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2</a:t>
                      </a:r>
                      <a:endParaRPr lang="zh-CN" sz="1600" kern="100">
                        <a:effectLst/>
                        <a:latin typeface="Times New Roman"/>
                        <a:ea typeface="宋体"/>
                        <a:cs typeface="Times New Roman"/>
                      </a:endParaRPr>
                    </a:p>
                  </a:txBody>
                  <a:tcPr marL="68580" marR="68580" marT="0" marB="0" anchor="ctr"/>
                </a:tc>
                <a:tc rowSpan="3" gridSpan="3">
                  <a:txBody>
                    <a:bodyPr/>
                    <a:lstStyle/>
                    <a:p>
                      <a:pPr algn="just">
                        <a:lnSpc>
                          <a:spcPct val="150000"/>
                        </a:lnSpc>
                        <a:spcAft>
                          <a:spcPts val="0"/>
                        </a:spcAft>
                      </a:pPr>
                      <a:r>
                        <a:rPr lang="en-US" sz="1600" kern="100">
                          <a:effectLst/>
                        </a:rPr>
                        <a:t>2  3  3</a:t>
                      </a:r>
                      <a:endParaRPr lang="zh-CN" sz="1600" kern="100">
                        <a:effectLst/>
                        <a:latin typeface="Times New Roman"/>
                        <a:ea typeface="宋体"/>
                        <a:cs typeface="Times New Roman"/>
                      </a:endParaRPr>
                    </a:p>
                  </a:txBody>
                  <a:tcPr marL="68580" marR="68580" marT="0" marB="0"/>
                </a:tc>
                <a:tc rowSpan="3" hMerge="1">
                  <a:txBody>
                    <a:bodyPr/>
                    <a:lstStyle/>
                    <a:p>
                      <a:endParaRPr lang="zh-CN" altLang="en-US"/>
                    </a:p>
                  </a:txBody>
                  <a:tcPr/>
                </a:tc>
                <a:tc rowSpan="3" hMerge="1">
                  <a:txBody>
                    <a:bodyPr/>
                    <a:lstStyle/>
                    <a:p>
                      <a:endParaRPr lang="zh-CN" altLang="en-US"/>
                    </a:p>
                  </a:txBody>
                  <a:tcPr/>
                </a:tc>
                <a:extLst>
                  <a:ext uri="{0D108BD9-81ED-4DB2-BD59-A6C34878D82A}">
                    <a16:rowId xmlns:a16="http://schemas.microsoft.com/office/drawing/2014/main" val="10001"/>
                  </a:ext>
                </a:extLst>
              </a:tr>
              <a:tr h="240027">
                <a:tc>
                  <a:txBody>
                    <a:bodyPr/>
                    <a:lstStyle/>
                    <a:p>
                      <a:pPr algn="ctr">
                        <a:lnSpc>
                          <a:spcPct val="150000"/>
                        </a:lnSpc>
                        <a:spcAft>
                          <a:spcPts val="0"/>
                        </a:spcAft>
                      </a:pPr>
                      <a:r>
                        <a:rPr lang="en-US" sz="1600" kern="100">
                          <a:effectLst/>
                        </a:rPr>
                        <a:t>P2</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5</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3</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6</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4</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0</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2</a:t>
                      </a:r>
                      <a:endParaRPr lang="zh-CN" sz="1600" kern="100">
                        <a:effectLst/>
                        <a:latin typeface="Times New Roman"/>
                        <a:ea typeface="宋体"/>
                        <a:cs typeface="Times New Roman"/>
                      </a:endParaRPr>
                    </a:p>
                  </a:txBody>
                  <a:tcPr marL="68580" marR="68580" marT="0"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2"/>
                  </a:ext>
                </a:extLst>
              </a:tr>
              <a:tr h="240027">
                <a:tc>
                  <a:txBody>
                    <a:bodyPr/>
                    <a:lstStyle/>
                    <a:p>
                      <a:pPr algn="ctr">
                        <a:lnSpc>
                          <a:spcPct val="150000"/>
                        </a:lnSpc>
                        <a:spcAft>
                          <a:spcPts val="0"/>
                        </a:spcAft>
                      </a:pPr>
                      <a:r>
                        <a:rPr lang="en-US" sz="1600" kern="100">
                          <a:effectLst/>
                        </a:rPr>
                        <a:t>P3</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4</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0</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11</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4</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0</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5</a:t>
                      </a:r>
                      <a:endParaRPr lang="zh-CN" sz="1600" kern="100">
                        <a:effectLst/>
                        <a:latin typeface="Times New Roman"/>
                        <a:ea typeface="宋体"/>
                        <a:cs typeface="Times New Roman"/>
                      </a:endParaRPr>
                    </a:p>
                  </a:txBody>
                  <a:tcPr marL="68580" marR="68580" marT="0"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3"/>
                  </a:ext>
                </a:extLst>
              </a:tr>
              <a:tr h="240027">
                <a:tc>
                  <a:txBody>
                    <a:bodyPr/>
                    <a:lstStyle/>
                    <a:p>
                      <a:pPr algn="ctr">
                        <a:lnSpc>
                          <a:spcPct val="150000"/>
                        </a:lnSpc>
                        <a:spcAft>
                          <a:spcPts val="0"/>
                        </a:spcAft>
                      </a:pPr>
                      <a:r>
                        <a:rPr lang="en-US" sz="1600" kern="100">
                          <a:effectLst/>
                        </a:rPr>
                        <a:t>P4</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4</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2</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5</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2</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0</a:t>
                      </a:r>
                      <a:endParaRPr lang="zh-CN" sz="1600" kern="100" dirty="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4</a:t>
                      </a:r>
                      <a:endParaRPr lang="zh-CN" sz="1600" kern="100" dirty="0">
                        <a:effectLst/>
                        <a:latin typeface="Times New Roman"/>
                        <a:ea typeface="宋体"/>
                        <a:cs typeface="Times New Roman"/>
                      </a:endParaRPr>
                    </a:p>
                  </a:txBody>
                  <a:tcPr marL="68580" marR="68580" marT="0" marB="0" anchor="ctr"/>
                </a:tc>
                <a:tc rowSpan="2" gridSpan="3">
                  <a:txBody>
                    <a:bodyPr/>
                    <a:lstStyle/>
                    <a:p>
                      <a:pPr algn="ctr">
                        <a:lnSpc>
                          <a:spcPct val="150000"/>
                        </a:lnSpc>
                        <a:spcAft>
                          <a:spcPts val="0"/>
                        </a:spcAft>
                      </a:pPr>
                      <a:r>
                        <a:rPr lang="en-US" sz="1600" kern="100">
                          <a:effectLst/>
                        </a:rPr>
                        <a:t> </a:t>
                      </a:r>
                      <a:endParaRPr lang="zh-CN" sz="1600" kern="100">
                        <a:effectLst/>
                        <a:latin typeface="Times New Roman"/>
                        <a:ea typeface="宋体"/>
                        <a:cs typeface="Times New Roman"/>
                      </a:endParaRPr>
                    </a:p>
                  </a:txBody>
                  <a:tcPr marL="68580" marR="68580" marT="0" marB="0"/>
                </a:tc>
                <a:tc rowSpan="2" hMerge="1">
                  <a:txBody>
                    <a:bodyPr/>
                    <a:lstStyle/>
                    <a:p>
                      <a:endParaRPr lang="zh-CN" altLang="en-US"/>
                    </a:p>
                  </a:txBody>
                  <a:tcPr/>
                </a:tc>
                <a:tc rowSpan="2" hMerge="1">
                  <a:txBody>
                    <a:bodyPr/>
                    <a:lstStyle/>
                    <a:p>
                      <a:endParaRPr lang="zh-CN" altLang="en-US"/>
                    </a:p>
                  </a:txBody>
                  <a:tcPr/>
                </a:tc>
                <a:extLst>
                  <a:ext uri="{0D108BD9-81ED-4DB2-BD59-A6C34878D82A}">
                    <a16:rowId xmlns:a16="http://schemas.microsoft.com/office/drawing/2014/main" val="10004"/>
                  </a:ext>
                </a:extLst>
              </a:tr>
              <a:tr h="240027">
                <a:tc>
                  <a:txBody>
                    <a:bodyPr/>
                    <a:lstStyle/>
                    <a:p>
                      <a:pPr algn="ctr">
                        <a:lnSpc>
                          <a:spcPct val="150000"/>
                        </a:lnSpc>
                        <a:spcAft>
                          <a:spcPts val="0"/>
                        </a:spcAft>
                      </a:pPr>
                      <a:r>
                        <a:rPr lang="en-US" sz="1600" kern="100">
                          <a:effectLst/>
                        </a:rPr>
                        <a:t>P5</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4</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2</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4</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3</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a:effectLst/>
                        </a:rPr>
                        <a:t>1</a:t>
                      </a:r>
                      <a:endParaRPr lang="zh-CN" sz="1600" kern="100">
                        <a:effectLst/>
                        <a:latin typeface="Times New Roman"/>
                        <a:ea typeface="宋体"/>
                        <a:cs typeface="Times New Roman"/>
                      </a:endParaRPr>
                    </a:p>
                  </a:txBody>
                  <a:tcPr marL="68580" marR="68580" marT="0" marB="0" anchor="ctr"/>
                </a:tc>
                <a:tc>
                  <a:txBody>
                    <a:bodyPr/>
                    <a:lstStyle/>
                    <a:p>
                      <a:pPr algn="ctr">
                        <a:lnSpc>
                          <a:spcPct val="150000"/>
                        </a:lnSpc>
                        <a:spcAft>
                          <a:spcPts val="0"/>
                        </a:spcAft>
                      </a:pPr>
                      <a:r>
                        <a:rPr lang="en-US" sz="1600" kern="100" dirty="0">
                          <a:effectLst/>
                        </a:rPr>
                        <a:t>4</a:t>
                      </a:r>
                      <a:endParaRPr lang="zh-CN" sz="1600" kern="100" dirty="0">
                        <a:effectLst/>
                        <a:latin typeface="Times New Roman"/>
                        <a:ea typeface="宋体"/>
                        <a:cs typeface="Times New Roman"/>
                      </a:endParaRPr>
                    </a:p>
                  </a:txBody>
                  <a:tcPr marL="68580" marR="68580" marT="0"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7" name="Rectangle 2"/>
          <p:cNvSpPr>
            <a:spLocks noChangeArrowheads="1"/>
          </p:cNvSpPr>
          <p:nvPr/>
        </p:nvSpPr>
        <p:spPr bwMode="auto">
          <a:xfrm>
            <a:off x="467544" y="1124744"/>
            <a:ext cx="82089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3335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设系统中有三类资源</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和</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，又设系统中有</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个进程</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P1</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P2</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P3</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P4</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和</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P5</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资源的数量为</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资源的数量为</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资源的数量为</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。在</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时刻系统状态如下：</a:t>
            </a:r>
            <a:r>
              <a:rPr kumimoji="0" lang="zh-CN" altLang="en-US"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endParaRPr kumimoji="0" lang="zh-CN" altLang="en-US" sz="105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 name="矩形 7"/>
          <p:cNvSpPr/>
          <p:nvPr/>
        </p:nvSpPr>
        <p:spPr>
          <a:xfrm>
            <a:off x="539552" y="4433044"/>
            <a:ext cx="8136904" cy="2308324"/>
          </a:xfrm>
          <a:prstGeom prst="rect">
            <a:avLst/>
          </a:prstGeom>
        </p:spPr>
        <p:txBody>
          <a:bodyPr wrap="square">
            <a:spAutoFit/>
          </a:bodyPr>
          <a:lstStyle/>
          <a:p>
            <a:pPr lvl="0" indent="133350" eaLnBrk="0" fontAlgn="base" hangingPunct="0">
              <a:spcBef>
                <a:spcPct val="0"/>
              </a:spcBef>
              <a:spcAft>
                <a:spcPct val="0"/>
              </a:spcAft>
            </a:pPr>
            <a:r>
              <a:rPr lang="zh-CN" altLang="en-US" dirty="0">
                <a:latin typeface="Times New Roman" pitchFamily="18" charset="0"/>
                <a:ea typeface="宋体" pitchFamily="2" charset="-122"/>
                <a:cs typeface="Times New Roman" pitchFamily="18" charset="0"/>
              </a:rPr>
              <a:t>根据银行家算法分析完成以下问题：</a:t>
            </a:r>
            <a:endParaRPr lang="zh-CN" altLang="en-US" sz="1100" dirty="0">
              <a:latin typeface="Arial" pitchFamily="34" charset="0"/>
              <a:ea typeface="宋体" pitchFamily="2" charset="-122"/>
              <a:cs typeface="宋体" pitchFamily="2" charset="-122"/>
            </a:endParaRPr>
          </a:p>
          <a:p>
            <a:pPr lvl="0" indent="133350" eaLnBrk="0" fontAlgn="base" hangingPunct="0">
              <a:spcBef>
                <a:spcPct val="0"/>
              </a:spcBef>
              <a:spcAft>
                <a:spcPct val="0"/>
              </a:spcAft>
            </a:pPr>
            <a:r>
              <a:rPr lang="en-US" altLang="zh-CN" dirty="0">
                <a:latin typeface="Times New Roman" pitchFamily="18" charset="0"/>
                <a:ea typeface="宋体" pitchFamily="2" charset="-122"/>
                <a:cs typeface="Times New Roman" pitchFamily="18" charset="0"/>
              </a:rPr>
              <a:t>(1) T0</a:t>
            </a:r>
            <a:r>
              <a:rPr lang="zh-CN" altLang="en-US" dirty="0">
                <a:latin typeface="Times New Roman" pitchFamily="18" charset="0"/>
                <a:ea typeface="宋体" pitchFamily="2" charset="-122"/>
                <a:cs typeface="Times New Roman" pitchFamily="18" charset="0"/>
              </a:rPr>
              <a:t>时刻系统是否处于安全状态？如是，则给出进程安全序列。</a:t>
            </a:r>
            <a:endParaRPr lang="zh-CN" altLang="en-US" sz="1100" dirty="0">
              <a:latin typeface="Arial" pitchFamily="34" charset="0"/>
              <a:ea typeface="宋体" pitchFamily="2" charset="-122"/>
              <a:cs typeface="宋体" pitchFamily="2" charset="-122"/>
            </a:endParaRPr>
          </a:p>
          <a:p>
            <a:pPr lvl="0" indent="133350" eaLnBrk="0" fontAlgn="base" hangingPunct="0">
              <a:spcBef>
                <a:spcPct val="0"/>
              </a:spcBef>
              <a:spcAft>
                <a:spcPct val="0"/>
              </a:spcAft>
            </a:pPr>
            <a:r>
              <a:rPr lang="en-US" altLang="zh-CN" dirty="0">
                <a:latin typeface="Times New Roman" pitchFamily="18" charset="0"/>
                <a:ea typeface="宋体" pitchFamily="2" charset="-122"/>
                <a:cs typeface="Times New Roman" pitchFamily="18" charset="0"/>
              </a:rPr>
              <a:t>(2) T0</a:t>
            </a:r>
            <a:r>
              <a:rPr lang="zh-CN" altLang="en-US" dirty="0">
                <a:latin typeface="Times New Roman" pitchFamily="18" charset="0"/>
                <a:ea typeface="宋体" pitchFamily="2" charset="-122"/>
                <a:cs typeface="Times New Roman" pitchFamily="18" charset="0"/>
              </a:rPr>
              <a:t>时刻如果进程</a:t>
            </a:r>
            <a:r>
              <a:rPr lang="en-US" altLang="zh-CN" dirty="0">
                <a:latin typeface="Times New Roman" pitchFamily="18" charset="0"/>
                <a:ea typeface="宋体" pitchFamily="2" charset="-122"/>
                <a:cs typeface="Times New Roman" pitchFamily="18" charset="0"/>
              </a:rPr>
              <a:t>P2</a:t>
            </a:r>
            <a:r>
              <a:rPr lang="zh-CN" altLang="en-US" dirty="0">
                <a:latin typeface="Times New Roman" pitchFamily="18" charset="0"/>
                <a:ea typeface="宋体" pitchFamily="2" charset="-122"/>
                <a:cs typeface="Times New Roman" pitchFamily="18" charset="0"/>
              </a:rPr>
              <a:t>申请</a:t>
            </a:r>
            <a:r>
              <a:rPr lang="en-US" altLang="zh-CN" dirty="0">
                <a:latin typeface="Times New Roman" pitchFamily="18" charset="0"/>
                <a:ea typeface="宋体" pitchFamily="2" charset="-122"/>
                <a:cs typeface="Times New Roman" pitchFamily="18" charset="0"/>
              </a:rPr>
              <a:t>0</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A</a:t>
            </a:r>
            <a:r>
              <a:rPr lang="zh-CN" altLang="en-US" dirty="0">
                <a:latin typeface="Times New Roman" pitchFamily="18" charset="0"/>
                <a:ea typeface="宋体" pitchFamily="2" charset="-122"/>
                <a:cs typeface="Times New Roman" pitchFamily="18" charset="0"/>
              </a:rPr>
              <a:t>、</a:t>
            </a:r>
            <a:r>
              <a:rPr lang="en-US" altLang="zh-CN" dirty="0">
                <a:latin typeface="Times New Roman" pitchFamily="18" charset="0"/>
                <a:ea typeface="宋体" pitchFamily="2" charset="-122"/>
                <a:cs typeface="Times New Roman" pitchFamily="18" charset="0"/>
              </a:rPr>
              <a:t>3</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B</a:t>
            </a:r>
            <a:r>
              <a:rPr lang="zh-CN" altLang="en-US" dirty="0">
                <a:latin typeface="Times New Roman" pitchFamily="18" charset="0"/>
                <a:ea typeface="宋体" pitchFamily="2" charset="-122"/>
                <a:cs typeface="Times New Roman" pitchFamily="18" charset="0"/>
              </a:rPr>
              <a:t>和</a:t>
            </a:r>
            <a:r>
              <a:rPr lang="en-US" altLang="zh-CN" dirty="0">
                <a:latin typeface="Times New Roman" pitchFamily="18" charset="0"/>
                <a:ea typeface="宋体" pitchFamily="2" charset="-122"/>
                <a:cs typeface="Times New Roman" pitchFamily="18" charset="0"/>
              </a:rPr>
              <a:t>4</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C</a:t>
            </a:r>
            <a:r>
              <a:rPr lang="zh-CN" altLang="en-US" dirty="0">
                <a:latin typeface="Times New Roman" pitchFamily="18" charset="0"/>
                <a:ea typeface="宋体" pitchFamily="2" charset="-122"/>
                <a:cs typeface="Times New Roman" pitchFamily="18" charset="0"/>
              </a:rPr>
              <a:t>，能否实施分配？为什么？</a:t>
            </a:r>
            <a:endParaRPr lang="zh-CN" altLang="en-US" sz="1100" dirty="0">
              <a:latin typeface="Arial" pitchFamily="34" charset="0"/>
              <a:ea typeface="宋体" pitchFamily="2" charset="-122"/>
              <a:cs typeface="宋体" pitchFamily="2" charset="-122"/>
            </a:endParaRPr>
          </a:p>
          <a:p>
            <a:pPr lvl="0" indent="133350" eaLnBrk="0" fontAlgn="base" hangingPunct="0">
              <a:spcBef>
                <a:spcPct val="0"/>
              </a:spcBef>
              <a:spcAft>
                <a:spcPct val="0"/>
              </a:spcAft>
            </a:pPr>
            <a:r>
              <a:rPr lang="en-US" altLang="zh-CN" dirty="0">
                <a:latin typeface="Times New Roman" pitchFamily="18" charset="0"/>
                <a:ea typeface="宋体" pitchFamily="2" charset="-122"/>
                <a:cs typeface="Times New Roman" pitchFamily="18" charset="0"/>
              </a:rPr>
              <a:t>(3) </a:t>
            </a:r>
            <a:r>
              <a:rPr lang="zh-CN" altLang="en-US" dirty="0">
                <a:latin typeface="Times New Roman" pitchFamily="18" charset="0"/>
                <a:ea typeface="宋体" pitchFamily="2" charset="-122"/>
                <a:cs typeface="Times New Roman" pitchFamily="18" charset="0"/>
              </a:rPr>
              <a:t>在</a:t>
            </a:r>
            <a:r>
              <a:rPr lang="en-US" altLang="zh-CN" dirty="0">
                <a:latin typeface="Times New Roman" pitchFamily="18" charset="0"/>
                <a:ea typeface="宋体" pitchFamily="2" charset="-122"/>
                <a:cs typeface="Times New Roman" pitchFamily="18" charset="0"/>
              </a:rPr>
              <a:t>(2)</a:t>
            </a:r>
            <a:r>
              <a:rPr lang="zh-CN" altLang="en-US" dirty="0">
                <a:latin typeface="Times New Roman" pitchFamily="18" charset="0"/>
                <a:ea typeface="宋体" pitchFamily="2" charset="-122"/>
                <a:cs typeface="Times New Roman" pitchFamily="18" charset="0"/>
              </a:rPr>
              <a:t>的基础上如果进程</a:t>
            </a:r>
            <a:r>
              <a:rPr lang="en-US" altLang="zh-CN" dirty="0">
                <a:latin typeface="Times New Roman" pitchFamily="18" charset="0"/>
                <a:ea typeface="宋体" pitchFamily="2" charset="-122"/>
                <a:cs typeface="Times New Roman" pitchFamily="18" charset="0"/>
              </a:rPr>
              <a:t>P4</a:t>
            </a:r>
            <a:r>
              <a:rPr lang="zh-CN" altLang="en-US" dirty="0">
                <a:latin typeface="Times New Roman" pitchFamily="18" charset="0"/>
                <a:ea typeface="宋体" pitchFamily="2" charset="-122"/>
                <a:cs typeface="Times New Roman" pitchFamily="18" charset="0"/>
              </a:rPr>
              <a:t>申请</a:t>
            </a:r>
            <a:r>
              <a:rPr lang="en-US" altLang="zh-CN" dirty="0">
                <a:latin typeface="Times New Roman" pitchFamily="18" charset="0"/>
                <a:ea typeface="宋体" pitchFamily="2" charset="-122"/>
                <a:cs typeface="Times New Roman" pitchFamily="18" charset="0"/>
              </a:rPr>
              <a:t>2</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A</a:t>
            </a:r>
            <a:r>
              <a:rPr lang="zh-CN" altLang="en-US" dirty="0">
                <a:latin typeface="Times New Roman" pitchFamily="18" charset="0"/>
                <a:ea typeface="宋体" pitchFamily="2" charset="-122"/>
                <a:cs typeface="Times New Roman" pitchFamily="18" charset="0"/>
              </a:rPr>
              <a:t>、</a:t>
            </a:r>
            <a:r>
              <a:rPr lang="en-US" altLang="zh-CN" dirty="0">
                <a:latin typeface="Times New Roman" pitchFamily="18" charset="0"/>
                <a:ea typeface="宋体" pitchFamily="2" charset="-122"/>
                <a:cs typeface="Times New Roman" pitchFamily="18" charset="0"/>
              </a:rPr>
              <a:t>0</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B</a:t>
            </a:r>
            <a:r>
              <a:rPr lang="zh-CN" altLang="en-US" dirty="0">
                <a:latin typeface="Times New Roman" pitchFamily="18" charset="0"/>
                <a:ea typeface="宋体" pitchFamily="2" charset="-122"/>
                <a:cs typeface="Times New Roman" pitchFamily="18" charset="0"/>
              </a:rPr>
              <a:t>和</a:t>
            </a:r>
            <a:r>
              <a:rPr lang="en-US" altLang="zh-CN" dirty="0">
                <a:latin typeface="Times New Roman" pitchFamily="18" charset="0"/>
                <a:ea typeface="宋体" pitchFamily="2" charset="-122"/>
                <a:cs typeface="Times New Roman" pitchFamily="18" charset="0"/>
              </a:rPr>
              <a:t>1</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C</a:t>
            </a:r>
            <a:r>
              <a:rPr lang="zh-CN" altLang="en-US" dirty="0">
                <a:latin typeface="Times New Roman" pitchFamily="18" charset="0"/>
                <a:ea typeface="宋体" pitchFamily="2" charset="-122"/>
                <a:cs typeface="Times New Roman" pitchFamily="18" charset="0"/>
              </a:rPr>
              <a:t>，能否实施分配？为什么？</a:t>
            </a:r>
            <a:endParaRPr lang="zh-CN" altLang="en-US" sz="1100" dirty="0">
              <a:latin typeface="Arial" pitchFamily="34" charset="0"/>
              <a:ea typeface="宋体" pitchFamily="2" charset="-122"/>
              <a:cs typeface="宋体" pitchFamily="2" charset="-122"/>
            </a:endParaRPr>
          </a:p>
          <a:p>
            <a:pPr lvl="0" indent="133350" eaLnBrk="0" fontAlgn="base" hangingPunct="0">
              <a:spcBef>
                <a:spcPct val="0"/>
              </a:spcBef>
              <a:spcAft>
                <a:spcPct val="0"/>
              </a:spcAft>
            </a:pPr>
            <a:r>
              <a:rPr lang="en-US" altLang="zh-CN" dirty="0">
                <a:latin typeface="Times New Roman" pitchFamily="18" charset="0"/>
                <a:ea typeface="宋体" pitchFamily="2" charset="-122"/>
                <a:cs typeface="Times New Roman" pitchFamily="18" charset="0"/>
              </a:rPr>
              <a:t>(4) </a:t>
            </a:r>
            <a:r>
              <a:rPr lang="zh-CN" altLang="en-US" dirty="0">
                <a:latin typeface="Times New Roman" pitchFamily="18" charset="0"/>
                <a:ea typeface="宋体" pitchFamily="2" charset="-122"/>
                <a:cs typeface="Times New Roman" pitchFamily="18" charset="0"/>
              </a:rPr>
              <a:t>在</a:t>
            </a:r>
            <a:r>
              <a:rPr lang="en-US" altLang="zh-CN" dirty="0">
                <a:latin typeface="Times New Roman" pitchFamily="18" charset="0"/>
                <a:ea typeface="宋体" pitchFamily="2" charset="-122"/>
                <a:cs typeface="Times New Roman" pitchFamily="18" charset="0"/>
              </a:rPr>
              <a:t>(3)</a:t>
            </a:r>
            <a:r>
              <a:rPr lang="zh-CN" altLang="en-US" dirty="0">
                <a:latin typeface="Times New Roman" pitchFamily="18" charset="0"/>
                <a:ea typeface="宋体" pitchFamily="2" charset="-122"/>
                <a:cs typeface="Times New Roman" pitchFamily="18" charset="0"/>
              </a:rPr>
              <a:t>的基础上如果进程</a:t>
            </a:r>
            <a:r>
              <a:rPr lang="en-US" altLang="zh-CN" dirty="0">
                <a:latin typeface="Times New Roman" pitchFamily="18" charset="0"/>
                <a:ea typeface="宋体" pitchFamily="2" charset="-122"/>
                <a:cs typeface="Times New Roman" pitchFamily="18" charset="0"/>
              </a:rPr>
              <a:t>P1</a:t>
            </a:r>
            <a:r>
              <a:rPr lang="zh-CN" altLang="en-US" dirty="0">
                <a:latin typeface="Times New Roman" pitchFamily="18" charset="0"/>
                <a:ea typeface="宋体" pitchFamily="2" charset="-122"/>
                <a:cs typeface="Times New Roman" pitchFamily="18" charset="0"/>
              </a:rPr>
              <a:t>申请</a:t>
            </a:r>
            <a:r>
              <a:rPr lang="en-US" altLang="zh-CN" dirty="0">
                <a:latin typeface="Times New Roman" pitchFamily="18" charset="0"/>
                <a:ea typeface="宋体" pitchFamily="2" charset="-122"/>
                <a:cs typeface="Times New Roman" pitchFamily="18" charset="0"/>
              </a:rPr>
              <a:t>0</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A</a:t>
            </a:r>
            <a:r>
              <a:rPr lang="zh-CN" altLang="en-US" dirty="0">
                <a:latin typeface="Times New Roman" pitchFamily="18" charset="0"/>
                <a:ea typeface="宋体" pitchFamily="2" charset="-122"/>
                <a:cs typeface="Times New Roman" pitchFamily="18" charset="0"/>
              </a:rPr>
              <a:t>、</a:t>
            </a:r>
            <a:r>
              <a:rPr lang="en-US" altLang="zh-CN" dirty="0">
                <a:latin typeface="Times New Roman" pitchFamily="18" charset="0"/>
                <a:ea typeface="宋体" pitchFamily="2" charset="-122"/>
                <a:cs typeface="Times New Roman" pitchFamily="18" charset="0"/>
              </a:rPr>
              <a:t>2</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B</a:t>
            </a:r>
            <a:r>
              <a:rPr lang="zh-CN" altLang="en-US" dirty="0">
                <a:latin typeface="Times New Roman" pitchFamily="18" charset="0"/>
                <a:ea typeface="宋体" pitchFamily="2" charset="-122"/>
                <a:cs typeface="Times New Roman" pitchFamily="18" charset="0"/>
              </a:rPr>
              <a:t>和</a:t>
            </a:r>
            <a:r>
              <a:rPr lang="en-US" altLang="zh-CN" dirty="0">
                <a:latin typeface="Times New Roman" pitchFamily="18" charset="0"/>
                <a:ea typeface="宋体" pitchFamily="2" charset="-122"/>
                <a:cs typeface="Times New Roman" pitchFamily="18" charset="0"/>
              </a:rPr>
              <a:t>0</a:t>
            </a:r>
            <a:r>
              <a:rPr lang="zh-CN" altLang="en-US" dirty="0">
                <a:latin typeface="Times New Roman" pitchFamily="18" charset="0"/>
                <a:ea typeface="宋体" pitchFamily="2" charset="-122"/>
                <a:cs typeface="Times New Roman" pitchFamily="18" charset="0"/>
              </a:rPr>
              <a:t>个资源类</a:t>
            </a:r>
            <a:r>
              <a:rPr lang="en-US" altLang="zh-CN" dirty="0">
                <a:latin typeface="Times New Roman" pitchFamily="18" charset="0"/>
                <a:ea typeface="宋体" pitchFamily="2" charset="-122"/>
                <a:cs typeface="Times New Roman" pitchFamily="18" charset="0"/>
              </a:rPr>
              <a:t>C</a:t>
            </a:r>
            <a:r>
              <a:rPr lang="zh-CN" altLang="en-US" dirty="0">
                <a:latin typeface="Times New Roman" pitchFamily="18" charset="0"/>
                <a:ea typeface="宋体" pitchFamily="2" charset="-122"/>
                <a:cs typeface="Times New Roman" pitchFamily="18" charset="0"/>
              </a:rPr>
              <a:t>，能否实施分配？为什么？</a:t>
            </a:r>
            <a:endParaRPr lang="zh-CN" altLang="en-US" sz="4000" dirty="0">
              <a:latin typeface="Arial" pitchFamily="34" charset="0"/>
              <a:ea typeface="宋体" pitchFamily="2" charset="-122"/>
              <a:cs typeface="宋体" pitchFamily="2" charset="-122"/>
            </a:endParaRPr>
          </a:p>
        </p:txBody>
      </p:sp>
      <p:sp>
        <p:nvSpPr>
          <p:cNvPr id="9" name="矩形 8"/>
          <p:cNvSpPr/>
          <p:nvPr/>
        </p:nvSpPr>
        <p:spPr>
          <a:xfrm>
            <a:off x="1835696" y="1916832"/>
            <a:ext cx="4860032" cy="338554"/>
          </a:xfrm>
          <a:prstGeom prst="rect">
            <a:avLst/>
          </a:prstGeom>
        </p:spPr>
        <p:txBody>
          <a:bodyPr wrap="square">
            <a:spAutoFit/>
          </a:bodyPr>
          <a:lstStyle/>
          <a:p>
            <a:r>
              <a:rPr lang="zh-CN" altLang="en-US" sz="1600" dirty="0">
                <a:latin typeface="Times New Roman" pitchFamily="18" charset="0"/>
                <a:ea typeface="宋体" pitchFamily="2" charset="-122"/>
                <a:cs typeface="Times New Roman" pitchFamily="18" charset="0"/>
              </a:rPr>
              <a:t>               最大需求量	         已分配资源量      剩余资源</a:t>
            </a:r>
            <a:endParaRPr lang="zh-CN" altLang="en-US" sz="1600" dirty="0"/>
          </a:p>
        </p:txBody>
      </p:sp>
    </p:spTree>
    <p:extLst>
      <p:ext uri="{BB962C8B-B14F-4D97-AF65-F5344CB8AC3E}">
        <p14:creationId xmlns:p14="http://schemas.microsoft.com/office/powerpoint/2010/main" val="3783829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9D1F7-70BB-49E9-9A89-20594E64D571}"/>
              </a:ext>
            </a:extLst>
          </p:cNvPr>
          <p:cNvSpPr>
            <a:spLocks noGrp="1"/>
          </p:cNvSpPr>
          <p:nvPr>
            <p:ph type="title"/>
          </p:nvPr>
        </p:nvSpPr>
        <p:spPr/>
        <p:txBody>
          <a:bodyPr/>
          <a:lstStyle/>
          <a:p>
            <a:r>
              <a:rPr lang="zh-CN" altLang="en-US" dirty="0"/>
              <a:t>进程同步</a:t>
            </a:r>
          </a:p>
        </p:txBody>
      </p:sp>
      <p:sp>
        <p:nvSpPr>
          <p:cNvPr id="3" name="内容占位符 2">
            <a:extLst>
              <a:ext uri="{FF2B5EF4-FFF2-40B4-BE49-F238E27FC236}">
                <a16:creationId xmlns:a16="http://schemas.microsoft.com/office/drawing/2014/main" id="{ACA902C5-56F4-4626-9262-C944746580EB}"/>
              </a:ext>
            </a:extLst>
          </p:cNvPr>
          <p:cNvSpPr>
            <a:spLocks noGrp="1"/>
          </p:cNvSpPr>
          <p:nvPr>
            <p:ph idx="1"/>
          </p:nvPr>
        </p:nvSpPr>
        <p:spPr>
          <a:xfrm>
            <a:off x="529208" y="1484784"/>
            <a:ext cx="8229600" cy="4525963"/>
          </a:xfrm>
        </p:spPr>
        <p:txBody>
          <a:bodyPr/>
          <a:lstStyle/>
          <a:p>
            <a:r>
              <a:rPr lang="zh-CN" altLang="en-US" dirty="0"/>
              <a:t>某系统内多个进程分成</a:t>
            </a:r>
            <a:r>
              <a:rPr lang="en-US" altLang="zh-CN" dirty="0"/>
              <a:t>A</a:t>
            </a:r>
            <a:r>
              <a:rPr lang="zh-CN" altLang="en-US" dirty="0"/>
              <a:t>和</a:t>
            </a:r>
            <a:r>
              <a:rPr lang="en-US" altLang="zh-CN" dirty="0"/>
              <a:t>B</a:t>
            </a:r>
            <a:r>
              <a:rPr lang="zh-CN" altLang="en-US" dirty="0"/>
              <a:t>两类，假设同类进程所执行代码完全相同，</a:t>
            </a:r>
            <a:r>
              <a:rPr lang="en-US" altLang="zh-CN" dirty="0"/>
              <a:t>A</a:t>
            </a:r>
            <a:r>
              <a:rPr lang="zh-CN" altLang="en-US" dirty="0"/>
              <a:t>和</a:t>
            </a:r>
            <a:r>
              <a:rPr lang="en-US" altLang="zh-CN" dirty="0"/>
              <a:t>B</a:t>
            </a:r>
            <a:r>
              <a:rPr lang="zh-CN" altLang="en-US" dirty="0"/>
              <a:t>类进程代码分别如下。其中</a:t>
            </a:r>
            <a:r>
              <a:rPr lang="en-US" altLang="zh-CN" dirty="0"/>
              <a:t>X</a:t>
            </a:r>
            <a:r>
              <a:rPr lang="zh-CN" altLang="en-US" dirty="0"/>
              <a:t>和</a:t>
            </a:r>
            <a:r>
              <a:rPr lang="en-US" altLang="zh-CN" dirty="0"/>
              <a:t>Y</a:t>
            </a:r>
            <a:r>
              <a:rPr lang="zh-CN" altLang="en-US" dirty="0"/>
              <a:t>为信号量且分别初始化为</a:t>
            </a:r>
            <a:r>
              <a:rPr lang="en-US" altLang="zh-CN" dirty="0"/>
              <a:t>2</a:t>
            </a:r>
            <a:r>
              <a:rPr lang="zh-CN" altLang="en-US" dirty="0"/>
              <a:t>和</a:t>
            </a:r>
            <a:r>
              <a:rPr lang="en-US" altLang="zh-CN" dirty="0"/>
              <a:t>0</a:t>
            </a:r>
            <a:r>
              <a:rPr lang="zh-CN" altLang="en-US" dirty="0"/>
              <a:t>。假设</a:t>
            </a:r>
            <a:r>
              <a:rPr lang="en-US" altLang="zh-CN" dirty="0"/>
              <a:t>3</a:t>
            </a:r>
            <a:r>
              <a:rPr lang="zh-CN" altLang="en-US" dirty="0"/>
              <a:t>个</a:t>
            </a:r>
            <a:r>
              <a:rPr lang="en-US" altLang="zh-CN" dirty="0"/>
              <a:t>A</a:t>
            </a:r>
            <a:r>
              <a:rPr lang="zh-CN" altLang="en-US" dirty="0"/>
              <a:t>类进程和</a:t>
            </a:r>
            <a:r>
              <a:rPr lang="en-US" altLang="zh-CN" dirty="0"/>
              <a:t>2</a:t>
            </a:r>
            <a:r>
              <a:rPr lang="zh-CN" altLang="en-US" dirty="0"/>
              <a:t>个</a:t>
            </a:r>
            <a:r>
              <a:rPr lang="en-US" altLang="zh-CN" dirty="0"/>
              <a:t>B</a:t>
            </a:r>
            <a:r>
              <a:rPr lang="zh-CN" altLang="en-US" dirty="0"/>
              <a:t>类进程同时开始执行，则可能的执行顺序为</a:t>
            </a:r>
            <a:endParaRPr lang="en-US" altLang="zh-CN" dirty="0"/>
          </a:p>
          <a:p>
            <a:r>
              <a:rPr lang="en-US" altLang="zh-CN" dirty="0"/>
              <a:t>A </a:t>
            </a:r>
            <a:r>
              <a:rPr lang="en-US" altLang="zh-CN" dirty="0">
                <a:solidFill>
                  <a:srgbClr val="FF0000"/>
                </a:solidFill>
              </a:rPr>
              <a:t>AABAB</a:t>
            </a:r>
            <a:r>
              <a:rPr lang="en-US" altLang="zh-CN" dirty="0"/>
              <a:t>     B ABAAB     C ABABA     D AABBA</a:t>
            </a:r>
          </a:p>
          <a:p>
            <a:endParaRPr lang="zh-CN" altLang="en-US" dirty="0"/>
          </a:p>
        </p:txBody>
      </p:sp>
      <p:pic>
        <p:nvPicPr>
          <p:cNvPr id="7" name="图片 6" descr="C:\Users\ADMINI~1\AppData\Local\Temp\1604836692(1).png">
            <a:extLst>
              <a:ext uri="{FF2B5EF4-FFF2-40B4-BE49-F238E27FC236}">
                <a16:creationId xmlns:a16="http://schemas.microsoft.com/office/drawing/2014/main" id="{3135567D-7FFD-4F00-A635-D63B150E6F3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725144"/>
            <a:ext cx="4752528" cy="1858218"/>
          </a:xfrm>
          <a:prstGeom prst="rect">
            <a:avLst/>
          </a:prstGeom>
          <a:noFill/>
          <a:ln>
            <a:noFill/>
          </a:ln>
        </p:spPr>
      </p:pic>
    </p:spTree>
    <p:extLst>
      <p:ext uri="{BB962C8B-B14F-4D97-AF65-F5344CB8AC3E}">
        <p14:creationId xmlns:p14="http://schemas.microsoft.com/office/powerpoint/2010/main" val="572275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a:xfrm>
            <a:off x="685800" y="1485081"/>
            <a:ext cx="7772400" cy="6048375"/>
          </a:xfrm>
        </p:spPr>
        <p:txBody>
          <a:bodyPr>
            <a:normAutofit/>
          </a:bodyPr>
          <a:lstStyle/>
          <a:p>
            <a:pPr marL="0" indent="0">
              <a:buNone/>
            </a:pPr>
            <a:r>
              <a:rPr lang="zh-CN" altLang="en-US" sz="2800" dirty="0"/>
              <a:t>在一个箱子里混装有数量相等的黑色围棋子和白色围棋子，现要用自动分拣系统把黑子和白子分开，该系统由两个并发执行的进程组成，功能如下：</a:t>
            </a:r>
          </a:p>
          <a:p>
            <a:pPr lvl="1"/>
            <a:r>
              <a:rPr lang="zh-CN" altLang="en-US" dirty="0"/>
              <a:t>进程</a:t>
            </a:r>
            <a:r>
              <a:rPr lang="en-US" altLang="zh-CN" dirty="0"/>
              <a:t>A</a:t>
            </a:r>
            <a:r>
              <a:rPr lang="zh-CN" altLang="en-US" dirty="0"/>
              <a:t>专门拣黑子，进程</a:t>
            </a:r>
            <a:r>
              <a:rPr lang="en-US" altLang="zh-CN" dirty="0"/>
              <a:t>B</a:t>
            </a:r>
            <a:r>
              <a:rPr lang="zh-CN" altLang="en-US" dirty="0"/>
              <a:t>专门拣白子；</a:t>
            </a:r>
          </a:p>
          <a:p>
            <a:pPr lvl="1"/>
            <a:r>
              <a:rPr lang="zh-CN" altLang="en-US" dirty="0"/>
              <a:t>每个进程每次只拣一个子，当一个进程在拣子时不允许另一个进程去拣子；</a:t>
            </a:r>
          </a:p>
          <a:p>
            <a:pPr lvl="1"/>
            <a:r>
              <a:rPr lang="zh-CN" altLang="en-US" dirty="0"/>
              <a:t>当一个进程拣了一个棋子（黑子或白子）以后，必须让另一个进程拣一个棋子（黑子或白子），并要求</a:t>
            </a:r>
            <a:r>
              <a:rPr lang="en-US" altLang="zh-CN" dirty="0"/>
              <a:t>A</a:t>
            </a:r>
            <a:r>
              <a:rPr lang="zh-CN" altLang="en-US" dirty="0"/>
              <a:t>进程首先开始。</a:t>
            </a:r>
          </a:p>
        </p:txBody>
      </p:sp>
      <p:sp>
        <p:nvSpPr>
          <p:cNvPr id="3" name="标题 1"/>
          <p:cNvSpPr>
            <a:spLocks noGrp="1"/>
          </p:cNvSpPr>
          <p:nvPr>
            <p:ph type="title"/>
          </p:nvPr>
        </p:nvSpPr>
        <p:spPr>
          <a:xfrm>
            <a:off x="457200" y="274638"/>
            <a:ext cx="8229600" cy="1143000"/>
          </a:xfrm>
        </p:spPr>
        <p:txBody>
          <a:bodyPr/>
          <a:lstStyle/>
          <a:p>
            <a:r>
              <a:rPr lang="zh-CN" altLang="en-US" dirty="0">
                <a:ea typeface="宋体" pitchFamily="2" charset="-122"/>
              </a:rPr>
              <a:t>进程同步与互斥：习题</a:t>
            </a:r>
            <a:r>
              <a:rPr lang="en-US" altLang="zh-CN" dirty="0">
                <a:ea typeface="宋体" pitchFamily="2" charset="-122"/>
              </a:rPr>
              <a:t>3</a:t>
            </a:r>
            <a:endParaRPr lang="zh-CN" altLang="en-US" dirty="0">
              <a:ea typeface="宋体" pitchFamily="2" charset="-122"/>
            </a:endParaRPr>
          </a:p>
        </p:txBody>
      </p:sp>
    </p:spTree>
    <p:extLst>
      <p:ext uri="{BB962C8B-B14F-4D97-AF65-F5344CB8AC3E}">
        <p14:creationId xmlns:p14="http://schemas.microsoft.com/office/powerpoint/2010/main" val="293014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xfrm>
            <a:off x="685800" y="549275"/>
            <a:ext cx="7772400" cy="2303463"/>
          </a:xfrm>
        </p:spPr>
        <p:txBody>
          <a:bodyPr/>
          <a:lstStyle/>
          <a:p>
            <a:pPr>
              <a:lnSpc>
                <a:spcPct val="90000"/>
              </a:lnSpc>
            </a:pPr>
            <a:r>
              <a:rPr lang="zh-CN" altLang="en-US" sz="2800"/>
              <a:t>定义两个同步信号量</a:t>
            </a:r>
            <a:r>
              <a:rPr lang="en-US" altLang="zh-CN" sz="2800"/>
              <a:t>s1,s2;</a:t>
            </a:r>
          </a:p>
          <a:p>
            <a:pPr>
              <a:lnSpc>
                <a:spcPct val="90000"/>
              </a:lnSpc>
            </a:pPr>
            <a:r>
              <a:rPr lang="zh-CN" altLang="en-US" sz="2800"/>
              <a:t>因为要求进程</a:t>
            </a:r>
            <a:r>
              <a:rPr lang="en-US" altLang="zh-CN" sz="2800"/>
              <a:t>A</a:t>
            </a:r>
            <a:r>
              <a:rPr lang="zh-CN" altLang="en-US" sz="2800"/>
              <a:t>先开始，故</a:t>
            </a:r>
            <a:r>
              <a:rPr lang="en-US" altLang="zh-CN" sz="2800"/>
              <a:t>S1</a:t>
            </a:r>
            <a:r>
              <a:rPr lang="zh-CN" altLang="en-US" sz="2800"/>
              <a:t>初值为</a:t>
            </a:r>
            <a:r>
              <a:rPr lang="en-US" altLang="zh-CN" sz="2800"/>
              <a:t>1</a:t>
            </a:r>
            <a:r>
              <a:rPr lang="zh-CN" altLang="en-US" sz="2800"/>
              <a:t>；</a:t>
            </a:r>
            <a:r>
              <a:rPr lang="en-US" altLang="zh-CN" sz="2800"/>
              <a:t>s2</a:t>
            </a:r>
            <a:r>
              <a:rPr lang="zh-CN" altLang="en-US" sz="2800"/>
              <a:t>初值为</a:t>
            </a:r>
            <a:r>
              <a:rPr lang="en-US" altLang="zh-CN" sz="2800"/>
              <a:t>0</a:t>
            </a:r>
            <a:r>
              <a:rPr lang="zh-CN" altLang="en-US" sz="2800"/>
              <a:t>；</a:t>
            </a:r>
          </a:p>
          <a:p>
            <a:pPr>
              <a:lnSpc>
                <a:spcPct val="90000"/>
              </a:lnSpc>
            </a:pPr>
            <a:endParaRPr lang="zh-CN" altLang="en-US" sz="2800"/>
          </a:p>
          <a:p>
            <a:pPr>
              <a:lnSpc>
                <a:spcPct val="90000"/>
              </a:lnSpc>
            </a:pPr>
            <a:r>
              <a:rPr lang="zh-CN" altLang="en-US" sz="2800"/>
              <a:t>  </a:t>
            </a:r>
          </a:p>
        </p:txBody>
      </p:sp>
      <p:sp>
        <p:nvSpPr>
          <p:cNvPr id="61443" name="Text Box 3"/>
          <p:cNvSpPr txBox="1">
            <a:spLocks noChangeArrowheads="1"/>
          </p:cNvSpPr>
          <p:nvPr/>
        </p:nvSpPr>
        <p:spPr bwMode="auto">
          <a:xfrm>
            <a:off x="5435600" y="2708275"/>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61444" name="Text Box 4"/>
          <p:cNvSpPr txBox="1">
            <a:spLocks noChangeArrowheads="1"/>
          </p:cNvSpPr>
          <p:nvPr/>
        </p:nvSpPr>
        <p:spPr bwMode="auto">
          <a:xfrm>
            <a:off x="971550" y="2606675"/>
            <a:ext cx="260199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800" dirty="0"/>
              <a:t>进程</a:t>
            </a:r>
            <a:r>
              <a:rPr kumimoji="1" lang="en-US" altLang="zh-CN" sz="2800" dirty="0"/>
              <a:t>A </a:t>
            </a:r>
          </a:p>
          <a:p>
            <a:pPr algn="l"/>
            <a:r>
              <a:rPr kumimoji="1" lang="en-US" altLang="zh-CN" sz="2800" dirty="0"/>
              <a:t>  while</a:t>
            </a:r>
            <a:r>
              <a:rPr kumimoji="1" lang="zh-CN" altLang="en-US" sz="2800" dirty="0"/>
              <a:t>（</a:t>
            </a:r>
            <a:r>
              <a:rPr kumimoji="1" lang="en-US" altLang="zh-CN" sz="2800" dirty="0"/>
              <a:t>1</a:t>
            </a:r>
            <a:r>
              <a:rPr kumimoji="1" lang="zh-CN" altLang="en-US" sz="2800" dirty="0"/>
              <a:t>）</a:t>
            </a:r>
            <a:r>
              <a:rPr kumimoji="1" lang="en-US" altLang="zh-CN" sz="2800" dirty="0"/>
              <a:t>{</a:t>
            </a:r>
          </a:p>
          <a:p>
            <a:pPr algn="l"/>
            <a:r>
              <a:rPr kumimoji="1" lang="en-US" altLang="zh-CN" sz="2800" dirty="0"/>
              <a:t>          wait(s1);</a:t>
            </a:r>
          </a:p>
          <a:p>
            <a:pPr algn="l"/>
            <a:r>
              <a:rPr kumimoji="1" lang="en-US" altLang="zh-CN" sz="2800" dirty="0"/>
              <a:t>            </a:t>
            </a:r>
            <a:r>
              <a:rPr kumimoji="1" lang="zh-CN" altLang="en-US" sz="2800" dirty="0"/>
              <a:t>拣黑子；</a:t>
            </a:r>
          </a:p>
          <a:p>
            <a:pPr algn="l"/>
            <a:r>
              <a:rPr kumimoji="1" lang="zh-CN" altLang="en-US" sz="2800" dirty="0"/>
              <a:t>          </a:t>
            </a:r>
            <a:r>
              <a:rPr kumimoji="1" lang="en-US" altLang="zh-CN" sz="2800" dirty="0"/>
              <a:t>signal(s2);</a:t>
            </a:r>
          </a:p>
          <a:p>
            <a:pPr algn="l"/>
            <a:r>
              <a:rPr kumimoji="1" lang="en-US" altLang="zh-CN" sz="2800" dirty="0"/>
              <a:t>     }</a:t>
            </a:r>
          </a:p>
          <a:p>
            <a:pPr algn="l"/>
            <a:r>
              <a:rPr kumimoji="1" lang="en-US" altLang="zh-CN" sz="2800" dirty="0"/>
              <a:t>  </a:t>
            </a:r>
          </a:p>
          <a:p>
            <a:pPr algn="l"/>
            <a:endParaRPr lang="en-US" altLang="zh-CN" sz="2800" dirty="0"/>
          </a:p>
        </p:txBody>
      </p:sp>
      <p:sp>
        <p:nvSpPr>
          <p:cNvPr id="61445" name="Text Box 5"/>
          <p:cNvSpPr txBox="1">
            <a:spLocks noChangeArrowheads="1"/>
          </p:cNvSpPr>
          <p:nvPr/>
        </p:nvSpPr>
        <p:spPr bwMode="auto">
          <a:xfrm>
            <a:off x="4284663" y="2535238"/>
            <a:ext cx="2601994"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800" dirty="0"/>
              <a:t>进程</a:t>
            </a:r>
            <a:r>
              <a:rPr kumimoji="1" lang="en-US" altLang="zh-CN" sz="2800" dirty="0"/>
              <a:t>B</a:t>
            </a:r>
            <a:r>
              <a:rPr kumimoji="1" lang="zh-CN" altLang="en-US" sz="2800" dirty="0"/>
              <a:t>：</a:t>
            </a:r>
          </a:p>
          <a:p>
            <a:pPr algn="l"/>
            <a:r>
              <a:rPr kumimoji="1" lang="en-US" altLang="zh-CN" sz="2800" dirty="0"/>
              <a:t>while</a:t>
            </a:r>
            <a:r>
              <a:rPr kumimoji="1" lang="zh-CN" altLang="en-US" sz="2800" dirty="0"/>
              <a:t>（</a:t>
            </a:r>
            <a:r>
              <a:rPr kumimoji="1" lang="en-US" altLang="zh-CN" sz="2800" dirty="0"/>
              <a:t>1</a:t>
            </a:r>
            <a:r>
              <a:rPr kumimoji="1" lang="zh-CN" altLang="en-US" sz="2800" dirty="0"/>
              <a:t>）</a:t>
            </a:r>
            <a:r>
              <a:rPr kumimoji="1" lang="en-US" altLang="zh-CN" sz="2800" dirty="0"/>
              <a:t>{</a:t>
            </a:r>
          </a:p>
          <a:p>
            <a:pPr algn="l"/>
            <a:r>
              <a:rPr kumimoji="1" lang="en-US" altLang="zh-CN" sz="2800" dirty="0"/>
              <a:t>          wait(s2);</a:t>
            </a:r>
          </a:p>
          <a:p>
            <a:pPr algn="l"/>
            <a:r>
              <a:rPr kumimoji="1" lang="en-US" altLang="zh-CN" sz="2800" dirty="0"/>
              <a:t>            </a:t>
            </a:r>
            <a:r>
              <a:rPr kumimoji="1" lang="zh-CN" altLang="en-US" sz="2800" dirty="0"/>
              <a:t>拣白子；</a:t>
            </a:r>
          </a:p>
          <a:p>
            <a:pPr algn="l"/>
            <a:r>
              <a:rPr kumimoji="1" lang="zh-CN" altLang="en-US" sz="2800" dirty="0"/>
              <a:t>          </a:t>
            </a:r>
            <a:r>
              <a:rPr kumimoji="1" lang="en-US" altLang="zh-CN" sz="2800" dirty="0"/>
              <a:t>signal(s1);</a:t>
            </a:r>
          </a:p>
          <a:p>
            <a:pPr algn="l"/>
            <a:r>
              <a:rPr kumimoji="1" lang="en-US" altLang="zh-CN" sz="2800" dirty="0"/>
              <a:t>     }</a:t>
            </a:r>
          </a:p>
          <a:p>
            <a:pPr algn="l"/>
            <a:r>
              <a:rPr kumimoji="1" lang="en-US" altLang="zh-CN" dirty="0"/>
              <a:t>  </a:t>
            </a:r>
          </a:p>
          <a:p>
            <a:pPr algn="l"/>
            <a:endParaRPr lang="en-US" altLang="zh-CN" dirty="0"/>
          </a:p>
        </p:txBody>
      </p:sp>
      <p:sp>
        <p:nvSpPr>
          <p:cNvPr id="61446" name="Line 6"/>
          <p:cNvSpPr>
            <a:spLocks noChangeShapeType="1"/>
          </p:cNvSpPr>
          <p:nvPr/>
        </p:nvSpPr>
        <p:spPr bwMode="auto">
          <a:xfrm>
            <a:off x="3779838" y="2276475"/>
            <a:ext cx="0" cy="41052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89402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DEBE7F-525F-4C2F-A0F6-85FB10C36203}"/>
              </a:ext>
            </a:extLst>
          </p:cNvPr>
          <p:cNvSpPr>
            <a:spLocks noGrp="1"/>
          </p:cNvSpPr>
          <p:nvPr>
            <p:ph type="title"/>
          </p:nvPr>
        </p:nvSpPr>
        <p:spPr/>
        <p:txBody>
          <a:bodyPr/>
          <a:lstStyle/>
          <a:p>
            <a:r>
              <a:rPr lang="zh-CN" altLang="en-US" dirty="0"/>
              <a:t>进程同步与互斥：习题</a:t>
            </a:r>
            <a:r>
              <a:rPr lang="en-US" altLang="zh-CN" dirty="0"/>
              <a:t>4</a:t>
            </a:r>
            <a:endParaRPr lang="zh-CN" altLang="en-US" dirty="0"/>
          </a:p>
        </p:txBody>
      </p:sp>
      <p:sp>
        <p:nvSpPr>
          <p:cNvPr id="3" name="内容占位符 2">
            <a:extLst>
              <a:ext uri="{FF2B5EF4-FFF2-40B4-BE49-F238E27FC236}">
                <a16:creationId xmlns:a16="http://schemas.microsoft.com/office/drawing/2014/main" id="{9B3B8C19-F267-46BB-8425-292D6E1DD94A}"/>
              </a:ext>
            </a:extLst>
          </p:cNvPr>
          <p:cNvSpPr>
            <a:spLocks noGrp="1"/>
          </p:cNvSpPr>
          <p:nvPr>
            <p:ph idx="1"/>
          </p:nvPr>
        </p:nvSpPr>
        <p:spPr>
          <a:xfrm>
            <a:off x="457200" y="1600200"/>
            <a:ext cx="8435280" cy="4525963"/>
          </a:xfrm>
        </p:spPr>
        <p:txBody>
          <a:bodyPr>
            <a:normAutofit/>
          </a:bodyPr>
          <a:lstStyle/>
          <a:p>
            <a:r>
              <a:rPr lang="en-US" altLang="zh-CN" sz="2400" dirty="0"/>
              <a:t>Suppose there are two workers A and B in a factory. They take parts from the same red box and assemble them into machines. Then they put the assembled machines into another blue box. Make sure that they take parts from the red box mutual exclusively, and put machines into the blue box alternately (in the order: A, B, A, B …). Write C-like pseudo code that performs the appropriate initializations and enforces this execution order. Use only semaphores for your synchronization.</a:t>
            </a:r>
            <a:endParaRPr lang="zh-CN" altLang="en-US" sz="2400" dirty="0"/>
          </a:p>
        </p:txBody>
      </p:sp>
      <p:sp>
        <p:nvSpPr>
          <p:cNvPr id="4" name="Rectangle 11">
            <a:extLst>
              <a:ext uri="{FF2B5EF4-FFF2-40B4-BE49-F238E27FC236}">
                <a16:creationId xmlns:a16="http://schemas.microsoft.com/office/drawing/2014/main" id="{2CAAC503-F0FA-4113-B47C-1DA2F1ED1AE3}"/>
              </a:ext>
            </a:extLst>
          </p:cNvPr>
          <p:cNvSpPr>
            <a:spLocks noChangeArrowheads="1"/>
          </p:cNvSpPr>
          <p:nvPr/>
        </p:nvSpPr>
        <p:spPr bwMode="auto">
          <a:xfrm>
            <a:off x="2195735" y="4725143"/>
            <a:ext cx="111137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5" name="Group 1">
            <a:extLst>
              <a:ext uri="{FF2B5EF4-FFF2-40B4-BE49-F238E27FC236}">
                <a16:creationId xmlns:a16="http://schemas.microsoft.com/office/drawing/2014/main" id="{19769CC4-6A5E-4EB0-899B-2415B3814CBF}"/>
              </a:ext>
            </a:extLst>
          </p:cNvPr>
          <p:cNvGrpSpPr>
            <a:grpSpLocks noChangeAspect="1"/>
          </p:cNvGrpSpPr>
          <p:nvPr/>
        </p:nvGrpSpPr>
        <p:grpSpPr bwMode="auto">
          <a:xfrm>
            <a:off x="2195736" y="4725144"/>
            <a:ext cx="4925334" cy="1858218"/>
            <a:chOff x="3075" y="10989"/>
            <a:chExt cx="4666" cy="1760"/>
          </a:xfrm>
        </p:grpSpPr>
        <p:sp>
          <p:nvSpPr>
            <p:cNvPr id="6" name="AutoShape 10">
              <a:extLst>
                <a:ext uri="{FF2B5EF4-FFF2-40B4-BE49-F238E27FC236}">
                  <a16:creationId xmlns:a16="http://schemas.microsoft.com/office/drawing/2014/main" id="{5ABB944D-4066-4372-8A62-B72A4B3B73AC}"/>
                </a:ext>
              </a:extLst>
            </p:cNvPr>
            <p:cNvSpPr>
              <a:spLocks noChangeAspect="1" noChangeArrowheads="1" noTextEdit="1"/>
            </p:cNvSpPr>
            <p:nvPr/>
          </p:nvSpPr>
          <p:spPr bwMode="auto">
            <a:xfrm>
              <a:off x="3075" y="10989"/>
              <a:ext cx="4666" cy="1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 Box 9">
              <a:extLst>
                <a:ext uri="{FF2B5EF4-FFF2-40B4-BE49-F238E27FC236}">
                  <a16:creationId xmlns:a16="http://schemas.microsoft.com/office/drawing/2014/main" id="{BFF550B0-652E-4EA8-A592-5A185563892A}"/>
                </a:ext>
              </a:extLst>
            </p:cNvPr>
            <p:cNvSpPr txBox="1">
              <a:spLocks noChangeArrowheads="1"/>
            </p:cNvSpPr>
            <p:nvPr/>
          </p:nvSpPr>
          <p:spPr bwMode="auto">
            <a:xfrm>
              <a:off x="3364" y="11508"/>
              <a:ext cx="979" cy="73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Red Box</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8" name="Text Box 8">
              <a:extLst>
                <a:ext uri="{FF2B5EF4-FFF2-40B4-BE49-F238E27FC236}">
                  <a16:creationId xmlns:a16="http://schemas.microsoft.com/office/drawing/2014/main" id="{BA5212E1-0D09-4B6E-9614-D293DA3BE087}"/>
                </a:ext>
              </a:extLst>
            </p:cNvPr>
            <p:cNvSpPr txBox="1">
              <a:spLocks noChangeArrowheads="1"/>
            </p:cNvSpPr>
            <p:nvPr/>
          </p:nvSpPr>
          <p:spPr bwMode="auto">
            <a:xfrm>
              <a:off x="6473" y="11508"/>
              <a:ext cx="979" cy="73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Blue Box</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9" name="Oval 7">
              <a:extLst>
                <a:ext uri="{FF2B5EF4-FFF2-40B4-BE49-F238E27FC236}">
                  <a16:creationId xmlns:a16="http://schemas.microsoft.com/office/drawing/2014/main" id="{5513C0F6-A066-4B35-9D24-D1882AE5B15E}"/>
                </a:ext>
              </a:extLst>
            </p:cNvPr>
            <p:cNvSpPr>
              <a:spLocks noChangeArrowheads="1"/>
            </p:cNvSpPr>
            <p:nvPr/>
          </p:nvSpPr>
          <p:spPr bwMode="auto">
            <a:xfrm>
              <a:off x="5219" y="11128"/>
              <a:ext cx="460" cy="48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0" name="Oval 6">
              <a:extLst>
                <a:ext uri="{FF2B5EF4-FFF2-40B4-BE49-F238E27FC236}">
                  <a16:creationId xmlns:a16="http://schemas.microsoft.com/office/drawing/2014/main" id="{6D4A4DA2-A573-40C3-87D0-326F0F42AE03}"/>
                </a:ext>
              </a:extLst>
            </p:cNvPr>
            <p:cNvSpPr>
              <a:spLocks noChangeArrowheads="1"/>
            </p:cNvSpPr>
            <p:nvPr/>
          </p:nvSpPr>
          <p:spPr bwMode="auto">
            <a:xfrm>
              <a:off x="5219" y="12186"/>
              <a:ext cx="460" cy="486"/>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1" name="AutoShape 5">
              <a:extLst>
                <a:ext uri="{FF2B5EF4-FFF2-40B4-BE49-F238E27FC236}">
                  <a16:creationId xmlns:a16="http://schemas.microsoft.com/office/drawing/2014/main" id="{2B214D3A-9A37-4E6E-BB50-5A2C646E2AD5}"/>
                </a:ext>
              </a:extLst>
            </p:cNvPr>
            <p:cNvSpPr>
              <a:spLocks noChangeShapeType="1"/>
            </p:cNvSpPr>
            <p:nvPr/>
          </p:nvSpPr>
          <p:spPr bwMode="auto">
            <a:xfrm flipV="1">
              <a:off x="4343" y="11370"/>
              <a:ext cx="876" cy="50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AutoShape 4">
              <a:extLst>
                <a:ext uri="{FF2B5EF4-FFF2-40B4-BE49-F238E27FC236}">
                  <a16:creationId xmlns:a16="http://schemas.microsoft.com/office/drawing/2014/main" id="{C1D99DCA-588B-4E17-B72B-AFBF555EE8E3}"/>
                </a:ext>
              </a:extLst>
            </p:cNvPr>
            <p:cNvSpPr>
              <a:spLocks noChangeShapeType="1"/>
            </p:cNvSpPr>
            <p:nvPr/>
          </p:nvSpPr>
          <p:spPr bwMode="auto">
            <a:xfrm>
              <a:off x="4343" y="11877"/>
              <a:ext cx="876" cy="55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3">
              <a:extLst>
                <a:ext uri="{FF2B5EF4-FFF2-40B4-BE49-F238E27FC236}">
                  <a16:creationId xmlns:a16="http://schemas.microsoft.com/office/drawing/2014/main" id="{433A6B18-4DFC-441A-9020-6F681C63E811}"/>
                </a:ext>
              </a:extLst>
            </p:cNvPr>
            <p:cNvSpPr>
              <a:spLocks noChangeShapeType="1"/>
            </p:cNvSpPr>
            <p:nvPr/>
          </p:nvSpPr>
          <p:spPr bwMode="auto">
            <a:xfrm>
              <a:off x="5679" y="11370"/>
              <a:ext cx="794" cy="50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2">
              <a:extLst>
                <a:ext uri="{FF2B5EF4-FFF2-40B4-BE49-F238E27FC236}">
                  <a16:creationId xmlns:a16="http://schemas.microsoft.com/office/drawing/2014/main" id="{5541680F-E20D-4F6A-8193-06CF52591DC5}"/>
                </a:ext>
              </a:extLst>
            </p:cNvPr>
            <p:cNvSpPr>
              <a:spLocks noChangeShapeType="1"/>
            </p:cNvSpPr>
            <p:nvPr/>
          </p:nvSpPr>
          <p:spPr bwMode="auto">
            <a:xfrm flipV="1">
              <a:off x="5679" y="11877"/>
              <a:ext cx="794" cy="55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3398928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8191D0-6087-461E-98F4-1ED218577F4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5F0428F-F50A-4E30-A485-71D55B520FC3}"/>
              </a:ext>
            </a:extLst>
          </p:cNvPr>
          <p:cNvSpPr>
            <a:spLocks noGrp="1"/>
          </p:cNvSpPr>
          <p:nvPr>
            <p:ph idx="1"/>
          </p:nvPr>
        </p:nvSpPr>
        <p:spPr/>
        <p:txBody>
          <a:bodyPr/>
          <a:lstStyle/>
          <a:p>
            <a:r>
              <a:rPr lang="en-US" altLang="zh-CN" dirty="0"/>
              <a:t> semaphore mutex, SA, SB;</a:t>
            </a:r>
          </a:p>
          <a:p>
            <a:r>
              <a:rPr lang="en-US" altLang="zh-CN" dirty="0"/>
              <a:t>mutex = 1; //</a:t>
            </a:r>
            <a:r>
              <a:rPr lang="zh-CN" altLang="en-US" dirty="0"/>
              <a:t>用于互斥地从</a:t>
            </a:r>
            <a:r>
              <a:rPr lang="en-US" altLang="zh-CN" dirty="0"/>
              <a:t>red box</a:t>
            </a:r>
            <a:r>
              <a:rPr lang="zh-CN" altLang="en-US" dirty="0"/>
              <a:t>中取零件</a:t>
            </a:r>
          </a:p>
          <a:p>
            <a:r>
              <a:rPr lang="en-US" altLang="zh-CN" dirty="0"/>
              <a:t>SA = 1; //</a:t>
            </a:r>
            <a:r>
              <a:rPr lang="zh-CN" altLang="en-US" dirty="0"/>
              <a:t>用于通知</a:t>
            </a:r>
            <a:r>
              <a:rPr lang="en-US" altLang="zh-CN" dirty="0"/>
              <a:t>A</a:t>
            </a:r>
            <a:r>
              <a:rPr lang="zh-CN" altLang="en-US" dirty="0"/>
              <a:t>可放入</a:t>
            </a:r>
            <a:r>
              <a:rPr lang="en-US" altLang="zh-CN" dirty="0"/>
              <a:t>blue box</a:t>
            </a:r>
          </a:p>
          <a:p>
            <a:r>
              <a:rPr lang="en-US" altLang="zh-CN" dirty="0"/>
              <a:t>SB = 0; //</a:t>
            </a:r>
            <a:r>
              <a:rPr lang="zh-CN" altLang="en-US" dirty="0"/>
              <a:t>用于通知</a:t>
            </a:r>
            <a:r>
              <a:rPr lang="en-US" altLang="zh-CN" dirty="0"/>
              <a:t>B</a:t>
            </a:r>
            <a:r>
              <a:rPr lang="zh-CN" altLang="en-US" dirty="0"/>
              <a:t>可放入</a:t>
            </a:r>
            <a:r>
              <a:rPr lang="en-US" altLang="zh-CN" dirty="0"/>
              <a:t>blue box</a:t>
            </a:r>
          </a:p>
          <a:p>
            <a:endParaRPr lang="zh-CN" altLang="en-US" dirty="0"/>
          </a:p>
        </p:txBody>
      </p:sp>
    </p:spTree>
    <p:extLst>
      <p:ext uri="{BB962C8B-B14F-4D97-AF65-F5344CB8AC3E}">
        <p14:creationId xmlns:p14="http://schemas.microsoft.com/office/powerpoint/2010/main" val="28573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5B02EF2-FA49-4606-9B13-C032FA169B8D}"/>
              </a:ext>
            </a:extLst>
          </p:cNvPr>
          <p:cNvSpPr>
            <a:spLocks noGrp="1"/>
          </p:cNvSpPr>
          <p:nvPr>
            <p:ph idx="1"/>
          </p:nvPr>
        </p:nvSpPr>
        <p:spPr>
          <a:xfrm>
            <a:off x="457200" y="260648"/>
            <a:ext cx="8229600" cy="5865515"/>
          </a:xfrm>
        </p:spPr>
        <p:txBody>
          <a:bodyPr/>
          <a:lstStyle/>
          <a:p>
            <a:pPr marL="0" indent="0">
              <a:buNone/>
            </a:pPr>
            <a:r>
              <a:rPr lang="en-US" altLang="zh-CN" dirty="0"/>
              <a:t>A: </a:t>
            </a:r>
          </a:p>
          <a:p>
            <a:pPr marL="0" indent="0">
              <a:buNone/>
            </a:pPr>
            <a:r>
              <a:rPr lang="en-US" altLang="zh-CN" dirty="0"/>
              <a:t>while (1){</a:t>
            </a:r>
          </a:p>
          <a:p>
            <a:pPr marL="0" indent="0">
              <a:buNone/>
            </a:pPr>
            <a:r>
              <a:rPr lang="en-US" altLang="zh-CN" dirty="0"/>
              <a:t>    wait(mutex);</a:t>
            </a:r>
          </a:p>
          <a:p>
            <a:pPr marL="0" indent="0">
              <a:buNone/>
            </a:pPr>
            <a:r>
              <a:rPr lang="en-US" altLang="zh-CN" dirty="0"/>
              <a:t>    </a:t>
            </a:r>
            <a:r>
              <a:rPr lang="zh-CN" altLang="en-US" dirty="0"/>
              <a:t>从红筐中取零件；</a:t>
            </a:r>
          </a:p>
          <a:p>
            <a:pPr marL="0" indent="0">
              <a:buNone/>
            </a:pPr>
            <a:r>
              <a:rPr lang="zh-CN" altLang="en-US" dirty="0"/>
              <a:t>    </a:t>
            </a:r>
            <a:r>
              <a:rPr lang="en-US" altLang="zh-CN" dirty="0"/>
              <a:t>signal(mutex);</a:t>
            </a:r>
          </a:p>
          <a:p>
            <a:pPr marL="0" indent="0">
              <a:buNone/>
            </a:pPr>
            <a:r>
              <a:rPr lang="en-US" altLang="zh-CN" dirty="0"/>
              <a:t>    </a:t>
            </a:r>
            <a:r>
              <a:rPr lang="zh-CN" altLang="en-US" dirty="0"/>
              <a:t>组装机器；</a:t>
            </a:r>
          </a:p>
          <a:p>
            <a:pPr marL="0" indent="0">
              <a:buNone/>
            </a:pPr>
            <a:r>
              <a:rPr lang="zh-CN" altLang="en-US" dirty="0"/>
              <a:t>    </a:t>
            </a:r>
            <a:r>
              <a:rPr lang="en-US" altLang="zh-CN" dirty="0"/>
              <a:t>wait(SA);</a:t>
            </a:r>
          </a:p>
          <a:p>
            <a:pPr marL="0" indent="0">
              <a:buNone/>
            </a:pPr>
            <a:r>
              <a:rPr lang="en-US" altLang="zh-CN" dirty="0"/>
              <a:t>    </a:t>
            </a:r>
            <a:r>
              <a:rPr lang="zh-CN" altLang="en-US" dirty="0"/>
              <a:t>将组装的机器放入蓝筐；</a:t>
            </a:r>
          </a:p>
          <a:p>
            <a:pPr marL="0" indent="0">
              <a:buNone/>
            </a:pPr>
            <a:r>
              <a:rPr lang="zh-CN" altLang="en-US" dirty="0"/>
              <a:t>    </a:t>
            </a:r>
            <a:r>
              <a:rPr lang="en-US" altLang="zh-CN" dirty="0"/>
              <a:t>signal(SB);</a:t>
            </a:r>
          </a:p>
          <a:p>
            <a:pPr marL="0" indent="0">
              <a:buNone/>
            </a:pPr>
            <a:r>
              <a:rPr lang="en-US" altLang="zh-CN" dirty="0"/>
              <a:t>}</a:t>
            </a:r>
          </a:p>
          <a:p>
            <a:endParaRPr lang="zh-CN" altLang="en-US" dirty="0"/>
          </a:p>
        </p:txBody>
      </p:sp>
    </p:spTree>
    <p:extLst>
      <p:ext uri="{BB962C8B-B14F-4D97-AF65-F5344CB8AC3E}">
        <p14:creationId xmlns:p14="http://schemas.microsoft.com/office/powerpoint/2010/main" val="1770933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D782984-944E-4D60-AF81-0D9F1A3A58E3}"/>
              </a:ext>
            </a:extLst>
          </p:cNvPr>
          <p:cNvSpPr>
            <a:spLocks noGrp="1"/>
          </p:cNvSpPr>
          <p:nvPr>
            <p:ph idx="1"/>
          </p:nvPr>
        </p:nvSpPr>
        <p:spPr>
          <a:xfrm>
            <a:off x="457200" y="332656"/>
            <a:ext cx="8229600" cy="5793507"/>
          </a:xfrm>
        </p:spPr>
        <p:txBody>
          <a:bodyPr>
            <a:normAutofit lnSpcReduction="10000"/>
          </a:bodyPr>
          <a:lstStyle/>
          <a:p>
            <a:pPr marL="0" indent="0">
              <a:buNone/>
            </a:pPr>
            <a:r>
              <a:rPr lang="en-US" altLang="zh-CN" dirty="0"/>
              <a:t>B: </a:t>
            </a:r>
          </a:p>
          <a:p>
            <a:pPr marL="0" indent="0">
              <a:buNone/>
            </a:pPr>
            <a:r>
              <a:rPr lang="en-US" altLang="zh-CN" dirty="0"/>
              <a:t>while (1){</a:t>
            </a:r>
          </a:p>
          <a:p>
            <a:pPr marL="0" indent="0">
              <a:buNone/>
            </a:pPr>
            <a:r>
              <a:rPr lang="en-US" altLang="zh-CN" dirty="0"/>
              <a:t>    wait(mutex);</a:t>
            </a:r>
          </a:p>
          <a:p>
            <a:pPr marL="0" indent="0">
              <a:buNone/>
            </a:pPr>
            <a:r>
              <a:rPr lang="en-US" altLang="zh-CN" dirty="0"/>
              <a:t>    </a:t>
            </a:r>
            <a:r>
              <a:rPr lang="zh-CN" altLang="en-US" dirty="0"/>
              <a:t>从红筐中取零件；</a:t>
            </a:r>
          </a:p>
          <a:p>
            <a:pPr marL="0" indent="0">
              <a:buNone/>
            </a:pPr>
            <a:r>
              <a:rPr lang="zh-CN" altLang="en-US" dirty="0"/>
              <a:t>    </a:t>
            </a:r>
            <a:r>
              <a:rPr lang="en-US" altLang="zh-CN" dirty="0"/>
              <a:t>signal(mutex);</a:t>
            </a:r>
          </a:p>
          <a:p>
            <a:pPr marL="0" indent="0">
              <a:buNone/>
            </a:pPr>
            <a:r>
              <a:rPr lang="en-US" altLang="zh-CN" dirty="0"/>
              <a:t>    </a:t>
            </a:r>
            <a:r>
              <a:rPr lang="zh-CN" altLang="en-US" dirty="0"/>
              <a:t>组装机器；</a:t>
            </a:r>
          </a:p>
          <a:p>
            <a:pPr marL="0" indent="0">
              <a:buNone/>
            </a:pPr>
            <a:r>
              <a:rPr lang="zh-CN" altLang="en-US" dirty="0"/>
              <a:t>    </a:t>
            </a:r>
            <a:r>
              <a:rPr lang="en-US" altLang="zh-CN" dirty="0"/>
              <a:t>wait(SB);</a:t>
            </a:r>
          </a:p>
          <a:p>
            <a:pPr marL="0" indent="0">
              <a:buNone/>
            </a:pPr>
            <a:r>
              <a:rPr lang="en-US" altLang="zh-CN" dirty="0"/>
              <a:t>    </a:t>
            </a:r>
            <a:r>
              <a:rPr lang="zh-CN" altLang="en-US" dirty="0"/>
              <a:t>将组装的机器放入蓝筐；</a:t>
            </a:r>
          </a:p>
          <a:p>
            <a:pPr marL="0" indent="0">
              <a:buNone/>
            </a:pPr>
            <a:r>
              <a:rPr lang="zh-CN" altLang="en-US" dirty="0"/>
              <a:t>    </a:t>
            </a:r>
            <a:r>
              <a:rPr lang="en-US" altLang="zh-CN" dirty="0"/>
              <a:t>signal(SA);</a:t>
            </a:r>
          </a:p>
          <a:p>
            <a:pPr marL="0" indent="0">
              <a:buNone/>
            </a:pPr>
            <a:r>
              <a:rPr lang="en-US" altLang="zh-CN" dirty="0"/>
              <a:t>}</a:t>
            </a:r>
          </a:p>
          <a:p>
            <a:endParaRPr lang="zh-CN" altLang="en-US" dirty="0"/>
          </a:p>
        </p:txBody>
      </p:sp>
    </p:spTree>
    <p:extLst>
      <p:ext uri="{BB962C8B-B14F-4D97-AF65-F5344CB8AC3E}">
        <p14:creationId xmlns:p14="http://schemas.microsoft.com/office/powerpoint/2010/main" val="421154894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
  <Words>1315</Words>
  <Application>Microsoft Office PowerPoint</Application>
  <PresentationFormat>全屏显示(4:3)</PresentationFormat>
  <Paragraphs>183</Paragraphs>
  <Slides>13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宋体</vt:lpstr>
      <vt:lpstr>Arial</vt:lpstr>
      <vt:lpstr>Calibri</vt:lpstr>
      <vt:lpstr>Times New Roman</vt:lpstr>
      <vt:lpstr>Office 主题​​</vt:lpstr>
      <vt:lpstr>复习纲要（6-7）</vt:lpstr>
      <vt:lpstr>6. 进程同步</vt:lpstr>
      <vt:lpstr>7. 死锁</vt:lpstr>
      <vt:lpstr>进程同步:习题1</vt:lpstr>
      <vt:lpstr>PowerPoint 演示文稿</vt:lpstr>
      <vt:lpstr>死锁：习题1</vt:lpstr>
      <vt:lpstr>进程同步</vt:lpstr>
      <vt:lpstr>进程同步与互斥：习题3</vt:lpstr>
      <vt:lpstr>PowerPoint 演示文稿</vt:lpstr>
      <vt:lpstr>进程同步与互斥：习题4</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PowerPoint 演示文稿</dc:title>
  <cp:revision>84</cp:revision>
</cp:coreProperties>
</file>