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77" r:id="rId10"/>
    <p:sldId id="278" r:id="rId11"/>
    <p:sldId id="283" r:id="rId12"/>
    <p:sldId id="282" r:id="rId13"/>
    <p:sldId id="265" r:id="rId14"/>
    <p:sldId id="266" r:id="rId15"/>
    <p:sldId id="267" r:id="rId16"/>
    <p:sldId id="268" r:id="rId17"/>
    <p:sldId id="269" r:id="rId18"/>
    <p:sldId id="270" r:id="rId19"/>
    <p:sldId id="271" r:id="rId20"/>
    <p:sldId id="272" r:id="rId21"/>
    <p:sldId id="276" r:id="rId22"/>
    <p:sldId id="273" r:id="rId23"/>
    <p:sldId id="274" r:id="rId24"/>
    <p:sldId id="275"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99787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05370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088045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903450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986747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3076827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072264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575937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38315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415281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258192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75352-0D83-4770-90BD-FCF881551174}" type="datetimeFigureOut">
              <a:rPr lang="zh-CN" altLang="en-US" smtClean="0"/>
              <a:t>2024/6/2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3282252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复习纲要（</a:t>
            </a:r>
            <a:r>
              <a:rPr lang="en-US" altLang="zh-CN" dirty="0"/>
              <a:t>8-12</a:t>
            </a:r>
            <a:r>
              <a:rPr lang="zh-CN" altLang="en-US" dirty="0"/>
              <a:t>）</a:t>
            </a: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73559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 </a:t>
            </a:r>
            <a:r>
              <a:rPr lang="zh-CN" altLang="en-US" dirty="0"/>
              <a:t>内存管理</a:t>
            </a:r>
          </a:p>
        </p:txBody>
      </p:sp>
      <p:sp>
        <p:nvSpPr>
          <p:cNvPr id="3" name="内容占位符 2"/>
          <p:cNvSpPr>
            <a:spLocks noGrp="1"/>
          </p:cNvSpPr>
          <p:nvPr>
            <p:ph idx="1"/>
          </p:nvPr>
        </p:nvSpPr>
        <p:spPr/>
        <p:txBody>
          <a:bodyPr>
            <a:normAutofit fontScale="92500" lnSpcReduction="20000"/>
          </a:bodyPr>
          <a:lstStyle/>
          <a:p>
            <a:r>
              <a:rPr lang="zh-CN" altLang="en-US" dirty="0"/>
              <a:t>逻辑地址、物理地址（</a:t>
            </a:r>
            <a:r>
              <a:rPr lang="en-US" altLang="zh-CN" dirty="0"/>
              <a:t>MMU</a:t>
            </a:r>
            <a:r>
              <a:rPr lang="zh-CN" altLang="en-US" dirty="0"/>
              <a:t>）</a:t>
            </a:r>
            <a:endParaRPr lang="en-US" altLang="zh-CN" dirty="0"/>
          </a:p>
          <a:p>
            <a:r>
              <a:rPr lang="zh-CN" altLang="en-US" dirty="0"/>
              <a:t>连续内存分配</a:t>
            </a:r>
            <a:endParaRPr lang="en-US" altLang="zh-CN" dirty="0"/>
          </a:p>
          <a:p>
            <a:pPr lvl="1"/>
            <a:r>
              <a:rPr lang="zh-CN" altLang="en-US" dirty="0"/>
              <a:t>重定位、界限寄存器</a:t>
            </a:r>
            <a:endParaRPr lang="en-US" altLang="zh-CN" dirty="0"/>
          </a:p>
          <a:p>
            <a:pPr lvl="1"/>
            <a:r>
              <a:rPr lang="zh-CN" altLang="en-US" dirty="0"/>
              <a:t>孔，</a:t>
            </a:r>
            <a:r>
              <a:rPr lang="en-US" altLang="zh-CN" dirty="0"/>
              <a:t>best fit</a:t>
            </a:r>
            <a:r>
              <a:rPr lang="zh-CN" altLang="en-US" dirty="0"/>
              <a:t>等几个算法</a:t>
            </a:r>
            <a:endParaRPr lang="en-US" altLang="zh-CN" dirty="0"/>
          </a:p>
          <a:p>
            <a:pPr lvl="1"/>
            <a:r>
              <a:rPr lang="zh-CN" altLang="en-US" dirty="0"/>
              <a:t>碎片（外部、内部）</a:t>
            </a:r>
            <a:endParaRPr lang="en-US" altLang="zh-CN" dirty="0"/>
          </a:p>
          <a:p>
            <a:r>
              <a:rPr lang="zh-CN" altLang="en-US" dirty="0"/>
              <a:t>分页</a:t>
            </a:r>
            <a:endParaRPr lang="en-US" altLang="zh-CN" dirty="0"/>
          </a:p>
          <a:p>
            <a:pPr lvl="1"/>
            <a:r>
              <a:rPr lang="zh-CN" altLang="en-US" dirty="0"/>
              <a:t>逻辑地址的意义（</a:t>
            </a:r>
            <a:r>
              <a:rPr lang="en-US" altLang="zh-CN" dirty="0" err="1"/>
              <a:t>p,d</a:t>
            </a:r>
            <a:r>
              <a:rPr lang="zh-CN" altLang="en-US" dirty="0"/>
              <a:t>）</a:t>
            </a:r>
            <a:endParaRPr lang="en-US" altLang="zh-CN" dirty="0"/>
          </a:p>
          <a:p>
            <a:pPr lvl="1"/>
            <a:r>
              <a:rPr lang="en-US" altLang="zh-CN" dirty="0"/>
              <a:t>TLB</a:t>
            </a:r>
            <a:r>
              <a:rPr lang="zh-CN" altLang="en-US" dirty="0"/>
              <a:t>（理解）</a:t>
            </a:r>
            <a:endParaRPr lang="en-US" altLang="zh-CN" dirty="0"/>
          </a:p>
          <a:p>
            <a:pPr lvl="1"/>
            <a:r>
              <a:rPr lang="zh-CN" altLang="en-US" dirty="0"/>
              <a:t>层次页表（原理、意义、结合</a:t>
            </a:r>
            <a:r>
              <a:rPr lang="en-US" altLang="zh-CN" dirty="0"/>
              <a:t>TLB</a:t>
            </a:r>
            <a:r>
              <a:rPr lang="zh-CN" altLang="en-US" dirty="0"/>
              <a:t>，书上的例题必须会做和理解）</a:t>
            </a:r>
            <a:endParaRPr lang="en-US" altLang="zh-CN" dirty="0"/>
          </a:p>
          <a:p>
            <a:pPr lvl="1"/>
            <a:r>
              <a:rPr lang="zh-CN" altLang="en-US" dirty="0"/>
              <a:t>反向页表（必须理解，页表的大小）</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1727784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 </a:t>
            </a:r>
            <a:r>
              <a:rPr lang="zh-CN" altLang="en-US" dirty="0"/>
              <a:t>虚拟内存</a:t>
            </a:r>
          </a:p>
        </p:txBody>
      </p:sp>
      <p:sp>
        <p:nvSpPr>
          <p:cNvPr id="3" name="内容占位符 2"/>
          <p:cNvSpPr>
            <a:spLocks noGrp="1"/>
          </p:cNvSpPr>
          <p:nvPr>
            <p:ph idx="1"/>
          </p:nvPr>
        </p:nvSpPr>
        <p:spPr/>
        <p:txBody>
          <a:bodyPr/>
          <a:lstStyle/>
          <a:p>
            <a:r>
              <a:rPr lang="zh-CN" altLang="en-US" dirty="0"/>
              <a:t>按需调页</a:t>
            </a:r>
            <a:endParaRPr lang="en-US" altLang="zh-CN" dirty="0"/>
          </a:p>
          <a:p>
            <a:r>
              <a:rPr lang="zh-CN" altLang="en-US" dirty="0"/>
              <a:t>页错误（如何处理的若干步骤）</a:t>
            </a:r>
            <a:endParaRPr lang="en-US" altLang="zh-CN" dirty="0"/>
          </a:p>
          <a:p>
            <a:r>
              <a:rPr lang="zh-CN" altLang="en-US" dirty="0"/>
              <a:t>页面置换（目标）</a:t>
            </a:r>
            <a:endParaRPr lang="en-US" altLang="zh-CN" dirty="0"/>
          </a:p>
          <a:p>
            <a:r>
              <a:rPr lang="zh-CN" altLang="en-US" dirty="0"/>
              <a:t>页面置换算法（</a:t>
            </a:r>
            <a:r>
              <a:rPr lang="en-US" altLang="zh-CN" dirty="0"/>
              <a:t>FIFO</a:t>
            </a:r>
            <a:r>
              <a:rPr lang="zh-CN" altLang="en-US" dirty="0"/>
              <a:t>和</a:t>
            </a:r>
            <a:r>
              <a:rPr lang="en-US" altLang="zh-CN" dirty="0" err="1"/>
              <a:t>Belady</a:t>
            </a:r>
            <a:r>
              <a:rPr lang="zh-CN" altLang="en-US" dirty="0"/>
              <a:t>异常，最优置换、</a:t>
            </a:r>
            <a:r>
              <a:rPr lang="en-US" altLang="zh-CN" dirty="0"/>
              <a:t>LRU</a:t>
            </a:r>
            <a:r>
              <a:rPr lang="zh-CN" altLang="en-US" dirty="0"/>
              <a:t>、二次机会、书上的例题必须会做）</a:t>
            </a:r>
            <a:endParaRPr lang="en-US" altLang="zh-CN" dirty="0"/>
          </a:p>
          <a:p>
            <a:r>
              <a:rPr lang="zh-CN" altLang="en-US" dirty="0"/>
              <a:t>帧分配（颠簸、局部性与工作集合）</a:t>
            </a:r>
            <a:endParaRPr lang="en-US" altLang="zh-CN" dirty="0"/>
          </a:p>
          <a:p>
            <a:r>
              <a:rPr lang="zh-CN" altLang="en-US" dirty="0"/>
              <a:t>其他考虑（页大小、</a:t>
            </a:r>
            <a:r>
              <a:rPr lang="en-US" altLang="zh-CN" dirty="0"/>
              <a:t>TLB</a:t>
            </a:r>
            <a:r>
              <a:rPr lang="zh-CN" altLang="en-US" dirty="0"/>
              <a:t>范围）</a:t>
            </a:r>
            <a:endParaRPr lang="en-US" altLang="zh-CN" dirty="0"/>
          </a:p>
        </p:txBody>
      </p:sp>
    </p:spTree>
    <p:extLst>
      <p:ext uri="{BB962C8B-B14F-4D97-AF65-F5344CB8AC3E}">
        <p14:creationId xmlns:p14="http://schemas.microsoft.com/office/powerpoint/2010/main" val="813948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 </a:t>
            </a:r>
            <a:r>
              <a:rPr lang="zh-CN" altLang="en-US" dirty="0"/>
              <a:t>文件系统接口</a:t>
            </a:r>
          </a:p>
        </p:txBody>
      </p:sp>
      <p:sp>
        <p:nvSpPr>
          <p:cNvPr id="3" name="内容占位符 2"/>
          <p:cNvSpPr>
            <a:spLocks noGrp="1"/>
          </p:cNvSpPr>
          <p:nvPr>
            <p:ph idx="1"/>
          </p:nvPr>
        </p:nvSpPr>
        <p:spPr/>
        <p:txBody>
          <a:bodyPr/>
          <a:lstStyle/>
          <a:p>
            <a:r>
              <a:rPr lang="zh-CN" altLang="en-US" dirty="0"/>
              <a:t>顺序访问和直接访问</a:t>
            </a:r>
            <a:endParaRPr lang="en-US" altLang="zh-CN" dirty="0"/>
          </a:p>
          <a:p>
            <a:r>
              <a:rPr lang="zh-CN" altLang="en-US" dirty="0"/>
              <a:t>目录结构（单层、双层、树状、无环图）</a:t>
            </a:r>
            <a:endParaRPr lang="en-US" altLang="zh-CN" dirty="0"/>
          </a:p>
          <a:p>
            <a:r>
              <a:rPr lang="zh-CN" altLang="en-US" dirty="0"/>
              <a:t>软连接与硬连接</a:t>
            </a:r>
            <a:endParaRPr lang="en-US" altLang="zh-CN" dirty="0"/>
          </a:p>
          <a:p>
            <a:r>
              <a:rPr lang="zh-CN" altLang="en-US" dirty="0"/>
              <a:t>访问控制（</a:t>
            </a:r>
            <a:r>
              <a:rPr lang="en-US" altLang="zh-CN" dirty="0"/>
              <a:t>ACL</a:t>
            </a:r>
            <a:r>
              <a:rPr lang="zh-CN" altLang="en-US" dirty="0"/>
              <a:t>）</a:t>
            </a:r>
          </a:p>
        </p:txBody>
      </p:sp>
    </p:spTree>
    <p:extLst>
      <p:ext uri="{BB962C8B-B14F-4D97-AF65-F5344CB8AC3E}">
        <p14:creationId xmlns:p14="http://schemas.microsoft.com/office/powerpoint/2010/main" val="1349464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文件系统实现</a:t>
            </a:r>
          </a:p>
        </p:txBody>
      </p:sp>
      <p:sp>
        <p:nvSpPr>
          <p:cNvPr id="3" name="内容占位符 2"/>
          <p:cNvSpPr>
            <a:spLocks noGrp="1"/>
          </p:cNvSpPr>
          <p:nvPr>
            <p:ph idx="1"/>
          </p:nvPr>
        </p:nvSpPr>
        <p:spPr/>
        <p:txBody>
          <a:bodyPr/>
          <a:lstStyle/>
          <a:p>
            <a:r>
              <a:rPr lang="zh-CN" altLang="en-US" dirty="0"/>
              <a:t>文件的磁盘分配（各算法的优缺点）</a:t>
            </a:r>
            <a:endParaRPr lang="en-US" altLang="zh-CN" dirty="0"/>
          </a:p>
          <a:p>
            <a:pPr lvl="1"/>
            <a:r>
              <a:rPr lang="zh-CN" altLang="en-US" dirty="0"/>
              <a:t>连续分配</a:t>
            </a:r>
            <a:endParaRPr lang="en-US" altLang="zh-CN" dirty="0"/>
          </a:p>
          <a:p>
            <a:pPr lvl="1"/>
            <a:r>
              <a:rPr lang="zh-CN" altLang="en-US" dirty="0"/>
              <a:t>链接分配</a:t>
            </a:r>
            <a:endParaRPr lang="en-US" altLang="zh-CN" dirty="0"/>
          </a:p>
          <a:p>
            <a:pPr lvl="1"/>
            <a:r>
              <a:rPr lang="en-US" altLang="zh-CN" dirty="0"/>
              <a:t>FAT</a:t>
            </a:r>
            <a:r>
              <a:rPr lang="zh-CN" altLang="en-US" dirty="0"/>
              <a:t>（和目录的关系，在磁盘上的位置）</a:t>
            </a:r>
            <a:endParaRPr lang="en-US" altLang="zh-CN" dirty="0"/>
          </a:p>
          <a:p>
            <a:pPr lvl="1"/>
            <a:r>
              <a:rPr lang="zh-CN" altLang="en-US" dirty="0"/>
              <a:t>索引分配（书上的例题必须会做）</a:t>
            </a:r>
            <a:endParaRPr lang="en-US" altLang="zh-CN" dirty="0"/>
          </a:p>
          <a:p>
            <a:r>
              <a:rPr lang="en-US" altLang="zh-CN" dirty="0"/>
              <a:t>FCB/</a:t>
            </a:r>
            <a:r>
              <a:rPr lang="en-US" altLang="zh-CN" dirty="0" err="1"/>
              <a:t>inode</a:t>
            </a:r>
            <a:endParaRPr lang="en-US" altLang="zh-CN" dirty="0"/>
          </a:p>
          <a:p>
            <a:endParaRPr lang="zh-CN" altLang="en-US" dirty="0"/>
          </a:p>
        </p:txBody>
      </p:sp>
    </p:spTree>
    <p:extLst>
      <p:ext uri="{BB962C8B-B14F-4D97-AF65-F5344CB8AC3E}">
        <p14:creationId xmlns:p14="http://schemas.microsoft.com/office/powerpoint/2010/main" val="1418403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a:t>大容量存储器的结构</a:t>
            </a:r>
          </a:p>
        </p:txBody>
      </p:sp>
      <p:sp>
        <p:nvSpPr>
          <p:cNvPr id="3" name="内容占位符 2"/>
          <p:cNvSpPr>
            <a:spLocks noGrp="1"/>
          </p:cNvSpPr>
          <p:nvPr>
            <p:ph idx="1"/>
          </p:nvPr>
        </p:nvSpPr>
        <p:spPr/>
        <p:txBody>
          <a:bodyPr/>
          <a:lstStyle/>
          <a:p>
            <a:r>
              <a:rPr lang="zh-CN" altLang="en-US" dirty="0"/>
              <a:t>磁盘结构</a:t>
            </a:r>
            <a:endParaRPr lang="en-US" altLang="zh-CN" dirty="0"/>
          </a:p>
          <a:p>
            <a:r>
              <a:rPr lang="zh-CN" altLang="en-US" dirty="0"/>
              <a:t>磁盘调度（书上的例题必须理解）</a:t>
            </a:r>
            <a:endParaRPr lang="en-US" altLang="zh-CN" dirty="0"/>
          </a:p>
          <a:p>
            <a:pPr lvl="1"/>
            <a:r>
              <a:rPr lang="en-US" altLang="zh-CN" dirty="0"/>
              <a:t>FCFS</a:t>
            </a:r>
          </a:p>
          <a:p>
            <a:pPr lvl="1"/>
            <a:r>
              <a:rPr lang="en-US" altLang="zh-CN" dirty="0"/>
              <a:t>SSTF</a:t>
            </a:r>
          </a:p>
          <a:p>
            <a:pPr lvl="1"/>
            <a:r>
              <a:rPr lang="en-US" altLang="zh-CN" dirty="0"/>
              <a:t>SCAN</a:t>
            </a:r>
            <a:r>
              <a:rPr lang="zh-CN" altLang="en-US" dirty="0"/>
              <a:t>和</a:t>
            </a:r>
            <a:r>
              <a:rPr lang="en-US" altLang="zh-CN" dirty="0"/>
              <a:t>C-SCAN</a:t>
            </a:r>
          </a:p>
          <a:p>
            <a:pPr lvl="1"/>
            <a:r>
              <a:rPr lang="en-US" altLang="zh-CN" dirty="0"/>
              <a:t>LOOK</a:t>
            </a:r>
            <a:r>
              <a:rPr lang="zh-CN" altLang="en-US" dirty="0"/>
              <a:t>和</a:t>
            </a:r>
            <a:r>
              <a:rPr lang="en-US" altLang="zh-CN" dirty="0"/>
              <a:t>C-LOOK</a:t>
            </a:r>
          </a:p>
          <a:p>
            <a:r>
              <a:rPr lang="en-US" altLang="zh-CN" dirty="0"/>
              <a:t>RAID</a:t>
            </a:r>
            <a:r>
              <a:rPr lang="zh-CN" altLang="en-US" dirty="0"/>
              <a:t>的原理（</a:t>
            </a:r>
            <a:r>
              <a:rPr lang="en-US" altLang="zh-CN" dirty="0"/>
              <a:t>RAID0-RAID5</a:t>
            </a:r>
            <a:r>
              <a:rPr lang="zh-CN" altLang="en-US" dirty="0"/>
              <a:t>）</a:t>
            </a:r>
            <a:endParaRPr lang="en-US" altLang="zh-CN" dirty="0"/>
          </a:p>
          <a:p>
            <a:pPr lvl="1"/>
            <a:endParaRPr lang="zh-CN" altLang="en-US" dirty="0"/>
          </a:p>
        </p:txBody>
      </p:sp>
    </p:spTree>
    <p:extLst>
      <p:ext uri="{BB962C8B-B14F-4D97-AF65-F5344CB8AC3E}">
        <p14:creationId xmlns:p14="http://schemas.microsoft.com/office/powerpoint/2010/main" val="2292046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8-12</a:t>
            </a:r>
            <a:r>
              <a:rPr lang="zh-CN" altLang="en-US" dirty="0"/>
              <a:t>复习习题集</a:t>
            </a: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05045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Page Table</a:t>
            </a:r>
            <a:endParaRPr lang="zh-CN" altLang="en-US" dirty="0"/>
          </a:p>
        </p:txBody>
      </p:sp>
      <p:sp>
        <p:nvSpPr>
          <p:cNvPr id="3" name="内容占位符 2"/>
          <p:cNvSpPr>
            <a:spLocks noGrp="1"/>
          </p:cNvSpPr>
          <p:nvPr>
            <p:ph idx="1"/>
          </p:nvPr>
        </p:nvSpPr>
        <p:spPr/>
        <p:txBody>
          <a:bodyPr>
            <a:normAutofit/>
          </a:bodyPr>
          <a:lstStyle/>
          <a:p>
            <a:r>
              <a:rPr lang="zh-CN" altLang="en-US" dirty="0"/>
              <a:t>某计算机采用二级页表的分页存储管理方式，按字节编制，页大小为</a:t>
            </a:r>
            <a:r>
              <a:rPr lang="en-US" altLang="zh-CN" dirty="0"/>
              <a:t>2</a:t>
            </a:r>
            <a:r>
              <a:rPr lang="zh-CN" altLang="en-US" dirty="0"/>
              <a:t>（</a:t>
            </a:r>
            <a:r>
              <a:rPr lang="en-US" altLang="zh-CN" dirty="0"/>
              <a:t>10</a:t>
            </a:r>
            <a:r>
              <a:rPr lang="zh-CN" altLang="en-US" dirty="0"/>
              <a:t>）字节，页表项大小为</a:t>
            </a:r>
            <a:r>
              <a:rPr lang="en-US" altLang="zh-CN" dirty="0"/>
              <a:t>2</a:t>
            </a:r>
            <a:r>
              <a:rPr lang="zh-CN" altLang="en-US" dirty="0"/>
              <a:t>字节，逻辑地址结构为：页目录号  页号  页内偏移量，逻辑地址空间大小为</a:t>
            </a:r>
            <a:r>
              <a:rPr lang="en-US" altLang="zh-CN" dirty="0"/>
              <a:t>2</a:t>
            </a:r>
            <a:r>
              <a:rPr lang="zh-CN" altLang="en-US" dirty="0"/>
              <a:t>（</a:t>
            </a:r>
            <a:r>
              <a:rPr lang="en-US" altLang="zh-CN" dirty="0"/>
              <a:t>16</a:t>
            </a:r>
            <a:r>
              <a:rPr lang="zh-CN" altLang="en-US" dirty="0"/>
              <a:t>）页，则表示整个逻辑地址空间的页目录表中包含表项的个数是（ </a:t>
            </a:r>
            <a:r>
              <a:rPr lang="en-US" altLang="zh-CN" dirty="0"/>
              <a:t>B</a:t>
            </a:r>
            <a:r>
              <a:rPr lang="zh-CN" altLang="en-US" dirty="0"/>
              <a:t> ）</a:t>
            </a:r>
          </a:p>
          <a:p>
            <a:r>
              <a:rPr lang="en-US" altLang="zh-CN" dirty="0"/>
              <a:t>A</a:t>
            </a:r>
            <a:r>
              <a:rPr lang="zh-CN" altLang="en-US" dirty="0"/>
              <a:t>、</a:t>
            </a:r>
            <a:r>
              <a:rPr lang="en-US" altLang="zh-CN" dirty="0"/>
              <a:t>64            B</a:t>
            </a:r>
            <a:r>
              <a:rPr lang="zh-CN" altLang="en-US" dirty="0"/>
              <a:t>、</a:t>
            </a:r>
            <a:r>
              <a:rPr lang="en-US" altLang="zh-CN" dirty="0"/>
              <a:t>128          C</a:t>
            </a:r>
            <a:r>
              <a:rPr lang="zh-CN" altLang="en-US" dirty="0"/>
              <a:t>、</a:t>
            </a:r>
            <a:r>
              <a:rPr lang="en-US" altLang="zh-CN" dirty="0"/>
              <a:t>256           D</a:t>
            </a:r>
            <a:r>
              <a:rPr lang="zh-CN" altLang="en-US" dirty="0"/>
              <a:t>、</a:t>
            </a:r>
            <a:r>
              <a:rPr lang="en-US" altLang="zh-CN" dirty="0"/>
              <a:t>512</a:t>
            </a:r>
          </a:p>
          <a:p>
            <a:endParaRPr lang="zh-CN" altLang="en-US" dirty="0"/>
          </a:p>
        </p:txBody>
      </p:sp>
    </p:spTree>
    <p:extLst>
      <p:ext uri="{BB962C8B-B14F-4D97-AF65-F5344CB8AC3E}">
        <p14:creationId xmlns:p14="http://schemas.microsoft.com/office/powerpoint/2010/main" val="633256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9247F4-73A7-4CFD-9454-BF0FE68EADD6}"/>
              </a:ext>
            </a:extLst>
          </p:cNvPr>
          <p:cNvSpPr>
            <a:spLocks noGrp="1"/>
          </p:cNvSpPr>
          <p:nvPr>
            <p:ph type="title"/>
          </p:nvPr>
        </p:nvSpPr>
        <p:spPr/>
        <p:txBody>
          <a:bodyPr/>
          <a:lstStyle/>
          <a:p>
            <a:r>
              <a:rPr lang="en-US" altLang="zh-CN" dirty="0"/>
              <a:t>Page Table</a:t>
            </a:r>
            <a:endParaRPr lang="zh-CN" altLang="en-US" dirty="0"/>
          </a:p>
        </p:txBody>
      </p:sp>
      <p:sp>
        <p:nvSpPr>
          <p:cNvPr id="3" name="矩形 2">
            <a:extLst>
              <a:ext uri="{FF2B5EF4-FFF2-40B4-BE49-F238E27FC236}">
                <a16:creationId xmlns:a16="http://schemas.microsoft.com/office/drawing/2014/main" id="{BEE4136A-8E5E-4019-B6FB-C487C83A8B17}"/>
              </a:ext>
            </a:extLst>
          </p:cNvPr>
          <p:cNvSpPr/>
          <p:nvPr/>
        </p:nvSpPr>
        <p:spPr>
          <a:xfrm>
            <a:off x="457200" y="1772816"/>
            <a:ext cx="8363272" cy="3323987"/>
          </a:xfrm>
          <a:prstGeom prst="rect">
            <a:avLst/>
          </a:prstGeom>
        </p:spPr>
        <p:txBody>
          <a:bodyPr wrap="square">
            <a:spAutoFit/>
          </a:bodyPr>
          <a:lstStyle/>
          <a:p>
            <a:pPr algn="just"/>
            <a:r>
              <a:rPr lang="en-US" altLang="zh-CN" sz="2400" dirty="0"/>
              <a:t>Suppose there is a machine with 32-bit addresses and a two-level page table(in memory) such that the first 10 bits of an address is an index into the first level page table and the next 10 bits are an index into a second level page table. Suppose also that each entry in the page tables is 32-bits. How much space is occupied in memory by the page tables for a process that has 64MB of actual virtual address space allocated. Show your work without giving a long explanation.</a:t>
            </a:r>
          </a:p>
          <a:p>
            <a:endParaRPr lang="en-US" altLang="zh-CN" dirty="0"/>
          </a:p>
        </p:txBody>
      </p:sp>
    </p:spTree>
    <p:extLst>
      <p:ext uri="{BB962C8B-B14F-4D97-AF65-F5344CB8AC3E}">
        <p14:creationId xmlns:p14="http://schemas.microsoft.com/office/powerpoint/2010/main" val="3509226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DELL\AppData\Local\Temp\1604821381(1).png">
            <a:extLst>
              <a:ext uri="{FF2B5EF4-FFF2-40B4-BE49-F238E27FC236}">
                <a16:creationId xmlns:a16="http://schemas.microsoft.com/office/drawing/2014/main" id="{C7BEDD68-D7A7-4EAC-8DE3-8013308D44F6}"/>
              </a:ext>
            </a:extLst>
          </p:cNvPr>
          <p:cNvPicPr/>
          <p:nvPr/>
        </p:nvPicPr>
        <p:blipFill rotWithShape="1">
          <a:blip r:embed="rId2">
            <a:extLst>
              <a:ext uri="{28A0092B-C50C-407E-A947-70E740481C1C}">
                <a14:useLocalDpi xmlns:a14="http://schemas.microsoft.com/office/drawing/2010/main" val="0"/>
              </a:ext>
            </a:extLst>
          </a:blip>
          <a:srcRect t="20290"/>
          <a:stretch/>
        </p:blipFill>
        <p:spPr bwMode="auto">
          <a:xfrm>
            <a:off x="467544" y="764704"/>
            <a:ext cx="7920880" cy="5328592"/>
          </a:xfrm>
          <a:prstGeom prst="rect">
            <a:avLst/>
          </a:prstGeom>
          <a:noFill/>
          <a:ln>
            <a:noFill/>
          </a:ln>
        </p:spPr>
      </p:pic>
    </p:spTree>
    <p:extLst>
      <p:ext uri="{BB962C8B-B14F-4D97-AF65-F5344CB8AC3E}">
        <p14:creationId xmlns:p14="http://schemas.microsoft.com/office/powerpoint/2010/main" val="2579062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A54E7E-0069-4881-9B0D-DD5718587490}"/>
              </a:ext>
            </a:extLst>
          </p:cNvPr>
          <p:cNvSpPr>
            <a:spLocks noGrp="1"/>
          </p:cNvSpPr>
          <p:nvPr>
            <p:ph type="title"/>
          </p:nvPr>
        </p:nvSpPr>
        <p:spPr/>
        <p:txBody>
          <a:bodyPr/>
          <a:lstStyle/>
          <a:p>
            <a:r>
              <a:rPr lang="zh-CN" altLang="en-US" dirty="0"/>
              <a:t>内存管理</a:t>
            </a:r>
          </a:p>
        </p:txBody>
      </p:sp>
      <p:sp>
        <p:nvSpPr>
          <p:cNvPr id="3" name="内容占位符 2">
            <a:extLst>
              <a:ext uri="{FF2B5EF4-FFF2-40B4-BE49-F238E27FC236}">
                <a16:creationId xmlns:a16="http://schemas.microsoft.com/office/drawing/2014/main" id="{FAC2CF05-E540-4E00-BFAF-FCBF427F32CA}"/>
              </a:ext>
            </a:extLst>
          </p:cNvPr>
          <p:cNvSpPr>
            <a:spLocks noGrp="1"/>
          </p:cNvSpPr>
          <p:nvPr>
            <p:ph idx="1"/>
          </p:nvPr>
        </p:nvSpPr>
        <p:spPr/>
        <p:txBody>
          <a:bodyPr>
            <a:normAutofit/>
          </a:bodyPr>
          <a:lstStyle/>
          <a:p>
            <a:r>
              <a:rPr lang="zh-CN" altLang="en-US" dirty="0"/>
              <a:t> 页式内存管理系统中，逻辑地址为</a:t>
            </a:r>
            <a:r>
              <a:rPr lang="en-US" altLang="zh-CN" dirty="0"/>
              <a:t>32</a:t>
            </a:r>
            <a:r>
              <a:rPr lang="zh-CN" altLang="en-US" dirty="0"/>
              <a:t>位，采用两级页表结构，逻辑地址中外页表（</a:t>
            </a:r>
            <a:r>
              <a:rPr lang="en-US" altLang="zh-CN" dirty="0"/>
              <a:t>outer page table</a:t>
            </a:r>
            <a:r>
              <a:rPr lang="zh-CN" altLang="en-US" dirty="0"/>
              <a:t>）和内页表（</a:t>
            </a:r>
            <a:r>
              <a:rPr lang="en-US" altLang="zh-CN" dirty="0"/>
              <a:t>inner page table</a:t>
            </a:r>
            <a:r>
              <a:rPr lang="zh-CN" altLang="en-US" dirty="0"/>
              <a:t>）、页内偏移的位数分别为</a:t>
            </a:r>
            <a:r>
              <a:rPr lang="en-US" altLang="zh-CN" dirty="0"/>
              <a:t>11</a:t>
            </a:r>
            <a:r>
              <a:rPr lang="zh-CN" altLang="en-US" dirty="0"/>
              <a:t>、</a:t>
            </a:r>
            <a:r>
              <a:rPr lang="en-US" altLang="zh-CN" dirty="0"/>
              <a:t>11</a:t>
            </a:r>
            <a:r>
              <a:rPr lang="zh-CN" altLang="en-US" dirty="0"/>
              <a:t>、</a:t>
            </a:r>
            <a:r>
              <a:rPr lang="en-US" altLang="zh-CN" dirty="0"/>
              <a:t>10</a:t>
            </a:r>
            <a:r>
              <a:rPr lang="zh-CN" altLang="en-US" dirty="0"/>
              <a:t>。页表项大小为</a:t>
            </a:r>
            <a:r>
              <a:rPr lang="en-US" altLang="zh-CN" dirty="0"/>
              <a:t>8</a:t>
            </a:r>
            <a:r>
              <a:rPr lang="zh-CN" altLang="en-US" dirty="0"/>
              <a:t>个字节。对于被分配</a:t>
            </a:r>
            <a:r>
              <a:rPr lang="en-US" altLang="zh-CN" dirty="0"/>
              <a:t>128MB</a:t>
            </a:r>
            <a:r>
              <a:rPr lang="zh-CN" altLang="en-US" dirty="0"/>
              <a:t>逻辑地址空间的某进程，其页表占用的内存空间大小为</a:t>
            </a:r>
            <a:r>
              <a:rPr lang="en-US" altLang="zh-CN" dirty="0"/>
              <a:t>(1040KB)</a:t>
            </a:r>
            <a:endParaRPr lang="zh-CN" altLang="en-US" dirty="0"/>
          </a:p>
          <a:p>
            <a:endParaRPr lang="zh-CN" altLang="en-US" dirty="0"/>
          </a:p>
        </p:txBody>
      </p:sp>
    </p:spTree>
    <p:extLst>
      <p:ext uri="{BB962C8B-B14F-4D97-AF65-F5344CB8AC3E}">
        <p14:creationId xmlns:p14="http://schemas.microsoft.com/office/powerpoint/2010/main" val="1055834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7916ED-F499-420B-A4C0-F3AFE3E42F4F}"/>
              </a:ext>
            </a:extLst>
          </p:cNvPr>
          <p:cNvSpPr>
            <a:spLocks noGrp="1"/>
          </p:cNvSpPr>
          <p:nvPr>
            <p:ph type="title"/>
          </p:nvPr>
        </p:nvSpPr>
        <p:spPr/>
        <p:txBody>
          <a:bodyPr/>
          <a:lstStyle/>
          <a:p>
            <a:r>
              <a:rPr lang="zh-CN" altLang="en-US" dirty="0"/>
              <a:t>内存管理</a:t>
            </a:r>
          </a:p>
        </p:txBody>
      </p:sp>
      <p:sp>
        <p:nvSpPr>
          <p:cNvPr id="3" name="内容占位符 2">
            <a:extLst>
              <a:ext uri="{FF2B5EF4-FFF2-40B4-BE49-F238E27FC236}">
                <a16:creationId xmlns:a16="http://schemas.microsoft.com/office/drawing/2014/main" id="{43FD0329-1285-461C-8C8C-BE54CAE9B08B}"/>
              </a:ext>
            </a:extLst>
          </p:cNvPr>
          <p:cNvSpPr>
            <a:spLocks noGrp="1"/>
          </p:cNvSpPr>
          <p:nvPr>
            <p:ph idx="1"/>
          </p:nvPr>
        </p:nvSpPr>
        <p:spPr/>
        <p:txBody>
          <a:bodyPr/>
          <a:lstStyle/>
          <a:p>
            <a:r>
              <a:rPr lang="zh-CN" altLang="en-US" dirty="0"/>
              <a:t>某虚拟内存系统使用</a:t>
            </a:r>
            <a:r>
              <a:rPr lang="en-US" altLang="zh-CN" dirty="0"/>
              <a:t>64</a:t>
            </a:r>
            <a:r>
              <a:rPr lang="zh-CN" altLang="en-US" dirty="0"/>
              <a:t>位虚拟地址，页大小为</a:t>
            </a:r>
            <a:r>
              <a:rPr lang="en-US" altLang="zh-CN" dirty="0"/>
              <a:t>32KB</a:t>
            </a:r>
            <a:r>
              <a:rPr lang="zh-CN" altLang="en-US" dirty="0"/>
              <a:t>，使用多级分页。每个页表最多有</a:t>
            </a:r>
            <a:r>
              <a:rPr lang="en-US" altLang="zh-CN" dirty="0"/>
              <a:t>2</a:t>
            </a:r>
            <a:r>
              <a:rPr lang="en-US" altLang="zh-CN" baseline="30000" dirty="0"/>
              <a:t>13</a:t>
            </a:r>
            <a:r>
              <a:rPr lang="zh-CN" altLang="en-US" dirty="0"/>
              <a:t>个页表项，页表目录（外页表）最多有</a:t>
            </a:r>
            <a:r>
              <a:rPr lang="en-US" altLang="zh-CN" dirty="0"/>
              <a:t>2</a:t>
            </a:r>
            <a:r>
              <a:rPr lang="en-US" altLang="zh-CN" baseline="30000" dirty="0"/>
              <a:t>12</a:t>
            </a:r>
            <a:r>
              <a:rPr lang="zh-CN" altLang="en-US" dirty="0"/>
              <a:t>项。最坏情况下，将一个虚拟地址转换成物理地址需要的内存访问次数为</a:t>
            </a:r>
            <a:r>
              <a:rPr lang="en-US" altLang="zh-CN" dirty="0"/>
              <a:t>(4)</a:t>
            </a:r>
            <a:endParaRPr lang="zh-CN" altLang="en-US" dirty="0"/>
          </a:p>
          <a:p>
            <a:endParaRPr lang="zh-CN" altLang="en-US" dirty="0"/>
          </a:p>
        </p:txBody>
      </p:sp>
    </p:spTree>
    <p:extLst>
      <p:ext uri="{BB962C8B-B14F-4D97-AF65-F5344CB8AC3E}">
        <p14:creationId xmlns:p14="http://schemas.microsoft.com/office/powerpoint/2010/main" val="1725225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Page Replacement</a:t>
            </a:r>
            <a:endParaRPr lang="zh-CN" altLang="en-US" dirty="0"/>
          </a:p>
        </p:txBody>
      </p:sp>
      <p:sp>
        <p:nvSpPr>
          <p:cNvPr id="3" name="内容占位符 2"/>
          <p:cNvSpPr>
            <a:spLocks noGrp="1"/>
          </p:cNvSpPr>
          <p:nvPr>
            <p:ph idx="1"/>
          </p:nvPr>
        </p:nvSpPr>
        <p:spPr/>
        <p:txBody>
          <a:bodyPr/>
          <a:lstStyle/>
          <a:p>
            <a:r>
              <a:rPr lang="en-US" altLang="zh-CN" dirty="0"/>
              <a:t>Consider the reference page sequence is 1, 2, 3, 4, 1, 2, 5, 1, 2, 3, 4, 5, and the number of page frame is 3.</a:t>
            </a:r>
          </a:p>
          <a:p>
            <a:r>
              <a:rPr lang="en-US" altLang="zh-CN" dirty="0"/>
              <a:t>(a) How many page faults for FIFO algorithm?</a:t>
            </a:r>
          </a:p>
          <a:p>
            <a:r>
              <a:rPr lang="en-US" altLang="zh-CN" dirty="0"/>
              <a:t>(b) How many page faults for LRU algorithm?</a:t>
            </a:r>
          </a:p>
          <a:p>
            <a:r>
              <a:rPr lang="en-US" altLang="zh-CN" dirty="0"/>
              <a:t>(c) How many page faults for OPT algorithm?</a:t>
            </a:r>
          </a:p>
          <a:p>
            <a:endParaRPr lang="zh-CN" altLang="en-US" dirty="0"/>
          </a:p>
        </p:txBody>
      </p:sp>
    </p:spTree>
    <p:extLst>
      <p:ext uri="{BB962C8B-B14F-4D97-AF65-F5344CB8AC3E}">
        <p14:creationId xmlns:p14="http://schemas.microsoft.com/office/powerpoint/2010/main" val="1874438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Page Replacement</a:t>
            </a:r>
            <a:endParaRPr lang="zh-CN" altLang="en-US" dirty="0"/>
          </a:p>
        </p:txBody>
      </p:sp>
      <p:sp>
        <p:nvSpPr>
          <p:cNvPr id="3" name="内容占位符 2"/>
          <p:cNvSpPr>
            <a:spLocks noGrp="1"/>
          </p:cNvSpPr>
          <p:nvPr>
            <p:ph idx="1"/>
          </p:nvPr>
        </p:nvSpPr>
        <p:spPr>
          <a:xfrm>
            <a:off x="251520" y="1340768"/>
            <a:ext cx="8712968" cy="5040560"/>
          </a:xfrm>
        </p:spPr>
        <p:txBody>
          <a:bodyPr>
            <a:normAutofit fontScale="85000" lnSpcReduction="20000"/>
          </a:bodyPr>
          <a:lstStyle/>
          <a:p>
            <a:r>
              <a:rPr lang="zh-CN" altLang="en-US" dirty="0"/>
              <a:t>设某计算机的逻辑地址空间和物理地址空间均为</a:t>
            </a:r>
            <a:r>
              <a:rPr lang="en-US" altLang="zh-CN" dirty="0"/>
              <a:t>64KB</a:t>
            </a:r>
            <a:r>
              <a:rPr lang="zh-CN" altLang="en-US" dirty="0"/>
              <a:t>，按字节编址。某进程最多需要</a:t>
            </a:r>
            <a:r>
              <a:rPr lang="en-US" altLang="zh-CN" dirty="0"/>
              <a:t>6</a:t>
            </a:r>
            <a:r>
              <a:rPr lang="zh-CN" altLang="en-US" dirty="0"/>
              <a:t>页数据存储空间，页的大小为</a:t>
            </a:r>
            <a:r>
              <a:rPr lang="en-US" altLang="zh-CN" dirty="0"/>
              <a:t>1KB</a:t>
            </a:r>
            <a:r>
              <a:rPr lang="zh-CN" altLang="en-US" dirty="0"/>
              <a:t>，操作系统采用固定分配局部置换策略为此进程分配</a:t>
            </a:r>
            <a:r>
              <a:rPr lang="en-US" altLang="zh-CN" dirty="0"/>
              <a:t>4</a:t>
            </a:r>
            <a:r>
              <a:rPr lang="zh-CN" altLang="en-US" dirty="0"/>
              <a:t>个页框。</a:t>
            </a:r>
          </a:p>
          <a:p>
            <a:endParaRPr lang="en-US" altLang="zh-CN" dirty="0"/>
          </a:p>
          <a:p>
            <a:endParaRPr lang="en-US" altLang="zh-CN" dirty="0"/>
          </a:p>
          <a:p>
            <a:r>
              <a:rPr lang="zh-CN" altLang="en-US" dirty="0"/>
              <a:t>当该进程执行到时刻</a:t>
            </a:r>
            <a:r>
              <a:rPr lang="en-US" altLang="zh-CN" dirty="0"/>
              <a:t>260</a:t>
            </a:r>
            <a:r>
              <a:rPr lang="zh-CN" altLang="en-US" dirty="0"/>
              <a:t>时，要访问逻辑地址为</a:t>
            </a:r>
            <a:r>
              <a:rPr lang="en-US" altLang="zh-CN" dirty="0"/>
              <a:t>17CAH</a:t>
            </a:r>
            <a:r>
              <a:rPr lang="zh-CN" altLang="en-US" dirty="0"/>
              <a:t>的数据。请回答下列问题：</a:t>
            </a:r>
          </a:p>
          <a:p>
            <a:pPr lvl="1"/>
            <a:r>
              <a:rPr lang="en-US" altLang="zh-CN" dirty="0"/>
              <a:t>(1)</a:t>
            </a:r>
            <a:r>
              <a:rPr lang="zh-CN" altLang="en-US" dirty="0"/>
              <a:t>、该逻辑地址对应的页号时多少</a:t>
            </a:r>
            <a:r>
              <a:rPr lang="en-US" altLang="zh-CN" dirty="0"/>
              <a:t>?</a:t>
            </a:r>
          </a:p>
          <a:p>
            <a:pPr lvl="1"/>
            <a:r>
              <a:rPr lang="en-US" altLang="zh-CN" dirty="0"/>
              <a:t>(2)</a:t>
            </a:r>
            <a:r>
              <a:rPr lang="zh-CN" altLang="en-US" dirty="0"/>
              <a:t>、若采用先进先出</a:t>
            </a:r>
            <a:r>
              <a:rPr lang="en-US" altLang="zh-CN" dirty="0"/>
              <a:t>(FIFO)</a:t>
            </a:r>
            <a:r>
              <a:rPr lang="zh-CN" altLang="en-US" dirty="0"/>
              <a:t>置换算法，该逻辑地址对应的物理地址？要求给出计算过程。</a:t>
            </a:r>
          </a:p>
          <a:p>
            <a:pPr lvl="1"/>
            <a:r>
              <a:rPr lang="en-US" altLang="zh-CN" dirty="0"/>
              <a:t>(3)</a:t>
            </a:r>
            <a:r>
              <a:rPr lang="zh-CN" altLang="en-US" dirty="0"/>
              <a:t>、采用时钟</a:t>
            </a:r>
            <a:r>
              <a:rPr lang="en-US" altLang="zh-CN" dirty="0"/>
              <a:t>(Clock)</a:t>
            </a:r>
            <a:r>
              <a:rPr lang="zh-CN" altLang="en-US" dirty="0"/>
              <a:t>置换算法，该逻辑地址对应的物理地址是多少？要求给出计算过程。（设搜索下一页的指针按顺时针方向移动，且指向当前</a:t>
            </a:r>
            <a:r>
              <a:rPr lang="en-US" altLang="zh-CN" dirty="0"/>
              <a:t>2</a:t>
            </a:r>
            <a:r>
              <a:rPr lang="zh-CN" altLang="en-US" dirty="0"/>
              <a:t>号页框，示意图如下）</a:t>
            </a:r>
          </a:p>
          <a:p>
            <a:endParaRPr lang="zh-CN" altLang="en-US" dirty="0"/>
          </a:p>
        </p:txBody>
      </p:sp>
      <p:pic>
        <p:nvPicPr>
          <p:cNvPr id="1027" name="Picture 3" descr="C:\Users\Administrator\AppData\Roaming\Tencent\Users\93544784\QQ\WinTemp\RichOle\2`OMFK8R5E3[Y[7U@3KWD`J.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2348880"/>
            <a:ext cx="4063008" cy="1122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501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r>
              <a:rPr lang="zh-CN" altLang="en-US" dirty="0"/>
              <a:t>（</a:t>
            </a:r>
            <a:r>
              <a:rPr lang="en-US" altLang="zh-CN" dirty="0"/>
              <a:t>1</a:t>
            </a:r>
            <a:r>
              <a:rPr lang="zh-CN" altLang="en-US" dirty="0"/>
              <a:t>）</a:t>
            </a:r>
            <a:r>
              <a:rPr lang="en-US" altLang="zh-CN" dirty="0"/>
              <a:t>17CAH </a:t>
            </a:r>
            <a:r>
              <a:rPr lang="zh-CN" altLang="en-US" dirty="0"/>
              <a:t>转换为二进制为：</a:t>
            </a:r>
            <a:r>
              <a:rPr lang="en-US" altLang="zh-CN" dirty="0"/>
              <a:t>0001 0111 1100 1010, </a:t>
            </a:r>
            <a:r>
              <a:rPr lang="zh-CN" altLang="en-US" dirty="0"/>
              <a:t>页的大小为</a:t>
            </a:r>
            <a:r>
              <a:rPr lang="en-US" altLang="zh-CN" dirty="0"/>
              <a:t>1KB</a:t>
            </a:r>
            <a:r>
              <a:rPr lang="zh-CN" altLang="en-US" dirty="0"/>
              <a:t>，所以页内偏移为</a:t>
            </a:r>
            <a:r>
              <a:rPr lang="en-US" altLang="zh-CN" dirty="0"/>
              <a:t>10</a:t>
            </a:r>
            <a:r>
              <a:rPr lang="zh-CN" altLang="en-US" dirty="0"/>
              <a:t>位，于是前</a:t>
            </a:r>
            <a:r>
              <a:rPr lang="en-US" altLang="zh-CN" dirty="0"/>
              <a:t>6</a:t>
            </a:r>
            <a:r>
              <a:rPr lang="zh-CN" altLang="en-US" dirty="0"/>
              <a:t>位是页号，所以其页号为</a:t>
            </a:r>
            <a:r>
              <a:rPr lang="en-US" altLang="zh-CN" dirty="0"/>
              <a:t>0001 01</a:t>
            </a:r>
            <a:r>
              <a:rPr lang="zh-CN" altLang="en-US" dirty="0"/>
              <a:t>，转换为</a:t>
            </a:r>
            <a:r>
              <a:rPr lang="en-US" altLang="zh-CN" dirty="0"/>
              <a:t>10</a:t>
            </a:r>
            <a:r>
              <a:rPr lang="zh-CN" altLang="en-US" dirty="0"/>
              <a:t>进制为</a:t>
            </a:r>
            <a:r>
              <a:rPr lang="en-US" altLang="zh-CN" dirty="0"/>
              <a:t>5</a:t>
            </a:r>
            <a:r>
              <a:rPr lang="zh-CN" altLang="en-US" dirty="0"/>
              <a:t>，所以，</a:t>
            </a:r>
            <a:r>
              <a:rPr lang="en-US" altLang="zh-CN" dirty="0"/>
              <a:t>17CAH</a:t>
            </a:r>
            <a:r>
              <a:rPr lang="zh-CN" altLang="en-US" dirty="0"/>
              <a:t>对应的页号为</a:t>
            </a:r>
            <a:r>
              <a:rPr lang="en-US" altLang="zh-CN" dirty="0"/>
              <a:t>5</a:t>
            </a:r>
            <a:r>
              <a:rPr lang="zh-CN" altLang="en-US" dirty="0"/>
              <a:t>。</a:t>
            </a:r>
          </a:p>
          <a:p>
            <a:r>
              <a:rPr lang="zh-CN" altLang="en-US" dirty="0"/>
              <a:t>（</a:t>
            </a:r>
            <a:r>
              <a:rPr lang="en-US" altLang="zh-CN" dirty="0"/>
              <a:t>2</a:t>
            </a:r>
            <a:r>
              <a:rPr lang="zh-CN" altLang="en-US" dirty="0"/>
              <a:t>）若采用先进先出置换算法，则被置换出的页号对应的页框号是</a:t>
            </a:r>
            <a:r>
              <a:rPr lang="en-US" altLang="zh-CN" dirty="0"/>
              <a:t>7</a:t>
            </a:r>
            <a:r>
              <a:rPr lang="zh-CN" altLang="en-US" dirty="0"/>
              <a:t>，因此对应的二进制物理地址为：</a:t>
            </a:r>
            <a:r>
              <a:rPr lang="en-US" altLang="zh-CN" dirty="0"/>
              <a:t>0001 1111 1100 1010</a:t>
            </a:r>
            <a:r>
              <a:rPr lang="zh-CN" altLang="en-US" dirty="0"/>
              <a:t>，转换为</a:t>
            </a:r>
            <a:r>
              <a:rPr lang="en-US" altLang="zh-CN" dirty="0"/>
              <a:t>16</a:t>
            </a:r>
            <a:r>
              <a:rPr lang="zh-CN" altLang="en-US" dirty="0"/>
              <a:t>进制位的物理地址为</a:t>
            </a:r>
            <a:r>
              <a:rPr lang="en-US" altLang="zh-CN" dirty="0"/>
              <a:t>1FCAH</a:t>
            </a:r>
            <a:r>
              <a:rPr lang="zh-CN" altLang="en-US" dirty="0"/>
              <a:t>。</a:t>
            </a:r>
          </a:p>
          <a:p>
            <a:r>
              <a:rPr lang="zh-CN" altLang="en-US" dirty="0"/>
              <a:t>（</a:t>
            </a:r>
            <a:r>
              <a:rPr lang="en-US" altLang="zh-CN" dirty="0"/>
              <a:t>3</a:t>
            </a:r>
            <a:r>
              <a:rPr lang="zh-CN" altLang="en-US" dirty="0"/>
              <a:t>）若采用时钟算法，且当前指针指向</a:t>
            </a:r>
            <a:r>
              <a:rPr lang="en-US" altLang="zh-CN" dirty="0"/>
              <a:t>2</a:t>
            </a:r>
            <a:r>
              <a:rPr lang="zh-CN" altLang="en-US" dirty="0"/>
              <a:t>号页框，则第一次循环时，访问位都被置为</a:t>
            </a:r>
            <a:r>
              <a:rPr lang="en-US" altLang="zh-CN" dirty="0"/>
              <a:t>0</a:t>
            </a:r>
            <a:r>
              <a:rPr lang="zh-CN" altLang="en-US" dirty="0"/>
              <a:t>，在第二次循环时，将选择置换</a:t>
            </a:r>
            <a:r>
              <a:rPr lang="en-US" altLang="zh-CN" dirty="0"/>
              <a:t>2</a:t>
            </a:r>
            <a:r>
              <a:rPr lang="zh-CN" altLang="en-US" dirty="0"/>
              <a:t>号页框对应的页，因此对应的二进制物理地址为：</a:t>
            </a:r>
            <a:r>
              <a:rPr lang="en-US" altLang="zh-CN" dirty="0"/>
              <a:t>0000 1011 1100 1010</a:t>
            </a:r>
            <a:r>
              <a:rPr lang="zh-CN" altLang="en-US" dirty="0"/>
              <a:t>，转换为</a:t>
            </a:r>
            <a:r>
              <a:rPr lang="en-US" altLang="zh-CN" dirty="0"/>
              <a:t>16</a:t>
            </a:r>
            <a:r>
              <a:rPr lang="zh-CN" altLang="en-US" dirty="0"/>
              <a:t>进制物理地址为</a:t>
            </a:r>
            <a:r>
              <a:rPr lang="en-US" altLang="zh-CN" dirty="0"/>
              <a:t>0BCAH</a:t>
            </a:r>
            <a:r>
              <a:rPr lang="zh-CN" altLang="en-US" dirty="0"/>
              <a:t>。</a:t>
            </a:r>
          </a:p>
          <a:p>
            <a:endParaRPr lang="zh-CN" altLang="en-US" dirty="0"/>
          </a:p>
        </p:txBody>
      </p:sp>
    </p:spTree>
    <p:extLst>
      <p:ext uri="{BB962C8B-B14F-4D97-AF65-F5344CB8AC3E}">
        <p14:creationId xmlns:p14="http://schemas.microsoft.com/office/powerpoint/2010/main" val="2685946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Page Replacement</a:t>
            </a:r>
            <a:endParaRPr lang="zh-CN" altLang="en-US" dirty="0"/>
          </a:p>
        </p:txBody>
      </p:sp>
      <p:sp>
        <p:nvSpPr>
          <p:cNvPr id="3" name="内容占位符 2"/>
          <p:cNvSpPr>
            <a:spLocks noGrp="1"/>
          </p:cNvSpPr>
          <p:nvPr>
            <p:ph idx="1"/>
          </p:nvPr>
        </p:nvSpPr>
        <p:spPr>
          <a:xfrm>
            <a:off x="457200" y="1351309"/>
            <a:ext cx="8229600" cy="4525963"/>
          </a:xfrm>
        </p:spPr>
        <p:txBody>
          <a:bodyPr>
            <a:normAutofit fontScale="70000" lnSpcReduction="20000"/>
          </a:bodyPr>
          <a:lstStyle/>
          <a:p>
            <a:r>
              <a:rPr lang="zh-CN" altLang="zh-CN" dirty="0"/>
              <a:t>请求分页管理系统中，假设某进程的页表内容如下表所示。页面大小为</a:t>
            </a:r>
            <a:r>
              <a:rPr lang="en-US" altLang="zh-CN" dirty="0"/>
              <a:t>4KB</a:t>
            </a:r>
            <a:r>
              <a:rPr lang="zh-CN" altLang="zh-CN" dirty="0"/>
              <a:t>，一次内存的访问时间是</a:t>
            </a:r>
            <a:r>
              <a:rPr lang="en-US" altLang="zh-CN" dirty="0"/>
              <a:t>100ns</a:t>
            </a:r>
            <a:r>
              <a:rPr lang="zh-CN" altLang="zh-CN" dirty="0"/>
              <a:t>，一次快表（</a:t>
            </a:r>
            <a:r>
              <a:rPr lang="en-US" altLang="zh-CN" dirty="0"/>
              <a:t>TLB</a:t>
            </a:r>
            <a:r>
              <a:rPr lang="zh-CN" altLang="zh-CN" dirty="0"/>
              <a:t>）的访问时间是</a:t>
            </a:r>
            <a:r>
              <a:rPr lang="en-US" altLang="zh-CN" dirty="0"/>
              <a:t>10ns</a:t>
            </a:r>
            <a:r>
              <a:rPr lang="zh-CN" altLang="zh-CN" dirty="0"/>
              <a:t>，处理一次缺页的平均时间为</a:t>
            </a:r>
            <a:r>
              <a:rPr lang="en-US" altLang="zh-CN" dirty="0"/>
              <a:t>108ns</a:t>
            </a:r>
            <a:r>
              <a:rPr lang="zh-CN" altLang="zh-CN" dirty="0"/>
              <a:t>（已含更新</a:t>
            </a:r>
            <a:r>
              <a:rPr lang="en-US" altLang="zh-CN" dirty="0"/>
              <a:t>TLB</a:t>
            </a:r>
            <a:r>
              <a:rPr lang="zh-CN" altLang="zh-CN" dirty="0"/>
              <a:t>和页表的时间），进程的驻留集大小固定为</a:t>
            </a:r>
            <a:r>
              <a:rPr lang="en-US" altLang="zh-CN" dirty="0"/>
              <a:t>2</a:t>
            </a:r>
            <a:r>
              <a:rPr lang="zh-CN" altLang="zh-CN" dirty="0"/>
              <a:t>，采用最近最少使用置换算法（</a:t>
            </a:r>
            <a:r>
              <a:rPr lang="en-US" altLang="zh-CN" dirty="0"/>
              <a:t>LRU</a:t>
            </a:r>
            <a:r>
              <a:rPr lang="zh-CN" altLang="zh-CN" dirty="0"/>
              <a:t>）和局部淘汰策略。假设：</a:t>
            </a:r>
          </a:p>
          <a:p>
            <a:r>
              <a:rPr lang="zh-CN" altLang="zh-CN" dirty="0"/>
              <a:t>（</a:t>
            </a:r>
            <a:r>
              <a:rPr lang="en-US" altLang="zh-CN" dirty="0"/>
              <a:t>1</a:t>
            </a:r>
            <a:r>
              <a:rPr lang="zh-CN" altLang="zh-CN" dirty="0"/>
              <a:t>）、</a:t>
            </a:r>
            <a:r>
              <a:rPr lang="en-US" altLang="zh-CN" dirty="0"/>
              <a:t>TLB</a:t>
            </a:r>
            <a:r>
              <a:rPr lang="zh-CN" altLang="zh-CN" dirty="0"/>
              <a:t>初始为空；</a:t>
            </a:r>
          </a:p>
          <a:p>
            <a:r>
              <a:rPr lang="zh-CN" altLang="zh-CN" dirty="0"/>
              <a:t>（</a:t>
            </a:r>
            <a:r>
              <a:rPr lang="en-US" altLang="zh-CN" dirty="0"/>
              <a:t>2</a:t>
            </a:r>
            <a:r>
              <a:rPr lang="zh-CN" altLang="zh-CN" dirty="0"/>
              <a:t>）、地址转换时先访问</a:t>
            </a:r>
            <a:r>
              <a:rPr lang="en-US" altLang="zh-CN" dirty="0"/>
              <a:t>TLB</a:t>
            </a:r>
            <a:r>
              <a:rPr lang="zh-CN" altLang="zh-CN" dirty="0"/>
              <a:t>，若</a:t>
            </a:r>
            <a:r>
              <a:rPr lang="en-US" altLang="zh-CN" dirty="0"/>
              <a:t>TLB</a:t>
            </a:r>
            <a:r>
              <a:rPr lang="zh-CN" altLang="zh-CN" dirty="0"/>
              <a:t>未命中，再访问页表（忽略访问页表之后的</a:t>
            </a:r>
            <a:r>
              <a:rPr lang="en-US" altLang="zh-CN" dirty="0"/>
              <a:t>TLB</a:t>
            </a:r>
            <a:r>
              <a:rPr lang="zh-CN" altLang="zh-CN" dirty="0"/>
              <a:t>更新时间）；</a:t>
            </a:r>
          </a:p>
          <a:p>
            <a:r>
              <a:rPr lang="zh-CN" altLang="zh-CN" dirty="0"/>
              <a:t>（</a:t>
            </a:r>
            <a:r>
              <a:rPr lang="en-US" altLang="zh-CN" dirty="0"/>
              <a:t>3</a:t>
            </a:r>
            <a:r>
              <a:rPr lang="zh-CN" altLang="zh-CN" dirty="0"/>
              <a:t>）、有效位为</a:t>
            </a:r>
            <a:r>
              <a:rPr lang="en-US" altLang="zh-CN" dirty="0"/>
              <a:t>0</a:t>
            </a:r>
            <a:r>
              <a:rPr lang="zh-CN" altLang="zh-CN" dirty="0"/>
              <a:t>表示页面不在内存，产生缺页中断，缺页中断处理后，返回到产生缺页中断的指令处重新执行。</a:t>
            </a:r>
          </a:p>
          <a:p>
            <a:r>
              <a:rPr lang="zh-CN" altLang="zh-CN" dirty="0"/>
              <a:t>设有虚地址访问序列：</a:t>
            </a:r>
            <a:r>
              <a:rPr lang="en-US" altLang="zh-CN" dirty="0"/>
              <a:t>2362H</a:t>
            </a:r>
            <a:r>
              <a:rPr lang="zh-CN" altLang="zh-CN" dirty="0"/>
              <a:t>、</a:t>
            </a:r>
            <a:r>
              <a:rPr lang="en-US" altLang="zh-CN" dirty="0"/>
              <a:t>1565H</a:t>
            </a:r>
            <a:r>
              <a:rPr lang="zh-CN" altLang="zh-CN" dirty="0"/>
              <a:t>、</a:t>
            </a:r>
            <a:r>
              <a:rPr lang="en-US" altLang="zh-CN" dirty="0"/>
              <a:t>25A5H</a:t>
            </a:r>
            <a:r>
              <a:rPr lang="zh-CN" altLang="zh-CN" dirty="0"/>
              <a:t>，请问：</a:t>
            </a:r>
          </a:p>
          <a:p>
            <a:r>
              <a:rPr lang="zh-CN" altLang="zh-CN" dirty="0"/>
              <a:t>（</a:t>
            </a:r>
            <a:r>
              <a:rPr lang="en-US" altLang="zh-CN" dirty="0"/>
              <a:t>1</a:t>
            </a:r>
            <a:r>
              <a:rPr lang="zh-CN" altLang="zh-CN" dirty="0"/>
              <a:t>）、依次访问上述三个地址，各需多少时间？给出计算过程。</a:t>
            </a:r>
          </a:p>
          <a:p>
            <a:r>
              <a:rPr lang="zh-CN" altLang="zh-CN" dirty="0"/>
              <a:t>（</a:t>
            </a:r>
            <a:r>
              <a:rPr lang="en-US" altLang="zh-CN" dirty="0"/>
              <a:t>2</a:t>
            </a:r>
            <a:r>
              <a:rPr lang="zh-CN" altLang="zh-CN" dirty="0"/>
              <a:t>）、基于上述访问序列，虚地址</a:t>
            </a:r>
            <a:r>
              <a:rPr lang="en-US" altLang="zh-CN" dirty="0"/>
              <a:t>1565H</a:t>
            </a:r>
            <a:r>
              <a:rPr lang="zh-CN" altLang="zh-CN" dirty="0"/>
              <a:t>的物理地址是多少？请说明理由。</a:t>
            </a:r>
          </a:p>
          <a:p>
            <a:endParaRPr lang="zh-CN" altLang="en-US" dirty="0"/>
          </a:p>
        </p:txBody>
      </p:sp>
      <p:pic>
        <p:nvPicPr>
          <p:cNvPr id="2049" name="Picture 1" descr="C:\Users\Administrator\AppData\Roaming\Tencent\Users\93544784\QQ\WinTemp\RichOle\DV8Q)%FQG3XM4F0X$4YN3N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5412060"/>
            <a:ext cx="592455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185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r>
              <a:rPr lang="zh-CN" altLang="zh-CN" dirty="0"/>
              <a:t>（</a:t>
            </a:r>
            <a:r>
              <a:rPr lang="en-US" altLang="zh-CN" dirty="0"/>
              <a:t>1</a:t>
            </a:r>
            <a:r>
              <a:rPr lang="zh-CN" altLang="zh-CN" dirty="0"/>
              <a:t>）、根据页式管理的工作原理，应先考虑页面大小，以便将页号和页内位移分解出来。页面大小为</a:t>
            </a:r>
            <a:r>
              <a:rPr lang="en-US" altLang="zh-CN" dirty="0"/>
              <a:t>4KB</a:t>
            </a:r>
            <a:r>
              <a:rPr lang="zh-CN" altLang="zh-CN" dirty="0"/>
              <a:t>，即</a:t>
            </a:r>
            <a:r>
              <a:rPr lang="en-US" altLang="zh-CN" dirty="0"/>
              <a:t>2</a:t>
            </a:r>
            <a:r>
              <a:rPr lang="en-US" altLang="zh-CN" baseline="30000" dirty="0"/>
              <a:t>12</a:t>
            </a:r>
            <a:r>
              <a:rPr lang="zh-CN" altLang="zh-CN" dirty="0"/>
              <a:t>，则页内位移占虚地址的低</a:t>
            </a:r>
            <a:r>
              <a:rPr lang="en-US" altLang="zh-CN" dirty="0"/>
              <a:t>12</a:t>
            </a:r>
            <a:r>
              <a:rPr lang="zh-CN" altLang="zh-CN" dirty="0"/>
              <a:t>位，页号占剩余高位。可得三个虚地址的页号</a:t>
            </a:r>
            <a:r>
              <a:rPr lang="en-US" altLang="zh-CN" dirty="0"/>
              <a:t>P</a:t>
            </a:r>
            <a:r>
              <a:rPr lang="zh-CN" altLang="zh-CN" dirty="0"/>
              <a:t>如下：</a:t>
            </a:r>
          </a:p>
          <a:p>
            <a:r>
              <a:rPr lang="en-US" altLang="zh-CN" dirty="0"/>
              <a:t>2362H</a:t>
            </a:r>
            <a:r>
              <a:rPr lang="zh-CN" altLang="zh-CN" dirty="0"/>
              <a:t>：</a:t>
            </a:r>
            <a:r>
              <a:rPr lang="en-US" altLang="zh-CN" dirty="0"/>
              <a:t>P=2</a:t>
            </a:r>
            <a:r>
              <a:rPr lang="zh-CN" altLang="zh-CN" dirty="0"/>
              <a:t>，访问快表</a:t>
            </a:r>
            <a:r>
              <a:rPr lang="en-US" altLang="zh-CN" dirty="0"/>
              <a:t>10ns</a:t>
            </a:r>
            <a:r>
              <a:rPr lang="zh-CN" altLang="zh-CN" dirty="0"/>
              <a:t>（因</a:t>
            </a:r>
            <a:r>
              <a:rPr lang="en-US" altLang="zh-CN" dirty="0"/>
              <a:t>TLB</a:t>
            </a:r>
            <a:r>
              <a:rPr lang="zh-CN" altLang="zh-CN" dirty="0"/>
              <a:t>初始为空），访问页表</a:t>
            </a:r>
            <a:r>
              <a:rPr lang="en-US" altLang="zh-CN" dirty="0"/>
              <a:t>100ns</a:t>
            </a:r>
            <a:r>
              <a:rPr lang="zh-CN" altLang="zh-CN" dirty="0"/>
              <a:t>得到页框号，合成物理地址后访问主存</a:t>
            </a:r>
            <a:r>
              <a:rPr lang="en-US" altLang="zh-CN" dirty="0"/>
              <a:t>100ns</a:t>
            </a:r>
            <a:r>
              <a:rPr lang="zh-CN" altLang="zh-CN" dirty="0"/>
              <a:t>，共计</a:t>
            </a:r>
            <a:r>
              <a:rPr lang="en-US" altLang="zh-CN" dirty="0"/>
              <a:t>10+100+100=210ns</a:t>
            </a:r>
            <a:r>
              <a:rPr lang="zh-CN" altLang="zh-CN" dirty="0"/>
              <a:t>。</a:t>
            </a:r>
          </a:p>
          <a:p>
            <a:r>
              <a:rPr lang="en-US" altLang="zh-CN" dirty="0"/>
              <a:t>1565H</a:t>
            </a:r>
            <a:r>
              <a:rPr lang="zh-CN" altLang="zh-CN" dirty="0"/>
              <a:t>：</a:t>
            </a:r>
            <a:r>
              <a:rPr lang="en-US" altLang="zh-CN" dirty="0"/>
              <a:t>P=1</a:t>
            </a:r>
            <a:r>
              <a:rPr lang="zh-CN" altLang="zh-CN" dirty="0"/>
              <a:t>，访问快表</a:t>
            </a:r>
            <a:r>
              <a:rPr lang="en-US" altLang="zh-CN" dirty="0"/>
              <a:t>10ns</a:t>
            </a:r>
            <a:r>
              <a:rPr lang="zh-CN" altLang="zh-CN" dirty="0"/>
              <a:t>，缺页，访问页表</a:t>
            </a:r>
            <a:r>
              <a:rPr lang="en-US" altLang="zh-CN" dirty="0"/>
              <a:t>100ns</a:t>
            </a:r>
            <a:r>
              <a:rPr lang="zh-CN" altLang="zh-CN" dirty="0"/>
              <a:t>缺页，进行缺页中断处理</a:t>
            </a:r>
            <a:r>
              <a:rPr lang="en-US" altLang="zh-CN" dirty="0"/>
              <a:t>108ns</a:t>
            </a:r>
            <a:r>
              <a:rPr lang="zh-CN" altLang="zh-CN" dirty="0"/>
              <a:t>，合成物理地址后访问主存</a:t>
            </a:r>
            <a:r>
              <a:rPr lang="en-US" altLang="zh-CN" dirty="0"/>
              <a:t>100ns</a:t>
            </a:r>
            <a:r>
              <a:rPr lang="zh-CN" altLang="zh-CN" dirty="0"/>
              <a:t>，共计</a:t>
            </a:r>
            <a:r>
              <a:rPr lang="en-US" altLang="zh-CN" dirty="0"/>
              <a:t>10+100+108+100=318ns</a:t>
            </a:r>
            <a:r>
              <a:rPr lang="zh-CN" altLang="zh-CN" dirty="0"/>
              <a:t>。</a:t>
            </a:r>
          </a:p>
          <a:p>
            <a:r>
              <a:rPr lang="en-US" altLang="zh-CN" dirty="0"/>
              <a:t>25A5H</a:t>
            </a:r>
            <a:r>
              <a:rPr lang="zh-CN" altLang="zh-CN" dirty="0"/>
              <a:t>：</a:t>
            </a:r>
            <a:r>
              <a:rPr lang="en-US" altLang="zh-CN" dirty="0"/>
              <a:t>P=2</a:t>
            </a:r>
            <a:r>
              <a:rPr lang="zh-CN" altLang="zh-CN" dirty="0"/>
              <a:t>，访问快表</a:t>
            </a:r>
            <a:r>
              <a:rPr lang="en-US" altLang="zh-CN" dirty="0"/>
              <a:t>10ns</a:t>
            </a:r>
            <a:r>
              <a:rPr lang="zh-CN" altLang="zh-CN" dirty="0"/>
              <a:t>（因第一次访问时已将页号放入快表，即可合成物理地址），合成物理地址后访问主存</a:t>
            </a:r>
            <a:r>
              <a:rPr lang="en-US" altLang="zh-CN" dirty="0"/>
              <a:t>100ns</a:t>
            </a:r>
            <a:r>
              <a:rPr lang="zh-CN" altLang="zh-CN" dirty="0"/>
              <a:t>，共计</a:t>
            </a:r>
            <a:r>
              <a:rPr lang="en-US" altLang="zh-CN" dirty="0"/>
              <a:t>10+100=110ns</a:t>
            </a:r>
            <a:r>
              <a:rPr lang="zh-CN" altLang="zh-CN" dirty="0"/>
              <a:t>。</a:t>
            </a:r>
          </a:p>
          <a:p>
            <a:r>
              <a:rPr lang="zh-CN" altLang="zh-CN" dirty="0"/>
              <a:t>合计</a:t>
            </a:r>
            <a:r>
              <a:rPr lang="en-US" altLang="zh-CN" dirty="0"/>
              <a:t>210+318+110=628ns</a:t>
            </a:r>
            <a:endParaRPr lang="zh-CN" altLang="zh-CN" dirty="0"/>
          </a:p>
          <a:p>
            <a:r>
              <a:rPr lang="zh-CN" altLang="zh-CN" dirty="0"/>
              <a:t>（</a:t>
            </a:r>
            <a:r>
              <a:rPr lang="en-US" altLang="zh-CN" dirty="0"/>
              <a:t>2</a:t>
            </a:r>
            <a:r>
              <a:rPr lang="zh-CN" altLang="zh-CN" dirty="0"/>
              <a:t>）、当访问虚地址</a:t>
            </a:r>
            <a:r>
              <a:rPr lang="en-US" altLang="zh-CN" dirty="0"/>
              <a:t>1565H</a:t>
            </a:r>
            <a:r>
              <a:rPr lang="zh-CN" altLang="zh-CN" dirty="0"/>
              <a:t>时，产生缺页中断，合法驻留集为</a:t>
            </a:r>
            <a:r>
              <a:rPr lang="en-US" altLang="zh-CN" dirty="0"/>
              <a:t>2</a:t>
            </a:r>
            <a:r>
              <a:rPr lang="zh-CN" altLang="zh-CN" dirty="0"/>
              <a:t>，必须从页表中淘汰一个页面，根据题目的置换算法，应淘汰</a:t>
            </a:r>
            <a:r>
              <a:rPr lang="en-US" altLang="zh-CN" dirty="0"/>
              <a:t>0</a:t>
            </a:r>
            <a:r>
              <a:rPr lang="zh-CN" altLang="zh-CN" dirty="0"/>
              <a:t>号页面，因此</a:t>
            </a:r>
            <a:r>
              <a:rPr lang="en-US" altLang="zh-CN" dirty="0"/>
              <a:t>1565H</a:t>
            </a:r>
            <a:r>
              <a:rPr lang="zh-CN" altLang="zh-CN" dirty="0"/>
              <a:t>的对应页框号为</a:t>
            </a:r>
            <a:r>
              <a:rPr lang="en-US" altLang="zh-CN" dirty="0"/>
              <a:t>101H</a:t>
            </a:r>
            <a:r>
              <a:rPr lang="zh-CN" altLang="zh-CN" dirty="0"/>
              <a:t>。由此可得</a:t>
            </a:r>
            <a:r>
              <a:rPr lang="en-US" altLang="zh-CN" dirty="0"/>
              <a:t>1565H</a:t>
            </a:r>
            <a:r>
              <a:rPr lang="zh-CN" altLang="zh-CN" dirty="0"/>
              <a:t>的物理地址为</a:t>
            </a:r>
            <a:r>
              <a:rPr lang="en-US" altLang="zh-CN" dirty="0"/>
              <a:t>101565H</a:t>
            </a:r>
            <a:r>
              <a:rPr lang="zh-CN" altLang="zh-CN" dirty="0"/>
              <a:t>。</a:t>
            </a:r>
          </a:p>
          <a:p>
            <a:endParaRPr lang="zh-CN" altLang="en-US" dirty="0"/>
          </a:p>
        </p:txBody>
      </p:sp>
    </p:spTree>
    <p:extLst>
      <p:ext uri="{BB962C8B-B14F-4D97-AF65-F5344CB8AC3E}">
        <p14:creationId xmlns:p14="http://schemas.microsoft.com/office/powerpoint/2010/main" val="2193775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File System</a:t>
            </a:r>
            <a:endParaRPr lang="zh-CN" altLang="en-US" dirty="0"/>
          </a:p>
        </p:txBody>
      </p:sp>
      <p:sp>
        <p:nvSpPr>
          <p:cNvPr id="3" name="内容占位符 2"/>
          <p:cNvSpPr>
            <a:spLocks noGrp="1"/>
          </p:cNvSpPr>
          <p:nvPr>
            <p:ph idx="1"/>
          </p:nvPr>
        </p:nvSpPr>
        <p:spPr/>
        <p:txBody>
          <a:bodyPr/>
          <a:lstStyle/>
          <a:p>
            <a:r>
              <a:rPr lang="zh-CN" altLang="en-US" dirty="0"/>
              <a:t>设文件</a:t>
            </a:r>
            <a:r>
              <a:rPr lang="en-US" altLang="zh-CN" dirty="0"/>
              <a:t>F1</a:t>
            </a:r>
            <a:r>
              <a:rPr lang="zh-CN" altLang="en-US" dirty="0"/>
              <a:t>的当前引用计数值为</a:t>
            </a:r>
            <a:r>
              <a:rPr lang="en-US" altLang="zh-CN" dirty="0"/>
              <a:t>1</a:t>
            </a:r>
            <a:r>
              <a:rPr lang="zh-CN" altLang="en-US" dirty="0"/>
              <a:t>，先建立</a:t>
            </a:r>
            <a:r>
              <a:rPr lang="en-US" altLang="zh-CN" dirty="0"/>
              <a:t>F1</a:t>
            </a:r>
            <a:r>
              <a:rPr lang="zh-CN" altLang="en-US" dirty="0"/>
              <a:t>的符号链接（软链接）文件</a:t>
            </a:r>
            <a:r>
              <a:rPr lang="en-US" altLang="zh-CN" dirty="0"/>
              <a:t>F2</a:t>
            </a:r>
            <a:r>
              <a:rPr lang="zh-CN" altLang="en-US" dirty="0"/>
              <a:t>，再建立</a:t>
            </a:r>
            <a:r>
              <a:rPr lang="en-US" altLang="zh-CN" dirty="0"/>
              <a:t>F1</a:t>
            </a:r>
            <a:r>
              <a:rPr lang="zh-CN" altLang="en-US" dirty="0"/>
              <a:t>的硬链接文件</a:t>
            </a:r>
            <a:r>
              <a:rPr lang="en-US" altLang="zh-CN" dirty="0"/>
              <a:t>F3</a:t>
            </a:r>
            <a:r>
              <a:rPr lang="zh-CN" altLang="en-US" dirty="0"/>
              <a:t>，然后删除</a:t>
            </a:r>
            <a:r>
              <a:rPr lang="en-US" altLang="zh-CN" dirty="0"/>
              <a:t>F1</a:t>
            </a:r>
            <a:r>
              <a:rPr lang="zh-CN" altLang="en-US" dirty="0"/>
              <a:t>。此时，</a:t>
            </a:r>
            <a:r>
              <a:rPr lang="en-US" altLang="zh-CN" dirty="0"/>
              <a:t>F2</a:t>
            </a:r>
            <a:r>
              <a:rPr lang="zh-CN" altLang="en-US" dirty="0"/>
              <a:t>和</a:t>
            </a:r>
            <a:r>
              <a:rPr lang="en-US" altLang="zh-CN" dirty="0"/>
              <a:t>F3</a:t>
            </a:r>
            <a:r>
              <a:rPr lang="zh-CN" altLang="en-US" dirty="0"/>
              <a:t>的引用计数值分别是（ </a:t>
            </a:r>
            <a:r>
              <a:rPr lang="en-US" altLang="zh-CN" dirty="0"/>
              <a:t>B </a:t>
            </a:r>
            <a:r>
              <a:rPr lang="zh-CN" altLang="en-US" dirty="0"/>
              <a:t>）</a:t>
            </a:r>
          </a:p>
          <a:p>
            <a:r>
              <a:rPr lang="en-US" altLang="zh-CN" dirty="0"/>
              <a:t>A</a:t>
            </a:r>
            <a:r>
              <a:rPr lang="zh-CN" altLang="en-US" dirty="0"/>
              <a:t>、</a:t>
            </a:r>
            <a:r>
              <a:rPr lang="en-US" altLang="zh-CN" dirty="0"/>
              <a:t>0</a:t>
            </a:r>
            <a:r>
              <a:rPr lang="zh-CN" altLang="en-US" dirty="0"/>
              <a:t>、</a:t>
            </a:r>
            <a:r>
              <a:rPr lang="en-US" altLang="zh-CN" dirty="0"/>
              <a:t>1           B</a:t>
            </a:r>
            <a:r>
              <a:rPr lang="zh-CN" altLang="en-US" dirty="0"/>
              <a:t>、</a:t>
            </a:r>
            <a:r>
              <a:rPr lang="en-US" altLang="zh-CN" dirty="0"/>
              <a:t>1</a:t>
            </a:r>
            <a:r>
              <a:rPr lang="zh-CN" altLang="en-US" dirty="0"/>
              <a:t>、</a:t>
            </a:r>
            <a:r>
              <a:rPr lang="en-US" altLang="zh-CN" dirty="0"/>
              <a:t>1            C</a:t>
            </a:r>
            <a:r>
              <a:rPr lang="zh-CN" altLang="en-US" dirty="0"/>
              <a:t>、</a:t>
            </a:r>
            <a:r>
              <a:rPr lang="en-US" altLang="zh-CN" dirty="0"/>
              <a:t>1</a:t>
            </a:r>
            <a:r>
              <a:rPr lang="zh-CN" altLang="en-US" dirty="0"/>
              <a:t>、</a:t>
            </a:r>
            <a:r>
              <a:rPr lang="en-US" altLang="zh-CN" dirty="0"/>
              <a:t>2             D</a:t>
            </a:r>
            <a:r>
              <a:rPr lang="zh-CN" altLang="en-US" dirty="0"/>
              <a:t>、</a:t>
            </a:r>
            <a:r>
              <a:rPr lang="en-US" altLang="zh-CN" dirty="0"/>
              <a:t>2</a:t>
            </a:r>
            <a:r>
              <a:rPr lang="zh-CN" altLang="en-US" dirty="0"/>
              <a:t>、</a:t>
            </a:r>
            <a:r>
              <a:rPr lang="en-US" altLang="zh-CN" dirty="0"/>
              <a:t>1</a:t>
            </a:r>
          </a:p>
          <a:p>
            <a:endParaRPr lang="zh-CN" altLang="en-US" dirty="0"/>
          </a:p>
        </p:txBody>
      </p:sp>
    </p:spTree>
    <p:extLst>
      <p:ext uri="{BB962C8B-B14F-4D97-AF65-F5344CB8AC3E}">
        <p14:creationId xmlns:p14="http://schemas.microsoft.com/office/powerpoint/2010/main" val="3300342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File System</a:t>
            </a:r>
            <a:endParaRPr lang="zh-CN" altLang="en-US" dirty="0"/>
          </a:p>
        </p:txBody>
      </p:sp>
      <p:sp>
        <p:nvSpPr>
          <p:cNvPr id="3" name="内容占位符 2"/>
          <p:cNvSpPr>
            <a:spLocks noGrp="1"/>
          </p:cNvSpPr>
          <p:nvPr>
            <p:ph idx="1"/>
          </p:nvPr>
        </p:nvSpPr>
        <p:spPr/>
        <p:txBody>
          <a:bodyPr/>
          <a:lstStyle/>
          <a:p>
            <a:r>
              <a:rPr lang="zh-CN" altLang="en-US" dirty="0"/>
              <a:t>设文件索引节点中有</a:t>
            </a:r>
            <a:r>
              <a:rPr lang="en-US" altLang="zh-CN" dirty="0"/>
              <a:t>7</a:t>
            </a:r>
            <a:r>
              <a:rPr lang="zh-CN" altLang="en-US" dirty="0"/>
              <a:t>个地址项，其中</a:t>
            </a:r>
            <a:r>
              <a:rPr lang="en-US" altLang="zh-CN" dirty="0"/>
              <a:t>4</a:t>
            </a:r>
            <a:r>
              <a:rPr lang="zh-CN" altLang="en-US" dirty="0"/>
              <a:t>个地址为直接地址索引，</a:t>
            </a:r>
            <a:r>
              <a:rPr lang="en-US" altLang="zh-CN" dirty="0"/>
              <a:t>2</a:t>
            </a:r>
            <a:r>
              <a:rPr lang="zh-CN" altLang="en-US" dirty="0"/>
              <a:t>个地址项是一级间接地址项，</a:t>
            </a:r>
            <a:r>
              <a:rPr lang="en-US" altLang="zh-CN" dirty="0"/>
              <a:t>1</a:t>
            </a:r>
            <a:r>
              <a:rPr lang="zh-CN" altLang="en-US" dirty="0"/>
              <a:t>个地址项是二级间接地址索引，每个地址项的大小为</a:t>
            </a:r>
            <a:r>
              <a:rPr lang="en-US" altLang="zh-CN" dirty="0"/>
              <a:t>4</a:t>
            </a:r>
            <a:r>
              <a:rPr lang="zh-CN" altLang="en-US" dirty="0"/>
              <a:t>字节，若磁盘索引块和磁盘数据块大小均为</a:t>
            </a:r>
            <a:r>
              <a:rPr lang="en-US" altLang="zh-CN" dirty="0"/>
              <a:t>256</a:t>
            </a:r>
            <a:r>
              <a:rPr lang="zh-CN" altLang="en-US" dirty="0"/>
              <a:t>字节，则可表示的单个文件最大长度是</a:t>
            </a:r>
            <a:r>
              <a:rPr lang="en-US" altLang="zh-CN" dirty="0"/>
              <a:t>(  C  )</a:t>
            </a:r>
          </a:p>
          <a:p>
            <a:r>
              <a:rPr lang="en-US" altLang="zh-CN" dirty="0"/>
              <a:t>A</a:t>
            </a:r>
            <a:r>
              <a:rPr lang="zh-CN" altLang="en-US" dirty="0"/>
              <a:t>、</a:t>
            </a:r>
            <a:r>
              <a:rPr lang="en-US" altLang="zh-CN" dirty="0"/>
              <a:t>33KB         B</a:t>
            </a:r>
            <a:r>
              <a:rPr lang="zh-CN" altLang="en-US" dirty="0"/>
              <a:t>、</a:t>
            </a:r>
            <a:r>
              <a:rPr lang="en-US" altLang="zh-CN" dirty="0"/>
              <a:t>519KB        C</a:t>
            </a:r>
            <a:r>
              <a:rPr lang="zh-CN" altLang="en-US" dirty="0"/>
              <a:t>、</a:t>
            </a:r>
            <a:r>
              <a:rPr lang="en-US" altLang="zh-CN" dirty="0"/>
              <a:t>1057KB       D</a:t>
            </a:r>
            <a:r>
              <a:rPr lang="zh-CN" altLang="en-US" dirty="0"/>
              <a:t>、</a:t>
            </a:r>
            <a:r>
              <a:rPr lang="en-US" altLang="zh-CN" dirty="0"/>
              <a:t>16513KB</a:t>
            </a:r>
          </a:p>
          <a:p>
            <a:endParaRPr lang="zh-CN" altLang="en-US" dirty="0"/>
          </a:p>
        </p:txBody>
      </p:sp>
    </p:spTree>
    <p:extLst>
      <p:ext uri="{BB962C8B-B14F-4D97-AF65-F5344CB8AC3E}">
        <p14:creationId xmlns:p14="http://schemas.microsoft.com/office/powerpoint/2010/main" val="1071766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File System</a:t>
            </a:r>
            <a:endParaRPr lang="zh-CN" altLang="en-US" dirty="0"/>
          </a:p>
        </p:txBody>
      </p:sp>
      <p:sp>
        <p:nvSpPr>
          <p:cNvPr id="3" name="内容占位符 2"/>
          <p:cNvSpPr>
            <a:spLocks noGrp="1"/>
          </p:cNvSpPr>
          <p:nvPr>
            <p:ph idx="1"/>
          </p:nvPr>
        </p:nvSpPr>
        <p:spPr/>
        <p:txBody>
          <a:bodyPr/>
          <a:lstStyle/>
          <a:p>
            <a:r>
              <a:rPr lang="en-US" altLang="zh-CN" dirty="0"/>
              <a:t>a file allocation table (FAT) is used, and each entry in the file allocation table is 4 bytes in size. Given a 100 MB disk on which the file system is stored and data blocks of size 1024 bytes, what is the maximum sized file that can be stored on this disk?</a:t>
            </a:r>
            <a:endParaRPr lang="zh-CN" altLang="en-US" dirty="0"/>
          </a:p>
        </p:txBody>
      </p:sp>
    </p:spTree>
    <p:extLst>
      <p:ext uri="{BB962C8B-B14F-4D97-AF65-F5344CB8AC3E}">
        <p14:creationId xmlns:p14="http://schemas.microsoft.com/office/powerpoint/2010/main" val="153442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FAT</a:t>
            </a:r>
            <a:r>
              <a:rPr lang="zh-CN" altLang="en-US" dirty="0"/>
              <a:t>表所占空间：</a:t>
            </a:r>
            <a:r>
              <a:rPr lang="en-US" altLang="zh-CN" dirty="0"/>
              <a:t>100M/1024*4 = 400KB</a:t>
            </a:r>
            <a:r>
              <a:rPr lang="zh-CN" altLang="en-US" dirty="0"/>
              <a:t>，文件大小最大为：</a:t>
            </a:r>
            <a:r>
              <a:rPr lang="en-US" altLang="zh-CN" dirty="0"/>
              <a:t>100MB-400KB-1KB</a:t>
            </a:r>
            <a:r>
              <a:rPr lang="zh-CN" altLang="en-US" dirty="0"/>
              <a:t>（目录结构至少占一块）</a:t>
            </a:r>
          </a:p>
        </p:txBody>
      </p:sp>
    </p:spTree>
    <p:extLst>
      <p:ext uri="{BB962C8B-B14F-4D97-AF65-F5344CB8AC3E}">
        <p14:creationId xmlns:p14="http://schemas.microsoft.com/office/powerpoint/2010/main" val="2908215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Disk Scheduling</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假设磁头当前位于第</a:t>
            </a:r>
            <a:r>
              <a:rPr lang="en-US" altLang="zh-CN" dirty="0"/>
              <a:t>105</a:t>
            </a:r>
            <a:r>
              <a:rPr lang="zh-CN" altLang="en-US" dirty="0"/>
              <a:t>道，正在向磁道序号增加的方向移动。现有一个磁道访问请求序列为</a:t>
            </a:r>
            <a:r>
              <a:rPr lang="en-US" altLang="zh-CN" dirty="0"/>
              <a:t>35</a:t>
            </a:r>
            <a:r>
              <a:rPr lang="zh-CN" altLang="en-US" dirty="0"/>
              <a:t>，</a:t>
            </a:r>
            <a:r>
              <a:rPr lang="en-US" altLang="zh-CN" dirty="0"/>
              <a:t>45</a:t>
            </a:r>
            <a:r>
              <a:rPr lang="zh-CN" altLang="en-US" dirty="0"/>
              <a:t>，</a:t>
            </a:r>
            <a:r>
              <a:rPr lang="en-US" altLang="zh-CN" dirty="0"/>
              <a:t>12</a:t>
            </a:r>
            <a:r>
              <a:rPr lang="zh-CN" altLang="en-US" dirty="0"/>
              <a:t>，</a:t>
            </a:r>
            <a:r>
              <a:rPr lang="en-US" altLang="zh-CN" dirty="0"/>
              <a:t>68</a:t>
            </a:r>
            <a:r>
              <a:rPr lang="zh-CN" altLang="en-US" dirty="0"/>
              <a:t>，</a:t>
            </a:r>
            <a:r>
              <a:rPr lang="en-US" altLang="zh-CN" dirty="0"/>
              <a:t>110</a:t>
            </a:r>
            <a:r>
              <a:rPr lang="zh-CN" altLang="en-US" dirty="0"/>
              <a:t>，</a:t>
            </a:r>
            <a:r>
              <a:rPr lang="en-US" altLang="zh-CN" dirty="0"/>
              <a:t>180</a:t>
            </a:r>
            <a:r>
              <a:rPr lang="zh-CN" altLang="en-US" dirty="0"/>
              <a:t>，</a:t>
            </a:r>
            <a:r>
              <a:rPr lang="en-US" altLang="zh-CN" dirty="0"/>
              <a:t>170</a:t>
            </a:r>
            <a:r>
              <a:rPr lang="zh-CN" altLang="en-US" dirty="0"/>
              <a:t>，</a:t>
            </a:r>
            <a:r>
              <a:rPr lang="en-US" altLang="zh-CN" dirty="0"/>
              <a:t>195</a:t>
            </a:r>
            <a:r>
              <a:rPr lang="zh-CN" altLang="en-US" dirty="0"/>
              <a:t>，采用</a:t>
            </a:r>
            <a:r>
              <a:rPr lang="en-US" altLang="zh-CN" dirty="0"/>
              <a:t>SCAN</a:t>
            </a:r>
            <a:r>
              <a:rPr lang="zh-CN" altLang="en-US" dirty="0"/>
              <a:t>调度（电梯调度）算法得到的磁盘访问序列是（  </a:t>
            </a:r>
            <a:r>
              <a:rPr lang="en-US" altLang="zh-CN" dirty="0"/>
              <a:t>A   </a:t>
            </a:r>
            <a:r>
              <a:rPr lang="zh-CN" altLang="en-US" dirty="0"/>
              <a:t>）</a:t>
            </a:r>
          </a:p>
          <a:p>
            <a:r>
              <a:rPr lang="en-US" altLang="zh-CN" dirty="0"/>
              <a:t>A</a:t>
            </a:r>
            <a:r>
              <a:rPr lang="zh-CN" altLang="en-US" dirty="0"/>
              <a:t>、</a:t>
            </a:r>
            <a:r>
              <a:rPr lang="en-US" altLang="zh-CN" dirty="0"/>
              <a:t>110</a:t>
            </a:r>
            <a:r>
              <a:rPr lang="zh-CN" altLang="en-US" dirty="0"/>
              <a:t>，</a:t>
            </a:r>
            <a:r>
              <a:rPr lang="en-US" altLang="zh-CN" dirty="0"/>
              <a:t>170</a:t>
            </a:r>
            <a:r>
              <a:rPr lang="zh-CN" altLang="en-US" dirty="0"/>
              <a:t>，</a:t>
            </a:r>
            <a:r>
              <a:rPr lang="en-US" altLang="zh-CN" dirty="0"/>
              <a:t>180</a:t>
            </a:r>
            <a:r>
              <a:rPr lang="zh-CN" altLang="en-US" dirty="0"/>
              <a:t>，</a:t>
            </a:r>
            <a:r>
              <a:rPr lang="en-US" altLang="zh-CN" dirty="0"/>
              <a:t>195</a:t>
            </a:r>
            <a:r>
              <a:rPr lang="zh-CN" altLang="en-US" dirty="0"/>
              <a:t>，</a:t>
            </a:r>
            <a:r>
              <a:rPr lang="en-US" altLang="zh-CN" dirty="0"/>
              <a:t>68</a:t>
            </a:r>
            <a:r>
              <a:rPr lang="zh-CN" altLang="en-US" dirty="0"/>
              <a:t>，</a:t>
            </a:r>
            <a:r>
              <a:rPr lang="en-US" altLang="zh-CN" dirty="0"/>
              <a:t>45</a:t>
            </a:r>
            <a:r>
              <a:rPr lang="zh-CN" altLang="en-US" dirty="0"/>
              <a:t>，</a:t>
            </a:r>
            <a:r>
              <a:rPr lang="en-US" altLang="zh-CN" dirty="0"/>
              <a:t>35</a:t>
            </a:r>
            <a:r>
              <a:rPr lang="zh-CN" altLang="en-US" dirty="0"/>
              <a:t>，</a:t>
            </a:r>
            <a:r>
              <a:rPr lang="en-US" altLang="zh-CN" dirty="0"/>
              <a:t>12  B</a:t>
            </a:r>
            <a:r>
              <a:rPr lang="zh-CN" altLang="en-US" dirty="0"/>
              <a:t>、</a:t>
            </a:r>
            <a:r>
              <a:rPr lang="en-US" altLang="zh-CN" dirty="0"/>
              <a:t>110</a:t>
            </a:r>
            <a:r>
              <a:rPr lang="zh-CN" altLang="en-US" dirty="0"/>
              <a:t>，</a:t>
            </a:r>
            <a:r>
              <a:rPr lang="en-US" altLang="zh-CN" dirty="0"/>
              <a:t>68</a:t>
            </a:r>
            <a:r>
              <a:rPr lang="zh-CN" altLang="en-US" dirty="0"/>
              <a:t>，</a:t>
            </a:r>
            <a:r>
              <a:rPr lang="en-US" altLang="zh-CN" dirty="0"/>
              <a:t>45</a:t>
            </a:r>
            <a:r>
              <a:rPr lang="zh-CN" altLang="en-US" dirty="0"/>
              <a:t>，</a:t>
            </a:r>
            <a:r>
              <a:rPr lang="en-US" altLang="zh-CN" dirty="0"/>
              <a:t>35</a:t>
            </a:r>
            <a:r>
              <a:rPr lang="zh-CN" altLang="en-US" dirty="0"/>
              <a:t>，</a:t>
            </a:r>
            <a:r>
              <a:rPr lang="en-US" altLang="zh-CN" dirty="0"/>
              <a:t>12</a:t>
            </a:r>
            <a:r>
              <a:rPr lang="zh-CN" altLang="en-US" dirty="0"/>
              <a:t>，</a:t>
            </a:r>
            <a:r>
              <a:rPr lang="en-US" altLang="zh-CN" dirty="0"/>
              <a:t>170</a:t>
            </a:r>
            <a:r>
              <a:rPr lang="zh-CN" altLang="en-US" dirty="0"/>
              <a:t>，</a:t>
            </a:r>
            <a:r>
              <a:rPr lang="en-US" altLang="zh-CN" dirty="0"/>
              <a:t>180</a:t>
            </a:r>
            <a:r>
              <a:rPr lang="zh-CN" altLang="en-US" dirty="0"/>
              <a:t>，</a:t>
            </a:r>
            <a:r>
              <a:rPr lang="en-US" altLang="zh-CN" dirty="0"/>
              <a:t>195</a:t>
            </a:r>
          </a:p>
          <a:p>
            <a:r>
              <a:rPr lang="en-US" altLang="zh-CN" dirty="0"/>
              <a:t>C</a:t>
            </a:r>
            <a:r>
              <a:rPr lang="zh-CN" altLang="en-US" dirty="0"/>
              <a:t>、</a:t>
            </a:r>
            <a:r>
              <a:rPr lang="en-US" altLang="zh-CN" dirty="0"/>
              <a:t>110</a:t>
            </a:r>
            <a:r>
              <a:rPr lang="zh-CN" altLang="en-US" dirty="0"/>
              <a:t>，</a:t>
            </a:r>
            <a:r>
              <a:rPr lang="en-US" altLang="zh-CN" dirty="0"/>
              <a:t>170</a:t>
            </a:r>
            <a:r>
              <a:rPr lang="zh-CN" altLang="en-US" dirty="0"/>
              <a:t>，</a:t>
            </a:r>
            <a:r>
              <a:rPr lang="en-US" altLang="zh-CN" dirty="0"/>
              <a:t>180</a:t>
            </a:r>
            <a:r>
              <a:rPr lang="zh-CN" altLang="en-US" dirty="0"/>
              <a:t>，</a:t>
            </a:r>
            <a:r>
              <a:rPr lang="en-US" altLang="zh-CN" dirty="0"/>
              <a:t>195</a:t>
            </a:r>
            <a:r>
              <a:rPr lang="zh-CN" altLang="en-US" dirty="0"/>
              <a:t>，</a:t>
            </a:r>
            <a:r>
              <a:rPr lang="en-US" altLang="zh-CN" dirty="0"/>
              <a:t>12</a:t>
            </a:r>
            <a:r>
              <a:rPr lang="zh-CN" altLang="en-US" dirty="0"/>
              <a:t>，</a:t>
            </a:r>
            <a:r>
              <a:rPr lang="en-US" altLang="zh-CN" dirty="0"/>
              <a:t>35</a:t>
            </a:r>
            <a:r>
              <a:rPr lang="zh-CN" altLang="en-US" dirty="0"/>
              <a:t>，</a:t>
            </a:r>
            <a:r>
              <a:rPr lang="en-US" altLang="zh-CN" dirty="0"/>
              <a:t>45</a:t>
            </a:r>
            <a:r>
              <a:rPr lang="zh-CN" altLang="en-US" dirty="0"/>
              <a:t>，</a:t>
            </a:r>
            <a:r>
              <a:rPr lang="en-US" altLang="zh-CN" dirty="0"/>
              <a:t>68  D</a:t>
            </a:r>
            <a:r>
              <a:rPr lang="zh-CN" altLang="en-US" dirty="0"/>
              <a:t>、</a:t>
            </a:r>
            <a:r>
              <a:rPr lang="en-US" altLang="zh-CN" dirty="0"/>
              <a:t>12</a:t>
            </a:r>
            <a:r>
              <a:rPr lang="zh-CN" altLang="en-US" dirty="0"/>
              <a:t>，</a:t>
            </a:r>
            <a:r>
              <a:rPr lang="en-US" altLang="zh-CN" dirty="0"/>
              <a:t>35</a:t>
            </a:r>
            <a:r>
              <a:rPr lang="zh-CN" altLang="en-US" dirty="0"/>
              <a:t>，</a:t>
            </a:r>
            <a:r>
              <a:rPr lang="en-US" altLang="zh-CN" dirty="0"/>
              <a:t>45</a:t>
            </a:r>
            <a:r>
              <a:rPr lang="zh-CN" altLang="en-US" dirty="0"/>
              <a:t>，</a:t>
            </a:r>
            <a:r>
              <a:rPr lang="en-US" altLang="zh-CN" dirty="0"/>
              <a:t>68</a:t>
            </a:r>
            <a:r>
              <a:rPr lang="zh-CN" altLang="en-US" dirty="0"/>
              <a:t>，</a:t>
            </a:r>
            <a:r>
              <a:rPr lang="en-US" altLang="zh-CN" dirty="0"/>
              <a:t>110</a:t>
            </a:r>
            <a:r>
              <a:rPr lang="zh-CN" altLang="en-US" dirty="0"/>
              <a:t>，</a:t>
            </a:r>
            <a:r>
              <a:rPr lang="en-US" altLang="zh-CN" dirty="0"/>
              <a:t>170</a:t>
            </a:r>
            <a:r>
              <a:rPr lang="zh-CN" altLang="en-US" dirty="0"/>
              <a:t>，</a:t>
            </a:r>
            <a:r>
              <a:rPr lang="en-US" altLang="zh-CN" dirty="0"/>
              <a:t>180</a:t>
            </a:r>
            <a:r>
              <a:rPr lang="zh-CN" altLang="en-US" dirty="0"/>
              <a:t>，</a:t>
            </a:r>
            <a:r>
              <a:rPr lang="en-US" altLang="zh-CN" dirty="0"/>
              <a:t>195</a:t>
            </a:r>
          </a:p>
          <a:p>
            <a:endParaRPr lang="zh-CN" altLang="en-US" dirty="0"/>
          </a:p>
        </p:txBody>
      </p:sp>
    </p:spTree>
    <p:extLst>
      <p:ext uri="{BB962C8B-B14F-4D97-AF65-F5344CB8AC3E}">
        <p14:creationId xmlns:p14="http://schemas.microsoft.com/office/powerpoint/2010/main" val="3891541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Disk Scheduling</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假设计算机系统采用</a:t>
            </a:r>
            <a:r>
              <a:rPr lang="en-US" altLang="zh-CN" dirty="0"/>
              <a:t>CSCAN(</a:t>
            </a:r>
            <a:r>
              <a:rPr lang="zh-CN" altLang="en-US" dirty="0"/>
              <a:t>循环扫描</a:t>
            </a:r>
            <a:r>
              <a:rPr lang="en-US" altLang="zh-CN" dirty="0"/>
              <a:t>)</a:t>
            </a:r>
            <a:r>
              <a:rPr lang="zh-CN" altLang="en-US" dirty="0"/>
              <a:t>磁盘调度策略，使用</a:t>
            </a:r>
            <a:r>
              <a:rPr lang="en-US" altLang="zh-CN" dirty="0"/>
              <a:t>2KB</a:t>
            </a:r>
            <a:r>
              <a:rPr lang="zh-CN" altLang="en-US" dirty="0"/>
              <a:t>的内存空间记录</a:t>
            </a:r>
            <a:r>
              <a:rPr lang="en-US" altLang="zh-CN" dirty="0"/>
              <a:t>16384</a:t>
            </a:r>
            <a:r>
              <a:rPr lang="zh-CN" altLang="en-US" dirty="0"/>
              <a:t>个磁盘的空闲状态</a:t>
            </a:r>
          </a:p>
          <a:p>
            <a:pPr lvl="1"/>
            <a:r>
              <a:rPr lang="en-US" altLang="zh-CN" dirty="0"/>
              <a:t>(1)</a:t>
            </a:r>
            <a:r>
              <a:rPr lang="zh-CN" altLang="en-US" dirty="0"/>
              <a:t>、请说明在上述条件如何进行磁盘块空闲状态的管理。</a:t>
            </a:r>
          </a:p>
          <a:p>
            <a:pPr lvl="1"/>
            <a:r>
              <a:rPr lang="en-US" altLang="zh-CN" dirty="0"/>
              <a:t>(2)</a:t>
            </a:r>
            <a:r>
              <a:rPr lang="zh-CN" altLang="en-US" dirty="0"/>
              <a:t>、设某单面磁盘的旋转速度为每分钟</a:t>
            </a:r>
            <a:r>
              <a:rPr lang="en-US" altLang="zh-CN" dirty="0"/>
              <a:t>6000</a:t>
            </a:r>
            <a:r>
              <a:rPr lang="zh-CN" altLang="en-US" dirty="0"/>
              <a:t>转，每个磁道有</a:t>
            </a:r>
            <a:r>
              <a:rPr lang="en-US" altLang="zh-CN" dirty="0"/>
              <a:t>100</a:t>
            </a:r>
            <a:r>
              <a:rPr lang="zh-CN" altLang="en-US" dirty="0"/>
              <a:t>个扇区，相临磁道间的平均移动的时间为</a:t>
            </a:r>
            <a:r>
              <a:rPr lang="en-US" altLang="zh-CN" dirty="0"/>
              <a:t>1ms.</a:t>
            </a:r>
          </a:p>
          <a:p>
            <a:pPr lvl="1"/>
            <a:r>
              <a:rPr lang="en-US" altLang="zh-CN" dirty="0"/>
              <a:t> (3)</a:t>
            </a:r>
            <a:r>
              <a:rPr lang="zh-CN" altLang="en-US" dirty="0"/>
              <a:t>、</a:t>
            </a:r>
            <a:r>
              <a:rPr lang="en-US" altLang="zh-CN" dirty="0"/>
              <a:t>  </a:t>
            </a:r>
            <a:r>
              <a:rPr lang="zh-CN" altLang="en-US" dirty="0"/>
              <a:t>若在某时刻，磁头位于</a:t>
            </a:r>
            <a:r>
              <a:rPr lang="en-US" altLang="zh-CN" dirty="0"/>
              <a:t>100</a:t>
            </a:r>
            <a:r>
              <a:rPr lang="zh-CN" altLang="en-US" dirty="0"/>
              <a:t>号磁道处，并沿着磁道号增大的方向移动</a:t>
            </a:r>
            <a:r>
              <a:rPr lang="en-US" altLang="zh-CN" dirty="0"/>
              <a:t>(</a:t>
            </a:r>
            <a:r>
              <a:rPr lang="zh-CN" altLang="en-US" dirty="0"/>
              <a:t>如下图所示</a:t>
            </a:r>
            <a:r>
              <a:rPr lang="en-US" altLang="zh-CN" dirty="0"/>
              <a:t>),</a:t>
            </a:r>
            <a:r>
              <a:rPr lang="zh-CN" altLang="en-US" dirty="0"/>
              <a:t>磁道号的请求队列为</a:t>
            </a:r>
            <a:r>
              <a:rPr lang="en-US" altLang="zh-CN" dirty="0"/>
              <a:t>50</a:t>
            </a:r>
            <a:r>
              <a:rPr lang="zh-CN" altLang="en-US" dirty="0"/>
              <a:t>，</a:t>
            </a:r>
            <a:r>
              <a:rPr lang="en-US" altLang="zh-CN" dirty="0"/>
              <a:t>90</a:t>
            </a:r>
            <a:r>
              <a:rPr lang="zh-CN" altLang="en-US" dirty="0"/>
              <a:t>，</a:t>
            </a:r>
            <a:r>
              <a:rPr lang="en-US" altLang="zh-CN" dirty="0"/>
              <a:t>30</a:t>
            </a:r>
            <a:r>
              <a:rPr lang="zh-CN" altLang="en-US" dirty="0"/>
              <a:t>，</a:t>
            </a:r>
            <a:r>
              <a:rPr lang="en-US" altLang="zh-CN" dirty="0"/>
              <a:t>120</a:t>
            </a:r>
            <a:r>
              <a:rPr lang="zh-CN" altLang="en-US" dirty="0"/>
              <a:t>对请求队列中的每个磁道需读取</a:t>
            </a:r>
            <a:r>
              <a:rPr lang="en-US" altLang="zh-CN" dirty="0"/>
              <a:t>1</a:t>
            </a:r>
            <a:r>
              <a:rPr lang="zh-CN" altLang="en-US" dirty="0"/>
              <a:t>个随机分布的扇区，则读完这个扇区点共需要多少时间？需要给出计算过程。</a:t>
            </a:r>
          </a:p>
          <a:p>
            <a:endParaRPr lang="zh-CN" altLang="en-US" dirty="0"/>
          </a:p>
        </p:txBody>
      </p:sp>
    </p:spTree>
    <p:extLst>
      <p:ext uri="{BB962C8B-B14F-4D97-AF65-F5344CB8AC3E}">
        <p14:creationId xmlns:p14="http://schemas.microsoft.com/office/powerpoint/2010/main" val="488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20000"/>
          </a:bodyPr>
          <a:lstStyle/>
          <a:p>
            <a:r>
              <a:rPr lang="zh-CN" altLang="en-US" dirty="0"/>
              <a:t>（</a:t>
            </a:r>
            <a:r>
              <a:rPr lang="en-US" altLang="zh-CN" dirty="0"/>
              <a:t>1</a:t>
            </a:r>
            <a:r>
              <a:rPr lang="zh-CN" altLang="en-US" dirty="0"/>
              <a:t>）</a:t>
            </a:r>
            <a:r>
              <a:rPr lang="en-US" altLang="zh-CN" dirty="0"/>
              <a:t>2KB = 2*1024*8bit = 16384bit</a:t>
            </a:r>
            <a:r>
              <a:rPr lang="zh-CN" altLang="en-US" dirty="0"/>
              <a:t>。因此可以使用位图法进行磁盘块空闲状态管理，每</a:t>
            </a:r>
            <a:r>
              <a:rPr lang="en-US" altLang="zh-CN" dirty="0"/>
              <a:t>1bit</a:t>
            </a:r>
            <a:r>
              <a:rPr lang="zh-CN" altLang="en-US" dirty="0"/>
              <a:t>表示一个磁盘块是否空闲。</a:t>
            </a:r>
          </a:p>
          <a:p>
            <a:r>
              <a:rPr lang="zh-CN" altLang="en-US" dirty="0"/>
              <a:t>（</a:t>
            </a:r>
            <a:r>
              <a:rPr lang="en-US" altLang="zh-CN" dirty="0"/>
              <a:t>2</a:t>
            </a:r>
            <a:r>
              <a:rPr lang="zh-CN" altLang="en-US" dirty="0"/>
              <a:t>）每分钟</a:t>
            </a:r>
            <a:r>
              <a:rPr lang="en-US" altLang="zh-CN" dirty="0"/>
              <a:t>6000</a:t>
            </a:r>
            <a:r>
              <a:rPr lang="zh-CN" altLang="en-US" dirty="0"/>
              <a:t>转，转一圈的时间为</a:t>
            </a:r>
            <a:r>
              <a:rPr lang="en-US" altLang="zh-CN" dirty="0"/>
              <a:t>0.01s</a:t>
            </a:r>
            <a:r>
              <a:rPr lang="zh-CN" altLang="en-US" dirty="0"/>
              <a:t>，通过一个扇区的时间为</a:t>
            </a:r>
            <a:r>
              <a:rPr lang="en-US" altLang="zh-CN" dirty="0"/>
              <a:t>0.0001s</a:t>
            </a:r>
            <a:r>
              <a:rPr lang="zh-CN" altLang="en-US" dirty="0"/>
              <a:t>。</a:t>
            </a:r>
          </a:p>
          <a:p>
            <a:r>
              <a:rPr lang="zh-CN" altLang="en-US" dirty="0"/>
              <a:t>根据</a:t>
            </a:r>
            <a:r>
              <a:rPr lang="en-US" altLang="zh-CN" dirty="0"/>
              <a:t>CSCAN</a:t>
            </a:r>
            <a:r>
              <a:rPr lang="zh-CN" altLang="en-US" dirty="0"/>
              <a:t>算法，被访问的磁道号顺序为</a:t>
            </a:r>
            <a:r>
              <a:rPr lang="en-US" altLang="zh-CN" dirty="0"/>
              <a:t>100</a:t>
            </a:r>
            <a:r>
              <a:rPr lang="zh-CN" altLang="en-US" dirty="0"/>
              <a:t>，</a:t>
            </a:r>
            <a:r>
              <a:rPr lang="en-US" altLang="zh-CN" dirty="0"/>
              <a:t>120</a:t>
            </a:r>
            <a:r>
              <a:rPr lang="zh-CN" altLang="en-US" dirty="0"/>
              <a:t>，</a:t>
            </a:r>
            <a:r>
              <a:rPr lang="en-US" altLang="zh-CN" dirty="0"/>
              <a:t>30</a:t>
            </a:r>
            <a:r>
              <a:rPr lang="zh-CN" altLang="en-US" dirty="0"/>
              <a:t>，</a:t>
            </a:r>
            <a:r>
              <a:rPr lang="en-US" altLang="zh-CN" dirty="0"/>
              <a:t>50</a:t>
            </a:r>
            <a:r>
              <a:rPr lang="zh-CN" altLang="en-US" dirty="0"/>
              <a:t>，</a:t>
            </a:r>
            <a:r>
              <a:rPr lang="en-US" altLang="zh-CN" dirty="0"/>
              <a:t>90,</a:t>
            </a:r>
            <a:r>
              <a:rPr lang="zh-CN" altLang="en-US" dirty="0"/>
              <a:t>因此，寻道用去的总时间为：（</a:t>
            </a:r>
            <a:r>
              <a:rPr lang="en-US" altLang="zh-CN" dirty="0"/>
              <a:t>20 + 90 + 20 + 40</a:t>
            </a:r>
            <a:r>
              <a:rPr lang="zh-CN" altLang="en-US" dirty="0"/>
              <a:t>）* </a:t>
            </a:r>
            <a:r>
              <a:rPr lang="en-US" altLang="zh-CN" dirty="0"/>
              <a:t>1ms = 170ms</a:t>
            </a:r>
          </a:p>
          <a:p>
            <a:r>
              <a:rPr lang="zh-CN" altLang="en-US" dirty="0"/>
              <a:t>总共要随机读取四个扇区，用去的时间为：（</a:t>
            </a:r>
            <a:r>
              <a:rPr lang="en-US" altLang="zh-CN" dirty="0"/>
              <a:t>0.01*0.5 + 0.0001</a:t>
            </a:r>
            <a:r>
              <a:rPr lang="zh-CN" altLang="en-US" dirty="0"/>
              <a:t>）*</a:t>
            </a:r>
            <a:r>
              <a:rPr lang="en-US" altLang="zh-CN" dirty="0"/>
              <a:t>4 = 0.0204s = 20.4ms</a:t>
            </a:r>
          </a:p>
          <a:p>
            <a:r>
              <a:rPr lang="zh-CN" altLang="en-US" dirty="0"/>
              <a:t>所以，读完这个扇区点共需要 </a:t>
            </a:r>
            <a:r>
              <a:rPr lang="en-US" altLang="zh-CN" dirty="0"/>
              <a:t>170ms + 20.4ms = 190.4ms</a:t>
            </a:r>
            <a:r>
              <a:rPr lang="zh-CN" altLang="en-US" dirty="0"/>
              <a:t>。</a:t>
            </a:r>
          </a:p>
          <a:p>
            <a:endParaRPr lang="zh-CN" altLang="en-US" dirty="0"/>
          </a:p>
        </p:txBody>
      </p:sp>
    </p:spTree>
    <p:extLst>
      <p:ext uri="{BB962C8B-B14F-4D97-AF65-F5344CB8AC3E}">
        <p14:creationId xmlns:p14="http://schemas.microsoft.com/office/powerpoint/2010/main" val="218621663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
  <Words>2128</Words>
  <Application>Microsoft Office PowerPoint</Application>
  <PresentationFormat>全屏显示(4:3)</PresentationFormat>
  <Paragraphs>102</Paragraphs>
  <Slides>24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24</vt:i4>
      </vt:variant>
    </vt:vector>
  </HeadingPairs>
  <TitlesOfParts>
    <vt:vector size="28" baseType="lpstr">
      <vt:lpstr>宋体</vt:lpstr>
      <vt:lpstr>Arial</vt:lpstr>
      <vt:lpstr>Calibri</vt:lpstr>
      <vt:lpstr>Office 主题​​</vt:lpstr>
      <vt:lpstr>复习纲要（8-12）</vt:lpstr>
      <vt:lpstr>8. 内存管理</vt:lpstr>
      <vt:lpstr>9. 虚拟内存</vt:lpstr>
      <vt:lpstr>10. 文件系统接口</vt:lpstr>
      <vt:lpstr>11. 文件系统实现</vt:lpstr>
      <vt:lpstr>12. 大容量存储器的结构</vt:lpstr>
      <vt:lpstr>8-12复习习题集</vt:lpstr>
      <vt:lpstr>Page Table</vt:lpstr>
      <vt:lpstr>Page Table</vt:lpstr>
      <vt:lpstr>PowerPoint 演示文稿</vt:lpstr>
      <vt:lpstr>内存管理</vt:lpstr>
      <vt:lpstr>内存管理</vt:lpstr>
      <vt:lpstr>Page Replacement</vt:lpstr>
      <vt:lpstr>Page Replacement</vt:lpstr>
      <vt:lpstr>PowerPoint 演示文稿</vt:lpstr>
      <vt:lpstr>Page Replacement</vt:lpstr>
      <vt:lpstr>PowerPoint 演示文稿</vt:lpstr>
      <vt:lpstr>File System</vt:lpstr>
      <vt:lpstr>File System</vt:lpstr>
      <vt:lpstr>File System</vt:lpstr>
      <vt:lpstr>PowerPoint 演示文稿</vt:lpstr>
      <vt:lpstr>Disk Scheduling</vt:lpstr>
      <vt:lpstr>Disk Scheduling</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PowerPoint 演示文稿</dc:title>
  <cp:revision>63</cp:revision>
</cp:coreProperties>
</file>