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8" r:id="rId3"/>
  </p:sldMasterIdLst>
  <p:notesMasterIdLst>
    <p:notesMasterId r:id="rId5"/>
  </p:notesMasterIdLst>
  <p:handoutMasterIdLst>
    <p:handoutMasterId r:id="rId70"/>
  </p:handoutMasterIdLst>
  <p:sldIdLst>
    <p:sldId id="523" r:id="rId4"/>
    <p:sldId id="495" r:id="rId6"/>
    <p:sldId id="522" r:id="rId7"/>
    <p:sldId id="723" r:id="rId8"/>
    <p:sldId id="542" r:id="rId9"/>
    <p:sldId id="602" r:id="rId10"/>
    <p:sldId id="784" r:id="rId11"/>
    <p:sldId id="785" r:id="rId12"/>
    <p:sldId id="786" r:id="rId13"/>
    <p:sldId id="787" r:id="rId14"/>
    <p:sldId id="788" r:id="rId15"/>
    <p:sldId id="789" r:id="rId16"/>
    <p:sldId id="790" r:id="rId17"/>
    <p:sldId id="791" r:id="rId18"/>
    <p:sldId id="605" r:id="rId19"/>
    <p:sldId id="660" r:id="rId20"/>
    <p:sldId id="792" r:id="rId21"/>
    <p:sldId id="793" r:id="rId22"/>
    <p:sldId id="794" r:id="rId23"/>
    <p:sldId id="795" r:id="rId24"/>
    <p:sldId id="796" r:id="rId25"/>
    <p:sldId id="797" r:id="rId26"/>
    <p:sldId id="798" r:id="rId27"/>
    <p:sldId id="799" r:id="rId28"/>
    <p:sldId id="800" r:id="rId29"/>
    <p:sldId id="801" r:id="rId30"/>
    <p:sldId id="830" r:id="rId31"/>
    <p:sldId id="803" r:id="rId32"/>
    <p:sldId id="804" r:id="rId33"/>
    <p:sldId id="805" r:id="rId34"/>
    <p:sldId id="813" r:id="rId35"/>
    <p:sldId id="814" r:id="rId36"/>
    <p:sldId id="815" r:id="rId37"/>
    <p:sldId id="806" r:id="rId38"/>
    <p:sldId id="807" r:id="rId39"/>
    <p:sldId id="808" r:id="rId40"/>
    <p:sldId id="809" r:id="rId41"/>
    <p:sldId id="810" r:id="rId42"/>
    <p:sldId id="811" r:id="rId43"/>
    <p:sldId id="812" r:id="rId44"/>
    <p:sldId id="816" r:id="rId45"/>
    <p:sldId id="817" r:id="rId46"/>
    <p:sldId id="818" r:id="rId47"/>
    <p:sldId id="819" r:id="rId48"/>
    <p:sldId id="820" r:id="rId49"/>
    <p:sldId id="821" r:id="rId50"/>
    <p:sldId id="831" r:id="rId51"/>
    <p:sldId id="823" r:id="rId52"/>
    <p:sldId id="824" r:id="rId53"/>
    <p:sldId id="825" r:id="rId54"/>
    <p:sldId id="826" r:id="rId55"/>
    <p:sldId id="827" r:id="rId56"/>
    <p:sldId id="828" r:id="rId57"/>
    <p:sldId id="858" r:id="rId58"/>
    <p:sldId id="859" r:id="rId59"/>
    <p:sldId id="863" r:id="rId60"/>
    <p:sldId id="864" r:id="rId61"/>
    <p:sldId id="865" r:id="rId62"/>
    <p:sldId id="866" r:id="rId63"/>
    <p:sldId id="867" r:id="rId64"/>
    <p:sldId id="868" r:id="rId65"/>
    <p:sldId id="869" r:id="rId66"/>
    <p:sldId id="861" r:id="rId67"/>
    <p:sldId id="870" r:id="rId68"/>
    <p:sldId id="829" r:id="rId69"/>
  </p:sldIdLst>
  <p:sldSz cx="12192000" cy="6858000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封面" id="{BD7EDEDA-3131-7949-8239-8CA971DCFB00}">
          <p14:sldIdLst>
            <p14:sldId id="523"/>
          </p14:sldIdLst>
        </p14:section>
        <p14:section name="转场页-长标题" id="{CDDAC440-2B0E-0043-BF5A-D5D146F74E7E}">
          <p14:sldIdLst>
            <p14:sldId id="495"/>
          </p14:sldIdLst>
        </p14:section>
        <p14:section name="学术报告、论文答辩共用部分" id="{226C468B-29B7-0E41-B094-6128C3758932}">
          <p14:sldIdLst>
            <p14:sldId id="522"/>
            <p14:sldId id="723"/>
            <p14:sldId id="542"/>
            <p14:sldId id="602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605"/>
            <p14:sldId id="660"/>
            <p14:sldId id="792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30"/>
            <p14:sldId id="803"/>
            <p14:sldId id="804"/>
            <p14:sldId id="805"/>
            <p14:sldId id="813"/>
            <p14:sldId id="814"/>
            <p14:sldId id="815"/>
            <p14:sldId id="806"/>
            <p14:sldId id="807"/>
            <p14:sldId id="808"/>
            <p14:sldId id="809"/>
            <p14:sldId id="810"/>
            <p14:sldId id="811"/>
            <p14:sldId id="812"/>
            <p14:sldId id="816"/>
            <p14:sldId id="817"/>
            <p14:sldId id="818"/>
            <p14:sldId id="819"/>
            <p14:sldId id="820"/>
            <p14:sldId id="821"/>
            <p14:sldId id="831"/>
            <p14:sldId id="823"/>
            <p14:sldId id="824"/>
            <p14:sldId id="825"/>
            <p14:sldId id="826"/>
            <p14:sldId id="827"/>
            <p14:sldId id="828"/>
            <p14:sldId id="858"/>
            <p14:sldId id="859"/>
            <p14:sldId id="863"/>
            <p14:sldId id="864"/>
            <p14:sldId id="865"/>
            <p14:sldId id="866"/>
            <p14:sldId id="867"/>
            <p14:sldId id="868"/>
            <p14:sldId id="869"/>
            <p14:sldId id="861"/>
            <p14:sldId id="870"/>
            <p14:sldId id="8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43" userDrawn="1">
          <p15:clr>
            <a:srgbClr val="A4A3A4"/>
          </p15:clr>
        </p15:guide>
        <p15:guide id="2" pos="3886" userDrawn="1">
          <p15:clr>
            <a:srgbClr val="A4A3A4"/>
          </p15:clr>
        </p15:guide>
        <p15:guide id="3" pos="1102" userDrawn="1">
          <p15:clr>
            <a:srgbClr val="A4A3A4"/>
          </p15:clr>
        </p15:guide>
        <p15:guide id="4" pos="6578" userDrawn="1">
          <p15:clr>
            <a:srgbClr val="A4A3A4"/>
          </p15:clr>
        </p15:guide>
        <p15:guide id="5" orient="horz" pos="606" userDrawn="1">
          <p15:clr>
            <a:srgbClr val="A4A3A4"/>
          </p15:clr>
        </p15:guide>
        <p15:guide id="6" orient="horz" pos="742" userDrawn="1">
          <p15:clr>
            <a:srgbClr val="A4A3A4"/>
          </p15:clr>
        </p15:guide>
        <p15:guide id="7" orient="horz" pos="3912" userDrawn="1">
          <p15:clr>
            <a:srgbClr val="A4A3A4"/>
          </p15:clr>
        </p15:guide>
        <p15:guide id="8" orient="horz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p="http://schemas.openxmlformats.org/presentationml/2006/main">
  <p:cmAuthor id="1" name="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B908"/>
    <a:srgbClr val="817222"/>
    <a:srgbClr val="515223"/>
    <a:srgbClr val="4B7D2B"/>
    <a:srgbClr val="FECD54"/>
    <a:srgbClr val="9A8B3D"/>
    <a:srgbClr val="141213"/>
    <a:srgbClr val="D3D1D2"/>
    <a:srgbClr val="565656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59" autoAdjust="0"/>
    <p:restoredTop sz="85165" autoAdjust="0"/>
  </p:normalViewPr>
  <p:slideViewPr>
    <p:cSldViewPr snapToGrid="0" showGuides="1">
      <p:cViewPr varScale="1">
        <p:scale>
          <a:sx n="54" d="100"/>
          <a:sy n="54" d="100"/>
        </p:scale>
        <p:origin x="816" y="40"/>
      </p:cViewPr>
      <p:guideLst>
        <p:guide orient="horz" pos="2343"/>
        <p:guide pos="3886"/>
        <p:guide pos="1102"/>
        <p:guide pos="6578"/>
        <p:guide orient="horz" pos="606"/>
        <p:guide orient="horz" pos="742"/>
        <p:guide orient="horz" pos="3912"/>
        <p:guide orient="horz"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-1392"/>
    </p:cViewPr>
  </p:sorterViewPr>
  <p:notesViewPr>
    <p:cSldViewPr snapToGrid="0">
      <p:cViewPr varScale="1">
        <p:scale>
          <a:sx n="84" d="100"/>
          <a:sy n="84" d="100"/>
        </p:scale>
        <p:origin x="3960" y="192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5" Type="http://schemas.openxmlformats.org/officeDocument/2006/relationships/tags" Target="tags/tag5.xml"/><Relationship Id="rId74" Type="http://schemas.openxmlformats.org/officeDocument/2006/relationships/commentAuthors" Target="commentAuthors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(2021) v1.5-cn.</a:t>
            </a:r>
            <a:endParaRPr kumimoji="1" lang="zh-CN" altLang="en-US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5127626" y="543216"/>
            <a:ext cx="1936749" cy="11741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6000" dirty="0">
                <a:solidFill>
                  <a:schemeClr val="bg1"/>
                </a:solidFill>
                <a:cs typeface="+mn-ea"/>
                <a:sym typeface="+mn-lt"/>
              </a:rPr>
              <a:t>目 录</a:t>
            </a:r>
            <a:endParaRPr lang="zh-CN" altLang="en-US" sz="6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9000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01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02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03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04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05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06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09314" y="1962606"/>
            <a:ext cx="1617246" cy="2932788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30724" y="2258512"/>
            <a:ext cx="1374427" cy="234097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目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录</a:t>
            </a:r>
            <a:endParaRPr lang="zh-CN" altLang="en-US" sz="4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0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1" Type="http://schemas.openxmlformats.org/officeDocument/2006/relationships/tags" Target="../tags/tag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50945" y="184785"/>
            <a:ext cx="7475855" cy="2570480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chemeClr val="accent1"/>
                </a:solidFill>
                <a:cs typeface="+mn-ea"/>
                <a:sym typeface="+mn-lt"/>
              </a:rPr>
              <a:t>二手商品交易平</a:t>
            </a:r>
            <a:r>
              <a:rPr lang="zh-CN" altLang="en-US" sz="4800" b="1" dirty="0">
                <a:solidFill>
                  <a:schemeClr val="accent1"/>
                </a:solidFill>
                <a:cs typeface="+mn-ea"/>
                <a:sym typeface="+mn-lt"/>
              </a:rPr>
              <a:t>台</a:t>
            </a:r>
            <a:endParaRPr lang="zh-CN" altLang="en-US" sz="4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043723" y="4972130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cs typeface="+mn-ea"/>
                <a:sym typeface="+mn-lt"/>
              </a:rPr>
              <a:t>2024/6/5</a:t>
            </a:r>
            <a:endParaRPr lang="zh-CN" altLang="en-US" sz="2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226555" y="4069080"/>
            <a:ext cx="0" cy="1404000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 txBox="1"/>
          <p:nvPr/>
        </p:nvSpPr>
        <p:spPr>
          <a:xfrm>
            <a:off x="4027805" y="3252470"/>
            <a:ext cx="7374890" cy="2061210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组员：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71122134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71122134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       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71122138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7112213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8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    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  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71122145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711221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45</a:t>
            </a:r>
            <a:endParaRPr lang="en-US" altLang="zh-CN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" name="文本占位符 1"/>
          <p:cNvSpPr txBox="1"/>
          <p:nvPr/>
        </p:nvSpPr>
        <p:spPr>
          <a:xfrm>
            <a:off x="5441950" y="2755265"/>
            <a:ext cx="5280025" cy="844550"/>
          </a:xfrm>
          <a:prstGeom prst="rect">
            <a:avLst/>
          </a:prstGeom>
        </p:spPr>
        <p:txBody>
          <a:bodyPr lIns="0" rIns="0" anchor="ctr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lt"/>
              </a:rPr>
              <a:t>组长：</a:t>
            </a:r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lt"/>
              </a:rPr>
              <a:t>71122135 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lt"/>
              </a:rPr>
              <a:t>71122135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  <a:cs typeface="+mj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0000"/>
          </a:bodyPr>
          <a:lstStyle/>
          <a:p>
            <a:pPr algn="ctr"/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项目</a:t>
            </a:r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意义</a:t>
            </a:r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682145" cy="2646878"/>
            <a:chOff x="5865211" y="1319889"/>
            <a:chExt cx="2682145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682145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ONE 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二手商品交易平台选题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5870" y="1732280"/>
            <a:ext cx="9584055" cy="3902075"/>
          </a:xfrm>
          <a:prstGeom prst="rect">
            <a:avLst/>
          </a:prstGeom>
          <a:noFill/>
        </p:spPr>
        <p:txBody>
          <a:bodyPr wrap="square" rtlCol="0">
            <a:normAutofit fontScale="90000" lnSpcReduction="20000"/>
          </a:bodyPr>
          <a:lstStyle/>
          <a:p>
            <a:pPr indent="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500" b="1" dirty="0">
                <a:cs typeface="+mn-ea"/>
                <a:sym typeface="+mn-lt"/>
              </a:rPr>
              <a:t>    </a:t>
            </a:r>
            <a:r>
              <a:rPr lang="en-US" altLang="zh-CN" sz="2500" dirty="0">
                <a:latin typeface="+mn-ea"/>
                <a:cs typeface="+mn-ea"/>
                <a:sym typeface="+mn-lt"/>
              </a:rPr>
              <a:t>二手交易平台的发展背景可以追溯到几十年前，当时人们通过各种渠道进行二手交易。随着时间的推移，互联网的普及和电子商务的兴起，二手交易市场迎来了新的发展机遇。互联网为二手交易带来了更广泛的市场和更便捷的交易方式，使得买卖双方可以通过网络平台进行交易，从而更加方便快捷地购买或出售二手物品</a:t>
            </a:r>
            <a:r>
              <a:rPr lang="zh-CN" altLang="en-US" sz="2500" dirty="0">
                <a:latin typeface="+mn-ea"/>
                <a:cs typeface="+mn-ea"/>
                <a:sym typeface="+mn-lt"/>
              </a:rPr>
              <a:t>。</a:t>
            </a:r>
            <a:endParaRPr lang="en-US" altLang="zh-CN" sz="2500" dirty="0">
              <a:latin typeface="+mn-ea"/>
              <a:cs typeface="+mn-ea"/>
              <a:sym typeface="+mn-lt"/>
            </a:endParaRPr>
          </a:p>
          <a:p>
            <a: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500" dirty="0">
              <a:latin typeface="+mn-ea"/>
              <a:cs typeface="+mn-ea"/>
              <a:sym typeface="+mn-lt"/>
            </a:endParaRPr>
          </a:p>
          <a:p>
            <a:pPr indent="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500" dirty="0">
                <a:latin typeface="+mn-ea"/>
                <a:cs typeface="+mn-ea"/>
                <a:sym typeface="+mn-lt"/>
              </a:rPr>
              <a:t>    通过这一二手交易平台的设计，旨在为用户提供一个安全、便捷和高效的二手交易环境，解决目前二手交易市场存在的问题，促进二手物品的循环利用和资源节约。</a:t>
            </a:r>
            <a:endParaRPr lang="en-US" altLang="zh-CN" sz="2500" dirty="0">
              <a:latin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0000"/>
          </a:bodyPr>
          <a:lstStyle/>
          <a:p>
            <a:pPr algn="ctr"/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需求分析</a:t>
            </a:r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655570" cy="2646045"/>
            <a:chOff x="5865211" y="1319889"/>
            <a:chExt cx="2655570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65557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TWO 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cs typeface="+mn-ea"/>
                <a:sym typeface="+mn-lt"/>
              </a:rPr>
              <a:t>2.1 </a:t>
            </a:r>
            <a:r>
              <a:rPr lang="zh-CN" altLang="en-US">
                <a:cs typeface="+mn-ea"/>
                <a:sym typeface="+mn-lt"/>
              </a:rPr>
              <a:t>系统总体</a:t>
            </a:r>
            <a:r>
              <a:rPr lang="zh-CN" altLang="en-US">
                <a:cs typeface="+mn-ea"/>
                <a:sym typeface="+mn-lt"/>
              </a:rPr>
              <a:t>需求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553720" y="1117600"/>
            <a:ext cx="6065520" cy="2167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Font typeface="Arial" panose="020B0604020202020204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二手平台整个系统分为两个大模块，分别是后台管理模块，前台二手商城模块。主要用户分为三大类，一个是管理员角色，通过登陆系统进行用户、商品以及订单管理；一个是用户角色，可以作为买家，登陆系统后可以浏览、搜索商品并实现购买功能，同时也可以进行评论、举报和发布求购等功能；同时用户也可以作为卖家，登陆系统后一样可以浏览、搜索商品，同时发布要卖出的商品，实现交易，同时生成订单；还有一个游客角色，只允许浏览、搜索商品，无法进行其他功能操作。两个大模块和三类角色共同组成了二手交易平台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34" name="图片 6"/>
          <p:cNvPicPr>
            <a:picLocks noChangeAspect="1"/>
          </p:cNvPicPr>
          <p:nvPr/>
        </p:nvPicPr>
        <p:blipFill>
          <a:blip r:embed="rId1"/>
          <a:srcRect l="6573" t="2113" r="3003"/>
          <a:stretch>
            <a:fillRect/>
          </a:stretch>
        </p:blipFill>
        <p:spPr>
          <a:xfrm>
            <a:off x="6619240" y="1028700"/>
            <a:ext cx="5581015" cy="50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cs typeface="+mn-ea"/>
                <a:sym typeface="+mn-lt"/>
              </a:rPr>
              <a:t>2.1.1 二手商城模块需求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091565" y="1028700"/>
            <a:ext cx="7019290" cy="625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b="1" dirty="0">
                <a:latin typeface="+mn-ea"/>
                <a:cs typeface="Montserrat"/>
                <a:sym typeface="Montserrat"/>
              </a:rPr>
              <a:t>在该模块，涉及的主要角色是用户（买家、卖家）角色。</a:t>
            </a:r>
            <a:endParaRPr lang="zh-CN" altLang="en-US" sz="2200" b="1" dirty="0">
              <a:latin typeface="+mn-ea"/>
              <a:cs typeface="Montserrat"/>
              <a:sym typeface="Montserrat"/>
            </a:endParaRPr>
          </a:p>
        </p:txBody>
      </p:sp>
      <p:pic>
        <p:nvPicPr>
          <p:cNvPr id="35" name="图片 35" descr="买家5.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1654175"/>
            <a:ext cx="3046730" cy="4309110"/>
          </a:xfrm>
          <a:prstGeom prst="rect">
            <a:avLst/>
          </a:prstGeom>
        </p:spPr>
      </p:pic>
      <p:pic>
        <p:nvPicPr>
          <p:cNvPr id="36" name="图片 36" descr="卖家5.14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205" y="1652270"/>
            <a:ext cx="3832860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cs typeface="+mn-ea"/>
                <a:sym typeface="+mn-lt"/>
              </a:rPr>
              <a:t>2.1.1 二手商城模块需求</a:t>
            </a:r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646170" y="962660"/>
          <a:ext cx="8203565" cy="5248910"/>
        </p:xfrm>
        <a:graphic>
          <a:graphicData uri="http://schemas.openxmlformats.org/drawingml/2006/table">
            <a:tbl>
              <a:tblPr/>
              <a:tblGrid>
                <a:gridCol w="1477645"/>
                <a:gridCol w="2050415"/>
                <a:gridCol w="4675505"/>
              </a:tblGrid>
              <a:tr h="309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角色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220">
                <a:tc rowSpan="10"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用户   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登录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通过注册的账号密码登录系统。个人注册页面作为单独入口，不作为应用平台一部分。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个人信息管理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可以进入个人信息管理界面查看并更新个人信息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849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发布求购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发布求购信息，填写所求购商品信息并发布到求购专区。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搜索商品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根据商品信息在搜索引擎部分搜索特定商品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85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查看订单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完成交易后系统自动生成订单，用户可以查看订单及订单信息。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24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举报商品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对于不合格或违反规定的商品进行举报，提交申请。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22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管理评论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用户可以在商品详细信息界面发布评论，并实现评论管理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22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购买商品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点击商品详情，进入商品页面后，点击购买，完成支付。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861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浏览最新商品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用户进入平台首页后可以看到最新发布的二手商品。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85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上架商品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用户可以上架自己想要售出的商品，填写商品信息并经过审核后即可展示在商品页面。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3075" y="1028700"/>
            <a:ext cx="3173095" cy="43529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0">
                <a:latin typeface="+mn-ea"/>
                <a:cs typeface="+mn-ea"/>
              </a:rPr>
              <a:t>右表详细说明了在二手商城模块中，用户的需求，并正对用例图，详细说明了每个用例的功能。接下来，将从中挑选比较重要的用例来进行需求分析，在这里选择“上架商品”和“购买商品”两个功能进行分析。</a:t>
            </a:r>
            <a:endParaRPr lang="zh-CN" altLang="en-US" sz="200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p>
            <a:r>
              <a:rPr lang="zh-CN" altLang="en-US">
                <a:cs typeface="+mn-ea"/>
                <a:sym typeface="+mn-lt"/>
              </a:rPr>
              <a:t>2.1.</a:t>
            </a:r>
            <a:r>
              <a:rPr lang="en-US" altLang="zh-CN">
                <a:cs typeface="+mn-ea"/>
                <a:sym typeface="+mn-lt"/>
              </a:rPr>
              <a:t>2</a:t>
            </a:r>
            <a:r>
              <a:rPr lang="zh-CN" altLang="en-US">
                <a:cs typeface="+mn-ea"/>
                <a:sym typeface="+mn-lt"/>
              </a:rPr>
              <a:t> 上架商品需求</a:t>
            </a:r>
            <a:r>
              <a:rPr lang="zh-CN" altLang="en-US">
                <a:cs typeface="+mn-ea"/>
                <a:sym typeface="+mn-lt"/>
              </a:rPr>
              <a:t>分析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749425" y="1464310"/>
          <a:ext cx="8692515" cy="4753610"/>
        </p:xfrm>
        <a:graphic>
          <a:graphicData uri="http://schemas.openxmlformats.org/drawingml/2006/table">
            <a:tbl>
              <a:tblPr/>
              <a:tblGrid>
                <a:gridCol w="1844675"/>
                <a:gridCol w="6847840"/>
              </a:tblGrid>
              <a:tr h="4254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用例名</a:t>
                      </a:r>
                      <a:endParaRPr lang="en-US" altLang="en-US" sz="2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上架商品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4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主参与者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用户（卖家）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场景目标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用户想要售出某件商品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前提条件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用户输入账号密码正确登陆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38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何时触发此场景</a:t>
                      </a:r>
                      <a:endParaRPr lang="en-US" altLang="en-US" sz="2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用户进入发布商品页面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750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主场景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1.输入账号密码进行登陆操作2.用户进入平台首页3.点击发布商品，进入发布商品页面4.填写索要发布商品信息5.点击提交申请6.审核通过后，商品发布成功。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异常处理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游客身份无法上架商品。商品违规或商品与填写信息不符。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80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开放问题</a:t>
                      </a:r>
                      <a:endParaRPr lang="en-US" altLang="en-US" sz="2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如何确保审核符合要求？如何确保上架商品者一定是已登录的用户？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91565" y="957580"/>
            <a:ext cx="368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（1）用况的文字说明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p>
            <a:r>
              <a:rPr lang="zh-CN" altLang="en-US">
                <a:cs typeface="+mn-ea"/>
                <a:sym typeface="+mn-lt"/>
              </a:rPr>
              <a:t>2.1.</a:t>
            </a:r>
            <a:r>
              <a:rPr lang="en-US" altLang="zh-CN">
                <a:cs typeface="+mn-ea"/>
                <a:sym typeface="+mn-lt"/>
              </a:rPr>
              <a:t>2 </a:t>
            </a:r>
            <a:r>
              <a:rPr lang="zh-CN" altLang="en-US">
                <a:cs typeface="+mn-ea"/>
                <a:sym typeface="+mn-lt"/>
              </a:rPr>
              <a:t>上架商品需求</a:t>
            </a:r>
            <a:r>
              <a:rPr lang="zh-CN" altLang="en-US">
                <a:cs typeface="+mn-ea"/>
                <a:sym typeface="+mn-lt"/>
              </a:rPr>
              <a:t>分析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91565" y="957580"/>
            <a:ext cx="368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（2）活动图：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020" y="922020"/>
            <a:ext cx="4594225" cy="5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233170" y="1480820"/>
            <a:ext cx="4281805" cy="4535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在用户上架商品功能中，用户进入平台后输入账号密码，验证成功后即可进行“添加要收购商品信息”和“添加售出商品并填写商品信息”操作，要售出商品信息填写完成后管理员审核商品信息，通过后即可上架商品，之后买家可以进行就交易操作，最后平台实时更新商品数量及交易信息。如</a:t>
            </a:r>
            <a:r>
              <a:rPr lang="zh-CN" altLang="en-US" sz="2000"/>
              <a:t>右图所示。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p>
            <a:r>
              <a:rPr lang="zh-CN" altLang="en-US">
                <a:cs typeface="+mn-ea"/>
                <a:sym typeface="+mn-lt"/>
              </a:rPr>
              <a:t>2.1.</a:t>
            </a:r>
            <a:r>
              <a:rPr lang="en-US" altLang="zh-CN">
                <a:cs typeface="+mn-ea"/>
                <a:sym typeface="+mn-lt"/>
              </a:rPr>
              <a:t>2</a:t>
            </a:r>
            <a:r>
              <a:rPr lang="zh-CN" altLang="en-US">
                <a:cs typeface="+mn-ea"/>
                <a:sym typeface="+mn-lt"/>
              </a:rPr>
              <a:t> 上架商品需求</a:t>
            </a:r>
            <a:r>
              <a:rPr lang="zh-CN" altLang="en-US">
                <a:cs typeface="+mn-ea"/>
                <a:sym typeface="+mn-lt"/>
              </a:rPr>
              <a:t>分析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09955" y="957580"/>
            <a:ext cx="5240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（</a:t>
            </a:r>
            <a:r>
              <a:rPr lang="en-US"/>
              <a:t>3</a:t>
            </a:r>
            <a:r>
              <a:t>）该use case相关类的交互，用顺序图来表示。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33170" y="1429385"/>
            <a:ext cx="4281805" cy="4535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在用户上架商品功能中，用户进入平台后输入账号密码，验证成功后即可进行“添加要收购商品信息”和“添加售出商品并填写商品信息”操作，系统控制器会将商品信息发送给管理员审核，通过后即可上架商品，要出售的商品类进行编辑/添加商品，之后买家可以进行就交易操作，最后平台试试更新商品数量及交易信息。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3790" y="957580"/>
            <a:ext cx="5941695" cy="4935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p>
            <a:r>
              <a:rPr lang="zh-CN" altLang="en-US">
                <a:cs typeface="+mn-ea"/>
                <a:sym typeface="+mn-lt"/>
              </a:rPr>
              <a:t>2.1.</a:t>
            </a:r>
            <a:r>
              <a:rPr lang="en-US" altLang="zh-CN">
                <a:cs typeface="+mn-ea"/>
                <a:sym typeface="+mn-lt"/>
              </a:rPr>
              <a:t>3</a:t>
            </a:r>
            <a:r>
              <a:rPr lang="zh-CN" altLang="en-US">
                <a:cs typeface="+mn-ea"/>
                <a:sym typeface="+mn-lt"/>
              </a:rPr>
              <a:t> </a:t>
            </a:r>
            <a:r>
              <a:rPr lang="zh-CN" altLang="en-US">
                <a:cs typeface="+mn-ea"/>
                <a:sym typeface="+mn-lt"/>
              </a:rPr>
              <a:t>购买商品需求</a:t>
            </a:r>
            <a:r>
              <a:rPr lang="zh-CN" altLang="en-US">
                <a:cs typeface="+mn-ea"/>
                <a:sym typeface="+mn-lt"/>
              </a:rPr>
              <a:t>分析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91565" y="957580"/>
            <a:ext cx="368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（1）用况的文字说明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612900" y="1518285"/>
          <a:ext cx="9237345" cy="4645660"/>
        </p:xfrm>
        <a:graphic>
          <a:graphicData uri="http://schemas.openxmlformats.org/drawingml/2006/table">
            <a:tbl>
              <a:tblPr/>
              <a:tblGrid>
                <a:gridCol w="1960245"/>
                <a:gridCol w="7277100"/>
              </a:tblGrid>
              <a:tr h="5492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Times New Roman" panose="02020603050405020304" charset="0"/>
                        </a:rPr>
                        <a:t>用例名</a:t>
                      </a:r>
                      <a:endParaRPr lang="en-US" altLang="en-US" sz="2000" b="0">
                        <a:latin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购买商品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8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主参与者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用户（买家）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4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场景目标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用户想要购买某件商品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4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前提条件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用户输入账号密码登陆后找到对应商品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8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Times New Roman" panose="02020603050405020304" charset="0"/>
                        </a:rPr>
                        <a:t>何时触发此场景</a:t>
                      </a:r>
                      <a:endParaRPr lang="en-US" altLang="en-US" sz="2000" b="0">
                        <a:latin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+mn-ea"/>
                        </a:rPr>
                        <a:t>用户在商品详情页面点击“购买”</a:t>
                      </a:r>
                      <a:endParaRPr lang="en-US" altLang="en-US" sz="2000" b="0">
                        <a:latin typeface="+mn-ea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703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主场景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+mn-ea"/>
                        </a:rPr>
                        <a:t>1.输入账号密码进行登陆操作2.用户浏览平台首页，找到所需商品3.点击商品进入商品详情页面4.点击“购买”5.完成支付</a:t>
                      </a:r>
                      <a:endParaRPr lang="en-US" altLang="en-US" sz="2000" b="0">
                        <a:latin typeface="+mn-ea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4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异常处理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+mn-ea"/>
                          <a:cs typeface="宋体" panose="02010600030101010101" pitchFamily="2" charset="-122"/>
                        </a:rPr>
                        <a:t>游客身份无法购买商品所购买商品已没货</a:t>
                      </a:r>
                      <a:endParaRPr lang="en-US" altLang="en-US" sz="20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p>
            <a:r>
              <a:rPr lang="zh-CN" altLang="en-US">
                <a:cs typeface="+mn-ea"/>
                <a:sym typeface="+mn-lt"/>
              </a:rPr>
              <a:t>2.1.</a:t>
            </a:r>
            <a:r>
              <a:rPr lang="en-US" altLang="zh-CN">
                <a:cs typeface="+mn-ea"/>
                <a:sym typeface="+mn-lt"/>
              </a:rPr>
              <a:t>4 </a:t>
            </a:r>
            <a:r>
              <a:rPr lang="zh-CN" altLang="en-US">
                <a:cs typeface="+mn-ea"/>
                <a:sym typeface="+mn-lt"/>
              </a:rPr>
              <a:t>购买商品需求</a:t>
            </a:r>
            <a:r>
              <a:rPr lang="zh-CN" altLang="en-US">
                <a:cs typeface="+mn-ea"/>
                <a:sym typeface="+mn-lt"/>
              </a:rPr>
              <a:t>分析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91565" y="957580"/>
            <a:ext cx="368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（2）活动图：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13510" y="1177290"/>
            <a:ext cx="4408805" cy="5386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用户进入平台输入账号密码验证，如果验证成功，用户继续下一步操作。用户可以选择想要购买的商品，也可以用搜索操作搜索商品，点击商品进入商品详情界面，浏览过后点击“购买”按钮，进入支付页面，完成支付后平台生成订单，并更新操作日志及商品数据，完成购买商品操作。整个流程结束后，用户成功购买商品，平台也更新了相关数据和记录。</a:t>
            </a:r>
            <a:endParaRPr lang="zh-CN" altLang="en-US" sz="2000"/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905" y="810260"/>
            <a:ext cx="4022725" cy="538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p>
            <a:r>
              <a:rPr lang="zh-CN" altLang="en-US">
                <a:cs typeface="+mn-ea"/>
                <a:sym typeface="+mn-lt"/>
              </a:rPr>
              <a:t>2.1.</a:t>
            </a:r>
            <a:r>
              <a:rPr lang="en-US" altLang="zh-CN">
                <a:cs typeface="+mn-ea"/>
                <a:sym typeface="+mn-lt"/>
              </a:rPr>
              <a:t>4</a:t>
            </a:r>
            <a:r>
              <a:rPr lang="zh-CN" altLang="en-US">
                <a:cs typeface="+mn-ea"/>
                <a:sym typeface="+mn-lt"/>
              </a:rPr>
              <a:t> </a:t>
            </a:r>
            <a:r>
              <a:rPr lang="zh-CN" altLang="en-US">
                <a:cs typeface="+mn-ea"/>
                <a:sym typeface="+mn-lt"/>
              </a:rPr>
              <a:t>购买商品需求</a:t>
            </a:r>
            <a:r>
              <a:rPr lang="zh-CN" altLang="en-US">
                <a:cs typeface="+mn-ea"/>
                <a:sym typeface="+mn-lt"/>
              </a:rPr>
              <a:t>分析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09955" y="957580"/>
            <a:ext cx="5240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（</a:t>
            </a:r>
            <a:r>
              <a:rPr lang="en-US"/>
              <a:t>3</a:t>
            </a:r>
            <a:r>
              <a:t>）该use case相关类的交互，用顺序图来表示。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41780" y="1325880"/>
            <a:ext cx="4281805" cy="4535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用户在界面上输入账号和密码。验证用户输入的账号和密码，若验证成功，返回登录成功的响应给用户。用户浏览平台上的商品。该请求发送给系统控制器。在商品详情页面，用户决定购买商品。支付完成后，系统控制器生成订单并返回订单生成的确认信息给用户。添加或编辑商品的信息发送给要出售的物品模块。系统控制器更新操作日志，并调整商品的库存数量。</a:t>
            </a:r>
            <a:endParaRPr lang="zh-CN" altLang="en-US" sz="2000"/>
          </a:p>
        </p:txBody>
      </p:sp>
      <p:pic>
        <p:nvPicPr>
          <p:cNvPr id="21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9975" y="1137285"/>
            <a:ext cx="5920740" cy="5152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0000"/>
          </a:bodyPr>
          <a:lstStyle/>
          <a:p>
            <a:pPr algn="ctr"/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二手物品交易平台设计</a:t>
            </a:r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655570" cy="2646045"/>
            <a:chOff x="5865211" y="1319889"/>
            <a:chExt cx="2655570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65557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cs typeface="+mn-ea"/>
                  <a:sym typeface="+mn-lt"/>
                </a:rPr>
                <a:t>03</a:t>
              </a:r>
              <a:endParaRPr lang="zh-CN" altLang="en-US" sz="166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THREE 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3.1 总体系统功能设计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910" y="1028700"/>
            <a:ext cx="11515090" cy="413702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200" b="1" dirty="0">
              <a:cs typeface="+mn-ea"/>
              <a:sym typeface="+mn-lt"/>
            </a:endParaRPr>
          </a:p>
        </p:txBody>
      </p:sp>
      <p:pic>
        <p:nvPicPr>
          <p:cNvPr id="15" name="图片 8"/>
          <p:cNvPicPr>
            <a:picLocks noChangeAspect="1"/>
          </p:cNvPicPr>
          <p:nvPr/>
        </p:nvPicPr>
        <p:blipFill>
          <a:blip r:embed="rId1"/>
          <a:srcRect t="7169" b="21997"/>
          <a:stretch>
            <a:fillRect/>
          </a:stretch>
        </p:blipFill>
        <p:spPr>
          <a:xfrm>
            <a:off x="1091565" y="1104265"/>
            <a:ext cx="10163175" cy="4958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3.2体系结构设计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3.2.1 B/S模式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309370" y="1460500"/>
            <a:ext cx="10181590" cy="142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b="1" dirty="0">
                <a:ea typeface="Montserrat"/>
                <a:cs typeface="Montserrat"/>
                <a:sym typeface="Montserrat"/>
              </a:rPr>
              <a:t>B/S就是“Browser/Server”的缩写，即“浏览器/服务器”模式。基于浏览器的应用，把业务层交给服务器完成，客户端仅仅完成界面的渲染和数据的交换。它具有只开发服务器端，可以跨平台，移植性较强的优点。具体关系如图所示。</a:t>
            </a:r>
            <a:endParaRPr lang="zh-CN" altLang="en-US" sz="2200" b="1" dirty="0"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9053" y="2886075"/>
            <a:ext cx="4444365" cy="33248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3.2体系结构设计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3.2.1 B/S模式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091565" y="1686560"/>
            <a:ext cx="5610225" cy="4091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二手交易平台总体设计采用B/S架构，主要分为三层：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第一层表现层：主要完成用户和后台的交互及最终查询结果的输出功能。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第二层逻辑层：主要是利用服务器完成客户端的应用逻辑功能。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第三层数据层：主要是接受客户端请求后独立进行各种运算。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如图所示：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26" name="图片 3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415" y="1744980"/>
            <a:ext cx="4974590" cy="3895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3.2体系结构设计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3.2.2 MVC 设计模式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091565" y="1664970"/>
            <a:ext cx="4787265" cy="4691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 MVC模式是一种很基础的、成熟的网站设计模式，它的设计理念是把应用程序的输入、输出和处理全部分开，将其分为三个核心部分。View层：视图层是将信息反馈给用户并且实现信息交互的界面；Model层：模型层主要实现业务逻辑,数据库的连接与控制等；Controller层：控制层主要是接受用户的请求并调用模型和视图去为用户完成响应。具体关系如图所示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16" name="图片 16" descr="1-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78830" y="2154555"/>
            <a:ext cx="6257925" cy="3316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3.2体系结构设计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3.2.3 Springboot设计框架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091565" y="1505585"/>
            <a:ext cx="10398760" cy="4091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Spring Boot是一个基于Java的开源框架，用于构建独立的、生产级的Spring应用程序。它旨在简化Spring应用程序的创建和部署，使开发人员能够更快速地构建应用程序。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Spring Boot的主要特点包括：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（1）自动配置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（2）简化Maven配置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（3）控制台应用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（4）嵌入式Tomcat/Jetty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（5）日志管理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（6）快速应用部署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（7）响应式编程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3.2体系结构设计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+mn-ea"/>
                <a:cs typeface="Montserrat"/>
                <a:sym typeface="Montserrat"/>
              </a:rPr>
              <a:t>3.2.4</a:t>
            </a:r>
            <a:r>
              <a:rPr lang="en-US" sz="2800" dirty="0">
                <a:latin typeface="+mn-ea"/>
                <a:cs typeface="Montserrat"/>
                <a:sym typeface="Montserrat"/>
              </a:rPr>
              <a:t> </a:t>
            </a:r>
            <a:r>
              <a:rPr sz="2800" dirty="0">
                <a:latin typeface="+mn-ea"/>
                <a:cs typeface="Montserrat"/>
                <a:sym typeface="Montserrat"/>
              </a:rPr>
              <a:t>平台设计概述</a:t>
            </a:r>
            <a:endParaRPr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091565" y="1664970"/>
            <a:ext cx="4787265" cy="4691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 </a:t>
            </a:r>
            <a:r>
              <a:rPr lang="en-US" altLang="zh-CN" sz="2200" dirty="0">
                <a:latin typeface="+mn-ea"/>
                <a:cs typeface="+mn-ea"/>
                <a:sym typeface="Montserrat"/>
              </a:rPr>
              <a:t>  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通过对该平台的分析之后，该系统的整体架构可以分为如下五层：Pojo层、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Dao层、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Service层、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Controller层、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View层。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14" name="图片 14" descr="C:\Users\25681\Desktop\Abc.pngAb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1"/>
          <a:stretch>
            <a:fillRect/>
          </a:stretch>
        </p:blipFill>
        <p:spPr>
          <a:xfrm>
            <a:off x="6738620" y="1072515"/>
            <a:ext cx="3806825" cy="5052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3.3接口设计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3.3.1 用户接口设计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309370" y="1460500"/>
            <a:ext cx="3812540" cy="3874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(1)二手商品交易平台主界面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通过二手平台主界面，用户可以方便地进行商品搜索、分类浏览以及商品发布和求购。通过顶部的搜索框、左侧的分类列表和右侧的操作按钮，用户可以快速找到自己需要的信息并进行相关操作。如下图所示。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3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8080" y="1686560"/>
            <a:ext cx="7049135" cy="32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3.3接口设计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3.3.1 用户接口设计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309370" y="1460500"/>
            <a:ext cx="9472295" cy="23323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（2）登录注册界面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顶部有两个选项卡，分别是“快速登录”和“快速注册”，如果选择“快速注册”选项，在注册表单中，用户需要填写以下信息：账号、密码、确认密码和QQ号。填好所有信息后，用户可以点击绿色的“注册成为会员”按钮，提交注册申请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3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" y="3577590"/>
            <a:ext cx="5706110" cy="258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055" y="3577590"/>
            <a:ext cx="5728970" cy="26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3.3接口设计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3.3.1 用户接口设计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309370" y="1460500"/>
            <a:ext cx="3812540" cy="3874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（3）管理员后台管理登录界面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后台管理系统的登录界面，主要内容是一个白色的登录框。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后台管理系统图片如下图所示。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1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1910" y="1278890"/>
            <a:ext cx="6847205" cy="3875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3.3接口设计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3.3.1 用户接口设计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309370" y="1460500"/>
            <a:ext cx="3812540" cy="3874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zh-CN" altLang="en-US" sz="2200" dirty="0">
                <a:latin typeface="+mn-ea"/>
                <a:cs typeface="+mn-ea"/>
                <a:sym typeface="Montserrat"/>
              </a:rPr>
              <a:t>（4）管理员后台管理界面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管理系统主页面通过左侧的导航菜单、中央的信息概览和底部的操作日志，管理员可以方便地访问系统的各项功能，查看和管理系统中的关键数据和操作记录。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  <p:pic>
        <p:nvPicPr>
          <p:cNvPr id="20" name="图片 4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8875" y="1686560"/>
            <a:ext cx="7110730" cy="3649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3.3接口设计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3.3.2 编程接口设计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091565" y="1460500"/>
            <a:ext cx="10652125" cy="4895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从上文平台设计概述中可以将系统整体架构可以分为如下五层：Pojo层、Dao层、Service层、Controller层、View层。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Pojo层其实就是对应着数据库中的实体类，并且实体类中的属性名与数据库属性名一样，在数据库没有访问的时候，Pojo层中的实体类有Spring提供的容器进行管理。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Dao层是数据访问层，和数据库联系比较密切。MyBaits提供了接口式编程方式，只需创建接口和在对应的配置文件中编写SQL语句，即可实现对数据库的增删改查。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Service层是业务层，用来处理具体的业务逻辑，并且不需要考虑其具体实现，通过调用Dao层对象实现业务逻辑的编写。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Controller层是控制层，该层和View层联系特别紧密，需要对前台用户发送的请求进行处理和页面跳转，并且需要调用Service层的对象。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</a:t>
            </a:r>
            <a:r>
              <a:rPr lang="zh-CN" altLang="en-US" sz="2200" dirty="0">
                <a:latin typeface="+mn-ea"/>
                <a:cs typeface="+mn-ea"/>
                <a:sym typeface="Montserrat"/>
              </a:rPr>
              <a:t>View层是视图层，主要用来展示前台JSP页面，可以向后台发送请求，并且可以对后台返回的数据和结果进行响应。</a:t>
            </a:r>
            <a:endParaRPr lang="zh-CN" altLang="en-US" sz="2200" dirty="0">
              <a:latin typeface="+mn-ea"/>
              <a:cs typeface="+mn-ea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cs typeface="+mn-ea"/>
                <a:sym typeface="+mn-lt"/>
              </a:rPr>
              <a:t>3.3接口设计</a:t>
            </a:r>
            <a:endParaRPr dirty="0">
              <a:cs typeface="+mn-ea"/>
              <a:sym typeface="+mn-lt"/>
            </a:endParaRPr>
          </a:p>
        </p:txBody>
      </p:sp>
      <p:sp>
        <p:nvSpPr>
          <p:cNvPr id="5" name="Google Shape;365;p35"/>
          <p:cNvSpPr txBox="1"/>
          <p:nvPr/>
        </p:nvSpPr>
        <p:spPr>
          <a:xfrm>
            <a:off x="857250" y="964565"/>
            <a:ext cx="9363710" cy="721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Montserrat"/>
                <a:sym typeface="Montserrat"/>
              </a:rPr>
              <a:t>3.3.3 网络接口设计</a:t>
            </a:r>
            <a:endParaRPr lang="zh-CN" altLang="en-US" sz="2800" dirty="0">
              <a:latin typeface="+mn-ea"/>
              <a:cs typeface="Montserrat"/>
              <a:sym typeface="Montserrat"/>
            </a:endParaRPr>
          </a:p>
        </p:txBody>
      </p:sp>
      <p:sp>
        <p:nvSpPr>
          <p:cNvPr id="6" name="Google Shape;366;p35"/>
          <p:cNvSpPr txBox="1"/>
          <p:nvPr/>
        </p:nvSpPr>
        <p:spPr>
          <a:xfrm>
            <a:off x="1091565" y="1460500"/>
            <a:ext cx="10652125" cy="3807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lang="en-US" altLang="zh-CN" sz="2200" dirty="0">
                <a:latin typeface="+mn-ea"/>
                <a:cs typeface="+mn-ea"/>
                <a:sym typeface="Montserrat"/>
              </a:rPr>
              <a:t>       </a:t>
            </a:r>
            <a:r>
              <a:rPr sz="2200" dirty="0">
                <a:latin typeface="+mn-ea"/>
                <a:cs typeface="+mn-ea"/>
                <a:sym typeface="Montserrat"/>
              </a:rPr>
              <a:t>REST API（表述性状态传递）是一种基于HTTP协议的Web服务设计风格，它支持多种数据格式，如JSON、XML等。RESTful服务是无状态的，这意味着服务不会在请求之间保存任何客户端状态。</a:t>
            </a:r>
            <a:endParaRPr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sz="2200" dirty="0">
                <a:latin typeface="+mn-ea"/>
                <a:cs typeface="+mn-ea"/>
                <a:sym typeface="Montserrat"/>
              </a:rPr>
              <a:t>关键特点：</a:t>
            </a:r>
            <a:endParaRPr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r>
              <a:rPr sz="2200" dirty="0">
                <a:latin typeface="+mn-ea"/>
                <a:cs typeface="+mn-ea"/>
                <a:sym typeface="Montserrat"/>
              </a:rPr>
              <a:t>简单性和轻量级</a:t>
            </a:r>
            <a:r>
              <a:rPr lang="zh-CN" sz="2200" dirty="0">
                <a:latin typeface="+mn-ea"/>
                <a:cs typeface="+mn-ea"/>
                <a:sym typeface="Montserrat"/>
              </a:rPr>
              <a:t>、</a:t>
            </a:r>
            <a:r>
              <a:rPr sz="2200" dirty="0">
                <a:latin typeface="+mn-ea"/>
                <a:cs typeface="+mn-ea"/>
                <a:sym typeface="Montserrat"/>
              </a:rPr>
              <a:t>无状态</a:t>
            </a:r>
            <a:r>
              <a:rPr lang="zh-CN" sz="2200" dirty="0">
                <a:latin typeface="+mn-ea"/>
                <a:cs typeface="+mn-ea"/>
                <a:sym typeface="Montserrat"/>
              </a:rPr>
              <a:t>、</a:t>
            </a:r>
            <a:r>
              <a:rPr sz="2200" dirty="0">
                <a:latin typeface="+mn-ea"/>
                <a:cs typeface="+mn-ea"/>
                <a:sym typeface="Montserrat"/>
              </a:rPr>
              <a:t>资源导向</a:t>
            </a:r>
            <a:r>
              <a:rPr lang="zh-CN" sz="2200" dirty="0">
                <a:latin typeface="+mn-ea"/>
                <a:cs typeface="+mn-ea"/>
                <a:sym typeface="Montserrat"/>
              </a:rPr>
              <a:t>、</a:t>
            </a:r>
            <a:r>
              <a:rPr sz="2200" dirty="0">
                <a:latin typeface="+mn-ea"/>
                <a:cs typeface="+mn-ea"/>
                <a:sym typeface="Montserrat"/>
              </a:rPr>
              <a:t>可缓存性</a:t>
            </a:r>
            <a:r>
              <a:rPr lang="zh-CN" sz="2200" dirty="0">
                <a:latin typeface="+mn-ea"/>
                <a:cs typeface="+mn-ea"/>
                <a:sym typeface="Montserrat"/>
              </a:rPr>
              <a:t>、</a:t>
            </a:r>
            <a:r>
              <a:rPr sz="2200" dirty="0">
                <a:latin typeface="+mn-ea"/>
                <a:cs typeface="+mn-ea"/>
                <a:sym typeface="Montserrat"/>
              </a:rPr>
              <a:t>支持多种数据格式</a:t>
            </a:r>
            <a:r>
              <a:rPr lang="zh-CN" sz="2200" dirty="0">
                <a:latin typeface="+mn-ea"/>
                <a:cs typeface="+mn-ea"/>
                <a:sym typeface="Montserrat"/>
              </a:rPr>
              <a:t>。</a:t>
            </a:r>
            <a:endParaRPr sz="2200" dirty="0">
              <a:latin typeface="+mn-ea"/>
              <a:cs typeface="+mn-ea"/>
              <a:sym typeface="Montserra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275"/>
              <a:buNone/>
            </a:pPr>
            <a:endParaRPr lang="en-US" sz="2200" dirty="0">
              <a:latin typeface="+mn-ea"/>
              <a:cs typeface="+mn-ea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0000"/>
          </a:bodyPr>
          <a:lstStyle/>
          <a:p>
            <a:pPr algn="ctr"/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详细设计与</a:t>
            </a:r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分析</a:t>
            </a:r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655570" cy="2646045"/>
            <a:chOff x="5865211" y="1319889"/>
            <a:chExt cx="2655570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65557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cs typeface="+mn-ea"/>
                  <a:sym typeface="+mn-lt"/>
                </a:rPr>
                <a:t>04</a:t>
              </a:r>
              <a:endParaRPr lang="zh-CN" altLang="en-US" sz="166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FOUR 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登录模块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8425" y="1623695"/>
            <a:ext cx="6133588" cy="413702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>
            <a:defPPr>
              <a:defRPr lang="zh-CN"/>
            </a:defPPr>
            <a:lvl1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</a:lstStyle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该模块涉及系统用户的管理，主要包含了注册，登陆，维护个人信息等功能。我们使用用户数据库来记录和更新用户信息，并且设置用户管理员实现与数据库的交互。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4506" y="1371601"/>
            <a:ext cx="4244403" cy="38267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255" y="1275347"/>
            <a:ext cx="533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  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25" y="1028699"/>
            <a:ext cx="7247779" cy="528483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216" y="939950"/>
            <a:ext cx="3507736" cy="54623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8969" y="1014328"/>
            <a:ext cx="8214548" cy="534202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搜索模块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8425" y="1623695"/>
            <a:ext cx="4091253" cy="4137025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>
            <a:defPPr>
              <a:defRPr lang="zh-CN"/>
            </a:defPPr>
            <a:lvl1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</a:lstStyle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搜索模块具备直观易用的界面，用户只需在搜索框中输入关键词，即可触发快速搜索功能。</a:t>
            </a:r>
            <a:endParaRPr lang="en-US" altLang="zh-CN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用户在搜索时，除了可以输入关键词进行搜索外，还可以根据类别进行筛选，从而缩小搜索范围，提高搜索的精准度和效率。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826" y="1623695"/>
            <a:ext cx="5145896" cy="33207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09" y="1028699"/>
            <a:ext cx="8056386" cy="529088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529" y="1028698"/>
            <a:ext cx="2692562" cy="529088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289" y="1014477"/>
            <a:ext cx="7304731" cy="53418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发布模块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8425" y="1623695"/>
            <a:ext cx="6133588" cy="413702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>
            <a:defPPr>
              <a:defRPr lang="zh-CN"/>
            </a:defPPr>
            <a:lvl1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</a:lstStyle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该发布商品模块拥有简洁直观的界面设计，商家可以轻松地添加商品信息，包括商品名称、描述、价格、等关键数据。</a:t>
            </a:r>
            <a:endParaRPr lang="en-US" altLang="zh-CN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发布商品模块还具备高效的商品分类和标签功能，便于消费者快速找到所需商品。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2013" y="929690"/>
            <a:ext cx="4505524" cy="461624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90" y="1189209"/>
            <a:ext cx="7304409" cy="469380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471" y="952543"/>
            <a:ext cx="3171908" cy="51671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60" y="1088606"/>
            <a:ext cx="8022279" cy="54503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购买模块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8425" y="1623695"/>
            <a:ext cx="4727575" cy="413702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>
            <a:defPPr>
              <a:defRPr lang="zh-CN"/>
            </a:defPPr>
            <a:lvl1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</a:lstStyle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购买模块，其核心功能围绕着商品浏览、选购、支付以及订单跟踪等环节展开。用户可以通过直观的用户界面轻松浏览商品，筛选和比较不同选项，快速找到心仪的商品。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7590" y="1242718"/>
            <a:ext cx="481218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购买模块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994" y="1048807"/>
            <a:ext cx="5267401" cy="2414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709" y="1990239"/>
            <a:ext cx="5267401" cy="24203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446" y="3782944"/>
            <a:ext cx="5267401" cy="242032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320" y="1132568"/>
            <a:ext cx="8092190" cy="45928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463" y="1028699"/>
            <a:ext cx="2536796" cy="45928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568" y="1028699"/>
            <a:ext cx="6870133" cy="541421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管理商品模块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8426" y="1623695"/>
            <a:ext cx="3636712" cy="413702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>
            <a:defPPr>
              <a:defRPr lang="zh-CN"/>
            </a:defPPr>
            <a:lvl1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</a:lstStyle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highlight>
                  <a:srgbClr val="FDFDFE"/>
                </a:highlight>
                <a:uLnTx/>
                <a:uFillTx/>
                <a:latin typeface="PingFang-SC-Regular"/>
                <a:ea typeface="微软雅黑" panose="020B0503020204020204" pitchFamily="34" charset="-122"/>
                <a:cs typeface="+mn-cs"/>
              </a:rPr>
              <a:t>管理员可以在这个界面对商品进行下架，推荐等操作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highlight>
                <a:srgbClr val="FDFDFE"/>
              </a:highlight>
              <a:uLnTx/>
              <a:uFillTx/>
              <a:latin typeface="PingFang-SC-Regular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758" y="1962810"/>
            <a:ext cx="6672223" cy="319770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92" y="1028699"/>
            <a:ext cx="8348033" cy="51997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463" y="1420194"/>
            <a:ext cx="2426418" cy="401761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163" y="1295232"/>
            <a:ext cx="8272643" cy="453025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评论模块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45932" y="1371601"/>
            <a:ext cx="9899297" cy="4114798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091390" y="1585620"/>
            <a:ext cx="9899297" cy="4114799"/>
          </a:xfrm>
          <a:prstGeom prst="roundRect">
            <a:avLst>
              <a:gd name="adj" fmla="val 2253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8425" y="1623695"/>
            <a:ext cx="4727575" cy="4137025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>
            <a:defPPr>
              <a:defRPr lang="zh-CN"/>
            </a:defPPr>
            <a:lvl1pPr marL="342900" indent="-3429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</a:lstStyle>
          <a:p>
            <a:pPr>
              <a:defRPr/>
            </a:pPr>
            <a:r>
              <a:rPr lang="zh-CN" altLang="en-US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发布评论</a:t>
            </a: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：用户可以在指定的内容下方发布自己的评论，表达观点、分享经验或提出问题。</a:t>
            </a:r>
            <a:endParaRPr lang="en-US" altLang="zh-CN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pPr>
              <a:defRPr/>
            </a:pPr>
            <a:r>
              <a:rPr lang="zh-CN" altLang="en-US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回复评论</a:t>
            </a: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。用户可以对其他用户的评论进行回复，形成讨论或对话。</a:t>
            </a:r>
            <a:endParaRPr lang="en-US" altLang="zh-CN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pPr>
              <a:defRPr/>
            </a:pPr>
            <a:r>
              <a:rPr lang="zh-CN" altLang="en-US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管理评论</a:t>
            </a:r>
            <a:r>
              <a:rPr lang="zh-CN" altLang="en-US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：对于平台管理员或内容发布者来说，管理评论是非常重要的。包括删除不当评论等。</a:t>
            </a:r>
            <a:endParaRPr lang="zh-CN" altLang="en-US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pPr>
              <a:defRPr/>
            </a:pPr>
            <a:endParaRPr lang="zh-CN" altLang="en-US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035" y="1717290"/>
            <a:ext cx="5233737" cy="197491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610" y="3823877"/>
            <a:ext cx="5273162" cy="212130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876" y="1028699"/>
            <a:ext cx="8611871" cy="49536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299" y="1255690"/>
            <a:ext cx="2455733" cy="449968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代码展示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535" y="1528010"/>
            <a:ext cx="8832961" cy="40095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0000"/>
          </a:bodyPr>
          <a:lstStyle/>
          <a:p>
            <a:pPr algn="ctr"/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软件测试</a:t>
            </a:r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655570" cy="2646045"/>
            <a:chOff x="5865211" y="1319889"/>
            <a:chExt cx="2655570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65557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cs typeface="+mn-ea"/>
                  <a:sym typeface="+mn-lt"/>
                </a:rPr>
                <a:t>05</a:t>
              </a:r>
              <a:endParaRPr lang="zh-CN" altLang="en-US" sz="166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FIVE 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25475" y="1179195"/>
            <a:ext cx="10151110" cy="2360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在进行二手交易平台的功能测试时，我们需要确保平台的核心功能运行正常，且用户体验良好。以下是关于二手交易平台功能测试的简要概述：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algn="l"/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注册与登录</a:t>
            </a:r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：验证新用户注册流程是否顺畅，包括填写必要信息、设置密码等步骤。同时，确保已注册用户能够正常登录，并成功访问个人账户页面。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pPr algn="l">
              <a:buFont typeface="+mj-lt"/>
              <a:buAutoNum type="arabicPeriod"/>
            </a:pPr>
            <a:endParaRPr lang="zh-CN" altLang="en-US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6375" y="3309620"/>
            <a:ext cx="7137400" cy="304673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26465" y="1383665"/>
            <a:ext cx="5788025" cy="321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2. </a:t>
            </a:r>
            <a:r>
              <a:rPr lang="zh-CN" altLang="en-US" sz="2400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商品发布</a:t>
            </a:r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：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测试用户是否能够顺利发布商品，包括上传商品图片、填写商品描述、设置价格、选择分类等步骤。验证发布后的商品信息是否准确无误地显示在平台上。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7230" y="1226185"/>
            <a:ext cx="3143250" cy="46964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66274" y="1227221"/>
            <a:ext cx="4559968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3. </a:t>
            </a:r>
            <a:r>
              <a:rPr lang="en-US" altLang="zh-CN" sz="2400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搜索与浏览</a:t>
            </a:r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：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pPr algn="l"/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测试平台的搜索功能是否有效，用户能够根据关键词、类别、价格范围等条件快速找到所需商品。同时，验证商品列表页的展示是否合理，包括商品图片、标题、价格等信息的清晰展示。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25490" y="1623695"/>
            <a:ext cx="5602605" cy="361505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6010" y="1233170"/>
            <a:ext cx="83642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5073B"/>
                </a:solidFill>
                <a:highlight>
                  <a:srgbClr val="FDFDFE"/>
                </a:highlight>
                <a:latin typeface="-apple-system"/>
              </a:rPr>
              <a:t>4. </a:t>
            </a:r>
            <a:r>
              <a:rPr lang="zh-CN" altLang="en-US" sz="2400" b="1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商品详情页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pPr algn="l"/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进入商品详情页，检查商品信息的完整性和准确性，包括商品描述、规格参数、卖家信息、交易方式等。同时，验证用户是否能够正常进行举报，联系卖家等操作。</a:t>
            </a:r>
            <a:endParaRPr lang="en-US" altLang="zh-CN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endParaRPr lang="en-US" altLang="zh-CN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5910" y="2879725"/>
            <a:ext cx="66243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55090"/>
            <a:ext cx="4285615" cy="2665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b="1">
                <a:solidFill>
                  <a:srgbClr val="05073B"/>
                </a:solidFill>
                <a:highlight>
                  <a:srgbClr val="FDFDFE"/>
                </a:highlight>
                <a:latin typeface="-apple-system"/>
              </a:defRPr>
            </a:lvl1pPr>
          </a:lstStyle>
          <a:p>
            <a:r>
              <a:rPr lang="en-US" altLang="zh-CN" sz="2400" dirty="0"/>
              <a:t>5. 求购商品</a:t>
            </a:r>
            <a:endParaRPr lang="en-US" altLang="zh-CN" sz="2400" dirty="0"/>
          </a:p>
          <a:p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测试平台的求购功能是否</a:t>
            </a:r>
            <a:endParaRPr lang="zh-CN" altLang="en-US" sz="2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endParaRPr lang="zh-CN" altLang="en-US" sz="4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PingFang-SC-Regular"/>
            </a:endParaRPr>
          </a:p>
          <a:p>
            <a:r>
              <a:rPr lang="zh-CN" altLang="en-US" sz="24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PingFang-SC-Regular"/>
              </a:rPr>
              <a:t>有效，用户能够根据自己的需求发布求购。该求购也会进入求购专区，供其他人浏览</a:t>
            </a:r>
            <a:endParaRPr lang="zh-CN" altLang="en-US" sz="2400" b="0" dirty="0">
              <a:effectLst/>
              <a:latin typeface="PingFang-SC-Regular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890336"/>
            <a:ext cx="4339068" cy="526983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17295" y="1323340"/>
            <a:ext cx="90093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5073B"/>
                </a:solidFill>
                <a:highlight>
                  <a:srgbClr val="FDFDFE"/>
                </a:highlight>
                <a:latin typeface="-apple-system"/>
              </a:rPr>
              <a:t>6. 安全测试</a:t>
            </a:r>
            <a:endParaRPr lang="en-US" altLang="zh-CN" sz="2400" b="1" dirty="0">
              <a:solidFill>
                <a:srgbClr val="05073B"/>
              </a:solidFill>
              <a:highlight>
                <a:srgbClr val="FDFDFE"/>
              </a:highlight>
              <a:latin typeface="-apple-system"/>
            </a:endParaRPr>
          </a:p>
          <a:p>
            <a:r>
              <a:rPr lang="zh-CN" altLang="en-US" sz="2400" dirty="0"/>
              <a:t>根据用户的使用逻辑进行功能测试以保证产品的正常使用</a:t>
            </a:r>
            <a:endParaRPr lang="en-US" altLang="zh-CN" sz="2400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95" y="2430145"/>
            <a:ext cx="9774555" cy="317119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0000"/>
          </a:bodyPr>
          <a:lstStyle/>
          <a:p>
            <a:pPr algn="ctr"/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项目</a:t>
            </a:r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管理</a:t>
            </a:r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  <a:p>
            <a:pPr algn="ctr"/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655570" cy="2646045"/>
            <a:chOff x="5865211" y="1319889"/>
            <a:chExt cx="2655570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65557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cs typeface="+mn-ea"/>
                  <a:sym typeface="+mn-lt"/>
                </a:rPr>
                <a:t>06</a:t>
              </a:r>
              <a:endParaRPr lang="zh-CN" altLang="en-US" sz="166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SIX</a:t>
              </a:r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 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项目管理</a:t>
            </a:r>
            <a:endParaRPr lang="zh-CN" altLang="en-US" dirty="0"/>
          </a:p>
        </p:txBody>
      </p:sp>
      <p:pic>
        <p:nvPicPr>
          <p:cNvPr id="6" name="图片 1" descr="需求规划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050" y="511175"/>
            <a:ext cx="2738755" cy="584517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1150620" y="1115060"/>
            <a:ext cx="3498850" cy="10299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304800"/>
            <a:r>
              <a:rPr lang="en-US" b="1">
                <a:latin typeface="+mn-ea"/>
                <a:cs typeface="+mn-ea"/>
                <a:sym typeface="+mn-ea"/>
              </a:rPr>
              <a:t>6.1</a:t>
            </a:r>
            <a:r>
              <a:rPr lang="zh-CN" altLang="en-US" b="1">
                <a:latin typeface="+mn-ea"/>
                <a:cs typeface="+mn-ea"/>
                <a:sym typeface="+mn-ea"/>
              </a:rPr>
              <a:t>项目规划</a:t>
            </a:r>
            <a:endParaRPr lang="zh-CN" b="1">
              <a:latin typeface="+mn-ea"/>
              <a:cs typeface="+mn-ea"/>
            </a:endParaRPr>
          </a:p>
          <a:p>
            <a:pPr indent="304800"/>
            <a:endParaRPr lang="zh-CN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304800"/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华为云上关于项目规划部分如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右图所示。</a:t>
            </a:r>
            <a:endParaRPr lang="zh-CN" altLang="en-US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项目管理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1091565" y="1028700"/>
            <a:ext cx="5579745" cy="13214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sz="2000" b="1">
                <a:latin typeface="+mn-ea"/>
                <a:cs typeface="+mn-ea"/>
              </a:rPr>
              <a:t>6.</a:t>
            </a:r>
            <a:r>
              <a:rPr lang="en-US" sz="2000" b="1">
                <a:latin typeface="+mn-ea"/>
                <a:cs typeface="+mn-ea"/>
              </a:rPr>
              <a:t>2</a:t>
            </a:r>
            <a:r>
              <a:rPr lang="zh-CN" altLang="en-US" sz="2000" b="1">
                <a:latin typeface="+mn-ea"/>
                <a:cs typeface="+mn-ea"/>
              </a:rPr>
              <a:t>代码托管</a:t>
            </a:r>
            <a:endParaRPr sz="2000" b="1">
              <a:latin typeface="+mn-ea"/>
              <a:cs typeface="+mn-ea"/>
            </a:endParaRPr>
          </a:p>
          <a:p>
            <a:pPr indent="0"/>
            <a:endParaRPr sz="2000" b="1">
              <a:latin typeface="+mn-ea"/>
              <a:cs typeface="+mn-ea"/>
            </a:endParaRPr>
          </a:p>
          <a:p>
            <a:pPr indent="0"/>
            <a:r>
              <a:rPr sz="2000">
                <a:latin typeface="+mn-ea"/>
                <a:cs typeface="+mn-ea"/>
              </a:rPr>
              <a:t>代码托管华为云中代码仓部分截图如图所示</a:t>
            </a:r>
            <a:r>
              <a:rPr sz="2000" b="1">
                <a:latin typeface="+mn-ea"/>
                <a:cs typeface="+mn-ea"/>
              </a:rPr>
              <a:t>。</a:t>
            </a:r>
            <a:endParaRPr sz="2000" b="1">
              <a:latin typeface="+mn-ea"/>
              <a:cs typeface="+mn-ea"/>
            </a:endParaRPr>
          </a:p>
        </p:txBody>
      </p:sp>
      <p:pic>
        <p:nvPicPr>
          <p:cNvPr id="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970" y="2214880"/>
            <a:ext cx="7766050" cy="3989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项目管理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1091565" y="1028700"/>
            <a:ext cx="5579745" cy="13214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sz="2000" b="1">
                <a:latin typeface="+mn-ea"/>
                <a:cs typeface="+mn-ea"/>
              </a:rPr>
              <a:t>6.3</a:t>
            </a:r>
            <a:r>
              <a:rPr lang="zh-CN" sz="2000" b="1">
                <a:latin typeface="+mn-ea"/>
                <a:cs typeface="+mn-ea"/>
              </a:rPr>
              <a:t>编译构建</a:t>
            </a:r>
            <a:endParaRPr sz="2000" b="1">
              <a:latin typeface="+mn-ea"/>
              <a:cs typeface="+mn-ea"/>
            </a:endParaRPr>
          </a:p>
          <a:p>
            <a:pPr indent="0"/>
            <a:endParaRPr sz="2000" b="1">
              <a:latin typeface="+mn-ea"/>
              <a:cs typeface="+mn-ea"/>
            </a:endParaRPr>
          </a:p>
          <a:p>
            <a:pPr indent="0"/>
            <a:r>
              <a:rPr sz="2000">
                <a:latin typeface="+mn-ea"/>
                <a:cs typeface="+mn-ea"/>
              </a:rPr>
              <a:t>华为云中编译构建部分的详细构建详细如图所示。</a:t>
            </a:r>
            <a:endParaRPr sz="2000">
              <a:latin typeface="+mn-ea"/>
              <a:cs typeface="+mn-ea"/>
            </a:endParaRPr>
          </a:p>
        </p:txBody>
      </p:sp>
      <p:pic>
        <p:nvPicPr>
          <p:cNvPr id="11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2035" y="2350135"/>
            <a:ext cx="7568565" cy="3864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项目管理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1091565" y="1028700"/>
            <a:ext cx="8167370" cy="13214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sz="2000" b="1">
                <a:latin typeface="+mn-ea"/>
                <a:cs typeface="+mn-ea"/>
              </a:rPr>
              <a:t>6.</a:t>
            </a:r>
            <a:r>
              <a:rPr lang="en-US" sz="2000" b="1">
                <a:latin typeface="+mn-ea"/>
                <a:cs typeface="+mn-ea"/>
              </a:rPr>
              <a:t>4</a:t>
            </a:r>
            <a:r>
              <a:rPr lang="zh-CN" altLang="en-US" sz="2000" b="1">
                <a:latin typeface="+mn-ea"/>
                <a:cs typeface="+mn-ea"/>
              </a:rPr>
              <a:t>发布库</a:t>
            </a:r>
            <a:endParaRPr sz="2000" b="1">
              <a:latin typeface="+mn-ea"/>
              <a:cs typeface="+mn-ea"/>
            </a:endParaRPr>
          </a:p>
          <a:p>
            <a:pPr indent="0"/>
            <a:endParaRPr sz="2000" b="1">
              <a:latin typeface="+mn-ea"/>
              <a:cs typeface="+mn-ea"/>
            </a:endParaRPr>
          </a:p>
          <a:p>
            <a:pPr indent="0"/>
            <a:r>
              <a:rPr sz="2000">
                <a:latin typeface="+mn-ea"/>
                <a:cs typeface="+mn-ea"/>
              </a:rPr>
              <a:t>华为云中编译构建成功后发布到软件发布库中，具体如图所示。</a:t>
            </a:r>
            <a:endParaRPr sz="2000">
              <a:latin typeface="+mn-ea"/>
              <a:cs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275" y="2486025"/>
            <a:ext cx="7336155" cy="373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项目管理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1091565" y="1028700"/>
            <a:ext cx="8167370" cy="13214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sz="2000" b="1">
                <a:latin typeface="+mn-ea"/>
                <a:cs typeface="+mn-ea"/>
              </a:rPr>
              <a:t>6.</a:t>
            </a:r>
            <a:r>
              <a:rPr lang="en-US" sz="2000" b="1">
                <a:latin typeface="+mn-ea"/>
                <a:cs typeface="+mn-ea"/>
              </a:rPr>
              <a:t>5</a:t>
            </a:r>
            <a:r>
              <a:rPr lang="zh-CN" altLang="en-US" sz="2000" b="1">
                <a:latin typeface="+mn-ea"/>
                <a:cs typeface="+mn-ea"/>
              </a:rPr>
              <a:t>华为云服务器</a:t>
            </a:r>
            <a:endParaRPr sz="2000" b="1">
              <a:latin typeface="+mn-ea"/>
              <a:cs typeface="+mn-ea"/>
            </a:endParaRPr>
          </a:p>
          <a:p>
            <a:pPr indent="0"/>
            <a:endParaRPr sz="2000" b="1">
              <a:latin typeface="+mn-ea"/>
              <a:cs typeface="+mn-ea"/>
            </a:endParaRPr>
          </a:p>
          <a:p>
            <a:pPr indent="0"/>
            <a:r>
              <a:rPr sz="2000">
                <a:latin typeface="+mn-ea"/>
                <a:cs typeface="+mn-ea"/>
              </a:rPr>
              <a:t>华为云服务器基本信息如图所示。</a:t>
            </a:r>
            <a:endParaRPr sz="2000">
              <a:latin typeface="+mn-ea"/>
              <a:cs typeface="+mn-ea"/>
            </a:endParaRPr>
          </a:p>
        </p:txBody>
      </p:sp>
      <p:pic>
        <p:nvPicPr>
          <p:cNvPr id="27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430" y="2237105"/>
            <a:ext cx="7788910" cy="396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项目管理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1091565" y="1028700"/>
            <a:ext cx="8167370" cy="13214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sz="2000" b="1">
                <a:latin typeface="+mn-ea"/>
                <a:cs typeface="+mn-ea"/>
              </a:rPr>
              <a:t>6.</a:t>
            </a:r>
            <a:r>
              <a:rPr lang="en-US" sz="2000" b="1">
                <a:latin typeface="+mn-ea"/>
                <a:cs typeface="+mn-ea"/>
              </a:rPr>
              <a:t>6 </a:t>
            </a:r>
            <a:r>
              <a:rPr lang="zh-CN" altLang="en-US" sz="2000" b="1">
                <a:latin typeface="+mn-ea"/>
                <a:cs typeface="+mn-ea"/>
              </a:rPr>
              <a:t>部署</a:t>
            </a:r>
            <a:endParaRPr sz="2000" b="1">
              <a:latin typeface="+mn-ea"/>
              <a:cs typeface="+mn-ea"/>
            </a:endParaRPr>
          </a:p>
          <a:p>
            <a:pPr indent="0"/>
            <a:endParaRPr sz="2000" b="1">
              <a:latin typeface="+mn-ea"/>
              <a:cs typeface="+mn-ea"/>
            </a:endParaRPr>
          </a:p>
          <a:p>
            <a:pPr indent="0"/>
            <a:r>
              <a:rPr sz="2000">
                <a:latin typeface="+mn-ea"/>
                <a:cs typeface="+mn-ea"/>
              </a:rPr>
              <a:t>华为云中部署日志如图所示。</a:t>
            </a:r>
            <a:endParaRPr sz="2000">
              <a:latin typeface="+mn-ea"/>
              <a:cs typeface="+mn-ea"/>
            </a:endParaRPr>
          </a:p>
        </p:txBody>
      </p:sp>
      <p:pic>
        <p:nvPicPr>
          <p:cNvPr id="33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985" y="2080895"/>
            <a:ext cx="7605395" cy="4129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项目管理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389255" y="1511300"/>
            <a:ext cx="3288665" cy="17011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sz="2000" b="1">
                <a:latin typeface="+mn-ea"/>
                <a:cs typeface="+mn-ea"/>
              </a:rPr>
              <a:t>6.</a:t>
            </a:r>
            <a:r>
              <a:rPr lang="en-US" sz="2000" b="1">
                <a:latin typeface="+mn-ea"/>
                <a:cs typeface="+mn-ea"/>
              </a:rPr>
              <a:t>7 </a:t>
            </a:r>
            <a:r>
              <a:rPr lang="zh-CN" altLang="en-US" sz="2000" b="1">
                <a:latin typeface="+mn-ea"/>
                <a:cs typeface="+mn-ea"/>
              </a:rPr>
              <a:t>讨论记录</a:t>
            </a:r>
            <a:endParaRPr sz="2000" b="1">
              <a:latin typeface="+mn-ea"/>
              <a:cs typeface="+mn-ea"/>
            </a:endParaRPr>
          </a:p>
          <a:p>
            <a:pPr indent="0"/>
            <a:endParaRPr sz="2000" b="1">
              <a:latin typeface="+mn-ea"/>
              <a:cs typeface="+mn-ea"/>
            </a:endParaRPr>
          </a:p>
          <a:p>
            <a:pPr indent="0"/>
            <a:r>
              <a:rPr sz="2000">
                <a:latin typeface="+mn-ea"/>
                <a:cs typeface="+mn-ea"/>
              </a:rPr>
              <a:t>讨论记录截图如图所示。</a:t>
            </a:r>
            <a:endParaRPr sz="2000">
              <a:latin typeface="+mn-ea"/>
              <a:cs typeface="+mn-ea"/>
            </a:endParaRPr>
          </a:p>
        </p:txBody>
      </p:sp>
      <p:pic>
        <p:nvPicPr>
          <p:cNvPr id="108023883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3570" y="994410"/>
            <a:ext cx="6753860" cy="2217420"/>
          </a:xfrm>
          <a:prstGeom prst="rect">
            <a:avLst/>
          </a:prstGeom>
        </p:spPr>
      </p:pic>
      <p:pic>
        <p:nvPicPr>
          <p:cNvPr id="23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05" y="3363595"/>
            <a:ext cx="6286500" cy="2872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0000"/>
          </a:bodyPr>
          <a:lstStyle/>
          <a:p>
            <a:pPr algn="ctr"/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项目</a:t>
            </a:r>
            <a:r>
              <a:rPr lang="zh-CN" altLang="en-US" sz="4000" spc="400" dirty="0">
                <a:solidFill>
                  <a:schemeClr val="accent1"/>
                </a:solidFill>
                <a:cs typeface="+mn-ea"/>
                <a:sym typeface="+mn-lt"/>
              </a:rPr>
              <a:t>总结</a:t>
            </a:r>
            <a:endParaRPr lang="zh-CN" altLang="en-US" sz="4000" spc="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655570" cy="2646045"/>
            <a:chOff x="5865211" y="1319889"/>
            <a:chExt cx="2655570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65557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cs typeface="+mn-ea"/>
                  <a:sym typeface="+mn-lt"/>
                </a:rPr>
                <a:t>07</a:t>
              </a:r>
              <a:endParaRPr lang="zh-CN" altLang="en-US" sz="166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SEVEN 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</a:t>
            </a:r>
            <a:r>
              <a:rPr lang="zh-CN" altLang="en-US" dirty="0">
                <a:sym typeface="+mn-ea"/>
              </a:rPr>
              <a:t>总结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9415" y="1339850"/>
            <a:ext cx="11792585" cy="4599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0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1. 任务分配与协作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   小组成员明确分工，各自负责不同的模块开发。在整个开发过程中，大家积极协作，定期沟通交流，确保各模块无缝对接。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2. 项目管理工具的使用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   - 在项目管理过程中，我们使用了项目管理工具Maven进行任务跟踪和进度管理。通过这些工具，团队成员可以清晰了解项目进展，及时解决遇到的问题。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3. 测试与反馈机制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0" i="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</a:rPr>
              <a:t>   在开发过程中，我们进行了多轮测试，及时发现并修复问题。通过用户测试和反馈机制，我们不断优化系统，提高用户体验。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</a:t>
            </a:r>
            <a:r>
              <a:rPr lang="zh-CN" altLang="en-US" dirty="0">
                <a:sym typeface="+mn-ea"/>
              </a:rPr>
              <a:t>总结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9415" y="1136650"/>
            <a:ext cx="11792585" cy="3396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  <a:sym typeface="+mn-ea"/>
              </a:rPr>
              <a:t>4. 挑战与解决方案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05073B"/>
                </a:solidFill>
                <a:effectLst/>
                <a:highlight>
                  <a:srgbClr val="FDFDFE"/>
                </a:highlight>
                <a:latin typeface="-apple-system"/>
                <a:sym typeface="+mn-ea"/>
              </a:rPr>
              <a:t>   项目过程中遇到了一些技术难题和协作问题。通过团队的共同努力和积极沟通，我们解决了这些问题，确保了项目的顺利完成。</a:t>
            </a:r>
            <a:endParaRPr lang="zh-CN" altLang="en-US" sz="2000" b="0" i="0" dirty="0">
              <a:solidFill>
                <a:srgbClr val="05073B"/>
              </a:solidFill>
              <a:effectLst/>
              <a:highlight>
                <a:srgbClr val="FDFDFE"/>
              </a:highlight>
              <a:latin typeface="-apple-system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/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/>
              <a:t>5. 项目总结与改进</a:t>
            </a:r>
            <a:endParaRPr lang="zh-CN" altLang="en-US" sz="2000" dirty="0"/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/>
              <a:t>   项目完成后，我们对整个开发过程进行了总结，梳理了成功经验和不足之处。为未来的项目积累了宝贵的经验，并提出了改进建议，提升团队的开发能力和协作效率。</a:t>
            </a:r>
            <a:endParaRPr lang="zh-CN" altLang="en-US" sz="2000" dirty="0"/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/>
              <a:t>总的来说，本次项目在小组的共同努力下，按计划顺利完成。通过这次项目开发，我们不仅完成了一个功能完善的二手交易平台，还积累了丰富的项目开发和管理经验，为未来的项目奠定了坚实的基础。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01190" y="1982450"/>
            <a:ext cx="82416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/>
              <a:t>THANKS</a:t>
            </a:r>
            <a:endParaRPr lang="zh-CN" altLang="en-US" sz="8800" b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45*413"/>
  <p:tag name="TABLE_ENDDRAG_RECT" val="287*75*645*413"/>
</p:tagLst>
</file>

<file path=ppt/tags/tag2.xml><?xml version="1.0" encoding="utf-8"?>
<p:tagLst xmlns:p="http://schemas.openxmlformats.org/presentationml/2006/main">
  <p:tag name="TABLE_ENDDRAG_ORIGIN_RECT" val="684*374"/>
  <p:tag name="TABLE_ENDDRAG_RECT" val="114*81*684*374"/>
</p:tagLst>
</file>

<file path=ppt/tags/tag3.xml><?xml version="1.0" encoding="utf-8"?>
<p:tagLst xmlns:p="http://schemas.openxmlformats.org/presentationml/2006/main">
  <p:tag name="TABLE_ENDDRAG_ORIGIN_RECT" val="727*368"/>
  <p:tag name="TABLE_ENDDRAG_RECT" val="127*104*727*368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KSO_WPP_MARK_KEY" val="6fe30da2-11b1-4229-a129-448bfb8eed26"/>
  <p:tag name="COMMONDATA" val="eyJoZGlkIjoiZmY0ZjYzNGU3YjE0MGYwOWY4MGYyYmMyNzQwYTg2ZWMifQ=="/>
  <p:tag name="commondata" val="eyJoZGlkIjoiNWU5YWY2M2M4YjM1N2JmMmJmNTljNmIxOTg2ZGU5MzkifQ==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ncg3nh5f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6034</Words>
  <Application>WPS 演示</Application>
  <PresentationFormat>宽屏</PresentationFormat>
  <Paragraphs>602</Paragraphs>
  <Slides>65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81" baseType="lpstr">
      <vt:lpstr>Arial</vt:lpstr>
      <vt:lpstr>宋体</vt:lpstr>
      <vt:lpstr>Wingdings</vt:lpstr>
      <vt:lpstr>微软雅黑</vt:lpstr>
      <vt:lpstr>Segoe UI</vt:lpstr>
      <vt:lpstr>Helvetica</vt:lpstr>
      <vt:lpstr>Arial</vt:lpstr>
      <vt:lpstr>Montserrat</vt:lpstr>
      <vt:lpstr>Segoe Print</vt:lpstr>
      <vt:lpstr>Times New Roman</vt:lpstr>
      <vt:lpstr>Arial Unicode MS</vt:lpstr>
      <vt:lpstr>等线</vt:lpstr>
      <vt:lpstr>-apple-system</vt:lpstr>
      <vt:lpstr>PingFang-SC-Regular</vt:lpstr>
      <vt:lpstr>Office 主题​​</vt:lpstr>
      <vt:lpstr>1_OfficePLUS</vt:lpstr>
      <vt:lpstr>PowerPoint 演示文稿</vt:lpstr>
      <vt:lpstr>PowerPoint 演示文稿</vt:lpstr>
      <vt:lpstr>二手商品交易平台选题背景</vt:lpstr>
      <vt:lpstr>PowerPoint 演示文稿</vt:lpstr>
      <vt:lpstr>2.1 系统总体需求</vt:lpstr>
      <vt:lpstr>2.1.1 二手商城模块需求</vt:lpstr>
      <vt:lpstr>2.1.1 二手商城模块需求</vt:lpstr>
      <vt:lpstr>2.1.2 上架商品需求分析</vt:lpstr>
      <vt:lpstr>2.1.2 上架商品需求分析</vt:lpstr>
      <vt:lpstr>2.1.2 上架商品需求分析</vt:lpstr>
      <vt:lpstr>2.1.3 购买商品需求分析</vt:lpstr>
      <vt:lpstr>2.1.4 购买商品需求分析</vt:lpstr>
      <vt:lpstr>2.1.4 购买商品需求分析</vt:lpstr>
      <vt:lpstr>PowerPoint 演示文稿</vt:lpstr>
      <vt:lpstr>3.1 总体系统功能设计</vt:lpstr>
      <vt:lpstr>3.2体系结构设计</vt:lpstr>
      <vt:lpstr>3.2体系结构设计</vt:lpstr>
      <vt:lpstr>3.2体系结构设计</vt:lpstr>
      <vt:lpstr>3.2体系结构设计</vt:lpstr>
      <vt:lpstr>3.2体系结构设计</vt:lpstr>
      <vt:lpstr>3.3接口设计</vt:lpstr>
      <vt:lpstr>3.3接口设计</vt:lpstr>
      <vt:lpstr>3.3接口设计</vt:lpstr>
      <vt:lpstr>3.3接口设计</vt:lpstr>
      <vt:lpstr>3.3接口设计</vt:lpstr>
      <vt:lpstr>3.3接口设计</vt:lpstr>
      <vt:lpstr>PowerPoint 演示文稿</vt:lpstr>
      <vt:lpstr>登录模块</vt:lpstr>
      <vt:lpstr>代码展示</vt:lpstr>
      <vt:lpstr>代码展示</vt:lpstr>
      <vt:lpstr>搜索模块</vt:lpstr>
      <vt:lpstr>代码展示</vt:lpstr>
      <vt:lpstr>代码展示</vt:lpstr>
      <vt:lpstr>发布模块</vt:lpstr>
      <vt:lpstr>代码展示</vt:lpstr>
      <vt:lpstr>代码展示</vt:lpstr>
      <vt:lpstr>购买模块</vt:lpstr>
      <vt:lpstr>购买模块</vt:lpstr>
      <vt:lpstr>代码展示</vt:lpstr>
      <vt:lpstr>代码展示</vt:lpstr>
      <vt:lpstr>管理商品模块</vt:lpstr>
      <vt:lpstr>代码展示</vt:lpstr>
      <vt:lpstr>代码展示</vt:lpstr>
      <vt:lpstr>评论模块</vt:lpstr>
      <vt:lpstr>代码展示</vt:lpstr>
      <vt:lpstr>代码展示</vt:lpstr>
      <vt:lpstr>PowerPoint 演示文稿</vt:lpstr>
      <vt:lpstr>软件测试</vt:lpstr>
      <vt:lpstr>软件测试</vt:lpstr>
      <vt:lpstr>软件测试</vt:lpstr>
      <vt:lpstr>软件测试</vt:lpstr>
      <vt:lpstr>软件测试</vt:lpstr>
      <vt:lpstr>软件测试</vt:lpstr>
      <vt:lpstr>PowerPoint 演示文稿</vt:lpstr>
      <vt:lpstr>项目管理</vt:lpstr>
      <vt:lpstr>项目管理</vt:lpstr>
      <vt:lpstr>项目管理</vt:lpstr>
      <vt:lpstr>项目管理</vt:lpstr>
      <vt:lpstr>项目管理</vt:lpstr>
      <vt:lpstr>项目管理</vt:lpstr>
      <vt:lpstr>项目管理</vt:lpstr>
      <vt:lpstr>PowerPoint 演示文稿</vt:lpstr>
      <vt:lpstr>项目总结</vt:lpstr>
      <vt:lpstr>项目总结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2973</cp:revision>
</cp:coreProperties>
</file>

<file path=docProps/custom.xml><?xml version="1.0" encoding="utf-8"?>
<Properties xmlns="http://schemas.openxmlformats.org/officeDocument/2006/custom-properties"/>
</file>