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46"/>
  </p:notesMasterIdLst>
  <p:sldIdLst>
    <p:sldId id="334" r:id="rId3"/>
    <p:sldId id="393" r:id="rId4"/>
    <p:sldId id="395" r:id="rId5"/>
    <p:sldId id="489" r:id="rId6"/>
    <p:sldId id="396" r:id="rId7"/>
    <p:sldId id="397" r:id="rId8"/>
    <p:sldId id="398" r:id="rId9"/>
    <p:sldId id="400" r:id="rId10"/>
    <p:sldId id="399" r:id="rId11"/>
    <p:sldId id="335" r:id="rId12"/>
    <p:sldId id="336" r:id="rId13"/>
    <p:sldId id="337" r:id="rId14"/>
    <p:sldId id="338" r:id="rId15"/>
    <p:sldId id="339" r:id="rId16"/>
    <p:sldId id="461" r:id="rId17"/>
    <p:sldId id="462" r:id="rId18"/>
    <p:sldId id="463" r:id="rId19"/>
    <p:sldId id="343" r:id="rId20"/>
    <p:sldId id="344" r:id="rId21"/>
    <p:sldId id="466" r:id="rId22"/>
    <p:sldId id="467" r:id="rId23"/>
    <p:sldId id="468" r:id="rId24"/>
    <p:sldId id="469" r:id="rId25"/>
    <p:sldId id="484" r:id="rId26"/>
    <p:sldId id="485" r:id="rId27"/>
    <p:sldId id="470" r:id="rId28"/>
    <p:sldId id="486" r:id="rId29"/>
    <p:sldId id="487" r:id="rId30"/>
    <p:sldId id="488" r:id="rId31"/>
    <p:sldId id="471" r:id="rId32"/>
    <p:sldId id="472" r:id="rId33"/>
    <p:sldId id="490" r:id="rId34"/>
    <p:sldId id="473" r:id="rId35"/>
    <p:sldId id="474" r:id="rId36"/>
    <p:sldId id="475" r:id="rId37"/>
    <p:sldId id="476" r:id="rId38"/>
    <p:sldId id="477" r:id="rId39"/>
    <p:sldId id="478" r:id="rId40"/>
    <p:sldId id="479" r:id="rId41"/>
    <p:sldId id="480" r:id="rId42"/>
    <p:sldId id="481" r:id="rId43"/>
    <p:sldId id="482" r:id="rId44"/>
    <p:sldId id="483" r:id="rId4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2132" y="5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1D9303-0557-4485-9811-661A72C5EDE4}" type="datetimeFigureOut">
              <a:rPr lang="zh-CN" altLang="en-US" smtClean="0"/>
              <a:t>2024/3/4</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6161DF-C333-4F5E-ACAA-844360F4CA84}" type="slidenum">
              <a:rPr lang="zh-CN" altLang="en-US" smtClean="0"/>
              <a:t>‹#›</a:t>
            </a:fld>
            <a:endParaRPr lang="zh-CN" altLang="en-US"/>
          </a:p>
        </p:txBody>
      </p:sp>
    </p:spTree>
    <p:extLst>
      <p:ext uri="{BB962C8B-B14F-4D97-AF65-F5344CB8AC3E}">
        <p14:creationId xmlns:p14="http://schemas.microsoft.com/office/powerpoint/2010/main" val="2181639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8764C8D7-3F1F-4DC7-BE6D-2D4FEDD1A8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666F336-BE9E-4002-AF98-D2E1D07566E9}" type="slidenum">
              <a:rPr kumimoji="0" lang="en-US"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24931" name="Rectangle 2">
            <a:extLst>
              <a:ext uri="{FF2B5EF4-FFF2-40B4-BE49-F238E27FC236}">
                <a16:creationId xmlns:a16="http://schemas.microsoft.com/office/drawing/2014/main" id="{303306C1-295C-472D-B724-1B3A8435B917}"/>
              </a:ext>
            </a:extLst>
          </p:cNvPr>
          <p:cNvSpPr>
            <a:spLocks noGrp="1" noRot="1" noChangeAspect="1" noChangeArrowheads="1" noTextEdit="1"/>
          </p:cNvSpPr>
          <p:nvPr>
            <p:ph type="sldImg"/>
          </p:nvPr>
        </p:nvSpPr>
        <p:spPr>
          <a:ln/>
        </p:spPr>
      </p:sp>
      <p:sp>
        <p:nvSpPr>
          <p:cNvPr id="124932" name="Rectangle 3">
            <a:extLst>
              <a:ext uri="{FF2B5EF4-FFF2-40B4-BE49-F238E27FC236}">
                <a16:creationId xmlns:a16="http://schemas.microsoft.com/office/drawing/2014/main" id="{5BCB02ED-620C-49B2-B740-67B1E45D97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板书检验数的定义</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59F99970-0144-4298-8CFB-FA4189C16DE2}" type="datetimeFigureOut">
              <a:rPr lang="zh-CN" altLang="en-US" smtClean="0"/>
              <a:t>2024/3/4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74B33BE-8D50-4E1E-80A0-A3D75C075179}" type="slidenum">
              <a:rPr lang="zh-CN" altLang="en-US" smtClean="0"/>
              <a:t>‹#›</a:t>
            </a:fld>
            <a:endParaRPr lang="zh-CN" altLang="en-US"/>
          </a:p>
        </p:txBody>
      </p:sp>
    </p:spTree>
    <p:extLst>
      <p:ext uri="{BB962C8B-B14F-4D97-AF65-F5344CB8AC3E}">
        <p14:creationId xmlns:p14="http://schemas.microsoft.com/office/powerpoint/2010/main" val="32549278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9F99970-0144-4298-8CFB-FA4189C16DE2}" type="datetimeFigureOut">
              <a:rPr lang="zh-CN" altLang="en-US" smtClean="0"/>
              <a:t>2024/3/4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74B33BE-8D50-4E1E-80A0-A3D75C075179}" type="slidenum">
              <a:rPr lang="zh-CN" altLang="en-US" smtClean="0"/>
              <a:t>‹#›</a:t>
            </a:fld>
            <a:endParaRPr lang="zh-CN" altLang="en-US"/>
          </a:p>
        </p:txBody>
      </p:sp>
    </p:spTree>
    <p:extLst>
      <p:ext uri="{BB962C8B-B14F-4D97-AF65-F5344CB8AC3E}">
        <p14:creationId xmlns:p14="http://schemas.microsoft.com/office/powerpoint/2010/main" val="3946627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59F99970-0144-4298-8CFB-FA4189C16DE2}" type="datetimeFigureOut">
              <a:rPr lang="zh-CN" altLang="en-US" smtClean="0"/>
              <a:t>2024/3/4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74B33BE-8D50-4E1E-80A0-A3D75C075179}" type="slidenum">
              <a:rPr lang="zh-CN" altLang="en-US" smtClean="0"/>
              <a:t>‹#›</a:t>
            </a:fld>
            <a:endParaRPr lang="zh-CN" altLang="en-US"/>
          </a:p>
        </p:txBody>
      </p:sp>
    </p:spTree>
    <p:extLst>
      <p:ext uri="{BB962C8B-B14F-4D97-AF65-F5344CB8AC3E}">
        <p14:creationId xmlns:p14="http://schemas.microsoft.com/office/powerpoint/2010/main" val="1860143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59F99970-0144-4298-8CFB-FA4189C16DE2}" type="datetimeFigureOut">
              <a:rPr lang="zh-CN" altLang="en-US" smtClean="0"/>
              <a:t>2024/3/4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74B33BE-8D50-4E1E-80A0-A3D75C075179}" type="slidenum">
              <a:rPr lang="zh-CN" altLang="en-US" smtClean="0"/>
              <a:t>‹#›</a:t>
            </a:fld>
            <a:endParaRPr lang="zh-CN" altLang="en-US"/>
          </a:p>
        </p:txBody>
      </p:sp>
    </p:spTree>
    <p:extLst>
      <p:ext uri="{BB962C8B-B14F-4D97-AF65-F5344CB8AC3E}">
        <p14:creationId xmlns:p14="http://schemas.microsoft.com/office/powerpoint/2010/main" val="453244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59F99970-0144-4298-8CFB-FA4189C16DE2}" type="datetimeFigureOut">
              <a:rPr lang="zh-CN" altLang="en-US" smtClean="0"/>
              <a:t>2024/3/4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74B33BE-8D50-4E1E-80A0-A3D75C075179}" type="slidenum">
              <a:rPr lang="zh-CN" altLang="en-US" smtClean="0"/>
              <a:t>‹#›</a:t>
            </a:fld>
            <a:endParaRPr lang="zh-CN" altLang="en-US"/>
          </a:p>
        </p:txBody>
      </p:sp>
    </p:spTree>
    <p:extLst>
      <p:ext uri="{BB962C8B-B14F-4D97-AF65-F5344CB8AC3E}">
        <p14:creationId xmlns:p14="http://schemas.microsoft.com/office/powerpoint/2010/main" val="1343438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59F99970-0144-4298-8CFB-FA4189C16DE2}" type="datetimeFigureOut">
              <a:rPr lang="zh-CN" altLang="en-US" smtClean="0"/>
              <a:t>2024/3/4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74B33BE-8D50-4E1E-80A0-A3D75C075179}" type="slidenum">
              <a:rPr lang="zh-CN" altLang="en-US" smtClean="0"/>
              <a:t>‹#›</a:t>
            </a:fld>
            <a:endParaRPr lang="zh-CN" altLang="en-US"/>
          </a:p>
        </p:txBody>
      </p:sp>
    </p:spTree>
    <p:extLst>
      <p:ext uri="{BB962C8B-B14F-4D97-AF65-F5344CB8AC3E}">
        <p14:creationId xmlns:p14="http://schemas.microsoft.com/office/powerpoint/2010/main" val="829786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F99970-0144-4298-8CFB-FA4189C16DE2}" type="datetimeFigureOut">
              <a:rPr lang="zh-CN" altLang="en-US" smtClean="0"/>
              <a:t>2024/3/4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74B33BE-8D50-4E1E-80A0-A3D75C075179}" type="slidenum">
              <a:rPr lang="zh-CN" altLang="en-US" smtClean="0"/>
              <a:t>‹#›</a:t>
            </a:fld>
            <a:endParaRPr lang="zh-CN" altLang="en-US"/>
          </a:p>
        </p:txBody>
      </p:sp>
    </p:spTree>
    <p:extLst>
      <p:ext uri="{BB962C8B-B14F-4D97-AF65-F5344CB8AC3E}">
        <p14:creationId xmlns:p14="http://schemas.microsoft.com/office/powerpoint/2010/main" val="905728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59F99970-0144-4298-8CFB-FA4189C16DE2}" type="datetimeFigureOut">
              <a:rPr lang="zh-CN" altLang="en-US" smtClean="0"/>
              <a:t>2024/3/4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74B33BE-8D50-4E1E-80A0-A3D75C075179}" type="slidenum">
              <a:rPr lang="zh-CN" altLang="en-US" smtClean="0"/>
              <a:t>‹#›</a:t>
            </a:fld>
            <a:endParaRPr lang="zh-CN" altLang="en-US"/>
          </a:p>
        </p:txBody>
      </p:sp>
    </p:spTree>
    <p:extLst>
      <p:ext uri="{BB962C8B-B14F-4D97-AF65-F5344CB8AC3E}">
        <p14:creationId xmlns:p14="http://schemas.microsoft.com/office/powerpoint/2010/main" val="3669951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59F99970-0144-4298-8CFB-FA4189C16DE2}" type="datetimeFigureOut">
              <a:rPr lang="zh-CN" altLang="en-US" smtClean="0"/>
              <a:t>2024/3/4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74B33BE-8D50-4E1E-80A0-A3D75C075179}" type="slidenum">
              <a:rPr lang="zh-CN" altLang="en-US" smtClean="0"/>
              <a:t>‹#›</a:t>
            </a:fld>
            <a:endParaRPr lang="zh-CN" altLang="en-US"/>
          </a:p>
        </p:txBody>
      </p:sp>
    </p:spTree>
    <p:extLst>
      <p:ext uri="{BB962C8B-B14F-4D97-AF65-F5344CB8AC3E}">
        <p14:creationId xmlns:p14="http://schemas.microsoft.com/office/powerpoint/2010/main" val="1532003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9F99970-0144-4298-8CFB-FA4189C16DE2}" type="datetimeFigureOut">
              <a:rPr lang="zh-CN" altLang="en-US" smtClean="0"/>
              <a:t>2024/3/4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74B33BE-8D50-4E1E-80A0-A3D75C075179}" type="slidenum">
              <a:rPr lang="zh-CN" altLang="en-US" smtClean="0"/>
              <a:t>‹#›</a:t>
            </a:fld>
            <a:endParaRPr lang="zh-CN" altLang="en-US"/>
          </a:p>
        </p:txBody>
      </p:sp>
    </p:spTree>
    <p:extLst>
      <p:ext uri="{BB962C8B-B14F-4D97-AF65-F5344CB8AC3E}">
        <p14:creationId xmlns:p14="http://schemas.microsoft.com/office/powerpoint/2010/main" val="4250504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9F99970-0144-4298-8CFB-FA4189C16DE2}" type="datetimeFigureOut">
              <a:rPr lang="zh-CN" altLang="en-US" smtClean="0"/>
              <a:t>2024/3/4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74B33BE-8D50-4E1E-80A0-A3D75C075179}" type="slidenum">
              <a:rPr lang="zh-CN" altLang="en-US" smtClean="0"/>
              <a:t>‹#›</a:t>
            </a:fld>
            <a:endParaRPr lang="zh-CN" altLang="en-US"/>
          </a:p>
        </p:txBody>
      </p:sp>
    </p:spTree>
    <p:extLst>
      <p:ext uri="{BB962C8B-B14F-4D97-AF65-F5344CB8AC3E}">
        <p14:creationId xmlns:p14="http://schemas.microsoft.com/office/powerpoint/2010/main" val="14446257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D88F6CF4-B340-4E96-AA6B-22B68E3EF154}"/>
              </a:ext>
            </a:extLst>
          </p:cNvPr>
          <p:cNvSpPr>
            <a:spLocks noChangeArrowheads="1"/>
          </p:cNvSpPr>
          <p:nvPr/>
        </p:nvSpPr>
        <p:spPr bwMode="auto">
          <a:xfrm>
            <a:off x="609600" y="1219200"/>
            <a:ext cx="79248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 name="Line 8">
            <a:extLst>
              <a:ext uri="{FF2B5EF4-FFF2-40B4-BE49-F238E27FC236}">
                <a16:creationId xmlns:a16="http://schemas.microsoft.com/office/drawing/2014/main" id="{35698D40-49CB-4CFF-9247-3E5EC46CB470}"/>
              </a:ext>
            </a:extLst>
          </p:cNvPr>
          <p:cNvSpPr>
            <a:spLocks noChangeShapeType="1"/>
          </p:cNvSpPr>
          <p:nvPr/>
        </p:nvSpPr>
        <p:spPr bwMode="auto">
          <a:xfrm>
            <a:off x="1981200" y="3962400"/>
            <a:ext cx="6511925"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6" name="Picture 9" descr="校徽">
            <a:extLst>
              <a:ext uri="{FF2B5EF4-FFF2-40B4-BE49-F238E27FC236}">
                <a16:creationId xmlns:a16="http://schemas.microsoft.com/office/drawing/2014/main" id="{FB410E04-F60C-493F-A17D-DE45034556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7600" y="152400"/>
            <a:ext cx="990600" cy="966788"/>
          </a:xfrm>
          <a:prstGeom prst="rect">
            <a:avLst/>
          </a:prstGeom>
          <a:solidFill>
            <a:schemeClr val="bg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97282" name="Rectangle 2"/>
          <p:cNvSpPr>
            <a:spLocks noGrp="1" noChangeArrowheads="1"/>
          </p:cNvSpPr>
          <p:nvPr>
            <p:ph type="ctrTitle"/>
          </p:nvPr>
        </p:nvSpPr>
        <p:spPr>
          <a:xfrm>
            <a:off x="914400" y="1524000"/>
            <a:ext cx="7623175" cy="1752600"/>
          </a:xfrm>
        </p:spPr>
        <p:txBody>
          <a:bodyPr/>
          <a:lstStyle>
            <a:lvl1pPr>
              <a:defRPr sz="5000"/>
            </a:lvl1pPr>
          </a:lstStyle>
          <a:p>
            <a:r>
              <a:rPr lang="zh-CN" altLang="en-US"/>
              <a:t>单击此处编辑母版标题样式</a:t>
            </a:r>
          </a:p>
        </p:txBody>
      </p:sp>
      <p:sp>
        <p:nvSpPr>
          <p:cNvPr id="97283"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600"/>
            </a:lvl1pPr>
          </a:lstStyle>
          <a:p>
            <a:r>
              <a:rPr lang="zh-CN" altLang="en-US"/>
              <a:t>单击此处编辑母版副标题样式</a:t>
            </a:r>
          </a:p>
        </p:txBody>
      </p:sp>
      <p:sp>
        <p:nvSpPr>
          <p:cNvPr id="7" name="Rectangle 4">
            <a:extLst>
              <a:ext uri="{FF2B5EF4-FFF2-40B4-BE49-F238E27FC236}">
                <a16:creationId xmlns:a16="http://schemas.microsoft.com/office/drawing/2014/main" id="{2429B174-D570-4566-A982-88317838D936}"/>
              </a:ext>
            </a:extLst>
          </p:cNvPr>
          <p:cNvSpPr>
            <a:spLocks noGrp="1" noChangeArrowheads="1"/>
          </p:cNvSpPr>
          <p:nvPr>
            <p:ph type="dt" sz="half" idx="10"/>
          </p:nvPr>
        </p:nvSpPr>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6A59DCD0-0534-4773-8EEF-8ED1E9ACF717}"/>
              </a:ext>
            </a:extLst>
          </p:cNvPr>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F17628AB-A766-45F4-BF2B-BF13145D9AA9}"/>
              </a:ext>
            </a:extLst>
          </p:cNvPr>
          <p:cNvSpPr>
            <a:spLocks noGrp="1" noChangeArrowheads="1"/>
          </p:cNvSpPr>
          <p:nvPr>
            <p:ph type="sldNum" sz="quarter" idx="12"/>
          </p:nvPr>
        </p:nvSpPr>
        <p:spPr/>
        <p:txBody>
          <a:bodyPr/>
          <a:lstStyle>
            <a:lvl1pPr>
              <a:defRPr/>
            </a:lvl1pPr>
          </a:lstStyle>
          <a:p>
            <a:pPr>
              <a:defRPr/>
            </a:pPr>
            <a:fld id="{9081CFBD-192B-40A4-9F71-B6DEF537DFAE}" type="slidenum">
              <a:rPr lang="en-US" altLang="zh-CN"/>
              <a:pPr>
                <a:defRPr/>
              </a:pPr>
              <a:t>‹#›</a:t>
            </a:fld>
            <a:endParaRPr lang="en-US" altLang="zh-CN"/>
          </a:p>
        </p:txBody>
      </p:sp>
    </p:spTree>
    <p:extLst>
      <p:ext uri="{BB962C8B-B14F-4D97-AF65-F5344CB8AC3E}">
        <p14:creationId xmlns:p14="http://schemas.microsoft.com/office/powerpoint/2010/main" val="25367199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sz="3200"/>
            </a:lvl1pPr>
            <a:lvl2pPr>
              <a:defRPr sz="2800"/>
            </a:lvl2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a:extLst>
              <a:ext uri="{FF2B5EF4-FFF2-40B4-BE49-F238E27FC236}">
                <a16:creationId xmlns:a16="http://schemas.microsoft.com/office/drawing/2014/main" id="{82DDF1F8-5F6E-457A-9605-604E7F853E4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FA1B6650-5600-4B8B-821D-3396971A838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1531742-FCB1-4DA8-8D07-282AB531B45C}"/>
              </a:ext>
            </a:extLst>
          </p:cNvPr>
          <p:cNvSpPr>
            <a:spLocks noGrp="1" noChangeArrowheads="1"/>
          </p:cNvSpPr>
          <p:nvPr>
            <p:ph type="sldNum" sz="quarter" idx="12"/>
          </p:nvPr>
        </p:nvSpPr>
        <p:spPr>
          <a:ln/>
        </p:spPr>
        <p:txBody>
          <a:bodyPr/>
          <a:lstStyle>
            <a:lvl1pPr>
              <a:defRPr/>
            </a:lvl1pPr>
          </a:lstStyle>
          <a:p>
            <a:pPr>
              <a:defRPr/>
            </a:pPr>
            <a:fld id="{A11E5842-087F-427E-B803-671449145182}" type="slidenum">
              <a:rPr lang="en-US" altLang="zh-CN"/>
              <a:pPr>
                <a:defRPr/>
              </a:pPr>
              <a:t>‹#›</a:t>
            </a:fld>
            <a:endParaRPr lang="en-US" altLang="zh-CN"/>
          </a:p>
        </p:txBody>
      </p:sp>
    </p:spTree>
    <p:extLst>
      <p:ext uri="{BB962C8B-B14F-4D97-AF65-F5344CB8AC3E}">
        <p14:creationId xmlns:p14="http://schemas.microsoft.com/office/powerpoint/2010/main" val="9817744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5A70A36E-05CC-40F6-A113-2DB230BFC25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CBD82C63-C26B-4ED3-8DD3-F3221B92AD3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C0C427B-B54F-406B-A46B-52DEBDBE06FB}"/>
              </a:ext>
            </a:extLst>
          </p:cNvPr>
          <p:cNvSpPr>
            <a:spLocks noGrp="1" noChangeArrowheads="1"/>
          </p:cNvSpPr>
          <p:nvPr>
            <p:ph type="sldNum" sz="quarter" idx="12"/>
          </p:nvPr>
        </p:nvSpPr>
        <p:spPr>
          <a:ln/>
        </p:spPr>
        <p:txBody>
          <a:bodyPr/>
          <a:lstStyle>
            <a:lvl1pPr>
              <a:defRPr/>
            </a:lvl1pPr>
          </a:lstStyle>
          <a:p>
            <a:pPr>
              <a:defRPr/>
            </a:pPr>
            <a:fld id="{F7E78DA4-BE08-4327-8E36-68FD9031B690}" type="slidenum">
              <a:rPr lang="en-US" altLang="zh-CN"/>
              <a:pPr>
                <a:defRPr/>
              </a:pPr>
              <a:t>‹#›</a:t>
            </a:fld>
            <a:endParaRPr lang="en-US" altLang="zh-CN"/>
          </a:p>
        </p:txBody>
      </p:sp>
    </p:spTree>
    <p:extLst>
      <p:ext uri="{BB962C8B-B14F-4D97-AF65-F5344CB8AC3E}">
        <p14:creationId xmlns:p14="http://schemas.microsoft.com/office/powerpoint/2010/main" val="18393797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2179CE1E-C633-4B68-B402-EE835D66394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9C7D1828-FB20-47CE-9E76-5CF097B72A5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71D28582-D1B0-4070-B197-F5A67F0BFE93}"/>
              </a:ext>
            </a:extLst>
          </p:cNvPr>
          <p:cNvSpPr>
            <a:spLocks noGrp="1" noChangeArrowheads="1"/>
          </p:cNvSpPr>
          <p:nvPr>
            <p:ph type="sldNum" sz="quarter" idx="12"/>
          </p:nvPr>
        </p:nvSpPr>
        <p:spPr>
          <a:ln/>
        </p:spPr>
        <p:txBody>
          <a:bodyPr/>
          <a:lstStyle>
            <a:lvl1pPr>
              <a:defRPr/>
            </a:lvl1pPr>
          </a:lstStyle>
          <a:p>
            <a:pPr>
              <a:defRPr/>
            </a:pPr>
            <a:fld id="{DF262439-4BE2-4E67-BDB2-0BC54D076286}" type="slidenum">
              <a:rPr lang="en-US" altLang="zh-CN"/>
              <a:pPr>
                <a:defRPr/>
              </a:pPr>
              <a:t>‹#›</a:t>
            </a:fld>
            <a:endParaRPr lang="en-US" altLang="zh-CN"/>
          </a:p>
        </p:txBody>
      </p:sp>
    </p:spTree>
    <p:extLst>
      <p:ext uri="{BB962C8B-B14F-4D97-AF65-F5344CB8AC3E}">
        <p14:creationId xmlns:p14="http://schemas.microsoft.com/office/powerpoint/2010/main" val="36301558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2AC80777-15D0-4425-8E47-2918E2C043C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6D107132-DE8D-4A97-ACB3-5EB332E514B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D2EE0278-2284-4345-B504-52DBCAF4AC46}"/>
              </a:ext>
            </a:extLst>
          </p:cNvPr>
          <p:cNvSpPr>
            <a:spLocks noGrp="1" noChangeArrowheads="1"/>
          </p:cNvSpPr>
          <p:nvPr>
            <p:ph type="sldNum" sz="quarter" idx="12"/>
          </p:nvPr>
        </p:nvSpPr>
        <p:spPr>
          <a:ln/>
        </p:spPr>
        <p:txBody>
          <a:bodyPr/>
          <a:lstStyle>
            <a:lvl1pPr>
              <a:defRPr/>
            </a:lvl1pPr>
          </a:lstStyle>
          <a:p>
            <a:pPr>
              <a:defRPr/>
            </a:pPr>
            <a:fld id="{4FD17D04-256C-433B-91A2-720D3654F5EB}" type="slidenum">
              <a:rPr lang="en-US" altLang="zh-CN"/>
              <a:pPr>
                <a:defRPr/>
              </a:pPr>
              <a:t>‹#›</a:t>
            </a:fld>
            <a:endParaRPr lang="en-US" altLang="zh-CN"/>
          </a:p>
        </p:txBody>
      </p:sp>
    </p:spTree>
    <p:extLst>
      <p:ext uri="{BB962C8B-B14F-4D97-AF65-F5344CB8AC3E}">
        <p14:creationId xmlns:p14="http://schemas.microsoft.com/office/powerpoint/2010/main" val="6670242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A9F00AA5-EA53-4B19-AA59-A402ECF2FF4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CF232DC2-E415-406A-9D8B-1B76119E4DD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5257DED9-11FC-4339-989C-040710666C51}"/>
              </a:ext>
            </a:extLst>
          </p:cNvPr>
          <p:cNvSpPr>
            <a:spLocks noGrp="1" noChangeArrowheads="1"/>
          </p:cNvSpPr>
          <p:nvPr>
            <p:ph type="sldNum" sz="quarter" idx="12"/>
          </p:nvPr>
        </p:nvSpPr>
        <p:spPr>
          <a:ln/>
        </p:spPr>
        <p:txBody>
          <a:bodyPr/>
          <a:lstStyle>
            <a:lvl1pPr>
              <a:defRPr/>
            </a:lvl1pPr>
          </a:lstStyle>
          <a:p>
            <a:pPr>
              <a:defRPr/>
            </a:pPr>
            <a:fld id="{BAD3090F-E86B-4772-8760-13A7D1CC9500}" type="slidenum">
              <a:rPr lang="en-US" altLang="zh-CN"/>
              <a:pPr>
                <a:defRPr/>
              </a:pPr>
              <a:t>‹#›</a:t>
            </a:fld>
            <a:endParaRPr lang="en-US" altLang="zh-CN"/>
          </a:p>
        </p:txBody>
      </p:sp>
    </p:spTree>
    <p:extLst>
      <p:ext uri="{BB962C8B-B14F-4D97-AF65-F5344CB8AC3E}">
        <p14:creationId xmlns:p14="http://schemas.microsoft.com/office/powerpoint/2010/main" val="10236771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34980C3-09D4-4C7A-B6A7-D89C48E54D4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6D35BF3F-34C6-45C7-AB2F-249E3F0A505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3B01D60C-3636-41F5-8944-BC04A0BB0BCA}"/>
              </a:ext>
            </a:extLst>
          </p:cNvPr>
          <p:cNvSpPr>
            <a:spLocks noGrp="1" noChangeArrowheads="1"/>
          </p:cNvSpPr>
          <p:nvPr>
            <p:ph type="sldNum" sz="quarter" idx="12"/>
          </p:nvPr>
        </p:nvSpPr>
        <p:spPr>
          <a:ln/>
        </p:spPr>
        <p:txBody>
          <a:bodyPr/>
          <a:lstStyle>
            <a:lvl1pPr>
              <a:defRPr/>
            </a:lvl1pPr>
          </a:lstStyle>
          <a:p>
            <a:pPr>
              <a:defRPr/>
            </a:pPr>
            <a:fld id="{58E3D147-D717-4E20-9A98-CF2593A96388}" type="slidenum">
              <a:rPr lang="en-US" altLang="zh-CN"/>
              <a:pPr>
                <a:defRPr/>
              </a:pPr>
              <a:t>‹#›</a:t>
            </a:fld>
            <a:endParaRPr lang="en-US" altLang="zh-CN"/>
          </a:p>
        </p:txBody>
      </p:sp>
    </p:spTree>
    <p:extLst>
      <p:ext uri="{BB962C8B-B14F-4D97-AF65-F5344CB8AC3E}">
        <p14:creationId xmlns:p14="http://schemas.microsoft.com/office/powerpoint/2010/main" val="8729866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9B858420-E93F-414B-B103-B5C4AE46B63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A0209342-806C-466E-821F-DB43375999B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8A211D06-00E8-4187-8BBD-D7DB92FCF31A}"/>
              </a:ext>
            </a:extLst>
          </p:cNvPr>
          <p:cNvSpPr>
            <a:spLocks noGrp="1" noChangeArrowheads="1"/>
          </p:cNvSpPr>
          <p:nvPr>
            <p:ph type="sldNum" sz="quarter" idx="12"/>
          </p:nvPr>
        </p:nvSpPr>
        <p:spPr>
          <a:ln/>
        </p:spPr>
        <p:txBody>
          <a:bodyPr/>
          <a:lstStyle>
            <a:lvl1pPr>
              <a:defRPr/>
            </a:lvl1pPr>
          </a:lstStyle>
          <a:p>
            <a:pPr>
              <a:defRPr/>
            </a:pPr>
            <a:fld id="{46E86C80-51BC-4F45-9103-EFDB612AE9D6}" type="slidenum">
              <a:rPr lang="en-US" altLang="zh-CN"/>
              <a:pPr>
                <a:defRPr/>
              </a:pPr>
              <a:t>‹#›</a:t>
            </a:fld>
            <a:endParaRPr lang="en-US" altLang="zh-CN"/>
          </a:p>
        </p:txBody>
      </p:sp>
    </p:spTree>
    <p:extLst>
      <p:ext uri="{BB962C8B-B14F-4D97-AF65-F5344CB8AC3E}">
        <p14:creationId xmlns:p14="http://schemas.microsoft.com/office/powerpoint/2010/main" val="37793547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C3A4D636-6F9A-474E-A00C-ADF3C567620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4EFCE8DB-12D4-4180-80A4-70648EA6D74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25D75C2-2ED7-4E38-996D-8A8AF07F307A}"/>
              </a:ext>
            </a:extLst>
          </p:cNvPr>
          <p:cNvSpPr>
            <a:spLocks noGrp="1" noChangeArrowheads="1"/>
          </p:cNvSpPr>
          <p:nvPr>
            <p:ph type="sldNum" sz="quarter" idx="12"/>
          </p:nvPr>
        </p:nvSpPr>
        <p:spPr>
          <a:ln/>
        </p:spPr>
        <p:txBody>
          <a:bodyPr/>
          <a:lstStyle>
            <a:lvl1pPr>
              <a:defRPr/>
            </a:lvl1pPr>
          </a:lstStyle>
          <a:p>
            <a:pPr>
              <a:defRPr/>
            </a:pPr>
            <a:fld id="{B8F77CA6-865C-4CA4-89EA-C931CD51C8C7}" type="slidenum">
              <a:rPr lang="en-US" altLang="zh-CN"/>
              <a:pPr>
                <a:defRPr/>
              </a:pPr>
              <a:t>‹#›</a:t>
            </a:fld>
            <a:endParaRPr lang="en-US" altLang="zh-CN"/>
          </a:p>
        </p:txBody>
      </p:sp>
    </p:spTree>
    <p:extLst>
      <p:ext uri="{BB962C8B-B14F-4D97-AF65-F5344CB8AC3E}">
        <p14:creationId xmlns:p14="http://schemas.microsoft.com/office/powerpoint/2010/main" val="15632480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F7DC7D1-972F-4CCA-B1CC-F222C75CC49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D0E26B55-0054-4490-98A9-E2265F7309A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619D5C6-EB83-4909-B724-CC8AD48F1869}"/>
              </a:ext>
            </a:extLst>
          </p:cNvPr>
          <p:cNvSpPr>
            <a:spLocks noGrp="1" noChangeArrowheads="1"/>
          </p:cNvSpPr>
          <p:nvPr>
            <p:ph type="sldNum" sz="quarter" idx="12"/>
          </p:nvPr>
        </p:nvSpPr>
        <p:spPr>
          <a:ln/>
        </p:spPr>
        <p:txBody>
          <a:bodyPr/>
          <a:lstStyle>
            <a:lvl1pPr>
              <a:defRPr/>
            </a:lvl1pPr>
          </a:lstStyle>
          <a:p>
            <a:pPr>
              <a:defRPr/>
            </a:pPr>
            <a:fld id="{5E0C42DB-76F0-4687-A891-EC5BB5193A23}" type="slidenum">
              <a:rPr lang="en-US" altLang="zh-CN"/>
              <a:pPr>
                <a:defRPr/>
              </a:pPr>
              <a:t>‹#›</a:t>
            </a:fld>
            <a:endParaRPr lang="en-US" altLang="zh-CN"/>
          </a:p>
        </p:txBody>
      </p:sp>
    </p:spTree>
    <p:extLst>
      <p:ext uri="{BB962C8B-B14F-4D97-AF65-F5344CB8AC3E}">
        <p14:creationId xmlns:p14="http://schemas.microsoft.com/office/powerpoint/2010/main" val="19717868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50AD773-3697-4712-A2C5-BAF91F96782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477623CD-BC96-4612-9DFC-A4236E7A028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5C0C1F70-ABF8-4EE4-97DF-2995645E9DFD}"/>
              </a:ext>
            </a:extLst>
          </p:cNvPr>
          <p:cNvSpPr>
            <a:spLocks noGrp="1" noChangeArrowheads="1"/>
          </p:cNvSpPr>
          <p:nvPr>
            <p:ph type="sldNum" sz="quarter" idx="12"/>
          </p:nvPr>
        </p:nvSpPr>
        <p:spPr>
          <a:ln/>
        </p:spPr>
        <p:txBody>
          <a:bodyPr/>
          <a:lstStyle>
            <a:lvl1pPr>
              <a:defRPr/>
            </a:lvl1pPr>
          </a:lstStyle>
          <a:p>
            <a:pPr>
              <a:defRPr/>
            </a:pPr>
            <a:fld id="{7ECF2E8C-62EA-4B83-B311-5FA297765025}" type="slidenum">
              <a:rPr lang="en-US" altLang="zh-CN"/>
              <a:pPr>
                <a:defRPr/>
              </a:pPr>
              <a:t>‹#›</a:t>
            </a:fld>
            <a:endParaRPr lang="en-US" altLang="zh-CN"/>
          </a:p>
        </p:txBody>
      </p:sp>
    </p:spTree>
    <p:extLst>
      <p:ext uri="{BB962C8B-B14F-4D97-AF65-F5344CB8AC3E}">
        <p14:creationId xmlns:p14="http://schemas.microsoft.com/office/powerpoint/2010/main" val="28076509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p>
        </p:txBody>
      </p:sp>
      <p:sp>
        <p:nvSpPr>
          <p:cNvPr id="3" name="表格占位符 2"/>
          <p:cNvSpPr>
            <a:spLocks noGrp="1"/>
          </p:cNvSpPr>
          <p:nvPr>
            <p:ph type="tbl" idx="1"/>
          </p:nvPr>
        </p:nvSpPr>
        <p:spPr>
          <a:xfrm>
            <a:off x="457200" y="1600200"/>
            <a:ext cx="8229600" cy="4530725"/>
          </a:xfrm>
        </p:spPr>
        <p:txBody>
          <a:bodyPr/>
          <a:lstStyle/>
          <a:p>
            <a:pPr lvl="0"/>
            <a:endParaRPr lang="zh-CN" altLang="en-US" noProof="0"/>
          </a:p>
        </p:txBody>
      </p:sp>
      <p:sp>
        <p:nvSpPr>
          <p:cNvPr id="4" name="Rectangle 4">
            <a:extLst>
              <a:ext uri="{FF2B5EF4-FFF2-40B4-BE49-F238E27FC236}">
                <a16:creationId xmlns:a16="http://schemas.microsoft.com/office/drawing/2014/main" id="{42998D07-38C1-4FB9-9FE2-C22880348AB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C3289C8-07D3-4D8D-90AD-441B141978D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FB5E51B-61AE-4326-AA2B-645DDFB16BEB}"/>
              </a:ext>
            </a:extLst>
          </p:cNvPr>
          <p:cNvSpPr>
            <a:spLocks noGrp="1" noChangeArrowheads="1"/>
          </p:cNvSpPr>
          <p:nvPr>
            <p:ph type="sldNum" sz="quarter" idx="12"/>
          </p:nvPr>
        </p:nvSpPr>
        <p:spPr>
          <a:ln/>
        </p:spPr>
        <p:txBody>
          <a:bodyPr/>
          <a:lstStyle>
            <a:lvl1pPr>
              <a:defRPr/>
            </a:lvl1pPr>
          </a:lstStyle>
          <a:p>
            <a:pPr>
              <a:defRPr/>
            </a:pPr>
            <a:fld id="{21CE58C8-A005-4EDA-9A19-A05F12BA950C}" type="slidenum">
              <a:rPr lang="en-US" altLang="zh-CN"/>
              <a:pPr>
                <a:defRPr/>
              </a:pPr>
              <a:t>‹#›</a:t>
            </a:fld>
            <a:endParaRPr lang="en-US" altLang="zh-CN"/>
          </a:p>
        </p:txBody>
      </p:sp>
    </p:spTree>
    <p:extLst>
      <p:ext uri="{BB962C8B-B14F-4D97-AF65-F5344CB8AC3E}">
        <p14:creationId xmlns:p14="http://schemas.microsoft.com/office/powerpoint/2010/main" val="25998235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409E7ECB-FE5B-462D-BFAA-7FA3D14F112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2C78B699-7AD8-415D-8FF9-3FEE384C173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E81E04F7-B82E-460E-BCB0-416C13FC0BAF}"/>
              </a:ext>
            </a:extLst>
          </p:cNvPr>
          <p:cNvSpPr>
            <a:spLocks noGrp="1" noChangeArrowheads="1"/>
          </p:cNvSpPr>
          <p:nvPr>
            <p:ph type="sldNum" sz="quarter" idx="12"/>
          </p:nvPr>
        </p:nvSpPr>
        <p:spPr>
          <a:ln/>
        </p:spPr>
        <p:txBody>
          <a:bodyPr/>
          <a:lstStyle>
            <a:lvl1pPr>
              <a:defRPr/>
            </a:lvl1pPr>
          </a:lstStyle>
          <a:p>
            <a:pPr>
              <a:defRPr/>
            </a:pPr>
            <a:fld id="{08E837AD-9B6B-44AD-AEA5-D4A1D6E96B69}" type="slidenum">
              <a:rPr lang="en-US" altLang="zh-CN"/>
              <a:pPr>
                <a:defRPr/>
              </a:pPr>
              <a:t>‹#›</a:t>
            </a:fld>
            <a:endParaRPr lang="en-US" altLang="zh-CN"/>
          </a:p>
        </p:txBody>
      </p:sp>
    </p:spTree>
    <p:extLst>
      <p:ext uri="{BB962C8B-B14F-4D97-AF65-F5344CB8AC3E}">
        <p14:creationId xmlns:p14="http://schemas.microsoft.com/office/powerpoint/2010/main" val="17767353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7813"/>
            <a:ext cx="8229600" cy="1139825"/>
          </a:xfrm>
        </p:spPr>
        <p:txBody>
          <a:bodyPr/>
          <a:lstStyle/>
          <a:p>
            <a:r>
              <a:rPr lang="zh-CN" altLang="en-US"/>
              <a:t>单击此处编辑母版标题样式</a:t>
            </a:r>
          </a:p>
        </p:txBody>
      </p:sp>
      <p:sp>
        <p:nvSpPr>
          <p:cNvPr id="3" name="内容占位符 2"/>
          <p:cNvSpPr>
            <a:spLocks noGrp="1"/>
          </p:cNvSpPr>
          <p:nvPr>
            <p:ph sz="quarter" idx="1"/>
          </p:nvPr>
        </p:nvSpPr>
        <p:spPr>
          <a:xfrm>
            <a:off x="457200" y="1600200"/>
            <a:ext cx="40386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57200" y="3941763"/>
            <a:ext cx="4038600" cy="2189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3941763"/>
            <a:ext cx="4038600" cy="2189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3588844B-27C4-4DFB-BCF9-A75BA16C2E1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FB87BD0B-7CD9-461E-AEE1-8C39B64561E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C2A61C01-925D-4883-85E4-3249B179D445}"/>
              </a:ext>
            </a:extLst>
          </p:cNvPr>
          <p:cNvSpPr>
            <a:spLocks noGrp="1" noChangeArrowheads="1"/>
          </p:cNvSpPr>
          <p:nvPr>
            <p:ph type="sldNum" sz="quarter" idx="12"/>
          </p:nvPr>
        </p:nvSpPr>
        <p:spPr>
          <a:ln/>
        </p:spPr>
        <p:txBody>
          <a:bodyPr/>
          <a:lstStyle>
            <a:lvl1pPr>
              <a:defRPr/>
            </a:lvl1pPr>
          </a:lstStyle>
          <a:p>
            <a:pPr>
              <a:defRPr/>
            </a:pPr>
            <a:fld id="{2BBB19F6-4997-4491-8367-645F1E610037}" type="slidenum">
              <a:rPr lang="en-US" altLang="zh-CN"/>
              <a:pPr>
                <a:defRPr/>
              </a:pPr>
              <a:t>‹#›</a:t>
            </a:fld>
            <a:endParaRPr lang="en-US" altLang="zh-CN"/>
          </a:p>
        </p:txBody>
      </p:sp>
    </p:spTree>
    <p:extLst>
      <p:ext uri="{BB962C8B-B14F-4D97-AF65-F5344CB8AC3E}">
        <p14:creationId xmlns:p14="http://schemas.microsoft.com/office/powerpoint/2010/main" val="16829927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41763"/>
            <a:ext cx="4038600" cy="2189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1E0E26C0-C149-4B5D-A9F9-B2C5BB6692B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a:extLst>
              <a:ext uri="{FF2B5EF4-FFF2-40B4-BE49-F238E27FC236}">
                <a16:creationId xmlns:a16="http://schemas.microsoft.com/office/drawing/2014/main" id="{D92E73B2-5FE0-4D7A-96EC-7568F5F7060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3190E3EB-E3FA-40D2-8630-72583363F351}"/>
              </a:ext>
            </a:extLst>
          </p:cNvPr>
          <p:cNvSpPr>
            <a:spLocks noGrp="1" noChangeArrowheads="1"/>
          </p:cNvSpPr>
          <p:nvPr>
            <p:ph type="sldNum" sz="quarter" idx="12"/>
          </p:nvPr>
        </p:nvSpPr>
        <p:spPr>
          <a:ln/>
        </p:spPr>
        <p:txBody>
          <a:bodyPr/>
          <a:lstStyle>
            <a:lvl1pPr>
              <a:defRPr/>
            </a:lvl1pPr>
          </a:lstStyle>
          <a:p>
            <a:pPr>
              <a:defRPr/>
            </a:pPr>
            <a:fld id="{DB3BEBC8-41E0-499C-9B34-85694CFD0304}" type="slidenum">
              <a:rPr lang="en-US" altLang="zh-CN"/>
              <a:pPr>
                <a:defRPr/>
              </a:pPr>
              <a:t>‹#›</a:t>
            </a:fld>
            <a:endParaRPr lang="en-US" altLang="zh-CN"/>
          </a:p>
        </p:txBody>
      </p:sp>
    </p:spTree>
    <p:extLst>
      <p:ext uri="{BB962C8B-B14F-4D97-AF65-F5344CB8AC3E}">
        <p14:creationId xmlns:p14="http://schemas.microsoft.com/office/powerpoint/2010/main" val="2810944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1.png"/><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F99970-0144-4298-8CFB-FA4189C16DE2}" type="datetimeFigureOut">
              <a:rPr lang="zh-CN" altLang="en-US" smtClean="0"/>
              <a:t>2024/3/4</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4B33BE-8D50-4E1E-80A0-A3D75C075179}" type="slidenum">
              <a:rPr lang="zh-CN" altLang="en-US" smtClean="0"/>
              <a:t>‹#›</a:t>
            </a:fld>
            <a:endParaRPr lang="zh-CN" altLang="en-US"/>
          </a:p>
        </p:txBody>
      </p:sp>
    </p:spTree>
    <p:extLst>
      <p:ext uri="{BB962C8B-B14F-4D97-AF65-F5344CB8AC3E}">
        <p14:creationId xmlns:p14="http://schemas.microsoft.com/office/powerpoint/2010/main" val="32595992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673FC2DD-7FCC-4159-9529-381B6F9B18A8}"/>
              </a:ext>
            </a:extLst>
          </p:cNvPr>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05DE891E-DED7-4A64-8292-FC4023CB60CD}"/>
              </a:ext>
            </a:extLst>
          </p:cNvPr>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6260" name="Rectangle 4">
            <a:extLst>
              <a:ext uri="{FF2B5EF4-FFF2-40B4-BE49-F238E27FC236}">
                <a16:creationId xmlns:a16="http://schemas.microsoft.com/office/drawing/2014/main" id="{FDD1751F-A58D-4EA9-BA48-A3813C1E2AB2}"/>
              </a:ext>
            </a:extLst>
          </p:cNvPr>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mj-lt"/>
              </a:defRPr>
            </a:lvl1pPr>
          </a:lstStyle>
          <a:p>
            <a:pPr>
              <a:defRPr/>
            </a:pPr>
            <a:endParaRPr lang="en-US" altLang="zh-CN"/>
          </a:p>
        </p:txBody>
      </p:sp>
      <p:sp>
        <p:nvSpPr>
          <p:cNvPr id="96261" name="Rectangle 5">
            <a:extLst>
              <a:ext uri="{FF2B5EF4-FFF2-40B4-BE49-F238E27FC236}">
                <a16:creationId xmlns:a16="http://schemas.microsoft.com/office/drawing/2014/main" id="{69419B8A-00BD-42CE-90AB-64EE44CC6A6F}"/>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mj-lt"/>
              </a:defRPr>
            </a:lvl1pPr>
          </a:lstStyle>
          <a:p>
            <a:pPr>
              <a:defRPr/>
            </a:pPr>
            <a:endParaRPr lang="en-US" altLang="zh-CN"/>
          </a:p>
        </p:txBody>
      </p:sp>
      <p:sp>
        <p:nvSpPr>
          <p:cNvPr id="96262" name="Rectangle 6">
            <a:extLst>
              <a:ext uri="{FF2B5EF4-FFF2-40B4-BE49-F238E27FC236}">
                <a16:creationId xmlns:a16="http://schemas.microsoft.com/office/drawing/2014/main" id="{5EC07F8A-BD4D-4ED7-B7B2-474BDBB0DB01}"/>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Garamond" panose="02020404030301010803" pitchFamily="18" charset="0"/>
              </a:defRPr>
            </a:lvl1pPr>
          </a:lstStyle>
          <a:p>
            <a:pPr>
              <a:defRPr/>
            </a:pPr>
            <a:fld id="{768CCA73-3296-4A79-9294-B91D369BD918}" type="slidenum">
              <a:rPr lang="en-US" altLang="zh-CN"/>
              <a:pPr>
                <a:defRPr/>
              </a:pPr>
              <a:t>‹#›</a:t>
            </a:fld>
            <a:endParaRPr lang="en-US" altLang="zh-CN"/>
          </a:p>
        </p:txBody>
      </p:sp>
      <p:sp>
        <p:nvSpPr>
          <p:cNvPr id="1031" name="Freeform 7">
            <a:extLst>
              <a:ext uri="{FF2B5EF4-FFF2-40B4-BE49-F238E27FC236}">
                <a16:creationId xmlns:a16="http://schemas.microsoft.com/office/drawing/2014/main" id="{44922C5D-6461-4B5D-87A6-A6FB95D0900A}"/>
              </a:ext>
            </a:extLst>
          </p:cNvPr>
          <p:cNvSpPr>
            <a:spLocks noChangeArrowheads="1"/>
          </p:cNvSpPr>
          <p:nvPr/>
        </p:nvSpPr>
        <p:spPr bwMode="auto">
          <a:xfrm>
            <a:off x="381000" y="228600"/>
            <a:ext cx="82296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2" name="Line 8">
            <a:extLst>
              <a:ext uri="{FF2B5EF4-FFF2-40B4-BE49-F238E27FC236}">
                <a16:creationId xmlns:a16="http://schemas.microsoft.com/office/drawing/2014/main" id="{3DA9CBB3-8A40-4CA4-BB59-FFE1D8225C77}"/>
              </a:ext>
            </a:extLst>
          </p:cNvPr>
          <p:cNvSpPr>
            <a:spLocks noChangeShapeType="1"/>
          </p:cNvSpPr>
          <p:nvPr/>
        </p:nvSpPr>
        <p:spPr bwMode="auto">
          <a:xfrm>
            <a:off x="457200" y="617220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033" name="Picture 9" descr="校徽">
            <a:extLst>
              <a:ext uri="{FF2B5EF4-FFF2-40B4-BE49-F238E27FC236}">
                <a16:creationId xmlns:a16="http://schemas.microsoft.com/office/drawing/2014/main" id="{37BF9233-223D-44D3-85F2-8D0E9EA42C56}"/>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620000" y="306388"/>
            <a:ext cx="938213" cy="912812"/>
          </a:xfrm>
          <a:prstGeom prst="rect">
            <a:avLst/>
          </a:prstGeom>
          <a:solidFill>
            <a:schemeClr val="bg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0673129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Lst>
  <p:txStyles>
    <p:titleStyle>
      <a:lvl1pPr algn="l" rtl="0" eaLnBrk="0" fontAlgn="base" hangingPunct="0">
        <a:spcBef>
          <a:spcPct val="0"/>
        </a:spcBef>
        <a:spcAft>
          <a:spcPct val="0"/>
        </a:spcAft>
        <a:defRPr sz="4200" b="1">
          <a:solidFill>
            <a:schemeClr val="tx2"/>
          </a:solidFill>
          <a:latin typeface="+mj-lt"/>
          <a:ea typeface="+mj-ea"/>
          <a:cs typeface="+mj-cs"/>
        </a:defRPr>
      </a:lvl1pPr>
      <a:lvl2pPr algn="l" rtl="0" eaLnBrk="0" fontAlgn="base" hangingPunct="0">
        <a:spcBef>
          <a:spcPct val="0"/>
        </a:spcBef>
        <a:spcAft>
          <a:spcPct val="0"/>
        </a:spcAft>
        <a:defRPr sz="4200" b="1">
          <a:solidFill>
            <a:schemeClr val="tx2"/>
          </a:solidFill>
          <a:latin typeface="Garamond" pitchFamily="18" charset="0"/>
          <a:ea typeface="宋体" pitchFamily="2" charset="-122"/>
        </a:defRPr>
      </a:lvl2pPr>
      <a:lvl3pPr algn="l" rtl="0" eaLnBrk="0" fontAlgn="base" hangingPunct="0">
        <a:spcBef>
          <a:spcPct val="0"/>
        </a:spcBef>
        <a:spcAft>
          <a:spcPct val="0"/>
        </a:spcAft>
        <a:defRPr sz="4200" b="1">
          <a:solidFill>
            <a:schemeClr val="tx2"/>
          </a:solidFill>
          <a:latin typeface="Garamond" pitchFamily="18" charset="0"/>
          <a:ea typeface="宋体" pitchFamily="2" charset="-122"/>
        </a:defRPr>
      </a:lvl3pPr>
      <a:lvl4pPr algn="l" rtl="0" eaLnBrk="0" fontAlgn="base" hangingPunct="0">
        <a:spcBef>
          <a:spcPct val="0"/>
        </a:spcBef>
        <a:spcAft>
          <a:spcPct val="0"/>
        </a:spcAft>
        <a:defRPr sz="4200" b="1">
          <a:solidFill>
            <a:schemeClr val="tx2"/>
          </a:solidFill>
          <a:latin typeface="Garamond" pitchFamily="18" charset="0"/>
          <a:ea typeface="宋体" pitchFamily="2" charset="-122"/>
        </a:defRPr>
      </a:lvl4pPr>
      <a:lvl5pPr algn="l" rtl="0" eaLnBrk="0" fontAlgn="base" hangingPunct="0">
        <a:spcBef>
          <a:spcPct val="0"/>
        </a:spcBef>
        <a:spcAft>
          <a:spcPct val="0"/>
        </a:spcAft>
        <a:defRPr sz="4200" b="1">
          <a:solidFill>
            <a:schemeClr val="tx2"/>
          </a:solidFill>
          <a:latin typeface="Garamond" pitchFamily="18" charset="0"/>
          <a:ea typeface="宋体" pitchFamily="2" charset="-122"/>
        </a:defRPr>
      </a:lvl5pPr>
      <a:lvl6pPr marL="457200" algn="l" rtl="0" fontAlgn="base">
        <a:spcBef>
          <a:spcPct val="0"/>
        </a:spcBef>
        <a:spcAft>
          <a:spcPct val="0"/>
        </a:spcAft>
        <a:defRPr sz="4200" b="1">
          <a:solidFill>
            <a:schemeClr val="tx2"/>
          </a:solidFill>
          <a:latin typeface="Garamond" pitchFamily="18" charset="0"/>
          <a:ea typeface="宋体" pitchFamily="2" charset="-122"/>
        </a:defRPr>
      </a:lvl6pPr>
      <a:lvl7pPr marL="914400" algn="l" rtl="0" fontAlgn="base">
        <a:spcBef>
          <a:spcPct val="0"/>
        </a:spcBef>
        <a:spcAft>
          <a:spcPct val="0"/>
        </a:spcAft>
        <a:defRPr sz="4200" b="1">
          <a:solidFill>
            <a:schemeClr val="tx2"/>
          </a:solidFill>
          <a:latin typeface="Garamond" pitchFamily="18" charset="0"/>
          <a:ea typeface="宋体" pitchFamily="2" charset="-122"/>
        </a:defRPr>
      </a:lvl7pPr>
      <a:lvl8pPr marL="1371600" algn="l" rtl="0" fontAlgn="base">
        <a:spcBef>
          <a:spcPct val="0"/>
        </a:spcBef>
        <a:spcAft>
          <a:spcPct val="0"/>
        </a:spcAft>
        <a:defRPr sz="4200" b="1">
          <a:solidFill>
            <a:schemeClr val="tx2"/>
          </a:solidFill>
          <a:latin typeface="Garamond" pitchFamily="18" charset="0"/>
          <a:ea typeface="宋体" pitchFamily="2" charset="-122"/>
        </a:defRPr>
      </a:lvl8pPr>
      <a:lvl9pPr marL="1828800" algn="l" rtl="0" fontAlgn="base">
        <a:spcBef>
          <a:spcPct val="0"/>
        </a:spcBef>
        <a:spcAft>
          <a:spcPct val="0"/>
        </a:spcAft>
        <a:defRPr sz="4200" b="1">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image" Target="../media/image16.png"/><Relationship Id="rId16"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4.xml.rels><?xml version="1.0" encoding="UTF-8" standalone="yes"?>
<Relationships xmlns="http://schemas.openxmlformats.org/package/2006/relationships"><Relationship Id="rId13" Type="http://schemas.openxmlformats.org/officeDocument/2006/relationships/image" Target="../media/image33.png"/><Relationship Id="rId3" Type="http://schemas.openxmlformats.org/officeDocument/2006/relationships/image" Target="../media/image32.png"/><Relationship Id="rId12" Type="http://schemas.openxmlformats.org/officeDocument/2006/relationships/image" Target="../media/image26.png"/><Relationship Id="rId2" Type="http://schemas.openxmlformats.org/officeDocument/2006/relationships/image" Target="../media/image31.png"/><Relationship Id="rId16" Type="http://schemas.openxmlformats.org/officeDocument/2006/relationships/image" Target="../media/image36.png"/><Relationship Id="rId1" Type="http://schemas.openxmlformats.org/officeDocument/2006/relationships/slideLayout" Target="../slideLayouts/slideLayout2.xml"/><Relationship Id="rId11" Type="http://schemas.openxmlformats.org/officeDocument/2006/relationships/image" Target="../media/image25.png"/><Relationship Id="rId15" Type="http://schemas.openxmlformats.org/officeDocument/2006/relationships/image" Target="../media/image35.png"/><Relationship Id="rId10" Type="http://schemas.openxmlformats.org/officeDocument/2006/relationships/image" Target="../media/image24.png"/><Relationship Id="rId9" Type="http://schemas.openxmlformats.org/officeDocument/2006/relationships/image" Target="../media/image23.png"/><Relationship Id="rId14" Type="http://schemas.openxmlformats.org/officeDocument/2006/relationships/image" Target="../media/image34.png"/></Relationships>
</file>

<file path=ppt/slides/_rels/slide5.xml.rels><?xml version="1.0" encoding="UTF-8" standalone="yes"?>
<Relationships xmlns="http://schemas.openxmlformats.org/package/2006/relationships"><Relationship Id="rId3" Type="http://schemas.openxmlformats.org/officeDocument/2006/relationships/image" Target="../media/image320.png"/><Relationship Id="rId7" Type="http://schemas.openxmlformats.org/officeDocument/2006/relationships/image" Target="../media/image360.png"/><Relationship Id="rId2" Type="http://schemas.openxmlformats.org/officeDocument/2006/relationships/image" Target="../media/image310.png"/><Relationship Id="rId1" Type="http://schemas.openxmlformats.org/officeDocument/2006/relationships/slideLayout" Target="../slideLayouts/slideLayout2.xml"/><Relationship Id="rId6" Type="http://schemas.openxmlformats.org/officeDocument/2006/relationships/image" Target="../media/image350.png"/><Relationship Id="rId5" Type="http://schemas.openxmlformats.org/officeDocument/2006/relationships/image" Target="../media/image340.png"/><Relationship Id="rId4" Type="http://schemas.openxmlformats.org/officeDocument/2006/relationships/image" Target="../media/image330.png"/></Relationships>
</file>

<file path=ppt/slides/_rels/slide6.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9" Type="http://schemas.openxmlformats.org/officeDocument/2006/relationships/image" Target="../media/image44.png"/></Relationships>
</file>

<file path=ppt/slides/_rels/slide7.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image" Target="../media/image55.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8.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s>
</file>

<file path=ppt/slides/_rels/slide9.xml.rels><?xml version="1.0" encoding="UTF-8" standalone="yes"?>
<Relationships xmlns="http://schemas.openxmlformats.org/package/2006/relationships"><Relationship Id="rId3" Type="http://schemas.openxmlformats.org/officeDocument/2006/relationships/image" Target="../media/image660.png"/><Relationship Id="rId2" Type="http://schemas.openxmlformats.org/officeDocument/2006/relationships/image" Target="../media/image65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3.xml"/><Relationship Id="rId1" Type="http://schemas.openxmlformats.org/officeDocument/2006/relationships/vmlDrawing" Target="../drawings/vmlDrawing1.vml"/><Relationship Id="rId4" Type="http://schemas.openxmlformats.org/officeDocument/2006/relationships/image" Target="../media/image42.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4.xml"/><Relationship Id="rId1" Type="http://schemas.openxmlformats.org/officeDocument/2006/relationships/vmlDrawing" Target="../drawings/vmlDrawing2.vml"/><Relationship Id="rId4" Type="http://schemas.openxmlformats.org/officeDocument/2006/relationships/image" Target="../media/image45.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3.xml"/><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76.png"/><Relationship Id="rId1" Type="http://schemas.openxmlformats.org/officeDocument/2006/relationships/slideLayout" Target="../slideLayouts/slideLayout13.xml"/><Relationship Id="rId4" Type="http://schemas.openxmlformats.org/officeDocument/2006/relationships/image" Target="../media/image82.png"/></Relationships>
</file>

<file path=ppt/slides/_rels/slide2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13.xml"/><Relationship Id="rId4" Type="http://schemas.openxmlformats.org/officeDocument/2006/relationships/image" Target="../media/image85.png"/></Relationships>
</file>

<file path=ppt/slides/_rels/slide2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13.xml"/><Relationship Id="rId4" Type="http://schemas.openxmlformats.org/officeDocument/2006/relationships/image" Target="../media/image8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3.xml"/><Relationship Id="rId1" Type="http://schemas.openxmlformats.org/officeDocument/2006/relationships/vmlDrawing" Target="../drawings/vmlDrawing3.vml"/><Relationship Id="rId4" Type="http://schemas.openxmlformats.org/officeDocument/2006/relationships/image" Target="../media/image75.wmf"/></Relationships>
</file>

<file path=ppt/slides/_rels/slide4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hidden="1">
            <a:extLst>
              <a:ext uri="{FF2B5EF4-FFF2-40B4-BE49-F238E27FC236}">
                <a16:creationId xmlns:a16="http://schemas.microsoft.com/office/drawing/2014/main" id="{268578A4-17D4-44F0-BB54-5CA09EEAAC2D}"/>
              </a:ext>
            </a:extLst>
          </p:cNvPr>
          <p:cNvSpPr>
            <a:spLocks noGrp="1"/>
          </p:cNvSpPr>
          <p:nvPr>
            <p:ph type="title"/>
          </p:nvPr>
        </p:nvSpPr>
        <p:spPr/>
        <p:txBody>
          <a:bodyPr/>
          <a:lstStyle/>
          <a:p>
            <a:pPr eaLnBrk="1" hangingPunct="1"/>
            <a:r>
              <a:rPr lang="zh-CN" altLang="en-US" sz="3600"/>
              <a:t>第二章之第三节</a:t>
            </a:r>
            <a:endParaRPr lang="zh-CN" altLang="en-US"/>
          </a:p>
        </p:txBody>
      </p:sp>
      <p:pic>
        <p:nvPicPr>
          <p:cNvPr id="3" name="图片 2">
            <a:extLst>
              <a:ext uri="{FF2B5EF4-FFF2-40B4-BE49-F238E27FC236}">
                <a16:creationId xmlns:a16="http://schemas.microsoft.com/office/drawing/2014/main" id="{474922B8-E532-4A75-899F-7BCA1F7C8659}"/>
              </a:ext>
            </a:extLst>
          </p:cNvPr>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705536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05DCED-7BEB-4935-A42C-EA4B471F6BCF}"/>
              </a:ext>
            </a:extLst>
          </p:cNvPr>
          <p:cNvSpPr>
            <a:spLocks noGrp="1"/>
          </p:cNvSpPr>
          <p:nvPr>
            <p:ph type="title"/>
          </p:nvPr>
        </p:nvSpPr>
        <p:spPr/>
        <p:txBody>
          <a:bodyPr/>
          <a:lstStyle/>
          <a:p>
            <a:r>
              <a:rPr lang="zh-CN" altLang="en-US" dirty="0"/>
              <a:t>通过矩阵表述获得单纯形表的基本思路</a:t>
            </a: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A271BE4C-989B-4D41-881F-B11E7C03F3B5}"/>
                  </a:ext>
                </a:extLst>
              </p:cNvPr>
              <p:cNvSpPr/>
              <p:nvPr/>
            </p:nvSpPr>
            <p:spPr>
              <a:xfrm>
                <a:off x="5656180" y="1825627"/>
                <a:ext cx="2098843" cy="373307"/>
              </a:xfrm>
              <a:prstGeom prst="rect">
                <a:avLst/>
              </a:prstGeom>
              <a:solidFill>
                <a:schemeClr val="bg1">
                  <a:lumMod val="85000"/>
                </a:schemeClr>
              </a:solidFill>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𝜎</m:t>
                              </m:r>
                            </m:e>
                          </m:acc>
                        </m:e>
                        <m:sup>
                          <m:r>
                            <a:rPr lang="en-US" altLang="zh-CN" i="1">
                              <a:latin typeface="Cambria Math" panose="02040503050406030204" pitchFamily="18" charset="0"/>
                            </a:rPr>
                            <m:t>𝑇</m:t>
                          </m:r>
                        </m:sup>
                      </m:sSup>
                      <m:r>
                        <a:rPr lang="en-US" altLang="zh-CN" i="1">
                          <a:latin typeface="Cambria Math" panose="02040503050406030204" pitchFamily="18" charset="0"/>
                        </a:rPr>
                        <m:t>=</m:t>
                      </m:r>
                      <m:sSup>
                        <m:sSupPr>
                          <m:ctrlPr>
                            <a:rPr lang="en-US" altLang="zh-CN" i="1" dirty="0">
                              <a:latin typeface="Cambria Math" panose="02040503050406030204" pitchFamily="18" charset="0"/>
                            </a:rPr>
                          </m:ctrlPr>
                        </m:s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𝑐</m:t>
                              </m:r>
                            </m:e>
                          </m:acc>
                        </m:e>
                        <m:sup>
                          <m:r>
                            <a:rPr lang="en-US" altLang="zh-CN" i="1" dirty="0">
                              <a:latin typeface="Cambria Math" panose="02040503050406030204" pitchFamily="18" charset="0"/>
                            </a:rPr>
                            <m:t>𝑇</m:t>
                          </m:r>
                        </m:sup>
                      </m:s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𝑐</m:t>
                              </m:r>
                            </m:e>
                          </m:acc>
                        </m:e>
                        <m:sub>
                          <m:r>
                            <a:rPr lang="en-US" altLang="zh-CN" i="1">
                              <a:latin typeface="Cambria Math" panose="02040503050406030204" pitchFamily="18" charset="0"/>
                            </a:rPr>
                            <m:t>𝐵</m:t>
                          </m:r>
                        </m:sub>
                        <m:sup>
                          <m:r>
                            <a:rPr lang="en-US" altLang="zh-CN" i="1">
                              <a:latin typeface="Cambria Math" panose="02040503050406030204" pitchFamily="18" charset="0"/>
                            </a:rPr>
                            <m:t>𝑇</m:t>
                          </m:r>
                        </m:sup>
                      </m:sSubSup>
                      <m:sSup>
                        <m:sSupPr>
                          <m:ctrlPr>
                            <a:rPr lang="en-US" altLang="zh-CN" i="1">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−1</m:t>
                          </m:r>
                        </m:sup>
                      </m:sSup>
                      <m:r>
                        <a:rPr lang="en-US" altLang="zh-CN" i="1" dirty="0">
                          <a:latin typeface="Cambria Math" panose="02040503050406030204" pitchFamily="18" charset="0"/>
                        </a:rPr>
                        <m:t>𝐴</m:t>
                      </m:r>
                    </m:oMath>
                  </m:oMathPara>
                </a14:m>
                <a:endParaRPr lang="en-US" altLang="zh-CN" dirty="0"/>
              </a:p>
            </p:txBody>
          </p:sp>
        </mc:Choice>
        <mc:Fallback xmlns="">
          <p:sp>
            <p:nvSpPr>
              <p:cNvPr id="4" name="矩形 3">
                <a:extLst>
                  <a:ext uri="{FF2B5EF4-FFF2-40B4-BE49-F238E27FC236}">
                    <a16:creationId xmlns:a16="http://schemas.microsoft.com/office/drawing/2014/main" id="{A271BE4C-989B-4D41-881F-B11E7C03F3B5}"/>
                  </a:ext>
                </a:extLst>
              </p:cNvPr>
              <p:cNvSpPr>
                <a:spLocks noRot="1" noChangeAspect="1" noMove="1" noResize="1" noEditPoints="1" noAdjustHandles="1" noChangeArrowheads="1" noChangeShapeType="1" noTextEdit="1"/>
              </p:cNvSpPr>
              <p:nvPr/>
            </p:nvSpPr>
            <p:spPr>
              <a:xfrm>
                <a:off x="5656180" y="1825627"/>
                <a:ext cx="2098843" cy="373307"/>
              </a:xfrm>
              <a:prstGeom prst="rect">
                <a:avLst/>
              </a:prstGeom>
              <a:blipFill>
                <a:blip r:embed="rId2"/>
                <a:stretch>
                  <a:fillRect t="-209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3FAD6F85-A758-488B-8799-EECC40CF6A8C}"/>
                  </a:ext>
                </a:extLst>
              </p:cNvPr>
              <p:cNvSpPr/>
              <p:nvPr/>
            </p:nvSpPr>
            <p:spPr>
              <a:xfrm>
                <a:off x="4461941" y="2218836"/>
                <a:ext cx="4487319" cy="944939"/>
              </a:xfrm>
              <a:prstGeom prst="rect">
                <a:avLst/>
              </a:prstGeom>
              <a:solidFill>
                <a:schemeClr val="bg1">
                  <a:lumMod val="85000"/>
                </a:schemeClr>
              </a:solidFill>
            </p:spPr>
            <p:txBody>
              <a:bodyPr wrap="none">
                <a:spAutoFit/>
              </a:bodyPr>
              <a:lstStyle/>
              <a:p>
                <a:pPr lvl="1"/>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𝑁</m:t>
                          </m:r>
                          <m:r>
                            <a:rPr lang="en-US" altLang="zh-CN" i="1">
                              <a:latin typeface="Cambria Math" panose="02040503050406030204" pitchFamily="18" charset="0"/>
                            </a:rPr>
                            <m:t>,</m:t>
                          </m:r>
                          <m:r>
                            <a:rPr lang="en-US" altLang="zh-CN" i="1">
                              <a:latin typeface="Cambria Math" panose="02040503050406030204" pitchFamily="18" charset="0"/>
                            </a:rPr>
                            <m:t>𝑖</m:t>
                          </m:r>
                        </m:sub>
                      </m:sSub>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limLow>
                            <m:limLowPr>
                              <m:ctrlPr>
                                <a:rPr lang="en-US" altLang="zh-CN" i="1">
                                  <a:latin typeface="Cambria Math" panose="02040503050406030204" pitchFamily="18" charset="0"/>
                                </a:rPr>
                              </m:ctrlPr>
                            </m:limLowPr>
                            <m:e>
                              <m:r>
                                <m:rPr>
                                  <m:sty m:val="p"/>
                                </m:rPr>
                                <a:rPr lang="en-US" altLang="zh-CN">
                                  <a:latin typeface="Cambria Math" panose="02040503050406030204" pitchFamily="18" charset="0"/>
                                </a:rPr>
                                <m:t>min</m:t>
                              </m:r>
                            </m:e>
                            <m:lim>
                              <m:r>
                                <m:rPr>
                                  <m:sty m:val="p"/>
                                </m:rPr>
                                <a:rPr lang="en-US" altLang="zh-CN">
                                  <a:latin typeface="Cambria Math" panose="02040503050406030204" pitchFamily="18" charset="0"/>
                                </a:rPr>
                                <m:t>j</m:t>
                              </m:r>
                            </m:lim>
                          </m:limLow>
                        </m:fName>
                        <m:e>
                          <m:f>
                            <m:fPr>
                              <m:ctrlPr>
                                <a:rPr lang="en-US" altLang="zh-CN" i="1">
                                  <a:latin typeface="Cambria Math" panose="02040503050406030204" pitchFamily="18" charset="0"/>
                                </a:rPr>
                              </m:ctrlPr>
                            </m:fPr>
                            <m:num>
                              <m:sSub>
                                <m:sSubPr>
                                  <m:ctrlPr>
                                    <a:rPr lang="en-US" altLang="zh-CN" i="1" dirty="0">
                                      <a:latin typeface="Cambria Math" panose="02040503050406030204" pitchFamily="18" charset="0"/>
                                    </a:rPr>
                                  </m:ctrlPr>
                                </m:sSubPr>
                                <m:e>
                                  <m:d>
                                    <m:dPr>
                                      <m:ctrlPr>
                                        <a:rPr lang="en-US" altLang="zh-CN" i="1" dirty="0">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−1</m:t>
                                          </m:r>
                                        </m:sup>
                                      </m:sSup>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𝑏</m:t>
                                          </m:r>
                                        </m:e>
                                      </m:acc>
                                    </m:e>
                                  </m:d>
                                </m:e>
                                <m:sub>
                                  <m:r>
                                    <a:rPr lang="en-US" altLang="zh-CN" i="1" dirty="0">
                                      <a:latin typeface="Cambria Math" panose="02040503050406030204" pitchFamily="18" charset="0"/>
                                    </a:rPr>
                                    <m:t>𝑗</m:t>
                                  </m:r>
                                </m:sub>
                              </m:sSub>
                            </m:num>
                            <m:den>
                              <m:sSub>
                                <m:sSubPr>
                                  <m:ctrlPr>
                                    <a:rPr lang="en-US" altLang="zh-CN" i="1">
                                      <a:latin typeface="Cambria Math" panose="02040503050406030204" pitchFamily="18" charset="0"/>
                                    </a:rPr>
                                  </m:ctrlPr>
                                </m:sSubPr>
                                <m:e>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−1</m:t>
                                          </m:r>
                                        </m:sup>
                                      </m:sSup>
                                      <m:sSub>
                                        <m:sSubPr>
                                          <m:ctrlPr>
                                            <a:rPr lang="en-US" altLang="zh-CN" i="1" dirty="0">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𝐴</m:t>
                                              </m:r>
                                            </m:e>
                                          </m:acc>
                                        </m:e>
                                        <m:sub>
                                          <m:r>
                                            <a:rPr lang="en-US" altLang="zh-CN" i="1" dirty="0">
                                              <a:latin typeface="Cambria Math" panose="02040503050406030204" pitchFamily="18" charset="0"/>
                                            </a:rPr>
                                            <m:t>𝑁</m:t>
                                          </m:r>
                                          <m:r>
                                            <a:rPr lang="en-US" altLang="zh-CN" i="1" dirty="0">
                                              <a:latin typeface="Cambria Math" panose="02040503050406030204" pitchFamily="18" charset="0"/>
                                            </a:rPr>
                                            <m:t>,</m:t>
                                          </m:r>
                                          <m:r>
                                            <a:rPr lang="en-US" altLang="zh-CN" i="1" dirty="0">
                                              <a:latin typeface="Cambria Math" panose="02040503050406030204" pitchFamily="18" charset="0"/>
                                            </a:rPr>
                                            <m:t>𝑖</m:t>
                                          </m:r>
                                        </m:sub>
                                      </m:sSub>
                                    </m:e>
                                  </m:d>
                                </m:e>
                                <m:sub>
                                  <m:r>
                                    <a:rPr lang="en-US" altLang="zh-CN" i="1">
                                      <a:latin typeface="Cambria Math" panose="02040503050406030204" pitchFamily="18" charset="0"/>
                                    </a:rPr>
                                    <m:t>𝑗</m:t>
                                  </m:r>
                                </m:sub>
                              </m:sSub>
                            </m:den>
                          </m:f>
                        </m:e>
                      </m:func>
                      <m:r>
                        <a:rPr lang="en-US" altLang="zh-CN" i="1">
                          <a:latin typeface="Cambria Math" panose="02040503050406030204" pitchFamily="18" charset="0"/>
                        </a:rPr>
                        <m:t>|</m:t>
                      </m:r>
                      <m:sSub>
                        <m:sSubPr>
                          <m:ctrlPr>
                            <a:rPr lang="en-US" altLang="zh-CN" i="1">
                              <a:latin typeface="Cambria Math" panose="02040503050406030204" pitchFamily="18" charset="0"/>
                            </a:rPr>
                          </m:ctrlPr>
                        </m:sSubPr>
                        <m:e>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−1</m:t>
                                  </m:r>
                                </m:sup>
                              </m:sSup>
                              <m:sSub>
                                <m:sSubPr>
                                  <m:ctrlPr>
                                    <a:rPr lang="en-US" altLang="zh-CN" i="1" dirty="0">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𝐴</m:t>
                                      </m:r>
                                    </m:e>
                                  </m:acc>
                                </m:e>
                                <m:sub>
                                  <m:r>
                                    <a:rPr lang="en-US" altLang="zh-CN" i="1" dirty="0">
                                      <a:latin typeface="Cambria Math" panose="02040503050406030204" pitchFamily="18" charset="0"/>
                                    </a:rPr>
                                    <m:t>𝑁</m:t>
                                  </m:r>
                                  <m:r>
                                    <a:rPr lang="en-US" altLang="zh-CN" i="1" dirty="0">
                                      <a:latin typeface="Cambria Math" panose="02040503050406030204" pitchFamily="18" charset="0"/>
                                    </a:rPr>
                                    <m:t>,</m:t>
                                  </m:r>
                                  <m:r>
                                    <a:rPr lang="en-US" altLang="zh-CN" i="1" dirty="0">
                                      <a:latin typeface="Cambria Math" panose="02040503050406030204" pitchFamily="18" charset="0"/>
                                    </a:rPr>
                                    <m:t>𝑖</m:t>
                                  </m:r>
                                </m:sub>
                              </m:sSub>
                            </m:e>
                          </m:d>
                        </m:e>
                        <m:sub>
                          <m:r>
                            <a:rPr lang="en-US" altLang="zh-CN" i="1">
                              <a:latin typeface="Cambria Math" panose="02040503050406030204" pitchFamily="18" charset="0"/>
                            </a:rPr>
                            <m:t>𝑗</m:t>
                          </m:r>
                        </m:sub>
                      </m:sSub>
                      <m:r>
                        <a:rPr lang="en-US" altLang="zh-CN" i="1">
                          <a:latin typeface="Cambria Math" panose="02040503050406030204" pitchFamily="18" charset="0"/>
                        </a:rPr>
                        <m:t>&gt;0</m:t>
                      </m:r>
                    </m:oMath>
                  </m:oMathPara>
                </a14:m>
                <a:endParaRPr lang="en-US" altLang="zh-CN" dirty="0"/>
              </a:p>
            </p:txBody>
          </p:sp>
        </mc:Choice>
        <mc:Fallback xmlns="">
          <p:sp>
            <p:nvSpPr>
              <p:cNvPr id="5" name="矩形 4">
                <a:extLst>
                  <a:ext uri="{FF2B5EF4-FFF2-40B4-BE49-F238E27FC236}">
                    <a16:creationId xmlns:a16="http://schemas.microsoft.com/office/drawing/2014/main" id="{3FAD6F85-A758-488B-8799-EECC40CF6A8C}"/>
                  </a:ext>
                </a:extLst>
              </p:cNvPr>
              <p:cNvSpPr>
                <a:spLocks noRot="1" noChangeAspect="1" noMove="1" noResize="1" noEditPoints="1" noAdjustHandles="1" noChangeArrowheads="1" noChangeShapeType="1" noTextEdit="1"/>
              </p:cNvSpPr>
              <p:nvPr/>
            </p:nvSpPr>
            <p:spPr>
              <a:xfrm>
                <a:off x="4461941" y="2218836"/>
                <a:ext cx="4487319" cy="944939"/>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97EB5EE4-3A73-4454-BA47-A90E10E265E1}"/>
                  </a:ext>
                </a:extLst>
              </p:cNvPr>
              <p:cNvSpPr/>
              <p:nvPr/>
            </p:nvSpPr>
            <p:spPr>
              <a:xfrm>
                <a:off x="1003688" y="3011373"/>
                <a:ext cx="3158837" cy="3048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altLang="zh-CN" i="1">
                              <a:solidFill>
                                <a:schemeClr val="tx1"/>
                              </a:solidFill>
                              <a:latin typeface="Cambria Math" panose="02040503050406030204" pitchFamily="18" charset="0"/>
                            </a:rPr>
                          </m:ctrlPr>
                        </m:sSupPr>
                        <m:e>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𝑐</m:t>
                              </m:r>
                            </m:e>
                          </m:acc>
                        </m:e>
                        <m:sup>
                          <m:r>
                            <a:rPr lang="en-US" altLang="zh-CN" i="1">
                              <a:solidFill>
                                <a:schemeClr val="tx1"/>
                              </a:solidFill>
                              <a:latin typeface="Cambria Math" panose="02040503050406030204" pitchFamily="18" charset="0"/>
                            </a:rPr>
                            <m:t>𝑇</m:t>
                          </m:r>
                        </m:sup>
                      </m:sSup>
                    </m:oMath>
                  </m:oMathPara>
                </a14:m>
                <a:endParaRPr lang="zh-CN" altLang="en-US" dirty="0">
                  <a:solidFill>
                    <a:schemeClr val="tx1"/>
                  </a:solidFill>
                </a:endParaRPr>
              </a:p>
            </p:txBody>
          </p:sp>
        </mc:Choice>
        <mc:Fallback xmlns="">
          <p:sp>
            <p:nvSpPr>
              <p:cNvPr id="7" name="矩形 6">
                <a:extLst>
                  <a:ext uri="{FF2B5EF4-FFF2-40B4-BE49-F238E27FC236}">
                    <a16:creationId xmlns:a16="http://schemas.microsoft.com/office/drawing/2014/main" id="{97EB5EE4-3A73-4454-BA47-A90E10E265E1}"/>
                  </a:ext>
                </a:extLst>
              </p:cNvPr>
              <p:cNvSpPr>
                <a:spLocks noRot="1" noChangeAspect="1" noMove="1" noResize="1" noEditPoints="1" noAdjustHandles="1" noChangeArrowheads="1" noChangeShapeType="1" noTextEdit="1"/>
              </p:cNvSpPr>
              <p:nvPr/>
            </p:nvSpPr>
            <p:spPr>
              <a:xfrm>
                <a:off x="1003688" y="3011373"/>
                <a:ext cx="3158837" cy="304800"/>
              </a:xfrm>
              <a:prstGeom prst="rect">
                <a:avLst/>
              </a:prstGeom>
              <a:blipFill>
                <a:blip r:embed="rId4"/>
                <a:stretch>
                  <a:fillRect t="-34615" b="-19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EAF253BE-314F-402E-B643-916C3A9847AC}"/>
                  </a:ext>
                </a:extLst>
              </p:cNvPr>
              <p:cNvSpPr/>
              <p:nvPr/>
            </p:nvSpPr>
            <p:spPr>
              <a:xfrm>
                <a:off x="1003688" y="3429778"/>
                <a:ext cx="3158837" cy="13759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altLang="zh-CN" i="1">
                              <a:solidFill>
                                <a:schemeClr val="tx1"/>
                              </a:solidFill>
                              <a:latin typeface="Cambria Math" panose="02040503050406030204" pitchFamily="18" charset="0"/>
                            </a:rPr>
                          </m:ctrlPr>
                        </m:sSupPr>
                        <m:e>
                          <m:r>
                            <a:rPr lang="en-US" altLang="zh-CN" i="1">
                              <a:solidFill>
                                <a:schemeClr val="tx1"/>
                              </a:solidFill>
                              <a:latin typeface="Cambria Math" panose="02040503050406030204" pitchFamily="18" charset="0"/>
                            </a:rPr>
                            <m:t>𝐵</m:t>
                          </m:r>
                        </m:e>
                        <m:sup>
                          <m:r>
                            <a:rPr lang="en-US" altLang="zh-CN" i="1">
                              <a:solidFill>
                                <a:schemeClr val="tx1"/>
                              </a:solidFill>
                              <a:latin typeface="Cambria Math" panose="02040503050406030204" pitchFamily="18" charset="0"/>
                            </a:rPr>
                            <m:t>−1</m:t>
                          </m:r>
                        </m:sup>
                      </m:sSup>
                      <m:r>
                        <a:rPr lang="en-US" altLang="zh-CN" i="1" dirty="0">
                          <a:solidFill>
                            <a:schemeClr val="tx1"/>
                          </a:solidFill>
                          <a:latin typeface="Cambria Math" panose="02040503050406030204" pitchFamily="18" charset="0"/>
                        </a:rPr>
                        <m:t>𝐴</m:t>
                      </m:r>
                    </m:oMath>
                  </m:oMathPara>
                </a14:m>
                <a:endParaRPr lang="zh-CN" altLang="en-US" dirty="0">
                  <a:solidFill>
                    <a:schemeClr val="tx1"/>
                  </a:solidFill>
                </a:endParaRPr>
              </a:p>
            </p:txBody>
          </p:sp>
        </mc:Choice>
        <mc:Fallback xmlns="">
          <p:sp>
            <p:nvSpPr>
              <p:cNvPr id="8" name="矩形 7">
                <a:extLst>
                  <a:ext uri="{FF2B5EF4-FFF2-40B4-BE49-F238E27FC236}">
                    <a16:creationId xmlns:a16="http://schemas.microsoft.com/office/drawing/2014/main" id="{EAF253BE-314F-402E-B643-916C3A9847AC}"/>
                  </a:ext>
                </a:extLst>
              </p:cNvPr>
              <p:cNvSpPr>
                <a:spLocks noRot="1" noChangeAspect="1" noMove="1" noResize="1" noEditPoints="1" noAdjustHandles="1" noChangeArrowheads="1" noChangeShapeType="1" noTextEdit="1"/>
              </p:cNvSpPr>
              <p:nvPr/>
            </p:nvSpPr>
            <p:spPr>
              <a:xfrm>
                <a:off x="1003688" y="3429778"/>
                <a:ext cx="3158837" cy="137590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A0722959-B8AA-4C0A-9E47-F67725816EB4}"/>
                  </a:ext>
                </a:extLst>
              </p:cNvPr>
              <p:cNvSpPr/>
              <p:nvPr/>
            </p:nvSpPr>
            <p:spPr>
              <a:xfrm>
                <a:off x="628650" y="3429778"/>
                <a:ext cx="240722" cy="13759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rPr>
                          </m:ctrlPr>
                        </m:sSubPr>
                        <m:e>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𝑐</m:t>
                              </m:r>
                            </m:e>
                          </m:acc>
                        </m:e>
                        <m:sub>
                          <m:r>
                            <a:rPr lang="en-US" altLang="zh-CN" i="1">
                              <a:solidFill>
                                <a:schemeClr val="tx1"/>
                              </a:solidFill>
                              <a:latin typeface="Cambria Math" panose="02040503050406030204" pitchFamily="18" charset="0"/>
                            </a:rPr>
                            <m:t>𝐵</m:t>
                          </m:r>
                        </m:sub>
                      </m:sSub>
                    </m:oMath>
                  </m:oMathPara>
                </a14:m>
                <a:endParaRPr lang="zh-CN" altLang="en-US" dirty="0">
                  <a:solidFill>
                    <a:schemeClr val="tx1"/>
                  </a:solidFill>
                </a:endParaRPr>
              </a:p>
            </p:txBody>
          </p:sp>
        </mc:Choice>
        <mc:Fallback xmlns="">
          <p:sp>
            <p:nvSpPr>
              <p:cNvPr id="9" name="矩形 8">
                <a:extLst>
                  <a:ext uri="{FF2B5EF4-FFF2-40B4-BE49-F238E27FC236}">
                    <a16:creationId xmlns:a16="http://schemas.microsoft.com/office/drawing/2014/main" id="{A0722959-B8AA-4C0A-9E47-F67725816EB4}"/>
                  </a:ext>
                </a:extLst>
              </p:cNvPr>
              <p:cNvSpPr>
                <a:spLocks noRot="1" noChangeAspect="1" noMove="1" noResize="1" noEditPoints="1" noAdjustHandles="1" noChangeArrowheads="1" noChangeShapeType="1" noTextEdit="1"/>
              </p:cNvSpPr>
              <p:nvPr/>
            </p:nvSpPr>
            <p:spPr>
              <a:xfrm>
                <a:off x="628650" y="3429778"/>
                <a:ext cx="240722" cy="1375900"/>
              </a:xfrm>
              <a:prstGeom prst="rect">
                <a:avLst/>
              </a:prstGeom>
              <a:blipFill>
                <a:blip r:embed="rId6"/>
                <a:stretch>
                  <a:fillRect l="-38095" r="-23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75BAC72B-2F01-4595-9FE4-CAE4E390D9C8}"/>
                  </a:ext>
                </a:extLst>
              </p:cNvPr>
              <p:cNvSpPr/>
              <p:nvPr/>
            </p:nvSpPr>
            <p:spPr>
              <a:xfrm>
                <a:off x="1003688" y="4919284"/>
                <a:ext cx="3158837" cy="3048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altLang="zh-CN" i="1">
                              <a:solidFill>
                                <a:schemeClr val="tx1"/>
                              </a:solidFill>
                              <a:latin typeface="Cambria Math" panose="02040503050406030204" pitchFamily="18" charset="0"/>
                            </a:rPr>
                          </m:ctrlPr>
                        </m:sSupPr>
                        <m:e>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𝜎</m:t>
                              </m:r>
                            </m:e>
                          </m:acc>
                        </m:e>
                        <m:sup>
                          <m:r>
                            <a:rPr lang="en-US" altLang="zh-CN" i="1">
                              <a:solidFill>
                                <a:schemeClr val="tx1"/>
                              </a:solidFill>
                              <a:latin typeface="Cambria Math" panose="02040503050406030204" pitchFamily="18" charset="0"/>
                            </a:rPr>
                            <m:t>𝑇</m:t>
                          </m:r>
                        </m:sup>
                      </m:sSup>
                    </m:oMath>
                  </m:oMathPara>
                </a14:m>
                <a:endParaRPr lang="zh-CN" altLang="en-US" dirty="0">
                  <a:solidFill>
                    <a:schemeClr val="tx1"/>
                  </a:solidFill>
                </a:endParaRPr>
              </a:p>
            </p:txBody>
          </p:sp>
        </mc:Choice>
        <mc:Fallback xmlns="">
          <p:sp>
            <p:nvSpPr>
              <p:cNvPr id="10" name="矩形 9">
                <a:extLst>
                  <a:ext uri="{FF2B5EF4-FFF2-40B4-BE49-F238E27FC236}">
                    <a16:creationId xmlns:a16="http://schemas.microsoft.com/office/drawing/2014/main" id="{75BAC72B-2F01-4595-9FE4-CAE4E390D9C8}"/>
                  </a:ext>
                </a:extLst>
              </p:cNvPr>
              <p:cNvSpPr>
                <a:spLocks noRot="1" noChangeAspect="1" noMove="1" noResize="1" noEditPoints="1" noAdjustHandles="1" noChangeArrowheads="1" noChangeShapeType="1" noTextEdit="1"/>
              </p:cNvSpPr>
              <p:nvPr/>
            </p:nvSpPr>
            <p:spPr>
              <a:xfrm>
                <a:off x="1003688" y="4919284"/>
                <a:ext cx="3158837" cy="304800"/>
              </a:xfrm>
              <a:prstGeom prst="rect">
                <a:avLst/>
              </a:prstGeom>
              <a:blipFill>
                <a:blip r:embed="rId7"/>
                <a:stretch>
                  <a:fillRect t="-34615" b="-19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DF7A800C-A50A-450E-9FEB-67C3AFE6B2E8}"/>
                  </a:ext>
                </a:extLst>
              </p:cNvPr>
              <p:cNvSpPr/>
              <p:nvPr/>
            </p:nvSpPr>
            <p:spPr>
              <a:xfrm>
                <a:off x="4640627" y="3429000"/>
                <a:ext cx="410257" cy="13759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altLang="zh-CN" sz="1200" i="1">
                              <a:solidFill>
                                <a:schemeClr val="tx1"/>
                              </a:solidFill>
                              <a:latin typeface="Cambria Math" panose="02040503050406030204" pitchFamily="18" charset="0"/>
                            </a:rPr>
                          </m:ctrlPr>
                        </m:sSupPr>
                        <m:e>
                          <m:r>
                            <a:rPr lang="en-US" altLang="zh-CN" sz="1200" i="1">
                              <a:solidFill>
                                <a:schemeClr val="tx1"/>
                              </a:solidFill>
                              <a:latin typeface="Cambria Math" panose="02040503050406030204" pitchFamily="18" charset="0"/>
                            </a:rPr>
                            <m:t>𝐵</m:t>
                          </m:r>
                        </m:e>
                        <m:sup>
                          <m:r>
                            <a:rPr lang="en-US" altLang="zh-CN" sz="1200" i="1">
                              <a:solidFill>
                                <a:schemeClr val="tx1"/>
                              </a:solidFill>
                              <a:latin typeface="Cambria Math" panose="02040503050406030204" pitchFamily="18" charset="0"/>
                            </a:rPr>
                            <m:t>−1</m:t>
                          </m:r>
                        </m:sup>
                      </m:sSup>
                      <m:sSub>
                        <m:sSubPr>
                          <m:ctrlPr>
                            <a:rPr lang="en-US" altLang="zh-CN" sz="1200" i="1" dirty="0">
                              <a:solidFill>
                                <a:schemeClr val="tx1"/>
                              </a:solidFill>
                              <a:latin typeface="Cambria Math" panose="02040503050406030204" pitchFamily="18" charset="0"/>
                            </a:rPr>
                          </m:ctrlPr>
                        </m:sSubPr>
                        <m:e>
                          <m:acc>
                            <m:accPr>
                              <m:chr m:val="⃗"/>
                              <m:ctrlPr>
                                <a:rPr lang="en-US" altLang="zh-CN" sz="1200" i="1" dirty="0">
                                  <a:solidFill>
                                    <a:schemeClr val="tx1"/>
                                  </a:solidFill>
                                  <a:latin typeface="Cambria Math" panose="02040503050406030204" pitchFamily="18" charset="0"/>
                                </a:rPr>
                              </m:ctrlPr>
                            </m:accPr>
                            <m:e>
                              <m:r>
                                <a:rPr lang="en-US" altLang="zh-CN" sz="1200" i="1" dirty="0">
                                  <a:solidFill>
                                    <a:schemeClr val="tx1"/>
                                  </a:solidFill>
                                  <a:latin typeface="Cambria Math" panose="02040503050406030204" pitchFamily="18" charset="0"/>
                                </a:rPr>
                                <m:t>𝐴</m:t>
                              </m:r>
                            </m:e>
                          </m:acc>
                        </m:e>
                        <m:sub>
                          <m:r>
                            <a:rPr lang="en-US" altLang="zh-CN" sz="1200" i="1" dirty="0">
                              <a:solidFill>
                                <a:schemeClr val="tx1"/>
                              </a:solidFill>
                              <a:latin typeface="Cambria Math" panose="02040503050406030204" pitchFamily="18" charset="0"/>
                            </a:rPr>
                            <m:t>1</m:t>
                          </m:r>
                        </m:sub>
                      </m:sSub>
                    </m:oMath>
                  </m:oMathPara>
                </a14:m>
                <a:endParaRPr lang="zh-CN" altLang="en-US" sz="1200" dirty="0">
                  <a:solidFill>
                    <a:schemeClr val="tx1"/>
                  </a:solidFill>
                </a:endParaRPr>
              </a:p>
            </p:txBody>
          </p:sp>
        </mc:Choice>
        <mc:Fallback xmlns="">
          <p:sp>
            <p:nvSpPr>
              <p:cNvPr id="12" name="矩形 11">
                <a:extLst>
                  <a:ext uri="{FF2B5EF4-FFF2-40B4-BE49-F238E27FC236}">
                    <a16:creationId xmlns:a16="http://schemas.microsoft.com/office/drawing/2014/main" id="{DF7A800C-A50A-450E-9FEB-67C3AFE6B2E8}"/>
                  </a:ext>
                </a:extLst>
              </p:cNvPr>
              <p:cNvSpPr>
                <a:spLocks noRot="1" noChangeAspect="1" noMove="1" noResize="1" noEditPoints="1" noAdjustHandles="1" noChangeArrowheads="1" noChangeShapeType="1" noTextEdit="1"/>
              </p:cNvSpPr>
              <p:nvPr/>
            </p:nvSpPr>
            <p:spPr>
              <a:xfrm>
                <a:off x="4640627" y="3429000"/>
                <a:ext cx="410257" cy="1375900"/>
              </a:xfrm>
              <a:prstGeom prst="rect">
                <a:avLst/>
              </a:prstGeom>
              <a:blipFill>
                <a:blip r:embed="rId8"/>
                <a:stretch>
                  <a:fillRect l="-17143" r="-3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C25E0FB7-1BEB-42B3-B1EF-3C2CB50CEDA0}"/>
                  </a:ext>
                </a:extLst>
              </p:cNvPr>
              <p:cNvSpPr/>
              <p:nvPr/>
            </p:nvSpPr>
            <p:spPr>
              <a:xfrm>
                <a:off x="5105079" y="3429000"/>
                <a:ext cx="410257" cy="13759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altLang="zh-CN" sz="1200" i="1">
                              <a:solidFill>
                                <a:schemeClr val="tx1"/>
                              </a:solidFill>
                              <a:latin typeface="Cambria Math" panose="02040503050406030204" pitchFamily="18" charset="0"/>
                            </a:rPr>
                          </m:ctrlPr>
                        </m:sSupPr>
                        <m:e>
                          <m:r>
                            <a:rPr lang="en-US" altLang="zh-CN" sz="1200" i="1">
                              <a:solidFill>
                                <a:schemeClr val="tx1"/>
                              </a:solidFill>
                              <a:latin typeface="Cambria Math" panose="02040503050406030204" pitchFamily="18" charset="0"/>
                            </a:rPr>
                            <m:t>𝐵</m:t>
                          </m:r>
                        </m:e>
                        <m:sup>
                          <m:r>
                            <a:rPr lang="en-US" altLang="zh-CN" sz="1200" i="1">
                              <a:solidFill>
                                <a:schemeClr val="tx1"/>
                              </a:solidFill>
                              <a:latin typeface="Cambria Math" panose="02040503050406030204" pitchFamily="18" charset="0"/>
                            </a:rPr>
                            <m:t>−1</m:t>
                          </m:r>
                        </m:sup>
                      </m:sSup>
                      <m:sSub>
                        <m:sSubPr>
                          <m:ctrlPr>
                            <a:rPr lang="en-US" altLang="zh-CN" sz="1200" i="1" dirty="0">
                              <a:solidFill>
                                <a:schemeClr val="tx1"/>
                              </a:solidFill>
                              <a:latin typeface="Cambria Math" panose="02040503050406030204" pitchFamily="18" charset="0"/>
                            </a:rPr>
                          </m:ctrlPr>
                        </m:sSubPr>
                        <m:e>
                          <m:acc>
                            <m:accPr>
                              <m:chr m:val="⃗"/>
                              <m:ctrlPr>
                                <a:rPr lang="en-US" altLang="zh-CN" sz="1200" i="1" dirty="0">
                                  <a:solidFill>
                                    <a:schemeClr val="tx1"/>
                                  </a:solidFill>
                                  <a:latin typeface="Cambria Math" panose="02040503050406030204" pitchFamily="18" charset="0"/>
                                </a:rPr>
                              </m:ctrlPr>
                            </m:accPr>
                            <m:e>
                              <m:r>
                                <a:rPr lang="en-US" altLang="zh-CN" sz="1200" i="1" dirty="0">
                                  <a:solidFill>
                                    <a:schemeClr val="tx1"/>
                                  </a:solidFill>
                                  <a:latin typeface="Cambria Math" panose="02040503050406030204" pitchFamily="18" charset="0"/>
                                </a:rPr>
                                <m:t>𝐴</m:t>
                              </m:r>
                            </m:e>
                          </m:acc>
                        </m:e>
                        <m:sub>
                          <m:r>
                            <a:rPr lang="en-US" altLang="zh-CN" sz="1200" i="1" dirty="0">
                              <a:solidFill>
                                <a:schemeClr val="tx1"/>
                              </a:solidFill>
                              <a:latin typeface="Cambria Math" panose="02040503050406030204" pitchFamily="18" charset="0"/>
                            </a:rPr>
                            <m:t>2</m:t>
                          </m:r>
                        </m:sub>
                      </m:sSub>
                    </m:oMath>
                  </m:oMathPara>
                </a14:m>
                <a:endParaRPr lang="zh-CN" altLang="en-US" sz="1200" dirty="0">
                  <a:solidFill>
                    <a:schemeClr val="tx1"/>
                  </a:solidFill>
                </a:endParaRPr>
              </a:p>
            </p:txBody>
          </p:sp>
        </mc:Choice>
        <mc:Fallback xmlns="">
          <p:sp>
            <p:nvSpPr>
              <p:cNvPr id="13" name="矩形 12">
                <a:extLst>
                  <a:ext uri="{FF2B5EF4-FFF2-40B4-BE49-F238E27FC236}">
                    <a16:creationId xmlns:a16="http://schemas.microsoft.com/office/drawing/2014/main" id="{C25E0FB7-1BEB-42B3-B1EF-3C2CB50CEDA0}"/>
                  </a:ext>
                </a:extLst>
              </p:cNvPr>
              <p:cNvSpPr>
                <a:spLocks noRot="1" noChangeAspect="1" noMove="1" noResize="1" noEditPoints="1" noAdjustHandles="1" noChangeArrowheads="1" noChangeShapeType="1" noTextEdit="1"/>
              </p:cNvSpPr>
              <p:nvPr/>
            </p:nvSpPr>
            <p:spPr>
              <a:xfrm>
                <a:off x="5105079" y="3429000"/>
                <a:ext cx="410257" cy="1375900"/>
              </a:xfrm>
              <a:prstGeom prst="rect">
                <a:avLst/>
              </a:prstGeom>
              <a:blipFill>
                <a:blip r:embed="rId9"/>
                <a:stretch>
                  <a:fillRect l="-17143" r="-3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4562455A-FEF9-494D-BD1D-9A9AC1F3B13A}"/>
                  </a:ext>
                </a:extLst>
              </p:cNvPr>
              <p:cNvSpPr/>
              <p:nvPr/>
            </p:nvSpPr>
            <p:spPr>
              <a:xfrm>
                <a:off x="5570300" y="3429000"/>
                <a:ext cx="410257" cy="13759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altLang="zh-CN" sz="1200" i="1">
                              <a:solidFill>
                                <a:schemeClr val="tx1"/>
                              </a:solidFill>
                              <a:latin typeface="Cambria Math" panose="02040503050406030204" pitchFamily="18" charset="0"/>
                            </a:rPr>
                          </m:ctrlPr>
                        </m:sSupPr>
                        <m:e>
                          <m:r>
                            <a:rPr lang="en-US" altLang="zh-CN" sz="1200" i="1">
                              <a:solidFill>
                                <a:schemeClr val="tx1"/>
                              </a:solidFill>
                              <a:latin typeface="Cambria Math" panose="02040503050406030204" pitchFamily="18" charset="0"/>
                            </a:rPr>
                            <m:t>𝐵</m:t>
                          </m:r>
                        </m:e>
                        <m:sup>
                          <m:r>
                            <a:rPr lang="en-US" altLang="zh-CN" sz="1200" i="1">
                              <a:solidFill>
                                <a:schemeClr val="tx1"/>
                              </a:solidFill>
                              <a:latin typeface="Cambria Math" panose="02040503050406030204" pitchFamily="18" charset="0"/>
                            </a:rPr>
                            <m:t>−1</m:t>
                          </m:r>
                        </m:sup>
                      </m:sSup>
                      <m:sSub>
                        <m:sSubPr>
                          <m:ctrlPr>
                            <a:rPr lang="en-US" altLang="zh-CN" sz="1200" i="1" dirty="0">
                              <a:solidFill>
                                <a:schemeClr val="tx1"/>
                              </a:solidFill>
                              <a:latin typeface="Cambria Math" panose="02040503050406030204" pitchFamily="18" charset="0"/>
                            </a:rPr>
                          </m:ctrlPr>
                        </m:sSubPr>
                        <m:e>
                          <m:acc>
                            <m:accPr>
                              <m:chr m:val="⃗"/>
                              <m:ctrlPr>
                                <a:rPr lang="en-US" altLang="zh-CN" sz="1200" i="1" dirty="0">
                                  <a:solidFill>
                                    <a:schemeClr val="tx1"/>
                                  </a:solidFill>
                                  <a:latin typeface="Cambria Math" panose="02040503050406030204" pitchFamily="18" charset="0"/>
                                </a:rPr>
                              </m:ctrlPr>
                            </m:accPr>
                            <m:e>
                              <m:r>
                                <a:rPr lang="en-US" altLang="zh-CN" sz="1200" i="1" dirty="0">
                                  <a:solidFill>
                                    <a:schemeClr val="tx1"/>
                                  </a:solidFill>
                                  <a:latin typeface="Cambria Math" panose="02040503050406030204" pitchFamily="18" charset="0"/>
                                </a:rPr>
                                <m:t>𝐴</m:t>
                              </m:r>
                            </m:e>
                          </m:acc>
                        </m:e>
                        <m:sub>
                          <m:r>
                            <a:rPr lang="en-US" altLang="zh-CN" sz="1200" i="1" dirty="0">
                              <a:solidFill>
                                <a:schemeClr val="tx1"/>
                              </a:solidFill>
                              <a:latin typeface="Cambria Math" panose="02040503050406030204" pitchFamily="18" charset="0"/>
                            </a:rPr>
                            <m:t>3</m:t>
                          </m:r>
                        </m:sub>
                      </m:sSub>
                    </m:oMath>
                  </m:oMathPara>
                </a14:m>
                <a:endParaRPr lang="zh-CN" altLang="en-US" sz="1200" dirty="0">
                  <a:solidFill>
                    <a:schemeClr val="tx1"/>
                  </a:solidFill>
                </a:endParaRPr>
              </a:p>
            </p:txBody>
          </p:sp>
        </mc:Choice>
        <mc:Fallback xmlns="">
          <p:sp>
            <p:nvSpPr>
              <p:cNvPr id="14" name="矩形 13">
                <a:extLst>
                  <a:ext uri="{FF2B5EF4-FFF2-40B4-BE49-F238E27FC236}">
                    <a16:creationId xmlns:a16="http://schemas.microsoft.com/office/drawing/2014/main" id="{4562455A-FEF9-494D-BD1D-9A9AC1F3B13A}"/>
                  </a:ext>
                </a:extLst>
              </p:cNvPr>
              <p:cNvSpPr>
                <a:spLocks noRot="1" noChangeAspect="1" noMove="1" noResize="1" noEditPoints="1" noAdjustHandles="1" noChangeArrowheads="1" noChangeShapeType="1" noTextEdit="1"/>
              </p:cNvSpPr>
              <p:nvPr/>
            </p:nvSpPr>
            <p:spPr>
              <a:xfrm>
                <a:off x="5570300" y="3429000"/>
                <a:ext cx="410257" cy="1375900"/>
              </a:xfrm>
              <a:prstGeom prst="rect">
                <a:avLst/>
              </a:prstGeom>
              <a:blipFill>
                <a:blip r:embed="rId10"/>
                <a:stretch>
                  <a:fillRect l="-17391" r="-347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648C387A-8EA1-4AC9-BA80-F9E00A39ECD5}"/>
                  </a:ext>
                </a:extLst>
              </p:cNvPr>
              <p:cNvSpPr/>
              <p:nvPr/>
            </p:nvSpPr>
            <p:spPr>
              <a:xfrm>
                <a:off x="6385592" y="3429000"/>
                <a:ext cx="410257" cy="13759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altLang="zh-CN" sz="1200" i="1">
                              <a:solidFill>
                                <a:schemeClr val="tx1"/>
                              </a:solidFill>
                              <a:latin typeface="Cambria Math" panose="02040503050406030204" pitchFamily="18" charset="0"/>
                            </a:rPr>
                          </m:ctrlPr>
                        </m:sSupPr>
                        <m:e>
                          <m:r>
                            <a:rPr lang="en-US" altLang="zh-CN" sz="1200" i="1">
                              <a:solidFill>
                                <a:schemeClr val="tx1"/>
                              </a:solidFill>
                              <a:latin typeface="Cambria Math" panose="02040503050406030204" pitchFamily="18" charset="0"/>
                            </a:rPr>
                            <m:t>𝐵</m:t>
                          </m:r>
                        </m:e>
                        <m:sup>
                          <m:r>
                            <a:rPr lang="en-US" altLang="zh-CN" sz="1200" i="1">
                              <a:solidFill>
                                <a:schemeClr val="tx1"/>
                              </a:solidFill>
                              <a:latin typeface="Cambria Math" panose="02040503050406030204" pitchFamily="18" charset="0"/>
                            </a:rPr>
                            <m:t>−1</m:t>
                          </m:r>
                        </m:sup>
                      </m:sSup>
                      <m:sSub>
                        <m:sSubPr>
                          <m:ctrlPr>
                            <a:rPr lang="en-US" altLang="zh-CN" sz="1200" i="1" dirty="0">
                              <a:solidFill>
                                <a:schemeClr val="tx1"/>
                              </a:solidFill>
                              <a:latin typeface="Cambria Math" panose="02040503050406030204" pitchFamily="18" charset="0"/>
                            </a:rPr>
                          </m:ctrlPr>
                        </m:sSubPr>
                        <m:e>
                          <m:acc>
                            <m:accPr>
                              <m:chr m:val="⃗"/>
                              <m:ctrlPr>
                                <a:rPr lang="en-US" altLang="zh-CN" sz="1200" i="1" dirty="0">
                                  <a:solidFill>
                                    <a:schemeClr val="tx1"/>
                                  </a:solidFill>
                                  <a:latin typeface="Cambria Math" panose="02040503050406030204" pitchFamily="18" charset="0"/>
                                </a:rPr>
                              </m:ctrlPr>
                            </m:accPr>
                            <m:e>
                              <m:r>
                                <a:rPr lang="en-US" altLang="zh-CN" sz="1200" i="1" dirty="0">
                                  <a:solidFill>
                                    <a:schemeClr val="tx1"/>
                                  </a:solidFill>
                                  <a:latin typeface="Cambria Math" panose="02040503050406030204" pitchFamily="18" charset="0"/>
                                </a:rPr>
                                <m:t>𝐴</m:t>
                              </m:r>
                            </m:e>
                          </m:acc>
                        </m:e>
                        <m:sub>
                          <m:r>
                            <a:rPr lang="en-US" altLang="zh-CN" sz="1200" i="1" dirty="0">
                              <a:solidFill>
                                <a:schemeClr val="tx1"/>
                              </a:solidFill>
                              <a:latin typeface="Cambria Math" panose="02040503050406030204" pitchFamily="18" charset="0"/>
                            </a:rPr>
                            <m:t>𝑛</m:t>
                          </m:r>
                        </m:sub>
                      </m:sSub>
                    </m:oMath>
                  </m:oMathPara>
                </a14:m>
                <a:endParaRPr lang="zh-CN" altLang="en-US" sz="1200" dirty="0">
                  <a:solidFill>
                    <a:schemeClr val="tx1"/>
                  </a:solidFill>
                </a:endParaRPr>
              </a:p>
            </p:txBody>
          </p:sp>
        </mc:Choice>
        <mc:Fallback xmlns="">
          <p:sp>
            <p:nvSpPr>
              <p:cNvPr id="15" name="矩形 14">
                <a:extLst>
                  <a:ext uri="{FF2B5EF4-FFF2-40B4-BE49-F238E27FC236}">
                    <a16:creationId xmlns:a16="http://schemas.microsoft.com/office/drawing/2014/main" id="{648C387A-8EA1-4AC9-BA80-F9E00A39ECD5}"/>
                  </a:ext>
                </a:extLst>
              </p:cNvPr>
              <p:cNvSpPr>
                <a:spLocks noRot="1" noChangeAspect="1" noMove="1" noResize="1" noEditPoints="1" noAdjustHandles="1" noChangeArrowheads="1" noChangeShapeType="1" noTextEdit="1"/>
              </p:cNvSpPr>
              <p:nvPr/>
            </p:nvSpPr>
            <p:spPr>
              <a:xfrm>
                <a:off x="6385592" y="3429000"/>
                <a:ext cx="410257" cy="1375900"/>
              </a:xfrm>
              <a:prstGeom prst="rect">
                <a:avLst/>
              </a:prstGeom>
              <a:blipFill>
                <a:blip r:embed="rId11"/>
                <a:stretch>
                  <a:fillRect l="-18841" r="-3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09C50543-CEFC-4863-A762-E677FB657745}"/>
                  </a:ext>
                </a:extLst>
              </p:cNvPr>
              <p:cNvSpPr txBox="1"/>
              <p:nvPr/>
            </p:nvSpPr>
            <p:spPr>
              <a:xfrm>
                <a:off x="5975333" y="3932284"/>
                <a:ext cx="44435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oMath>
                  </m:oMathPara>
                </a14:m>
                <a:endParaRPr lang="zh-CN" altLang="en-US" dirty="0"/>
              </a:p>
            </p:txBody>
          </p:sp>
        </mc:Choice>
        <mc:Fallback xmlns="">
          <p:sp>
            <p:nvSpPr>
              <p:cNvPr id="16" name="文本框 15">
                <a:extLst>
                  <a:ext uri="{FF2B5EF4-FFF2-40B4-BE49-F238E27FC236}">
                    <a16:creationId xmlns:a16="http://schemas.microsoft.com/office/drawing/2014/main" id="{09C50543-CEFC-4863-A762-E677FB657745}"/>
                  </a:ext>
                </a:extLst>
              </p:cNvPr>
              <p:cNvSpPr txBox="1">
                <a:spLocks noRot="1" noChangeAspect="1" noMove="1" noResize="1" noEditPoints="1" noAdjustHandles="1" noChangeArrowheads="1" noChangeShapeType="1" noTextEdit="1"/>
              </p:cNvSpPr>
              <p:nvPr/>
            </p:nvSpPr>
            <p:spPr>
              <a:xfrm>
                <a:off x="5975333" y="3932284"/>
                <a:ext cx="444352" cy="369332"/>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9CD460A9-42FA-4BDF-AD9A-29D3938D1704}"/>
                  </a:ext>
                </a:extLst>
              </p:cNvPr>
              <p:cNvSpPr/>
              <p:nvPr/>
            </p:nvSpPr>
            <p:spPr>
              <a:xfrm>
                <a:off x="7496993" y="3429000"/>
                <a:ext cx="410257" cy="13759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altLang="zh-CN" sz="1200" i="1">
                              <a:solidFill>
                                <a:sysClr val="windowText" lastClr="000000"/>
                              </a:solidFill>
                              <a:latin typeface="Cambria Math" panose="02040503050406030204" pitchFamily="18" charset="0"/>
                            </a:rPr>
                          </m:ctrlPr>
                        </m:sSupPr>
                        <m:e>
                          <m:r>
                            <a:rPr lang="en-US" altLang="zh-CN" sz="1200" i="1">
                              <a:solidFill>
                                <a:sysClr val="windowText" lastClr="000000"/>
                              </a:solidFill>
                              <a:latin typeface="Cambria Math" panose="02040503050406030204" pitchFamily="18" charset="0"/>
                            </a:rPr>
                            <m:t>𝐵</m:t>
                          </m:r>
                        </m:e>
                        <m:sup>
                          <m:r>
                            <a:rPr lang="en-US" altLang="zh-CN" sz="1200" i="1">
                              <a:solidFill>
                                <a:sysClr val="windowText" lastClr="000000"/>
                              </a:solidFill>
                              <a:latin typeface="Cambria Math" panose="02040503050406030204" pitchFamily="18" charset="0"/>
                            </a:rPr>
                            <m:t>−1</m:t>
                          </m:r>
                        </m:sup>
                      </m:sSup>
                      <m:acc>
                        <m:accPr>
                          <m:chr m:val="⃗"/>
                          <m:ctrlPr>
                            <a:rPr lang="en-US" altLang="zh-CN" sz="1200" i="1">
                              <a:solidFill>
                                <a:sysClr val="windowText" lastClr="000000"/>
                              </a:solidFill>
                              <a:latin typeface="Cambria Math" panose="02040503050406030204" pitchFamily="18" charset="0"/>
                            </a:rPr>
                          </m:ctrlPr>
                        </m:accPr>
                        <m:e>
                          <m:r>
                            <a:rPr lang="en-US" altLang="zh-CN" sz="1200" i="1">
                              <a:solidFill>
                                <a:sysClr val="windowText" lastClr="000000"/>
                              </a:solidFill>
                              <a:latin typeface="Cambria Math" panose="02040503050406030204" pitchFamily="18" charset="0"/>
                            </a:rPr>
                            <m:t>𝑏</m:t>
                          </m:r>
                        </m:e>
                      </m:acc>
                    </m:oMath>
                  </m:oMathPara>
                </a14:m>
                <a:endParaRPr lang="zh-CN" altLang="en-US" sz="1200" dirty="0">
                  <a:solidFill>
                    <a:sysClr val="windowText" lastClr="000000"/>
                  </a:solidFill>
                </a:endParaRPr>
              </a:p>
            </p:txBody>
          </p:sp>
        </mc:Choice>
        <mc:Fallback xmlns="">
          <p:sp>
            <p:nvSpPr>
              <p:cNvPr id="17" name="矩形 16">
                <a:extLst>
                  <a:ext uri="{FF2B5EF4-FFF2-40B4-BE49-F238E27FC236}">
                    <a16:creationId xmlns:a16="http://schemas.microsoft.com/office/drawing/2014/main" id="{9CD460A9-42FA-4BDF-AD9A-29D3938D1704}"/>
                  </a:ext>
                </a:extLst>
              </p:cNvPr>
              <p:cNvSpPr>
                <a:spLocks noRot="1" noChangeAspect="1" noMove="1" noResize="1" noEditPoints="1" noAdjustHandles="1" noChangeArrowheads="1" noChangeShapeType="1" noTextEdit="1"/>
              </p:cNvSpPr>
              <p:nvPr/>
            </p:nvSpPr>
            <p:spPr>
              <a:xfrm>
                <a:off x="7496993" y="3429000"/>
                <a:ext cx="410257" cy="1375900"/>
              </a:xfrm>
              <a:prstGeom prst="rect">
                <a:avLst/>
              </a:prstGeom>
              <a:blipFill>
                <a:blip r:embed="rId13"/>
                <a:stretch>
                  <a:fillRect l="-7246"/>
                </a:stretch>
              </a:blipFill>
            </p:spPr>
            <p:txBody>
              <a:bodyPr/>
              <a:lstStyle/>
              <a:p>
                <a:r>
                  <a:rPr lang="zh-CN" altLang="en-US">
                    <a:noFill/>
                  </a:rPr>
                  <a:t> </a:t>
                </a:r>
              </a:p>
            </p:txBody>
          </p:sp>
        </mc:Fallback>
      </mc:AlternateContent>
      <p:sp>
        <p:nvSpPr>
          <p:cNvPr id="18" name="箭头: 右 17">
            <a:extLst>
              <a:ext uri="{FF2B5EF4-FFF2-40B4-BE49-F238E27FC236}">
                <a16:creationId xmlns:a16="http://schemas.microsoft.com/office/drawing/2014/main" id="{90A59436-627B-453A-B1EC-315A0F51ABF5}"/>
              </a:ext>
            </a:extLst>
          </p:cNvPr>
          <p:cNvSpPr/>
          <p:nvPr/>
        </p:nvSpPr>
        <p:spPr>
          <a:xfrm>
            <a:off x="4304147" y="4007866"/>
            <a:ext cx="199231" cy="2197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4AAB2455-C1B8-4192-81E6-5FCC7A1D21E8}"/>
              </a:ext>
            </a:extLst>
          </p:cNvPr>
          <p:cNvSpPr/>
          <p:nvPr/>
        </p:nvSpPr>
        <p:spPr>
          <a:xfrm>
            <a:off x="4546959" y="3548030"/>
            <a:ext cx="3677265" cy="238057"/>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mc:AlternateContent xmlns:mc="http://schemas.openxmlformats.org/markup-compatibility/2006">
        <mc:Choice xmlns:a14="http://schemas.microsoft.com/office/drawing/2010/main" Requires="a14">
          <p:sp>
            <p:nvSpPr>
              <p:cNvPr id="11" name="文本框 10">
                <a:extLst>
                  <a:ext uri="{FF2B5EF4-FFF2-40B4-BE49-F238E27FC236}">
                    <a16:creationId xmlns:a16="http://schemas.microsoft.com/office/drawing/2014/main" id="{2DAE18E8-46A3-46F4-B33E-B2548461FD96}"/>
                  </a:ext>
                </a:extLst>
              </p:cNvPr>
              <p:cNvSpPr txBox="1"/>
              <p:nvPr/>
            </p:nvSpPr>
            <p:spPr>
              <a:xfrm>
                <a:off x="5353833" y="4951099"/>
                <a:ext cx="2401189" cy="1254318"/>
              </a:xfrm>
              <a:prstGeom prst="rect">
                <a:avLst/>
              </a:prstGeom>
              <a:noFill/>
            </p:spPr>
            <p:txBody>
              <a:bodyPr wrap="square" rtlCol="0">
                <a:spAutoFit/>
              </a:bodyPr>
              <a:lstStyle/>
              <a:p>
                <a:r>
                  <a:rPr lang="zh-CN" altLang="en-US" dirty="0"/>
                  <a:t>确定了换入变量后，找到</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−1</m:t>
                        </m:r>
                      </m:sup>
                    </m:sSup>
                    <m:sSub>
                      <m:sSubPr>
                        <m:ctrlPr>
                          <a:rPr lang="en-US" altLang="zh-CN" i="1" dirty="0">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𝐴</m:t>
                            </m:r>
                          </m:e>
                        </m:acc>
                      </m:e>
                      <m:sub>
                        <m:r>
                          <a:rPr lang="en-US" altLang="zh-CN" i="1" dirty="0">
                            <a:latin typeface="Cambria Math" panose="02040503050406030204" pitchFamily="18" charset="0"/>
                          </a:rPr>
                          <m:t>𝑁</m:t>
                        </m:r>
                        <m:r>
                          <a:rPr lang="en-US" altLang="zh-CN" i="1" dirty="0">
                            <a:latin typeface="Cambria Math" panose="02040503050406030204" pitchFamily="18" charset="0"/>
                          </a:rPr>
                          <m:t>,</m:t>
                        </m:r>
                        <m:r>
                          <a:rPr lang="en-US" altLang="zh-CN" i="1" dirty="0">
                            <a:latin typeface="Cambria Math" panose="02040503050406030204" pitchFamily="18" charset="0"/>
                          </a:rPr>
                          <m:t>𝑖</m:t>
                        </m:r>
                      </m:sub>
                    </m:sSub>
                  </m:oMath>
                </a14:m>
                <a:r>
                  <a:rPr lang="zh-CN" altLang="en-US" dirty="0"/>
                  <a:t>中小于零的项，用同一行的数相除，确定换出变量</a:t>
                </a:r>
              </a:p>
            </p:txBody>
          </p:sp>
        </mc:Choice>
        <mc:Fallback>
          <p:sp>
            <p:nvSpPr>
              <p:cNvPr id="11" name="文本框 10">
                <a:extLst>
                  <a:ext uri="{FF2B5EF4-FFF2-40B4-BE49-F238E27FC236}">
                    <a16:creationId xmlns:a16="http://schemas.microsoft.com/office/drawing/2014/main" id="{2DAE18E8-46A3-46F4-B33E-B2548461FD96}"/>
                  </a:ext>
                </a:extLst>
              </p:cNvPr>
              <p:cNvSpPr txBox="1">
                <a:spLocks noRot="1" noChangeAspect="1" noMove="1" noResize="1" noEditPoints="1" noAdjustHandles="1" noChangeArrowheads="1" noChangeShapeType="1" noTextEdit="1"/>
              </p:cNvSpPr>
              <p:nvPr/>
            </p:nvSpPr>
            <p:spPr>
              <a:xfrm>
                <a:off x="5353833" y="4951099"/>
                <a:ext cx="2401189" cy="1254318"/>
              </a:xfrm>
              <a:prstGeom prst="rect">
                <a:avLst/>
              </a:prstGeom>
              <a:blipFill>
                <a:blip r:embed="rId14"/>
                <a:stretch>
                  <a:fillRect l="-2030" t="-2427" b="-67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615A2632-8F0E-4A6A-BAA2-B998562B94A7}"/>
                  </a:ext>
                </a:extLst>
              </p:cNvPr>
              <p:cNvSpPr/>
              <p:nvPr/>
            </p:nvSpPr>
            <p:spPr>
              <a:xfrm>
                <a:off x="8221613" y="3429000"/>
                <a:ext cx="410257" cy="13759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200" i="1">
                          <a:solidFill>
                            <a:sysClr val="windowText" lastClr="000000"/>
                          </a:solidFill>
                          <a:latin typeface="Cambria Math" panose="02040503050406030204" pitchFamily="18" charset="0"/>
                        </a:rPr>
                        <m:t>𝜃</m:t>
                      </m:r>
                    </m:oMath>
                  </m:oMathPara>
                </a14:m>
                <a:endParaRPr lang="zh-CN" altLang="en-US" sz="1200" dirty="0">
                  <a:solidFill>
                    <a:sysClr val="windowText" lastClr="000000"/>
                  </a:solidFill>
                </a:endParaRPr>
              </a:p>
            </p:txBody>
          </p:sp>
        </mc:Choice>
        <mc:Fallback xmlns="">
          <p:sp>
            <p:nvSpPr>
              <p:cNvPr id="19" name="矩形 18">
                <a:extLst>
                  <a:ext uri="{FF2B5EF4-FFF2-40B4-BE49-F238E27FC236}">
                    <a16:creationId xmlns:a16="http://schemas.microsoft.com/office/drawing/2014/main" id="{615A2632-8F0E-4A6A-BAA2-B998562B94A7}"/>
                  </a:ext>
                </a:extLst>
              </p:cNvPr>
              <p:cNvSpPr>
                <a:spLocks noRot="1" noChangeAspect="1" noMove="1" noResize="1" noEditPoints="1" noAdjustHandles="1" noChangeArrowheads="1" noChangeShapeType="1" noTextEdit="1"/>
              </p:cNvSpPr>
              <p:nvPr/>
            </p:nvSpPr>
            <p:spPr>
              <a:xfrm>
                <a:off x="8221613" y="3429000"/>
                <a:ext cx="410257" cy="1375900"/>
              </a:xfrm>
              <a:prstGeom prst="rect">
                <a:avLst/>
              </a:prstGeom>
              <a:blipFill>
                <a:blip r:embed="rId1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74267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6CAAC04B-817B-4FFB-AE71-36AEA7DA38CE}"/>
              </a:ext>
            </a:extLst>
          </p:cNvPr>
          <p:cNvSpPr>
            <a:spLocks noGrp="1"/>
          </p:cNvSpPr>
          <p:nvPr>
            <p:ph type="title"/>
          </p:nvPr>
        </p:nvSpPr>
        <p:spPr>
          <a:xfrm>
            <a:off x="628650" y="-4206"/>
            <a:ext cx="7886700" cy="1325563"/>
          </a:xfrm>
        </p:spPr>
        <p:txBody>
          <a:bodyPr/>
          <a:lstStyle/>
          <a:p>
            <a:r>
              <a:rPr lang="zh-CN" altLang="en-US" dirty="0"/>
              <a:t>例子</a:t>
            </a:r>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100C765C-7919-4AD2-B10D-60D3340CC703}"/>
                  </a:ext>
                </a:extLst>
              </p:cNvPr>
              <p:cNvSpPr>
                <a:spLocks noGrp="1"/>
              </p:cNvSpPr>
              <p:nvPr>
                <p:ph idx="1"/>
              </p:nvPr>
            </p:nvSpPr>
            <p:spPr>
              <a:xfrm>
                <a:off x="286905" y="2569125"/>
                <a:ext cx="8422987" cy="1963546"/>
              </a:xfrm>
            </p:spPr>
            <p:txBody>
              <a:bodyPr>
                <a:normAutofit/>
              </a:bodyPr>
              <a:lstStyle/>
              <a:p>
                <a:r>
                  <a:rPr lang="zh-CN" altLang="en-US" dirty="0"/>
                  <a:t>以</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oMath>
                </a14:m>
                <a:r>
                  <a:rPr lang="zh-CN" altLang="en-US" dirty="0"/>
                  <a:t>为非基变量，</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3</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4</m:t>
                        </m:r>
                      </m:sub>
                    </m:sSub>
                  </m:oMath>
                </a14:m>
                <a:r>
                  <a:rPr lang="zh-CN" altLang="en-US" dirty="0"/>
                  <a:t>为基变量</a:t>
                </a:r>
                <a:endParaRPr lang="en-US" altLang="zh-CN" dirty="0"/>
              </a:p>
              <a:p>
                <a:pPr lvl="1"/>
                <a:endParaRPr lang="en-US" altLang="zh-CN" dirty="0"/>
              </a:p>
            </p:txBody>
          </p:sp>
        </mc:Choice>
        <mc:Fallback xmlns="">
          <p:sp>
            <p:nvSpPr>
              <p:cNvPr id="6" name="内容占位符 2">
                <a:extLst>
                  <a:ext uri="{FF2B5EF4-FFF2-40B4-BE49-F238E27FC236}">
                    <a16:creationId xmlns:a16="http://schemas.microsoft.com/office/drawing/2014/main" id="{100C765C-7919-4AD2-B10D-60D3340CC703}"/>
                  </a:ext>
                </a:extLst>
              </p:cNvPr>
              <p:cNvSpPr>
                <a:spLocks noGrp="1" noRot="1" noChangeAspect="1" noMove="1" noResize="1" noEditPoints="1" noAdjustHandles="1" noChangeArrowheads="1" noChangeShapeType="1" noTextEdit="1"/>
              </p:cNvSpPr>
              <p:nvPr>
                <p:ph idx="1"/>
              </p:nvPr>
            </p:nvSpPr>
            <p:spPr>
              <a:xfrm>
                <a:off x="286905" y="2569125"/>
                <a:ext cx="8422987" cy="1963546"/>
              </a:xfrm>
              <a:blipFill>
                <a:blip r:embed="rId2"/>
                <a:stretch>
                  <a:fillRect l="-1302" t="-5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7D75AA5B-F1A3-4547-A2B3-A3E7627581CC}"/>
                  </a:ext>
                </a:extLst>
              </p:cNvPr>
              <p:cNvSpPr txBox="1">
                <a:spLocks/>
              </p:cNvSpPr>
              <p:nvPr/>
            </p:nvSpPr>
            <p:spPr>
              <a:xfrm>
                <a:off x="360866" y="960635"/>
                <a:ext cx="4581235" cy="225684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14:m>
                  <m:oMath xmlns:m="http://schemas.openxmlformats.org/officeDocument/2006/math">
                    <m:func>
                      <m:funcPr>
                        <m:ctrlPr>
                          <a:rPr lang="en-US" altLang="zh-CN" sz="2000" i="1">
                            <a:latin typeface="Cambria Math" panose="02040503050406030204" pitchFamily="18" charset="0"/>
                          </a:rPr>
                        </m:ctrlPr>
                      </m:funcPr>
                      <m:fName>
                        <m:r>
                          <m:rPr>
                            <m:sty m:val="p"/>
                          </m:rPr>
                          <a:rPr lang="en-US" altLang="zh-CN" sz="2000">
                            <a:latin typeface="Cambria Math" panose="02040503050406030204" pitchFamily="18" charset="0"/>
                          </a:rPr>
                          <m:t>max</m:t>
                        </m:r>
                      </m:fName>
                      <m:e>
                        <m:r>
                          <a:rPr lang="en-US" altLang="zh-CN" sz="2000" i="1">
                            <a:latin typeface="Cambria Math" panose="02040503050406030204" pitchFamily="18" charset="0"/>
                          </a:rPr>
                          <m:t>𝑧</m:t>
                        </m:r>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2</m:t>
                            </m:r>
                          </m:sub>
                        </m:sSub>
                      </m:e>
                    </m:func>
                    <m:r>
                      <a:rPr lang="en-US" altLang="zh-CN" sz="2000" i="1">
                        <a:latin typeface="Cambria Math" panose="02040503050406030204" pitchFamily="18" charset="0"/>
                      </a:rPr>
                      <m:t>+0×</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3</m:t>
                        </m:r>
                      </m:sub>
                    </m:sSub>
                    <m:r>
                      <a:rPr lang="en-US" altLang="zh-CN" sz="2000" i="1">
                        <a:latin typeface="Cambria Math" panose="02040503050406030204" pitchFamily="18" charset="0"/>
                      </a:rPr>
                      <m:t>+0×</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4</m:t>
                        </m:r>
                      </m:sub>
                    </m:sSub>
                  </m:oMath>
                </a14:m>
                <a:endParaRPr lang="en-US" altLang="zh-CN" sz="2400" dirty="0"/>
              </a:p>
              <a:p>
                <a14:m>
                  <m:oMath xmlns:m="http://schemas.openxmlformats.org/officeDocument/2006/math">
                    <m:r>
                      <a:rPr lang="en-US" altLang="zh-CN" sz="2400" i="1">
                        <a:latin typeface="Cambria Math" panose="02040503050406030204" pitchFamily="18" charset="0"/>
                      </a:rPr>
                      <m:t>𝑠</m:t>
                    </m:r>
                    <m:r>
                      <a:rPr lang="en-US" altLang="zh-CN" sz="2400" i="1">
                        <a:latin typeface="Cambria Math" panose="02040503050406030204" pitchFamily="18" charset="0"/>
                      </a:rPr>
                      <m:t>.</m:t>
                    </m:r>
                    <m:r>
                      <a:rPr lang="en-US" altLang="zh-CN" sz="2400" i="1">
                        <a:latin typeface="Cambria Math" panose="02040503050406030204" pitchFamily="18" charset="0"/>
                      </a:rPr>
                      <m:t>𝑡</m:t>
                    </m:r>
                    <m:r>
                      <a:rPr lang="en-US" altLang="zh-CN" sz="2400" i="1">
                        <a:latin typeface="Cambria Math" panose="02040503050406030204" pitchFamily="18" charset="0"/>
                      </a:rPr>
                      <m:t>. </m:t>
                    </m:r>
                    <m:d>
                      <m:dPr>
                        <m:begChr m:val="{"/>
                        <m:endChr m:val=""/>
                        <m:ctrlPr>
                          <a:rPr lang="en-US" altLang="zh-CN" sz="2400" i="1">
                            <a:latin typeface="Cambria Math" panose="02040503050406030204" pitchFamily="18" charset="0"/>
                          </a:rPr>
                        </m:ctrlPr>
                      </m:dPr>
                      <m:e>
                        <m:m>
                          <m:mPr>
                            <m:mcs>
                              <m:mc>
                                <m:mcPr>
                                  <m:count m:val="1"/>
                                  <m:mcJc m:val="center"/>
                                </m:mcPr>
                              </m:mc>
                            </m:mcs>
                            <m:ctrlPr>
                              <a:rPr lang="en-US" altLang="zh-CN" sz="2400" i="1">
                                <a:latin typeface="Cambria Math" panose="02040503050406030204" pitchFamily="18" charset="0"/>
                              </a:rPr>
                            </m:ctrlPr>
                          </m:mPr>
                          <m:m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2</m:t>
                                  </m:r>
                                  <m:r>
                                    <m:rPr>
                                      <m:brk m:alnAt="7"/>
                                    </m:rPr>
                                    <a:rPr lang="en-US" altLang="zh-CN" sz="2400" i="1">
                                      <a:latin typeface="Cambria Math" panose="02040503050406030204" pitchFamily="18" charset="0"/>
                                    </a:rPr>
                                    <m:t>𝑥</m:t>
                                  </m:r>
                                </m:e>
                                <m:sub>
                                  <m:r>
                                    <m:rPr>
                                      <m:brk m:alnAt="7"/>
                                    </m:rPr>
                                    <a:rPr lang="en-US" altLang="zh-CN" sz="2400" i="1">
                                      <a:latin typeface="Cambria Math" panose="02040503050406030204" pitchFamily="18" charset="0"/>
                                    </a:rPr>
                                    <m:t>1</m:t>
                                  </m:r>
                                </m:sub>
                              </m:sSub>
                              <m:r>
                                <m:rPr>
                                  <m:brk m:alnAt="7"/>
                                </m:rP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m:rPr>
                                      <m:brk m:alnAt="7"/>
                                    </m:rPr>
                                    <a:rPr lang="en-US" altLang="zh-CN" sz="2400" i="1">
                                      <a:latin typeface="Cambria Math" panose="02040503050406030204" pitchFamily="18" charset="0"/>
                                    </a:rPr>
                                    <m:t>𝑥</m:t>
                                  </m:r>
                                </m:e>
                                <m:sub>
                                  <m:r>
                                    <m:rPr>
                                      <m:brk m:alnAt="7"/>
                                    </m:rPr>
                                    <a:rPr lang="en-US" altLang="zh-CN" sz="2400" i="1">
                                      <a:latin typeface="Cambria Math" panose="02040503050406030204" pitchFamily="18" charset="0"/>
                                    </a:rPr>
                                    <m:t>2</m:t>
                                  </m:r>
                                </m:sub>
                              </m:sSub>
                              <m:r>
                                <m:rPr>
                                  <m:brk m:alnAt="7"/>
                                </m:rP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m:rPr>
                                      <m:brk m:alnAt="7"/>
                                    </m:rPr>
                                    <a:rPr lang="en-US" altLang="zh-CN" sz="2400" i="1">
                                      <a:latin typeface="Cambria Math" panose="02040503050406030204" pitchFamily="18" charset="0"/>
                                    </a:rPr>
                                    <m:t>𝑥</m:t>
                                  </m:r>
                                </m:e>
                                <m:sub>
                                  <m:r>
                                    <m:rPr>
                                      <m:brk m:alnAt="7"/>
                                    </m:rPr>
                                    <a:rPr lang="en-US" altLang="zh-CN" sz="2400" i="1">
                                      <a:latin typeface="Cambria Math" panose="02040503050406030204" pitchFamily="18" charset="0"/>
                                    </a:rPr>
                                    <m:t>3</m:t>
                                  </m:r>
                                </m:sub>
                              </m:sSub>
                              <m:r>
                                <a:rPr lang="en-US" altLang="zh-CN" sz="2400" i="1">
                                  <a:latin typeface="Cambria Math" panose="02040503050406030204" pitchFamily="18" charset="0"/>
                                </a:rPr>
                                <m:t>=12</m:t>
                              </m:r>
                            </m:e>
                          </m:mr>
                          <m:mr>
                            <m:e>
                              <m:sSub>
                                <m:sSubPr>
                                  <m:ctrlPr>
                                    <a:rPr lang="en-US" altLang="zh-CN" sz="2400" i="1">
                                      <a:latin typeface="Cambria Math" panose="02040503050406030204" pitchFamily="18" charset="0"/>
                                    </a:rPr>
                                  </m:ctrlPr>
                                </m:sSubPr>
                                <m:e>
                                  <m:r>
                                    <m:rPr>
                                      <m:brk m:alnAt="7"/>
                                    </m:rPr>
                                    <a:rPr lang="en-US" altLang="zh-CN" sz="2400" i="1">
                                      <a:latin typeface="Cambria Math" panose="02040503050406030204" pitchFamily="18" charset="0"/>
                                    </a:rPr>
                                    <m:t>𝑥</m:t>
                                  </m:r>
                                </m:e>
                                <m:sub>
                                  <m:r>
                                    <m:rPr>
                                      <m:brk m:alnAt="7"/>
                                    </m:rPr>
                                    <a:rPr lang="en-US" altLang="zh-CN" sz="2400" i="1">
                                      <a:latin typeface="Cambria Math" panose="02040503050406030204" pitchFamily="18" charset="0"/>
                                    </a:rPr>
                                    <m:t>1</m:t>
                                  </m:r>
                                </m:sub>
                              </m:sSub>
                              <m:r>
                                <m:rPr>
                                  <m:brk m:alnAt="7"/>
                                </m:rPr>
                                <a:rPr lang="en-US" altLang="zh-CN" sz="2400" i="1">
                                  <a:latin typeface="Cambria Math" panose="02040503050406030204" pitchFamily="18" charset="0"/>
                                </a:rPr>
                                <m:t>+</m:t>
                              </m:r>
                              <m:r>
                                <a:rPr lang="en-US" altLang="zh-CN" sz="2400" i="1">
                                  <a:latin typeface="Cambria Math" panose="02040503050406030204" pitchFamily="18" charset="0"/>
                                </a:rPr>
                                <m:t>2</m:t>
                              </m:r>
                              <m:sSub>
                                <m:sSubPr>
                                  <m:ctrlPr>
                                    <a:rPr lang="en-US" altLang="zh-CN" sz="2400" i="1">
                                      <a:latin typeface="Cambria Math" panose="02040503050406030204" pitchFamily="18" charset="0"/>
                                    </a:rPr>
                                  </m:ctrlPr>
                                </m:sSubPr>
                                <m:e>
                                  <m:r>
                                    <m:rPr>
                                      <m:brk m:alnAt="7"/>
                                    </m:rPr>
                                    <a:rPr lang="en-US" altLang="zh-CN" sz="2400" i="1">
                                      <a:latin typeface="Cambria Math" panose="02040503050406030204" pitchFamily="18" charset="0"/>
                                    </a:rPr>
                                    <m:t>𝑥</m:t>
                                  </m:r>
                                </m:e>
                                <m:sub>
                                  <m:r>
                                    <m:rPr>
                                      <m:brk m:alnAt="7"/>
                                    </m:rP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4</m:t>
                                  </m:r>
                                </m:sub>
                              </m:sSub>
                              <m:r>
                                <a:rPr lang="en-US" altLang="zh-CN" sz="2400" i="1">
                                  <a:latin typeface="Cambria Math" panose="02040503050406030204" pitchFamily="18" charset="0"/>
                                </a:rPr>
                                <m:t>=9</m:t>
                              </m:r>
                            </m:e>
                          </m:mr>
                          <m:m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3</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4</m:t>
                                  </m:r>
                                </m:sub>
                              </m:sSub>
                              <m:r>
                                <a:rPr lang="en-US" altLang="zh-CN" sz="2400" i="1">
                                  <a:latin typeface="Cambria Math" panose="02040503050406030204" pitchFamily="18" charset="0"/>
                                </a:rPr>
                                <m:t>≥0</m:t>
                              </m:r>
                            </m:e>
                          </m:mr>
                        </m:m>
                      </m:e>
                    </m:d>
                  </m:oMath>
                </a14:m>
                <a:endParaRPr lang="zh-CN" altLang="en-US" sz="2400" dirty="0"/>
              </a:p>
            </p:txBody>
          </p:sp>
        </mc:Choice>
        <mc:Fallback xmlns="">
          <p:sp>
            <p:nvSpPr>
              <p:cNvPr id="5" name="内容占位符 2">
                <a:extLst>
                  <a:ext uri="{FF2B5EF4-FFF2-40B4-BE49-F238E27FC236}">
                    <a16:creationId xmlns:a16="http://schemas.microsoft.com/office/drawing/2014/main" id="{7D75AA5B-F1A3-4547-A2B3-A3E7627581CC}"/>
                  </a:ext>
                </a:extLst>
              </p:cNvPr>
              <p:cNvSpPr txBox="1">
                <a:spLocks noRot="1" noChangeAspect="1" noMove="1" noResize="1" noEditPoints="1" noAdjustHandles="1" noChangeArrowheads="1" noChangeShapeType="1" noTextEdit="1"/>
              </p:cNvSpPr>
              <p:nvPr/>
            </p:nvSpPr>
            <p:spPr>
              <a:xfrm>
                <a:off x="360866" y="960635"/>
                <a:ext cx="4581235" cy="2256848"/>
              </a:xfrm>
              <a:prstGeom prst="rect">
                <a:avLst/>
              </a:prstGeom>
              <a:blipFill>
                <a:blip r:embed="rId3"/>
                <a:stretch>
                  <a:fillRect l="-1197" t="-2432"/>
                </a:stretch>
              </a:blipFill>
            </p:spPr>
            <p:txBody>
              <a:bodyPr/>
              <a:lstStyle/>
              <a:p>
                <a:r>
                  <a:rPr lang="zh-CN" altLang="en-US">
                    <a:noFill/>
                  </a:rPr>
                  <a:t> </a:t>
                </a:r>
              </a:p>
            </p:txBody>
          </p:sp>
        </mc:Fallback>
      </mc:AlternateContent>
      <p:grpSp>
        <p:nvGrpSpPr>
          <p:cNvPr id="7" name="组合 6">
            <a:extLst>
              <a:ext uri="{FF2B5EF4-FFF2-40B4-BE49-F238E27FC236}">
                <a16:creationId xmlns:a16="http://schemas.microsoft.com/office/drawing/2014/main" id="{5A30B96D-F67C-4FE0-B4F1-B5850923D6C8}"/>
              </a:ext>
            </a:extLst>
          </p:cNvPr>
          <p:cNvGrpSpPr/>
          <p:nvPr/>
        </p:nvGrpSpPr>
        <p:grpSpPr>
          <a:xfrm>
            <a:off x="766629" y="3089027"/>
            <a:ext cx="3285401" cy="1333155"/>
            <a:chOff x="1108373" y="981719"/>
            <a:chExt cx="3463627" cy="1333155"/>
          </a:xfrm>
        </p:grpSpPr>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2CA7AE1E-4B24-44A6-886D-44C3DF8792D4}"/>
                    </a:ext>
                  </a:extLst>
                </p:cNvPr>
                <p:cNvSpPr/>
                <p:nvPr/>
              </p:nvSpPr>
              <p:spPr>
                <a:xfrm>
                  <a:off x="1108373" y="1049704"/>
                  <a:ext cx="3463627" cy="85427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rPr>
                          <m:t>𝐴</m:t>
                        </m:r>
                        <m:r>
                          <a:rPr lang="en-US" altLang="zh-CN" sz="2800" i="1">
                            <a:latin typeface="Cambria Math" panose="02040503050406030204" pitchFamily="18" charset="0"/>
                          </a:rPr>
                          <m:t>= </m:t>
                        </m:r>
                        <m:d>
                          <m:dPr>
                            <m:ctrlPr>
                              <a:rPr lang="en-US" altLang="zh-CN" sz="2800" i="1">
                                <a:latin typeface="Cambria Math" panose="02040503050406030204" pitchFamily="18" charset="0"/>
                              </a:rPr>
                            </m:ctrlPr>
                          </m:dPr>
                          <m:e>
                            <m:m>
                              <m:mPr>
                                <m:mcs>
                                  <m:mc>
                                    <m:mcPr>
                                      <m:count m:val="3"/>
                                      <m:mcJc m:val="center"/>
                                    </m:mcPr>
                                  </m:mc>
                                </m:mcs>
                                <m:ctrlPr>
                                  <a:rPr lang="en-US" altLang="zh-CN" sz="2800" i="1">
                                    <a:latin typeface="Cambria Math" panose="02040503050406030204" pitchFamily="18" charset="0"/>
                                  </a:rPr>
                                </m:ctrlPr>
                              </m:mPr>
                              <m:mr>
                                <m:e>
                                  <m:r>
                                    <m:rPr>
                                      <m:brk m:alnAt="7"/>
                                    </m:rPr>
                                    <a:rPr lang="en-US" altLang="zh-CN" sz="2800" i="1">
                                      <a:latin typeface="Cambria Math" panose="02040503050406030204" pitchFamily="18" charset="0"/>
                                    </a:rPr>
                                    <m:t>2</m:t>
                                  </m:r>
                                </m:e>
                                <m:e>
                                  <m:m>
                                    <m:mPr>
                                      <m:mcs>
                                        <m:mc>
                                          <m:mcPr>
                                            <m:count m:val="2"/>
                                            <m:mcJc m:val="center"/>
                                          </m:mcPr>
                                        </m:mc>
                                      </m:mcs>
                                      <m:ctrlPr>
                                        <a:rPr lang="en-US" altLang="zh-CN" sz="2800" i="1">
                                          <a:latin typeface="Cambria Math" panose="02040503050406030204" pitchFamily="18" charset="0"/>
                                        </a:rPr>
                                      </m:ctrlPr>
                                    </m:mPr>
                                    <m:mr>
                                      <m:e>
                                        <m:r>
                                          <m:rPr>
                                            <m:brk m:alnAt="7"/>
                                          </m:rPr>
                                          <a:rPr lang="en-US" altLang="zh-CN" sz="2800" i="1">
                                            <a:latin typeface="Cambria Math" panose="02040503050406030204" pitchFamily="18" charset="0"/>
                                          </a:rPr>
                                          <m:t>1</m:t>
                                        </m:r>
                                      </m:e>
                                      <m:e>
                                        <m:r>
                                          <a:rPr lang="en-US" altLang="zh-CN" sz="2800" i="1">
                                            <a:latin typeface="Cambria Math" panose="02040503050406030204" pitchFamily="18" charset="0"/>
                                          </a:rPr>
                                          <m:t>1</m:t>
                                        </m:r>
                                      </m:e>
                                    </m:mr>
                                  </m:m>
                                </m:e>
                                <m:e>
                                  <m:r>
                                    <a:rPr lang="en-US" altLang="zh-CN" sz="2800" i="1">
                                      <a:latin typeface="Cambria Math" panose="02040503050406030204" pitchFamily="18" charset="0"/>
                                    </a:rPr>
                                    <m:t>0</m:t>
                                  </m:r>
                                </m:e>
                              </m:mr>
                              <m:mr>
                                <m:e>
                                  <m:r>
                                    <a:rPr lang="en-US" altLang="zh-CN" sz="2800" i="1">
                                      <a:latin typeface="Cambria Math" panose="02040503050406030204" pitchFamily="18" charset="0"/>
                                    </a:rPr>
                                    <m:t>1</m:t>
                                  </m:r>
                                </m:e>
                                <m:e>
                                  <m:m>
                                    <m:mPr>
                                      <m:mcs>
                                        <m:mc>
                                          <m:mcPr>
                                            <m:count m:val="2"/>
                                            <m:mcJc m:val="center"/>
                                          </m:mcPr>
                                        </m:mc>
                                      </m:mcs>
                                      <m:ctrlPr>
                                        <a:rPr lang="en-US" altLang="zh-CN" sz="2800" i="1">
                                          <a:latin typeface="Cambria Math" panose="02040503050406030204" pitchFamily="18" charset="0"/>
                                        </a:rPr>
                                      </m:ctrlPr>
                                    </m:mPr>
                                    <m:mr>
                                      <m:e>
                                        <m:r>
                                          <m:rPr>
                                            <m:brk m:alnAt="7"/>
                                          </m:rPr>
                                          <a:rPr lang="en-US" altLang="zh-CN" sz="2800" i="1">
                                            <a:latin typeface="Cambria Math" panose="02040503050406030204" pitchFamily="18" charset="0"/>
                                          </a:rPr>
                                          <m:t>2</m:t>
                                        </m:r>
                                      </m:e>
                                      <m:e>
                                        <m:r>
                                          <a:rPr lang="en-US" altLang="zh-CN" sz="2800" i="1">
                                            <a:latin typeface="Cambria Math" panose="02040503050406030204" pitchFamily="18" charset="0"/>
                                          </a:rPr>
                                          <m:t>0</m:t>
                                        </m:r>
                                      </m:e>
                                    </m:mr>
                                  </m:m>
                                </m:e>
                                <m:e>
                                  <m:r>
                                    <a:rPr lang="en-US" altLang="zh-CN" sz="2800" i="1">
                                      <a:latin typeface="Cambria Math" panose="02040503050406030204" pitchFamily="18" charset="0"/>
                                    </a:rPr>
                                    <m:t>1</m:t>
                                  </m:r>
                                </m:e>
                              </m:mr>
                            </m:m>
                          </m:e>
                        </m:d>
                      </m:oMath>
                    </m:oMathPara>
                  </a14:m>
                  <a:endParaRPr lang="zh-CN" altLang="en-US" sz="2800" dirty="0"/>
                </a:p>
              </p:txBody>
            </p:sp>
          </mc:Choice>
          <mc:Fallback xmlns="">
            <p:sp>
              <p:nvSpPr>
                <p:cNvPr id="8" name="矩形 7">
                  <a:extLst>
                    <a:ext uri="{FF2B5EF4-FFF2-40B4-BE49-F238E27FC236}">
                      <a16:creationId xmlns:a16="http://schemas.microsoft.com/office/drawing/2014/main" id="{2CA7AE1E-4B24-44A6-886D-44C3DF8792D4}"/>
                    </a:ext>
                  </a:extLst>
                </p:cNvPr>
                <p:cNvSpPr>
                  <a:spLocks noRot="1" noChangeAspect="1" noMove="1" noResize="1" noEditPoints="1" noAdjustHandles="1" noChangeArrowheads="1" noChangeShapeType="1" noTextEdit="1"/>
                </p:cNvSpPr>
                <p:nvPr/>
              </p:nvSpPr>
              <p:spPr>
                <a:xfrm>
                  <a:off x="1108373" y="1049704"/>
                  <a:ext cx="3463627" cy="854273"/>
                </a:xfrm>
                <a:prstGeom prst="rect">
                  <a:avLst/>
                </a:prstGeom>
                <a:blipFill>
                  <a:blip r:embed="rId4"/>
                  <a:stretch>
                    <a:fillRect/>
                  </a:stretch>
                </a:blipFill>
              </p:spPr>
              <p:txBody>
                <a:bodyPr/>
                <a:lstStyle/>
                <a:p>
                  <a:r>
                    <a:rPr lang="zh-CN" altLang="en-US">
                      <a:noFill/>
                    </a:rPr>
                    <a:t> </a:t>
                  </a:r>
                </a:p>
              </p:txBody>
            </p:sp>
          </mc:Fallback>
        </mc:AlternateContent>
        <p:sp>
          <p:nvSpPr>
            <p:cNvPr id="9" name="矩形 8">
              <a:extLst>
                <a:ext uri="{FF2B5EF4-FFF2-40B4-BE49-F238E27FC236}">
                  <a16:creationId xmlns:a16="http://schemas.microsoft.com/office/drawing/2014/main" id="{46848831-E438-4A29-92D2-ADFD5569AC0B}"/>
                </a:ext>
              </a:extLst>
            </p:cNvPr>
            <p:cNvSpPr/>
            <p:nvPr/>
          </p:nvSpPr>
          <p:spPr>
            <a:xfrm>
              <a:off x="3315854" y="981719"/>
              <a:ext cx="941958" cy="96382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0B1626D7-9640-43B8-9AEF-6D0757A317E6}"/>
                    </a:ext>
                  </a:extLst>
                </p:cNvPr>
                <p:cNvSpPr txBox="1"/>
                <p:nvPr/>
              </p:nvSpPr>
              <p:spPr>
                <a:xfrm>
                  <a:off x="3528360" y="1945542"/>
                  <a:ext cx="4380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rPr>
                          <m:t>𝑩</m:t>
                        </m:r>
                      </m:oMath>
                    </m:oMathPara>
                  </a14:m>
                  <a:endParaRPr lang="zh-CN" altLang="en-US" b="1" i="1" dirty="0"/>
                </a:p>
              </p:txBody>
            </p:sp>
          </mc:Choice>
          <mc:Fallback xmlns="">
            <p:sp>
              <p:nvSpPr>
                <p:cNvPr id="10" name="文本框 9">
                  <a:extLst>
                    <a:ext uri="{FF2B5EF4-FFF2-40B4-BE49-F238E27FC236}">
                      <a16:creationId xmlns:a16="http://schemas.microsoft.com/office/drawing/2014/main" id="{0B1626D7-9640-43B8-9AEF-6D0757A317E6}"/>
                    </a:ext>
                  </a:extLst>
                </p:cNvPr>
                <p:cNvSpPr txBox="1">
                  <a:spLocks noRot="1" noChangeAspect="1" noMove="1" noResize="1" noEditPoints="1" noAdjustHandles="1" noChangeArrowheads="1" noChangeShapeType="1" noTextEdit="1"/>
                </p:cNvSpPr>
                <p:nvPr/>
              </p:nvSpPr>
              <p:spPr>
                <a:xfrm>
                  <a:off x="3528360" y="1945542"/>
                  <a:ext cx="438038" cy="369332"/>
                </a:xfrm>
                <a:prstGeom prst="rect">
                  <a:avLst/>
                </a:prstGeom>
                <a:blipFill>
                  <a:blip r:embed="rId5"/>
                  <a:stretch>
                    <a:fillRect/>
                  </a:stretch>
                </a:blipFill>
              </p:spPr>
              <p:txBody>
                <a:bodyPr/>
                <a:lstStyle/>
                <a:p>
                  <a:r>
                    <a:rPr lang="zh-CN" altLang="en-US">
                      <a:noFill/>
                    </a:rPr>
                    <a:t> </a:t>
                  </a:r>
                </a:p>
              </p:txBody>
            </p:sp>
          </mc:Fallback>
        </mc:AlternateContent>
        <p:sp>
          <p:nvSpPr>
            <p:cNvPr id="11" name="矩形 10">
              <a:extLst>
                <a:ext uri="{FF2B5EF4-FFF2-40B4-BE49-F238E27FC236}">
                  <a16:creationId xmlns:a16="http://schemas.microsoft.com/office/drawing/2014/main" id="{F3FD14F5-F513-4735-A9CB-5A83B40C625F}"/>
                </a:ext>
              </a:extLst>
            </p:cNvPr>
            <p:cNvSpPr/>
            <p:nvPr/>
          </p:nvSpPr>
          <p:spPr>
            <a:xfrm>
              <a:off x="2262838" y="981719"/>
              <a:ext cx="840510" cy="96382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0E943EC5-F51F-42C0-8C46-02E157F8A617}"/>
                    </a:ext>
                  </a:extLst>
                </p:cNvPr>
                <p:cNvSpPr txBox="1"/>
                <p:nvPr/>
              </p:nvSpPr>
              <p:spPr>
                <a:xfrm>
                  <a:off x="2475345" y="1945542"/>
                  <a:ext cx="44648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dirty="0">
                            <a:latin typeface="Cambria Math" panose="02040503050406030204" pitchFamily="18" charset="0"/>
                          </a:rPr>
                          <m:t>𝑵</m:t>
                        </m:r>
                      </m:oMath>
                    </m:oMathPara>
                  </a14:m>
                  <a:endParaRPr lang="zh-CN" altLang="en-US" b="1" i="1" dirty="0"/>
                </a:p>
              </p:txBody>
            </p:sp>
          </mc:Choice>
          <mc:Fallback xmlns="">
            <p:sp>
              <p:nvSpPr>
                <p:cNvPr id="12" name="文本框 11">
                  <a:extLst>
                    <a:ext uri="{FF2B5EF4-FFF2-40B4-BE49-F238E27FC236}">
                      <a16:creationId xmlns:a16="http://schemas.microsoft.com/office/drawing/2014/main" id="{0E943EC5-F51F-42C0-8C46-02E157F8A617}"/>
                    </a:ext>
                  </a:extLst>
                </p:cNvPr>
                <p:cNvSpPr txBox="1">
                  <a:spLocks noRot="1" noChangeAspect="1" noMove="1" noResize="1" noEditPoints="1" noAdjustHandles="1" noChangeArrowheads="1" noChangeShapeType="1" noTextEdit="1"/>
                </p:cNvSpPr>
                <p:nvPr/>
              </p:nvSpPr>
              <p:spPr>
                <a:xfrm>
                  <a:off x="2475345" y="1945542"/>
                  <a:ext cx="446489" cy="369332"/>
                </a:xfrm>
                <a:prstGeom prst="rect">
                  <a:avLst/>
                </a:prstGeom>
                <a:blipFill>
                  <a:blip r:embed="rId6"/>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60F0F515-7B91-4053-B476-2405FFBA982B}"/>
                  </a:ext>
                </a:extLst>
              </p:cNvPr>
              <p:cNvSpPr/>
              <p:nvPr/>
            </p:nvSpPr>
            <p:spPr>
              <a:xfrm>
                <a:off x="5720834" y="105947"/>
                <a:ext cx="2098843" cy="373307"/>
              </a:xfrm>
              <a:prstGeom prst="rect">
                <a:avLst/>
              </a:prstGeom>
              <a:solidFill>
                <a:schemeClr val="bg1">
                  <a:lumMod val="85000"/>
                </a:schemeClr>
              </a:solidFill>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𝜎</m:t>
                              </m:r>
                            </m:e>
                          </m:acc>
                        </m:e>
                        <m:sup>
                          <m:r>
                            <a:rPr lang="en-US" altLang="zh-CN" i="1">
                              <a:latin typeface="Cambria Math" panose="02040503050406030204" pitchFamily="18" charset="0"/>
                            </a:rPr>
                            <m:t>𝑇</m:t>
                          </m:r>
                        </m:sup>
                      </m:sSup>
                      <m:r>
                        <a:rPr lang="en-US" altLang="zh-CN" i="1">
                          <a:latin typeface="Cambria Math" panose="02040503050406030204" pitchFamily="18" charset="0"/>
                        </a:rPr>
                        <m:t>=</m:t>
                      </m:r>
                      <m:sSup>
                        <m:sSupPr>
                          <m:ctrlPr>
                            <a:rPr lang="en-US" altLang="zh-CN" i="1" dirty="0">
                              <a:latin typeface="Cambria Math" panose="02040503050406030204" pitchFamily="18" charset="0"/>
                            </a:rPr>
                          </m:ctrlPr>
                        </m:s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𝑐</m:t>
                              </m:r>
                            </m:e>
                          </m:acc>
                        </m:e>
                        <m:sup>
                          <m:r>
                            <a:rPr lang="en-US" altLang="zh-CN" i="1" dirty="0">
                              <a:latin typeface="Cambria Math" panose="02040503050406030204" pitchFamily="18" charset="0"/>
                            </a:rPr>
                            <m:t>𝑇</m:t>
                          </m:r>
                        </m:sup>
                      </m:s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𝑐</m:t>
                              </m:r>
                            </m:e>
                          </m:acc>
                        </m:e>
                        <m:sub>
                          <m:r>
                            <a:rPr lang="en-US" altLang="zh-CN" i="1">
                              <a:latin typeface="Cambria Math" panose="02040503050406030204" pitchFamily="18" charset="0"/>
                            </a:rPr>
                            <m:t>𝐵</m:t>
                          </m:r>
                        </m:sub>
                        <m:sup>
                          <m:r>
                            <a:rPr lang="en-US" altLang="zh-CN" i="1">
                              <a:latin typeface="Cambria Math" panose="02040503050406030204" pitchFamily="18" charset="0"/>
                            </a:rPr>
                            <m:t>𝑇</m:t>
                          </m:r>
                        </m:sup>
                      </m:sSubSup>
                      <m:sSup>
                        <m:sSupPr>
                          <m:ctrlPr>
                            <a:rPr lang="en-US" altLang="zh-CN" i="1">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−1</m:t>
                          </m:r>
                        </m:sup>
                      </m:sSup>
                      <m:r>
                        <a:rPr lang="en-US" altLang="zh-CN" i="1" dirty="0">
                          <a:latin typeface="Cambria Math" panose="02040503050406030204" pitchFamily="18" charset="0"/>
                        </a:rPr>
                        <m:t>𝐴</m:t>
                      </m:r>
                    </m:oMath>
                  </m:oMathPara>
                </a14:m>
                <a:endParaRPr lang="en-US" altLang="zh-CN" dirty="0"/>
              </a:p>
            </p:txBody>
          </p:sp>
        </mc:Choice>
        <mc:Fallback xmlns="">
          <p:sp>
            <p:nvSpPr>
              <p:cNvPr id="16" name="矩形 15">
                <a:extLst>
                  <a:ext uri="{FF2B5EF4-FFF2-40B4-BE49-F238E27FC236}">
                    <a16:creationId xmlns:a16="http://schemas.microsoft.com/office/drawing/2014/main" id="{60F0F515-7B91-4053-B476-2405FFBA982B}"/>
                  </a:ext>
                </a:extLst>
              </p:cNvPr>
              <p:cNvSpPr>
                <a:spLocks noRot="1" noChangeAspect="1" noMove="1" noResize="1" noEditPoints="1" noAdjustHandles="1" noChangeArrowheads="1" noChangeShapeType="1" noTextEdit="1"/>
              </p:cNvSpPr>
              <p:nvPr/>
            </p:nvSpPr>
            <p:spPr>
              <a:xfrm>
                <a:off x="5720834" y="105947"/>
                <a:ext cx="2098843" cy="373307"/>
              </a:xfrm>
              <a:prstGeom prst="rect">
                <a:avLst/>
              </a:prstGeom>
              <a:blipFill>
                <a:blip r:embed="rId7"/>
                <a:stretch>
                  <a:fillRect t="-209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E1DB642A-85D6-40B3-8108-EB49EC3E31B3}"/>
                  </a:ext>
                </a:extLst>
              </p:cNvPr>
              <p:cNvSpPr/>
              <p:nvPr/>
            </p:nvSpPr>
            <p:spPr>
              <a:xfrm>
                <a:off x="4526595" y="499156"/>
                <a:ext cx="4487319" cy="944939"/>
              </a:xfrm>
              <a:prstGeom prst="rect">
                <a:avLst/>
              </a:prstGeom>
              <a:solidFill>
                <a:schemeClr val="bg1">
                  <a:lumMod val="85000"/>
                </a:schemeClr>
              </a:solidFill>
            </p:spPr>
            <p:txBody>
              <a:bodyPr wrap="none">
                <a:spAutoFit/>
              </a:bodyPr>
              <a:lstStyle/>
              <a:p>
                <a:pPr lvl="1"/>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𝑁</m:t>
                          </m:r>
                          <m:r>
                            <a:rPr lang="en-US" altLang="zh-CN" i="1">
                              <a:latin typeface="Cambria Math" panose="02040503050406030204" pitchFamily="18" charset="0"/>
                            </a:rPr>
                            <m:t>,</m:t>
                          </m:r>
                          <m:r>
                            <a:rPr lang="en-US" altLang="zh-CN" i="1">
                              <a:latin typeface="Cambria Math" panose="02040503050406030204" pitchFamily="18" charset="0"/>
                            </a:rPr>
                            <m:t>𝑖</m:t>
                          </m:r>
                        </m:sub>
                      </m:sSub>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limLow>
                            <m:limLowPr>
                              <m:ctrlPr>
                                <a:rPr lang="en-US" altLang="zh-CN" i="1">
                                  <a:latin typeface="Cambria Math" panose="02040503050406030204" pitchFamily="18" charset="0"/>
                                </a:rPr>
                              </m:ctrlPr>
                            </m:limLowPr>
                            <m:e>
                              <m:r>
                                <m:rPr>
                                  <m:sty m:val="p"/>
                                </m:rPr>
                                <a:rPr lang="en-US" altLang="zh-CN">
                                  <a:latin typeface="Cambria Math" panose="02040503050406030204" pitchFamily="18" charset="0"/>
                                </a:rPr>
                                <m:t>min</m:t>
                              </m:r>
                            </m:e>
                            <m:lim>
                              <m:r>
                                <m:rPr>
                                  <m:sty m:val="p"/>
                                </m:rPr>
                                <a:rPr lang="en-US" altLang="zh-CN">
                                  <a:latin typeface="Cambria Math" panose="02040503050406030204" pitchFamily="18" charset="0"/>
                                </a:rPr>
                                <m:t>j</m:t>
                              </m:r>
                            </m:lim>
                          </m:limLow>
                        </m:fName>
                        <m:e>
                          <m:f>
                            <m:fPr>
                              <m:ctrlPr>
                                <a:rPr lang="en-US" altLang="zh-CN" i="1">
                                  <a:latin typeface="Cambria Math" panose="02040503050406030204" pitchFamily="18" charset="0"/>
                                </a:rPr>
                              </m:ctrlPr>
                            </m:fPr>
                            <m:num>
                              <m:sSub>
                                <m:sSubPr>
                                  <m:ctrlPr>
                                    <a:rPr lang="en-US" altLang="zh-CN" i="1" dirty="0">
                                      <a:latin typeface="Cambria Math" panose="02040503050406030204" pitchFamily="18" charset="0"/>
                                    </a:rPr>
                                  </m:ctrlPr>
                                </m:sSubPr>
                                <m:e>
                                  <m:d>
                                    <m:dPr>
                                      <m:ctrlPr>
                                        <a:rPr lang="en-US" altLang="zh-CN" i="1" dirty="0">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−1</m:t>
                                          </m:r>
                                        </m:sup>
                                      </m:sSup>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𝑏</m:t>
                                          </m:r>
                                        </m:e>
                                      </m:acc>
                                    </m:e>
                                  </m:d>
                                </m:e>
                                <m:sub>
                                  <m:r>
                                    <a:rPr lang="en-US" altLang="zh-CN" i="1" dirty="0">
                                      <a:latin typeface="Cambria Math" panose="02040503050406030204" pitchFamily="18" charset="0"/>
                                    </a:rPr>
                                    <m:t>𝑗</m:t>
                                  </m:r>
                                </m:sub>
                              </m:sSub>
                            </m:num>
                            <m:den>
                              <m:sSub>
                                <m:sSubPr>
                                  <m:ctrlPr>
                                    <a:rPr lang="en-US" altLang="zh-CN" i="1">
                                      <a:latin typeface="Cambria Math" panose="02040503050406030204" pitchFamily="18" charset="0"/>
                                    </a:rPr>
                                  </m:ctrlPr>
                                </m:sSubPr>
                                <m:e>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−1</m:t>
                                          </m:r>
                                        </m:sup>
                                      </m:sSup>
                                      <m:sSub>
                                        <m:sSubPr>
                                          <m:ctrlPr>
                                            <a:rPr lang="en-US" altLang="zh-CN" i="1" dirty="0">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𝐴</m:t>
                                              </m:r>
                                            </m:e>
                                          </m:acc>
                                        </m:e>
                                        <m:sub>
                                          <m:r>
                                            <a:rPr lang="en-US" altLang="zh-CN" i="1" dirty="0">
                                              <a:latin typeface="Cambria Math" panose="02040503050406030204" pitchFamily="18" charset="0"/>
                                            </a:rPr>
                                            <m:t>𝑁</m:t>
                                          </m:r>
                                          <m:r>
                                            <a:rPr lang="en-US" altLang="zh-CN" i="1" dirty="0">
                                              <a:latin typeface="Cambria Math" panose="02040503050406030204" pitchFamily="18" charset="0"/>
                                            </a:rPr>
                                            <m:t>,</m:t>
                                          </m:r>
                                          <m:r>
                                            <a:rPr lang="en-US" altLang="zh-CN" i="1" dirty="0">
                                              <a:latin typeface="Cambria Math" panose="02040503050406030204" pitchFamily="18" charset="0"/>
                                            </a:rPr>
                                            <m:t>𝑖</m:t>
                                          </m:r>
                                        </m:sub>
                                      </m:sSub>
                                    </m:e>
                                  </m:d>
                                </m:e>
                                <m:sub>
                                  <m:r>
                                    <a:rPr lang="en-US" altLang="zh-CN" i="1">
                                      <a:latin typeface="Cambria Math" panose="02040503050406030204" pitchFamily="18" charset="0"/>
                                    </a:rPr>
                                    <m:t>𝑗</m:t>
                                  </m:r>
                                </m:sub>
                              </m:sSub>
                            </m:den>
                          </m:f>
                        </m:e>
                      </m:func>
                      <m:r>
                        <a:rPr lang="en-US" altLang="zh-CN" i="1">
                          <a:latin typeface="Cambria Math" panose="02040503050406030204" pitchFamily="18" charset="0"/>
                        </a:rPr>
                        <m:t>|</m:t>
                      </m:r>
                      <m:sSub>
                        <m:sSubPr>
                          <m:ctrlPr>
                            <a:rPr lang="en-US" altLang="zh-CN" i="1">
                              <a:latin typeface="Cambria Math" panose="02040503050406030204" pitchFamily="18" charset="0"/>
                            </a:rPr>
                          </m:ctrlPr>
                        </m:sSubPr>
                        <m:e>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−1</m:t>
                                  </m:r>
                                </m:sup>
                              </m:sSup>
                              <m:sSub>
                                <m:sSubPr>
                                  <m:ctrlPr>
                                    <a:rPr lang="en-US" altLang="zh-CN" i="1" dirty="0">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𝐴</m:t>
                                      </m:r>
                                    </m:e>
                                  </m:acc>
                                </m:e>
                                <m:sub>
                                  <m:r>
                                    <a:rPr lang="en-US" altLang="zh-CN" i="1" dirty="0">
                                      <a:latin typeface="Cambria Math" panose="02040503050406030204" pitchFamily="18" charset="0"/>
                                    </a:rPr>
                                    <m:t>𝑁</m:t>
                                  </m:r>
                                  <m:r>
                                    <a:rPr lang="en-US" altLang="zh-CN" i="1" dirty="0">
                                      <a:latin typeface="Cambria Math" panose="02040503050406030204" pitchFamily="18" charset="0"/>
                                    </a:rPr>
                                    <m:t>,</m:t>
                                  </m:r>
                                  <m:r>
                                    <a:rPr lang="en-US" altLang="zh-CN" i="1" dirty="0">
                                      <a:latin typeface="Cambria Math" panose="02040503050406030204" pitchFamily="18" charset="0"/>
                                    </a:rPr>
                                    <m:t>𝑖</m:t>
                                  </m:r>
                                </m:sub>
                              </m:sSub>
                            </m:e>
                          </m:d>
                        </m:e>
                        <m:sub>
                          <m:r>
                            <a:rPr lang="en-US" altLang="zh-CN" i="1">
                              <a:latin typeface="Cambria Math" panose="02040503050406030204" pitchFamily="18" charset="0"/>
                            </a:rPr>
                            <m:t>𝑗</m:t>
                          </m:r>
                        </m:sub>
                      </m:sSub>
                      <m:r>
                        <a:rPr lang="en-US" altLang="zh-CN" i="1">
                          <a:latin typeface="Cambria Math" panose="02040503050406030204" pitchFamily="18" charset="0"/>
                        </a:rPr>
                        <m:t>&gt;0</m:t>
                      </m:r>
                    </m:oMath>
                  </m:oMathPara>
                </a14:m>
                <a:endParaRPr lang="en-US" altLang="zh-CN" dirty="0"/>
              </a:p>
            </p:txBody>
          </p:sp>
        </mc:Choice>
        <mc:Fallback xmlns="">
          <p:sp>
            <p:nvSpPr>
              <p:cNvPr id="17" name="矩形 16">
                <a:extLst>
                  <a:ext uri="{FF2B5EF4-FFF2-40B4-BE49-F238E27FC236}">
                    <a16:creationId xmlns:a16="http://schemas.microsoft.com/office/drawing/2014/main" id="{E1DB642A-85D6-40B3-8108-EB49EC3E31B3}"/>
                  </a:ext>
                </a:extLst>
              </p:cNvPr>
              <p:cNvSpPr>
                <a:spLocks noRot="1" noChangeAspect="1" noMove="1" noResize="1" noEditPoints="1" noAdjustHandles="1" noChangeArrowheads="1" noChangeShapeType="1" noTextEdit="1"/>
              </p:cNvSpPr>
              <p:nvPr/>
            </p:nvSpPr>
            <p:spPr>
              <a:xfrm>
                <a:off x="4526595" y="499156"/>
                <a:ext cx="4487319" cy="944939"/>
              </a:xfrm>
              <a:prstGeom prst="rect">
                <a:avLst/>
              </a:prstGeom>
              <a:blipFill>
                <a:blip r:embed="rId8"/>
                <a:stretch>
                  <a:fillRect/>
                </a:stretch>
              </a:blipFill>
            </p:spPr>
            <p:txBody>
              <a:bodyPr/>
              <a:lstStyle/>
              <a:p>
                <a:r>
                  <a:rPr lang="zh-CN" altLang="en-US">
                    <a:noFill/>
                  </a:rPr>
                  <a:t> </a:t>
                </a:r>
              </a:p>
            </p:txBody>
          </p:sp>
        </mc:Fallback>
      </mc:AlternateContent>
      <p:grpSp>
        <p:nvGrpSpPr>
          <p:cNvPr id="2" name="组合 1">
            <a:extLst>
              <a:ext uri="{FF2B5EF4-FFF2-40B4-BE49-F238E27FC236}">
                <a16:creationId xmlns:a16="http://schemas.microsoft.com/office/drawing/2014/main" id="{6172009C-B9D5-4758-AD66-CFDBC1EA2C86}"/>
              </a:ext>
            </a:extLst>
          </p:cNvPr>
          <p:cNvGrpSpPr/>
          <p:nvPr/>
        </p:nvGrpSpPr>
        <p:grpSpPr>
          <a:xfrm>
            <a:off x="5715111" y="3250740"/>
            <a:ext cx="2800241" cy="1468250"/>
            <a:chOff x="1727701" y="4623605"/>
            <a:chExt cx="4220075" cy="2212711"/>
          </a:xfrm>
        </p:grpSpPr>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2F97242D-677E-4704-A60F-72F4A59E00AF}"/>
                    </a:ext>
                  </a:extLst>
                </p:cNvPr>
                <p:cNvSpPr/>
                <p:nvPr/>
              </p:nvSpPr>
              <p:spPr>
                <a:xfrm>
                  <a:off x="2788939" y="4623605"/>
                  <a:ext cx="3158837" cy="3048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altLang="zh-CN" i="1">
                                <a:solidFill>
                                  <a:schemeClr val="tx1"/>
                                </a:solidFill>
                                <a:latin typeface="Cambria Math" panose="02040503050406030204" pitchFamily="18" charset="0"/>
                              </a:rPr>
                            </m:ctrlPr>
                          </m:sSupPr>
                          <m:e>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𝑐</m:t>
                                </m:r>
                              </m:e>
                            </m:acc>
                          </m:e>
                          <m:sup>
                            <m:r>
                              <a:rPr lang="en-US" altLang="zh-CN" i="1">
                                <a:solidFill>
                                  <a:schemeClr val="tx1"/>
                                </a:solidFill>
                                <a:latin typeface="Cambria Math" panose="02040503050406030204" pitchFamily="18" charset="0"/>
                              </a:rPr>
                              <m:t>𝑇</m:t>
                            </m:r>
                          </m:sup>
                        </m:sSup>
                      </m:oMath>
                    </m:oMathPara>
                  </a14:m>
                  <a:endParaRPr lang="zh-CN" altLang="en-US" dirty="0">
                    <a:solidFill>
                      <a:schemeClr val="tx1"/>
                    </a:solidFill>
                  </a:endParaRPr>
                </a:p>
              </p:txBody>
            </p:sp>
          </mc:Choice>
          <mc:Fallback xmlns="">
            <p:sp>
              <p:nvSpPr>
                <p:cNvPr id="13" name="矩形 12">
                  <a:extLst>
                    <a:ext uri="{FF2B5EF4-FFF2-40B4-BE49-F238E27FC236}">
                      <a16:creationId xmlns:a16="http://schemas.microsoft.com/office/drawing/2014/main" id="{2F97242D-677E-4704-A60F-72F4A59E00AF}"/>
                    </a:ext>
                  </a:extLst>
                </p:cNvPr>
                <p:cNvSpPr>
                  <a:spLocks noRot="1" noChangeAspect="1" noMove="1" noResize="1" noEditPoints="1" noAdjustHandles="1" noChangeArrowheads="1" noChangeShapeType="1" noTextEdit="1"/>
                </p:cNvSpPr>
                <p:nvPr/>
              </p:nvSpPr>
              <p:spPr>
                <a:xfrm>
                  <a:off x="2788939" y="4623605"/>
                  <a:ext cx="3158837" cy="304800"/>
                </a:xfrm>
                <a:prstGeom prst="rect">
                  <a:avLst/>
                </a:prstGeom>
                <a:blipFill>
                  <a:blip r:embed="rId9"/>
                  <a:stretch>
                    <a:fillRect t="-74286" b="-2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B1E068C9-3554-417F-9389-34DD47677B92}"/>
                    </a:ext>
                  </a:extLst>
                </p:cNvPr>
                <p:cNvSpPr/>
                <p:nvPr/>
              </p:nvSpPr>
              <p:spPr>
                <a:xfrm>
                  <a:off x="2788939" y="5042010"/>
                  <a:ext cx="3158837" cy="13759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altLang="zh-CN" i="1">
                                <a:solidFill>
                                  <a:schemeClr val="tx1"/>
                                </a:solidFill>
                                <a:latin typeface="Cambria Math" panose="02040503050406030204" pitchFamily="18" charset="0"/>
                              </a:rPr>
                            </m:ctrlPr>
                          </m:sSupPr>
                          <m:e>
                            <m:r>
                              <a:rPr lang="en-US" altLang="zh-CN" i="1">
                                <a:solidFill>
                                  <a:schemeClr val="tx1"/>
                                </a:solidFill>
                                <a:latin typeface="Cambria Math" panose="02040503050406030204" pitchFamily="18" charset="0"/>
                              </a:rPr>
                              <m:t>𝐵</m:t>
                            </m:r>
                          </m:e>
                          <m:sup>
                            <m:r>
                              <a:rPr lang="en-US" altLang="zh-CN" i="1">
                                <a:solidFill>
                                  <a:schemeClr val="tx1"/>
                                </a:solidFill>
                                <a:latin typeface="Cambria Math" panose="02040503050406030204" pitchFamily="18" charset="0"/>
                              </a:rPr>
                              <m:t>−1</m:t>
                            </m:r>
                          </m:sup>
                        </m:sSup>
                        <m:r>
                          <a:rPr lang="en-US" altLang="zh-CN" i="1" dirty="0">
                            <a:solidFill>
                              <a:schemeClr val="tx1"/>
                            </a:solidFill>
                            <a:latin typeface="Cambria Math" panose="02040503050406030204" pitchFamily="18" charset="0"/>
                          </a:rPr>
                          <m:t>𝐴</m:t>
                        </m:r>
                      </m:oMath>
                    </m:oMathPara>
                  </a14:m>
                  <a:endParaRPr lang="zh-CN" altLang="en-US" dirty="0">
                    <a:solidFill>
                      <a:schemeClr val="tx1"/>
                    </a:solidFill>
                  </a:endParaRPr>
                </a:p>
              </p:txBody>
            </p:sp>
          </mc:Choice>
          <mc:Fallback xmlns="">
            <p:sp>
              <p:nvSpPr>
                <p:cNvPr id="14" name="矩形 13">
                  <a:extLst>
                    <a:ext uri="{FF2B5EF4-FFF2-40B4-BE49-F238E27FC236}">
                      <a16:creationId xmlns:a16="http://schemas.microsoft.com/office/drawing/2014/main" id="{B1E068C9-3554-417F-9389-34DD47677B92}"/>
                    </a:ext>
                  </a:extLst>
                </p:cNvPr>
                <p:cNvSpPr>
                  <a:spLocks noRot="1" noChangeAspect="1" noMove="1" noResize="1" noEditPoints="1" noAdjustHandles="1" noChangeArrowheads="1" noChangeShapeType="1" noTextEdit="1"/>
                </p:cNvSpPr>
                <p:nvPr/>
              </p:nvSpPr>
              <p:spPr>
                <a:xfrm>
                  <a:off x="2788939" y="5042010"/>
                  <a:ext cx="3158837" cy="1375900"/>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A8EB2CE8-0851-43E9-BD07-2A11A95B77CD}"/>
                    </a:ext>
                  </a:extLst>
                </p:cNvPr>
                <p:cNvSpPr/>
                <p:nvPr/>
              </p:nvSpPr>
              <p:spPr>
                <a:xfrm>
                  <a:off x="1727701" y="5042010"/>
                  <a:ext cx="240723" cy="13759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rPr>
                            </m:ctrlPr>
                          </m:sSubPr>
                          <m:e>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𝑐</m:t>
                                </m:r>
                              </m:e>
                            </m:acc>
                          </m:e>
                          <m:sub>
                            <m:r>
                              <a:rPr lang="en-US" altLang="zh-CN" i="1">
                                <a:solidFill>
                                  <a:schemeClr val="tx1"/>
                                </a:solidFill>
                                <a:latin typeface="Cambria Math" panose="02040503050406030204" pitchFamily="18" charset="0"/>
                              </a:rPr>
                              <m:t>𝐵</m:t>
                            </m:r>
                          </m:sub>
                        </m:sSub>
                      </m:oMath>
                    </m:oMathPara>
                  </a14:m>
                  <a:endParaRPr lang="zh-CN" altLang="en-US" dirty="0">
                    <a:solidFill>
                      <a:schemeClr val="tx1"/>
                    </a:solidFill>
                  </a:endParaRPr>
                </a:p>
              </p:txBody>
            </p:sp>
          </mc:Choice>
          <mc:Fallback xmlns="">
            <p:sp>
              <p:nvSpPr>
                <p:cNvPr id="15" name="矩形 14">
                  <a:extLst>
                    <a:ext uri="{FF2B5EF4-FFF2-40B4-BE49-F238E27FC236}">
                      <a16:creationId xmlns:a16="http://schemas.microsoft.com/office/drawing/2014/main" id="{A8EB2CE8-0851-43E9-BD07-2A11A95B77CD}"/>
                    </a:ext>
                  </a:extLst>
                </p:cNvPr>
                <p:cNvSpPr>
                  <a:spLocks noRot="1" noChangeAspect="1" noMove="1" noResize="1" noEditPoints="1" noAdjustHandles="1" noChangeArrowheads="1" noChangeShapeType="1" noTextEdit="1"/>
                </p:cNvSpPr>
                <p:nvPr/>
              </p:nvSpPr>
              <p:spPr>
                <a:xfrm>
                  <a:off x="1727701" y="5042010"/>
                  <a:ext cx="240723" cy="1375900"/>
                </a:xfrm>
                <a:prstGeom prst="rect">
                  <a:avLst/>
                </a:prstGeom>
                <a:blipFill>
                  <a:blip r:embed="rId11"/>
                  <a:stretch>
                    <a:fillRect l="-85714" r="-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EC5E80A6-5A61-43DC-A761-7ECE07A2DF56}"/>
                    </a:ext>
                  </a:extLst>
                </p:cNvPr>
                <p:cNvSpPr/>
                <p:nvPr/>
              </p:nvSpPr>
              <p:spPr>
                <a:xfrm>
                  <a:off x="2788939" y="6531516"/>
                  <a:ext cx="3158837" cy="3048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altLang="zh-CN" i="1">
                                <a:solidFill>
                                  <a:schemeClr val="tx1"/>
                                </a:solidFill>
                                <a:latin typeface="Cambria Math" panose="02040503050406030204" pitchFamily="18" charset="0"/>
                              </a:rPr>
                            </m:ctrlPr>
                          </m:sSupPr>
                          <m:e>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𝜎</m:t>
                                </m:r>
                              </m:e>
                            </m:acc>
                          </m:e>
                          <m:sup>
                            <m:r>
                              <a:rPr lang="en-US" altLang="zh-CN" i="1">
                                <a:solidFill>
                                  <a:schemeClr val="tx1"/>
                                </a:solidFill>
                                <a:latin typeface="Cambria Math" panose="02040503050406030204" pitchFamily="18" charset="0"/>
                              </a:rPr>
                              <m:t>𝑇</m:t>
                            </m:r>
                          </m:sup>
                        </m:sSup>
                      </m:oMath>
                    </m:oMathPara>
                  </a14:m>
                  <a:endParaRPr lang="zh-CN" altLang="en-US" dirty="0">
                    <a:solidFill>
                      <a:schemeClr val="tx1"/>
                    </a:solidFill>
                  </a:endParaRPr>
                </a:p>
              </p:txBody>
            </p:sp>
          </mc:Choice>
          <mc:Fallback xmlns="">
            <p:sp>
              <p:nvSpPr>
                <p:cNvPr id="18" name="矩形 17">
                  <a:extLst>
                    <a:ext uri="{FF2B5EF4-FFF2-40B4-BE49-F238E27FC236}">
                      <a16:creationId xmlns:a16="http://schemas.microsoft.com/office/drawing/2014/main" id="{EC5E80A6-5A61-43DC-A761-7ECE07A2DF56}"/>
                    </a:ext>
                  </a:extLst>
                </p:cNvPr>
                <p:cNvSpPr>
                  <a:spLocks noRot="1" noChangeAspect="1" noMove="1" noResize="1" noEditPoints="1" noAdjustHandles="1" noChangeArrowheads="1" noChangeShapeType="1" noTextEdit="1"/>
                </p:cNvSpPr>
                <p:nvPr/>
              </p:nvSpPr>
              <p:spPr>
                <a:xfrm>
                  <a:off x="2788939" y="6531516"/>
                  <a:ext cx="3158837" cy="304800"/>
                </a:xfrm>
                <a:prstGeom prst="rect">
                  <a:avLst/>
                </a:prstGeom>
                <a:blipFill>
                  <a:blip r:embed="rId12"/>
                  <a:stretch>
                    <a:fillRect t="-74286" b="-28571"/>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4FC20826-DA74-400F-B102-75E471F9B9A8}"/>
                  </a:ext>
                </a:extLst>
              </p:cNvPr>
              <p:cNvSpPr/>
              <p:nvPr/>
            </p:nvSpPr>
            <p:spPr>
              <a:xfrm>
                <a:off x="5941942" y="3528374"/>
                <a:ext cx="410257" cy="912982"/>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altLang="zh-CN" sz="1200" i="1">
                              <a:solidFill>
                                <a:sysClr val="windowText" lastClr="000000"/>
                              </a:solidFill>
                              <a:latin typeface="Cambria Math" panose="02040503050406030204" pitchFamily="18" charset="0"/>
                            </a:rPr>
                          </m:ctrlPr>
                        </m:sSupPr>
                        <m:e>
                          <m:r>
                            <a:rPr lang="en-US" altLang="zh-CN" sz="1200" i="1">
                              <a:solidFill>
                                <a:sysClr val="windowText" lastClr="000000"/>
                              </a:solidFill>
                              <a:latin typeface="Cambria Math" panose="02040503050406030204" pitchFamily="18" charset="0"/>
                            </a:rPr>
                            <m:t>𝐵</m:t>
                          </m:r>
                        </m:e>
                        <m:sup>
                          <m:r>
                            <a:rPr lang="en-US" altLang="zh-CN" sz="1200" i="1">
                              <a:solidFill>
                                <a:sysClr val="windowText" lastClr="000000"/>
                              </a:solidFill>
                              <a:latin typeface="Cambria Math" panose="02040503050406030204" pitchFamily="18" charset="0"/>
                            </a:rPr>
                            <m:t>−1</m:t>
                          </m:r>
                        </m:sup>
                      </m:sSup>
                      <m:acc>
                        <m:accPr>
                          <m:chr m:val="⃗"/>
                          <m:ctrlPr>
                            <a:rPr lang="en-US" altLang="zh-CN" sz="1200" i="1">
                              <a:solidFill>
                                <a:sysClr val="windowText" lastClr="000000"/>
                              </a:solidFill>
                              <a:latin typeface="Cambria Math" panose="02040503050406030204" pitchFamily="18" charset="0"/>
                            </a:rPr>
                          </m:ctrlPr>
                        </m:accPr>
                        <m:e>
                          <m:r>
                            <a:rPr lang="en-US" altLang="zh-CN" sz="1200" i="1">
                              <a:solidFill>
                                <a:sysClr val="windowText" lastClr="000000"/>
                              </a:solidFill>
                              <a:latin typeface="Cambria Math" panose="02040503050406030204" pitchFamily="18" charset="0"/>
                            </a:rPr>
                            <m:t>𝑏</m:t>
                          </m:r>
                        </m:e>
                      </m:acc>
                    </m:oMath>
                  </m:oMathPara>
                </a14:m>
                <a:endParaRPr lang="zh-CN" altLang="en-US" sz="1200" dirty="0">
                  <a:solidFill>
                    <a:sysClr val="windowText" lastClr="000000"/>
                  </a:solidFill>
                </a:endParaRPr>
              </a:p>
            </p:txBody>
          </p:sp>
        </mc:Choice>
        <mc:Fallback xmlns="">
          <p:sp>
            <p:nvSpPr>
              <p:cNvPr id="19" name="矩形 18">
                <a:extLst>
                  <a:ext uri="{FF2B5EF4-FFF2-40B4-BE49-F238E27FC236}">
                    <a16:creationId xmlns:a16="http://schemas.microsoft.com/office/drawing/2014/main" id="{4FC20826-DA74-400F-B102-75E471F9B9A8}"/>
                  </a:ext>
                </a:extLst>
              </p:cNvPr>
              <p:cNvSpPr>
                <a:spLocks noRot="1" noChangeAspect="1" noMove="1" noResize="1" noEditPoints="1" noAdjustHandles="1" noChangeArrowheads="1" noChangeShapeType="1" noTextEdit="1"/>
              </p:cNvSpPr>
              <p:nvPr/>
            </p:nvSpPr>
            <p:spPr>
              <a:xfrm>
                <a:off x="5941942" y="3528374"/>
                <a:ext cx="410257" cy="912982"/>
              </a:xfrm>
              <a:prstGeom prst="rect">
                <a:avLst/>
              </a:prstGeom>
              <a:blipFill>
                <a:blip r:embed="rId13"/>
                <a:stretch>
                  <a:fillRect l="-86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74FC596C-0998-470F-B303-160D56C9EE2C}"/>
                  </a:ext>
                </a:extLst>
              </p:cNvPr>
              <p:cNvGraphicFramePr>
                <a:graphicFrameLocks noGrp="1"/>
              </p:cNvGraphicFramePr>
              <p:nvPr/>
            </p:nvGraphicFramePr>
            <p:xfrm>
              <a:off x="211149" y="4719484"/>
              <a:ext cx="6096000" cy="2101914"/>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775034011"/>
                        </a:ext>
                      </a:extLst>
                    </a:gridCol>
                    <a:gridCol w="762000">
                      <a:extLst>
                        <a:ext uri="{9D8B030D-6E8A-4147-A177-3AD203B41FA5}">
                          <a16:colId xmlns:a16="http://schemas.microsoft.com/office/drawing/2014/main" val="1586977620"/>
                        </a:ext>
                      </a:extLst>
                    </a:gridCol>
                    <a:gridCol w="762000">
                      <a:extLst>
                        <a:ext uri="{9D8B030D-6E8A-4147-A177-3AD203B41FA5}">
                          <a16:colId xmlns:a16="http://schemas.microsoft.com/office/drawing/2014/main" val="2459346512"/>
                        </a:ext>
                      </a:extLst>
                    </a:gridCol>
                    <a:gridCol w="762000">
                      <a:extLst>
                        <a:ext uri="{9D8B030D-6E8A-4147-A177-3AD203B41FA5}">
                          <a16:colId xmlns:a16="http://schemas.microsoft.com/office/drawing/2014/main" val="1426368105"/>
                        </a:ext>
                      </a:extLst>
                    </a:gridCol>
                    <a:gridCol w="762000">
                      <a:extLst>
                        <a:ext uri="{9D8B030D-6E8A-4147-A177-3AD203B41FA5}">
                          <a16:colId xmlns:a16="http://schemas.microsoft.com/office/drawing/2014/main" val="1783729747"/>
                        </a:ext>
                      </a:extLst>
                    </a:gridCol>
                    <a:gridCol w="762000">
                      <a:extLst>
                        <a:ext uri="{9D8B030D-6E8A-4147-A177-3AD203B41FA5}">
                          <a16:colId xmlns:a16="http://schemas.microsoft.com/office/drawing/2014/main" val="3541072806"/>
                        </a:ext>
                      </a:extLst>
                    </a:gridCol>
                    <a:gridCol w="762000">
                      <a:extLst>
                        <a:ext uri="{9D8B030D-6E8A-4147-A177-3AD203B41FA5}">
                          <a16:colId xmlns:a16="http://schemas.microsoft.com/office/drawing/2014/main" val="1037422741"/>
                        </a:ext>
                      </a:extLst>
                    </a:gridCol>
                    <a:gridCol w="762000">
                      <a:extLst>
                        <a:ext uri="{9D8B030D-6E8A-4147-A177-3AD203B41FA5}">
                          <a16:colId xmlns:a16="http://schemas.microsoft.com/office/drawing/2014/main" val="3359340276"/>
                        </a:ext>
                      </a:extLst>
                    </a:gridCol>
                  </a:tblGrid>
                  <a:tr h="313958">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4">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b="1" i="1" smtClean="0">
                                        <a:solidFill>
                                          <a:schemeClr val="bg1"/>
                                        </a:solidFill>
                                        <a:latin typeface="Cambria Math" panose="02040503050406030204" pitchFamily="18" charset="0"/>
                                      </a:rPr>
                                    </m:ctrlPr>
                                  </m:sSupPr>
                                  <m:e>
                                    <m:acc>
                                      <m:accPr>
                                        <m:chr m:val="⃗"/>
                                        <m:ctrlPr>
                                          <a:rPr lang="en-US" altLang="zh-CN" sz="2000" b="1" i="1" smtClean="0">
                                            <a:solidFill>
                                              <a:schemeClr val="bg1"/>
                                            </a:solidFill>
                                            <a:latin typeface="Cambria Math" panose="02040503050406030204" pitchFamily="18" charset="0"/>
                                          </a:rPr>
                                        </m:ctrlPr>
                                      </m:accPr>
                                      <m:e>
                                        <m:r>
                                          <a:rPr lang="en-US" altLang="zh-CN" sz="2000" b="1" i="1" smtClean="0">
                                            <a:solidFill>
                                              <a:schemeClr val="bg1"/>
                                            </a:solidFill>
                                            <a:latin typeface="Cambria Math" panose="02040503050406030204" pitchFamily="18" charset="0"/>
                                          </a:rPr>
                                          <m:t>𝒄</m:t>
                                        </m:r>
                                      </m:e>
                                    </m:acc>
                                  </m:e>
                                  <m:sup>
                                    <m:r>
                                      <a:rPr lang="en-US" altLang="zh-CN" sz="2000" b="1" i="1" smtClean="0">
                                        <a:solidFill>
                                          <a:schemeClr val="bg1"/>
                                        </a:solidFill>
                                        <a:latin typeface="Cambria Math" panose="02040503050406030204" pitchFamily="18" charset="0"/>
                                      </a:rPr>
                                      <m:t>𝑻</m:t>
                                    </m:r>
                                  </m:sup>
                                </m:sSup>
                              </m:oMath>
                            </m:oMathPara>
                          </a14:m>
                          <a:endParaRPr lang="zh-CN" altLang="en-US" sz="2000" b="1" dirty="0"/>
                        </a:p>
                      </a:txBody>
                      <a:tcPr anchor="ct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𝒙</m:t>
                                        </m:r>
                                      </m:e>
                                    </m:acc>
                                  </m:e>
                                  <m:sub>
                                    <m:r>
                                      <a:rPr lang="en-US" altLang="zh-CN" sz="2000" b="1" i="1" smtClean="0">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solidFill>
                                          <a:schemeClr val="tx1"/>
                                        </a:solidFill>
                                        <a:latin typeface="Cambria Math" panose="02040503050406030204" pitchFamily="18" charset="0"/>
                                      </a:rPr>
                                    </m:ctrlPr>
                                  </m:sSubPr>
                                  <m:e>
                                    <m:acc>
                                      <m:accPr>
                                        <m:chr m:val="⃗"/>
                                        <m:ctrlPr>
                                          <a:rPr lang="en-US" altLang="zh-CN" sz="2000" b="1" i="1" smtClean="0">
                                            <a:solidFill>
                                              <a:schemeClr val="tx1"/>
                                            </a:solidFill>
                                            <a:latin typeface="Cambria Math" panose="02040503050406030204" pitchFamily="18" charset="0"/>
                                          </a:rPr>
                                        </m:ctrlPr>
                                      </m:accPr>
                                      <m:e>
                                        <m:r>
                                          <a:rPr lang="en-US" altLang="zh-CN" sz="2000" b="1" i="1" smtClean="0">
                                            <a:solidFill>
                                              <a:schemeClr val="tx1"/>
                                            </a:solidFill>
                                            <a:latin typeface="Cambria Math" panose="02040503050406030204" pitchFamily="18" charset="0"/>
                                          </a:rPr>
                                          <m:t>𝒄</m:t>
                                        </m:r>
                                      </m:e>
                                    </m:acc>
                                  </m:e>
                                  <m:sub>
                                    <m:r>
                                      <a:rPr lang="en-US" altLang="zh-CN" sz="2000" b="1" i="1" smtClean="0">
                                        <a:solidFill>
                                          <a:schemeClr val="tx1"/>
                                        </a:solidFill>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CN" sz="2400" b="1" i="1" smtClean="0">
                                        <a:solidFill>
                                          <a:sysClr val="windowText" lastClr="000000"/>
                                        </a:solidFill>
                                        <a:latin typeface="Cambria Math" panose="02040503050406030204" pitchFamily="18" charset="0"/>
                                      </a:rPr>
                                    </m:ctrlPr>
                                  </m:sSupPr>
                                  <m:e>
                                    <m:r>
                                      <a:rPr lang="en-US" altLang="zh-CN" sz="2400" b="1" i="1" smtClean="0">
                                        <a:solidFill>
                                          <a:sysClr val="windowText" lastClr="000000"/>
                                        </a:solidFill>
                                        <a:latin typeface="Cambria Math" panose="02040503050406030204" pitchFamily="18" charset="0"/>
                                      </a:rPr>
                                      <m:t>𝑩</m:t>
                                    </m:r>
                                  </m:e>
                                  <m:sup>
                                    <m:r>
                                      <a:rPr lang="en-US" altLang="zh-CN" sz="2400" b="1" i="1" smtClean="0">
                                        <a:solidFill>
                                          <a:sysClr val="windowText" lastClr="000000"/>
                                        </a:solidFill>
                                        <a:latin typeface="Cambria Math" panose="02040503050406030204" pitchFamily="18" charset="0"/>
                                      </a:rPr>
                                      <m:t>−</m:t>
                                    </m:r>
                                    <m:r>
                                      <a:rPr lang="en-US" altLang="zh-CN" sz="2400" b="1" i="1" smtClean="0">
                                        <a:solidFill>
                                          <a:sysClr val="windowText" lastClr="000000"/>
                                        </a:solidFill>
                                        <a:latin typeface="Cambria Math" panose="02040503050406030204" pitchFamily="18" charset="0"/>
                                      </a:rPr>
                                      <m:t>𝟏</m:t>
                                    </m:r>
                                  </m:sup>
                                </m:sSup>
                                <m:acc>
                                  <m:accPr>
                                    <m:chr m:val="⃗"/>
                                    <m:ctrlPr>
                                      <a:rPr lang="en-US" altLang="zh-CN" sz="2400" b="1" i="1">
                                        <a:solidFill>
                                          <a:sysClr val="windowText" lastClr="000000"/>
                                        </a:solidFill>
                                        <a:latin typeface="Cambria Math" panose="02040503050406030204" pitchFamily="18" charset="0"/>
                                      </a:rPr>
                                    </m:ctrlPr>
                                  </m:accPr>
                                  <m:e>
                                    <m:r>
                                      <a:rPr lang="en-US" altLang="zh-CN" sz="2400" b="1" i="1" smtClean="0">
                                        <a:solidFill>
                                          <a:sysClr val="windowText" lastClr="000000"/>
                                        </a:solidFill>
                                        <a:latin typeface="Cambria Math" panose="02040503050406030204" pitchFamily="18" charset="0"/>
                                      </a:rPr>
                                      <m:t>𝒃</m:t>
                                    </m:r>
                                  </m:e>
                                </m:acc>
                              </m:oMath>
                            </m:oMathPara>
                          </a14:m>
                          <a:endParaRPr lang="zh-CN" altLang="en-US" sz="2000" b="1" dirty="0"/>
                        </a:p>
                      </a:txBody>
                      <a:tcPr anchor="ct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000" b="0" i="1" smtClean="0">
                                    <a:solidFill>
                                      <a:sysClr val="windowText" lastClr="000000"/>
                                    </a:solidFill>
                                    <a:latin typeface="Cambria Math" panose="02040503050406030204" pitchFamily="18" charset="0"/>
                                  </a:rPr>
                                  <m:t>𝜃</m:t>
                                </m:r>
                              </m:oMath>
                            </m:oMathPara>
                          </a14:m>
                          <a:endParaRPr lang="zh-CN" altLang="en-US" sz="2000" dirty="0">
                            <a:solidFill>
                              <a:sysClr val="windowText" lastClr="000000"/>
                            </a:solidFill>
                          </a:endParaRPr>
                        </a:p>
                      </a:txBody>
                      <a:tcPr anchor="ctr"/>
                    </a:tc>
                    <a:extLst>
                      <a:ext uri="{0D108BD9-81ED-4DB2-BD59-A6C34878D82A}">
                        <a16:rowId xmlns:a16="http://schemas.microsoft.com/office/drawing/2014/main" val="2237396716"/>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𝟑</m:t>
                                    </m:r>
                                  </m:sub>
                                </m:sSub>
                              </m:oMath>
                            </m:oMathPara>
                          </a14:m>
                          <a:endParaRPr lang="zh-CN" altLang="en-US" sz="2000" b="1" dirty="0"/>
                        </a:p>
                      </a:txBody>
                      <a:tcPr anchor="ctr"/>
                    </a:tc>
                    <a:tc>
                      <a:txBody>
                        <a:bodyPr/>
                        <a:lstStyle/>
                        <a:p>
                          <a:pPr algn="ctr"/>
                          <a:r>
                            <a:rPr lang="en-US" altLang="zh-CN" sz="2000" b="1" dirty="0"/>
                            <a:t>0</a:t>
                          </a:r>
                          <a:endParaRPr lang="zh-CN" altLang="en-US" sz="2000" b="1" dirty="0"/>
                        </a:p>
                      </a:txBody>
                      <a:tcPr anchor="ctr"/>
                    </a:tc>
                    <a:tc>
                      <a:txBody>
                        <a:bodyPr/>
                        <a:lstStyle/>
                        <a:p>
                          <a:pPr algn="ctr"/>
                          <a:r>
                            <a:rPr lang="en-US" altLang="zh-CN" sz="2000" b="1" dirty="0"/>
                            <a:t>12</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2</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highlight>
                                <a:srgbClr val="FFFF00"/>
                              </a:highlight>
                            </a:rPr>
                            <a:t>6</a:t>
                          </a:r>
                          <a:endParaRPr lang="zh-CN" altLang="en-US" sz="2000" b="1" dirty="0">
                            <a:highlight>
                              <a:srgbClr val="FFFF00"/>
                            </a:highlight>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𝟒</m:t>
                                    </m:r>
                                  </m:sub>
                                </m:sSub>
                              </m:oMath>
                            </m:oMathPara>
                          </a14:m>
                          <a:endParaRPr lang="zh-CN" altLang="en-US" sz="2000" b="1" dirty="0"/>
                        </a:p>
                      </a:txBody>
                      <a:tcPr anchor="ctr"/>
                    </a:tc>
                    <a:tc>
                      <a:txBody>
                        <a:bodyPr/>
                        <a:lstStyle/>
                        <a:p>
                          <a:pPr algn="ctr"/>
                          <a:r>
                            <a:rPr lang="en-US" altLang="zh-CN" sz="2000" b="1" dirty="0"/>
                            <a:t>0</a:t>
                          </a:r>
                          <a:endParaRPr lang="zh-CN" altLang="en-US" sz="2000" b="1" dirty="0"/>
                        </a:p>
                      </a:txBody>
                      <a:tcPr anchor="ctr"/>
                    </a:tc>
                    <a:tc>
                      <a:txBody>
                        <a:bodyPr/>
                        <a:lstStyle/>
                        <a:p>
                          <a:pPr algn="ctr"/>
                          <a:r>
                            <a:rPr lang="en-US" altLang="zh-CN" sz="2000" b="1" dirty="0"/>
                            <a:t>9</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2</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9</a:t>
                          </a: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2709">
                    <a:tc gridSpan="3">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i="1" smtClean="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𝜎</m:t>
                                        </m:r>
                                      </m:e>
                                    </m:acc>
                                  </m:e>
                                  <m:sup>
                                    <m:r>
                                      <a:rPr lang="en-US" altLang="zh-CN" sz="2000" i="1">
                                        <a:latin typeface="Cambria Math" panose="02040503050406030204" pitchFamily="18" charset="0"/>
                                      </a:rPr>
                                      <m:t>𝑇</m:t>
                                    </m:r>
                                  </m:sup>
                                </m:sSup>
                              </m:oMath>
                            </m:oMathPara>
                          </a14:m>
                          <a:endParaRPr lang="zh-CN" altLang="en-US" sz="2000" b="1" dirty="0"/>
                        </a:p>
                      </a:txBody>
                      <a:tcPr anchor="ct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2000" b="1" dirty="0">
                              <a:highlight>
                                <a:srgbClr val="FFFF00"/>
                              </a:highlight>
                            </a:rPr>
                            <a:t>1</a:t>
                          </a:r>
                          <a:endParaRPr lang="zh-CN" altLang="en-US" sz="2000" b="1" dirty="0">
                            <a:highlight>
                              <a:srgbClr val="FFFF00"/>
                            </a:highlight>
                          </a:endParaRPr>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Choice>
        <mc:Fallback xmlns="">
          <p:graphicFrame>
            <p:nvGraphicFramePr>
              <p:cNvPr id="3" name="表格 2">
                <a:extLst>
                  <a:ext uri="{FF2B5EF4-FFF2-40B4-BE49-F238E27FC236}">
                    <a16:creationId xmlns:a16="http://schemas.microsoft.com/office/drawing/2014/main" id="{74FC596C-0998-470F-B303-160D56C9EE2C}"/>
                  </a:ext>
                </a:extLst>
              </p:cNvPr>
              <p:cNvGraphicFramePr>
                <a:graphicFrameLocks noGrp="1"/>
              </p:cNvGraphicFramePr>
              <p:nvPr/>
            </p:nvGraphicFramePr>
            <p:xfrm>
              <a:off x="211149" y="4719484"/>
              <a:ext cx="6096000" cy="2101914"/>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775034011"/>
                        </a:ext>
                      </a:extLst>
                    </a:gridCol>
                    <a:gridCol w="762000">
                      <a:extLst>
                        <a:ext uri="{9D8B030D-6E8A-4147-A177-3AD203B41FA5}">
                          <a16:colId xmlns:a16="http://schemas.microsoft.com/office/drawing/2014/main" val="1586977620"/>
                        </a:ext>
                      </a:extLst>
                    </a:gridCol>
                    <a:gridCol w="762000">
                      <a:extLst>
                        <a:ext uri="{9D8B030D-6E8A-4147-A177-3AD203B41FA5}">
                          <a16:colId xmlns:a16="http://schemas.microsoft.com/office/drawing/2014/main" val="2459346512"/>
                        </a:ext>
                      </a:extLst>
                    </a:gridCol>
                    <a:gridCol w="762000">
                      <a:extLst>
                        <a:ext uri="{9D8B030D-6E8A-4147-A177-3AD203B41FA5}">
                          <a16:colId xmlns:a16="http://schemas.microsoft.com/office/drawing/2014/main" val="1426368105"/>
                        </a:ext>
                      </a:extLst>
                    </a:gridCol>
                    <a:gridCol w="762000">
                      <a:extLst>
                        <a:ext uri="{9D8B030D-6E8A-4147-A177-3AD203B41FA5}">
                          <a16:colId xmlns:a16="http://schemas.microsoft.com/office/drawing/2014/main" val="1783729747"/>
                        </a:ext>
                      </a:extLst>
                    </a:gridCol>
                    <a:gridCol w="762000">
                      <a:extLst>
                        <a:ext uri="{9D8B030D-6E8A-4147-A177-3AD203B41FA5}">
                          <a16:colId xmlns:a16="http://schemas.microsoft.com/office/drawing/2014/main" val="3541072806"/>
                        </a:ext>
                      </a:extLst>
                    </a:gridCol>
                    <a:gridCol w="762000">
                      <a:extLst>
                        <a:ext uri="{9D8B030D-6E8A-4147-A177-3AD203B41FA5}">
                          <a16:colId xmlns:a16="http://schemas.microsoft.com/office/drawing/2014/main" val="1037422741"/>
                        </a:ext>
                      </a:extLst>
                    </a:gridCol>
                    <a:gridCol w="762000">
                      <a:extLst>
                        <a:ext uri="{9D8B030D-6E8A-4147-A177-3AD203B41FA5}">
                          <a16:colId xmlns:a16="http://schemas.microsoft.com/office/drawing/2014/main" val="3359340276"/>
                        </a:ext>
                      </a:extLst>
                    </a:gridCol>
                  </a:tblGrid>
                  <a:tr h="401701">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4">
                      <a:txBody>
                        <a:bodyPr/>
                        <a:lstStyle/>
                        <a:p>
                          <a:endParaRPr lang="zh-CN"/>
                        </a:p>
                      </a:txBody>
                      <a:tcPr anchor="ctr">
                        <a:blipFill>
                          <a:blip r:embed="rId14"/>
                          <a:stretch>
                            <a:fillRect l="-75050" t="-1515" r="-25749" b="-450000"/>
                          </a:stretch>
                        </a:blipFill>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511493">
                    <a:tc>
                      <a:txBody>
                        <a:bodyPr/>
                        <a:lstStyle/>
                        <a:p>
                          <a:endParaRPr lang="zh-CN"/>
                        </a:p>
                      </a:txBody>
                      <a:tcPr anchor="ctr">
                        <a:blipFill>
                          <a:blip r:embed="rId14"/>
                          <a:stretch>
                            <a:fillRect l="-800" t="-79762" r="-704000" b="-253571"/>
                          </a:stretch>
                        </a:blipFill>
                      </a:tcPr>
                    </a:tc>
                    <a:tc>
                      <a:txBody>
                        <a:bodyPr/>
                        <a:lstStyle/>
                        <a:p>
                          <a:endParaRPr lang="zh-CN"/>
                        </a:p>
                      </a:txBody>
                      <a:tcPr anchor="ctr">
                        <a:blipFill>
                          <a:blip r:embed="rId14"/>
                          <a:stretch>
                            <a:fillRect l="-100800" t="-79762" r="-604000" b="-253571"/>
                          </a:stretch>
                        </a:blipFill>
                      </a:tcPr>
                    </a:tc>
                    <a:tc>
                      <a:txBody>
                        <a:bodyPr/>
                        <a:lstStyle/>
                        <a:p>
                          <a:endParaRPr lang="zh-CN"/>
                        </a:p>
                      </a:txBody>
                      <a:tcPr anchor="ctr">
                        <a:blipFill>
                          <a:blip r:embed="rId14"/>
                          <a:stretch>
                            <a:fillRect l="-200800" t="-79762" r="-504000" b="-253571"/>
                          </a:stretch>
                        </a:blipFill>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endParaRPr lang="zh-CN"/>
                        </a:p>
                      </a:txBody>
                      <a:tcPr anchor="ctr">
                        <a:blipFill>
                          <a:blip r:embed="rId14"/>
                          <a:stretch>
                            <a:fillRect l="-701600" t="-79762" r="-3200" b="-253571"/>
                          </a:stretch>
                        </a:blipFill>
                      </a:tcPr>
                    </a:tc>
                    <a:extLst>
                      <a:ext uri="{0D108BD9-81ED-4DB2-BD59-A6C34878D82A}">
                        <a16:rowId xmlns:a16="http://schemas.microsoft.com/office/drawing/2014/main" val="2237396716"/>
                      </a:ext>
                    </a:extLst>
                  </a:tr>
                  <a:tr h="396240">
                    <a:tc>
                      <a:txBody>
                        <a:bodyPr/>
                        <a:lstStyle/>
                        <a:p>
                          <a:endParaRPr lang="zh-CN"/>
                        </a:p>
                      </a:txBody>
                      <a:tcPr anchor="ctr">
                        <a:blipFill>
                          <a:blip r:embed="rId14"/>
                          <a:stretch>
                            <a:fillRect l="-800" t="-232308" r="-704000" b="-227692"/>
                          </a:stretch>
                        </a:blipFill>
                      </a:tcPr>
                    </a:tc>
                    <a:tc>
                      <a:txBody>
                        <a:bodyPr/>
                        <a:lstStyle/>
                        <a:p>
                          <a:pPr algn="ctr"/>
                          <a:r>
                            <a:rPr lang="en-US" altLang="zh-CN" sz="2000" b="1" dirty="0"/>
                            <a:t>0</a:t>
                          </a:r>
                          <a:endParaRPr lang="zh-CN" altLang="en-US" sz="2000" b="1" dirty="0"/>
                        </a:p>
                      </a:txBody>
                      <a:tcPr anchor="ctr"/>
                    </a:tc>
                    <a:tc>
                      <a:txBody>
                        <a:bodyPr/>
                        <a:lstStyle/>
                        <a:p>
                          <a:pPr algn="ctr"/>
                          <a:r>
                            <a:rPr lang="en-US" altLang="zh-CN" sz="2000" b="1" dirty="0"/>
                            <a:t>12</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2</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highlight>
                                <a:srgbClr val="FFFF00"/>
                              </a:highlight>
                            </a:rPr>
                            <a:t>6</a:t>
                          </a:r>
                          <a:endParaRPr lang="zh-CN" altLang="en-US" sz="2000" b="1" dirty="0">
                            <a:highlight>
                              <a:srgbClr val="FFFF00"/>
                            </a:highlight>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396240">
                    <a:tc>
                      <a:txBody>
                        <a:bodyPr/>
                        <a:lstStyle/>
                        <a:p>
                          <a:endParaRPr lang="zh-CN"/>
                        </a:p>
                      </a:txBody>
                      <a:tcPr anchor="ctr">
                        <a:blipFill>
                          <a:blip r:embed="rId14"/>
                          <a:stretch>
                            <a:fillRect l="-800" t="-332308" r="-704000" b="-127692"/>
                          </a:stretch>
                        </a:blipFill>
                      </a:tcPr>
                    </a:tc>
                    <a:tc>
                      <a:txBody>
                        <a:bodyPr/>
                        <a:lstStyle/>
                        <a:p>
                          <a:pPr algn="ctr"/>
                          <a:r>
                            <a:rPr lang="en-US" altLang="zh-CN" sz="2000" b="1" dirty="0"/>
                            <a:t>0</a:t>
                          </a:r>
                          <a:endParaRPr lang="zh-CN" altLang="en-US" sz="2000" b="1" dirty="0"/>
                        </a:p>
                      </a:txBody>
                      <a:tcPr anchor="ctr"/>
                    </a:tc>
                    <a:tc>
                      <a:txBody>
                        <a:bodyPr/>
                        <a:lstStyle/>
                        <a:p>
                          <a:pPr algn="ctr"/>
                          <a:r>
                            <a:rPr lang="en-US" altLang="zh-CN" sz="2000" b="1" dirty="0"/>
                            <a:t>9</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2</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9</a:t>
                          </a: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6240">
                    <a:tc gridSpan="3">
                      <a:txBody>
                        <a:bodyPr/>
                        <a:lstStyle/>
                        <a:p>
                          <a:endParaRPr lang="zh-CN"/>
                        </a:p>
                      </a:txBody>
                      <a:tcPr anchor="ctr">
                        <a:blipFill>
                          <a:blip r:embed="rId14"/>
                          <a:stretch>
                            <a:fillRect l="-267" t="-432308" r="-168000" b="-27692"/>
                          </a:stretch>
                        </a:blipFill>
                      </a:tcP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2000" b="1" dirty="0">
                              <a:highlight>
                                <a:srgbClr val="FFFF00"/>
                              </a:highlight>
                            </a:rPr>
                            <a:t>1</a:t>
                          </a:r>
                          <a:endParaRPr lang="zh-CN" altLang="en-US" sz="2000" b="1" dirty="0">
                            <a:highlight>
                              <a:srgbClr val="FFFF00"/>
                            </a:highlight>
                          </a:endParaRPr>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Fallback>
      </mc:AlternateContent>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091DE788-CA89-4B57-BBBB-FE51B8CBE004}"/>
                  </a:ext>
                </a:extLst>
              </p:cNvPr>
              <p:cNvSpPr/>
              <p:nvPr/>
            </p:nvSpPr>
            <p:spPr>
              <a:xfrm>
                <a:off x="8616910" y="3521344"/>
                <a:ext cx="159733" cy="944939"/>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200" i="1">
                          <a:solidFill>
                            <a:sysClr val="windowText" lastClr="000000"/>
                          </a:solidFill>
                          <a:latin typeface="Cambria Math" panose="02040503050406030204" pitchFamily="18" charset="0"/>
                        </a:rPr>
                        <m:t>𝜃</m:t>
                      </m:r>
                    </m:oMath>
                  </m:oMathPara>
                </a14:m>
                <a:endParaRPr lang="zh-CN" altLang="en-US" sz="1200" dirty="0">
                  <a:solidFill>
                    <a:sysClr val="windowText" lastClr="000000"/>
                  </a:solidFill>
                </a:endParaRPr>
              </a:p>
            </p:txBody>
          </p:sp>
        </mc:Choice>
        <mc:Fallback xmlns="">
          <p:sp>
            <p:nvSpPr>
              <p:cNvPr id="20" name="矩形 19">
                <a:extLst>
                  <a:ext uri="{FF2B5EF4-FFF2-40B4-BE49-F238E27FC236}">
                    <a16:creationId xmlns:a16="http://schemas.microsoft.com/office/drawing/2014/main" id="{091DE788-CA89-4B57-BBBB-FE51B8CBE004}"/>
                  </a:ext>
                </a:extLst>
              </p:cNvPr>
              <p:cNvSpPr>
                <a:spLocks noRot="1" noChangeAspect="1" noMove="1" noResize="1" noEditPoints="1" noAdjustHandles="1" noChangeArrowheads="1" noChangeShapeType="1" noTextEdit="1"/>
              </p:cNvSpPr>
              <p:nvPr/>
            </p:nvSpPr>
            <p:spPr>
              <a:xfrm>
                <a:off x="8616910" y="3521344"/>
                <a:ext cx="159733" cy="944939"/>
              </a:xfrm>
              <a:prstGeom prst="rect">
                <a:avLst/>
              </a:prstGeom>
              <a:blipFill>
                <a:blip r:embed="rId15"/>
                <a:stretch>
                  <a:fillRect l="-2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7A753213-AFAB-4197-9F1F-AB8B591AC38D}"/>
                  </a:ext>
                </a:extLst>
              </p:cNvPr>
              <p:cNvSpPr txBox="1"/>
              <p:nvPr/>
            </p:nvSpPr>
            <p:spPr>
              <a:xfrm>
                <a:off x="6540789" y="5542569"/>
                <a:ext cx="1853071" cy="369332"/>
              </a:xfrm>
              <a:prstGeom prst="rect">
                <a:avLst/>
              </a:prstGeom>
              <a:noFill/>
            </p:spPr>
            <p:txBody>
              <a:bodyPr wrap="none" rtlCol="0">
                <a:spAutoFit/>
              </a:bodyPr>
              <a:lstStyle/>
              <a:p>
                <a14:m>
                  <m:oMath xmlns:m="http://schemas.openxmlformats.org/officeDocument/2006/math">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𝑥</m:t>
                            </m:r>
                          </m:e>
                        </m:acc>
                      </m:e>
                      <m:sub>
                        <m:r>
                          <a:rPr lang="en-US" altLang="zh-CN" i="1">
                            <a:latin typeface="Cambria Math" panose="02040503050406030204" pitchFamily="18" charset="0"/>
                          </a:rPr>
                          <m:t>1</m:t>
                        </m:r>
                      </m:sub>
                    </m:sSub>
                    <m:r>
                      <a:rPr lang="zh-CN" altLang="en-US" i="1">
                        <a:latin typeface="Cambria Math" panose="02040503050406030204" pitchFamily="18" charset="0"/>
                      </a:rPr>
                      <m:t>换入</m:t>
                    </m:r>
                  </m:oMath>
                </a14:m>
                <a:r>
                  <a:rPr lang="zh-CN" altLang="en-US" dirty="0"/>
                  <a:t>，</a:t>
                </a:r>
                <a:r>
                  <a:rPr lang="en-US" altLang="zh-CN" dirty="0"/>
                  <a:t> </a:t>
                </a:r>
                <a14:m>
                  <m:oMath xmlns:m="http://schemas.openxmlformats.org/officeDocument/2006/math">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𝑥</m:t>
                            </m:r>
                          </m:e>
                        </m:acc>
                      </m:e>
                      <m:sub>
                        <m:r>
                          <a:rPr lang="en-US" altLang="zh-CN" i="1">
                            <a:latin typeface="Cambria Math" panose="02040503050406030204" pitchFamily="18" charset="0"/>
                          </a:rPr>
                          <m:t>3</m:t>
                        </m:r>
                      </m:sub>
                    </m:sSub>
                    <m:r>
                      <a:rPr lang="zh-CN" altLang="en-US" i="1">
                        <a:latin typeface="Cambria Math" panose="02040503050406030204" pitchFamily="18" charset="0"/>
                      </a:rPr>
                      <m:t>换出</m:t>
                    </m:r>
                  </m:oMath>
                </a14:m>
                <a:endParaRPr lang="zh-CN" altLang="en-US" dirty="0"/>
              </a:p>
            </p:txBody>
          </p:sp>
        </mc:Choice>
        <mc:Fallback xmlns="">
          <p:sp>
            <p:nvSpPr>
              <p:cNvPr id="22" name="文本框 21">
                <a:extLst>
                  <a:ext uri="{FF2B5EF4-FFF2-40B4-BE49-F238E27FC236}">
                    <a16:creationId xmlns:a16="http://schemas.microsoft.com/office/drawing/2014/main" id="{7A753213-AFAB-4197-9F1F-AB8B591AC38D}"/>
                  </a:ext>
                </a:extLst>
              </p:cNvPr>
              <p:cNvSpPr txBox="1">
                <a:spLocks noRot="1" noChangeAspect="1" noMove="1" noResize="1" noEditPoints="1" noAdjustHandles="1" noChangeArrowheads="1" noChangeShapeType="1" noTextEdit="1"/>
              </p:cNvSpPr>
              <p:nvPr/>
            </p:nvSpPr>
            <p:spPr>
              <a:xfrm>
                <a:off x="6540789" y="5542569"/>
                <a:ext cx="1853071" cy="369332"/>
              </a:xfrm>
              <a:prstGeom prst="rect">
                <a:avLst/>
              </a:prstGeom>
              <a:blipFill>
                <a:blip r:embed="rId16"/>
                <a:stretch>
                  <a:fillRect t="-22951" b="-245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05618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B7BA68-87AA-474F-BE6B-0A861FF6A614}"/>
              </a:ext>
            </a:extLst>
          </p:cNvPr>
          <p:cNvSpPr>
            <a:spLocks noGrp="1"/>
          </p:cNvSpPr>
          <p:nvPr>
            <p:ph type="title"/>
          </p:nvPr>
        </p:nvSpPr>
        <p:spPr/>
        <p:txBody>
          <a:bodyPr/>
          <a:lstStyle/>
          <a:p>
            <a:endParaRPr lang="zh-CN" altLang="en-US"/>
          </a:p>
        </p:txBody>
      </p:sp>
      <mc:AlternateContent xmlns:mc="http://schemas.openxmlformats.org/markup-compatibility/2006">
        <mc:Choice xmlns:a14="http://schemas.microsoft.com/office/drawing/2010/main" Requires="a14">
          <p:sp>
            <p:nvSpPr>
              <p:cNvPr id="4" name="内容占位符 2">
                <a:extLst>
                  <a:ext uri="{FF2B5EF4-FFF2-40B4-BE49-F238E27FC236}">
                    <a16:creationId xmlns:a16="http://schemas.microsoft.com/office/drawing/2014/main" id="{BD480420-1E69-4CE9-913B-E974775AC18F}"/>
                  </a:ext>
                </a:extLst>
              </p:cNvPr>
              <p:cNvSpPr>
                <a:spLocks noGrp="1"/>
              </p:cNvSpPr>
              <p:nvPr>
                <p:ph idx="1"/>
              </p:nvPr>
            </p:nvSpPr>
            <p:spPr>
              <a:xfrm>
                <a:off x="287784" y="4018089"/>
                <a:ext cx="8422987" cy="1963546"/>
              </a:xfrm>
            </p:spPr>
            <p:txBody>
              <a:bodyPr>
                <a:normAutofit/>
              </a:bodyPr>
              <a:lstStyle/>
              <a:p>
                <a:r>
                  <a:rPr lang="zh-CN" altLang="en-US" dirty="0"/>
                  <a:t>以</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oMath>
                </a14:m>
                <a:r>
                  <a:rPr lang="zh-CN" altLang="en-US" dirty="0"/>
                  <a:t>为非基变量，</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3</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4</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5</m:t>
                        </m:r>
                      </m:sub>
                    </m:sSub>
                  </m:oMath>
                </a14:m>
                <a:r>
                  <a:rPr lang="zh-CN" altLang="en-US" dirty="0"/>
                  <a:t>为基变量</a:t>
                </a:r>
                <a:endParaRPr lang="en-US" altLang="zh-CN" dirty="0"/>
              </a:p>
              <a:p>
                <a:pPr lvl="1"/>
                <a:endParaRPr lang="en-US" altLang="zh-CN" dirty="0"/>
              </a:p>
            </p:txBody>
          </p:sp>
        </mc:Choice>
        <mc:Fallback>
          <p:sp>
            <p:nvSpPr>
              <p:cNvPr id="4" name="内容占位符 2">
                <a:extLst>
                  <a:ext uri="{FF2B5EF4-FFF2-40B4-BE49-F238E27FC236}">
                    <a16:creationId xmlns:a16="http://schemas.microsoft.com/office/drawing/2014/main" id="{BD480420-1E69-4CE9-913B-E974775AC18F}"/>
                  </a:ext>
                </a:extLst>
              </p:cNvPr>
              <p:cNvSpPr>
                <a:spLocks noGrp="1" noRot="1" noChangeAspect="1" noMove="1" noResize="1" noEditPoints="1" noAdjustHandles="1" noChangeArrowheads="1" noChangeShapeType="1" noTextEdit="1"/>
              </p:cNvSpPr>
              <p:nvPr>
                <p:ph idx="1"/>
              </p:nvPr>
            </p:nvSpPr>
            <p:spPr>
              <a:xfrm>
                <a:off x="287784" y="4018089"/>
                <a:ext cx="8422987" cy="1963546"/>
              </a:xfrm>
              <a:blipFill>
                <a:blip r:embed="rId2"/>
                <a:stretch>
                  <a:fillRect l="-1302" t="-528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内容占位符 2">
                <a:extLst>
                  <a:ext uri="{FF2B5EF4-FFF2-40B4-BE49-F238E27FC236}">
                    <a16:creationId xmlns:a16="http://schemas.microsoft.com/office/drawing/2014/main" id="{F7508DB9-9BDF-418D-97FB-5B98DD8174EF}"/>
                  </a:ext>
                </a:extLst>
              </p:cNvPr>
              <p:cNvSpPr txBox="1">
                <a:spLocks/>
              </p:cNvSpPr>
              <p:nvPr/>
            </p:nvSpPr>
            <p:spPr>
              <a:xfrm>
                <a:off x="433229" y="2065808"/>
                <a:ext cx="6151767" cy="2512769"/>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14:m>
                  <m:oMath xmlns:m="http://schemas.openxmlformats.org/officeDocument/2006/math">
                    <m:func>
                      <m:funcPr>
                        <m:ctrlPr>
                          <a:rPr lang="en-US" altLang="zh-CN" sz="2000" i="1" smtClean="0">
                            <a:latin typeface="Cambria Math" panose="02040503050406030204" pitchFamily="18" charset="0"/>
                          </a:rPr>
                        </m:ctrlPr>
                      </m:funcPr>
                      <m:fName>
                        <m:r>
                          <m:rPr>
                            <m:sty m:val="p"/>
                          </m:rPr>
                          <a:rPr lang="en-US" altLang="zh-CN" sz="2000">
                            <a:latin typeface="Cambria Math" panose="02040503050406030204" pitchFamily="18" charset="0"/>
                          </a:rPr>
                          <m:t>max</m:t>
                        </m:r>
                      </m:fName>
                      <m:e>
                        <m:r>
                          <a:rPr lang="en-US" altLang="zh-CN" sz="2000" i="1">
                            <a:latin typeface="Cambria Math" panose="02040503050406030204" pitchFamily="18" charset="0"/>
                          </a:rPr>
                          <m:t>𝑧</m:t>
                        </m:r>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r>
                          <a:rPr lang="en-US" altLang="zh-CN" sz="2000" b="0" i="1" smtClean="0">
                            <a:latin typeface="Cambria Math" panose="02040503050406030204" pitchFamily="18" charset="0"/>
                          </a:rPr>
                          <m:t>4</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2</m:t>
                            </m:r>
                          </m:sub>
                        </m:sSub>
                      </m:e>
                    </m:func>
                    <m:r>
                      <a:rPr lang="en-US" altLang="zh-CN" sz="2000" i="1">
                        <a:latin typeface="Cambria Math" panose="02040503050406030204" pitchFamily="18" charset="0"/>
                      </a:rPr>
                      <m:t>+</m:t>
                    </m:r>
                    <m:r>
                      <a:rPr lang="en-US" altLang="zh-CN" sz="2000" b="0" i="1" smtClean="0">
                        <a:latin typeface="Cambria Math" panose="02040503050406030204" pitchFamily="18" charset="0"/>
                      </a:rPr>
                      <m:t>0</m:t>
                    </m:r>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3</m:t>
                        </m:r>
                      </m:sub>
                    </m:sSub>
                    <m:r>
                      <a:rPr lang="en-US" altLang="zh-CN" sz="2000" i="1">
                        <a:latin typeface="Cambria Math" panose="02040503050406030204" pitchFamily="18" charset="0"/>
                      </a:rPr>
                      <m:t>+0×</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4</m:t>
                        </m:r>
                      </m:sub>
                    </m:sSub>
                    <m:r>
                      <a:rPr lang="en-US" altLang="zh-CN" sz="2000" b="0" i="1" smtClean="0">
                        <a:latin typeface="Cambria Math" panose="02040503050406030204" pitchFamily="18" charset="0"/>
                      </a:rPr>
                      <m:t>+1 </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5</m:t>
                        </m:r>
                      </m:sub>
                    </m:sSub>
                  </m:oMath>
                </a14:m>
                <a:endParaRPr lang="en-US" altLang="zh-CN" sz="2400" dirty="0"/>
              </a:p>
              <a:p>
                <a14:m>
                  <m:oMath xmlns:m="http://schemas.openxmlformats.org/officeDocument/2006/math">
                    <m:r>
                      <a:rPr lang="en-US" altLang="zh-CN" sz="2400" i="1">
                        <a:latin typeface="Cambria Math" panose="02040503050406030204" pitchFamily="18" charset="0"/>
                      </a:rPr>
                      <m:t>𝑠</m:t>
                    </m:r>
                    <m:r>
                      <a:rPr lang="en-US" altLang="zh-CN" sz="2400" i="1">
                        <a:latin typeface="Cambria Math" panose="02040503050406030204" pitchFamily="18" charset="0"/>
                      </a:rPr>
                      <m:t>.</m:t>
                    </m:r>
                    <m:r>
                      <a:rPr lang="en-US" altLang="zh-CN" sz="2400" i="1">
                        <a:latin typeface="Cambria Math" panose="02040503050406030204" pitchFamily="18" charset="0"/>
                      </a:rPr>
                      <m:t>𝑡</m:t>
                    </m:r>
                    <m:r>
                      <a:rPr lang="en-US" altLang="zh-CN" sz="2400" i="1">
                        <a:latin typeface="Cambria Math" panose="02040503050406030204" pitchFamily="18" charset="0"/>
                      </a:rPr>
                      <m:t>. </m:t>
                    </m:r>
                    <m:d>
                      <m:dPr>
                        <m:begChr m:val="{"/>
                        <m:endChr m:val=""/>
                        <m:ctrlPr>
                          <a:rPr lang="en-US" altLang="zh-CN" sz="2400" i="1">
                            <a:latin typeface="Cambria Math" panose="02040503050406030204" pitchFamily="18" charset="0"/>
                          </a:rPr>
                        </m:ctrlPr>
                      </m:dPr>
                      <m:e>
                        <m:m>
                          <m:mPr>
                            <m:mcs>
                              <m:mc>
                                <m:mcPr>
                                  <m:count m:val="1"/>
                                  <m:mcJc m:val="center"/>
                                </m:mcPr>
                              </m:mc>
                            </m:mcs>
                            <m:ctrlPr>
                              <a:rPr lang="en-US" altLang="zh-CN" sz="2400" i="1">
                                <a:latin typeface="Cambria Math" panose="02040503050406030204" pitchFamily="18" charset="0"/>
                              </a:rPr>
                            </m:ctrlPr>
                          </m:mPr>
                          <m:m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2</m:t>
                                  </m:r>
                                  <m:r>
                                    <m:rPr>
                                      <m:brk m:alnAt="7"/>
                                    </m:rPr>
                                    <a:rPr lang="en-US" altLang="zh-CN" sz="2400" i="1">
                                      <a:latin typeface="Cambria Math" panose="02040503050406030204" pitchFamily="18" charset="0"/>
                                    </a:rPr>
                                    <m:t>𝑥</m:t>
                                  </m:r>
                                </m:e>
                                <m:sub>
                                  <m:r>
                                    <m:rPr>
                                      <m:brk m:alnAt="7"/>
                                    </m:rPr>
                                    <a:rPr lang="en-US" altLang="zh-CN" sz="2400" i="1">
                                      <a:latin typeface="Cambria Math" panose="02040503050406030204" pitchFamily="18" charset="0"/>
                                    </a:rPr>
                                    <m:t>1</m:t>
                                  </m:r>
                                </m:sub>
                              </m:sSub>
                              <m:r>
                                <m:rPr>
                                  <m:brk m:alnAt="7"/>
                                </m:rP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m:rPr>
                                      <m:brk m:alnAt="7"/>
                                    </m:rPr>
                                    <a:rPr lang="en-US" altLang="zh-CN" sz="2400" i="1">
                                      <a:latin typeface="Cambria Math" panose="02040503050406030204" pitchFamily="18" charset="0"/>
                                    </a:rPr>
                                    <m:t>𝑥</m:t>
                                  </m:r>
                                </m:e>
                                <m:sub>
                                  <m:r>
                                    <m:rPr>
                                      <m:brk m:alnAt="7"/>
                                    </m:rPr>
                                    <a:rPr lang="en-US" altLang="zh-CN" sz="2400" i="1">
                                      <a:latin typeface="Cambria Math" panose="02040503050406030204" pitchFamily="18" charset="0"/>
                                    </a:rPr>
                                    <m:t>2</m:t>
                                  </m:r>
                                </m:sub>
                              </m:sSub>
                              <m:r>
                                <m:rPr>
                                  <m:brk m:alnAt="7"/>
                                </m:rP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m:rPr>
                                      <m:brk m:alnAt="7"/>
                                    </m:rPr>
                                    <a:rPr lang="en-US" altLang="zh-CN" sz="2400" i="1">
                                      <a:latin typeface="Cambria Math" panose="02040503050406030204" pitchFamily="18" charset="0"/>
                                    </a:rPr>
                                    <m:t>𝑥</m:t>
                                  </m:r>
                                </m:e>
                                <m:sub>
                                  <m:r>
                                    <m:rPr>
                                      <m:brk m:alnAt="7"/>
                                    </m:rPr>
                                    <a:rPr lang="en-US" altLang="zh-CN" sz="2400" i="1">
                                      <a:latin typeface="Cambria Math" panose="02040503050406030204" pitchFamily="18" charset="0"/>
                                    </a:rPr>
                                    <m:t>3</m:t>
                                  </m:r>
                                </m:sub>
                              </m:sSub>
                              <m:r>
                                <a:rPr lang="en-US" altLang="zh-CN" sz="2400" i="1">
                                  <a:latin typeface="Cambria Math" panose="02040503050406030204" pitchFamily="18" charset="0"/>
                                </a:rPr>
                                <m:t>=12</m:t>
                              </m:r>
                            </m:e>
                          </m:mr>
                          <m:mr>
                            <m:e>
                              <m:eqArr>
                                <m:eqArrPr>
                                  <m:ctrlPr>
                                    <a:rPr lang="en-US" altLang="zh-CN" sz="2400" i="1">
                                      <a:latin typeface="Cambria Math" panose="02040503050406030204" pitchFamily="18" charset="0"/>
                                    </a:rPr>
                                  </m:ctrlPr>
                                </m:eqArrPr>
                                <m:e>
                                  <m:sSub>
                                    <m:sSubPr>
                                      <m:ctrlPr>
                                        <a:rPr lang="en-US" altLang="zh-CN" sz="2400" i="1">
                                          <a:latin typeface="Cambria Math" panose="02040503050406030204" pitchFamily="18" charset="0"/>
                                        </a:rPr>
                                      </m:ctrlPr>
                                    </m:sSubPr>
                                    <m:e>
                                      <m:r>
                                        <m:rPr>
                                          <m:brk m:alnAt="7"/>
                                        </m:rPr>
                                        <a:rPr lang="en-US" altLang="zh-CN" sz="2400" i="1">
                                          <a:latin typeface="Cambria Math" panose="02040503050406030204" pitchFamily="18" charset="0"/>
                                        </a:rPr>
                                        <m:t>𝑥</m:t>
                                      </m:r>
                                    </m:e>
                                    <m:sub>
                                      <m:r>
                                        <m:rPr>
                                          <m:brk m:alnAt="7"/>
                                        </m:rPr>
                                        <a:rPr lang="en-US" altLang="zh-CN" sz="2400" i="1">
                                          <a:latin typeface="Cambria Math" panose="02040503050406030204" pitchFamily="18" charset="0"/>
                                        </a:rPr>
                                        <m:t>1</m:t>
                                      </m:r>
                                    </m:sub>
                                  </m:sSub>
                                  <m:r>
                                    <m:rPr>
                                      <m:brk m:alnAt="7"/>
                                    </m:rPr>
                                    <a:rPr lang="en-US" altLang="zh-CN" sz="2400" i="1">
                                      <a:latin typeface="Cambria Math" panose="02040503050406030204" pitchFamily="18" charset="0"/>
                                    </a:rPr>
                                    <m:t>+</m:t>
                                  </m:r>
                                  <m:r>
                                    <a:rPr lang="en-US" altLang="zh-CN" sz="2400" i="1">
                                      <a:latin typeface="Cambria Math" panose="02040503050406030204" pitchFamily="18" charset="0"/>
                                    </a:rPr>
                                    <m:t>2</m:t>
                                  </m:r>
                                  <m:sSub>
                                    <m:sSubPr>
                                      <m:ctrlPr>
                                        <a:rPr lang="en-US" altLang="zh-CN" sz="2400" i="1">
                                          <a:latin typeface="Cambria Math" panose="02040503050406030204" pitchFamily="18" charset="0"/>
                                        </a:rPr>
                                      </m:ctrlPr>
                                    </m:sSubPr>
                                    <m:e>
                                      <m:r>
                                        <m:rPr>
                                          <m:brk m:alnAt="7"/>
                                        </m:rPr>
                                        <a:rPr lang="en-US" altLang="zh-CN" sz="2400" i="1">
                                          <a:latin typeface="Cambria Math" panose="02040503050406030204" pitchFamily="18" charset="0"/>
                                        </a:rPr>
                                        <m:t>𝑥</m:t>
                                      </m:r>
                                    </m:e>
                                    <m:sub>
                                      <m:r>
                                        <m:rPr>
                                          <m:brk m:alnAt="7"/>
                                        </m:rP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4</m:t>
                                      </m:r>
                                    </m:sub>
                                  </m:sSub>
                                  <m:r>
                                    <a:rPr lang="en-US" altLang="zh-CN" sz="2400" i="1">
                                      <a:latin typeface="Cambria Math" panose="02040503050406030204" pitchFamily="18" charset="0"/>
                                    </a:rPr>
                                    <m:t>=9</m:t>
                                  </m:r>
                                </m:e>
                                <m:e>
                                  <m:sSub>
                                    <m:sSubPr>
                                      <m:ctrlPr>
                                        <a:rPr lang="en-US" altLang="zh-CN" sz="2400" i="1">
                                          <a:latin typeface="Cambria Math" panose="02040503050406030204" pitchFamily="18" charset="0"/>
                                        </a:rPr>
                                      </m:ctrlPr>
                                    </m:sSubPr>
                                    <m:e>
                                      <m:r>
                                        <m:rPr>
                                          <m:brk m:alnAt="7"/>
                                        </m:rPr>
                                        <a:rPr lang="en-US" altLang="zh-CN" sz="2400" i="1">
                                          <a:latin typeface="Cambria Math" panose="02040503050406030204" pitchFamily="18" charset="0"/>
                                        </a:rPr>
                                        <m:t>𝑥</m:t>
                                      </m:r>
                                    </m:e>
                                    <m:sub>
                                      <m:r>
                                        <m:rPr>
                                          <m:brk m:alnAt="7"/>
                                        </m:rPr>
                                        <a:rPr lang="en-US" altLang="zh-CN" sz="2400" i="1">
                                          <a:latin typeface="Cambria Math" panose="02040503050406030204" pitchFamily="18" charset="0"/>
                                        </a:rPr>
                                        <m:t>1</m:t>
                                      </m:r>
                                    </m:sub>
                                  </m:sSub>
                                  <m:r>
                                    <m:rPr>
                                      <m:brk m:alnAt="7"/>
                                    </m:rPr>
                                    <a:rPr lang="en-US" altLang="zh-CN" sz="2400" i="1">
                                      <a:latin typeface="Cambria Math" panose="02040503050406030204" pitchFamily="18" charset="0"/>
                                    </a:rPr>
                                    <m:t>+</m:t>
                                  </m:r>
                                  <m:r>
                                    <a:rPr lang="en-US" altLang="zh-CN" sz="2400" b="0" i="1" smtClean="0">
                                      <a:latin typeface="Cambria Math" panose="02040503050406030204" pitchFamily="18" charset="0"/>
                                    </a:rPr>
                                    <m:t>3</m:t>
                                  </m:r>
                                  <m:sSub>
                                    <m:sSubPr>
                                      <m:ctrlPr>
                                        <a:rPr lang="en-US" altLang="zh-CN" sz="2400" i="1">
                                          <a:latin typeface="Cambria Math" panose="02040503050406030204" pitchFamily="18" charset="0"/>
                                        </a:rPr>
                                      </m:ctrlPr>
                                    </m:sSubPr>
                                    <m:e>
                                      <m:r>
                                        <m:rPr>
                                          <m:brk m:alnAt="7"/>
                                        </m:rPr>
                                        <a:rPr lang="en-US" altLang="zh-CN" sz="2400" i="1">
                                          <a:latin typeface="Cambria Math" panose="02040503050406030204" pitchFamily="18" charset="0"/>
                                        </a:rPr>
                                        <m:t>𝑥</m:t>
                                      </m:r>
                                    </m:e>
                                    <m:sub>
                                      <m:r>
                                        <m:rPr>
                                          <m:brk m:alnAt="7"/>
                                        </m:rP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5</m:t>
                                      </m:r>
                                    </m:sub>
                                  </m:sSub>
                                  <m:r>
                                    <a:rPr lang="en-US" altLang="zh-CN" sz="2400" i="1">
                                      <a:latin typeface="Cambria Math" panose="02040503050406030204" pitchFamily="18" charset="0"/>
                                    </a:rPr>
                                    <m:t>=</m:t>
                                  </m:r>
                                  <m:r>
                                    <a:rPr lang="en-US" altLang="zh-CN" sz="2400" b="0" i="1" smtClean="0">
                                      <a:latin typeface="Cambria Math" panose="02040503050406030204" pitchFamily="18" charset="0"/>
                                    </a:rPr>
                                    <m:t>21</m:t>
                                  </m:r>
                                </m:e>
                              </m:eqArr>
                            </m:e>
                          </m:mr>
                          <m:m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3</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4</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5</m:t>
                                  </m:r>
                                </m:sub>
                              </m:sSub>
                              <m:r>
                                <a:rPr lang="en-US" altLang="zh-CN" sz="2400" i="1">
                                  <a:latin typeface="Cambria Math" panose="02040503050406030204" pitchFamily="18" charset="0"/>
                                </a:rPr>
                                <m:t>≥0</m:t>
                              </m:r>
                            </m:e>
                          </m:mr>
                        </m:m>
                      </m:e>
                    </m:d>
                  </m:oMath>
                </a14:m>
                <a:endParaRPr lang="zh-CN" altLang="en-US" sz="2400" dirty="0"/>
              </a:p>
            </p:txBody>
          </p:sp>
        </mc:Choice>
        <mc:Fallback>
          <p:sp>
            <p:nvSpPr>
              <p:cNvPr id="5" name="内容占位符 2">
                <a:extLst>
                  <a:ext uri="{FF2B5EF4-FFF2-40B4-BE49-F238E27FC236}">
                    <a16:creationId xmlns:a16="http://schemas.microsoft.com/office/drawing/2014/main" id="{F7508DB9-9BDF-418D-97FB-5B98DD8174EF}"/>
                  </a:ext>
                </a:extLst>
              </p:cNvPr>
              <p:cNvSpPr txBox="1">
                <a:spLocks noRot="1" noChangeAspect="1" noMove="1" noResize="1" noEditPoints="1" noAdjustHandles="1" noChangeArrowheads="1" noChangeShapeType="1" noTextEdit="1"/>
              </p:cNvSpPr>
              <p:nvPr/>
            </p:nvSpPr>
            <p:spPr>
              <a:xfrm>
                <a:off x="433229" y="2065808"/>
                <a:ext cx="6151767" cy="2512769"/>
              </a:xfrm>
              <a:prstGeom prst="rect">
                <a:avLst/>
              </a:prstGeom>
              <a:blipFill>
                <a:blip r:embed="rId3"/>
                <a:stretch>
                  <a:fillRect l="-892" t="-2184"/>
                </a:stretch>
              </a:blipFill>
            </p:spPr>
            <p:txBody>
              <a:bodyPr/>
              <a:lstStyle/>
              <a:p>
                <a:r>
                  <a:rPr lang="zh-CN" altLang="en-US">
                    <a:noFill/>
                  </a:rPr>
                  <a:t> </a:t>
                </a:r>
              </a:p>
            </p:txBody>
          </p:sp>
        </mc:Fallback>
      </mc:AlternateContent>
      <p:grpSp>
        <p:nvGrpSpPr>
          <p:cNvPr id="13" name="组合 12">
            <a:extLst>
              <a:ext uri="{FF2B5EF4-FFF2-40B4-BE49-F238E27FC236}">
                <a16:creationId xmlns:a16="http://schemas.microsoft.com/office/drawing/2014/main" id="{8CD82DB6-0401-4A39-9DE3-D15F2B29835B}"/>
              </a:ext>
            </a:extLst>
          </p:cNvPr>
          <p:cNvGrpSpPr/>
          <p:nvPr/>
        </p:nvGrpSpPr>
        <p:grpSpPr>
          <a:xfrm>
            <a:off x="1210843" y="4472265"/>
            <a:ext cx="4292489" cy="2058593"/>
            <a:chOff x="1210844" y="5062608"/>
            <a:chExt cx="3061532" cy="1468250"/>
          </a:xfrm>
        </p:grpSpPr>
        <p:grpSp>
          <p:nvGrpSpPr>
            <p:cNvPr id="6" name="组合 5">
              <a:extLst>
                <a:ext uri="{FF2B5EF4-FFF2-40B4-BE49-F238E27FC236}">
                  <a16:creationId xmlns:a16="http://schemas.microsoft.com/office/drawing/2014/main" id="{280DB610-2F2B-426A-B49E-76AF3D718E9B}"/>
                </a:ext>
              </a:extLst>
            </p:cNvPr>
            <p:cNvGrpSpPr/>
            <p:nvPr/>
          </p:nvGrpSpPr>
          <p:grpSpPr>
            <a:xfrm>
              <a:off x="1210844" y="5062608"/>
              <a:ext cx="2800241" cy="1468250"/>
              <a:chOff x="1727701" y="4623605"/>
              <a:chExt cx="4220075" cy="2212711"/>
            </a:xfrm>
          </p:grpSpPr>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C6C8A522-4567-4D0E-923F-2E8DFFB0F6D6}"/>
                      </a:ext>
                    </a:extLst>
                  </p:cNvPr>
                  <p:cNvSpPr/>
                  <p:nvPr/>
                </p:nvSpPr>
                <p:spPr>
                  <a:xfrm>
                    <a:off x="2788939" y="4623605"/>
                    <a:ext cx="3158837" cy="3048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altLang="zh-CN" sz="2000" i="1">
                                  <a:solidFill>
                                    <a:schemeClr val="tx1"/>
                                  </a:solidFill>
                                  <a:latin typeface="Cambria Math" panose="02040503050406030204" pitchFamily="18" charset="0"/>
                                </a:rPr>
                              </m:ctrlPr>
                            </m:sSupPr>
                            <m:e>
                              <m:acc>
                                <m:accPr>
                                  <m:chr m:val="⃗"/>
                                  <m:ctrlPr>
                                    <a:rPr lang="en-US" altLang="zh-CN" sz="2000" i="1">
                                      <a:solidFill>
                                        <a:schemeClr val="tx1"/>
                                      </a:solidFill>
                                      <a:latin typeface="Cambria Math" panose="02040503050406030204" pitchFamily="18" charset="0"/>
                                    </a:rPr>
                                  </m:ctrlPr>
                                </m:accPr>
                                <m:e>
                                  <m:r>
                                    <a:rPr lang="en-US" altLang="zh-CN" sz="2000" i="1">
                                      <a:solidFill>
                                        <a:schemeClr val="tx1"/>
                                      </a:solidFill>
                                      <a:latin typeface="Cambria Math" panose="02040503050406030204" pitchFamily="18" charset="0"/>
                                    </a:rPr>
                                    <m:t>𝑐</m:t>
                                  </m:r>
                                </m:e>
                              </m:acc>
                            </m:e>
                            <m:sup>
                              <m:r>
                                <a:rPr lang="en-US" altLang="zh-CN" sz="2000" i="1">
                                  <a:solidFill>
                                    <a:schemeClr val="tx1"/>
                                  </a:solidFill>
                                  <a:latin typeface="Cambria Math" panose="02040503050406030204" pitchFamily="18" charset="0"/>
                                </a:rPr>
                                <m:t>𝑇</m:t>
                              </m:r>
                            </m:sup>
                          </m:sSup>
                        </m:oMath>
                      </m:oMathPara>
                    </a14:m>
                    <a:endParaRPr lang="zh-CN" altLang="en-US" sz="2000" dirty="0">
                      <a:solidFill>
                        <a:schemeClr val="tx1"/>
                      </a:solidFill>
                    </a:endParaRPr>
                  </a:p>
                </p:txBody>
              </p:sp>
            </mc:Choice>
            <mc:Fallback xmlns="">
              <p:sp>
                <p:nvSpPr>
                  <p:cNvPr id="13" name="矩形 12">
                    <a:extLst>
                      <a:ext uri="{FF2B5EF4-FFF2-40B4-BE49-F238E27FC236}">
                        <a16:creationId xmlns:a16="http://schemas.microsoft.com/office/drawing/2014/main" id="{2F97242D-677E-4704-A60F-72F4A59E00AF}"/>
                      </a:ext>
                    </a:extLst>
                  </p:cNvPr>
                  <p:cNvSpPr>
                    <a:spLocks noRot="1" noChangeAspect="1" noMove="1" noResize="1" noEditPoints="1" noAdjustHandles="1" noChangeArrowheads="1" noChangeShapeType="1" noTextEdit="1"/>
                  </p:cNvSpPr>
                  <p:nvPr/>
                </p:nvSpPr>
                <p:spPr>
                  <a:xfrm>
                    <a:off x="2788939" y="4623605"/>
                    <a:ext cx="3158837" cy="304800"/>
                  </a:xfrm>
                  <a:prstGeom prst="rect">
                    <a:avLst/>
                  </a:prstGeom>
                  <a:blipFill>
                    <a:blip r:embed="rId9"/>
                    <a:stretch>
                      <a:fillRect t="-74286" b="-2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71A53747-EA58-4ECF-BACD-EDCF0C7B4BBA}"/>
                      </a:ext>
                    </a:extLst>
                  </p:cNvPr>
                  <p:cNvSpPr/>
                  <p:nvPr/>
                </p:nvSpPr>
                <p:spPr>
                  <a:xfrm>
                    <a:off x="2788939" y="5042010"/>
                    <a:ext cx="3158837" cy="13759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altLang="zh-CN" sz="2000" i="1">
                                  <a:solidFill>
                                    <a:schemeClr val="tx1"/>
                                  </a:solidFill>
                                  <a:latin typeface="Cambria Math" panose="02040503050406030204" pitchFamily="18" charset="0"/>
                                </a:rPr>
                              </m:ctrlPr>
                            </m:sSupPr>
                            <m:e>
                              <m:r>
                                <a:rPr lang="en-US" altLang="zh-CN" sz="2000" i="1">
                                  <a:solidFill>
                                    <a:schemeClr val="tx1"/>
                                  </a:solidFill>
                                  <a:latin typeface="Cambria Math" panose="02040503050406030204" pitchFamily="18" charset="0"/>
                                </a:rPr>
                                <m:t>𝐵</m:t>
                              </m:r>
                            </m:e>
                            <m:sup>
                              <m:r>
                                <a:rPr lang="en-US" altLang="zh-CN" sz="2000" i="1">
                                  <a:solidFill>
                                    <a:schemeClr val="tx1"/>
                                  </a:solidFill>
                                  <a:latin typeface="Cambria Math" panose="02040503050406030204" pitchFamily="18" charset="0"/>
                                </a:rPr>
                                <m:t>−1</m:t>
                              </m:r>
                            </m:sup>
                          </m:sSup>
                          <m:r>
                            <a:rPr lang="en-US" altLang="zh-CN" sz="2000" i="1" dirty="0">
                              <a:solidFill>
                                <a:schemeClr val="tx1"/>
                              </a:solidFill>
                              <a:latin typeface="Cambria Math" panose="02040503050406030204" pitchFamily="18" charset="0"/>
                            </a:rPr>
                            <m:t>𝐴</m:t>
                          </m:r>
                        </m:oMath>
                      </m:oMathPara>
                    </a14:m>
                    <a:endParaRPr lang="zh-CN" altLang="en-US" sz="2000" dirty="0">
                      <a:solidFill>
                        <a:schemeClr val="tx1"/>
                      </a:solidFill>
                    </a:endParaRPr>
                  </a:p>
                </p:txBody>
              </p:sp>
            </mc:Choice>
            <mc:Fallback xmlns="">
              <p:sp>
                <p:nvSpPr>
                  <p:cNvPr id="14" name="矩形 13">
                    <a:extLst>
                      <a:ext uri="{FF2B5EF4-FFF2-40B4-BE49-F238E27FC236}">
                        <a16:creationId xmlns:a16="http://schemas.microsoft.com/office/drawing/2014/main" id="{B1E068C9-3554-417F-9389-34DD47677B92}"/>
                      </a:ext>
                    </a:extLst>
                  </p:cNvPr>
                  <p:cNvSpPr>
                    <a:spLocks noRot="1" noChangeAspect="1" noMove="1" noResize="1" noEditPoints="1" noAdjustHandles="1" noChangeArrowheads="1" noChangeShapeType="1" noTextEdit="1"/>
                  </p:cNvSpPr>
                  <p:nvPr/>
                </p:nvSpPr>
                <p:spPr>
                  <a:xfrm>
                    <a:off x="2788939" y="5042010"/>
                    <a:ext cx="3158837" cy="1375900"/>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7012411B-5FDD-4AF5-AE0F-3EC4E98A6452}"/>
                      </a:ext>
                    </a:extLst>
                  </p:cNvPr>
                  <p:cNvSpPr/>
                  <p:nvPr/>
                </p:nvSpPr>
                <p:spPr>
                  <a:xfrm>
                    <a:off x="1727701" y="5042010"/>
                    <a:ext cx="240723" cy="13759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2000" i="1">
                                  <a:solidFill>
                                    <a:schemeClr val="tx1"/>
                                  </a:solidFill>
                                  <a:latin typeface="Cambria Math" panose="02040503050406030204" pitchFamily="18" charset="0"/>
                                </a:rPr>
                              </m:ctrlPr>
                            </m:sSubPr>
                            <m:e>
                              <m:acc>
                                <m:accPr>
                                  <m:chr m:val="⃗"/>
                                  <m:ctrlPr>
                                    <a:rPr lang="en-US" altLang="zh-CN" sz="2000" i="1">
                                      <a:solidFill>
                                        <a:schemeClr val="tx1"/>
                                      </a:solidFill>
                                      <a:latin typeface="Cambria Math" panose="02040503050406030204" pitchFamily="18" charset="0"/>
                                    </a:rPr>
                                  </m:ctrlPr>
                                </m:accPr>
                                <m:e>
                                  <m:r>
                                    <a:rPr lang="en-US" altLang="zh-CN" sz="2000" i="1">
                                      <a:solidFill>
                                        <a:schemeClr val="tx1"/>
                                      </a:solidFill>
                                      <a:latin typeface="Cambria Math" panose="02040503050406030204" pitchFamily="18" charset="0"/>
                                    </a:rPr>
                                    <m:t>𝑐</m:t>
                                  </m:r>
                                </m:e>
                              </m:acc>
                            </m:e>
                            <m:sub>
                              <m:r>
                                <a:rPr lang="en-US" altLang="zh-CN" sz="2000" i="1">
                                  <a:solidFill>
                                    <a:schemeClr val="tx1"/>
                                  </a:solidFill>
                                  <a:latin typeface="Cambria Math" panose="02040503050406030204" pitchFamily="18" charset="0"/>
                                </a:rPr>
                                <m:t>𝐵</m:t>
                              </m:r>
                            </m:sub>
                          </m:sSub>
                        </m:oMath>
                      </m:oMathPara>
                    </a14:m>
                    <a:endParaRPr lang="zh-CN" altLang="en-US" sz="2000" dirty="0">
                      <a:solidFill>
                        <a:schemeClr val="tx1"/>
                      </a:solidFill>
                    </a:endParaRPr>
                  </a:p>
                </p:txBody>
              </p:sp>
            </mc:Choice>
            <mc:Fallback xmlns="">
              <p:sp>
                <p:nvSpPr>
                  <p:cNvPr id="15" name="矩形 14">
                    <a:extLst>
                      <a:ext uri="{FF2B5EF4-FFF2-40B4-BE49-F238E27FC236}">
                        <a16:creationId xmlns:a16="http://schemas.microsoft.com/office/drawing/2014/main" id="{A8EB2CE8-0851-43E9-BD07-2A11A95B77CD}"/>
                      </a:ext>
                    </a:extLst>
                  </p:cNvPr>
                  <p:cNvSpPr>
                    <a:spLocks noRot="1" noChangeAspect="1" noMove="1" noResize="1" noEditPoints="1" noAdjustHandles="1" noChangeArrowheads="1" noChangeShapeType="1" noTextEdit="1"/>
                  </p:cNvSpPr>
                  <p:nvPr/>
                </p:nvSpPr>
                <p:spPr>
                  <a:xfrm>
                    <a:off x="1727701" y="5042010"/>
                    <a:ext cx="240723" cy="1375900"/>
                  </a:xfrm>
                  <a:prstGeom prst="rect">
                    <a:avLst/>
                  </a:prstGeom>
                  <a:blipFill>
                    <a:blip r:embed="rId11"/>
                    <a:stretch>
                      <a:fillRect l="-85714" r="-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6C7CACA2-FC48-4A56-965A-4F4F92BA71CF}"/>
                      </a:ext>
                    </a:extLst>
                  </p:cNvPr>
                  <p:cNvSpPr/>
                  <p:nvPr/>
                </p:nvSpPr>
                <p:spPr>
                  <a:xfrm>
                    <a:off x="2788939" y="6531516"/>
                    <a:ext cx="3158837" cy="3048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altLang="zh-CN" sz="2000" i="1">
                                  <a:solidFill>
                                    <a:schemeClr val="tx1"/>
                                  </a:solidFill>
                                  <a:latin typeface="Cambria Math" panose="02040503050406030204" pitchFamily="18" charset="0"/>
                                </a:rPr>
                              </m:ctrlPr>
                            </m:sSupPr>
                            <m:e>
                              <m:acc>
                                <m:accPr>
                                  <m:chr m:val="⃗"/>
                                  <m:ctrlPr>
                                    <a:rPr lang="en-US" altLang="zh-CN" sz="2000" i="1">
                                      <a:solidFill>
                                        <a:schemeClr val="tx1"/>
                                      </a:solidFill>
                                      <a:latin typeface="Cambria Math" panose="02040503050406030204" pitchFamily="18" charset="0"/>
                                    </a:rPr>
                                  </m:ctrlPr>
                                </m:accPr>
                                <m:e>
                                  <m:r>
                                    <a:rPr lang="en-US" altLang="zh-CN" sz="2000" i="1">
                                      <a:solidFill>
                                        <a:schemeClr val="tx1"/>
                                      </a:solidFill>
                                      <a:latin typeface="Cambria Math" panose="02040503050406030204" pitchFamily="18" charset="0"/>
                                    </a:rPr>
                                    <m:t>𝜎</m:t>
                                  </m:r>
                                </m:e>
                              </m:acc>
                            </m:e>
                            <m:sup>
                              <m:r>
                                <a:rPr lang="en-US" altLang="zh-CN" sz="2000" i="1">
                                  <a:solidFill>
                                    <a:schemeClr val="tx1"/>
                                  </a:solidFill>
                                  <a:latin typeface="Cambria Math" panose="02040503050406030204" pitchFamily="18" charset="0"/>
                                </a:rPr>
                                <m:t>𝑇</m:t>
                              </m:r>
                            </m:sup>
                          </m:sSup>
                        </m:oMath>
                      </m:oMathPara>
                    </a14:m>
                    <a:endParaRPr lang="zh-CN" altLang="en-US" sz="2000" dirty="0">
                      <a:solidFill>
                        <a:schemeClr val="tx1"/>
                      </a:solidFill>
                    </a:endParaRPr>
                  </a:p>
                </p:txBody>
              </p:sp>
            </mc:Choice>
            <mc:Fallback xmlns="">
              <p:sp>
                <p:nvSpPr>
                  <p:cNvPr id="18" name="矩形 17">
                    <a:extLst>
                      <a:ext uri="{FF2B5EF4-FFF2-40B4-BE49-F238E27FC236}">
                        <a16:creationId xmlns:a16="http://schemas.microsoft.com/office/drawing/2014/main" id="{EC5E80A6-5A61-43DC-A761-7ECE07A2DF56}"/>
                      </a:ext>
                    </a:extLst>
                  </p:cNvPr>
                  <p:cNvSpPr>
                    <a:spLocks noRot="1" noChangeAspect="1" noMove="1" noResize="1" noEditPoints="1" noAdjustHandles="1" noChangeArrowheads="1" noChangeShapeType="1" noTextEdit="1"/>
                  </p:cNvSpPr>
                  <p:nvPr/>
                </p:nvSpPr>
                <p:spPr>
                  <a:xfrm>
                    <a:off x="2788939" y="6531516"/>
                    <a:ext cx="3158837" cy="304800"/>
                  </a:xfrm>
                  <a:prstGeom prst="rect">
                    <a:avLst/>
                  </a:prstGeom>
                  <a:blipFill>
                    <a:blip r:embed="rId12"/>
                    <a:stretch>
                      <a:fillRect t="-74286" b="-28571"/>
                    </a:stretch>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11" name="矩形 10">
                  <a:extLst>
                    <a:ext uri="{FF2B5EF4-FFF2-40B4-BE49-F238E27FC236}">
                      <a16:creationId xmlns:a16="http://schemas.microsoft.com/office/drawing/2014/main" id="{E179CE6F-5427-49B0-BBC7-68399C5D1329}"/>
                    </a:ext>
                  </a:extLst>
                </p:cNvPr>
                <p:cNvSpPr/>
                <p:nvPr/>
              </p:nvSpPr>
              <p:spPr>
                <a:xfrm>
                  <a:off x="1437675" y="5340242"/>
                  <a:ext cx="410257" cy="912982"/>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altLang="zh-CN" sz="2000" i="1">
                                <a:solidFill>
                                  <a:sysClr val="windowText" lastClr="000000"/>
                                </a:solidFill>
                                <a:latin typeface="Cambria Math" panose="02040503050406030204" pitchFamily="18" charset="0"/>
                              </a:rPr>
                            </m:ctrlPr>
                          </m:sSupPr>
                          <m:e>
                            <m:r>
                              <a:rPr lang="en-US" altLang="zh-CN" sz="2000" i="1">
                                <a:solidFill>
                                  <a:sysClr val="windowText" lastClr="000000"/>
                                </a:solidFill>
                                <a:latin typeface="Cambria Math" panose="02040503050406030204" pitchFamily="18" charset="0"/>
                              </a:rPr>
                              <m:t>𝐵</m:t>
                            </m:r>
                          </m:e>
                          <m:sup>
                            <m:r>
                              <a:rPr lang="en-US" altLang="zh-CN" sz="2000" i="1">
                                <a:solidFill>
                                  <a:sysClr val="windowText" lastClr="000000"/>
                                </a:solidFill>
                                <a:latin typeface="Cambria Math" panose="02040503050406030204" pitchFamily="18" charset="0"/>
                              </a:rPr>
                              <m:t>−1</m:t>
                            </m:r>
                          </m:sup>
                        </m:sSup>
                        <m:acc>
                          <m:accPr>
                            <m:chr m:val="⃗"/>
                            <m:ctrlPr>
                              <a:rPr lang="en-US" altLang="zh-CN" sz="2000" i="1">
                                <a:solidFill>
                                  <a:sysClr val="windowText" lastClr="000000"/>
                                </a:solidFill>
                                <a:latin typeface="Cambria Math" panose="02040503050406030204" pitchFamily="18" charset="0"/>
                              </a:rPr>
                            </m:ctrlPr>
                          </m:accPr>
                          <m:e>
                            <m:r>
                              <a:rPr lang="en-US" altLang="zh-CN" sz="2000" i="1">
                                <a:solidFill>
                                  <a:sysClr val="windowText" lastClr="000000"/>
                                </a:solidFill>
                                <a:latin typeface="Cambria Math" panose="02040503050406030204" pitchFamily="18" charset="0"/>
                              </a:rPr>
                              <m:t>𝑏</m:t>
                            </m:r>
                          </m:e>
                        </m:acc>
                      </m:oMath>
                    </m:oMathPara>
                  </a14:m>
                  <a:endParaRPr lang="zh-CN" altLang="en-US" sz="2000" dirty="0">
                    <a:solidFill>
                      <a:sysClr val="windowText" lastClr="000000"/>
                    </a:solidFill>
                  </a:endParaRPr>
                </a:p>
              </p:txBody>
            </p:sp>
          </mc:Choice>
          <mc:Fallback>
            <p:sp>
              <p:nvSpPr>
                <p:cNvPr id="11" name="矩形 10">
                  <a:extLst>
                    <a:ext uri="{FF2B5EF4-FFF2-40B4-BE49-F238E27FC236}">
                      <a16:creationId xmlns:a16="http://schemas.microsoft.com/office/drawing/2014/main" id="{E179CE6F-5427-49B0-BBC7-68399C5D1329}"/>
                    </a:ext>
                  </a:extLst>
                </p:cNvPr>
                <p:cNvSpPr>
                  <a:spLocks noRot="1" noChangeAspect="1" noMove="1" noResize="1" noEditPoints="1" noAdjustHandles="1" noChangeArrowheads="1" noChangeShapeType="1" noTextEdit="1"/>
                </p:cNvSpPr>
                <p:nvPr/>
              </p:nvSpPr>
              <p:spPr>
                <a:xfrm>
                  <a:off x="1437675" y="5340242"/>
                  <a:ext cx="410257" cy="912982"/>
                </a:xfrm>
                <a:prstGeom prst="rect">
                  <a:avLst/>
                </a:prstGeom>
                <a:blipFill>
                  <a:blip r:embed="rId13"/>
                  <a:stretch>
                    <a:fillRect l="-18750" r="-937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矩形 11">
                  <a:extLst>
                    <a:ext uri="{FF2B5EF4-FFF2-40B4-BE49-F238E27FC236}">
                      <a16:creationId xmlns:a16="http://schemas.microsoft.com/office/drawing/2014/main" id="{4DF7FFAD-A3E2-4388-AB49-FF4B712A334F}"/>
                    </a:ext>
                  </a:extLst>
                </p:cNvPr>
                <p:cNvSpPr/>
                <p:nvPr/>
              </p:nvSpPr>
              <p:spPr>
                <a:xfrm>
                  <a:off x="4112643" y="5333212"/>
                  <a:ext cx="159733" cy="944939"/>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2000" i="1">
                            <a:solidFill>
                              <a:sysClr val="windowText" lastClr="000000"/>
                            </a:solidFill>
                            <a:latin typeface="Cambria Math" panose="02040503050406030204" pitchFamily="18" charset="0"/>
                          </a:rPr>
                          <m:t>𝜃</m:t>
                        </m:r>
                      </m:oMath>
                    </m:oMathPara>
                  </a14:m>
                  <a:endParaRPr lang="zh-CN" altLang="en-US" sz="2000" dirty="0">
                    <a:solidFill>
                      <a:sysClr val="windowText" lastClr="000000"/>
                    </a:solidFill>
                  </a:endParaRPr>
                </a:p>
              </p:txBody>
            </p:sp>
          </mc:Choice>
          <mc:Fallback>
            <p:sp>
              <p:nvSpPr>
                <p:cNvPr id="12" name="矩形 11">
                  <a:extLst>
                    <a:ext uri="{FF2B5EF4-FFF2-40B4-BE49-F238E27FC236}">
                      <a16:creationId xmlns:a16="http://schemas.microsoft.com/office/drawing/2014/main" id="{4DF7FFAD-A3E2-4388-AB49-FF4B712A334F}"/>
                    </a:ext>
                  </a:extLst>
                </p:cNvPr>
                <p:cNvSpPr>
                  <a:spLocks noRot="1" noChangeAspect="1" noMove="1" noResize="1" noEditPoints="1" noAdjustHandles="1" noChangeArrowheads="1" noChangeShapeType="1" noTextEdit="1"/>
                </p:cNvSpPr>
                <p:nvPr/>
              </p:nvSpPr>
              <p:spPr>
                <a:xfrm>
                  <a:off x="4112643" y="5333212"/>
                  <a:ext cx="159733" cy="944939"/>
                </a:xfrm>
                <a:prstGeom prst="rect">
                  <a:avLst/>
                </a:prstGeom>
                <a:blipFill>
                  <a:blip r:embed="rId14"/>
                  <a:stretch>
                    <a:fillRect l="-33333" r="-5128"/>
                  </a:stretch>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14" name="矩形 13">
                <a:extLst>
                  <a:ext uri="{FF2B5EF4-FFF2-40B4-BE49-F238E27FC236}">
                    <a16:creationId xmlns:a16="http://schemas.microsoft.com/office/drawing/2014/main" id="{519468CD-9EFF-4C4C-A3F4-0706C40E2146}"/>
                  </a:ext>
                </a:extLst>
              </p:cNvPr>
              <p:cNvSpPr/>
              <p:nvPr/>
            </p:nvSpPr>
            <p:spPr>
              <a:xfrm>
                <a:off x="5766239" y="2237955"/>
                <a:ext cx="2098843" cy="373307"/>
              </a:xfrm>
              <a:prstGeom prst="rect">
                <a:avLst/>
              </a:prstGeom>
              <a:solidFill>
                <a:schemeClr val="bg1">
                  <a:lumMod val="85000"/>
                </a:schemeClr>
              </a:solidFill>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𝜎</m:t>
                              </m:r>
                            </m:e>
                          </m:acc>
                        </m:e>
                        <m:sup>
                          <m:r>
                            <a:rPr lang="en-US" altLang="zh-CN" i="1">
                              <a:latin typeface="Cambria Math" panose="02040503050406030204" pitchFamily="18" charset="0"/>
                            </a:rPr>
                            <m:t>𝑇</m:t>
                          </m:r>
                        </m:sup>
                      </m:sSup>
                      <m:r>
                        <a:rPr lang="en-US" altLang="zh-CN" i="1">
                          <a:latin typeface="Cambria Math" panose="02040503050406030204" pitchFamily="18" charset="0"/>
                        </a:rPr>
                        <m:t>=</m:t>
                      </m:r>
                      <m:sSup>
                        <m:sSupPr>
                          <m:ctrlPr>
                            <a:rPr lang="en-US" altLang="zh-CN" i="1" dirty="0">
                              <a:latin typeface="Cambria Math" panose="02040503050406030204" pitchFamily="18" charset="0"/>
                            </a:rPr>
                          </m:ctrlPr>
                        </m:s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𝑐</m:t>
                              </m:r>
                            </m:e>
                          </m:acc>
                        </m:e>
                        <m:sup>
                          <m:r>
                            <a:rPr lang="en-US" altLang="zh-CN" i="1" dirty="0">
                              <a:latin typeface="Cambria Math" panose="02040503050406030204" pitchFamily="18" charset="0"/>
                            </a:rPr>
                            <m:t>𝑇</m:t>
                          </m:r>
                        </m:sup>
                      </m:s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𝑐</m:t>
                              </m:r>
                            </m:e>
                          </m:acc>
                        </m:e>
                        <m:sub>
                          <m:r>
                            <a:rPr lang="en-US" altLang="zh-CN" i="1">
                              <a:latin typeface="Cambria Math" panose="02040503050406030204" pitchFamily="18" charset="0"/>
                            </a:rPr>
                            <m:t>𝐵</m:t>
                          </m:r>
                        </m:sub>
                        <m:sup>
                          <m:r>
                            <a:rPr lang="en-US" altLang="zh-CN" i="1">
                              <a:latin typeface="Cambria Math" panose="02040503050406030204" pitchFamily="18" charset="0"/>
                            </a:rPr>
                            <m:t>𝑇</m:t>
                          </m:r>
                        </m:sup>
                      </m:sSubSup>
                      <m:sSup>
                        <m:sSupPr>
                          <m:ctrlPr>
                            <a:rPr lang="en-US" altLang="zh-CN" i="1">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−1</m:t>
                          </m:r>
                        </m:sup>
                      </m:sSup>
                      <m:r>
                        <a:rPr lang="en-US" altLang="zh-CN" i="1" dirty="0">
                          <a:latin typeface="Cambria Math" panose="02040503050406030204" pitchFamily="18" charset="0"/>
                        </a:rPr>
                        <m:t>𝐴</m:t>
                      </m:r>
                    </m:oMath>
                  </m:oMathPara>
                </a14:m>
                <a:endParaRPr lang="en-US" altLang="zh-CN" dirty="0"/>
              </a:p>
            </p:txBody>
          </p:sp>
        </mc:Choice>
        <mc:Fallback>
          <p:sp>
            <p:nvSpPr>
              <p:cNvPr id="14" name="矩形 13">
                <a:extLst>
                  <a:ext uri="{FF2B5EF4-FFF2-40B4-BE49-F238E27FC236}">
                    <a16:creationId xmlns:a16="http://schemas.microsoft.com/office/drawing/2014/main" id="{519468CD-9EFF-4C4C-A3F4-0706C40E2146}"/>
                  </a:ext>
                </a:extLst>
              </p:cNvPr>
              <p:cNvSpPr>
                <a:spLocks noRot="1" noChangeAspect="1" noMove="1" noResize="1" noEditPoints="1" noAdjustHandles="1" noChangeArrowheads="1" noChangeShapeType="1" noTextEdit="1"/>
              </p:cNvSpPr>
              <p:nvPr/>
            </p:nvSpPr>
            <p:spPr>
              <a:xfrm>
                <a:off x="5766239" y="2237955"/>
                <a:ext cx="2098843" cy="373307"/>
              </a:xfrm>
              <a:prstGeom prst="rect">
                <a:avLst/>
              </a:prstGeom>
              <a:blipFill>
                <a:blip r:embed="rId15"/>
                <a:stretch>
                  <a:fillRect t="-21311" b="-16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矩形 14">
                <a:extLst>
                  <a:ext uri="{FF2B5EF4-FFF2-40B4-BE49-F238E27FC236}">
                    <a16:creationId xmlns:a16="http://schemas.microsoft.com/office/drawing/2014/main" id="{DA7103C9-F40D-4483-9D9E-82507F87A93D}"/>
                  </a:ext>
                </a:extLst>
              </p:cNvPr>
              <p:cNvSpPr/>
              <p:nvPr/>
            </p:nvSpPr>
            <p:spPr>
              <a:xfrm>
                <a:off x="4572000" y="2631164"/>
                <a:ext cx="4487319" cy="944939"/>
              </a:xfrm>
              <a:prstGeom prst="rect">
                <a:avLst/>
              </a:prstGeom>
              <a:solidFill>
                <a:schemeClr val="bg1">
                  <a:lumMod val="85000"/>
                </a:schemeClr>
              </a:solidFill>
            </p:spPr>
            <p:txBody>
              <a:bodyPr wrap="none">
                <a:spAutoFit/>
              </a:bodyPr>
              <a:lstStyle/>
              <a:p>
                <a:pPr lvl="1"/>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𝑁</m:t>
                          </m:r>
                          <m:r>
                            <a:rPr lang="en-US" altLang="zh-CN" i="1">
                              <a:latin typeface="Cambria Math" panose="02040503050406030204" pitchFamily="18" charset="0"/>
                            </a:rPr>
                            <m:t>,</m:t>
                          </m:r>
                          <m:r>
                            <a:rPr lang="en-US" altLang="zh-CN" i="1">
                              <a:latin typeface="Cambria Math" panose="02040503050406030204" pitchFamily="18" charset="0"/>
                            </a:rPr>
                            <m:t>𝑖</m:t>
                          </m:r>
                        </m:sub>
                      </m:sSub>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limLow>
                            <m:limLowPr>
                              <m:ctrlPr>
                                <a:rPr lang="en-US" altLang="zh-CN" i="1">
                                  <a:latin typeface="Cambria Math" panose="02040503050406030204" pitchFamily="18" charset="0"/>
                                </a:rPr>
                              </m:ctrlPr>
                            </m:limLowPr>
                            <m:e>
                              <m:r>
                                <m:rPr>
                                  <m:sty m:val="p"/>
                                </m:rPr>
                                <a:rPr lang="en-US" altLang="zh-CN">
                                  <a:latin typeface="Cambria Math" panose="02040503050406030204" pitchFamily="18" charset="0"/>
                                </a:rPr>
                                <m:t>min</m:t>
                              </m:r>
                            </m:e>
                            <m:lim>
                              <m:r>
                                <m:rPr>
                                  <m:sty m:val="p"/>
                                </m:rPr>
                                <a:rPr lang="en-US" altLang="zh-CN">
                                  <a:latin typeface="Cambria Math" panose="02040503050406030204" pitchFamily="18" charset="0"/>
                                </a:rPr>
                                <m:t>j</m:t>
                              </m:r>
                            </m:lim>
                          </m:limLow>
                        </m:fName>
                        <m:e>
                          <m:f>
                            <m:fPr>
                              <m:ctrlPr>
                                <a:rPr lang="en-US" altLang="zh-CN" i="1">
                                  <a:latin typeface="Cambria Math" panose="02040503050406030204" pitchFamily="18" charset="0"/>
                                </a:rPr>
                              </m:ctrlPr>
                            </m:fPr>
                            <m:num>
                              <m:sSub>
                                <m:sSubPr>
                                  <m:ctrlPr>
                                    <a:rPr lang="en-US" altLang="zh-CN" i="1" dirty="0">
                                      <a:latin typeface="Cambria Math" panose="02040503050406030204" pitchFamily="18" charset="0"/>
                                    </a:rPr>
                                  </m:ctrlPr>
                                </m:sSubPr>
                                <m:e>
                                  <m:d>
                                    <m:dPr>
                                      <m:ctrlPr>
                                        <a:rPr lang="en-US" altLang="zh-CN" i="1" dirty="0">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−1</m:t>
                                          </m:r>
                                        </m:sup>
                                      </m:sSup>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𝑏</m:t>
                                          </m:r>
                                        </m:e>
                                      </m:acc>
                                    </m:e>
                                  </m:d>
                                </m:e>
                                <m:sub>
                                  <m:r>
                                    <a:rPr lang="en-US" altLang="zh-CN" i="1" dirty="0">
                                      <a:latin typeface="Cambria Math" panose="02040503050406030204" pitchFamily="18" charset="0"/>
                                    </a:rPr>
                                    <m:t>𝑗</m:t>
                                  </m:r>
                                </m:sub>
                              </m:sSub>
                            </m:num>
                            <m:den>
                              <m:sSub>
                                <m:sSubPr>
                                  <m:ctrlPr>
                                    <a:rPr lang="en-US" altLang="zh-CN" i="1">
                                      <a:latin typeface="Cambria Math" panose="02040503050406030204" pitchFamily="18" charset="0"/>
                                    </a:rPr>
                                  </m:ctrlPr>
                                </m:sSubPr>
                                <m:e>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−1</m:t>
                                          </m:r>
                                        </m:sup>
                                      </m:sSup>
                                      <m:sSub>
                                        <m:sSubPr>
                                          <m:ctrlPr>
                                            <a:rPr lang="en-US" altLang="zh-CN" i="1" dirty="0">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𝐴</m:t>
                                              </m:r>
                                            </m:e>
                                          </m:acc>
                                        </m:e>
                                        <m:sub>
                                          <m:r>
                                            <a:rPr lang="en-US" altLang="zh-CN" i="1" dirty="0">
                                              <a:latin typeface="Cambria Math" panose="02040503050406030204" pitchFamily="18" charset="0"/>
                                            </a:rPr>
                                            <m:t>𝑁</m:t>
                                          </m:r>
                                          <m:r>
                                            <a:rPr lang="en-US" altLang="zh-CN" i="1" dirty="0">
                                              <a:latin typeface="Cambria Math" panose="02040503050406030204" pitchFamily="18" charset="0"/>
                                            </a:rPr>
                                            <m:t>,</m:t>
                                          </m:r>
                                          <m:r>
                                            <a:rPr lang="en-US" altLang="zh-CN" i="1" dirty="0">
                                              <a:latin typeface="Cambria Math" panose="02040503050406030204" pitchFamily="18" charset="0"/>
                                            </a:rPr>
                                            <m:t>𝑖</m:t>
                                          </m:r>
                                        </m:sub>
                                      </m:sSub>
                                    </m:e>
                                  </m:d>
                                </m:e>
                                <m:sub>
                                  <m:r>
                                    <a:rPr lang="en-US" altLang="zh-CN" i="1">
                                      <a:latin typeface="Cambria Math" panose="02040503050406030204" pitchFamily="18" charset="0"/>
                                    </a:rPr>
                                    <m:t>𝑗</m:t>
                                  </m:r>
                                </m:sub>
                              </m:sSub>
                            </m:den>
                          </m:f>
                        </m:e>
                      </m:func>
                      <m:r>
                        <a:rPr lang="en-US" altLang="zh-CN" i="1">
                          <a:latin typeface="Cambria Math" panose="02040503050406030204" pitchFamily="18" charset="0"/>
                        </a:rPr>
                        <m:t>|</m:t>
                      </m:r>
                      <m:sSub>
                        <m:sSubPr>
                          <m:ctrlPr>
                            <a:rPr lang="en-US" altLang="zh-CN" i="1">
                              <a:latin typeface="Cambria Math" panose="02040503050406030204" pitchFamily="18" charset="0"/>
                            </a:rPr>
                          </m:ctrlPr>
                        </m:sSubPr>
                        <m:e>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−1</m:t>
                                  </m:r>
                                </m:sup>
                              </m:sSup>
                              <m:sSub>
                                <m:sSubPr>
                                  <m:ctrlPr>
                                    <a:rPr lang="en-US" altLang="zh-CN" i="1" dirty="0">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𝐴</m:t>
                                      </m:r>
                                    </m:e>
                                  </m:acc>
                                </m:e>
                                <m:sub>
                                  <m:r>
                                    <a:rPr lang="en-US" altLang="zh-CN" i="1" dirty="0">
                                      <a:latin typeface="Cambria Math" panose="02040503050406030204" pitchFamily="18" charset="0"/>
                                    </a:rPr>
                                    <m:t>𝑁</m:t>
                                  </m:r>
                                  <m:r>
                                    <a:rPr lang="en-US" altLang="zh-CN" i="1" dirty="0">
                                      <a:latin typeface="Cambria Math" panose="02040503050406030204" pitchFamily="18" charset="0"/>
                                    </a:rPr>
                                    <m:t>,</m:t>
                                  </m:r>
                                  <m:r>
                                    <a:rPr lang="en-US" altLang="zh-CN" i="1" dirty="0">
                                      <a:latin typeface="Cambria Math" panose="02040503050406030204" pitchFamily="18" charset="0"/>
                                    </a:rPr>
                                    <m:t>𝑖</m:t>
                                  </m:r>
                                </m:sub>
                              </m:sSub>
                            </m:e>
                          </m:d>
                        </m:e>
                        <m:sub>
                          <m:r>
                            <a:rPr lang="en-US" altLang="zh-CN" i="1">
                              <a:latin typeface="Cambria Math" panose="02040503050406030204" pitchFamily="18" charset="0"/>
                            </a:rPr>
                            <m:t>𝑗</m:t>
                          </m:r>
                        </m:sub>
                      </m:sSub>
                      <m:r>
                        <a:rPr lang="en-US" altLang="zh-CN" i="1">
                          <a:latin typeface="Cambria Math" panose="02040503050406030204" pitchFamily="18" charset="0"/>
                        </a:rPr>
                        <m:t>&gt;0</m:t>
                      </m:r>
                    </m:oMath>
                  </m:oMathPara>
                </a14:m>
                <a:endParaRPr lang="en-US" altLang="zh-CN" dirty="0"/>
              </a:p>
            </p:txBody>
          </p:sp>
        </mc:Choice>
        <mc:Fallback>
          <p:sp>
            <p:nvSpPr>
              <p:cNvPr id="15" name="矩形 14">
                <a:extLst>
                  <a:ext uri="{FF2B5EF4-FFF2-40B4-BE49-F238E27FC236}">
                    <a16:creationId xmlns:a16="http://schemas.microsoft.com/office/drawing/2014/main" id="{DA7103C9-F40D-4483-9D9E-82507F87A93D}"/>
                  </a:ext>
                </a:extLst>
              </p:cNvPr>
              <p:cNvSpPr>
                <a:spLocks noRot="1" noChangeAspect="1" noMove="1" noResize="1" noEditPoints="1" noAdjustHandles="1" noChangeArrowheads="1" noChangeShapeType="1" noTextEdit="1"/>
              </p:cNvSpPr>
              <p:nvPr/>
            </p:nvSpPr>
            <p:spPr>
              <a:xfrm>
                <a:off x="4572000" y="2631164"/>
                <a:ext cx="4487319" cy="944939"/>
              </a:xfrm>
              <a:prstGeom prst="rect">
                <a:avLst/>
              </a:prstGeom>
              <a:blipFill>
                <a:blip r:embed="rId16"/>
                <a:stretch>
                  <a:fillRect b="-193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229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19A3512E-59E0-4B86-9712-70E7D0ED91BD}"/>
                  </a:ext>
                </a:extLst>
              </p:cNvPr>
              <p:cNvSpPr>
                <a:spLocks noGrp="1"/>
              </p:cNvSpPr>
              <p:nvPr>
                <p:ph idx="1"/>
              </p:nvPr>
            </p:nvSpPr>
            <p:spPr>
              <a:xfrm>
                <a:off x="360508" y="730493"/>
                <a:ext cx="8422987" cy="1963546"/>
              </a:xfrm>
            </p:spPr>
            <p:txBody>
              <a:bodyPr>
                <a:normAutofit/>
              </a:bodyPr>
              <a:lstStyle/>
              <a:p>
                <a:r>
                  <a:rPr lang="zh-CN" altLang="en-US" dirty="0"/>
                  <a:t>以</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3</m:t>
                        </m:r>
                      </m:sub>
                    </m:sSub>
                  </m:oMath>
                </a14:m>
                <a:r>
                  <a:rPr lang="zh-CN" altLang="en-US" dirty="0"/>
                  <a:t>为非基变量，</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4</m:t>
                        </m:r>
                      </m:sub>
                    </m:sSub>
                  </m:oMath>
                </a14:m>
                <a:r>
                  <a:rPr lang="zh-CN" altLang="en-US" dirty="0"/>
                  <a:t>为基变量</a:t>
                </a:r>
                <a:endParaRPr lang="en-US" altLang="zh-CN" dirty="0"/>
              </a:p>
              <a:p>
                <a:pPr lvl="1"/>
                <a:endParaRPr lang="en-US" altLang="zh-CN" dirty="0"/>
              </a:p>
            </p:txBody>
          </p:sp>
        </mc:Choice>
        <mc:Fallback xmlns="">
          <p:sp>
            <p:nvSpPr>
              <p:cNvPr id="4" name="内容占位符 2">
                <a:extLst>
                  <a:ext uri="{FF2B5EF4-FFF2-40B4-BE49-F238E27FC236}">
                    <a16:creationId xmlns:a16="http://schemas.microsoft.com/office/drawing/2014/main" id="{19A3512E-59E0-4B86-9712-70E7D0ED91BD}"/>
                  </a:ext>
                </a:extLst>
              </p:cNvPr>
              <p:cNvSpPr>
                <a:spLocks noGrp="1" noRot="1" noChangeAspect="1" noMove="1" noResize="1" noEditPoints="1" noAdjustHandles="1" noChangeArrowheads="1" noChangeShapeType="1" noTextEdit="1"/>
              </p:cNvSpPr>
              <p:nvPr>
                <p:ph idx="1"/>
              </p:nvPr>
            </p:nvSpPr>
            <p:spPr>
              <a:xfrm>
                <a:off x="360508" y="730493"/>
                <a:ext cx="8422987" cy="1963546"/>
              </a:xfrm>
              <a:blipFill>
                <a:blip r:embed="rId2"/>
                <a:stretch>
                  <a:fillRect l="-1302" t="-5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7" name="表格 16">
                <a:extLst>
                  <a:ext uri="{FF2B5EF4-FFF2-40B4-BE49-F238E27FC236}">
                    <a16:creationId xmlns:a16="http://schemas.microsoft.com/office/drawing/2014/main" id="{0DAD97F6-9D58-4C1C-A9A3-4364C3ED2A23}"/>
                  </a:ext>
                </a:extLst>
              </p:cNvPr>
              <p:cNvGraphicFramePr>
                <a:graphicFrameLocks noGrp="1"/>
              </p:cNvGraphicFramePr>
              <p:nvPr>
                <p:extLst>
                  <p:ext uri="{D42A27DB-BD31-4B8C-83A1-F6EECF244321}">
                    <p14:modId xmlns:p14="http://schemas.microsoft.com/office/powerpoint/2010/main" val="515555146"/>
                  </p:ext>
                </p:extLst>
              </p:nvPr>
            </p:nvGraphicFramePr>
            <p:xfrm>
              <a:off x="953345" y="1271577"/>
              <a:ext cx="6096000" cy="2101914"/>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775034011"/>
                        </a:ext>
                      </a:extLst>
                    </a:gridCol>
                    <a:gridCol w="762000">
                      <a:extLst>
                        <a:ext uri="{9D8B030D-6E8A-4147-A177-3AD203B41FA5}">
                          <a16:colId xmlns:a16="http://schemas.microsoft.com/office/drawing/2014/main" val="1586977620"/>
                        </a:ext>
                      </a:extLst>
                    </a:gridCol>
                    <a:gridCol w="762000">
                      <a:extLst>
                        <a:ext uri="{9D8B030D-6E8A-4147-A177-3AD203B41FA5}">
                          <a16:colId xmlns:a16="http://schemas.microsoft.com/office/drawing/2014/main" val="2459346512"/>
                        </a:ext>
                      </a:extLst>
                    </a:gridCol>
                    <a:gridCol w="762000">
                      <a:extLst>
                        <a:ext uri="{9D8B030D-6E8A-4147-A177-3AD203B41FA5}">
                          <a16:colId xmlns:a16="http://schemas.microsoft.com/office/drawing/2014/main" val="1426368105"/>
                        </a:ext>
                      </a:extLst>
                    </a:gridCol>
                    <a:gridCol w="762000">
                      <a:extLst>
                        <a:ext uri="{9D8B030D-6E8A-4147-A177-3AD203B41FA5}">
                          <a16:colId xmlns:a16="http://schemas.microsoft.com/office/drawing/2014/main" val="1783729747"/>
                        </a:ext>
                      </a:extLst>
                    </a:gridCol>
                    <a:gridCol w="762000">
                      <a:extLst>
                        <a:ext uri="{9D8B030D-6E8A-4147-A177-3AD203B41FA5}">
                          <a16:colId xmlns:a16="http://schemas.microsoft.com/office/drawing/2014/main" val="3541072806"/>
                        </a:ext>
                      </a:extLst>
                    </a:gridCol>
                    <a:gridCol w="762000">
                      <a:extLst>
                        <a:ext uri="{9D8B030D-6E8A-4147-A177-3AD203B41FA5}">
                          <a16:colId xmlns:a16="http://schemas.microsoft.com/office/drawing/2014/main" val="1037422741"/>
                        </a:ext>
                      </a:extLst>
                    </a:gridCol>
                    <a:gridCol w="762000">
                      <a:extLst>
                        <a:ext uri="{9D8B030D-6E8A-4147-A177-3AD203B41FA5}">
                          <a16:colId xmlns:a16="http://schemas.microsoft.com/office/drawing/2014/main" val="3359340276"/>
                        </a:ext>
                      </a:extLst>
                    </a:gridCol>
                  </a:tblGrid>
                  <a:tr h="313958">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4">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b="1" i="1" smtClean="0">
                                        <a:solidFill>
                                          <a:schemeClr val="bg1"/>
                                        </a:solidFill>
                                        <a:latin typeface="Cambria Math" panose="02040503050406030204" pitchFamily="18" charset="0"/>
                                      </a:rPr>
                                    </m:ctrlPr>
                                  </m:sSupPr>
                                  <m:e>
                                    <m:acc>
                                      <m:accPr>
                                        <m:chr m:val="⃗"/>
                                        <m:ctrlPr>
                                          <a:rPr lang="en-US" altLang="zh-CN" sz="2000" b="1" i="1" smtClean="0">
                                            <a:solidFill>
                                              <a:schemeClr val="bg1"/>
                                            </a:solidFill>
                                            <a:latin typeface="Cambria Math" panose="02040503050406030204" pitchFamily="18" charset="0"/>
                                          </a:rPr>
                                        </m:ctrlPr>
                                      </m:accPr>
                                      <m:e>
                                        <m:r>
                                          <a:rPr lang="en-US" altLang="zh-CN" sz="2000" b="1" i="1" smtClean="0">
                                            <a:solidFill>
                                              <a:schemeClr val="bg1"/>
                                            </a:solidFill>
                                            <a:latin typeface="Cambria Math" panose="02040503050406030204" pitchFamily="18" charset="0"/>
                                          </a:rPr>
                                          <m:t>𝒄</m:t>
                                        </m:r>
                                      </m:e>
                                    </m:acc>
                                  </m:e>
                                  <m:sup>
                                    <m:r>
                                      <a:rPr lang="en-US" altLang="zh-CN" sz="2000" b="1" i="1" smtClean="0">
                                        <a:solidFill>
                                          <a:schemeClr val="bg1"/>
                                        </a:solidFill>
                                        <a:latin typeface="Cambria Math" panose="02040503050406030204" pitchFamily="18" charset="0"/>
                                      </a:rPr>
                                      <m:t>𝑻</m:t>
                                    </m:r>
                                  </m:sup>
                                </m:sSup>
                              </m:oMath>
                            </m:oMathPara>
                          </a14:m>
                          <a:endParaRPr lang="zh-CN" altLang="en-US" sz="2000" b="1" dirty="0"/>
                        </a:p>
                      </a:txBody>
                      <a:tcPr anchor="ct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𝒙</m:t>
                                        </m:r>
                                      </m:e>
                                    </m:acc>
                                  </m:e>
                                  <m:sub>
                                    <m:r>
                                      <a:rPr lang="en-US" altLang="zh-CN" sz="2000" b="1" i="1" smtClean="0">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solidFill>
                                          <a:schemeClr val="tx1"/>
                                        </a:solidFill>
                                        <a:latin typeface="Cambria Math" panose="02040503050406030204" pitchFamily="18" charset="0"/>
                                      </a:rPr>
                                    </m:ctrlPr>
                                  </m:sSubPr>
                                  <m:e>
                                    <m:acc>
                                      <m:accPr>
                                        <m:chr m:val="⃗"/>
                                        <m:ctrlPr>
                                          <a:rPr lang="en-US" altLang="zh-CN" sz="2000" b="1" i="1" smtClean="0">
                                            <a:solidFill>
                                              <a:schemeClr val="tx1"/>
                                            </a:solidFill>
                                            <a:latin typeface="Cambria Math" panose="02040503050406030204" pitchFamily="18" charset="0"/>
                                          </a:rPr>
                                        </m:ctrlPr>
                                      </m:accPr>
                                      <m:e>
                                        <m:r>
                                          <a:rPr lang="en-US" altLang="zh-CN" sz="2000" b="1" i="1" smtClean="0">
                                            <a:solidFill>
                                              <a:schemeClr val="tx1"/>
                                            </a:solidFill>
                                            <a:latin typeface="Cambria Math" panose="02040503050406030204" pitchFamily="18" charset="0"/>
                                          </a:rPr>
                                          <m:t>𝒄</m:t>
                                        </m:r>
                                      </m:e>
                                    </m:acc>
                                  </m:e>
                                  <m:sub>
                                    <m:r>
                                      <a:rPr lang="en-US" altLang="zh-CN" sz="2000" b="1" i="1" smtClean="0">
                                        <a:solidFill>
                                          <a:schemeClr val="tx1"/>
                                        </a:solidFill>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CN" sz="2400" b="1" i="1" smtClean="0">
                                        <a:solidFill>
                                          <a:sysClr val="windowText" lastClr="000000"/>
                                        </a:solidFill>
                                        <a:latin typeface="Cambria Math" panose="02040503050406030204" pitchFamily="18" charset="0"/>
                                      </a:rPr>
                                    </m:ctrlPr>
                                  </m:sSupPr>
                                  <m:e>
                                    <m:r>
                                      <a:rPr lang="en-US" altLang="zh-CN" sz="2400" b="1" i="1" smtClean="0">
                                        <a:solidFill>
                                          <a:sysClr val="windowText" lastClr="000000"/>
                                        </a:solidFill>
                                        <a:latin typeface="Cambria Math" panose="02040503050406030204" pitchFamily="18" charset="0"/>
                                      </a:rPr>
                                      <m:t>𝑩</m:t>
                                    </m:r>
                                  </m:e>
                                  <m:sup>
                                    <m:r>
                                      <a:rPr lang="en-US" altLang="zh-CN" sz="2400" b="1" i="1" smtClean="0">
                                        <a:solidFill>
                                          <a:sysClr val="windowText" lastClr="000000"/>
                                        </a:solidFill>
                                        <a:latin typeface="Cambria Math" panose="02040503050406030204" pitchFamily="18" charset="0"/>
                                      </a:rPr>
                                      <m:t>−</m:t>
                                    </m:r>
                                    <m:r>
                                      <a:rPr lang="en-US" altLang="zh-CN" sz="2400" b="1" i="1" smtClean="0">
                                        <a:solidFill>
                                          <a:sysClr val="windowText" lastClr="000000"/>
                                        </a:solidFill>
                                        <a:latin typeface="Cambria Math" panose="02040503050406030204" pitchFamily="18" charset="0"/>
                                      </a:rPr>
                                      <m:t>𝟏</m:t>
                                    </m:r>
                                  </m:sup>
                                </m:sSup>
                                <m:acc>
                                  <m:accPr>
                                    <m:chr m:val="⃗"/>
                                    <m:ctrlPr>
                                      <a:rPr lang="en-US" altLang="zh-CN" sz="2400" b="1" i="1">
                                        <a:solidFill>
                                          <a:sysClr val="windowText" lastClr="000000"/>
                                        </a:solidFill>
                                        <a:latin typeface="Cambria Math" panose="02040503050406030204" pitchFamily="18" charset="0"/>
                                      </a:rPr>
                                    </m:ctrlPr>
                                  </m:accPr>
                                  <m:e>
                                    <m:r>
                                      <a:rPr lang="en-US" altLang="zh-CN" sz="2400" b="1" i="1" smtClean="0">
                                        <a:solidFill>
                                          <a:sysClr val="windowText" lastClr="000000"/>
                                        </a:solidFill>
                                        <a:latin typeface="Cambria Math" panose="02040503050406030204" pitchFamily="18" charset="0"/>
                                      </a:rPr>
                                      <m:t>𝒃</m:t>
                                    </m:r>
                                  </m:e>
                                </m:acc>
                              </m:oMath>
                            </m:oMathPara>
                          </a14:m>
                          <a:endParaRPr lang="zh-CN" altLang="en-US" sz="2000" b="1" dirty="0"/>
                        </a:p>
                      </a:txBody>
                      <a:tcPr anchor="ct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000" b="0" i="1" smtClean="0">
                                    <a:solidFill>
                                      <a:sysClr val="windowText" lastClr="000000"/>
                                    </a:solidFill>
                                    <a:latin typeface="Cambria Math" panose="02040503050406030204" pitchFamily="18" charset="0"/>
                                  </a:rPr>
                                  <m:t>𝜃</m:t>
                                </m:r>
                              </m:oMath>
                            </m:oMathPara>
                          </a14:m>
                          <a:endParaRPr lang="zh-CN" altLang="en-US" sz="2000" dirty="0">
                            <a:solidFill>
                              <a:sysClr val="windowText" lastClr="000000"/>
                            </a:solidFill>
                          </a:endParaRPr>
                        </a:p>
                      </a:txBody>
                      <a:tcPr anchor="ctr"/>
                    </a:tc>
                    <a:extLst>
                      <a:ext uri="{0D108BD9-81ED-4DB2-BD59-A6C34878D82A}">
                        <a16:rowId xmlns:a16="http://schemas.microsoft.com/office/drawing/2014/main" val="2237396716"/>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𝟏</m:t>
                                    </m:r>
                                  </m:sub>
                                </m:sSub>
                              </m:oMath>
                            </m:oMathPara>
                          </a14:m>
                          <a:endParaRPr lang="zh-CN" altLang="en-US" sz="2000" b="1" dirty="0"/>
                        </a:p>
                      </a:txBody>
                      <a:tcPr anchor="ctr"/>
                    </a:tc>
                    <a:tc>
                      <a:txBody>
                        <a:bodyPr/>
                        <a:lstStyle/>
                        <a:p>
                          <a:pPr algn="ctr"/>
                          <a:r>
                            <a:rPr lang="en-US" altLang="zh-CN" sz="2000" b="1" dirty="0"/>
                            <a:t>1</a:t>
                          </a:r>
                          <a:endParaRPr lang="zh-CN" altLang="en-US" sz="2000" b="1" dirty="0"/>
                        </a:p>
                      </a:txBody>
                      <a:tcPr anchor="ctr"/>
                    </a:tc>
                    <a:tc>
                      <a:txBody>
                        <a:bodyPr/>
                        <a:lstStyle/>
                        <a:p>
                          <a:pPr algn="ctr"/>
                          <a:r>
                            <a:rPr lang="zh-CN" altLang="en-US" sz="2000" b="1" dirty="0"/>
                            <a:t>？</a:t>
                          </a:r>
                        </a:p>
                      </a:txBody>
                      <a:tcPr anchor="ctr">
                        <a:lnR w="12700" cap="flat" cmpd="sng" algn="ctr">
                          <a:solidFill>
                            <a:schemeClr val="tx1"/>
                          </a:solidFill>
                          <a:prstDash val="solid"/>
                          <a:round/>
                          <a:headEnd type="none" w="med" len="med"/>
                          <a:tailEnd type="none" w="med" len="med"/>
                        </a:lnR>
                      </a:tcPr>
                    </a:tc>
                    <a:tc>
                      <a:txBody>
                        <a:bodyPr/>
                        <a:lstStyle/>
                        <a:p>
                          <a:pPr algn="ctr"/>
                          <a:r>
                            <a:rPr lang="zh-CN" altLang="en-US" sz="2000" b="1" dirty="0"/>
                            <a:t>？</a:t>
                          </a: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zh-CN" altLang="en-US" sz="2000" b="1" dirty="0"/>
                            <a:t>？</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a:t>
                          </a:r>
                          <a:endParaRPr kumimoji="0" lang="zh-CN" altLang="en-US"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a:t>
                          </a:r>
                          <a:endParaRPr kumimoji="0" lang="zh-CN" altLang="en-US"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𝟒</m:t>
                                    </m:r>
                                  </m:sub>
                                </m:sSub>
                              </m:oMath>
                            </m:oMathPara>
                          </a14:m>
                          <a:endParaRPr lang="zh-CN" altLang="en-US" sz="2000" b="1" dirty="0"/>
                        </a:p>
                      </a:txBody>
                      <a:tcPr anchor="ctr"/>
                    </a:tc>
                    <a:tc>
                      <a:txBody>
                        <a:bodyPr/>
                        <a:lstStyle/>
                        <a:p>
                          <a:pPr algn="ctr"/>
                          <a:r>
                            <a:rPr lang="en-US" altLang="zh-CN" sz="2000" b="1" dirty="0"/>
                            <a:t>0</a:t>
                          </a:r>
                          <a:endParaRPr lang="zh-CN" altLang="en-US" sz="2000" b="1" dirty="0"/>
                        </a:p>
                      </a:txBody>
                      <a:tcPr anchor="ctr"/>
                    </a:tc>
                    <a:tc>
                      <a:txBody>
                        <a:bodyPr/>
                        <a:lstStyle/>
                        <a:p>
                          <a:pPr algn="ctr"/>
                          <a:r>
                            <a:rPr lang="zh-CN" altLang="en-US" sz="2000" b="1" dirty="0"/>
                            <a:t>？</a:t>
                          </a:r>
                        </a:p>
                      </a:txBody>
                      <a:tcPr anchor="ctr">
                        <a:lnR w="12700" cap="flat" cmpd="sng" algn="ctr">
                          <a:solidFill>
                            <a:schemeClr val="tx1"/>
                          </a:solidFill>
                          <a:prstDash val="solid"/>
                          <a:round/>
                          <a:headEnd type="none" w="med" len="med"/>
                          <a:tailEnd type="none" w="med" len="med"/>
                        </a:lnR>
                      </a:tcPr>
                    </a:tc>
                    <a:tc>
                      <a:txBody>
                        <a:bodyPr/>
                        <a:lstStyle/>
                        <a:p>
                          <a:pPr algn="ctr"/>
                          <a:r>
                            <a:rPr lang="zh-CN" altLang="en-US" sz="2000" b="1" dirty="0"/>
                            <a:t>？</a:t>
                          </a: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000" b="1" dirty="0"/>
                            <a:t>？</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a:t>
                          </a:r>
                          <a:endParaRPr kumimoji="0" lang="zh-CN" altLang="en-US"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2709">
                    <a:tc gridSpan="3">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i="1" smtClean="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𝜎</m:t>
                                        </m:r>
                                      </m:e>
                                    </m:acc>
                                  </m:e>
                                  <m:sup>
                                    <m:r>
                                      <a:rPr lang="en-US" altLang="zh-CN" sz="2000" i="1">
                                        <a:latin typeface="Cambria Math" panose="02040503050406030204" pitchFamily="18" charset="0"/>
                                      </a:rPr>
                                      <m:t>𝑇</m:t>
                                    </m:r>
                                  </m:sup>
                                </m:sSup>
                              </m:oMath>
                            </m:oMathPara>
                          </a14:m>
                          <a:endParaRPr lang="zh-CN" altLang="en-US" sz="2000" b="1" dirty="0"/>
                        </a:p>
                      </a:txBody>
                      <a:tcPr anchor="ct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Choice>
        <mc:Fallback xmlns="">
          <p:graphicFrame>
            <p:nvGraphicFramePr>
              <p:cNvPr id="17" name="表格 16">
                <a:extLst>
                  <a:ext uri="{FF2B5EF4-FFF2-40B4-BE49-F238E27FC236}">
                    <a16:creationId xmlns:a16="http://schemas.microsoft.com/office/drawing/2014/main" id="{0DAD97F6-9D58-4C1C-A9A3-4364C3ED2A23}"/>
                  </a:ext>
                </a:extLst>
              </p:cNvPr>
              <p:cNvGraphicFramePr>
                <a:graphicFrameLocks noGrp="1"/>
              </p:cNvGraphicFramePr>
              <p:nvPr>
                <p:extLst>
                  <p:ext uri="{D42A27DB-BD31-4B8C-83A1-F6EECF244321}">
                    <p14:modId xmlns:p14="http://schemas.microsoft.com/office/powerpoint/2010/main" val="515555146"/>
                  </p:ext>
                </p:extLst>
              </p:nvPr>
            </p:nvGraphicFramePr>
            <p:xfrm>
              <a:off x="953345" y="1271577"/>
              <a:ext cx="6096000" cy="2101914"/>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775034011"/>
                        </a:ext>
                      </a:extLst>
                    </a:gridCol>
                    <a:gridCol w="762000">
                      <a:extLst>
                        <a:ext uri="{9D8B030D-6E8A-4147-A177-3AD203B41FA5}">
                          <a16:colId xmlns:a16="http://schemas.microsoft.com/office/drawing/2014/main" val="1586977620"/>
                        </a:ext>
                      </a:extLst>
                    </a:gridCol>
                    <a:gridCol w="762000">
                      <a:extLst>
                        <a:ext uri="{9D8B030D-6E8A-4147-A177-3AD203B41FA5}">
                          <a16:colId xmlns:a16="http://schemas.microsoft.com/office/drawing/2014/main" val="2459346512"/>
                        </a:ext>
                      </a:extLst>
                    </a:gridCol>
                    <a:gridCol w="762000">
                      <a:extLst>
                        <a:ext uri="{9D8B030D-6E8A-4147-A177-3AD203B41FA5}">
                          <a16:colId xmlns:a16="http://schemas.microsoft.com/office/drawing/2014/main" val="1426368105"/>
                        </a:ext>
                      </a:extLst>
                    </a:gridCol>
                    <a:gridCol w="762000">
                      <a:extLst>
                        <a:ext uri="{9D8B030D-6E8A-4147-A177-3AD203B41FA5}">
                          <a16:colId xmlns:a16="http://schemas.microsoft.com/office/drawing/2014/main" val="1783729747"/>
                        </a:ext>
                      </a:extLst>
                    </a:gridCol>
                    <a:gridCol w="762000">
                      <a:extLst>
                        <a:ext uri="{9D8B030D-6E8A-4147-A177-3AD203B41FA5}">
                          <a16:colId xmlns:a16="http://schemas.microsoft.com/office/drawing/2014/main" val="3541072806"/>
                        </a:ext>
                      </a:extLst>
                    </a:gridCol>
                    <a:gridCol w="762000">
                      <a:extLst>
                        <a:ext uri="{9D8B030D-6E8A-4147-A177-3AD203B41FA5}">
                          <a16:colId xmlns:a16="http://schemas.microsoft.com/office/drawing/2014/main" val="1037422741"/>
                        </a:ext>
                      </a:extLst>
                    </a:gridCol>
                    <a:gridCol w="762000">
                      <a:extLst>
                        <a:ext uri="{9D8B030D-6E8A-4147-A177-3AD203B41FA5}">
                          <a16:colId xmlns:a16="http://schemas.microsoft.com/office/drawing/2014/main" val="3359340276"/>
                        </a:ext>
                      </a:extLst>
                    </a:gridCol>
                  </a:tblGrid>
                  <a:tr h="401701">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4">
                      <a:txBody>
                        <a:bodyPr/>
                        <a:lstStyle/>
                        <a:p>
                          <a:endParaRPr lang="zh-CN"/>
                        </a:p>
                      </a:txBody>
                      <a:tcPr anchor="ctr">
                        <a:blipFill>
                          <a:blip r:embed="rId3"/>
                          <a:stretch>
                            <a:fillRect l="-75050" t="-1515" r="-25749" b="-427273"/>
                          </a:stretch>
                        </a:blipFill>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511493">
                    <a:tc>
                      <a:txBody>
                        <a:bodyPr/>
                        <a:lstStyle/>
                        <a:p>
                          <a:endParaRPr lang="zh-CN"/>
                        </a:p>
                      </a:txBody>
                      <a:tcPr anchor="ctr">
                        <a:blipFill>
                          <a:blip r:embed="rId3"/>
                          <a:stretch>
                            <a:fillRect l="-800" t="-79762" r="-704000" b="-235714"/>
                          </a:stretch>
                        </a:blipFill>
                      </a:tcPr>
                    </a:tc>
                    <a:tc>
                      <a:txBody>
                        <a:bodyPr/>
                        <a:lstStyle/>
                        <a:p>
                          <a:endParaRPr lang="zh-CN"/>
                        </a:p>
                      </a:txBody>
                      <a:tcPr anchor="ctr">
                        <a:blipFill>
                          <a:blip r:embed="rId3"/>
                          <a:stretch>
                            <a:fillRect l="-100800" t="-79762" r="-604000" b="-235714"/>
                          </a:stretch>
                        </a:blipFill>
                      </a:tcPr>
                    </a:tc>
                    <a:tc>
                      <a:txBody>
                        <a:bodyPr/>
                        <a:lstStyle/>
                        <a:p>
                          <a:endParaRPr lang="zh-CN"/>
                        </a:p>
                      </a:txBody>
                      <a:tcPr anchor="ctr">
                        <a:blipFill>
                          <a:blip r:embed="rId3"/>
                          <a:stretch>
                            <a:fillRect l="-200800" t="-79762" r="-504000" b="-235714"/>
                          </a:stretch>
                        </a:blipFill>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endParaRPr lang="zh-CN"/>
                        </a:p>
                      </a:txBody>
                      <a:tcPr anchor="ctr">
                        <a:blipFill>
                          <a:blip r:embed="rId3"/>
                          <a:stretch>
                            <a:fillRect l="-701600" t="-79762" r="-3200" b="-235714"/>
                          </a:stretch>
                        </a:blipFill>
                      </a:tcPr>
                    </a:tc>
                    <a:extLst>
                      <a:ext uri="{0D108BD9-81ED-4DB2-BD59-A6C34878D82A}">
                        <a16:rowId xmlns:a16="http://schemas.microsoft.com/office/drawing/2014/main" val="2237396716"/>
                      </a:ext>
                    </a:extLst>
                  </a:tr>
                  <a:tr h="396240">
                    <a:tc>
                      <a:txBody>
                        <a:bodyPr/>
                        <a:lstStyle/>
                        <a:p>
                          <a:endParaRPr lang="zh-CN"/>
                        </a:p>
                      </a:txBody>
                      <a:tcPr anchor="ctr">
                        <a:blipFill>
                          <a:blip r:embed="rId3"/>
                          <a:stretch>
                            <a:fillRect l="-800" t="-228788" r="-704000" b="-200000"/>
                          </a:stretch>
                        </a:blipFill>
                      </a:tcPr>
                    </a:tc>
                    <a:tc>
                      <a:txBody>
                        <a:bodyPr/>
                        <a:lstStyle/>
                        <a:p>
                          <a:pPr algn="ctr"/>
                          <a:r>
                            <a:rPr lang="en-US" altLang="zh-CN" sz="2000" b="1" dirty="0"/>
                            <a:t>1</a:t>
                          </a:r>
                          <a:endParaRPr lang="zh-CN" altLang="en-US" sz="2000" b="1" dirty="0"/>
                        </a:p>
                      </a:txBody>
                      <a:tcPr anchor="ctr"/>
                    </a:tc>
                    <a:tc>
                      <a:txBody>
                        <a:bodyPr/>
                        <a:lstStyle/>
                        <a:p>
                          <a:pPr algn="ctr"/>
                          <a:r>
                            <a:rPr lang="zh-CN" altLang="en-US" sz="2000" b="1" dirty="0"/>
                            <a:t>？</a:t>
                          </a:r>
                        </a:p>
                      </a:txBody>
                      <a:tcPr anchor="ctr">
                        <a:lnR w="12700" cap="flat" cmpd="sng" algn="ctr">
                          <a:solidFill>
                            <a:schemeClr val="tx1"/>
                          </a:solidFill>
                          <a:prstDash val="solid"/>
                          <a:round/>
                          <a:headEnd type="none" w="med" len="med"/>
                          <a:tailEnd type="none" w="med" len="med"/>
                        </a:lnR>
                      </a:tcPr>
                    </a:tc>
                    <a:tc>
                      <a:txBody>
                        <a:bodyPr/>
                        <a:lstStyle/>
                        <a:p>
                          <a:pPr algn="ctr"/>
                          <a:r>
                            <a:rPr lang="zh-CN" altLang="en-US" sz="2000" b="1" dirty="0"/>
                            <a:t>？</a:t>
                          </a: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zh-CN" altLang="en-US" sz="2000" b="1" dirty="0"/>
                            <a:t>？</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a:t>
                          </a:r>
                          <a:endParaRPr kumimoji="0" lang="zh-CN" altLang="en-US"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a:t>
                          </a:r>
                          <a:endParaRPr kumimoji="0" lang="zh-CN" altLang="en-US"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396240">
                    <a:tc>
                      <a:txBody>
                        <a:bodyPr/>
                        <a:lstStyle/>
                        <a:p>
                          <a:endParaRPr lang="zh-CN"/>
                        </a:p>
                      </a:txBody>
                      <a:tcPr anchor="ctr">
                        <a:blipFill>
                          <a:blip r:embed="rId3"/>
                          <a:stretch>
                            <a:fillRect l="-800" t="-333846" r="-704000" b="-103077"/>
                          </a:stretch>
                        </a:blipFill>
                      </a:tcPr>
                    </a:tc>
                    <a:tc>
                      <a:txBody>
                        <a:bodyPr/>
                        <a:lstStyle/>
                        <a:p>
                          <a:pPr algn="ctr"/>
                          <a:r>
                            <a:rPr lang="en-US" altLang="zh-CN" sz="2000" b="1" dirty="0"/>
                            <a:t>0</a:t>
                          </a:r>
                          <a:endParaRPr lang="zh-CN" altLang="en-US" sz="2000" b="1" dirty="0"/>
                        </a:p>
                      </a:txBody>
                      <a:tcPr anchor="ctr"/>
                    </a:tc>
                    <a:tc>
                      <a:txBody>
                        <a:bodyPr/>
                        <a:lstStyle/>
                        <a:p>
                          <a:pPr algn="ctr"/>
                          <a:r>
                            <a:rPr lang="zh-CN" altLang="en-US" sz="2000" b="1" dirty="0"/>
                            <a:t>？</a:t>
                          </a:r>
                        </a:p>
                      </a:txBody>
                      <a:tcPr anchor="ctr">
                        <a:lnR w="12700" cap="flat" cmpd="sng" algn="ctr">
                          <a:solidFill>
                            <a:schemeClr val="tx1"/>
                          </a:solidFill>
                          <a:prstDash val="solid"/>
                          <a:round/>
                          <a:headEnd type="none" w="med" len="med"/>
                          <a:tailEnd type="none" w="med" len="med"/>
                        </a:lnR>
                      </a:tcPr>
                    </a:tc>
                    <a:tc>
                      <a:txBody>
                        <a:bodyPr/>
                        <a:lstStyle/>
                        <a:p>
                          <a:pPr algn="ctr"/>
                          <a:r>
                            <a:rPr lang="zh-CN" altLang="en-US" sz="2000" b="1" dirty="0"/>
                            <a:t>？</a:t>
                          </a: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000" b="1" dirty="0"/>
                            <a:t>？</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a:t>
                          </a:r>
                          <a:endParaRPr kumimoji="0" lang="zh-CN" altLang="en-US"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6240">
                    <a:tc gridSpan="3">
                      <a:txBody>
                        <a:bodyPr/>
                        <a:lstStyle/>
                        <a:p>
                          <a:endParaRPr lang="zh-CN"/>
                        </a:p>
                      </a:txBody>
                      <a:tcPr anchor="ctr">
                        <a:blipFill>
                          <a:blip r:embed="rId3"/>
                          <a:stretch>
                            <a:fillRect l="-267" t="-433846" r="-168000" b="-3077"/>
                          </a:stretch>
                        </a:blipFill>
                      </a:tcP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0" name="表格 19">
                <a:extLst>
                  <a:ext uri="{FF2B5EF4-FFF2-40B4-BE49-F238E27FC236}">
                    <a16:creationId xmlns:a16="http://schemas.microsoft.com/office/drawing/2014/main" id="{FF36C7C1-1DE8-4E1A-86F0-E63DC3196304}"/>
                  </a:ext>
                </a:extLst>
              </p:cNvPr>
              <p:cNvGraphicFramePr>
                <a:graphicFrameLocks noGrp="1"/>
              </p:cNvGraphicFramePr>
              <p:nvPr/>
            </p:nvGraphicFramePr>
            <p:xfrm>
              <a:off x="953345" y="3755922"/>
              <a:ext cx="6096000" cy="2101914"/>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775034011"/>
                        </a:ext>
                      </a:extLst>
                    </a:gridCol>
                    <a:gridCol w="762000">
                      <a:extLst>
                        <a:ext uri="{9D8B030D-6E8A-4147-A177-3AD203B41FA5}">
                          <a16:colId xmlns:a16="http://schemas.microsoft.com/office/drawing/2014/main" val="1586977620"/>
                        </a:ext>
                      </a:extLst>
                    </a:gridCol>
                    <a:gridCol w="762000">
                      <a:extLst>
                        <a:ext uri="{9D8B030D-6E8A-4147-A177-3AD203B41FA5}">
                          <a16:colId xmlns:a16="http://schemas.microsoft.com/office/drawing/2014/main" val="2459346512"/>
                        </a:ext>
                      </a:extLst>
                    </a:gridCol>
                    <a:gridCol w="762000">
                      <a:extLst>
                        <a:ext uri="{9D8B030D-6E8A-4147-A177-3AD203B41FA5}">
                          <a16:colId xmlns:a16="http://schemas.microsoft.com/office/drawing/2014/main" val="1426368105"/>
                        </a:ext>
                      </a:extLst>
                    </a:gridCol>
                    <a:gridCol w="762000">
                      <a:extLst>
                        <a:ext uri="{9D8B030D-6E8A-4147-A177-3AD203B41FA5}">
                          <a16:colId xmlns:a16="http://schemas.microsoft.com/office/drawing/2014/main" val="1783729747"/>
                        </a:ext>
                      </a:extLst>
                    </a:gridCol>
                    <a:gridCol w="762000">
                      <a:extLst>
                        <a:ext uri="{9D8B030D-6E8A-4147-A177-3AD203B41FA5}">
                          <a16:colId xmlns:a16="http://schemas.microsoft.com/office/drawing/2014/main" val="3541072806"/>
                        </a:ext>
                      </a:extLst>
                    </a:gridCol>
                    <a:gridCol w="762000">
                      <a:extLst>
                        <a:ext uri="{9D8B030D-6E8A-4147-A177-3AD203B41FA5}">
                          <a16:colId xmlns:a16="http://schemas.microsoft.com/office/drawing/2014/main" val="1037422741"/>
                        </a:ext>
                      </a:extLst>
                    </a:gridCol>
                    <a:gridCol w="762000">
                      <a:extLst>
                        <a:ext uri="{9D8B030D-6E8A-4147-A177-3AD203B41FA5}">
                          <a16:colId xmlns:a16="http://schemas.microsoft.com/office/drawing/2014/main" val="3359340276"/>
                        </a:ext>
                      </a:extLst>
                    </a:gridCol>
                  </a:tblGrid>
                  <a:tr h="313958">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4">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b="1" i="1" smtClean="0">
                                        <a:solidFill>
                                          <a:schemeClr val="bg1"/>
                                        </a:solidFill>
                                        <a:latin typeface="Cambria Math" panose="02040503050406030204" pitchFamily="18" charset="0"/>
                                      </a:rPr>
                                    </m:ctrlPr>
                                  </m:sSupPr>
                                  <m:e>
                                    <m:acc>
                                      <m:accPr>
                                        <m:chr m:val="⃗"/>
                                        <m:ctrlPr>
                                          <a:rPr lang="en-US" altLang="zh-CN" sz="2000" b="1" i="1" smtClean="0">
                                            <a:solidFill>
                                              <a:schemeClr val="bg1"/>
                                            </a:solidFill>
                                            <a:latin typeface="Cambria Math" panose="02040503050406030204" pitchFamily="18" charset="0"/>
                                          </a:rPr>
                                        </m:ctrlPr>
                                      </m:accPr>
                                      <m:e>
                                        <m:r>
                                          <a:rPr lang="en-US" altLang="zh-CN" sz="2000" b="1" i="1" smtClean="0">
                                            <a:solidFill>
                                              <a:schemeClr val="bg1"/>
                                            </a:solidFill>
                                            <a:latin typeface="Cambria Math" panose="02040503050406030204" pitchFamily="18" charset="0"/>
                                          </a:rPr>
                                          <m:t>𝒄</m:t>
                                        </m:r>
                                      </m:e>
                                    </m:acc>
                                  </m:e>
                                  <m:sup>
                                    <m:r>
                                      <a:rPr lang="en-US" altLang="zh-CN" sz="2000" b="1" i="1" smtClean="0">
                                        <a:solidFill>
                                          <a:schemeClr val="bg1"/>
                                        </a:solidFill>
                                        <a:latin typeface="Cambria Math" panose="02040503050406030204" pitchFamily="18" charset="0"/>
                                      </a:rPr>
                                      <m:t>𝑻</m:t>
                                    </m:r>
                                  </m:sup>
                                </m:sSup>
                              </m:oMath>
                            </m:oMathPara>
                          </a14:m>
                          <a:endParaRPr lang="zh-CN" altLang="en-US" sz="2000" b="1" dirty="0"/>
                        </a:p>
                      </a:txBody>
                      <a:tcPr anchor="ct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𝒙</m:t>
                                        </m:r>
                                      </m:e>
                                    </m:acc>
                                  </m:e>
                                  <m:sub>
                                    <m:r>
                                      <a:rPr lang="en-US" altLang="zh-CN" sz="2000" b="1" i="1" smtClean="0">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solidFill>
                                          <a:schemeClr val="tx1"/>
                                        </a:solidFill>
                                        <a:latin typeface="Cambria Math" panose="02040503050406030204" pitchFamily="18" charset="0"/>
                                      </a:rPr>
                                    </m:ctrlPr>
                                  </m:sSubPr>
                                  <m:e>
                                    <m:acc>
                                      <m:accPr>
                                        <m:chr m:val="⃗"/>
                                        <m:ctrlPr>
                                          <a:rPr lang="en-US" altLang="zh-CN" sz="2000" b="1" i="1" smtClean="0">
                                            <a:solidFill>
                                              <a:schemeClr val="tx1"/>
                                            </a:solidFill>
                                            <a:latin typeface="Cambria Math" panose="02040503050406030204" pitchFamily="18" charset="0"/>
                                          </a:rPr>
                                        </m:ctrlPr>
                                      </m:accPr>
                                      <m:e>
                                        <m:r>
                                          <a:rPr lang="en-US" altLang="zh-CN" sz="2000" b="1" i="1" smtClean="0">
                                            <a:solidFill>
                                              <a:schemeClr val="tx1"/>
                                            </a:solidFill>
                                            <a:latin typeface="Cambria Math" panose="02040503050406030204" pitchFamily="18" charset="0"/>
                                          </a:rPr>
                                          <m:t>𝒄</m:t>
                                        </m:r>
                                      </m:e>
                                    </m:acc>
                                  </m:e>
                                  <m:sub>
                                    <m:r>
                                      <a:rPr lang="en-US" altLang="zh-CN" sz="2000" b="1" i="1" smtClean="0">
                                        <a:solidFill>
                                          <a:schemeClr val="tx1"/>
                                        </a:solidFill>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CN" sz="2400" b="1" i="1" smtClean="0">
                                        <a:solidFill>
                                          <a:sysClr val="windowText" lastClr="000000"/>
                                        </a:solidFill>
                                        <a:latin typeface="Cambria Math" panose="02040503050406030204" pitchFamily="18" charset="0"/>
                                      </a:rPr>
                                    </m:ctrlPr>
                                  </m:sSupPr>
                                  <m:e>
                                    <m:r>
                                      <a:rPr lang="en-US" altLang="zh-CN" sz="2400" b="1" i="1" smtClean="0">
                                        <a:solidFill>
                                          <a:sysClr val="windowText" lastClr="000000"/>
                                        </a:solidFill>
                                        <a:latin typeface="Cambria Math" panose="02040503050406030204" pitchFamily="18" charset="0"/>
                                      </a:rPr>
                                      <m:t>𝑩</m:t>
                                    </m:r>
                                  </m:e>
                                  <m:sup>
                                    <m:r>
                                      <a:rPr lang="en-US" altLang="zh-CN" sz="2400" b="1" i="1" smtClean="0">
                                        <a:solidFill>
                                          <a:sysClr val="windowText" lastClr="000000"/>
                                        </a:solidFill>
                                        <a:latin typeface="Cambria Math" panose="02040503050406030204" pitchFamily="18" charset="0"/>
                                      </a:rPr>
                                      <m:t>−</m:t>
                                    </m:r>
                                    <m:r>
                                      <a:rPr lang="en-US" altLang="zh-CN" sz="2400" b="1" i="1" smtClean="0">
                                        <a:solidFill>
                                          <a:sysClr val="windowText" lastClr="000000"/>
                                        </a:solidFill>
                                        <a:latin typeface="Cambria Math" panose="02040503050406030204" pitchFamily="18" charset="0"/>
                                      </a:rPr>
                                      <m:t>𝟏</m:t>
                                    </m:r>
                                  </m:sup>
                                </m:sSup>
                                <m:acc>
                                  <m:accPr>
                                    <m:chr m:val="⃗"/>
                                    <m:ctrlPr>
                                      <a:rPr lang="en-US" altLang="zh-CN" sz="2400" b="1" i="1">
                                        <a:solidFill>
                                          <a:sysClr val="windowText" lastClr="000000"/>
                                        </a:solidFill>
                                        <a:latin typeface="Cambria Math" panose="02040503050406030204" pitchFamily="18" charset="0"/>
                                      </a:rPr>
                                    </m:ctrlPr>
                                  </m:accPr>
                                  <m:e>
                                    <m:r>
                                      <a:rPr lang="en-US" altLang="zh-CN" sz="2400" b="1" i="1" smtClean="0">
                                        <a:solidFill>
                                          <a:sysClr val="windowText" lastClr="000000"/>
                                        </a:solidFill>
                                        <a:latin typeface="Cambria Math" panose="02040503050406030204" pitchFamily="18" charset="0"/>
                                      </a:rPr>
                                      <m:t>𝒃</m:t>
                                    </m:r>
                                  </m:e>
                                </m:acc>
                              </m:oMath>
                            </m:oMathPara>
                          </a14:m>
                          <a:endParaRPr lang="zh-CN" altLang="en-US" sz="2000" b="1" dirty="0"/>
                        </a:p>
                      </a:txBody>
                      <a:tcPr anchor="ct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000" b="0" i="1" smtClean="0">
                                    <a:solidFill>
                                      <a:sysClr val="windowText" lastClr="000000"/>
                                    </a:solidFill>
                                    <a:latin typeface="Cambria Math" panose="02040503050406030204" pitchFamily="18" charset="0"/>
                                  </a:rPr>
                                  <m:t>𝜃</m:t>
                                </m:r>
                              </m:oMath>
                            </m:oMathPara>
                          </a14:m>
                          <a:endParaRPr lang="zh-CN" altLang="en-US" sz="2000" dirty="0">
                            <a:solidFill>
                              <a:sysClr val="windowText" lastClr="000000"/>
                            </a:solidFill>
                          </a:endParaRPr>
                        </a:p>
                      </a:txBody>
                      <a:tcPr anchor="ctr"/>
                    </a:tc>
                    <a:extLst>
                      <a:ext uri="{0D108BD9-81ED-4DB2-BD59-A6C34878D82A}">
                        <a16:rowId xmlns:a16="http://schemas.microsoft.com/office/drawing/2014/main" val="2237396716"/>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𝟑</m:t>
                                    </m:r>
                                  </m:sub>
                                </m:sSub>
                              </m:oMath>
                            </m:oMathPara>
                          </a14:m>
                          <a:endParaRPr lang="zh-CN" altLang="en-US" sz="2000" b="1" dirty="0"/>
                        </a:p>
                      </a:txBody>
                      <a:tcPr anchor="ctr"/>
                    </a:tc>
                    <a:tc>
                      <a:txBody>
                        <a:bodyPr/>
                        <a:lstStyle/>
                        <a:p>
                          <a:pPr algn="ctr"/>
                          <a:r>
                            <a:rPr lang="en-US" altLang="zh-CN" sz="2000" b="1" dirty="0"/>
                            <a:t>0</a:t>
                          </a:r>
                          <a:endParaRPr lang="zh-CN" altLang="en-US" sz="2000" b="1" dirty="0"/>
                        </a:p>
                      </a:txBody>
                      <a:tcPr anchor="ctr"/>
                    </a:tc>
                    <a:tc>
                      <a:txBody>
                        <a:bodyPr/>
                        <a:lstStyle/>
                        <a:p>
                          <a:pPr algn="ctr"/>
                          <a:r>
                            <a:rPr lang="en-US" altLang="zh-CN" sz="2000" b="1" dirty="0"/>
                            <a:t>12</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2</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highlight>
                                <a:srgbClr val="FFFF00"/>
                              </a:highlight>
                            </a:rPr>
                            <a:t>6</a:t>
                          </a:r>
                          <a:endParaRPr lang="zh-CN" altLang="en-US" sz="2000" b="1" dirty="0">
                            <a:highlight>
                              <a:srgbClr val="FFFF00"/>
                            </a:highlight>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𝟒</m:t>
                                    </m:r>
                                  </m:sub>
                                </m:sSub>
                              </m:oMath>
                            </m:oMathPara>
                          </a14:m>
                          <a:endParaRPr lang="zh-CN" altLang="en-US" sz="2000" b="1" dirty="0"/>
                        </a:p>
                      </a:txBody>
                      <a:tcPr anchor="ctr"/>
                    </a:tc>
                    <a:tc>
                      <a:txBody>
                        <a:bodyPr/>
                        <a:lstStyle/>
                        <a:p>
                          <a:pPr algn="ctr"/>
                          <a:r>
                            <a:rPr lang="en-US" altLang="zh-CN" sz="2000" b="1" dirty="0"/>
                            <a:t>0</a:t>
                          </a:r>
                          <a:endParaRPr lang="zh-CN" altLang="en-US" sz="2000" b="1" dirty="0"/>
                        </a:p>
                      </a:txBody>
                      <a:tcPr anchor="ctr"/>
                    </a:tc>
                    <a:tc>
                      <a:txBody>
                        <a:bodyPr/>
                        <a:lstStyle/>
                        <a:p>
                          <a:pPr algn="ctr"/>
                          <a:r>
                            <a:rPr lang="en-US" altLang="zh-CN" sz="2000" b="1" dirty="0"/>
                            <a:t>9</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2</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9</a:t>
                          </a: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2709">
                    <a:tc gridSpan="3">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i="1" smtClean="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𝜎</m:t>
                                        </m:r>
                                      </m:e>
                                    </m:acc>
                                  </m:e>
                                  <m:sup>
                                    <m:r>
                                      <a:rPr lang="en-US" altLang="zh-CN" sz="2000" i="1">
                                        <a:latin typeface="Cambria Math" panose="02040503050406030204" pitchFamily="18" charset="0"/>
                                      </a:rPr>
                                      <m:t>𝑇</m:t>
                                    </m:r>
                                  </m:sup>
                                </m:sSup>
                              </m:oMath>
                            </m:oMathPara>
                          </a14:m>
                          <a:endParaRPr lang="zh-CN" altLang="en-US" sz="2000" b="1" dirty="0"/>
                        </a:p>
                      </a:txBody>
                      <a:tcPr anchor="ct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2000" b="1" dirty="0">
                              <a:highlight>
                                <a:srgbClr val="FFFF00"/>
                              </a:highlight>
                            </a:rPr>
                            <a:t>1</a:t>
                          </a:r>
                          <a:endParaRPr lang="zh-CN" altLang="en-US" sz="2000" b="1" dirty="0">
                            <a:highlight>
                              <a:srgbClr val="FFFF00"/>
                            </a:highlight>
                          </a:endParaRPr>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Choice>
        <mc:Fallback xmlns="">
          <p:graphicFrame>
            <p:nvGraphicFramePr>
              <p:cNvPr id="20" name="表格 19">
                <a:extLst>
                  <a:ext uri="{FF2B5EF4-FFF2-40B4-BE49-F238E27FC236}">
                    <a16:creationId xmlns:a16="http://schemas.microsoft.com/office/drawing/2014/main" id="{FF36C7C1-1DE8-4E1A-86F0-E63DC3196304}"/>
                  </a:ext>
                </a:extLst>
              </p:cNvPr>
              <p:cNvGraphicFramePr>
                <a:graphicFrameLocks noGrp="1"/>
              </p:cNvGraphicFramePr>
              <p:nvPr/>
            </p:nvGraphicFramePr>
            <p:xfrm>
              <a:off x="953345" y="3755922"/>
              <a:ext cx="6096000" cy="2101914"/>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775034011"/>
                        </a:ext>
                      </a:extLst>
                    </a:gridCol>
                    <a:gridCol w="762000">
                      <a:extLst>
                        <a:ext uri="{9D8B030D-6E8A-4147-A177-3AD203B41FA5}">
                          <a16:colId xmlns:a16="http://schemas.microsoft.com/office/drawing/2014/main" val="1586977620"/>
                        </a:ext>
                      </a:extLst>
                    </a:gridCol>
                    <a:gridCol w="762000">
                      <a:extLst>
                        <a:ext uri="{9D8B030D-6E8A-4147-A177-3AD203B41FA5}">
                          <a16:colId xmlns:a16="http://schemas.microsoft.com/office/drawing/2014/main" val="2459346512"/>
                        </a:ext>
                      </a:extLst>
                    </a:gridCol>
                    <a:gridCol w="762000">
                      <a:extLst>
                        <a:ext uri="{9D8B030D-6E8A-4147-A177-3AD203B41FA5}">
                          <a16:colId xmlns:a16="http://schemas.microsoft.com/office/drawing/2014/main" val="1426368105"/>
                        </a:ext>
                      </a:extLst>
                    </a:gridCol>
                    <a:gridCol w="762000">
                      <a:extLst>
                        <a:ext uri="{9D8B030D-6E8A-4147-A177-3AD203B41FA5}">
                          <a16:colId xmlns:a16="http://schemas.microsoft.com/office/drawing/2014/main" val="1783729747"/>
                        </a:ext>
                      </a:extLst>
                    </a:gridCol>
                    <a:gridCol w="762000">
                      <a:extLst>
                        <a:ext uri="{9D8B030D-6E8A-4147-A177-3AD203B41FA5}">
                          <a16:colId xmlns:a16="http://schemas.microsoft.com/office/drawing/2014/main" val="3541072806"/>
                        </a:ext>
                      </a:extLst>
                    </a:gridCol>
                    <a:gridCol w="762000">
                      <a:extLst>
                        <a:ext uri="{9D8B030D-6E8A-4147-A177-3AD203B41FA5}">
                          <a16:colId xmlns:a16="http://schemas.microsoft.com/office/drawing/2014/main" val="1037422741"/>
                        </a:ext>
                      </a:extLst>
                    </a:gridCol>
                    <a:gridCol w="762000">
                      <a:extLst>
                        <a:ext uri="{9D8B030D-6E8A-4147-A177-3AD203B41FA5}">
                          <a16:colId xmlns:a16="http://schemas.microsoft.com/office/drawing/2014/main" val="3359340276"/>
                        </a:ext>
                      </a:extLst>
                    </a:gridCol>
                  </a:tblGrid>
                  <a:tr h="401701">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4">
                      <a:txBody>
                        <a:bodyPr/>
                        <a:lstStyle/>
                        <a:p>
                          <a:endParaRPr lang="zh-CN"/>
                        </a:p>
                      </a:txBody>
                      <a:tcPr anchor="ctr">
                        <a:blipFill>
                          <a:blip r:embed="rId4"/>
                          <a:stretch>
                            <a:fillRect l="-75050" t="-1515" r="-25749" b="-450000"/>
                          </a:stretch>
                        </a:blipFill>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511493">
                    <a:tc>
                      <a:txBody>
                        <a:bodyPr/>
                        <a:lstStyle/>
                        <a:p>
                          <a:endParaRPr lang="zh-CN"/>
                        </a:p>
                      </a:txBody>
                      <a:tcPr anchor="ctr">
                        <a:blipFill>
                          <a:blip r:embed="rId4"/>
                          <a:stretch>
                            <a:fillRect l="-800" t="-79762" r="-704000" b="-253571"/>
                          </a:stretch>
                        </a:blipFill>
                      </a:tcPr>
                    </a:tc>
                    <a:tc>
                      <a:txBody>
                        <a:bodyPr/>
                        <a:lstStyle/>
                        <a:p>
                          <a:endParaRPr lang="zh-CN"/>
                        </a:p>
                      </a:txBody>
                      <a:tcPr anchor="ctr">
                        <a:blipFill>
                          <a:blip r:embed="rId4"/>
                          <a:stretch>
                            <a:fillRect l="-100800" t="-79762" r="-604000" b="-253571"/>
                          </a:stretch>
                        </a:blipFill>
                      </a:tcPr>
                    </a:tc>
                    <a:tc>
                      <a:txBody>
                        <a:bodyPr/>
                        <a:lstStyle/>
                        <a:p>
                          <a:endParaRPr lang="zh-CN"/>
                        </a:p>
                      </a:txBody>
                      <a:tcPr anchor="ctr">
                        <a:blipFill>
                          <a:blip r:embed="rId4"/>
                          <a:stretch>
                            <a:fillRect l="-200800" t="-79762" r="-504000" b="-253571"/>
                          </a:stretch>
                        </a:blipFill>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endParaRPr lang="zh-CN"/>
                        </a:p>
                      </a:txBody>
                      <a:tcPr anchor="ctr">
                        <a:blipFill>
                          <a:blip r:embed="rId4"/>
                          <a:stretch>
                            <a:fillRect l="-701600" t="-79762" r="-3200" b="-253571"/>
                          </a:stretch>
                        </a:blipFill>
                      </a:tcPr>
                    </a:tc>
                    <a:extLst>
                      <a:ext uri="{0D108BD9-81ED-4DB2-BD59-A6C34878D82A}">
                        <a16:rowId xmlns:a16="http://schemas.microsoft.com/office/drawing/2014/main" val="2237396716"/>
                      </a:ext>
                    </a:extLst>
                  </a:tr>
                  <a:tr h="396240">
                    <a:tc>
                      <a:txBody>
                        <a:bodyPr/>
                        <a:lstStyle/>
                        <a:p>
                          <a:endParaRPr lang="zh-CN"/>
                        </a:p>
                      </a:txBody>
                      <a:tcPr anchor="ctr">
                        <a:blipFill>
                          <a:blip r:embed="rId4"/>
                          <a:stretch>
                            <a:fillRect l="-800" t="-232308" r="-704000" b="-227692"/>
                          </a:stretch>
                        </a:blipFill>
                      </a:tcPr>
                    </a:tc>
                    <a:tc>
                      <a:txBody>
                        <a:bodyPr/>
                        <a:lstStyle/>
                        <a:p>
                          <a:pPr algn="ctr"/>
                          <a:r>
                            <a:rPr lang="en-US" altLang="zh-CN" sz="2000" b="1" dirty="0"/>
                            <a:t>0</a:t>
                          </a:r>
                          <a:endParaRPr lang="zh-CN" altLang="en-US" sz="2000" b="1" dirty="0"/>
                        </a:p>
                      </a:txBody>
                      <a:tcPr anchor="ctr"/>
                    </a:tc>
                    <a:tc>
                      <a:txBody>
                        <a:bodyPr/>
                        <a:lstStyle/>
                        <a:p>
                          <a:pPr algn="ctr"/>
                          <a:r>
                            <a:rPr lang="en-US" altLang="zh-CN" sz="2000" b="1" dirty="0"/>
                            <a:t>12</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2</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highlight>
                                <a:srgbClr val="FFFF00"/>
                              </a:highlight>
                            </a:rPr>
                            <a:t>6</a:t>
                          </a:r>
                          <a:endParaRPr lang="zh-CN" altLang="en-US" sz="2000" b="1" dirty="0">
                            <a:highlight>
                              <a:srgbClr val="FFFF00"/>
                            </a:highlight>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396240">
                    <a:tc>
                      <a:txBody>
                        <a:bodyPr/>
                        <a:lstStyle/>
                        <a:p>
                          <a:endParaRPr lang="zh-CN"/>
                        </a:p>
                      </a:txBody>
                      <a:tcPr anchor="ctr">
                        <a:blipFill>
                          <a:blip r:embed="rId4"/>
                          <a:stretch>
                            <a:fillRect l="-800" t="-332308" r="-704000" b="-127692"/>
                          </a:stretch>
                        </a:blipFill>
                      </a:tcPr>
                    </a:tc>
                    <a:tc>
                      <a:txBody>
                        <a:bodyPr/>
                        <a:lstStyle/>
                        <a:p>
                          <a:pPr algn="ctr"/>
                          <a:r>
                            <a:rPr lang="en-US" altLang="zh-CN" sz="2000" b="1" dirty="0"/>
                            <a:t>0</a:t>
                          </a:r>
                          <a:endParaRPr lang="zh-CN" altLang="en-US" sz="2000" b="1" dirty="0"/>
                        </a:p>
                      </a:txBody>
                      <a:tcPr anchor="ctr"/>
                    </a:tc>
                    <a:tc>
                      <a:txBody>
                        <a:bodyPr/>
                        <a:lstStyle/>
                        <a:p>
                          <a:pPr algn="ctr"/>
                          <a:r>
                            <a:rPr lang="en-US" altLang="zh-CN" sz="2000" b="1" dirty="0"/>
                            <a:t>9</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2</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9</a:t>
                          </a: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6240">
                    <a:tc gridSpan="3">
                      <a:txBody>
                        <a:bodyPr/>
                        <a:lstStyle/>
                        <a:p>
                          <a:endParaRPr lang="zh-CN"/>
                        </a:p>
                      </a:txBody>
                      <a:tcPr anchor="ctr">
                        <a:blipFill>
                          <a:blip r:embed="rId4"/>
                          <a:stretch>
                            <a:fillRect l="-267" t="-432308" r="-168000" b="-27692"/>
                          </a:stretch>
                        </a:blipFill>
                      </a:tcP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2000" b="1" dirty="0">
                              <a:highlight>
                                <a:srgbClr val="FFFF00"/>
                              </a:highlight>
                            </a:rPr>
                            <a:t>1</a:t>
                          </a:r>
                          <a:endParaRPr lang="zh-CN" altLang="en-US" sz="2000" b="1" dirty="0">
                            <a:highlight>
                              <a:srgbClr val="FFFF00"/>
                            </a:highlight>
                          </a:endParaRPr>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Fallback>
      </mc:AlternateContent>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EB2A799C-3069-4333-A394-692D98A9B7C0}"/>
                  </a:ext>
                </a:extLst>
              </p:cNvPr>
              <p:cNvSpPr/>
              <p:nvPr/>
            </p:nvSpPr>
            <p:spPr>
              <a:xfrm>
                <a:off x="7127915" y="1481539"/>
                <a:ext cx="1779261" cy="55245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smtClean="0">
                          <a:solidFill>
                            <a:sysClr val="windowText" lastClr="000000"/>
                          </a:solidFill>
                          <a:latin typeface="Cambria Math" panose="02040503050406030204" pitchFamily="18" charset="0"/>
                        </a:rPr>
                        <m:t>𝑩</m:t>
                      </m:r>
                      <m:r>
                        <a:rPr lang="en-US" altLang="zh-CN" b="1" i="1" smtClean="0">
                          <a:solidFill>
                            <a:sysClr val="windowText" lastClr="000000"/>
                          </a:solidFill>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b="0" i="1" smtClean="0">
                                    <a:latin typeface="Cambria Math" panose="02040503050406030204" pitchFamily="18" charset="0"/>
                                  </a:rPr>
                                  <m:t>2</m:t>
                                </m:r>
                              </m:e>
                              <m:e>
                                <m:r>
                                  <a:rPr lang="en-US" altLang="zh-CN" i="1">
                                    <a:latin typeface="Cambria Math" panose="02040503050406030204" pitchFamily="18" charset="0"/>
                                  </a:rPr>
                                  <m:t>0</m:t>
                                </m:r>
                              </m:e>
                            </m:mr>
                            <m:mr>
                              <m:e>
                                <m:r>
                                  <a:rPr lang="en-US" altLang="zh-CN" b="0" i="1" smtClean="0">
                                    <a:latin typeface="Cambria Math" panose="02040503050406030204" pitchFamily="18" charset="0"/>
                                  </a:rPr>
                                  <m:t>1</m:t>
                                </m:r>
                              </m:e>
                              <m:e>
                                <m:r>
                                  <a:rPr lang="en-US" altLang="zh-CN" i="1">
                                    <a:latin typeface="Cambria Math" panose="02040503050406030204" pitchFamily="18" charset="0"/>
                                  </a:rPr>
                                  <m:t>1</m:t>
                                </m:r>
                              </m:e>
                            </m:mr>
                          </m:m>
                        </m:e>
                      </m:d>
                    </m:oMath>
                  </m:oMathPara>
                </a14:m>
                <a:endParaRPr lang="zh-CN" altLang="en-US" dirty="0"/>
              </a:p>
            </p:txBody>
          </p:sp>
        </mc:Choice>
        <mc:Fallback xmlns="">
          <p:sp>
            <p:nvSpPr>
              <p:cNvPr id="21" name="矩形 20">
                <a:extLst>
                  <a:ext uri="{FF2B5EF4-FFF2-40B4-BE49-F238E27FC236}">
                    <a16:creationId xmlns:a16="http://schemas.microsoft.com/office/drawing/2014/main" id="{EB2A799C-3069-4333-A394-692D98A9B7C0}"/>
                  </a:ext>
                </a:extLst>
              </p:cNvPr>
              <p:cNvSpPr>
                <a:spLocks noRot="1" noChangeAspect="1" noMove="1" noResize="1" noEditPoints="1" noAdjustHandles="1" noChangeArrowheads="1" noChangeShapeType="1" noTextEdit="1"/>
              </p:cNvSpPr>
              <p:nvPr/>
            </p:nvSpPr>
            <p:spPr>
              <a:xfrm>
                <a:off x="7127915" y="1481539"/>
                <a:ext cx="1779261" cy="552459"/>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A8D33404-3683-4995-B938-82B374B179CA}"/>
                  </a:ext>
                </a:extLst>
              </p:cNvPr>
              <p:cNvSpPr/>
              <p:nvPr/>
            </p:nvSpPr>
            <p:spPr>
              <a:xfrm>
                <a:off x="7443336" y="2212946"/>
                <a:ext cx="1108380" cy="9571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−1</m:t>
                          </m:r>
                        </m:sup>
                      </m:sSup>
                      <m:r>
                        <a:rPr lang="en-US" altLang="zh-CN" b="0" i="1" smtClean="0">
                          <a:latin typeface="Cambria Math" panose="02040503050406030204" pitchFamily="18" charset="0"/>
                        </a:rPr>
                        <m:t>=?</m:t>
                      </m:r>
                    </m:oMath>
                  </m:oMathPara>
                </a14:m>
                <a:endParaRPr lang="en-US" altLang="zh-CN" b="0" dirty="0"/>
              </a:p>
              <a:p>
                <a:pPr/>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−1</m:t>
                          </m:r>
                        </m:sup>
                      </m:sSup>
                      <m:r>
                        <a:rPr lang="en-US" altLang="zh-CN" b="0" i="1" smtClean="0">
                          <a:latin typeface="Cambria Math" panose="02040503050406030204" pitchFamily="18" charset="0"/>
                        </a:rPr>
                        <m:t>𝐴</m:t>
                      </m:r>
                      <m:r>
                        <a:rPr lang="en-US" altLang="zh-CN" b="0" i="1" smtClean="0">
                          <a:latin typeface="Cambria Math" panose="02040503050406030204" pitchFamily="18" charset="0"/>
                        </a:rPr>
                        <m:t>=?</m:t>
                      </m:r>
                    </m:oMath>
                  </m:oMathPara>
                </a14:m>
                <a:endParaRPr lang="en-US" altLang="zh-CN" dirty="0"/>
              </a:p>
              <a:p>
                <a:pPr/>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−1</m:t>
                          </m:r>
                        </m:sup>
                      </m:sSup>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𝑏</m:t>
                          </m:r>
                        </m:e>
                      </m:acc>
                      <m:r>
                        <a:rPr lang="en-US" altLang="zh-CN" b="0" i="1" smtClean="0">
                          <a:latin typeface="Cambria Math" panose="02040503050406030204" pitchFamily="18" charset="0"/>
                        </a:rPr>
                        <m:t>=?</m:t>
                      </m:r>
                    </m:oMath>
                  </m:oMathPara>
                </a14:m>
                <a:endParaRPr lang="zh-CN" altLang="en-US" dirty="0"/>
              </a:p>
            </p:txBody>
          </p:sp>
        </mc:Choice>
        <mc:Fallback xmlns="">
          <p:sp>
            <p:nvSpPr>
              <p:cNvPr id="2" name="矩形 1">
                <a:extLst>
                  <a:ext uri="{FF2B5EF4-FFF2-40B4-BE49-F238E27FC236}">
                    <a16:creationId xmlns:a16="http://schemas.microsoft.com/office/drawing/2014/main" id="{A8D33404-3683-4995-B938-82B374B179CA}"/>
                  </a:ext>
                </a:extLst>
              </p:cNvPr>
              <p:cNvSpPr>
                <a:spLocks noRot="1" noChangeAspect="1" noMove="1" noResize="1" noEditPoints="1" noAdjustHandles="1" noChangeArrowheads="1" noChangeShapeType="1" noTextEdit="1"/>
              </p:cNvSpPr>
              <p:nvPr/>
            </p:nvSpPr>
            <p:spPr>
              <a:xfrm>
                <a:off x="7443336" y="2212946"/>
                <a:ext cx="1108380" cy="957121"/>
              </a:xfrm>
              <a:prstGeom prst="rect">
                <a:avLst/>
              </a:prstGeom>
              <a:blipFill>
                <a:blip r:embed="rId6"/>
                <a:stretch>
                  <a:fillRect/>
                </a:stretch>
              </a:blipFill>
            </p:spPr>
            <p:txBody>
              <a:bodyPr/>
              <a:lstStyle/>
              <a:p>
                <a:r>
                  <a:rPr lang="zh-CN" altLang="en-US">
                    <a:noFill/>
                  </a:rPr>
                  <a:t> </a:t>
                </a:r>
              </a:p>
            </p:txBody>
          </p:sp>
        </mc:Fallback>
      </mc:AlternateContent>
      <p:sp>
        <p:nvSpPr>
          <p:cNvPr id="3" name="箭头: 右 2">
            <a:extLst>
              <a:ext uri="{FF2B5EF4-FFF2-40B4-BE49-F238E27FC236}">
                <a16:creationId xmlns:a16="http://schemas.microsoft.com/office/drawing/2014/main" id="{5D5C2E13-01F1-4289-A571-3FE9C1E26891}"/>
              </a:ext>
            </a:extLst>
          </p:cNvPr>
          <p:cNvSpPr/>
          <p:nvPr/>
        </p:nvSpPr>
        <p:spPr>
          <a:xfrm rot="13500000">
            <a:off x="6211871" y="5603426"/>
            <a:ext cx="726380" cy="3131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C91703A-81BB-4627-AAA3-7CFD8CDBE21A}"/>
                  </a:ext>
                </a:extLst>
              </p:cNvPr>
              <p:cNvSpPr txBox="1"/>
              <p:nvPr/>
            </p:nvSpPr>
            <p:spPr>
              <a:xfrm>
                <a:off x="6346055" y="6055601"/>
                <a:ext cx="2797945" cy="369332"/>
              </a:xfrm>
              <a:prstGeom prst="rect">
                <a:avLst/>
              </a:prstGeom>
              <a:noFill/>
            </p:spPr>
            <p:txBody>
              <a:bodyPr wrap="none" rtlCol="0">
                <a:spAutoFit/>
              </a:bodyPr>
              <a:lstStyle/>
              <a:p>
                <a:r>
                  <a:rPr lang="zh-CN" altLang="en-US" dirty="0"/>
                  <a:t>希望这部分变成新的</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−1</m:t>
                        </m:r>
                      </m:sup>
                    </m:sSup>
                    <m:r>
                      <a:rPr lang="en-US" altLang="zh-CN" i="1">
                        <a:latin typeface="Cambria Math" panose="02040503050406030204" pitchFamily="18" charset="0"/>
                      </a:rPr>
                      <m:t>𝐴</m:t>
                    </m:r>
                  </m:oMath>
                </a14:m>
                <a:endParaRPr lang="zh-CN" altLang="en-US" dirty="0"/>
              </a:p>
            </p:txBody>
          </p:sp>
        </mc:Choice>
        <mc:Fallback xmlns="">
          <p:sp>
            <p:nvSpPr>
              <p:cNvPr id="5" name="文本框 4">
                <a:extLst>
                  <a:ext uri="{FF2B5EF4-FFF2-40B4-BE49-F238E27FC236}">
                    <a16:creationId xmlns:a16="http://schemas.microsoft.com/office/drawing/2014/main" id="{1C91703A-81BB-4627-AAA3-7CFD8CDBE21A}"/>
                  </a:ext>
                </a:extLst>
              </p:cNvPr>
              <p:cNvSpPr txBox="1">
                <a:spLocks noRot="1" noChangeAspect="1" noMove="1" noResize="1" noEditPoints="1" noAdjustHandles="1" noChangeArrowheads="1" noChangeShapeType="1" noTextEdit="1"/>
              </p:cNvSpPr>
              <p:nvPr/>
            </p:nvSpPr>
            <p:spPr>
              <a:xfrm>
                <a:off x="6346055" y="6055601"/>
                <a:ext cx="2797945" cy="369332"/>
              </a:xfrm>
              <a:prstGeom prst="rect">
                <a:avLst/>
              </a:prstGeom>
              <a:blipFill>
                <a:blip r:embed="rId7"/>
                <a:stretch>
                  <a:fillRect l="-1743" t="-8197" b="-245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359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77A734-AE35-4481-B595-92C822CB1124}"/>
              </a:ext>
            </a:extLst>
          </p:cNvPr>
          <p:cNvSpPr>
            <a:spLocks noGrp="1"/>
          </p:cNvSpPr>
          <p:nvPr>
            <p:ph type="title"/>
          </p:nvPr>
        </p:nvSpPr>
        <p:spPr/>
        <p:txBody>
          <a:bodyPr/>
          <a:lstStyle/>
          <a:p>
            <a:r>
              <a:rPr lang="zh-CN" altLang="en-US" dirty="0"/>
              <a:t>复习：高斯消元法求逆矩阵</a:t>
            </a: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8726A823-41A4-488A-B28D-9CD43CE354B3}"/>
                  </a:ext>
                </a:extLst>
              </p:cNvPr>
              <p:cNvSpPr/>
              <p:nvPr/>
            </p:nvSpPr>
            <p:spPr>
              <a:xfrm>
                <a:off x="1258057" y="1549395"/>
                <a:ext cx="2989812" cy="91031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3200" b="1" i="1" smtClean="0">
                          <a:solidFill>
                            <a:sysClr val="windowText" lastClr="000000"/>
                          </a:solidFill>
                          <a:latin typeface="Cambria Math" panose="02040503050406030204" pitchFamily="18" charset="0"/>
                        </a:rPr>
                        <m:t>𝑩</m:t>
                      </m:r>
                      <m:r>
                        <a:rPr lang="en-US" altLang="zh-CN" sz="3200" b="1" i="1" smtClean="0">
                          <a:solidFill>
                            <a:sysClr val="windowText" lastClr="000000"/>
                          </a:solidFill>
                          <a:latin typeface="Cambria Math" panose="02040503050406030204" pitchFamily="18" charset="0"/>
                        </a:rPr>
                        <m:t>=</m:t>
                      </m:r>
                      <m:d>
                        <m:dPr>
                          <m:begChr m:val="["/>
                          <m:endChr m:val="]"/>
                          <m:ctrlPr>
                            <a:rPr lang="en-US" altLang="zh-CN" sz="3200" i="1">
                              <a:latin typeface="Cambria Math" panose="02040503050406030204" pitchFamily="18" charset="0"/>
                            </a:rPr>
                          </m:ctrlPr>
                        </m:dPr>
                        <m:e>
                          <m:m>
                            <m:mPr>
                              <m:mcs>
                                <m:mc>
                                  <m:mcPr>
                                    <m:count m:val="2"/>
                                    <m:mcJc m:val="center"/>
                                  </m:mcPr>
                                </m:mc>
                              </m:mcs>
                              <m:ctrlPr>
                                <a:rPr lang="en-US" altLang="zh-CN" sz="3200" i="1">
                                  <a:latin typeface="Cambria Math" panose="02040503050406030204" pitchFamily="18" charset="0"/>
                                </a:rPr>
                              </m:ctrlPr>
                            </m:mPr>
                            <m:mr>
                              <m:e>
                                <m:r>
                                  <m:rPr>
                                    <m:brk m:alnAt="7"/>
                                  </m:rPr>
                                  <a:rPr lang="en-US" altLang="zh-CN" sz="3200" b="0" i="1" smtClean="0">
                                    <a:latin typeface="Cambria Math" panose="02040503050406030204" pitchFamily="18" charset="0"/>
                                  </a:rPr>
                                  <m:t>2</m:t>
                                </m:r>
                              </m:e>
                              <m:e>
                                <m:r>
                                  <a:rPr lang="en-US" altLang="zh-CN" sz="3200" i="1">
                                    <a:latin typeface="Cambria Math" panose="02040503050406030204" pitchFamily="18" charset="0"/>
                                  </a:rPr>
                                  <m:t>0</m:t>
                                </m:r>
                              </m:e>
                            </m:mr>
                            <m:mr>
                              <m:e>
                                <m:r>
                                  <a:rPr lang="en-US" altLang="zh-CN" sz="3200" b="0" i="1" smtClean="0">
                                    <a:latin typeface="Cambria Math" panose="02040503050406030204" pitchFamily="18" charset="0"/>
                                  </a:rPr>
                                  <m:t>1</m:t>
                                </m:r>
                              </m:e>
                              <m:e>
                                <m:r>
                                  <a:rPr lang="en-US" altLang="zh-CN" sz="3200" i="1">
                                    <a:latin typeface="Cambria Math" panose="02040503050406030204" pitchFamily="18" charset="0"/>
                                  </a:rPr>
                                  <m:t>1</m:t>
                                </m:r>
                              </m:e>
                            </m:mr>
                          </m:m>
                        </m:e>
                      </m:d>
                    </m:oMath>
                  </m:oMathPara>
                </a14:m>
                <a:endParaRPr lang="zh-CN" altLang="en-US" sz="3200" dirty="0"/>
              </a:p>
            </p:txBody>
          </p:sp>
        </mc:Choice>
        <mc:Fallback xmlns="">
          <p:sp>
            <p:nvSpPr>
              <p:cNvPr id="4" name="矩形 3">
                <a:extLst>
                  <a:ext uri="{FF2B5EF4-FFF2-40B4-BE49-F238E27FC236}">
                    <a16:creationId xmlns:a16="http://schemas.microsoft.com/office/drawing/2014/main" id="{8726A823-41A4-488A-B28D-9CD43CE354B3}"/>
                  </a:ext>
                </a:extLst>
              </p:cNvPr>
              <p:cNvSpPr>
                <a:spLocks noRot="1" noChangeAspect="1" noMove="1" noResize="1" noEditPoints="1" noAdjustHandles="1" noChangeArrowheads="1" noChangeShapeType="1" noTextEdit="1"/>
              </p:cNvSpPr>
              <p:nvPr/>
            </p:nvSpPr>
            <p:spPr>
              <a:xfrm>
                <a:off x="1258057" y="1549395"/>
                <a:ext cx="2989812" cy="910314"/>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5A8FE313-5D0F-4E2F-9EBC-11B31C2510D8}"/>
                  </a:ext>
                </a:extLst>
              </p:cNvPr>
              <p:cNvSpPr/>
              <p:nvPr/>
            </p:nvSpPr>
            <p:spPr>
              <a:xfrm>
                <a:off x="3568638" y="1549395"/>
                <a:ext cx="2989812" cy="91031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3200" b="1" i="1" smtClean="0">
                          <a:solidFill>
                            <a:sysClr val="windowText" lastClr="000000"/>
                          </a:solidFill>
                          <a:latin typeface="Cambria Math" panose="02040503050406030204" pitchFamily="18" charset="0"/>
                        </a:rPr>
                        <m:t>𝑰</m:t>
                      </m:r>
                      <m:r>
                        <a:rPr lang="en-US" altLang="zh-CN" sz="3200" b="1" i="1" smtClean="0">
                          <a:solidFill>
                            <a:sysClr val="windowText" lastClr="000000"/>
                          </a:solidFill>
                          <a:latin typeface="Cambria Math" panose="02040503050406030204" pitchFamily="18" charset="0"/>
                        </a:rPr>
                        <m:t>=</m:t>
                      </m:r>
                      <m:d>
                        <m:dPr>
                          <m:begChr m:val="["/>
                          <m:endChr m:val="]"/>
                          <m:ctrlPr>
                            <a:rPr lang="en-US" altLang="zh-CN" sz="3200" i="1">
                              <a:latin typeface="Cambria Math" panose="02040503050406030204" pitchFamily="18" charset="0"/>
                            </a:rPr>
                          </m:ctrlPr>
                        </m:dPr>
                        <m:e>
                          <m:m>
                            <m:mPr>
                              <m:mcs>
                                <m:mc>
                                  <m:mcPr>
                                    <m:count m:val="2"/>
                                    <m:mcJc m:val="center"/>
                                  </m:mcPr>
                                </m:mc>
                              </m:mcs>
                              <m:ctrlPr>
                                <a:rPr lang="en-US" altLang="zh-CN" sz="3200" i="1">
                                  <a:latin typeface="Cambria Math" panose="02040503050406030204" pitchFamily="18" charset="0"/>
                                </a:rPr>
                              </m:ctrlPr>
                            </m:mPr>
                            <m:mr>
                              <m:e>
                                <m:r>
                                  <a:rPr lang="en-US" altLang="zh-CN" sz="3200" b="0" i="1" smtClean="0">
                                    <a:latin typeface="Cambria Math" panose="02040503050406030204" pitchFamily="18" charset="0"/>
                                  </a:rPr>
                                  <m:t>1</m:t>
                                </m:r>
                              </m:e>
                              <m:e>
                                <m:r>
                                  <a:rPr lang="en-US" altLang="zh-CN" sz="3200" i="1">
                                    <a:latin typeface="Cambria Math" panose="02040503050406030204" pitchFamily="18" charset="0"/>
                                  </a:rPr>
                                  <m:t>0</m:t>
                                </m:r>
                              </m:e>
                            </m:mr>
                            <m:mr>
                              <m:e>
                                <m:r>
                                  <a:rPr lang="en-US" altLang="zh-CN" sz="3200" b="0" i="1" smtClean="0">
                                    <a:latin typeface="Cambria Math" panose="02040503050406030204" pitchFamily="18" charset="0"/>
                                  </a:rPr>
                                  <m:t>0</m:t>
                                </m:r>
                              </m:e>
                              <m:e>
                                <m:r>
                                  <a:rPr lang="en-US" altLang="zh-CN" sz="3200" i="1">
                                    <a:latin typeface="Cambria Math" panose="02040503050406030204" pitchFamily="18" charset="0"/>
                                  </a:rPr>
                                  <m:t>1</m:t>
                                </m:r>
                              </m:e>
                            </m:mr>
                          </m:m>
                        </m:e>
                      </m:d>
                    </m:oMath>
                  </m:oMathPara>
                </a14:m>
                <a:endParaRPr lang="zh-CN" altLang="en-US" sz="3200" dirty="0"/>
              </a:p>
            </p:txBody>
          </p:sp>
        </mc:Choice>
        <mc:Fallback xmlns="">
          <p:sp>
            <p:nvSpPr>
              <p:cNvPr id="6" name="矩形 5">
                <a:extLst>
                  <a:ext uri="{FF2B5EF4-FFF2-40B4-BE49-F238E27FC236}">
                    <a16:creationId xmlns:a16="http://schemas.microsoft.com/office/drawing/2014/main" id="{5A8FE313-5D0F-4E2F-9EBC-11B31C2510D8}"/>
                  </a:ext>
                </a:extLst>
              </p:cNvPr>
              <p:cNvSpPr>
                <a:spLocks noRot="1" noChangeAspect="1" noMove="1" noResize="1" noEditPoints="1" noAdjustHandles="1" noChangeArrowheads="1" noChangeShapeType="1" noTextEdit="1"/>
              </p:cNvSpPr>
              <p:nvPr/>
            </p:nvSpPr>
            <p:spPr>
              <a:xfrm>
                <a:off x="3568638" y="1549395"/>
                <a:ext cx="2989812" cy="91031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DB77C0B2-FCC0-4183-815D-D4543FC00090}"/>
                  </a:ext>
                </a:extLst>
              </p:cNvPr>
              <p:cNvSpPr/>
              <p:nvPr/>
            </p:nvSpPr>
            <p:spPr>
              <a:xfrm>
                <a:off x="1258057" y="2892613"/>
                <a:ext cx="2989812" cy="91031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3200" b="1" i="1" smtClean="0">
                          <a:solidFill>
                            <a:sysClr val="windowText" lastClr="000000"/>
                          </a:solidFill>
                          <a:latin typeface="Cambria Math" panose="02040503050406030204" pitchFamily="18" charset="0"/>
                        </a:rPr>
                        <m:t>𝑩</m:t>
                      </m:r>
                      <m:r>
                        <a:rPr lang="en-US" altLang="zh-CN" sz="3200" b="1" i="1" smtClean="0">
                          <a:solidFill>
                            <a:sysClr val="windowText" lastClr="000000"/>
                          </a:solidFill>
                          <a:latin typeface="Cambria Math" panose="02040503050406030204" pitchFamily="18" charset="0"/>
                        </a:rPr>
                        <m:t>=</m:t>
                      </m:r>
                      <m:d>
                        <m:dPr>
                          <m:begChr m:val="["/>
                          <m:endChr m:val="]"/>
                          <m:ctrlPr>
                            <a:rPr lang="en-US" altLang="zh-CN" sz="3200" i="1">
                              <a:latin typeface="Cambria Math" panose="02040503050406030204" pitchFamily="18" charset="0"/>
                            </a:rPr>
                          </m:ctrlPr>
                        </m:dPr>
                        <m:e>
                          <m:m>
                            <m:mPr>
                              <m:mcs>
                                <m:mc>
                                  <m:mcPr>
                                    <m:count m:val="2"/>
                                    <m:mcJc m:val="center"/>
                                  </m:mcPr>
                                </m:mc>
                              </m:mcs>
                              <m:ctrlPr>
                                <a:rPr lang="en-US" altLang="zh-CN" sz="3200" i="1">
                                  <a:latin typeface="Cambria Math" panose="02040503050406030204" pitchFamily="18" charset="0"/>
                                </a:rPr>
                              </m:ctrlPr>
                            </m:mPr>
                            <m:mr>
                              <m:e>
                                <m:r>
                                  <a:rPr lang="en-US" altLang="zh-CN" sz="3200" b="0" i="1" smtClean="0">
                                    <a:latin typeface="Cambria Math" panose="02040503050406030204" pitchFamily="18" charset="0"/>
                                  </a:rPr>
                                  <m:t>1</m:t>
                                </m:r>
                              </m:e>
                              <m:e>
                                <m:r>
                                  <a:rPr lang="en-US" altLang="zh-CN" sz="3200" i="1">
                                    <a:latin typeface="Cambria Math" panose="02040503050406030204" pitchFamily="18" charset="0"/>
                                  </a:rPr>
                                  <m:t>0</m:t>
                                </m:r>
                              </m:e>
                            </m:mr>
                            <m:mr>
                              <m:e>
                                <m:r>
                                  <a:rPr lang="en-US" altLang="zh-CN" sz="3200" b="0" i="1" smtClean="0">
                                    <a:latin typeface="Cambria Math" panose="02040503050406030204" pitchFamily="18" charset="0"/>
                                  </a:rPr>
                                  <m:t>1</m:t>
                                </m:r>
                              </m:e>
                              <m:e>
                                <m:r>
                                  <a:rPr lang="en-US" altLang="zh-CN" sz="3200" i="1">
                                    <a:latin typeface="Cambria Math" panose="02040503050406030204" pitchFamily="18" charset="0"/>
                                  </a:rPr>
                                  <m:t>1</m:t>
                                </m:r>
                              </m:e>
                            </m:mr>
                          </m:m>
                        </m:e>
                      </m:d>
                    </m:oMath>
                  </m:oMathPara>
                </a14:m>
                <a:endParaRPr lang="zh-CN" altLang="en-US" sz="3200" dirty="0"/>
              </a:p>
            </p:txBody>
          </p:sp>
        </mc:Choice>
        <mc:Fallback xmlns="">
          <p:sp>
            <p:nvSpPr>
              <p:cNvPr id="7" name="矩形 6">
                <a:extLst>
                  <a:ext uri="{FF2B5EF4-FFF2-40B4-BE49-F238E27FC236}">
                    <a16:creationId xmlns:a16="http://schemas.microsoft.com/office/drawing/2014/main" id="{DB77C0B2-FCC0-4183-815D-D4543FC00090}"/>
                  </a:ext>
                </a:extLst>
              </p:cNvPr>
              <p:cNvSpPr>
                <a:spLocks noRot="1" noChangeAspect="1" noMove="1" noResize="1" noEditPoints="1" noAdjustHandles="1" noChangeArrowheads="1" noChangeShapeType="1" noTextEdit="1"/>
              </p:cNvSpPr>
              <p:nvPr/>
            </p:nvSpPr>
            <p:spPr>
              <a:xfrm>
                <a:off x="1258057" y="2892613"/>
                <a:ext cx="2989812" cy="91031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7A964D55-2CC4-4E0F-853D-B12A844C0AAB}"/>
                  </a:ext>
                </a:extLst>
              </p:cNvPr>
              <p:cNvSpPr/>
              <p:nvPr/>
            </p:nvSpPr>
            <p:spPr>
              <a:xfrm>
                <a:off x="3568638" y="2892613"/>
                <a:ext cx="2989812" cy="96879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3200" b="1" i="1" smtClean="0">
                          <a:solidFill>
                            <a:sysClr val="windowText" lastClr="000000"/>
                          </a:solidFill>
                          <a:latin typeface="Cambria Math" panose="02040503050406030204" pitchFamily="18" charset="0"/>
                        </a:rPr>
                        <m:t>𝑰</m:t>
                      </m:r>
                      <m:r>
                        <a:rPr lang="en-US" altLang="zh-CN" sz="3200" b="1" i="1" smtClean="0">
                          <a:solidFill>
                            <a:sysClr val="windowText" lastClr="000000"/>
                          </a:solidFill>
                          <a:latin typeface="Cambria Math" panose="02040503050406030204" pitchFamily="18" charset="0"/>
                        </a:rPr>
                        <m:t>=</m:t>
                      </m:r>
                      <m:d>
                        <m:dPr>
                          <m:begChr m:val="["/>
                          <m:endChr m:val="]"/>
                          <m:ctrlPr>
                            <a:rPr lang="en-US" altLang="zh-CN" sz="3200" i="1">
                              <a:latin typeface="Cambria Math" panose="02040503050406030204" pitchFamily="18" charset="0"/>
                            </a:rPr>
                          </m:ctrlPr>
                        </m:dPr>
                        <m:e>
                          <m:m>
                            <m:mPr>
                              <m:mcs>
                                <m:mc>
                                  <m:mcPr>
                                    <m:count m:val="2"/>
                                    <m:mcJc m:val="center"/>
                                  </m:mcPr>
                                </m:mc>
                              </m:mcs>
                              <m:ctrlPr>
                                <a:rPr lang="en-US" altLang="zh-CN" sz="3200" i="1">
                                  <a:latin typeface="Cambria Math" panose="02040503050406030204" pitchFamily="18" charset="0"/>
                                </a:rPr>
                              </m:ctrlPr>
                            </m:mPr>
                            <m:mr>
                              <m:e>
                                <m:r>
                                  <a:rPr lang="en-US" altLang="zh-CN" sz="3200" b="0" i="1" smtClean="0">
                                    <a:latin typeface="Cambria Math" panose="02040503050406030204" pitchFamily="18" charset="0"/>
                                  </a:rPr>
                                  <m:t>1/2</m:t>
                                </m:r>
                              </m:e>
                              <m:e>
                                <m:r>
                                  <a:rPr lang="en-US" altLang="zh-CN" sz="3200" i="1">
                                    <a:latin typeface="Cambria Math" panose="02040503050406030204" pitchFamily="18" charset="0"/>
                                  </a:rPr>
                                  <m:t>0</m:t>
                                </m:r>
                              </m:e>
                            </m:mr>
                            <m:mr>
                              <m:e>
                                <m:r>
                                  <a:rPr lang="en-US" altLang="zh-CN" sz="3200" b="0" i="1" smtClean="0">
                                    <a:latin typeface="Cambria Math" panose="02040503050406030204" pitchFamily="18" charset="0"/>
                                  </a:rPr>
                                  <m:t>0</m:t>
                                </m:r>
                              </m:e>
                              <m:e>
                                <m:r>
                                  <a:rPr lang="en-US" altLang="zh-CN" sz="3200" i="1">
                                    <a:latin typeface="Cambria Math" panose="02040503050406030204" pitchFamily="18" charset="0"/>
                                  </a:rPr>
                                  <m:t>1</m:t>
                                </m:r>
                              </m:e>
                            </m:mr>
                          </m:m>
                        </m:e>
                      </m:d>
                    </m:oMath>
                  </m:oMathPara>
                </a14:m>
                <a:endParaRPr lang="zh-CN" altLang="en-US" sz="3200" dirty="0"/>
              </a:p>
            </p:txBody>
          </p:sp>
        </mc:Choice>
        <mc:Fallback xmlns="">
          <p:sp>
            <p:nvSpPr>
              <p:cNvPr id="8" name="矩形 7">
                <a:extLst>
                  <a:ext uri="{FF2B5EF4-FFF2-40B4-BE49-F238E27FC236}">
                    <a16:creationId xmlns:a16="http://schemas.microsoft.com/office/drawing/2014/main" id="{7A964D55-2CC4-4E0F-853D-B12A844C0AAB}"/>
                  </a:ext>
                </a:extLst>
              </p:cNvPr>
              <p:cNvSpPr>
                <a:spLocks noRot="1" noChangeAspect="1" noMove="1" noResize="1" noEditPoints="1" noAdjustHandles="1" noChangeArrowheads="1" noChangeShapeType="1" noTextEdit="1"/>
              </p:cNvSpPr>
              <p:nvPr/>
            </p:nvSpPr>
            <p:spPr>
              <a:xfrm>
                <a:off x="3568638" y="2892613"/>
                <a:ext cx="2989812" cy="96879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E4A0445F-E5D8-4346-B8F4-B505261CE800}"/>
                  </a:ext>
                </a:extLst>
              </p:cNvPr>
              <p:cNvSpPr/>
              <p:nvPr/>
            </p:nvSpPr>
            <p:spPr>
              <a:xfrm>
                <a:off x="1258057" y="4294308"/>
                <a:ext cx="2989812" cy="91031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3200" b="1" i="1" smtClean="0">
                          <a:solidFill>
                            <a:sysClr val="windowText" lastClr="000000"/>
                          </a:solidFill>
                          <a:latin typeface="Cambria Math" panose="02040503050406030204" pitchFamily="18" charset="0"/>
                        </a:rPr>
                        <m:t>𝑩</m:t>
                      </m:r>
                      <m:r>
                        <a:rPr lang="en-US" altLang="zh-CN" sz="3200" b="1" i="1" smtClean="0">
                          <a:solidFill>
                            <a:sysClr val="windowText" lastClr="000000"/>
                          </a:solidFill>
                          <a:latin typeface="Cambria Math" panose="02040503050406030204" pitchFamily="18" charset="0"/>
                        </a:rPr>
                        <m:t>=</m:t>
                      </m:r>
                      <m:d>
                        <m:dPr>
                          <m:begChr m:val="["/>
                          <m:endChr m:val="]"/>
                          <m:ctrlPr>
                            <a:rPr lang="en-US" altLang="zh-CN" sz="3200" i="1">
                              <a:latin typeface="Cambria Math" panose="02040503050406030204" pitchFamily="18" charset="0"/>
                            </a:rPr>
                          </m:ctrlPr>
                        </m:dPr>
                        <m:e>
                          <m:m>
                            <m:mPr>
                              <m:mcs>
                                <m:mc>
                                  <m:mcPr>
                                    <m:count m:val="2"/>
                                    <m:mcJc m:val="center"/>
                                  </m:mcPr>
                                </m:mc>
                              </m:mcs>
                              <m:ctrlPr>
                                <a:rPr lang="en-US" altLang="zh-CN" sz="3200" i="1">
                                  <a:latin typeface="Cambria Math" panose="02040503050406030204" pitchFamily="18" charset="0"/>
                                </a:rPr>
                              </m:ctrlPr>
                            </m:mPr>
                            <m:mr>
                              <m:e>
                                <m:r>
                                  <a:rPr lang="en-US" altLang="zh-CN" sz="3200" b="0" i="1" smtClean="0">
                                    <a:latin typeface="Cambria Math" panose="02040503050406030204" pitchFamily="18" charset="0"/>
                                  </a:rPr>
                                  <m:t>1</m:t>
                                </m:r>
                              </m:e>
                              <m:e>
                                <m:r>
                                  <a:rPr lang="en-US" altLang="zh-CN" sz="3200" i="1">
                                    <a:latin typeface="Cambria Math" panose="02040503050406030204" pitchFamily="18" charset="0"/>
                                  </a:rPr>
                                  <m:t>0</m:t>
                                </m:r>
                              </m:e>
                            </m:mr>
                            <m:mr>
                              <m:e>
                                <m:r>
                                  <a:rPr lang="en-US" altLang="zh-CN" sz="3200" b="0" i="1" smtClean="0">
                                    <a:latin typeface="Cambria Math" panose="02040503050406030204" pitchFamily="18" charset="0"/>
                                  </a:rPr>
                                  <m:t>0</m:t>
                                </m:r>
                              </m:e>
                              <m:e>
                                <m:r>
                                  <a:rPr lang="en-US" altLang="zh-CN" sz="3200" i="1">
                                    <a:latin typeface="Cambria Math" panose="02040503050406030204" pitchFamily="18" charset="0"/>
                                  </a:rPr>
                                  <m:t>1</m:t>
                                </m:r>
                              </m:e>
                            </m:mr>
                          </m:m>
                        </m:e>
                      </m:d>
                    </m:oMath>
                  </m:oMathPara>
                </a14:m>
                <a:endParaRPr lang="zh-CN" altLang="en-US" sz="3200" dirty="0"/>
              </a:p>
            </p:txBody>
          </p:sp>
        </mc:Choice>
        <mc:Fallback xmlns="">
          <p:sp>
            <p:nvSpPr>
              <p:cNvPr id="9" name="矩形 8">
                <a:extLst>
                  <a:ext uri="{FF2B5EF4-FFF2-40B4-BE49-F238E27FC236}">
                    <a16:creationId xmlns:a16="http://schemas.microsoft.com/office/drawing/2014/main" id="{E4A0445F-E5D8-4346-B8F4-B505261CE800}"/>
                  </a:ext>
                </a:extLst>
              </p:cNvPr>
              <p:cNvSpPr>
                <a:spLocks noRot="1" noChangeAspect="1" noMove="1" noResize="1" noEditPoints="1" noAdjustHandles="1" noChangeArrowheads="1" noChangeShapeType="1" noTextEdit="1"/>
              </p:cNvSpPr>
              <p:nvPr/>
            </p:nvSpPr>
            <p:spPr>
              <a:xfrm>
                <a:off x="1258057" y="4294308"/>
                <a:ext cx="2989812" cy="91031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3B7F4479-0FAC-486F-BDEA-8A6993D03EC9}"/>
                  </a:ext>
                </a:extLst>
              </p:cNvPr>
              <p:cNvSpPr/>
              <p:nvPr/>
            </p:nvSpPr>
            <p:spPr>
              <a:xfrm>
                <a:off x="3568638" y="4294308"/>
                <a:ext cx="2989812" cy="102919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3200" b="1" i="1" smtClean="0">
                          <a:solidFill>
                            <a:sysClr val="windowText" lastClr="000000"/>
                          </a:solidFill>
                          <a:latin typeface="Cambria Math" panose="02040503050406030204" pitchFamily="18" charset="0"/>
                        </a:rPr>
                        <m:t>𝑰</m:t>
                      </m:r>
                      <m:r>
                        <a:rPr lang="en-US" altLang="zh-CN" sz="3200" b="1" i="1" smtClean="0">
                          <a:solidFill>
                            <a:sysClr val="windowText" lastClr="000000"/>
                          </a:solidFill>
                          <a:latin typeface="Cambria Math" panose="02040503050406030204" pitchFamily="18" charset="0"/>
                        </a:rPr>
                        <m:t>=</m:t>
                      </m:r>
                      <m:d>
                        <m:dPr>
                          <m:begChr m:val="["/>
                          <m:endChr m:val="]"/>
                          <m:ctrlPr>
                            <a:rPr lang="en-US" altLang="zh-CN" sz="3200" i="1">
                              <a:latin typeface="Cambria Math" panose="02040503050406030204" pitchFamily="18" charset="0"/>
                            </a:rPr>
                          </m:ctrlPr>
                        </m:dPr>
                        <m:e>
                          <m:m>
                            <m:mPr>
                              <m:mcs>
                                <m:mc>
                                  <m:mcPr>
                                    <m:count m:val="2"/>
                                    <m:mcJc m:val="center"/>
                                  </m:mcPr>
                                </m:mc>
                              </m:mcs>
                              <m:ctrlPr>
                                <a:rPr lang="en-US" altLang="zh-CN" sz="3200" i="1">
                                  <a:latin typeface="Cambria Math" panose="02040503050406030204" pitchFamily="18" charset="0"/>
                                </a:rPr>
                              </m:ctrlPr>
                            </m:mPr>
                            <m:mr>
                              <m:e>
                                <m:r>
                                  <a:rPr lang="en-US" altLang="zh-CN" sz="3200" b="0" i="1" smtClean="0">
                                    <a:latin typeface="Cambria Math" panose="02040503050406030204" pitchFamily="18" charset="0"/>
                                  </a:rPr>
                                  <m:t>1/2</m:t>
                                </m:r>
                              </m:e>
                              <m:e>
                                <m:r>
                                  <a:rPr lang="en-US" altLang="zh-CN" sz="3200" i="1">
                                    <a:latin typeface="Cambria Math" panose="02040503050406030204" pitchFamily="18" charset="0"/>
                                  </a:rPr>
                                  <m:t>0</m:t>
                                </m:r>
                              </m:e>
                            </m:mr>
                            <m:mr>
                              <m:e>
                                <m:r>
                                  <a:rPr lang="en-US" altLang="zh-CN" sz="3200" b="0" i="1" smtClean="0">
                                    <a:latin typeface="Cambria Math" panose="02040503050406030204" pitchFamily="18" charset="0"/>
                                  </a:rPr>
                                  <m:t>−1/2</m:t>
                                </m:r>
                              </m:e>
                              <m:e>
                                <m:r>
                                  <a:rPr lang="en-US" altLang="zh-CN" sz="3200" i="1">
                                    <a:latin typeface="Cambria Math" panose="02040503050406030204" pitchFamily="18" charset="0"/>
                                  </a:rPr>
                                  <m:t>1</m:t>
                                </m:r>
                              </m:e>
                            </m:mr>
                          </m:m>
                        </m:e>
                      </m:d>
                    </m:oMath>
                  </m:oMathPara>
                </a14:m>
                <a:endParaRPr lang="zh-CN" altLang="en-US" sz="3200" dirty="0"/>
              </a:p>
            </p:txBody>
          </p:sp>
        </mc:Choice>
        <mc:Fallback xmlns="">
          <p:sp>
            <p:nvSpPr>
              <p:cNvPr id="10" name="矩形 9">
                <a:extLst>
                  <a:ext uri="{FF2B5EF4-FFF2-40B4-BE49-F238E27FC236}">
                    <a16:creationId xmlns:a16="http://schemas.microsoft.com/office/drawing/2014/main" id="{3B7F4479-0FAC-486F-BDEA-8A6993D03EC9}"/>
                  </a:ext>
                </a:extLst>
              </p:cNvPr>
              <p:cNvSpPr>
                <a:spLocks noRot="1" noChangeAspect="1" noMove="1" noResize="1" noEditPoints="1" noAdjustHandles="1" noChangeArrowheads="1" noChangeShapeType="1" noTextEdit="1"/>
              </p:cNvSpPr>
              <p:nvPr/>
            </p:nvSpPr>
            <p:spPr>
              <a:xfrm>
                <a:off x="3568638" y="4294308"/>
                <a:ext cx="2989812" cy="1029193"/>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F27BC929-7C4B-46DC-B595-10E2C34A4C68}"/>
                  </a:ext>
                </a:extLst>
              </p:cNvPr>
              <p:cNvSpPr txBox="1"/>
              <p:nvPr/>
            </p:nvSpPr>
            <p:spPr>
              <a:xfrm>
                <a:off x="1058545" y="5748722"/>
                <a:ext cx="246497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𝑷</m:t>
                          </m:r>
                        </m:e>
                        <m:sub>
                          <m:r>
                            <a:rPr lang="en-US" altLang="zh-CN" sz="2400" b="1" i="1" smtClean="0">
                              <a:latin typeface="Cambria Math" panose="02040503050406030204" pitchFamily="18" charset="0"/>
                            </a:rPr>
                            <m:t>𝒏</m:t>
                          </m:r>
                        </m:sub>
                      </m:sSub>
                      <m:r>
                        <a:rPr lang="en-US" altLang="zh-CN" sz="2400" b="1" i="1" smtClean="0">
                          <a:latin typeface="Cambria Math" panose="02040503050406030204" pitchFamily="18" charset="0"/>
                        </a:rPr>
                        <m:t>⋯</m:t>
                      </m:r>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𝑷</m:t>
                          </m:r>
                        </m:e>
                        <m:sub>
                          <m:r>
                            <a:rPr lang="en-US" altLang="zh-CN" sz="2400" b="1" i="1" smtClean="0">
                              <a:latin typeface="Cambria Math" panose="02040503050406030204" pitchFamily="18" charset="0"/>
                            </a:rPr>
                            <m:t>𝟐</m:t>
                          </m:r>
                        </m:sub>
                      </m:sSub>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𝑷</m:t>
                          </m:r>
                        </m:e>
                        <m:sub>
                          <m:r>
                            <a:rPr lang="en-US" altLang="zh-CN" sz="2400" b="1" i="1" smtClean="0">
                              <a:latin typeface="Cambria Math" panose="02040503050406030204" pitchFamily="18" charset="0"/>
                            </a:rPr>
                            <m:t>𝟏</m:t>
                          </m:r>
                        </m:sub>
                      </m:sSub>
                      <m:r>
                        <a:rPr lang="en-US" altLang="zh-CN" sz="2400" b="1" i="1" smtClean="0">
                          <a:latin typeface="Cambria Math" panose="02040503050406030204" pitchFamily="18" charset="0"/>
                        </a:rPr>
                        <m:t>𝑩</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𝑰</m:t>
                      </m:r>
                    </m:oMath>
                  </m:oMathPara>
                </a14:m>
                <a:endParaRPr lang="zh-CN" altLang="en-US" sz="2400" b="1" dirty="0"/>
              </a:p>
            </p:txBody>
          </p:sp>
        </mc:Choice>
        <mc:Fallback xmlns="">
          <p:sp>
            <p:nvSpPr>
              <p:cNvPr id="11" name="文本框 10">
                <a:extLst>
                  <a:ext uri="{FF2B5EF4-FFF2-40B4-BE49-F238E27FC236}">
                    <a16:creationId xmlns:a16="http://schemas.microsoft.com/office/drawing/2014/main" id="{F27BC929-7C4B-46DC-B595-10E2C34A4C68}"/>
                  </a:ext>
                </a:extLst>
              </p:cNvPr>
              <p:cNvSpPr txBox="1">
                <a:spLocks noRot="1" noChangeAspect="1" noMove="1" noResize="1" noEditPoints="1" noAdjustHandles="1" noChangeArrowheads="1" noChangeShapeType="1" noTextEdit="1"/>
              </p:cNvSpPr>
              <p:nvPr/>
            </p:nvSpPr>
            <p:spPr>
              <a:xfrm>
                <a:off x="1058545" y="5748722"/>
                <a:ext cx="2464970" cy="461665"/>
              </a:xfrm>
              <a:prstGeom prst="rect">
                <a:avLst/>
              </a:prstGeom>
              <a:blipFill>
                <a:blip r:embed="rId8"/>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A5E6F873-EED5-453D-B636-D0B0449C67DA}"/>
                  </a:ext>
                </a:extLst>
              </p:cNvPr>
              <p:cNvSpPr txBox="1"/>
              <p:nvPr/>
            </p:nvSpPr>
            <p:spPr>
              <a:xfrm>
                <a:off x="4925961" y="5748722"/>
                <a:ext cx="2864054" cy="47000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𝑷</m:t>
                          </m:r>
                        </m:e>
                        <m:sub>
                          <m:r>
                            <a:rPr lang="en-US" altLang="zh-CN" sz="2400" b="1" i="1" smtClean="0">
                              <a:latin typeface="Cambria Math" panose="02040503050406030204" pitchFamily="18" charset="0"/>
                            </a:rPr>
                            <m:t>𝒏</m:t>
                          </m:r>
                        </m:sub>
                      </m:sSub>
                      <m:r>
                        <a:rPr lang="en-US" altLang="zh-CN" sz="2400" b="1" i="1" smtClean="0">
                          <a:latin typeface="Cambria Math" panose="02040503050406030204" pitchFamily="18" charset="0"/>
                        </a:rPr>
                        <m:t>⋯</m:t>
                      </m:r>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𝑷</m:t>
                          </m:r>
                        </m:e>
                        <m:sub>
                          <m:r>
                            <a:rPr lang="en-US" altLang="zh-CN" sz="2400" b="1" i="1" smtClean="0">
                              <a:latin typeface="Cambria Math" panose="02040503050406030204" pitchFamily="18" charset="0"/>
                            </a:rPr>
                            <m:t>𝟐</m:t>
                          </m:r>
                        </m:sub>
                      </m:sSub>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𝑷</m:t>
                          </m:r>
                        </m:e>
                        <m:sub>
                          <m:r>
                            <a:rPr lang="en-US" altLang="zh-CN" sz="2400" b="1" i="1" smtClean="0">
                              <a:latin typeface="Cambria Math" panose="02040503050406030204" pitchFamily="18" charset="0"/>
                            </a:rPr>
                            <m:t>𝟏</m:t>
                          </m:r>
                        </m:sub>
                      </m:sSub>
                      <m:r>
                        <a:rPr lang="en-US" altLang="zh-CN" sz="2400" b="1" i="1" smtClean="0">
                          <a:latin typeface="Cambria Math" panose="02040503050406030204" pitchFamily="18" charset="0"/>
                        </a:rPr>
                        <m:t>𝑰</m:t>
                      </m:r>
                      <m:r>
                        <a:rPr lang="en-US" altLang="zh-CN" sz="2400" b="1" i="1" smtClean="0">
                          <a:latin typeface="Cambria Math" panose="02040503050406030204" pitchFamily="18" charset="0"/>
                        </a:rPr>
                        <m:t>=</m:t>
                      </m:r>
                      <m:sSup>
                        <m:sSupPr>
                          <m:ctrlPr>
                            <a:rPr lang="en-US" altLang="zh-CN" sz="2400" b="1" i="1" smtClean="0">
                              <a:latin typeface="Cambria Math" panose="02040503050406030204" pitchFamily="18" charset="0"/>
                            </a:rPr>
                          </m:ctrlPr>
                        </m:sSupPr>
                        <m:e>
                          <m:r>
                            <a:rPr lang="en-US" altLang="zh-CN" sz="2400" b="1" i="1" smtClean="0">
                              <a:latin typeface="Cambria Math" panose="02040503050406030204" pitchFamily="18" charset="0"/>
                            </a:rPr>
                            <m:t>𝑩</m:t>
                          </m:r>
                        </m:e>
                        <m:sup>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𝟏</m:t>
                          </m:r>
                        </m:sup>
                      </m:sSup>
                    </m:oMath>
                  </m:oMathPara>
                </a14:m>
                <a:endParaRPr lang="zh-CN" altLang="en-US" sz="2400" b="1" dirty="0"/>
              </a:p>
            </p:txBody>
          </p:sp>
        </mc:Choice>
        <mc:Fallback xmlns="">
          <p:sp>
            <p:nvSpPr>
              <p:cNvPr id="12" name="文本框 11">
                <a:extLst>
                  <a:ext uri="{FF2B5EF4-FFF2-40B4-BE49-F238E27FC236}">
                    <a16:creationId xmlns:a16="http://schemas.microsoft.com/office/drawing/2014/main" id="{A5E6F873-EED5-453D-B636-D0B0449C67DA}"/>
                  </a:ext>
                </a:extLst>
              </p:cNvPr>
              <p:cNvSpPr txBox="1">
                <a:spLocks noRot="1" noChangeAspect="1" noMove="1" noResize="1" noEditPoints="1" noAdjustHandles="1" noChangeArrowheads="1" noChangeShapeType="1" noTextEdit="1"/>
              </p:cNvSpPr>
              <p:nvPr/>
            </p:nvSpPr>
            <p:spPr>
              <a:xfrm>
                <a:off x="4925961" y="5748722"/>
                <a:ext cx="2864054" cy="470000"/>
              </a:xfrm>
              <a:prstGeom prst="rect">
                <a:avLst/>
              </a:prstGeom>
              <a:blipFill>
                <a:blip r:embed="rId9"/>
                <a:stretch>
                  <a:fillRect b="-3896"/>
                </a:stretch>
              </a:blipFill>
            </p:spPr>
            <p:txBody>
              <a:bodyPr/>
              <a:lstStyle/>
              <a:p>
                <a:r>
                  <a:rPr lang="zh-CN" altLang="en-US">
                    <a:noFill/>
                  </a:rPr>
                  <a:t> </a:t>
                </a:r>
              </a:p>
            </p:txBody>
          </p:sp>
        </mc:Fallback>
      </mc:AlternateContent>
      <p:sp>
        <p:nvSpPr>
          <p:cNvPr id="13" name="箭头: 右 12">
            <a:extLst>
              <a:ext uri="{FF2B5EF4-FFF2-40B4-BE49-F238E27FC236}">
                <a16:creationId xmlns:a16="http://schemas.microsoft.com/office/drawing/2014/main" id="{6450E4AB-0AAE-4021-A47E-CC35EF90ECAD}"/>
              </a:ext>
            </a:extLst>
          </p:cNvPr>
          <p:cNvSpPr/>
          <p:nvPr/>
        </p:nvSpPr>
        <p:spPr>
          <a:xfrm>
            <a:off x="3922599" y="5826566"/>
            <a:ext cx="631268" cy="3126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箭头: 右 13">
            <a:extLst>
              <a:ext uri="{FF2B5EF4-FFF2-40B4-BE49-F238E27FC236}">
                <a16:creationId xmlns:a16="http://schemas.microsoft.com/office/drawing/2014/main" id="{B5C516D8-B59D-4C07-B7F6-71E06D35949D}"/>
              </a:ext>
            </a:extLst>
          </p:cNvPr>
          <p:cNvSpPr/>
          <p:nvPr/>
        </p:nvSpPr>
        <p:spPr>
          <a:xfrm rot="5400000">
            <a:off x="4116442" y="2649100"/>
            <a:ext cx="262854" cy="3126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右 14">
            <a:extLst>
              <a:ext uri="{FF2B5EF4-FFF2-40B4-BE49-F238E27FC236}">
                <a16:creationId xmlns:a16="http://schemas.microsoft.com/office/drawing/2014/main" id="{78D456F1-1BBF-4EC2-829B-2AB0F5583F37}"/>
              </a:ext>
            </a:extLst>
          </p:cNvPr>
          <p:cNvSpPr/>
          <p:nvPr/>
        </p:nvSpPr>
        <p:spPr>
          <a:xfrm rot="5400000">
            <a:off x="4116442" y="4065016"/>
            <a:ext cx="262854" cy="3126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94448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a:extLst>
              <a:ext uri="{FF2B5EF4-FFF2-40B4-BE49-F238E27FC236}">
                <a16:creationId xmlns:a16="http://schemas.microsoft.com/office/drawing/2014/main" id="{DCC6960F-189C-4671-AFA4-3CF0E50003E4}"/>
              </a:ext>
            </a:extLst>
          </p:cNvPr>
          <p:cNvGraphicFramePr>
            <a:graphicFrameLocks noGrp="1"/>
          </p:cNvGraphicFramePr>
          <p:nvPr>
            <p:ph idx="1"/>
            <p:extLst>
              <p:ext uri="{D42A27DB-BD31-4B8C-83A1-F6EECF244321}">
                <p14:modId xmlns:p14="http://schemas.microsoft.com/office/powerpoint/2010/main" val="733194476"/>
              </p:ext>
            </p:extLst>
          </p:nvPr>
        </p:nvGraphicFramePr>
        <p:xfrm>
          <a:off x="1543050" y="675250"/>
          <a:ext cx="5873752" cy="1541144"/>
        </p:xfrm>
        <a:graphic>
          <a:graphicData uri="http://schemas.openxmlformats.org/drawingml/2006/table">
            <a:tbl>
              <a:tblPr firstRow="1" bandRow="1">
                <a:tableStyleId>{5C22544A-7EE6-4342-B048-85BDC9FD1C3A}</a:tableStyleId>
              </a:tblPr>
              <a:tblGrid>
                <a:gridCol w="1468438">
                  <a:extLst>
                    <a:ext uri="{9D8B030D-6E8A-4147-A177-3AD203B41FA5}">
                      <a16:colId xmlns:a16="http://schemas.microsoft.com/office/drawing/2014/main" val="194517144"/>
                    </a:ext>
                  </a:extLst>
                </a:gridCol>
                <a:gridCol w="1468438">
                  <a:extLst>
                    <a:ext uri="{9D8B030D-6E8A-4147-A177-3AD203B41FA5}">
                      <a16:colId xmlns:a16="http://schemas.microsoft.com/office/drawing/2014/main" val="262937075"/>
                    </a:ext>
                  </a:extLst>
                </a:gridCol>
                <a:gridCol w="1468438">
                  <a:extLst>
                    <a:ext uri="{9D8B030D-6E8A-4147-A177-3AD203B41FA5}">
                      <a16:colId xmlns:a16="http://schemas.microsoft.com/office/drawing/2014/main" val="1809024897"/>
                    </a:ext>
                  </a:extLst>
                </a:gridCol>
                <a:gridCol w="1468438">
                  <a:extLst>
                    <a:ext uri="{9D8B030D-6E8A-4147-A177-3AD203B41FA5}">
                      <a16:colId xmlns:a16="http://schemas.microsoft.com/office/drawing/2014/main" val="1127211881"/>
                    </a:ext>
                  </a:extLst>
                </a:gridCol>
              </a:tblGrid>
              <a:tr h="763588">
                <a:tc>
                  <a:txBody>
                    <a:bodyPr/>
                    <a:lstStyle/>
                    <a:p>
                      <a:pPr algn="ctr"/>
                      <a:r>
                        <a:rPr lang="en-US" altLang="zh-CN" sz="3900" b="1" dirty="0">
                          <a:solidFill>
                            <a:schemeClr val="tx1"/>
                          </a:solidFill>
                        </a:rPr>
                        <a:t>2</a:t>
                      </a:r>
                      <a:endParaRPr lang="zh-CN" altLang="en-US" sz="3900" b="1"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1</a:t>
                      </a:r>
                      <a:endParaRPr lang="zh-CN" altLang="en-US" sz="3900" b="1"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1</a:t>
                      </a:r>
                      <a:endParaRPr lang="zh-CN" altLang="en-US" sz="3900" b="1"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0</a:t>
                      </a:r>
                      <a:endParaRPr lang="zh-CN" altLang="en-US" sz="3900" b="1"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11693389"/>
                  </a:ext>
                </a:extLst>
              </a:tr>
              <a:tr h="763588">
                <a:tc>
                  <a:txBody>
                    <a:bodyPr/>
                    <a:lstStyle/>
                    <a:p>
                      <a:pPr algn="ctr"/>
                      <a:r>
                        <a:rPr lang="en-US" altLang="zh-CN" sz="3900" b="1" dirty="0">
                          <a:solidFill>
                            <a:schemeClr val="tx1"/>
                          </a:solidFill>
                        </a:rPr>
                        <a:t>1</a:t>
                      </a:r>
                      <a:endParaRPr lang="zh-CN" altLang="en-US" sz="3900" b="1"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2</a:t>
                      </a:r>
                      <a:endParaRPr lang="zh-CN" altLang="en-US" sz="3900" b="1"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0</a:t>
                      </a:r>
                      <a:endParaRPr lang="zh-CN" altLang="en-US" sz="3900" b="1"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1</a:t>
                      </a:r>
                      <a:endParaRPr lang="zh-CN" altLang="en-US" sz="3900" b="1"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14370936"/>
                  </a:ext>
                </a:extLst>
              </a:tr>
            </a:tbl>
          </a:graphicData>
        </a:graphic>
      </p:graphicFrame>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AA0DC84F-1A48-4EC2-8BD0-424B5FFD87B5}"/>
                  </a:ext>
                </a:extLst>
              </p:cNvPr>
              <p:cNvGraphicFramePr>
                <a:graphicFrameLocks noGrp="1"/>
              </p:cNvGraphicFramePr>
              <p:nvPr>
                <p:extLst>
                  <p:ext uri="{D42A27DB-BD31-4B8C-83A1-F6EECF244321}">
                    <p14:modId xmlns:p14="http://schemas.microsoft.com/office/powerpoint/2010/main" val="4109156135"/>
                  </p:ext>
                </p:extLst>
              </p:nvPr>
            </p:nvGraphicFramePr>
            <p:xfrm>
              <a:off x="628650" y="783405"/>
              <a:ext cx="762000" cy="11582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83828263"/>
                        </a:ext>
                      </a:extLst>
                    </a:gridCol>
                  </a:tblGrid>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3200" b="1" i="1" smtClean="0">
                                        <a:solidFill>
                                          <a:schemeClr val="tx1"/>
                                        </a:solidFill>
                                        <a:latin typeface="Cambria Math" panose="02040503050406030204" pitchFamily="18" charset="0"/>
                                      </a:rPr>
                                    </m:ctrlPr>
                                  </m:sSubPr>
                                  <m:e>
                                    <m:r>
                                      <a:rPr lang="en-US" altLang="zh-CN" sz="3200" b="1" i="1" smtClean="0">
                                        <a:solidFill>
                                          <a:schemeClr val="tx1"/>
                                        </a:solidFill>
                                        <a:latin typeface="Cambria Math" panose="02040503050406030204" pitchFamily="18" charset="0"/>
                                      </a:rPr>
                                      <m:t>𝒙</m:t>
                                    </m:r>
                                  </m:e>
                                  <m:sub>
                                    <m:r>
                                      <a:rPr lang="en-US" altLang="zh-CN" sz="3200" b="1" i="1" smtClean="0">
                                        <a:solidFill>
                                          <a:schemeClr val="tx1"/>
                                        </a:solidFill>
                                        <a:latin typeface="Cambria Math" panose="02040503050406030204" pitchFamily="18" charset="0"/>
                                      </a:rPr>
                                      <m:t>𝟏</m:t>
                                    </m:r>
                                  </m:sub>
                                </m:sSub>
                              </m:oMath>
                            </m:oMathPara>
                          </a14:m>
                          <a:endParaRPr lang="zh-CN" altLang="en-US" sz="2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76338532"/>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3200" b="1" i="1" smtClean="0">
                                        <a:solidFill>
                                          <a:schemeClr val="tx1"/>
                                        </a:solidFill>
                                        <a:latin typeface="Cambria Math" panose="02040503050406030204" pitchFamily="18" charset="0"/>
                                      </a:rPr>
                                    </m:ctrlPr>
                                  </m:sSubPr>
                                  <m:e>
                                    <m:r>
                                      <a:rPr lang="en-US" altLang="zh-CN" sz="3200" b="1" i="1" smtClean="0">
                                        <a:solidFill>
                                          <a:schemeClr val="tx1"/>
                                        </a:solidFill>
                                        <a:latin typeface="Cambria Math" panose="02040503050406030204" pitchFamily="18" charset="0"/>
                                      </a:rPr>
                                      <m:t>𝒙</m:t>
                                    </m:r>
                                  </m:e>
                                  <m:sub>
                                    <m:r>
                                      <a:rPr lang="en-US" altLang="zh-CN" sz="3200" b="1" i="1" smtClean="0">
                                        <a:solidFill>
                                          <a:schemeClr val="tx1"/>
                                        </a:solidFill>
                                        <a:latin typeface="Cambria Math" panose="02040503050406030204" pitchFamily="18" charset="0"/>
                                      </a:rPr>
                                      <m:t>𝟒</m:t>
                                    </m:r>
                                  </m:sub>
                                </m:sSub>
                              </m:oMath>
                            </m:oMathPara>
                          </a14:m>
                          <a:endParaRPr lang="zh-CN" altLang="en-US" sz="3200" b="1"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32285909"/>
                      </a:ext>
                    </a:extLst>
                  </a:tr>
                </a:tbl>
              </a:graphicData>
            </a:graphic>
          </p:graphicFrame>
        </mc:Choice>
        <mc:Fallback xmlns="">
          <p:graphicFrame>
            <p:nvGraphicFramePr>
              <p:cNvPr id="5" name="表格 4">
                <a:extLst>
                  <a:ext uri="{FF2B5EF4-FFF2-40B4-BE49-F238E27FC236}">
                    <a16:creationId xmlns:a16="http://schemas.microsoft.com/office/drawing/2014/main" id="{AA0DC84F-1A48-4EC2-8BD0-424B5FFD87B5}"/>
                  </a:ext>
                </a:extLst>
              </p:cNvPr>
              <p:cNvGraphicFramePr>
                <a:graphicFrameLocks noGrp="1"/>
              </p:cNvGraphicFramePr>
              <p:nvPr>
                <p:extLst>
                  <p:ext uri="{D42A27DB-BD31-4B8C-83A1-F6EECF244321}">
                    <p14:modId xmlns:p14="http://schemas.microsoft.com/office/powerpoint/2010/main" val="4109156135"/>
                  </p:ext>
                </p:extLst>
              </p:nvPr>
            </p:nvGraphicFramePr>
            <p:xfrm>
              <a:off x="628650" y="783405"/>
              <a:ext cx="762000" cy="11582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83828263"/>
                        </a:ext>
                      </a:extLst>
                    </a:gridCol>
                  </a:tblGrid>
                  <a:tr h="579120">
                    <a:tc>
                      <a:txBody>
                        <a:bodyPr/>
                        <a:lstStyle/>
                        <a:p>
                          <a:endParaRPr lang="zh-CN"/>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2"/>
                          <a:stretch>
                            <a:fillRect b="-98958"/>
                          </a:stretch>
                        </a:blipFill>
                      </a:tcPr>
                    </a:tc>
                    <a:extLst>
                      <a:ext uri="{0D108BD9-81ED-4DB2-BD59-A6C34878D82A}">
                        <a16:rowId xmlns:a16="http://schemas.microsoft.com/office/drawing/2014/main" val="4276338532"/>
                      </a:ext>
                    </a:extLst>
                  </a:tr>
                  <a:tr h="579120">
                    <a:tc>
                      <a:txBody>
                        <a:bodyPr/>
                        <a:lstStyle/>
                        <a:p>
                          <a:endParaRPr lang="zh-CN"/>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2"/>
                          <a:stretch>
                            <a:fillRect t="-101053"/>
                          </a:stretch>
                        </a:blipFill>
                      </a:tcPr>
                    </a:tc>
                    <a:extLst>
                      <a:ext uri="{0D108BD9-81ED-4DB2-BD59-A6C34878D82A}">
                        <a16:rowId xmlns:a16="http://schemas.microsoft.com/office/drawing/2014/main" val="4132285909"/>
                      </a:ext>
                    </a:extLst>
                  </a:tr>
                </a:tbl>
              </a:graphicData>
            </a:graphic>
          </p:graphicFrame>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3C8E5F7F-EA5D-4702-8046-E8F9A3F0AA0F}"/>
                  </a:ext>
                </a:extLst>
              </p:cNvPr>
              <p:cNvSpPr/>
              <p:nvPr/>
            </p:nvSpPr>
            <p:spPr>
              <a:xfrm>
                <a:off x="1930352" y="90475"/>
                <a:ext cx="833460" cy="5847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a:latin typeface="Cambria Math" panose="02040503050406030204" pitchFamily="18" charset="0"/>
                            </a:rPr>
                            <m:t>𝟏</m:t>
                          </m:r>
                        </m:sub>
                      </m:sSub>
                    </m:oMath>
                  </m:oMathPara>
                </a14:m>
                <a:endParaRPr lang="zh-CN" altLang="en-US" sz="3200" dirty="0"/>
              </a:p>
            </p:txBody>
          </p:sp>
        </mc:Choice>
        <mc:Fallback xmlns="">
          <p:sp>
            <p:nvSpPr>
              <p:cNvPr id="7" name="矩形 6">
                <a:extLst>
                  <a:ext uri="{FF2B5EF4-FFF2-40B4-BE49-F238E27FC236}">
                    <a16:creationId xmlns:a16="http://schemas.microsoft.com/office/drawing/2014/main" id="{3C8E5F7F-EA5D-4702-8046-E8F9A3F0AA0F}"/>
                  </a:ext>
                </a:extLst>
              </p:cNvPr>
              <p:cNvSpPr>
                <a:spLocks noRot="1" noChangeAspect="1" noMove="1" noResize="1" noEditPoints="1" noAdjustHandles="1" noChangeArrowheads="1" noChangeShapeType="1" noTextEdit="1"/>
              </p:cNvSpPr>
              <p:nvPr/>
            </p:nvSpPr>
            <p:spPr>
              <a:xfrm>
                <a:off x="1930352" y="90475"/>
                <a:ext cx="833460" cy="58477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06FA73BD-1582-43A9-8417-831627C325CA}"/>
                  </a:ext>
                </a:extLst>
              </p:cNvPr>
              <p:cNvSpPr/>
              <p:nvPr/>
            </p:nvSpPr>
            <p:spPr>
              <a:xfrm>
                <a:off x="3476014" y="90475"/>
                <a:ext cx="7114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smtClean="0">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smtClean="0">
                              <a:latin typeface="Cambria Math" panose="02040503050406030204" pitchFamily="18" charset="0"/>
                            </a:rPr>
                            <m:t>𝟐</m:t>
                          </m:r>
                        </m:sub>
                      </m:sSub>
                    </m:oMath>
                  </m:oMathPara>
                </a14:m>
                <a:endParaRPr lang="zh-CN" altLang="en-US" sz="3200" dirty="0"/>
              </a:p>
            </p:txBody>
          </p:sp>
        </mc:Choice>
        <mc:Fallback xmlns="">
          <p:sp>
            <p:nvSpPr>
              <p:cNvPr id="8" name="矩形 7">
                <a:extLst>
                  <a:ext uri="{FF2B5EF4-FFF2-40B4-BE49-F238E27FC236}">
                    <a16:creationId xmlns:a16="http://schemas.microsoft.com/office/drawing/2014/main" id="{06FA73BD-1582-43A9-8417-831627C325CA}"/>
                  </a:ext>
                </a:extLst>
              </p:cNvPr>
              <p:cNvSpPr>
                <a:spLocks noRot="1" noChangeAspect="1" noMove="1" noResize="1" noEditPoints="1" noAdjustHandles="1" noChangeArrowheads="1" noChangeShapeType="1" noTextEdit="1"/>
              </p:cNvSpPr>
              <p:nvPr/>
            </p:nvSpPr>
            <p:spPr>
              <a:xfrm>
                <a:off x="3476014" y="90475"/>
                <a:ext cx="711477" cy="58477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43131E63-C7C2-46DF-9B97-3E421306939D}"/>
                  </a:ext>
                </a:extLst>
              </p:cNvPr>
              <p:cNvSpPr/>
              <p:nvPr/>
            </p:nvSpPr>
            <p:spPr>
              <a:xfrm>
                <a:off x="4956511" y="90475"/>
                <a:ext cx="7114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smtClean="0">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smtClean="0">
                              <a:latin typeface="Cambria Math" panose="02040503050406030204" pitchFamily="18" charset="0"/>
                            </a:rPr>
                            <m:t>𝟑</m:t>
                          </m:r>
                        </m:sub>
                      </m:sSub>
                    </m:oMath>
                  </m:oMathPara>
                </a14:m>
                <a:endParaRPr lang="zh-CN" altLang="en-US" sz="3200" dirty="0"/>
              </a:p>
            </p:txBody>
          </p:sp>
        </mc:Choice>
        <mc:Fallback xmlns="">
          <p:sp>
            <p:nvSpPr>
              <p:cNvPr id="9" name="矩形 8">
                <a:extLst>
                  <a:ext uri="{FF2B5EF4-FFF2-40B4-BE49-F238E27FC236}">
                    <a16:creationId xmlns:a16="http://schemas.microsoft.com/office/drawing/2014/main" id="{43131E63-C7C2-46DF-9B97-3E421306939D}"/>
                  </a:ext>
                </a:extLst>
              </p:cNvPr>
              <p:cNvSpPr>
                <a:spLocks noRot="1" noChangeAspect="1" noMove="1" noResize="1" noEditPoints="1" noAdjustHandles="1" noChangeArrowheads="1" noChangeShapeType="1" noTextEdit="1"/>
              </p:cNvSpPr>
              <p:nvPr/>
            </p:nvSpPr>
            <p:spPr>
              <a:xfrm>
                <a:off x="4956511" y="90475"/>
                <a:ext cx="711477" cy="58477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9A8B67FF-25EB-417B-A980-94D6353AE2BA}"/>
                  </a:ext>
                </a:extLst>
              </p:cNvPr>
              <p:cNvSpPr/>
              <p:nvPr/>
            </p:nvSpPr>
            <p:spPr>
              <a:xfrm>
                <a:off x="6380191" y="90475"/>
                <a:ext cx="7114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smtClean="0">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smtClean="0">
                              <a:latin typeface="Cambria Math" panose="02040503050406030204" pitchFamily="18" charset="0"/>
                            </a:rPr>
                            <m:t>𝟒</m:t>
                          </m:r>
                        </m:sub>
                      </m:sSub>
                    </m:oMath>
                  </m:oMathPara>
                </a14:m>
                <a:endParaRPr lang="zh-CN" altLang="en-US" sz="3200" dirty="0"/>
              </a:p>
            </p:txBody>
          </p:sp>
        </mc:Choice>
        <mc:Fallback xmlns="">
          <p:sp>
            <p:nvSpPr>
              <p:cNvPr id="10" name="矩形 9">
                <a:extLst>
                  <a:ext uri="{FF2B5EF4-FFF2-40B4-BE49-F238E27FC236}">
                    <a16:creationId xmlns:a16="http://schemas.microsoft.com/office/drawing/2014/main" id="{9A8B67FF-25EB-417B-A980-94D6353AE2BA}"/>
                  </a:ext>
                </a:extLst>
              </p:cNvPr>
              <p:cNvSpPr>
                <a:spLocks noRot="1" noChangeAspect="1" noMove="1" noResize="1" noEditPoints="1" noAdjustHandles="1" noChangeArrowheads="1" noChangeShapeType="1" noTextEdit="1"/>
              </p:cNvSpPr>
              <p:nvPr/>
            </p:nvSpPr>
            <p:spPr>
              <a:xfrm>
                <a:off x="6380191" y="90475"/>
                <a:ext cx="711477" cy="58477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5427A9CD-2D48-4A78-B89A-7B27168F5BCE}"/>
                  </a:ext>
                </a:extLst>
              </p:cNvPr>
              <p:cNvSpPr/>
              <p:nvPr/>
            </p:nvSpPr>
            <p:spPr>
              <a:xfrm>
                <a:off x="2190691" y="634309"/>
                <a:ext cx="833460" cy="5847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3200" b="1" i="1" smtClean="0">
                          <a:solidFill>
                            <a:srgbClr val="0070C0"/>
                          </a:solidFill>
                          <a:latin typeface="Cambria Math" panose="02040503050406030204" pitchFamily="18" charset="0"/>
                        </a:rPr>
                        <m:t>𝟏</m:t>
                      </m:r>
                    </m:oMath>
                  </m:oMathPara>
                </a14:m>
                <a:endParaRPr lang="zh-CN" altLang="en-US" sz="3200" dirty="0">
                  <a:solidFill>
                    <a:srgbClr val="0070C0"/>
                  </a:solidFill>
                </a:endParaRPr>
              </a:p>
            </p:txBody>
          </p:sp>
        </mc:Choice>
        <mc:Fallback xmlns="">
          <p:sp>
            <p:nvSpPr>
              <p:cNvPr id="12" name="矩形 11">
                <a:extLst>
                  <a:ext uri="{FF2B5EF4-FFF2-40B4-BE49-F238E27FC236}">
                    <a16:creationId xmlns:a16="http://schemas.microsoft.com/office/drawing/2014/main" id="{5427A9CD-2D48-4A78-B89A-7B27168F5BCE}"/>
                  </a:ext>
                </a:extLst>
              </p:cNvPr>
              <p:cNvSpPr>
                <a:spLocks noRot="1" noChangeAspect="1" noMove="1" noResize="1" noEditPoints="1" noAdjustHandles="1" noChangeArrowheads="1" noChangeShapeType="1" noTextEdit="1"/>
              </p:cNvSpPr>
              <p:nvPr/>
            </p:nvSpPr>
            <p:spPr>
              <a:xfrm>
                <a:off x="2190691" y="634309"/>
                <a:ext cx="833460" cy="584775"/>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330B85CE-9CF6-49F0-B6B7-04F71B20050E}"/>
                  </a:ext>
                </a:extLst>
              </p:cNvPr>
              <p:cNvSpPr/>
              <p:nvPr/>
            </p:nvSpPr>
            <p:spPr>
              <a:xfrm>
                <a:off x="2190691" y="1398818"/>
                <a:ext cx="833460" cy="5847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3200" b="1" i="1" smtClean="0">
                          <a:solidFill>
                            <a:srgbClr val="0070C0"/>
                          </a:solidFill>
                          <a:latin typeface="Cambria Math" panose="02040503050406030204" pitchFamily="18" charset="0"/>
                        </a:rPr>
                        <m:t>𝟎</m:t>
                      </m:r>
                    </m:oMath>
                  </m:oMathPara>
                </a14:m>
                <a:endParaRPr lang="zh-CN" altLang="en-US" sz="3200" dirty="0">
                  <a:solidFill>
                    <a:srgbClr val="0070C0"/>
                  </a:solidFill>
                </a:endParaRPr>
              </a:p>
            </p:txBody>
          </p:sp>
        </mc:Choice>
        <mc:Fallback xmlns="">
          <p:sp>
            <p:nvSpPr>
              <p:cNvPr id="13" name="矩形 12">
                <a:extLst>
                  <a:ext uri="{FF2B5EF4-FFF2-40B4-BE49-F238E27FC236}">
                    <a16:creationId xmlns:a16="http://schemas.microsoft.com/office/drawing/2014/main" id="{330B85CE-9CF6-49F0-B6B7-04F71B20050E}"/>
                  </a:ext>
                </a:extLst>
              </p:cNvPr>
              <p:cNvSpPr>
                <a:spLocks noRot="1" noChangeAspect="1" noMove="1" noResize="1" noEditPoints="1" noAdjustHandles="1" noChangeArrowheads="1" noChangeShapeType="1" noTextEdit="1"/>
              </p:cNvSpPr>
              <p:nvPr/>
            </p:nvSpPr>
            <p:spPr>
              <a:xfrm>
                <a:off x="2190691" y="1398818"/>
                <a:ext cx="833460" cy="584775"/>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4" name="表格 13">
                <a:extLst>
                  <a:ext uri="{FF2B5EF4-FFF2-40B4-BE49-F238E27FC236}">
                    <a16:creationId xmlns:a16="http://schemas.microsoft.com/office/drawing/2014/main" id="{FDC29536-825B-4390-A290-44FEA1199F86}"/>
                  </a:ext>
                </a:extLst>
              </p:cNvPr>
              <p:cNvGraphicFramePr>
                <a:graphicFrameLocks noGrp="1"/>
              </p:cNvGraphicFramePr>
              <p:nvPr>
                <p:extLst>
                  <p:ext uri="{D42A27DB-BD31-4B8C-83A1-F6EECF244321}">
                    <p14:modId xmlns:p14="http://schemas.microsoft.com/office/powerpoint/2010/main" val="470514908"/>
                  </p:ext>
                </p:extLst>
              </p:nvPr>
            </p:nvGraphicFramePr>
            <p:xfrm>
              <a:off x="7620982" y="783405"/>
              <a:ext cx="762000" cy="11582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83828263"/>
                        </a:ext>
                      </a:extLst>
                    </a:gridCol>
                  </a:tblGrid>
                  <a:tr h="392709">
                    <a:tc>
                      <a:txBody>
                        <a:bodyPr/>
                        <a:lstStyle/>
                        <a:p>
                          <a:pPr algn="ctr"/>
                          <a14:m>
                            <m:oMathPara xmlns:m="http://schemas.openxmlformats.org/officeDocument/2006/math">
                              <m:oMathParaPr>
                                <m:jc m:val="centerGroup"/>
                              </m:oMathParaPr>
                              <m:oMath xmlns:m="http://schemas.openxmlformats.org/officeDocument/2006/math">
                                <m:r>
                                  <a:rPr lang="en-US" altLang="zh-CN" sz="3200" b="1" i="1" smtClean="0">
                                    <a:solidFill>
                                      <a:schemeClr val="tx1"/>
                                    </a:solidFill>
                                    <a:latin typeface="Cambria Math" panose="02040503050406030204" pitchFamily="18" charset="0"/>
                                  </a:rPr>
                                  <m:t>𝟏𝟐</m:t>
                                </m:r>
                              </m:oMath>
                            </m:oMathPara>
                          </a14:m>
                          <a:endParaRPr lang="zh-CN" altLang="en-US" sz="2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76338532"/>
                      </a:ext>
                    </a:extLst>
                  </a:tr>
                  <a:tr h="392709">
                    <a:tc>
                      <a:txBody>
                        <a:bodyPr/>
                        <a:lstStyle/>
                        <a:p>
                          <a:pPr algn="ctr"/>
                          <a14:m>
                            <m:oMathPara xmlns:m="http://schemas.openxmlformats.org/officeDocument/2006/math">
                              <m:oMathParaPr>
                                <m:jc m:val="centerGroup"/>
                              </m:oMathParaPr>
                              <m:oMath xmlns:m="http://schemas.openxmlformats.org/officeDocument/2006/math">
                                <m:r>
                                  <a:rPr lang="en-US" altLang="zh-CN" sz="3200" b="1" i="1" smtClean="0">
                                    <a:solidFill>
                                      <a:schemeClr val="tx1"/>
                                    </a:solidFill>
                                    <a:latin typeface="Cambria Math" panose="02040503050406030204" pitchFamily="18" charset="0"/>
                                  </a:rPr>
                                  <m:t>𝟗</m:t>
                                </m:r>
                              </m:oMath>
                            </m:oMathPara>
                          </a14:m>
                          <a:endParaRPr lang="zh-CN" altLang="en-US" sz="3200" b="1"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32285909"/>
                      </a:ext>
                    </a:extLst>
                  </a:tr>
                </a:tbl>
              </a:graphicData>
            </a:graphic>
          </p:graphicFrame>
        </mc:Choice>
        <mc:Fallback xmlns="">
          <p:graphicFrame>
            <p:nvGraphicFramePr>
              <p:cNvPr id="14" name="表格 13">
                <a:extLst>
                  <a:ext uri="{FF2B5EF4-FFF2-40B4-BE49-F238E27FC236}">
                    <a16:creationId xmlns:a16="http://schemas.microsoft.com/office/drawing/2014/main" id="{FDC29536-825B-4390-A290-44FEA1199F86}"/>
                  </a:ext>
                </a:extLst>
              </p:cNvPr>
              <p:cNvGraphicFramePr>
                <a:graphicFrameLocks noGrp="1"/>
              </p:cNvGraphicFramePr>
              <p:nvPr>
                <p:extLst>
                  <p:ext uri="{D42A27DB-BD31-4B8C-83A1-F6EECF244321}">
                    <p14:modId xmlns:p14="http://schemas.microsoft.com/office/powerpoint/2010/main" val="470514908"/>
                  </p:ext>
                </p:extLst>
              </p:nvPr>
            </p:nvGraphicFramePr>
            <p:xfrm>
              <a:off x="7620982" y="783405"/>
              <a:ext cx="762000" cy="11582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83828263"/>
                        </a:ext>
                      </a:extLst>
                    </a:gridCol>
                  </a:tblGrid>
                  <a:tr h="579120">
                    <a:tc>
                      <a:txBody>
                        <a:bodyPr/>
                        <a:lstStyle/>
                        <a:p>
                          <a:endParaRPr lang="zh-CN"/>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9"/>
                          <a:stretch>
                            <a:fillRect b="-98958"/>
                          </a:stretch>
                        </a:blipFill>
                      </a:tcPr>
                    </a:tc>
                    <a:extLst>
                      <a:ext uri="{0D108BD9-81ED-4DB2-BD59-A6C34878D82A}">
                        <a16:rowId xmlns:a16="http://schemas.microsoft.com/office/drawing/2014/main" val="4276338532"/>
                      </a:ext>
                    </a:extLst>
                  </a:tr>
                  <a:tr h="579120">
                    <a:tc>
                      <a:txBody>
                        <a:bodyPr/>
                        <a:lstStyle/>
                        <a:p>
                          <a:endParaRPr lang="zh-CN"/>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9"/>
                          <a:stretch>
                            <a:fillRect t="-101053"/>
                          </a:stretch>
                        </a:blipFill>
                      </a:tcPr>
                    </a:tc>
                    <a:extLst>
                      <a:ext uri="{0D108BD9-81ED-4DB2-BD59-A6C34878D82A}">
                        <a16:rowId xmlns:a16="http://schemas.microsoft.com/office/drawing/2014/main" val="4132285909"/>
                      </a:ext>
                    </a:extLst>
                  </a:tr>
                </a:tbl>
              </a:graphicData>
            </a:graphic>
          </p:graphicFrame>
        </mc:Fallback>
      </mc:AlternateContent>
      <p:graphicFrame>
        <p:nvGraphicFramePr>
          <p:cNvPr id="15" name="内容占位符 3">
            <a:extLst>
              <a:ext uri="{FF2B5EF4-FFF2-40B4-BE49-F238E27FC236}">
                <a16:creationId xmlns:a16="http://schemas.microsoft.com/office/drawing/2014/main" id="{2F0203C9-93EF-4960-A1D6-DE963BF70960}"/>
              </a:ext>
            </a:extLst>
          </p:cNvPr>
          <p:cNvGraphicFramePr>
            <a:graphicFrameLocks/>
          </p:cNvGraphicFramePr>
          <p:nvPr>
            <p:extLst>
              <p:ext uri="{D42A27DB-BD31-4B8C-83A1-F6EECF244321}">
                <p14:modId xmlns:p14="http://schemas.microsoft.com/office/powerpoint/2010/main" val="4180846604"/>
              </p:ext>
            </p:extLst>
          </p:nvPr>
        </p:nvGraphicFramePr>
        <p:xfrm>
          <a:off x="1543050" y="2799605"/>
          <a:ext cx="5873752" cy="1541144"/>
        </p:xfrm>
        <a:graphic>
          <a:graphicData uri="http://schemas.openxmlformats.org/drawingml/2006/table">
            <a:tbl>
              <a:tblPr firstRow="1" bandRow="1">
                <a:tableStyleId>{5C22544A-7EE6-4342-B048-85BDC9FD1C3A}</a:tableStyleId>
              </a:tblPr>
              <a:tblGrid>
                <a:gridCol w="1468438">
                  <a:extLst>
                    <a:ext uri="{9D8B030D-6E8A-4147-A177-3AD203B41FA5}">
                      <a16:colId xmlns:a16="http://schemas.microsoft.com/office/drawing/2014/main" val="194517144"/>
                    </a:ext>
                  </a:extLst>
                </a:gridCol>
                <a:gridCol w="1468438">
                  <a:extLst>
                    <a:ext uri="{9D8B030D-6E8A-4147-A177-3AD203B41FA5}">
                      <a16:colId xmlns:a16="http://schemas.microsoft.com/office/drawing/2014/main" val="262937075"/>
                    </a:ext>
                  </a:extLst>
                </a:gridCol>
                <a:gridCol w="1468438">
                  <a:extLst>
                    <a:ext uri="{9D8B030D-6E8A-4147-A177-3AD203B41FA5}">
                      <a16:colId xmlns:a16="http://schemas.microsoft.com/office/drawing/2014/main" val="1809024897"/>
                    </a:ext>
                  </a:extLst>
                </a:gridCol>
                <a:gridCol w="1468438">
                  <a:extLst>
                    <a:ext uri="{9D8B030D-6E8A-4147-A177-3AD203B41FA5}">
                      <a16:colId xmlns:a16="http://schemas.microsoft.com/office/drawing/2014/main" val="1127211881"/>
                    </a:ext>
                  </a:extLst>
                </a:gridCol>
              </a:tblGrid>
              <a:tr h="763588">
                <a:tc>
                  <a:txBody>
                    <a:bodyPr/>
                    <a:lstStyle/>
                    <a:p>
                      <a:pPr algn="ctr"/>
                      <a:r>
                        <a:rPr lang="en-US" altLang="zh-CN" sz="3900" b="1" dirty="0">
                          <a:solidFill>
                            <a:schemeClr val="tx1"/>
                          </a:solidFill>
                        </a:rPr>
                        <a:t>1</a:t>
                      </a:r>
                      <a:endParaRPr lang="zh-CN" altLang="en-US" sz="3900" b="1"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1/2</a:t>
                      </a:r>
                      <a:endParaRPr lang="zh-CN" altLang="en-US" sz="3900" b="1"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1/2</a:t>
                      </a:r>
                      <a:endParaRPr lang="zh-CN" altLang="en-US" sz="3900" b="1"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0</a:t>
                      </a:r>
                      <a:endParaRPr lang="zh-CN" altLang="en-US" sz="3900" b="1"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11693389"/>
                  </a:ext>
                </a:extLst>
              </a:tr>
              <a:tr h="763588">
                <a:tc>
                  <a:txBody>
                    <a:bodyPr/>
                    <a:lstStyle/>
                    <a:p>
                      <a:pPr algn="ctr"/>
                      <a:r>
                        <a:rPr lang="en-US" altLang="zh-CN" sz="3900" b="1" dirty="0">
                          <a:solidFill>
                            <a:schemeClr val="tx1"/>
                          </a:solidFill>
                        </a:rPr>
                        <a:t>1</a:t>
                      </a:r>
                      <a:endParaRPr lang="zh-CN" altLang="en-US" sz="3900" b="1"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2</a:t>
                      </a:r>
                      <a:endParaRPr lang="zh-CN" altLang="en-US" sz="3900" b="1"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0</a:t>
                      </a:r>
                      <a:endParaRPr lang="zh-CN" altLang="en-US" sz="3900" b="1"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1</a:t>
                      </a:r>
                      <a:endParaRPr lang="zh-CN" altLang="en-US" sz="3900" b="1"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14370936"/>
                  </a:ext>
                </a:extLst>
              </a:tr>
            </a:tbl>
          </a:graphicData>
        </a:graphic>
      </p:graphicFrame>
      <mc:AlternateContent xmlns:mc="http://schemas.openxmlformats.org/markup-compatibility/2006" xmlns:a14="http://schemas.microsoft.com/office/drawing/2010/main">
        <mc:Choice Requires="a14">
          <p:graphicFrame>
            <p:nvGraphicFramePr>
              <p:cNvPr id="16" name="表格 15">
                <a:extLst>
                  <a:ext uri="{FF2B5EF4-FFF2-40B4-BE49-F238E27FC236}">
                    <a16:creationId xmlns:a16="http://schemas.microsoft.com/office/drawing/2014/main" id="{56F39C65-EF6F-4C4B-B400-166A6540E4C3}"/>
                  </a:ext>
                </a:extLst>
              </p:cNvPr>
              <p:cNvGraphicFramePr>
                <a:graphicFrameLocks noGrp="1"/>
              </p:cNvGraphicFramePr>
              <p:nvPr>
                <p:extLst>
                  <p:ext uri="{D42A27DB-BD31-4B8C-83A1-F6EECF244321}">
                    <p14:modId xmlns:p14="http://schemas.microsoft.com/office/powerpoint/2010/main" val="1927451075"/>
                  </p:ext>
                </p:extLst>
              </p:nvPr>
            </p:nvGraphicFramePr>
            <p:xfrm>
              <a:off x="628650" y="2907760"/>
              <a:ext cx="762000" cy="11582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83828263"/>
                        </a:ext>
                      </a:extLst>
                    </a:gridCol>
                  </a:tblGrid>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3200" b="1" i="1" smtClean="0">
                                        <a:solidFill>
                                          <a:schemeClr val="tx1"/>
                                        </a:solidFill>
                                        <a:latin typeface="Cambria Math" panose="02040503050406030204" pitchFamily="18" charset="0"/>
                                      </a:rPr>
                                    </m:ctrlPr>
                                  </m:sSubPr>
                                  <m:e>
                                    <m:r>
                                      <a:rPr lang="en-US" altLang="zh-CN" sz="3200" b="1" i="1" smtClean="0">
                                        <a:solidFill>
                                          <a:schemeClr val="tx1"/>
                                        </a:solidFill>
                                        <a:latin typeface="Cambria Math" panose="02040503050406030204" pitchFamily="18" charset="0"/>
                                      </a:rPr>
                                      <m:t>𝒙</m:t>
                                    </m:r>
                                  </m:e>
                                  <m:sub>
                                    <m:r>
                                      <a:rPr lang="en-US" altLang="zh-CN" sz="3200" b="1" i="1" smtClean="0">
                                        <a:solidFill>
                                          <a:schemeClr val="tx1"/>
                                        </a:solidFill>
                                        <a:latin typeface="Cambria Math" panose="02040503050406030204" pitchFamily="18" charset="0"/>
                                      </a:rPr>
                                      <m:t>𝟏</m:t>
                                    </m:r>
                                  </m:sub>
                                </m:sSub>
                              </m:oMath>
                            </m:oMathPara>
                          </a14:m>
                          <a:endParaRPr lang="zh-CN" altLang="en-US" sz="2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76338532"/>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3200" b="1" i="1" smtClean="0">
                                        <a:solidFill>
                                          <a:schemeClr val="tx1"/>
                                        </a:solidFill>
                                        <a:latin typeface="Cambria Math" panose="02040503050406030204" pitchFamily="18" charset="0"/>
                                      </a:rPr>
                                    </m:ctrlPr>
                                  </m:sSubPr>
                                  <m:e>
                                    <m:r>
                                      <a:rPr lang="en-US" altLang="zh-CN" sz="3200" b="1" i="1" smtClean="0">
                                        <a:solidFill>
                                          <a:schemeClr val="tx1"/>
                                        </a:solidFill>
                                        <a:latin typeface="Cambria Math" panose="02040503050406030204" pitchFamily="18" charset="0"/>
                                      </a:rPr>
                                      <m:t>𝒙</m:t>
                                    </m:r>
                                  </m:e>
                                  <m:sub>
                                    <m:r>
                                      <a:rPr lang="en-US" altLang="zh-CN" sz="3200" b="1" i="1" smtClean="0">
                                        <a:solidFill>
                                          <a:schemeClr val="tx1"/>
                                        </a:solidFill>
                                        <a:latin typeface="Cambria Math" panose="02040503050406030204" pitchFamily="18" charset="0"/>
                                      </a:rPr>
                                      <m:t>𝟒</m:t>
                                    </m:r>
                                  </m:sub>
                                </m:sSub>
                              </m:oMath>
                            </m:oMathPara>
                          </a14:m>
                          <a:endParaRPr lang="zh-CN" altLang="en-US" sz="3200" b="1"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32285909"/>
                      </a:ext>
                    </a:extLst>
                  </a:tr>
                </a:tbl>
              </a:graphicData>
            </a:graphic>
          </p:graphicFrame>
        </mc:Choice>
        <mc:Fallback xmlns="">
          <p:graphicFrame>
            <p:nvGraphicFramePr>
              <p:cNvPr id="16" name="表格 15">
                <a:extLst>
                  <a:ext uri="{FF2B5EF4-FFF2-40B4-BE49-F238E27FC236}">
                    <a16:creationId xmlns:a16="http://schemas.microsoft.com/office/drawing/2014/main" id="{56F39C65-EF6F-4C4B-B400-166A6540E4C3}"/>
                  </a:ext>
                </a:extLst>
              </p:cNvPr>
              <p:cNvGraphicFramePr>
                <a:graphicFrameLocks noGrp="1"/>
              </p:cNvGraphicFramePr>
              <p:nvPr>
                <p:extLst>
                  <p:ext uri="{D42A27DB-BD31-4B8C-83A1-F6EECF244321}">
                    <p14:modId xmlns:p14="http://schemas.microsoft.com/office/powerpoint/2010/main" val="1927451075"/>
                  </p:ext>
                </p:extLst>
              </p:nvPr>
            </p:nvGraphicFramePr>
            <p:xfrm>
              <a:off x="628650" y="2907760"/>
              <a:ext cx="762000" cy="11582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83828263"/>
                        </a:ext>
                      </a:extLst>
                    </a:gridCol>
                  </a:tblGrid>
                  <a:tr h="579120">
                    <a:tc>
                      <a:txBody>
                        <a:bodyPr/>
                        <a:lstStyle/>
                        <a:p>
                          <a:endParaRPr lang="zh-CN"/>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10"/>
                          <a:stretch>
                            <a:fillRect b="-98958"/>
                          </a:stretch>
                        </a:blipFill>
                      </a:tcPr>
                    </a:tc>
                    <a:extLst>
                      <a:ext uri="{0D108BD9-81ED-4DB2-BD59-A6C34878D82A}">
                        <a16:rowId xmlns:a16="http://schemas.microsoft.com/office/drawing/2014/main" val="4276338532"/>
                      </a:ext>
                    </a:extLst>
                  </a:tr>
                  <a:tr h="579120">
                    <a:tc>
                      <a:txBody>
                        <a:bodyPr/>
                        <a:lstStyle/>
                        <a:p>
                          <a:endParaRPr lang="zh-CN"/>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10"/>
                          <a:stretch>
                            <a:fillRect t="-101053"/>
                          </a:stretch>
                        </a:blipFill>
                      </a:tcPr>
                    </a:tc>
                    <a:extLst>
                      <a:ext uri="{0D108BD9-81ED-4DB2-BD59-A6C34878D82A}">
                        <a16:rowId xmlns:a16="http://schemas.microsoft.com/office/drawing/2014/main" val="413228590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9" name="表格 18">
                <a:extLst>
                  <a:ext uri="{FF2B5EF4-FFF2-40B4-BE49-F238E27FC236}">
                    <a16:creationId xmlns:a16="http://schemas.microsoft.com/office/drawing/2014/main" id="{6D3A9204-3E42-4023-877D-C67276D601AA}"/>
                  </a:ext>
                </a:extLst>
              </p:cNvPr>
              <p:cNvGraphicFramePr>
                <a:graphicFrameLocks noGrp="1"/>
              </p:cNvGraphicFramePr>
              <p:nvPr>
                <p:extLst>
                  <p:ext uri="{D42A27DB-BD31-4B8C-83A1-F6EECF244321}">
                    <p14:modId xmlns:p14="http://schemas.microsoft.com/office/powerpoint/2010/main" val="281504629"/>
                  </p:ext>
                </p:extLst>
              </p:nvPr>
            </p:nvGraphicFramePr>
            <p:xfrm>
              <a:off x="7620982" y="2907760"/>
              <a:ext cx="762000" cy="11582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83828263"/>
                        </a:ext>
                      </a:extLst>
                    </a:gridCol>
                  </a:tblGrid>
                  <a:tr h="392709">
                    <a:tc>
                      <a:txBody>
                        <a:bodyPr/>
                        <a:lstStyle/>
                        <a:p>
                          <a:pPr algn="ctr"/>
                          <a14:m>
                            <m:oMathPara xmlns:m="http://schemas.openxmlformats.org/officeDocument/2006/math">
                              <m:oMathParaPr>
                                <m:jc m:val="centerGroup"/>
                              </m:oMathParaPr>
                              <m:oMath xmlns:m="http://schemas.openxmlformats.org/officeDocument/2006/math">
                                <m:r>
                                  <a:rPr lang="en-US" altLang="zh-CN" sz="3200" b="1" i="1" smtClean="0">
                                    <a:solidFill>
                                      <a:schemeClr val="tx1"/>
                                    </a:solidFill>
                                    <a:latin typeface="Cambria Math" panose="02040503050406030204" pitchFamily="18" charset="0"/>
                                  </a:rPr>
                                  <m:t>𝟔</m:t>
                                </m:r>
                              </m:oMath>
                            </m:oMathPara>
                          </a14:m>
                          <a:endParaRPr lang="zh-CN" altLang="en-US" sz="2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76338532"/>
                      </a:ext>
                    </a:extLst>
                  </a:tr>
                  <a:tr h="392709">
                    <a:tc>
                      <a:txBody>
                        <a:bodyPr/>
                        <a:lstStyle/>
                        <a:p>
                          <a:pPr algn="ctr"/>
                          <a14:m>
                            <m:oMathPara xmlns:m="http://schemas.openxmlformats.org/officeDocument/2006/math">
                              <m:oMathParaPr>
                                <m:jc m:val="centerGroup"/>
                              </m:oMathParaPr>
                              <m:oMath xmlns:m="http://schemas.openxmlformats.org/officeDocument/2006/math">
                                <m:r>
                                  <a:rPr lang="en-US" altLang="zh-CN" sz="3200" b="1" i="1" smtClean="0">
                                    <a:solidFill>
                                      <a:schemeClr val="tx1"/>
                                    </a:solidFill>
                                    <a:latin typeface="Cambria Math" panose="02040503050406030204" pitchFamily="18" charset="0"/>
                                  </a:rPr>
                                  <m:t>𝟗</m:t>
                                </m:r>
                              </m:oMath>
                            </m:oMathPara>
                          </a14:m>
                          <a:endParaRPr lang="zh-CN" altLang="en-US" sz="3200" b="1"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32285909"/>
                      </a:ext>
                    </a:extLst>
                  </a:tr>
                </a:tbl>
              </a:graphicData>
            </a:graphic>
          </p:graphicFrame>
        </mc:Choice>
        <mc:Fallback xmlns="">
          <p:graphicFrame>
            <p:nvGraphicFramePr>
              <p:cNvPr id="19" name="表格 18">
                <a:extLst>
                  <a:ext uri="{FF2B5EF4-FFF2-40B4-BE49-F238E27FC236}">
                    <a16:creationId xmlns:a16="http://schemas.microsoft.com/office/drawing/2014/main" id="{6D3A9204-3E42-4023-877D-C67276D601AA}"/>
                  </a:ext>
                </a:extLst>
              </p:cNvPr>
              <p:cNvGraphicFramePr>
                <a:graphicFrameLocks noGrp="1"/>
              </p:cNvGraphicFramePr>
              <p:nvPr>
                <p:extLst>
                  <p:ext uri="{D42A27DB-BD31-4B8C-83A1-F6EECF244321}">
                    <p14:modId xmlns:p14="http://schemas.microsoft.com/office/powerpoint/2010/main" val="281504629"/>
                  </p:ext>
                </p:extLst>
              </p:nvPr>
            </p:nvGraphicFramePr>
            <p:xfrm>
              <a:off x="7620982" y="2907760"/>
              <a:ext cx="762000" cy="11582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83828263"/>
                        </a:ext>
                      </a:extLst>
                    </a:gridCol>
                  </a:tblGrid>
                  <a:tr h="579120">
                    <a:tc>
                      <a:txBody>
                        <a:bodyPr/>
                        <a:lstStyle/>
                        <a:p>
                          <a:endParaRPr lang="zh-CN"/>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11"/>
                          <a:stretch>
                            <a:fillRect b="-98958"/>
                          </a:stretch>
                        </a:blipFill>
                      </a:tcPr>
                    </a:tc>
                    <a:extLst>
                      <a:ext uri="{0D108BD9-81ED-4DB2-BD59-A6C34878D82A}">
                        <a16:rowId xmlns:a16="http://schemas.microsoft.com/office/drawing/2014/main" val="4276338532"/>
                      </a:ext>
                    </a:extLst>
                  </a:tr>
                  <a:tr h="579120">
                    <a:tc>
                      <a:txBody>
                        <a:bodyPr/>
                        <a:lstStyle/>
                        <a:p>
                          <a:endParaRPr lang="zh-CN"/>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11"/>
                          <a:stretch>
                            <a:fillRect t="-101053"/>
                          </a:stretch>
                        </a:blipFill>
                      </a:tcPr>
                    </a:tc>
                    <a:extLst>
                      <a:ext uri="{0D108BD9-81ED-4DB2-BD59-A6C34878D82A}">
                        <a16:rowId xmlns:a16="http://schemas.microsoft.com/office/drawing/2014/main" val="4132285909"/>
                      </a:ext>
                    </a:extLst>
                  </a:tr>
                </a:tbl>
              </a:graphicData>
            </a:graphic>
          </p:graphicFrame>
        </mc:Fallback>
      </mc:AlternateContent>
      <p:graphicFrame>
        <p:nvGraphicFramePr>
          <p:cNvPr id="22" name="内容占位符 3">
            <a:extLst>
              <a:ext uri="{FF2B5EF4-FFF2-40B4-BE49-F238E27FC236}">
                <a16:creationId xmlns:a16="http://schemas.microsoft.com/office/drawing/2014/main" id="{EC0FD8B9-459C-4973-BEB7-16E0902A720E}"/>
              </a:ext>
            </a:extLst>
          </p:cNvPr>
          <p:cNvGraphicFramePr>
            <a:graphicFrameLocks/>
          </p:cNvGraphicFramePr>
          <p:nvPr>
            <p:extLst>
              <p:ext uri="{D42A27DB-BD31-4B8C-83A1-F6EECF244321}">
                <p14:modId xmlns:p14="http://schemas.microsoft.com/office/powerpoint/2010/main" val="680193873"/>
              </p:ext>
            </p:extLst>
          </p:nvPr>
        </p:nvGraphicFramePr>
        <p:xfrm>
          <a:off x="1543050" y="5032115"/>
          <a:ext cx="5873752" cy="1541144"/>
        </p:xfrm>
        <a:graphic>
          <a:graphicData uri="http://schemas.openxmlformats.org/drawingml/2006/table">
            <a:tbl>
              <a:tblPr firstRow="1" bandRow="1">
                <a:tableStyleId>{5C22544A-7EE6-4342-B048-85BDC9FD1C3A}</a:tableStyleId>
              </a:tblPr>
              <a:tblGrid>
                <a:gridCol w="1468438">
                  <a:extLst>
                    <a:ext uri="{9D8B030D-6E8A-4147-A177-3AD203B41FA5}">
                      <a16:colId xmlns:a16="http://schemas.microsoft.com/office/drawing/2014/main" val="194517144"/>
                    </a:ext>
                  </a:extLst>
                </a:gridCol>
                <a:gridCol w="1468438">
                  <a:extLst>
                    <a:ext uri="{9D8B030D-6E8A-4147-A177-3AD203B41FA5}">
                      <a16:colId xmlns:a16="http://schemas.microsoft.com/office/drawing/2014/main" val="262937075"/>
                    </a:ext>
                  </a:extLst>
                </a:gridCol>
                <a:gridCol w="1468438">
                  <a:extLst>
                    <a:ext uri="{9D8B030D-6E8A-4147-A177-3AD203B41FA5}">
                      <a16:colId xmlns:a16="http://schemas.microsoft.com/office/drawing/2014/main" val="1809024897"/>
                    </a:ext>
                  </a:extLst>
                </a:gridCol>
                <a:gridCol w="1468438">
                  <a:extLst>
                    <a:ext uri="{9D8B030D-6E8A-4147-A177-3AD203B41FA5}">
                      <a16:colId xmlns:a16="http://schemas.microsoft.com/office/drawing/2014/main" val="1127211881"/>
                    </a:ext>
                  </a:extLst>
                </a:gridCol>
              </a:tblGrid>
              <a:tr h="763588">
                <a:tc>
                  <a:txBody>
                    <a:bodyPr/>
                    <a:lstStyle/>
                    <a:p>
                      <a:pPr algn="ctr"/>
                      <a:r>
                        <a:rPr lang="en-US" altLang="zh-CN" sz="3900" b="1" dirty="0">
                          <a:solidFill>
                            <a:schemeClr val="tx1"/>
                          </a:solidFill>
                        </a:rPr>
                        <a:t>1</a:t>
                      </a:r>
                      <a:endParaRPr lang="zh-CN" altLang="en-US" sz="3900" b="1"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1/2</a:t>
                      </a:r>
                      <a:endParaRPr lang="zh-CN" altLang="en-US" sz="3900" b="1"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1/2</a:t>
                      </a:r>
                      <a:endParaRPr lang="zh-CN" altLang="en-US" sz="3900" b="1"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0</a:t>
                      </a:r>
                      <a:endParaRPr lang="zh-CN" altLang="en-US" sz="3900" b="1"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11693389"/>
                  </a:ext>
                </a:extLst>
              </a:tr>
              <a:tr h="763588">
                <a:tc>
                  <a:txBody>
                    <a:bodyPr/>
                    <a:lstStyle/>
                    <a:p>
                      <a:pPr algn="ctr"/>
                      <a:r>
                        <a:rPr lang="en-US" altLang="zh-CN" sz="3900" b="1" dirty="0">
                          <a:solidFill>
                            <a:schemeClr val="tx1"/>
                          </a:solidFill>
                        </a:rPr>
                        <a:t>0</a:t>
                      </a:r>
                      <a:endParaRPr lang="zh-CN" altLang="en-US" sz="3900" b="1"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3/2</a:t>
                      </a:r>
                      <a:endParaRPr lang="zh-CN" altLang="en-US" sz="3900" b="1"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-1/2</a:t>
                      </a:r>
                      <a:endParaRPr lang="zh-CN" altLang="en-US" sz="3900" b="1"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1</a:t>
                      </a:r>
                      <a:endParaRPr lang="zh-CN" altLang="en-US" sz="3900" b="1"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14370936"/>
                  </a:ext>
                </a:extLst>
              </a:tr>
            </a:tbl>
          </a:graphicData>
        </a:graphic>
      </p:graphicFrame>
      <mc:AlternateContent xmlns:mc="http://schemas.openxmlformats.org/markup-compatibility/2006" xmlns:a14="http://schemas.microsoft.com/office/drawing/2010/main">
        <mc:Choice Requires="a14">
          <p:graphicFrame>
            <p:nvGraphicFramePr>
              <p:cNvPr id="23" name="表格 22">
                <a:extLst>
                  <a:ext uri="{FF2B5EF4-FFF2-40B4-BE49-F238E27FC236}">
                    <a16:creationId xmlns:a16="http://schemas.microsoft.com/office/drawing/2014/main" id="{B50E0C22-5734-465B-BA57-CD1AE03F6570}"/>
                  </a:ext>
                </a:extLst>
              </p:cNvPr>
              <p:cNvGraphicFramePr>
                <a:graphicFrameLocks noGrp="1"/>
              </p:cNvGraphicFramePr>
              <p:nvPr>
                <p:extLst>
                  <p:ext uri="{D42A27DB-BD31-4B8C-83A1-F6EECF244321}">
                    <p14:modId xmlns:p14="http://schemas.microsoft.com/office/powerpoint/2010/main" val="1927451075"/>
                  </p:ext>
                </p:extLst>
              </p:nvPr>
            </p:nvGraphicFramePr>
            <p:xfrm>
              <a:off x="628650" y="5140270"/>
              <a:ext cx="762000" cy="11582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83828263"/>
                        </a:ext>
                      </a:extLst>
                    </a:gridCol>
                  </a:tblGrid>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3200" b="1" i="1" smtClean="0">
                                        <a:solidFill>
                                          <a:schemeClr val="tx1"/>
                                        </a:solidFill>
                                        <a:latin typeface="Cambria Math" panose="02040503050406030204" pitchFamily="18" charset="0"/>
                                      </a:rPr>
                                    </m:ctrlPr>
                                  </m:sSubPr>
                                  <m:e>
                                    <m:r>
                                      <a:rPr lang="en-US" altLang="zh-CN" sz="3200" b="1" i="1" smtClean="0">
                                        <a:solidFill>
                                          <a:schemeClr val="tx1"/>
                                        </a:solidFill>
                                        <a:latin typeface="Cambria Math" panose="02040503050406030204" pitchFamily="18" charset="0"/>
                                      </a:rPr>
                                      <m:t>𝒙</m:t>
                                    </m:r>
                                  </m:e>
                                  <m:sub>
                                    <m:r>
                                      <a:rPr lang="en-US" altLang="zh-CN" sz="3200" b="1" i="1" smtClean="0">
                                        <a:solidFill>
                                          <a:schemeClr val="tx1"/>
                                        </a:solidFill>
                                        <a:latin typeface="Cambria Math" panose="02040503050406030204" pitchFamily="18" charset="0"/>
                                      </a:rPr>
                                      <m:t>𝟏</m:t>
                                    </m:r>
                                  </m:sub>
                                </m:sSub>
                              </m:oMath>
                            </m:oMathPara>
                          </a14:m>
                          <a:endParaRPr lang="zh-CN" altLang="en-US" sz="2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76338532"/>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3200" b="1" i="1" smtClean="0">
                                        <a:solidFill>
                                          <a:schemeClr val="tx1"/>
                                        </a:solidFill>
                                        <a:latin typeface="Cambria Math" panose="02040503050406030204" pitchFamily="18" charset="0"/>
                                      </a:rPr>
                                    </m:ctrlPr>
                                  </m:sSubPr>
                                  <m:e>
                                    <m:r>
                                      <a:rPr lang="en-US" altLang="zh-CN" sz="3200" b="1" i="1" smtClean="0">
                                        <a:solidFill>
                                          <a:schemeClr val="tx1"/>
                                        </a:solidFill>
                                        <a:latin typeface="Cambria Math" panose="02040503050406030204" pitchFamily="18" charset="0"/>
                                      </a:rPr>
                                      <m:t>𝒙</m:t>
                                    </m:r>
                                  </m:e>
                                  <m:sub>
                                    <m:r>
                                      <a:rPr lang="en-US" altLang="zh-CN" sz="3200" b="1" i="1" smtClean="0">
                                        <a:solidFill>
                                          <a:schemeClr val="tx1"/>
                                        </a:solidFill>
                                        <a:latin typeface="Cambria Math" panose="02040503050406030204" pitchFamily="18" charset="0"/>
                                      </a:rPr>
                                      <m:t>𝟒</m:t>
                                    </m:r>
                                  </m:sub>
                                </m:sSub>
                              </m:oMath>
                            </m:oMathPara>
                          </a14:m>
                          <a:endParaRPr lang="zh-CN" altLang="en-US" sz="3200" b="1"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32285909"/>
                      </a:ext>
                    </a:extLst>
                  </a:tr>
                </a:tbl>
              </a:graphicData>
            </a:graphic>
          </p:graphicFrame>
        </mc:Choice>
        <mc:Fallback xmlns="">
          <p:graphicFrame>
            <p:nvGraphicFramePr>
              <p:cNvPr id="23" name="表格 22">
                <a:extLst>
                  <a:ext uri="{FF2B5EF4-FFF2-40B4-BE49-F238E27FC236}">
                    <a16:creationId xmlns:a16="http://schemas.microsoft.com/office/drawing/2014/main" id="{B50E0C22-5734-465B-BA57-CD1AE03F6570}"/>
                  </a:ext>
                </a:extLst>
              </p:cNvPr>
              <p:cNvGraphicFramePr>
                <a:graphicFrameLocks noGrp="1"/>
              </p:cNvGraphicFramePr>
              <p:nvPr>
                <p:extLst>
                  <p:ext uri="{D42A27DB-BD31-4B8C-83A1-F6EECF244321}">
                    <p14:modId xmlns:p14="http://schemas.microsoft.com/office/powerpoint/2010/main" val="1927451075"/>
                  </p:ext>
                </p:extLst>
              </p:nvPr>
            </p:nvGraphicFramePr>
            <p:xfrm>
              <a:off x="628650" y="5140270"/>
              <a:ext cx="762000" cy="11582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83828263"/>
                        </a:ext>
                      </a:extLst>
                    </a:gridCol>
                  </a:tblGrid>
                  <a:tr h="579120">
                    <a:tc>
                      <a:txBody>
                        <a:bodyPr/>
                        <a:lstStyle/>
                        <a:p>
                          <a:endParaRPr lang="zh-CN"/>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12"/>
                          <a:stretch>
                            <a:fillRect b="-98958"/>
                          </a:stretch>
                        </a:blipFill>
                      </a:tcPr>
                    </a:tc>
                    <a:extLst>
                      <a:ext uri="{0D108BD9-81ED-4DB2-BD59-A6C34878D82A}">
                        <a16:rowId xmlns:a16="http://schemas.microsoft.com/office/drawing/2014/main" val="4276338532"/>
                      </a:ext>
                    </a:extLst>
                  </a:tr>
                  <a:tr h="579120">
                    <a:tc>
                      <a:txBody>
                        <a:bodyPr/>
                        <a:lstStyle/>
                        <a:p>
                          <a:endParaRPr lang="zh-CN"/>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12"/>
                          <a:stretch>
                            <a:fillRect t="-101053"/>
                          </a:stretch>
                        </a:blipFill>
                      </a:tcPr>
                    </a:tc>
                    <a:extLst>
                      <a:ext uri="{0D108BD9-81ED-4DB2-BD59-A6C34878D82A}">
                        <a16:rowId xmlns:a16="http://schemas.microsoft.com/office/drawing/2014/main" val="413228590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4" name="表格 23">
                <a:extLst>
                  <a:ext uri="{FF2B5EF4-FFF2-40B4-BE49-F238E27FC236}">
                    <a16:creationId xmlns:a16="http://schemas.microsoft.com/office/drawing/2014/main" id="{2C73A7BD-E3D1-4501-AD25-8F2974148732}"/>
                  </a:ext>
                </a:extLst>
              </p:cNvPr>
              <p:cNvGraphicFramePr>
                <a:graphicFrameLocks noGrp="1"/>
              </p:cNvGraphicFramePr>
              <p:nvPr>
                <p:extLst>
                  <p:ext uri="{D42A27DB-BD31-4B8C-83A1-F6EECF244321}">
                    <p14:modId xmlns:p14="http://schemas.microsoft.com/office/powerpoint/2010/main" val="2755007545"/>
                  </p:ext>
                </p:extLst>
              </p:nvPr>
            </p:nvGraphicFramePr>
            <p:xfrm>
              <a:off x="7620982" y="5140270"/>
              <a:ext cx="762000" cy="11582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83828263"/>
                        </a:ext>
                      </a:extLst>
                    </a:gridCol>
                  </a:tblGrid>
                  <a:tr h="392709">
                    <a:tc>
                      <a:txBody>
                        <a:bodyPr/>
                        <a:lstStyle/>
                        <a:p>
                          <a:pPr algn="ctr"/>
                          <a14:m>
                            <m:oMathPara xmlns:m="http://schemas.openxmlformats.org/officeDocument/2006/math">
                              <m:oMathParaPr>
                                <m:jc m:val="centerGroup"/>
                              </m:oMathParaPr>
                              <m:oMath xmlns:m="http://schemas.openxmlformats.org/officeDocument/2006/math">
                                <m:r>
                                  <a:rPr lang="en-US" altLang="zh-CN" sz="3200" b="1" i="1" smtClean="0">
                                    <a:solidFill>
                                      <a:schemeClr val="tx1"/>
                                    </a:solidFill>
                                    <a:latin typeface="Cambria Math" panose="02040503050406030204" pitchFamily="18" charset="0"/>
                                  </a:rPr>
                                  <m:t>𝟔</m:t>
                                </m:r>
                              </m:oMath>
                            </m:oMathPara>
                          </a14:m>
                          <a:endParaRPr lang="zh-CN" altLang="en-US" sz="2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76338532"/>
                      </a:ext>
                    </a:extLst>
                  </a:tr>
                  <a:tr h="392709">
                    <a:tc>
                      <a:txBody>
                        <a:bodyPr/>
                        <a:lstStyle/>
                        <a:p>
                          <a:pPr algn="ctr"/>
                          <a14:m>
                            <m:oMathPara xmlns:m="http://schemas.openxmlformats.org/officeDocument/2006/math">
                              <m:oMathParaPr>
                                <m:jc m:val="centerGroup"/>
                              </m:oMathParaPr>
                              <m:oMath xmlns:m="http://schemas.openxmlformats.org/officeDocument/2006/math">
                                <m:r>
                                  <a:rPr lang="en-US" altLang="zh-CN" sz="3200" b="1" i="1" smtClean="0">
                                    <a:solidFill>
                                      <a:schemeClr val="tx1"/>
                                    </a:solidFill>
                                    <a:latin typeface="Cambria Math" panose="02040503050406030204" pitchFamily="18" charset="0"/>
                                  </a:rPr>
                                  <m:t>𝟑</m:t>
                                </m:r>
                              </m:oMath>
                            </m:oMathPara>
                          </a14:m>
                          <a:endParaRPr lang="zh-CN" altLang="en-US" sz="3200" b="1"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32285909"/>
                      </a:ext>
                    </a:extLst>
                  </a:tr>
                </a:tbl>
              </a:graphicData>
            </a:graphic>
          </p:graphicFrame>
        </mc:Choice>
        <mc:Fallback xmlns="">
          <p:graphicFrame>
            <p:nvGraphicFramePr>
              <p:cNvPr id="24" name="表格 23">
                <a:extLst>
                  <a:ext uri="{FF2B5EF4-FFF2-40B4-BE49-F238E27FC236}">
                    <a16:creationId xmlns:a16="http://schemas.microsoft.com/office/drawing/2014/main" id="{2C73A7BD-E3D1-4501-AD25-8F2974148732}"/>
                  </a:ext>
                </a:extLst>
              </p:cNvPr>
              <p:cNvGraphicFramePr>
                <a:graphicFrameLocks noGrp="1"/>
              </p:cNvGraphicFramePr>
              <p:nvPr>
                <p:extLst>
                  <p:ext uri="{D42A27DB-BD31-4B8C-83A1-F6EECF244321}">
                    <p14:modId xmlns:p14="http://schemas.microsoft.com/office/powerpoint/2010/main" val="2755007545"/>
                  </p:ext>
                </p:extLst>
              </p:nvPr>
            </p:nvGraphicFramePr>
            <p:xfrm>
              <a:off x="7620982" y="5140270"/>
              <a:ext cx="762000" cy="11582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83828263"/>
                        </a:ext>
                      </a:extLst>
                    </a:gridCol>
                  </a:tblGrid>
                  <a:tr h="579120">
                    <a:tc>
                      <a:txBody>
                        <a:bodyPr/>
                        <a:lstStyle/>
                        <a:p>
                          <a:endParaRPr lang="zh-CN"/>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13"/>
                          <a:stretch>
                            <a:fillRect b="-98958"/>
                          </a:stretch>
                        </a:blipFill>
                      </a:tcPr>
                    </a:tc>
                    <a:extLst>
                      <a:ext uri="{0D108BD9-81ED-4DB2-BD59-A6C34878D82A}">
                        <a16:rowId xmlns:a16="http://schemas.microsoft.com/office/drawing/2014/main" val="4276338532"/>
                      </a:ext>
                    </a:extLst>
                  </a:tr>
                  <a:tr h="579120">
                    <a:tc>
                      <a:txBody>
                        <a:bodyPr/>
                        <a:lstStyle/>
                        <a:p>
                          <a:endParaRPr lang="zh-CN"/>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13"/>
                          <a:stretch>
                            <a:fillRect t="-101053"/>
                          </a:stretch>
                        </a:blipFill>
                      </a:tcPr>
                    </a:tc>
                    <a:extLst>
                      <a:ext uri="{0D108BD9-81ED-4DB2-BD59-A6C34878D82A}">
                        <a16:rowId xmlns:a16="http://schemas.microsoft.com/office/drawing/2014/main" val="4132285909"/>
                      </a:ext>
                    </a:extLst>
                  </a:tr>
                </a:tbl>
              </a:graphicData>
            </a:graphic>
          </p:graphicFrame>
        </mc:Fallback>
      </mc:AlternateContent>
      <p:sp>
        <p:nvSpPr>
          <p:cNvPr id="25" name="箭头: 右 24">
            <a:extLst>
              <a:ext uri="{FF2B5EF4-FFF2-40B4-BE49-F238E27FC236}">
                <a16:creationId xmlns:a16="http://schemas.microsoft.com/office/drawing/2014/main" id="{3F4AF08E-6E40-4E38-98B3-1D74CBFB212F}"/>
              </a:ext>
            </a:extLst>
          </p:cNvPr>
          <p:cNvSpPr/>
          <p:nvPr/>
        </p:nvSpPr>
        <p:spPr>
          <a:xfrm rot="5400000">
            <a:off x="4440573" y="2351657"/>
            <a:ext cx="262854" cy="3126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右 25">
            <a:extLst>
              <a:ext uri="{FF2B5EF4-FFF2-40B4-BE49-F238E27FC236}">
                <a16:creationId xmlns:a16="http://schemas.microsoft.com/office/drawing/2014/main" id="{242C74E9-61E3-423E-BC59-6A648F8ADAF8}"/>
              </a:ext>
            </a:extLst>
          </p:cNvPr>
          <p:cNvSpPr/>
          <p:nvPr/>
        </p:nvSpPr>
        <p:spPr>
          <a:xfrm rot="5400000">
            <a:off x="4440573" y="4530090"/>
            <a:ext cx="262854" cy="3126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28110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860F10-56F1-433F-BF1E-21F2913AF01B}"/>
              </a:ext>
            </a:extLst>
          </p:cNvPr>
          <p:cNvSpPr>
            <a:spLocks noGrp="1"/>
          </p:cNvSpPr>
          <p:nvPr>
            <p:ph type="title"/>
          </p:nvPr>
        </p:nvSpPr>
        <p:spPr/>
        <p:txBody>
          <a:bodyPr/>
          <a:lstStyle/>
          <a:p>
            <a:r>
              <a:rPr lang="zh-CN" altLang="en-US" dirty="0"/>
              <a:t>习题：</a:t>
            </a:r>
          </a:p>
        </p:txBody>
      </p:sp>
      <p:graphicFrame>
        <p:nvGraphicFramePr>
          <p:cNvPr id="4" name="内容占位符 3">
            <a:extLst>
              <a:ext uri="{FF2B5EF4-FFF2-40B4-BE49-F238E27FC236}">
                <a16:creationId xmlns:a16="http://schemas.microsoft.com/office/drawing/2014/main" id="{FF919411-DD30-4535-8BDA-050A5EF0C90D}"/>
              </a:ext>
            </a:extLst>
          </p:cNvPr>
          <p:cNvGraphicFramePr>
            <a:graphicFrameLocks noGrp="1"/>
          </p:cNvGraphicFramePr>
          <p:nvPr>
            <p:ph idx="1"/>
            <p:extLst>
              <p:ext uri="{D42A27DB-BD31-4B8C-83A1-F6EECF244321}">
                <p14:modId xmlns:p14="http://schemas.microsoft.com/office/powerpoint/2010/main" val="2632755194"/>
              </p:ext>
            </p:extLst>
          </p:nvPr>
        </p:nvGraphicFramePr>
        <p:xfrm>
          <a:off x="1334705" y="1892469"/>
          <a:ext cx="7066386" cy="2784816"/>
        </p:xfrm>
        <a:graphic>
          <a:graphicData uri="http://schemas.openxmlformats.org/drawingml/2006/table">
            <a:tbl>
              <a:tblPr firstRow="1" bandRow="1">
                <a:tableStyleId>{5C22544A-7EE6-4342-B048-85BDC9FD1C3A}</a:tableStyleId>
              </a:tblPr>
              <a:tblGrid>
                <a:gridCol w="1177731">
                  <a:extLst>
                    <a:ext uri="{9D8B030D-6E8A-4147-A177-3AD203B41FA5}">
                      <a16:colId xmlns:a16="http://schemas.microsoft.com/office/drawing/2014/main" val="194517144"/>
                    </a:ext>
                  </a:extLst>
                </a:gridCol>
                <a:gridCol w="1177731">
                  <a:extLst>
                    <a:ext uri="{9D8B030D-6E8A-4147-A177-3AD203B41FA5}">
                      <a16:colId xmlns:a16="http://schemas.microsoft.com/office/drawing/2014/main" val="262937075"/>
                    </a:ext>
                  </a:extLst>
                </a:gridCol>
                <a:gridCol w="1177731">
                  <a:extLst>
                    <a:ext uri="{9D8B030D-6E8A-4147-A177-3AD203B41FA5}">
                      <a16:colId xmlns:a16="http://schemas.microsoft.com/office/drawing/2014/main" val="1809024897"/>
                    </a:ext>
                  </a:extLst>
                </a:gridCol>
                <a:gridCol w="1177731">
                  <a:extLst>
                    <a:ext uri="{9D8B030D-6E8A-4147-A177-3AD203B41FA5}">
                      <a16:colId xmlns:a16="http://schemas.microsoft.com/office/drawing/2014/main" val="1127211881"/>
                    </a:ext>
                  </a:extLst>
                </a:gridCol>
                <a:gridCol w="1177731">
                  <a:extLst>
                    <a:ext uri="{9D8B030D-6E8A-4147-A177-3AD203B41FA5}">
                      <a16:colId xmlns:a16="http://schemas.microsoft.com/office/drawing/2014/main" val="419935813"/>
                    </a:ext>
                  </a:extLst>
                </a:gridCol>
                <a:gridCol w="1177731">
                  <a:extLst>
                    <a:ext uri="{9D8B030D-6E8A-4147-A177-3AD203B41FA5}">
                      <a16:colId xmlns:a16="http://schemas.microsoft.com/office/drawing/2014/main" val="689481572"/>
                    </a:ext>
                  </a:extLst>
                </a:gridCol>
              </a:tblGrid>
              <a:tr h="927033">
                <a:tc>
                  <a:txBody>
                    <a:bodyPr/>
                    <a:lstStyle/>
                    <a:p>
                      <a:pPr algn="ctr"/>
                      <a:r>
                        <a:rPr lang="en-US" altLang="zh-CN" sz="4700" b="1" dirty="0">
                          <a:solidFill>
                            <a:schemeClr val="tx1"/>
                          </a:solidFill>
                        </a:rPr>
                        <a:t>2</a:t>
                      </a:r>
                      <a:endParaRPr lang="zh-CN" altLang="en-US" sz="4700" b="1" dirty="0">
                        <a:solidFill>
                          <a:schemeClr val="tx1"/>
                        </a:solidFill>
                      </a:endParaRPr>
                    </a:p>
                  </a:txBody>
                  <a:tcPr marL="211992" marR="211992" marT="105996" marB="105996"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2</a:t>
                      </a:r>
                      <a:endParaRPr lang="zh-CN" altLang="en-US" sz="4700" b="1" dirty="0">
                        <a:solidFill>
                          <a:schemeClr val="tx1"/>
                        </a:solidFill>
                      </a:endParaRPr>
                    </a:p>
                  </a:txBody>
                  <a:tcPr marL="211992" marR="211992" marT="105996" marB="10599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1</a:t>
                      </a:r>
                      <a:endParaRPr lang="zh-CN" altLang="en-US" sz="4700" b="1" dirty="0">
                        <a:solidFill>
                          <a:schemeClr val="tx1"/>
                        </a:solidFill>
                      </a:endParaRPr>
                    </a:p>
                  </a:txBody>
                  <a:tcPr marL="211992" marR="211992" marT="105996" marB="10599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0</a:t>
                      </a:r>
                      <a:endParaRPr lang="zh-CN" altLang="en-US" sz="4700" b="1" dirty="0">
                        <a:solidFill>
                          <a:schemeClr val="tx1"/>
                        </a:solidFill>
                      </a:endParaRPr>
                    </a:p>
                  </a:txBody>
                  <a:tcPr marL="211992" marR="211992" marT="105996" marB="105996"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0</a:t>
                      </a:r>
                      <a:endParaRPr lang="zh-CN" altLang="en-US" sz="4700" b="1" dirty="0">
                        <a:solidFill>
                          <a:schemeClr val="tx1"/>
                        </a:solidFill>
                      </a:endParaRPr>
                    </a:p>
                  </a:txBody>
                  <a:tcPr marL="211992" marR="211992" marT="105996" marB="105996"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3</a:t>
                      </a:r>
                      <a:endParaRPr lang="zh-CN" altLang="en-US" sz="4700" b="1" dirty="0">
                        <a:solidFill>
                          <a:schemeClr val="tx1"/>
                        </a:solidFill>
                      </a:endParaRPr>
                    </a:p>
                  </a:txBody>
                  <a:tcPr marL="211992" marR="211992" marT="105996" marB="105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11693389"/>
                  </a:ext>
                </a:extLst>
              </a:tr>
              <a:tr h="927033">
                <a:tc>
                  <a:txBody>
                    <a:bodyPr/>
                    <a:lstStyle/>
                    <a:p>
                      <a:pPr algn="ctr"/>
                      <a:r>
                        <a:rPr lang="en-US" altLang="zh-CN" sz="4700" b="1" dirty="0">
                          <a:solidFill>
                            <a:schemeClr val="tx1"/>
                          </a:solidFill>
                        </a:rPr>
                        <a:t>0</a:t>
                      </a:r>
                      <a:endParaRPr lang="zh-CN" altLang="en-US" sz="4700" b="1" dirty="0">
                        <a:solidFill>
                          <a:schemeClr val="tx1"/>
                        </a:solidFill>
                      </a:endParaRPr>
                    </a:p>
                  </a:txBody>
                  <a:tcPr marL="211992" marR="211992" marT="105996" marB="105996"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2</a:t>
                      </a:r>
                      <a:endParaRPr lang="zh-CN" altLang="en-US" sz="4700" b="1" dirty="0">
                        <a:solidFill>
                          <a:schemeClr val="tx1"/>
                        </a:solidFill>
                      </a:endParaRPr>
                    </a:p>
                  </a:txBody>
                  <a:tcPr marL="211992" marR="211992" marT="105996" marB="105996"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0</a:t>
                      </a:r>
                      <a:endParaRPr lang="zh-CN" altLang="en-US" sz="4700" b="1" dirty="0">
                        <a:solidFill>
                          <a:schemeClr val="tx1"/>
                        </a:solidFill>
                      </a:endParaRPr>
                    </a:p>
                  </a:txBody>
                  <a:tcPr marL="211992" marR="211992" marT="105996" marB="105996"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0</a:t>
                      </a:r>
                      <a:endParaRPr lang="zh-CN" altLang="en-US" sz="4700" b="1" dirty="0">
                        <a:solidFill>
                          <a:schemeClr val="tx1"/>
                        </a:solidFill>
                      </a:endParaRPr>
                    </a:p>
                  </a:txBody>
                  <a:tcPr marL="211992" marR="211992" marT="105996" marB="105996"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1</a:t>
                      </a:r>
                      <a:endParaRPr lang="zh-CN" altLang="en-US" sz="4700" b="1" dirty="0">
                        <a:solidFill>
                          <a:schemeClr val="tx1"/>
                        </a:solidFill>
                      </a:endParaRPr>
                    </a:p>
                  </a:txBody>
                  <a:tcPr marL="211992" marR="211992" marT="105996" marB="105996"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4</a:t>
                      </a:r>
                      <a:endParaRPr lang="zh-CN" altLang="en-US" sz="4700" b="1" dirty="0">
                        <a:solidFill>
                          <a:schemeClr val="tx1"/>
                        </a:solidFill>
                      </a:endParaRPr>
                    </a:p>
                  </a:txBody>
                  <a:tcPr marL="211992" marR="211992" marT="105996" marB="105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14370936"/>
                  </a:ext>
                </a:extLst>
              </a:tr>
              <a:tr h="927033">
                <a:tc>
                  <a:txBody>
                    <a:bodyPr/>
                    <a:lstStyle/>
                    <a:p>
                      <a:pPr algn="ctr"/>
                      <a:r>
                        <a:rPr lang="en-US" altLang="zh-CN" sz="4700" b="1" dirty="0">
                          <a:solidFill>
                            <a:schemeClr val="tx1"/>
                          </a:solidFill>
                        </a:rPr>
                        <a:t>3</a:t>
                      </a:r>
                      <a:endParaRPr lang="zh-CN" altLang="en-US" sz="4700" b="1" dirty="0">
                        <a:solidFill>
                          <a:schemeClr val="tx1"/>
                        </a:solidFill>
                      </a:endParaRPr>
                    </a:p>
                  </a:txBody>
                  <a:tcPr marL="211992" marR="211992" marT="105996" marB="105996"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4</a:t>
                      </a:r>
                      <a:endParaRPr lang="zh-CN" altLang="en-US" sz="4700" b="1" dirty="0">
                        <a:solidFill>
                          <a:schemeClr val="tx1"/>
                        </a:solidFill>
                      </a:endParaRPr>
                    </a:p>
                  </a:txBody>
                  <a:tcPr marL="211992" marR="211992" marT="105996" marB="10599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0</a:t>
                      </a:r>
                      <a:endParaRPr lang="zh-CN" altLang="en-US" sz="4700" b="1" dirty="0">
                        <a:solidFill>
                          <a:schemeClr val="tx1"/>
                        </a:solidFill>
                      </a:endParaRPr>
                    </a:p>
                  </a:txBody>
                  <a:tcPr marL="211992" marR="211992" marT="105996" marB="10599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1</a:t>
                      </a:r>
                      <a:endParaRPr lang="zh-CN" altLang="en-US" sz="4700" b="1" dirty="0">
                        <a:solidFill>
                          <a:schemeClr val="tx1"/>
                        </a:solidFill>
                      </a:endParaRPr>
                    </a:p>
                  </a:txBody>
                  <a:tcPr marL="211992" marR="211992" marT="105996" marB="105996" anchor="ctr">
                    <a:lnL w="12700" cmpd="sng">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0</a:t>
                      </a:r>
                      <a:endParaRPr lang="zh-CN" altLang="en-US" sz="4700" b="1" dirty="0">
                        <a:solidFill>
                          <a:schemeClr val="tx1"/>
                        </a:solidFill>
                      </a:endParaRPr>
                    </a:p>
                  </a:txBody>
                  <a:tcPr marL="211992" marR="211992" marT="105996" marB="105996"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5</a:t>
                      </a:r>
                      <a:endParaRPr lang="zh-CN" altLang="en-US" sz="4700" b="1" dirty="0">
                        <a:solidFill>
                          <a:schemeClr val="tx1"/>
                        </a:solidFill>
                      </a:endParaRPr>
                    </a:p>
                  </a:txBody>
                  <a:tcPr marL="211992" marR="211992" marT="105996" marB="105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26832789"/>
                  </a:ext>
                </a:extLst>
              </a:tr>
            </a:tbl>
          </a:graphicData>
        </a:graphic>
      </p:graphicFrame>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AFC97E5A-ECCD-4C70-A3F1-017F39501812}"/>
                  </a:ext>
                </a:extLst>
              </p:cNvPr>
              <p:cNvSpPr/>
              <p:nvPr/>
            </p:nvSpPr>
            <p:spPr>
              <a:xfrm>
                <a:off x="1664134" y="1307694"/>
                <a:ext cx="833460" cy="5847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a:latin typeface="Cambria Math" panose="02040503050406030204" pitchFamily="18" charset="0"/>
                            </a:rPr>
                            <m:t>𝟏</m:t>
                          </m:r>
                        </m:sub>
                      </m:sSub>
                    </m:oMath>
                  </m:oMathPara>
                </a14:m>
                <a:endParaRPr lang="zh-CN" altLang="en-US" sz="3200" dirty="0"/>
              </a:p>
            </p:txBody>
          </p:sp>
        </mc:Choice>
        <mc:Fallback xmlns="">
          <p:sp>
            <p:nvSpPr>
              <p:cNvPr id="5" name="矩形 4">
                <a:extLst>
                  <a:ext uri="{FF2B5EF4-FFF2-40B4-BE49-F238E27FC236}">
                    <a16:creationId xmlns:a16="http://schemas.microsoft.com/office/drawing/2014/main" id="{AFC97E5A-ECCD-4C70-A3F1-017F39501812}"/>
                  </a:ext>
                </a:extLst>
              </p:cNvPr>
              <p:cNvSpPr>
                <a:spLocks noRot="1" noChangeAspect="1" noMove="1" noResize="1" noEditPoints="1" noAdjustHandles="1" noChangeArrowheads="1" noChangeShapeType="1" noTextEdit="1"/>
              </p:cNvSpPr>
              <p:nvPr/>
            </p:nvSpPr>
            <p:spPr>
              <a:xfrm>
                <a:off x="1664134" y="1307694"/>
                <a:ext cx="833460" cy="584775"/>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3B099ACD-9776-4A65-BE75-1A6D030A35A6}"/>
                  </a:ext>
                </a:extLst>
              </p:cNvPr>
              <p:cNvSpPr/>
              <p:nvPr/>
            </p:nvSpPr>
            <p:spPr>
              <a:xfrm>
                <a:off x="2652447" y="1307694"/>
                <a:ext cx="7114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smtClean="0">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smtClean="0">
                              <a:latin typeface="Cambria Math" panose="02040503050406030204" pitchFamily="18" charset="0"/>
                            </a:rPr>
                            <m:t>𝟐</m:t>
                          </m:r>
                        </m:sub>
                      </m:sSub>
                    </m:oMath>
                  </m:oMathPara>
                </a14:m>
                <a:endParaRPr lang="zh-CN" altLang="en-US" sz="3200" dirty="0"/>
              </a:p>
            </p:txBody>
          </p:sp>
        </mc:Choice>
        <mc:Fallback xmlns="">
          <p:sp>
            <p:nvSpPr>
              <p:cNvPr id="6" name="矩形 5">
                <a:extLst>
                  <a:ext uri="{FF2B5EF4-FFF2-40B4-BE49-F238E27FC236}">
                    <a16:creationId xmlns:a16="http://schemas.microsoft.com/office/drawing/2014/main" id="{3B099ACD-9776-4A65-BE75-1A6D030A35A6}"/>
                  </a:ext>
                </a:extLst>
              </p:cNvPr>
              <p:cNvSpPr>
                <a:spLocks noRot="1" noChangeAspect="1" noMove="1" noResize="1" noEditPoints="1" noAdjustHandles="1" noChangeArrowheads="1" noChangeShapeType="1" noTextEdit="1"/>
              </p:cNvSpPr>
              <p:nvPr/>
            </p:nvSpPr>
            <p:spPr>
              <a:xfrm>
                <a:off x="2652447" y="1307694"/>
                <a:ext cx="711477" cy="58477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438D4D0E-9E95-43F8-A9C9-B61F88BA4228}"/>
                  </a:ext>
                </a:extLst>
              </p:cNvPr>
              <p:cNvSpPr/>
              <p:nvPr/>
            </p:nvSpPr>
            <p:spPr>
              <a:xfrm>
                <a:off x="3938833" y="1307694"/>
                <a:ext cx="7114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smtClean="0">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smtClean="0">
                              <a:latin typeface="Cambria Math" panose="02040503050406030204" pitchFamily="18" charset="0"/>
                            </a:rPr>
                            <m:t>𝟑</m:t>
                          </m:r>
                        </m:sub>
                      </m:sSub>
                    </m:oMath>
                  </m:oMathPara>
                </a14:m>
                <a:endParaRPr lang="zh-CN" altLang="en-US" sz="3200" dirty="0"/>
              </a:p>
            </p:txBody>
          </p:sp>
        </mc:Choice>
        <mc:Fallback xmlns="">
          <p:sp>
            <p:nvSpPr>
              <p:cNvPr id="7" name="矩形 6">
                <a:extLst>
                  <a:ext uri="{FF2B5EF4-FFF2-40B4-BE49-F238E27FC236}">
                    <a16:creationId xmlns:a16="http://schemas.microsoft.com/office/drawing/2014/main" id="{438D4D0E-9E95-43F8-A9C9-B61F88BA4228}"/>
                  </a:ext>
                </a:extLst>
              </p:cNvPr>
              <p:cNvSpPr>
                <a:spLocks noRot="1" noChangeAspect="1" noMove="1" noResize="1" noEditPoints="1" noAdjustHandles="1" noChangeArrowheads="1" noChangeShapeType="1" noTextEdit="1"/>
              </p:cNvSpPr>
              <p:nvPr/>
            </p:nvSpPr>
            <p:spPr>
              <a:xfrm>
                <a:off x="3938833" y="1307694"/>
                <a:ext cx="711477" cy="58477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3CDDD469-AAEE-4561-87E1-431319FAC4F4}"/>
                  </a:ext>
                </a:extLst>
              </p:cNvPr>
              <p:cNvSpPr/>
              <p:nvPr/>
            </p:nvSpPr>
            <p:spPr>
              <a:xfrm>
                <a:off x="5000626" y="1307694"/>
                <a:ext cx="7114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smtClean="0">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smtClean="0">
                              <a:latin typeface="Cambria Math" panose="02040503050406030204" pitchFamily="18" charset="0"/>
                            </a:rPr>
                            <m:t>𝟒</m:t>
                          </m:r>
                        </m:sub>
                      </m:sSub>
                    </m:oMath>
                  </m:oMathPara>
                </a14:m>
                <a:endParaRPr lang="zh-CN" altLang="en-US" sz="3200" dirty="0"/>
              </a:p>
            </p:txBody>
          </p:sp>
        </mc:Choice>
        <mc:Fallback xmlns="">
          <p:sp>
            <p:nvSpPr>
              <p:cNvPr id="8" name="矩形 7">
                <a:extLst>
                  <a:ext uri="{FF2B5EF4-FFF2-40B4-BE49-F238E27FC236}">
                    <a16:creationId xmlns:a16="http://schemas.microsoft.com/office/drawing/2014/main" id="{3CDDD469-AAEE-4561-87E1-431319FAC4F4}"/>
                  </a:ext>
                </a:extLst>
              </p:cNvPr>
              <p:cNvSpPr>
                <a:spLocks noRot="1" noChangeAspect="1" noMove="1" noResize="1" noEditPoints="1" noAdjustHandles="1" noChangeArrowheads="1" noChangeShapeType="1" noTextEdit="1"/>
              </p:cNvSpPr>
              <p:nvPr/>
            </p:nvSpPr>
            <p:spPr>
              <a:xfrm>
                <a:off x="5000626" y="1307694"/>
                <a:ext cx="711477" cy="58477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AA153083-F8DA-4E0A-948A-A1537BADAEB9}"/>
                  </a:ext>
                </a:extLst>
              </p:cNvPr>
              <p:cNvSpPr/>
              <p:nvPr/>
            </p:nvSpPr>
            <p:spPr>
              <a:xfrm>
                <a:off x="6280579" y="1307694"/>
                <a:ext cx="7114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smtClean="0">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smtClean="0">
                              <a:latin typeface="Cambria Math" panose="02040503050406030204" pitchFamily="18" charset="0"/>
                            </a:rPr>
                            <m:t>𝟓</m:t>
                          </m:r>
                        </m:sub>
                      </m:sSub>
                    </m:oMath>
                  </m:oMathPara>
                </a14:m>
                <a:endParaRPr lang="zh-CN" altLang="en-US" sz="3200" dirty="0"/>
              </a:p>
            </p:txBody>
          </p:sp>
        </mc:Choice>
        <mc:Fallback xmlns="">
          <p:sp>
            <p:nvSpPr>
              <p:cNvPr id="9" name="矩形 8">
                <a:extLst>
                  <a:ext uri="{FF2B5EF4-FFF2-40B4-BE49-F238E27FC236}">
                    <a16:creationId xmlns:a16="http://schemas.microsoft.com/office/drawing/2014/main" id="{AA153083-F8DA-4E0A-948A-A1537BADAEB9}"/>
                  </a:ext>
                </a:extLst>
              </p:cNvPr>
              <p:cNvSpPr>
                <a:spLocks noRot="1" noChangeAspect="1" noMove="1" noResize="1" noEditPoints="1" noAdjustHandles="1" noChangeArrowheads="1" noChangeShapeType="1" noTextEdit="1"/>
              </p:cNvSpPr>
              <p:nvPr/>
            </p:nvSpPr>
            <p:spPr>
              <a:xfrm>
                <a:off x="6280579" y="1307694"/>
                <a:ext cx="711477" cy="58477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C49D5A5A-DCCD-45BC-B693-D6624466AF8C}"/>
                  </a:ext>
                </a:extLst>
              </p:cNvPr>
              <p:cNvSpPr/>
              <p:nvPr/>
            </p:nvSpPr>
            <p:spPr>
              <a:xfrm>
                <a:off x="628650" y="2036899"/>
                <a:ext cx="7114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smtClean="0">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smtClean="0">
                              <a:latin typeface="Cambria Math" panose="02040503050406030204" pitchFamily="18" charset="0"/>
                            </a:rPr>
                            <m:t>𝟑</m:t>
                          </m:r>
                        </m:sub>
                      </m:sSub>
                    </m:oMath>
                  </m:oMathPara>
                </a14:m>
                <a:endParaRPr lang="zh-CN" altLang="en-US" sz="3200" dirty="0"/>
              </a:p>
            </p:txBody>
          </p:sp>
        </mc:Choice>
        <mc:Fallback xmlns="">
          <p:sp>
            <p:nvSpPr>
              <p:cNvPr id="11" name="矩形 10">
                <a:extLst>
                  <a:ext uri="{FF2B5EF4-FFF2-40B4-BE49-F238E27FC236}">
                    <a16:creationId xmlns:a16="http://schemas.microsoft.com/office/drawing/2014/main" id="{C49D5A5A-DCCD-45BC-B693-D6624466AF8C}"/>
                  </a:ext>
                </a:extLst>
              </p:cNvPr>
              <p:cNvSpPr>
                <a:spLocks noRot="1" noChangeAspect="1" noMove="1" noResize="1" noEditPoints="1" noAdjustHandles="1" noChangeArrowheads="1" noChangeShapeType="1" noTextEdit="1"/>
              </p:cNvSpPr>
              <p:nvPr/>
            </p:nvSpPr>
            <p:spPr>
              <a:xfrm>
                <a:off x="628650" y="2036899"/>
                <a:ext cx="711477" cy="584775"/>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C95371F5-706B-4FFD-805C-D8B86589E458}"/>
                  </a:ext>
                </a:extLst>
              </p:cNvPr>
              <p:cNvSpPr/>
              <p:nvPr/>
            </p:nvSpPr>
            <p:spPr>
              <a:xfrm>
                <a:off x="628649" y="3943939"/>
                <a:ext cx="7114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smtClean="0">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smtClean="0">
                              <a:latin typeface="Cambria Math" panose="02040503050406030204" pitchFamily="18" charset="0"/>
                            </a:rPr>
                            <m:t>𝟒</m:t>
                          </m:r>
                        </m:sub>
                      </m:sSub>
                    </m:oMath>
                  </m:oMathPara>
                </a14:m>
                <a:endParaRPr lang="zh-CN" altLang="en-US" sz="3200" dirty="0"/>
              </a:p>
            </p:txBody>
          </p:sp>
        </mc:Choice>
        <mc:Fallback xmlns="">
          <p:sp>
            <p:nvSpPr>
              <p:cNvPr id="12" name="矩形 11">
                <a:extLst>
                  <a:ext uri="{FF2B5EF4-FFF2-40B4-BE49-F238E27FC236}">
                    <a16:creationId xmlns:a16="http://schemas.microsoft.com/office/drawing/2014/main" id="{C95371F5-706B-4FFD-805C-D8B86589E458}"/>
                  </a:ext>
                </a:extLst>
              </p:cNvPr>
              <p:cNvSpPr>
                <a:spLocks noRot="1" noChangeAspect="1" noMove="1" noResize="1" noEditPoints="1" noAdjustHandles="1" noChangeArrowheads="1" noChangeShapeType="1" noTextEdit="1"/>
              </p:cNvSpPr>
              <p:nvPr/>
            </p:nvSpPr>
            <p:spPr>
              <a:xfrm>
                <a:off x="628649" y="3943939"/>
                <a:ext cx="711477" cy="584775"/>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72EB1CAC-1F2A-445C-A7F9-4C1AF5375005}"/>
                  </a:ext>
                </a:extLst>
              </p:cNvPr>
              <p:cNvSpPr/>
              <p:nvPr/>
            </p:nvSpPr>
            <p:spPr>
              <a:xfrm>
                <a:off x="623228" y="2914061"/>
                <a:ext cx="7114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smtClean="0">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smtClean="0">
                              <a:latin typeface="Cambria Math" panose="02040503050406030204" pitchFamily="18" charset="0"/>
                            </a:rPr>
                            <m:t>𝟓</m:t>
                          </m:r>
                        </m:sub>
                      </m:sSub>
                    </m:oMath>
                  </m:oMathPara>
                </a14:m>
                <a:endParaRPr lang="zh-CN" altLang="en-US" sz="3200" dirty="0"/>
              </a:p>
            </p:txBody>
          </p:sp>
        </mc:Choice>
        <mc:Fallback xmlns="">
          <p:sp>
            <p:nvSpPr>
              <p:cNvPr id="13" name="矩形 12">
                <a:extLst>
                  <a:ext uri="{FF2B5EF4-FFF2-40B4-BE49-F238E27FC236}">
                    <a16:creationId xmlns:a16="http://schemas.microsoft.com/office/drawing/2014/main" id="{72EB1CAC-1F2A-445C-A7F9-4C1AF5375005}"/>
                  </a:ext>
                </a:extLst>
              </p:cNvPr>
              <p:cNvSpPr>
                <a:spLocks noRot="1" noChangeAspect="1" noMove="1" noResize="1" noEditPoints="1" noAdjustHandles="1" noChangeArrowheads="1" noChangeShapeType="1" noTextEdit="1"/>
              </p:cNvSpPr>
              <p:nvPr/>
            </p:nvSpPr>
            <p:spPr>
              <a:xfrm>
                <a:off x="623228" y="2914061"/>
                <a:ext cx="711477" cy="584775"/>
              </a:xfrm>
              <a:prstGeom prst="rect">
                <a:avLst/>
              </a:prstGeom>
              <a:blipFill>
                <a:blip r:embed="rId9"/>
                <a:stretch>
                  <a:fillRect/>
                </a:stretch>
              </a:blipFill>
            </p:spPr>
            <p:txBody>
              <a:bodyPr/>
              <a:lstStyle/>
              <a:p>
                <a:r>
                  <a:rPr lang="zh-CN" altLang="en-US">
                    <a:noFill/>
                  </a:rPr>
                  <a:t> </a:t>
                </a:r>
              </a:p>
            </p:txBody>
          </p:sp>
        </mc:Fallback>
      </mc:AlternateContent>
      <p:sp>
        <p:nvSpPr>
          <p:cNvPr id="3" name="箭头: 右 2">
            <a:extLst>
              <a:ext uri="{FF2B5EF4-FFF2-40B4-BE49-F238E27FC236}">
                <a16:creationId xmlns:a16="http://schemas.microsoft.com/office/drawing/2014/main" id="{D7272F5D-7222-4A7A-ABBD-6DC6BFA4DCC2}"/>
              </a:ext>
            </a:extLst>
          </p:cNvPr>
          <p:cNvSpPr/>
          <p:nvPr/>
        </p:nvSpPr>
        <p:spPr>
          <a:xfrm rot="10800000">
            <a:off x="500742" y="3152503"/>
            <a:ext cx="200297" cy="1915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3AC94C36-3B35-4813-A9D9-48268C6F026D}"/>
                  </a:ext>
                </a:extLst>
              </p:cNvPr>
              <p:cNvSpPr/>
              <p:nvPr/>
            </p:nvSpPr>
            <p:spPr>
              <a:xfrm>
                <a:off x="-88249" y="2914060"/>
                <a:ext cx="7114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smtClean="0">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smtClean="0">
                              <a:latin typeface="Cambria Math" panose="02040503050406030204" pitchFamily="18" charset="0"/>
                            </a:rPr>
                            <m:t>𝟐</m:t>
                          </m:r>
                        </m:sub>
                      </m:sSub>
                    </m:oMath>
                  </m:oMathPara>
                </a14:m>
                <a:endParaRPr lang="zh-CN" altLang="en-US" sz="3200" dirty="0"/>
              </a:p>
            </p:txBody>
          </p:sp>
        </mc:Choice>
        <mc:Fallback xmlns="">
          <p:sp>
            <p:nvSpPr>
              <p:cNvPr id="14" name="矩形 13">
                <a:extLst>
                  <a:ext uri="{FF2B5EF4-FFF2-40B4-BE49-F238E27FC236}">
                    <a16:creationId xmlns:a16="http://schemas.microsoft.com/office/drawing/2014/main" id="{3AC94C36-3B35-4813-A9D9-48268C6F026D}"/>
                  </a:ext>
                </a:extLst>
              </p:cNvPr>
              <p:cNvSpPr>
                <a:spLocks noRot="1" noChangeAspect="1" noMove="1" noResize="1" noEditPoints="1" noAdjustHandles="1" noChangeArrowheads="1" noChangeShapeType="1" noTextEdit="1"/>
              </p:cNvSpPr>
              <p:nvPr/>
            </p:nvSpPr>
            <p:spPr>
              <a:xfrm>
                <a:off x="-88249" y="2914060"/>
                <a:ext cx="711477" cy="584775"/>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C7E158D7-EA5B-492C-8595-548361E2843A}"/>
                  </a:ext>
                </a:extLst>
              </p:cNvPr>
              <p:cNvSpPr txBox="1"/>
              <p:nvPr/>
            </p:nvSpPr>
            <p:spPr>
              <a:xfrm>
                <a:off x="7326488" y="1394896"/>
                <a:ext cx="741742" cy="41036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altLang="zh-CN" b="0" i="1" smtClean="0">
                              <a:latin typeface="Cambria Math" panose="02040503050406030204" pitchFamily="18" charset="0"/>
                            </a:rPr>
                          </m:ctrlPr>
                        </m:sSupPr>
                        <m:e>
                          <m:r>
                            <m:rPr>
                              <m:sty m:val="p"/>
                            </m:rPr>
                            <a:rPr lang="en-US" altLang="zh-CN" i="1" smtClean="0">
                              <a:latin typeface="Cambria Math" panose="02040503050406030204" pitchFamily="18" charset="0"/>
                            </a:rPr>
                            <m:t>B</m:t>
                          </m:r>
                        </m:e>
                        <m:sup>
                          <m:r>
                            <a:rPr lang="en-US" altLang="zh-CN" b="0" i="0" smtClean="0">
                              <a:latin typeface="Cambria Math" panose="02040503050406030204" pitchFamily="18" charset="0"/>
                            </a:rPr>
                            <m:t>−1</m:t>
                          </m:r>
                        </m:sup>
                      </m:sSup>
                      <m:acc>
                        <m:accPr>
                          <m:chr m:val="⃗"/>
                          <m:ctrlPr>
                            <a:rPr lang="en-US" altLang="zh-CN" b="0" i="1" smtClean="0">
                              <a:latin typeface="Cambria Math" panose="02040503050406030204" pitchFamily="18" charset="0"/>
                            </a:rPr>
                          </m:ctrlPr>
                        </m:accPr>
                        <m:e>
                          <m:r>
                            <m:rPr>
                              <m:sty m:val="p"/>
                            </m:rPr>
                            <a:rPr lang="en-US" altLang="zh-CN" b="0" i="0" smtClean="0">
                              <a:latin typeface="Cambria Math" panose="02040503050406030204" pitchFamily="18" charset="0"/>
                            </a:rPr>
                            <m:t>b</m:t>
                          </m:r>
                        </m:e>
                      </m:acc>
                    </m:oMath>
                  </m:oMathPara>
                </a14:m>
                <a:endParaRPr lang="zh-CN" altLang="en-US" dirty="0"/>
              </a:p>
            </p:txBody>
          </p:sp>
        </mc:Choice>
        <mc:Fallback xmlns="">
          <p:sp>
            <p:nvSpPr>
              <p:cNvPr id="10" name="文本框 9">
                <a:extLst>
                  <a:ext uri="{FF2B5EF4-FFF2-40B4-BE49-F238E27FC236}">
                    <a16:creationId xmlns:a16="http://schemas.microsoft.com/office/drawing/2014/main" id="{C7E158D7-EA5B-492C-8595-548361E2843A}"/>
                  </a:ext>
                </a:extLst>
              </p:cNvPr>
              <p:cNvSpPr txBox="1">
                <a:spLocks noRot="1" noChangeAspect="1" noMove="1" noResize="1" noEditPoints="1" noAdjustHandles="1" noChangeArrowheads="1" noChangeShapeType="1" noTextEdit="1"/>
              </p:cNvSpPr>
              <p:nvPr/>
            </p:nvSpPr>
            <p:spPr>
              <a:xfrm>
                <a:off x="7326488" y="1394896"/>
                <a:ext cx="741742" cy="410369"/>
              </a:xfrm>
              <a:prstGeom prst="rect">
                <a:avLst/>
              </a:prstGeom>
              <a:blipFill>
                <a:blip r:embed="rId11"/>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20554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4988CAC1-35FA-4168-8C59-248801AAEF43}"/>
                  </a:ext>
                </a:extLst>
              </p:cNvPr>
              <p:cNvGraphicFramePr>
                <a:graphicFrameLocks noGrp="1"/>
              </p:cNvGraphicFramePr>
              <p:nvPr>
                <p:extLst>
                  <p:ext uri="{D42A27DB-BD31-4B8C-83A1-F6EECF244321}">
                    <p14:modId xmlns:p14="http://schemas.microsoft.com/office/powerpoint/2010/main" val="1493912431"/>
                  </p:ext>
                </p:extLst>
              </p:nvPr>
            </p:nvGraphicFramePr>
            <p:xfrm>
              <a:off x="1524000" y="472923"/>
              <a:ext cx="6096000" cy="2210498"/>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775034011"/>
                        </a:ext>
                      </a:extLst>
                    </a:gridCol>
                    <a:gridCol w="762000">
                      <a:extLst>
                        <a:ext uri="{9D8B030D-6E8A-4147-A177-3AD203B41FA5}">
                          <a16:colId xmlns:a16="http://schemas.microsoft.com/office/drawing/2014/main" val="1586977620"/>
                        </a:ext>
                      </a:extLst>
                    </a:gridCol>
                    <a:gridCol w="762000">
                      <a:extLst>
                        <a:ext uri="{9D8B030D-6E8A-4147-A177-3AD203B41FA5}">
                          <a16:colId xmlns:a16="http://schemas.microsoft.com/office/drawing/2014/main" val="2459346512"/>
                        </a:ext>
                      </a:extLst>
                    </a:gridCol>
                    <a:gridCol w="762000">
                      <a:extLst>
                        <a:ext uri="{9D8B030D-6E8A-4147-A177-3AD203B41FA5}">
                          <a16:colId xmlns:a16="http://schemas.microsoft.com/office/drawing/2014/main" val="1426368105"/>
                        </a:ext>
                      </a:extLst>
                    </a:gridCol>
                    <a:gridCol w="762000">
                      <a:extLst>
                        <a:ext uri="{9D8B030D-6E8A-4147-A177-3AD203B41FA5}">
                          <a16:colId xmlns:a16="http://schemas.microsoft.com/office/drawing/2014/main" val="1783729747"/>
                        </a:ext>
                      </a:extLst>
                    </a:gridCol>
                    <a:gridCol w="762000">
                      <a:extLst>
                        <a:ext uri="{9D8B030D-6E8A-4147-A177-3AD203B41FA5}">
                          <a16:colId xmlns:a16="http://schemas.microsoft.com/office/drawing/2014/main" val="3541072806"/>
                        </a:ext>
                      </a:extLst>
                    </a:gridCol>
                    <a:gridCol w="762000">
                      <a:extLst>
                        <a:ext uri="{9D8B030D-6E8A-4147-A177-3AD203B41FA5}">
                          <a16:colId xmlns:a16="http://schemas.microsoft.com/office/drawing/2014/main" val="1037422741"/>
                        </a:ext>
                      </a:extLst>
                    </a:gridCol>
                    <a:gridCol w="762000">
                      <a:extLst>
                        <a:ext uri="{9D8B030D-6E8A-4147-A177-3AD203B41FA5}">
                          <a16:colId xmlns:a16="http://schemas.microsoft.com/office/drawing/2014/main" val="3359340276"/>
                        </a:ext>
                      </a:extLst>
                    </a:gridCol>
                  </a:tblGrid>
                  <a:tr h="313958">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4">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b="1" i="1" smtClean="0">
                                        <a:solidFill>
                                          <a:schemeClr val="bg1"/>
                                        </a:solidFill>
                                        <a:latin typeface="Cambria Math" panose="02040503050406030204" pitchFamily="18" charset="0"/>
                                      </a:rPr>
                                    </m:ctrlPr>
                                  </m:sSupPr>
                                  <m:e>
                                    <m:acc>
                                      <m:accPr>
                                        <m:chr m:val="⃗"/>
                                        <m:ctrlPr>
                                          <a:rPr lang="en-US" altLang="zh-CN" sz="2000" b="1" i="1" smtClean="0">
                                            <a:solidFill>
                                              <a:schemeClr val="bg1"/>
                                            </a:solidFill>
                                            <a:latin typeface="Cambria Math" panose="02040503050406030204" pitchFamily="18" charset="0"/>
                                          </a:rPr>
                                        </m:ctrlPr>
                                      </m:accPr>
                                      <m:e>
                                        <m:r>
                                          <a:rPr lang="en-US" altLang="zh-CN" sz="2000" b="1" i="1" smtClean="0">
                                            <a:solidFill>
                                              <a:schemeClr val="bg1"/>
                                            </a:solidFill>
                                            <a:latin typeface="Cambria Math" panose="02040503050406030204" pitchFamily="18" charset="0"/>
                                          </a:rPr>
                                          <m:t>𝒄</m:t>
                                        </m:r>
                                      </m:e>
                                    </m:acc>
                                  </m:e>
                                  <m:sup>
                                    <m:r>
                                      <a:rPr lang="en-US" altLang="zh-CN" sz="2000" b="1" i="1" smtClean="0">
                                        <a:solidFill>
                                          <a:schemeClr val="bg1"/>
                                        </a:solidFill>
                                        <a:latin typeface="Cambria Math" panose="02040503050406030204" pitchFamily="18" charset="0"/>
                                      </a:rPr>
                                      <m:t>𝑻</m:t>
                                    </m:r>
                                  </m:sup>
                                </m:sSup>
                              </m:oMath>
                            </m:oMathPara>
                          </a14:m>
                          <a:endParaRPr lang="zh-CN" altLang="en-US" sz="2000" b="1" dirty="0"/>
                        </a:p>
                      </a:txBody>
                      <a:tcPr anchor="ct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𝒙</m:t>
                                        </m:r>
                                      </m:e>
                                    </m:acc>
                                  </m:e>
                                  <m:sub>
                                    <m:r>
                                      <a:rPr lang="en-US" altLang="zh-CN" sz="2000" b="1" i="1" smtClean="0">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solidFill>
                                          <a:schemeClr val="tx1"/>
                                        </a:solidFill>
                                        <a:latin typeface="Cambria Math" panose="02040503050406030204" pitchFamily="18" charset="0"/>
                                      </a:rPr>
                                    </m:ctrlPr>
                                  </m:sSubPr>
                                  <m:e>
                                    <m:acc>
                                      <m:accPr>
                                        <m:chr m:val="⃗"/>
                                        <m:ctrlPr>
                                          <a:rPr lang="en-US" altLang="zh-CN" sz="2000" b="1" i="1" smtClean="0">
                                            <a:solidFill>
                                              <a:schemeClr val="tx1"/>
                                            </a:solidFill>
                                            <a:latin typeface="Cambria Math" panose="02040503050406030204" pitchFamily="18" charset="0"/>
                                          </a:rPr>
                                        </m:ctrlPr>
                                      </m:accPr>
                                      <m:e>
                                        <m:r>
                                          <a:rPr lang="en-US" altLang="zh-CN" sz="2000" b="1" i="1" smtClean="0">
                                            <a:solidFill>
                                              <a:schemeClr val="tx1"/>
                                            </a:solidFill>
                                            <a:latin typeface="Cambria Math" panose="02040503050406030204" pitchFamily="18" charset="0"/>
                                          </a:rPr>
                                          <m:t>𝒄</m:t>
                                        </m:r>
                                      </m:e>
                                    </m:acc>
                                  </m:e>
                                  <m:sub>
                                    <m:r>
                                      <a:rPr lang="en-US" altLang="zh-CN" sz="2000" b="1" i="1" smtClean="0">
                                        <a:solidFill>
                                          <a:schemeClr val="tx1"/>
                                        </a:solidFill>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CN" sz="2400" b="1" i="1" smtClean="0">
                                        <a:solidFill>
                                          <a:sysClr val="windowText" lastClr="000000"/>
                                        </a:solidFill>
                                        <a:latin typeface="Cambria Math" panose="02040503050406030204" pitchFamily="18" charset="0"/>
                                      </a:rPr>
                                    </m:ctrlPr>
                                  </m:sSupPr>
                                  <m:e>
                                    <m:r>
                                      <a:rPr lang="en-US" altLang="zh-CN" sz="2400" b="1" i="1" smtClean="0">
                                        <a:solidFill>
                                          <a:sysClr val="windowText" lastClr="000000"/>
                                        </a:solidFill>
                                        <a:latin typeface="Cambria Math" panose="02040503050406030204" pitchFamily="18" charset="0"/>
                                      </a:rPr>
                                      <m:t>𝑩</m:t>
                                    </m:r>
                                  </m:e>
                                  <m:sup>
                                    <m:r>
                                      <a:rPr lang="en-US" altLang="zh-CN" sz="2400" b="1" i="1" smtClean="0">
                                        <a:solidFill>
                                          <a:sysClr val="windowText" lastClr="000000"/>
                                        </a:solidFill>
                                        <a:latin typeface="Cambria Math" panose="02040503050406030204" pitchFamily="18" charset="0"/>
                                      </a:rPr>
                                      <m:t>−</m:t>
                                    </m:r>
                                    <m:r>
                                      <a:rPr lang="en-US" altLang="zh-CN" sz="2400" b="1" i="1" smtClean="0">
                                        <a:solidFill>
                                          <a:sysClr val="windowText" lastClr="000000"/>
                                        </a:solidFill>
                                        <a:latin typeface="Cambria Math" panose="02040503050406030204" pitchFamily="18" charset="0"/>
                                      </a:rPr>
                                      <m:t>𝟏</m:t>
                                    </m:r>
                                  </m:sup>
                                </m:sSup>
                                <m:acc>
                                  <m:accPr>
                                    <m:chr m:val="⃗"/>
                                    <m:ctrlPr>
                                      <a:rPr lang="en-US" altLang="zh-CN" sz="2400" b="1" i="1">
                                        <a:solidFill>
                                          <a:sysClr val="windowText" lastClr="000000"/>
                                        </a:solidFill>
                                        <a:latin typeface="Cambria Math" panose="02040503050406030204" pitchFamily="18" charset="0"/>
                                      </a:rPr>
                                    </m:ctrlPr>
                                  </m:accPr>
                                  <m:e>
                                    <m:r>
                                      <a:rPr lang="en-US" altLang="zh-CN" sz="2400" b="1" i="1" smtClean="0">
                                        <a:solidFill>
                                          <a:sysClr val="windowText" lastClr="000000"/>
                                        </a:solidFill>
                                        <a:latin typeface="Cambria Math" panose="02040503050406030204" pitchFamily="18" charset="0"/>
                                      </a:rPr>
                                      <m:t>𝒃</m:t>
                                    </m:r>
                                  </m:e>
                                </m:acc>
                              </m:oMath>
                            </m:oMathPara>
                          </a14:m>
                          <a:endParaRPr lang="zh-CN" altLang="en-US" sz="2000" b="1" dirty="0"/>
                        </a:p>
                      </a:txBody>
                      <a:tcPr anchor="ct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000" b="0" i="1" smtClean="0">
                                    <a:solidFill>
                                      <a:sysClr val="windowText" lastClr="000000"/>
                                    </a:solidFill>
                                    <a:latin typeface="Cambria Math" panose="02040503050406030204" pitchFamily="18" charset="0"/>
                                  </a:rPr>
                                  <m:t>𝜃</m:t>
                                </m:r>
                              </m:oMath>
                            </m:oMathPara>
                          </a14:m>
                          <a:endParaRPr lang="zh-CN" altLang="en-US" sz="2000" dirty="0">
                            <a:solidFill>
                              <a:sysClr val="windowText" lastClr="000000"/>
                            </a:solidFill>
                          </a:endParaRPr>
                        </a:p>
                      </a:txBody>
                      <a:tcPr anchor="ctr"/>
                    </a:tc>
                    <a:extLst>
                      <a:ext uri="{0D108BD9-81ED-4DB2-BD59-A6C34878D82A}">
                        <a16:rowId xmlns:a16="http://schemas.microsoft.com/office/drawing/2014/main" val="2237396716"/>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𝟏</m:t>
                                    </m:r>
                                  </m:sub>
                                </m:sSub>
                              </m:oMath>
                            </m:oMathPara>
                          </a14:m>
                          <a:endParaRPr lang="zh-CN" altLang="en-US" sz="2000" b="1" dirty="0"/>
                        </a:p>
                      </a:txBody>
                      <a:tcPr anchor="ct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6</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800" b="0" dirty="0">
                              <a:solidFill>
                                <a:schemeClr val="tx1"/>
                              </a:solidFill>
                            </a:rPr>
                            <a:t>1</a:t>
                          </a:r>
                          <a:endParaRPr lang="zh-CN" altLang="en-US" sz="1800" b="0"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1/2</a:t>
                          </a:r>
                          <a:endParaRPr lang="zh-CN" altLang="en-US" sz="1800" b="0"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1/2</a:t>
                          </a:r>
                          <a:endParaRPr lang="zh-CN" altLang="en-US" sz="1800" b="0"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0</a:t>
                          </a:r>
                          <a:endParaRPr lang="zh-CN" altLang="en-US" sz="1800" b="0"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𝟒</m:t>
                                    </m:r>
                                  </m:sub>
                                </m:sSub>
                              </m:oMath>
                            </m:oMathPara>
                          </a14:m>
                          <a:endParaRPr lang="zh-CN" altLang="en-US" sz="2000" b="1" dirty="0"/>
                        </a:p>
                      </a:txBody>
                      <a:tcPr anchor="ctr"/>
                    </a:tc>
                    <a:tc>
                      <a:txBody>
                        <a:bodyPr/>
                        <a:lstStyle/>
                        <a:p>
                          <a:pPr algn="ctr"/>
                          <a:r>
                            <a:rPr lang="en-US" altLang="zh-CN" sz="2000" b="1" dirty="0"/>
                            <a:t>0</a:t>
                          </a:r>
                          <a:endParaRPr lang="zh-CN" altLang="en-US" sz="2000" b="1" dirty="0"/>
                        </a:p>
                      </a:txBody>
                      <a:tcPr anchor="ctr"/>
                    </a:tc>
                    <a:tc>
                      <a:txBody>
                        <a:bodyPr/>
                        <a:lstStyle/>
                        <a:p>
                          <a:pPr algn="ctr"/>
                          <a:r>
                            <a:rPr lang="en-US" altLang="zh-CN" sz="2000" b="1" dirty="0"/>
                            <a:t>3</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800" b="0" dirty="0">
                              <a:solidFill>
                                <a:schemeClr val="tx1"/>
                              </a:solidFill>
                            </a:rPr>
                            <a:t>0</a:t>
                          </a:r>
                          <a:endParaRPr lang="zh-CN" altLang="en-US" sz="1800" b="0"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3/2</a:t>
                          </a:r>
                          <a:endParaRPr lang="zh-CN" altLang="en-US" sz="1800" b="0"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-1/2</a:t>
                          </a:r>
                          <a:endParaRPr lang="zh-CN" altLang="en-US" sz="1800" b="0"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a:t>
                          </a:r>
                          <a:endParaRPr lang="zh-CN" altLang="en-US" sz="1800" b="0"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2</a:t>
                          </a: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2709">
                    <a:tc gridSpan="3">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i="1" smtClean="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𝜎</m:t>
                                        </m:r>
                                      </m:e>
                                    </m:acc>
                                  </m:e>
                                  <m:sup>
                                    <m:r>
                                      <a:rPr lang="en-US" altLang="zh-CN" sz="2000" i="1">
                                        <a:latin typeface="Cambria Math" panose="02040503050406030204" pitchFamily="18" charset="0"/>
                                      </a:rPr>
                                      <m:t>𝑇</m:t>
                                    </m:r>
                                  </m:sup>
                                </m:sSup>
                              </m:oMath>
                            </m:oMathPara>
                          </a14:m>
                          <a:endParaRPr lang="zh-CN" altLang="en-US" sz="2000" b="1" dirty="0"/>
                        </a:p>
                      </a:txBody>
                      <a:tcPr anchor="ct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1/2</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-1/2</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Choice>
        <mc:Fallback xmlns="">
          <p:graphicFrame>
            <p:nvGraphicFramePr>
              <p:cNvPr id="4" name="表格 3">
                <a:extLst>
                  <a:ext uri="{FF2B5EF4-FFF2-40B4-BE49-F238E27FC236}">
                    <a16:creationId xmlns:a16="http://schemas.microsoft.com/office/drawing/2014/main" id="{4988CAC1-35FA-4168-8C59-248801AAEF43}"/>
                  </a:ext>
                </a:extLst>
              </p:cNvPr>
              <p:cNvGraphicFramePr>
                <a:graphicFrameLocks noGrp="1"/>
              </p:cNvGraphicFramePr>
              <p:nvPr>
                <p:extLst>
                  <p:ext uri="{D42A27DB-BD31-4B8C-83A1-F6EECF244321}">
                    <p14:modId xmlns:p14="http://schemas.microsoft.com/office/powerpoint/2010/main" val="1493912431"/>
                  </p:ext>
                </p:extLst>
              </p:nvPr>
            </p:nvGraphicFramePr>
            <p:xfrm>
              <a:off x="1524000" y="472923"/>
              <a:ext cx="6096000" cy="2210498"/>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775034011"/>
                        </a:ext>
                      </a:extLst>
                    </a:gridCol>
                    <a:gridCol w="762000">
                      <a:extLst>
                        <a:ext uri="{9D8B030D-6E8A-4147-A177-3AD203B41FA5}">
                          <a16:colId xmlns:a16="http://schemas.microsoft.com/office/drawing/2014/main" val="1586977620"/>
                        </a:ext>
                      </a:extLst>
                    </a:gridCol>
                    <a:gridCol w="762000">
                      <a:extLst>
                        <a:ext uri="{9D8B030D-6E8A-4147-A177-3AD203B41FA5}">
                          <a16:colId xmlns:a16="http://schemas.microsoft.com/office/drawing/2014/main" val="2459346512"/>
                        </a:ext>
                      </a:extLst>
                    </a:gridCol>
                    <a:gridCol w="762000">
                      <a:extLst>
                        <a:ext uri="{9D8B030D-6E8A-4147-A177-3AD203B41FA5}">
                          <a16:colId xmlns:a16="http://schemas.microsoft.com/office/drawing/2014/main" val="1426368105"/>
                        </a:ext>
                      </a:extLst>
                    </a:gridCol>
                    <a:gridCol w="762000">
                      <a:extLst>
                        <a:ext uri="{9D8B030D-6E8A-4147-A177-3AD203B41FA5}">
                          <a16:colId xmlns:a16="http://schemas.microsoft.com/office/drawing/2014/main" val="1783729747"/>
                        </a:ext>
                      </a:extLst>
                    </a:gridCol>
                    <a:gridCol w="762000">
                      <a:extLst>
                        <a:ext uri="{9D8B030D-6E8A-4147-A177-3AD203B41FA5}">
                          <a16:colId xmlns:a16="http://schemas.microsoft.com/office/drawing/2014/main" val="3541072806"/>
                        </a:ext>
                      </a:extLst>
                    </a:gridCol>
                    <a:gridCol w="762000">
                      <a:extLst>
                        <a:ext uri="{9D8B030D-6E8A-4147-A177-3AD203B41FA5}">
                          <a16:colId xmlns:a16="http://schemas.microsoft.com/office/drawing/2014/main" val="1037422741"/>
                        </a:ext>
                      </a:extLst>
                    </a:gridCol>
                    <a:gridCol w="762000">
                      <a:extLst>
                        <a:ext uri="{9D8B030D-6E8A-4147-A177-3AD203B41FA5}">
                          <a16:colId xmlns:a16="http://schemas.microsoft.com/office/drawing/2014/main" val="3359340276"/>
                        </a:ext>
                      </a:extLst>
                    </a:gridCol>
                  </a:tblGrid>
                  <a:tr h="401701">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4">
                      <a:txBody>
                        <a:bodyPr/>
                        <a:lstStyle/>
                        <a:p>
                          <a:endParaRPr lang="zh-CN"/>
                        </a:p>
                      </a:txBody>
                      <a:tcPr anchor="ctr">
                        <a:blipFill>
                          <a:blip r:embed="rId2"/>
                          <a:stretch>
                            <a:fillRect l="-75400" t="-1515" r="-26000" b="-477273"/>
                          </a:stretch>
                        </a:blipFill>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511493">
                    <a:tc>
                      <a:txBody>
                        <a:bodyPr/>
                        <a:lstStyle/>
                        <a:p>
                          <a:endParaRPr lang="zh-CN"/>
                        </a:p>
                      </a:txBody>
                      <a:tcPr anchor="ctr">
                        <a:blipFill>
                          <a:blip r:embed="rId2"/>
                          <a:stretch>
                            <a:fillRect l="-1600" t="-79762" r="-704000" b="-275000"/>
                          </a:stretch>
                        </a:blipFill>
                      </a:tcPr>
                    </a:tc>
                    <a:tc>
                      <a:txBody>
                        <a:bodyPr/>
                        <a:lstStyle/>
                        <a:p>
                          <a:endParaRPr lang="zh-CN"/>
                        </a:p>
                      </a:txBody>
                      <a:tcPr anchor="ctr">
                        <a:blipFill>
                          <a:blip r:embed="rId2"/>
                          <a:stretch>
                            <a:fillRect l="-101600" t="-79762" r="-604000" b="-275000"/>
                          </a:stretch>
                        </a:blipFill>
                      </a:tcPr>
                    </a:tc>
                    <a:tc>
                      <a:txBody>
                        <a:bodyPr/>
                        <a:lstStyle/>
                        <a:p>
                          <a:endParaRPr lang="zh-CN"/>
                        </a:p>
                      </a:txBody>
                      <a:tcPr anchor="ctr">
                        <a:blipFill>
                          <a:blip r:embed="rId2"/>
                          <a:stretch>
                            <a:fillRect l="-201600" t="-79762" r="-504000" b="-275000"/>
                          </a:stretch>
                        </a:blipFill>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endParaRPr lang="zh-CN"/>
                        </a:p>
                      </a:txBody>
                      <a:tcPr anchor="ctr">
                        <a:blipFill>
                          <a:blip r:embed="rId2"/>
                          <a:stretch>
                            <a:fillRect l="-701600" t="-79762" r="-4000" b="-275000"/>
                          </a:stretch>
                        </a:blipFill>
                      </a:tcPr>
                    </a:tc>
                    <a:extLst>
                      <a:ext uri="{0D108BD9-81ED-4DB2-BD59-A6C34878D82A}">
                        <a16:rowId xmlns:a16="http://schemas.microsoft.com/office/drawing/2014/main" val="2237396716"/>
                      </a:ext>
                    </a:extLst>
                  </a:tr>
                  <a:tr h="450532">
                    <a:tc>
                      <a:txBody>
                        <a:bodyPr/>
                        <a:lstStyle/>
                        <a:p>
                          <a:endParaRPr lang="zh-CN"/>
                        </a:p>
                      </a:txBody>
                      <a:tcPr anchor="ctr">
                        <a:blipFill>
                          <a:blip r:embed="rId2"/>
                          <a:stretch>
                            <a:fillRect l="-1600" t="-201333" r="-704000" b="-208000"/>
                          </a:stretch>
                        </a:blipFill>
                      </a:tcP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6</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800" b="0" dirty="0">
                              <a:solidFill>
                                <a:schemeClr val="tx1"/>
                              </a:solidFill>
                            </a:rPr>
                            <a:t>1</a:t>
                          </a:r>
                          <a:endParaRPr lang="zh-CN" altLang="en-US" sz="1800" b="0"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1/2</a:t>
                          </a:r>
                          <a:endParaRPr lang="zh-CN" altLang="en-US" sz="1800" b="0"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1/2</a:t>
                          </a:r>
                          <a:endParaRPr lang="zh-CN" altLang="en-US" sz="1800" b="0"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0</a:t>
                          </a:r>
                          <a:endParaRPr lang="zh-CN" altLang="en-US" sz="1800" b="0"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450532">
                    <a:tc>
                      <a:txBody>
                        <a:bodyPr/>
                        <a:lstStyle/>
                        <a:p>
                          <a:endParaRPr lang="zh-CN"/>
                        </a:p>
                      </a:txBody>
                      <a:tcPr anchor="ctr">
                        <a:blipFill>
                          <a:blip r:embed="rId2"/>
                          <a:stretch>
                            <a:fillRect l="-1600" t="-305405" r="-704000" b="-110811"/>
                          </a:stretch>
                        </a:blipFill>
                      </a:tcPr>
                    </a:tc>
                    <a:tc>
                      <a:txBody>
                        <a:bodyPr/>
                        <a:lstStyle/>
                        <a:p>
                          <a:pPr algn="ctr"/>
                          <a:r>
                            <a:rPr lang="en-US" altLang="zh-CN" sz="2000" b="1" dirty="0"/>
                            <a:t>0</a:t>
                          </a:r>
                          <a:endParaRPr lang="zh-CN" altLang="en-US" sz="2000" b="1" dirty="0"/>
                        </a:p>
                      </a:txBody>
                      <a:tcPr anchor="ctr"/>
                    </a:tc>
                    <a:tc>
                      <a:txBody>
                        <a:bodyPr/>
                        <a:lstStyle/>
                        <a:p>
                          <a:pPr algn="ctr"/>
                          <a:r>
                            <a:rPr lang="en-US" altLang="zh-CN" sz="2000" b="1" dirty="0"/>
                            <a:t>3</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800" b="0" dirty="0">
                              <a:solidFill>
                                <a:schemeClr val="tx1"/>
                              </a:solidFill>
                            </a:rPr>
                            <a:t>0</a:t>
                          </a:r>
                          <a:endParaRPr lang="zh-CN" altLang="en-US" sz="1800" b="0"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3/2</a:t>
                          </a:r>
                          <a:endParaRPr lang="zh-CN" altLang="en-US" sz="1800" b="0"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-1/2</a:t>
                          </a:r>
                          <a:endParaRPr lang="zh-CN" altLang="en-US" sz="1800" b="0"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a:t>
                          </a:r>
                          <a:endParaRPr lang="zh-CN" altLang="en-US" sz="1800" b="0"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2</a:t>
                          </a: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6240">
                    <a:tc gridSpan="3">
                      <a:txBody>
                        <a:bodyPr/>
                        <a:lstStyle/>
                        <a:p>
                          <a:endParaRPr lang="zh-CN"/>
                        </a:p>
                      </a:txBody>
                      <a:tcPr anchor="ctr">
                        <a:blipFill>
                          <a:blip r:embed="rId2"/>
                          <a:stretch>
                            <a:fillRect l="-533" t="-461538" r="-168000" b="-26154"/>
                          </a:stretch>
                        </a:blipFill>
                      </a:tcP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1/2</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-1/2</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5356FA93-1D53-4F08-AB4E-DD6DA02806CF}"/>
                  </a:ext>
                </a:extLst>
              </p:cNvPr>
              <p:cNvGraphicFramePr>
                <a:graphicFrameLocks noGrp="1"/>
              </p:cNvGraphicFramePr>
              <p:nvPr>
                <p:extLst>
                  <p:ext uri="{D42A27DB-BD31-4B8C-83A1-F6EECF244321}">
                    <p14:modId xmlns:p14="http://schemas.microsoft.com/office/powerpoint/2010/main" val="331608501"/>
                  </p:ext>
                </p:extLst>
              </p:nvPr>
            </p:nvGraphicFramePr>
            <p:xfrm>
              <a:off x="1524000" y="3771708"/>
              <a:ext cx="6096000" cy="2210498"/>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775034011"/>
                        </a:ext>
                      </a:extLst>
                    </a:gridCol>
                    <a:gridCol w="762000">
                      <a:extLst>
                        <a:ext uri="{9D8B030D-6E8A-4147-A177-3AD203B41FA5}">
                          <a16:colId xmlns:a16="http://schemas.microsoft.com/office/drawing/2014/main" val="1586977620"/>
                        </a:ext>
                      </a:extLst>
                    </a:gridCol>
                    <a:gridCol w="762000">
                      <a:extLst>
                        <a:ext uri="{9D8B030D-6E8A-4147-A177-3AD203B41FA5}">
                          <a16:colId xmlns:a16="http://schemas.microsoft.com/office/drawing/2014/main" val="2459346512"/>
                        </a:ext>
                      </a:extLst>
                    </a:gridCol>
                    <a:gridCol w="762000">
                      <a:extLst>
                        <a:ext uri="{9D8B030D-6E8A-4147-A177-3AD203B41FA5}">
                          <a16:colId xmlns:a16="http://schemas.microsoft.com/office/drawing/2014/main" val="1426368105"/>
                        </a:ext>
                      </a:extLst>
                    </a:gridCol>
                    <a:gridCol w="762000">
                      <a:extLst>
                        <a:ext uri="{9D8B030D-6E8A-4147-A177-3AD203B41FA5}">
                          <a16:colId xmlns:a16="http://schemas.microsoft.com/office/drawing/2014/main" val="1783729747"/>
                        </a:ext>
                      </a:extLst>
                    </a:gridCol>
                    <a:gridCol w="762000">
                      <a:extLst>
                        <a:ext uri="{9D8B030D-6E8A-4147-A177-3AD203B41FA5}">
                          <a16:colId xmlns:a16="http://schemas.microsoft.com/office/drawing/2014/main" val="3541072806"/>
                        </a:ext>
                      </a:extLst>
                    </a:gridCol>
                    <a:gridCol w="762000">
                      <a:extLst>
                        <a:ext uri="{9D8B030D-6E8A-4147-A177-3AD203B41FA5}">
                          <a16:colId xmlns:a16="http://schemas.microsoft.com/office/drawing/2014/main" val="1037422741"/>
                        </a:ext>
                      </a:extLst>
                    </a:gridCol>
                    <a:gridCol w="762000">
                      <a:extLst>
                        <a:ext uri="{9D8B030D-6E8A-4147-A177-3AD203B41FA5}">
                          <a16:colId xmlns:a16="http://schemas.microsoft.com/office/drawing/2014/main" val="3359340276"/>
                        </a:ext>
                      </a:extLst>
                    </a:gridCol>
                  </a:tblGrid>
                  <a:tr h="313958">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4">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b="1" i="1" smtClean="0">
                                        <a:solidFill>
                                          <a:schemeClr val="bg1"/>
                                        </a:solidFill>
                                        <a:latin typeface="Cambria Math" panose="02040503050406030204" pitchFamily="18" charset="0"/>
                                      </a:rPr>
                                    </m:ctrlPr>
                                  </m:sSupPr>
                                  <m:e>
                                    <m:acc>
                                      <m:accPr>
                                        <m:chr m:val="⃗"/>
                                        <m:ctrlPr>
                                          <a:rPr lang="en-US" altLang="zh-CN" sz="2000" b="1" i="1" smtClean="0">
                                            <a:solidFill>
                                              <a:schemeClr val="bg1"/>
                                            </a:solidFill>
                                            <a:latin typeface="Cambria Math" panose="02040503050406030204" pitchFamily="18" charset="0"/>
                                          </a:rPr>
                                        </m:ctrlPr>
                                      </m:accPr>
                                      <m:e>
                                        <m:r>
                                          <a:rPr lang="en-US" altLang="zh-CN" sz="2000" b="1" i="1" smtClean="0">
                                            <a:solidFill>
                                              <a:schemeClr val="bg1"/>
                                            </a:solidFill>
                                            <a:latin typeface="Cambria Math" panose="02040503050406030204" pitchFamily="18" charset="0"/>
                                          </a:rPr>
                                          <m:t>𝒄</m:t>
                                        </m:r>
                                      </m:e>
                                    </m:acc>
                                  </m:e>
                                  <m:sup>
                                    <m:r>
                                      <a:rPr lang="en-US" altLang="zh-CN" sz="2000" b="1" i="1" smtClean="0">
                                        <a:solidFill>
                                          <a:schemeClr val="bg1"/>
                                        </a:solidFill>
                                        <a:latin typeface="Cambria Math" panose="02040503050406030204" pitchFamily="18" charset="0"/>
                                      </a:rPr>
                                      <m:t>𝑻</m:t>
                                    </m:r>
                                  </m:sup>
                                </m:sSup>
                              </m:oMath>
                            </m:oMathPara>
                          </a14:m>
                          <a:endParaRPr lang="zh-CN" altLang="en-US" sz="2000" b="1" dirty="0"/>
                        </a:p>
                      </a:txBody>
                      <a:tcPr anchor="ct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𝒙</m:t>
                                        </m:r>
                                      </m:e>
                                    </m:acc>
                                  </m:e>
                                  <m:sub>
                                    <m:r>
                                      <a:rPr lang="en-US" altLang="zh-CN" sz="2000" b="1" i="1" smtClean="0">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solidFill>
                                          <a:schemeClr val="tx1"/>
                                        </a:solidFill>
                                        <a:latin typeface="Cambria Math" panose="02040503050406030204" pitchFamily="18" charset="0"/>
                                      </a:rPr>
                                    </m:ctrlPr>
                                  </m:sSubPr>
                                  <m:e>
                                    <m:acc>
                                      <m:accPr>
                                        <m:chr m:val="⃗"/>
                                        <m:ctrlPr>
                                          <a:rPr lang="en-US" altLang="zh-CN" sz="2000" b="1" i="1" smtClean="0">
                                            <a:solidFill>
                                              <a:schemeClr val="tx1"/>
                                            </a:solidFill>
                                            <a:latin typeface="Cambria Math" panose="02040503050406030204" pitchFamily="18" charset="0"/>
                                          </a:rPr>
                                        </m:ctrlPr>
                                      </m:accPr>
                                      <m:e>
                                        <m:r>
                                          <a:rPr lang="en-US" altLang="zh-CN" sz="2000" b="1" i="1" smtClean="0">
                                            <a:solidFill>
                                              <a:schemeClr val="tx1"/>
                                            </a:solidFill>
                                            <a:latin typeface="Cambria Math" panose="02040503050406030204" pitchFamily="18" charset="0"/>
                                          </a:rPr>
                                          <m:t>𝒄</m:t>
                                        </m:r>
                                      </m:e>
                                    </m:acc>
                                  </m:e>
                                  <m:sub>
                                    <m:r>
                                      <a:rPr lang="en-US" altLang="zh-CN" sz="2000" b="1" i="1" smtClean="0">
                                        <a:solidFill>
                                          <a:schemeClr val="tx1"/>
                                        </a:solidFill>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CN" sz="2400" b="1" i="1" smtClean="0">
                                        <a:solidFill>
                                          <a:sysClr val="windowText" lastClr="000000"/>
                                        </a:solidFill>
                                        <a:latin typeface="Cambria Math" panose="02040503050406030204" pitchFamily="18" charset="0"/>
                                      </a:rPr>
                                    </m:ctrlPr>
                                  </m:sSupPr>
                                  <m:e>
                                    <m:r>
                                      <a:rPr lang="en-US" altLang="zh-CN" sz="2400" b="1" i="1" smtClean="0">
                                        <a:solidFill>
                                          <a:sysClr val="windowText" lastClr="000000"/>
                                        </a:solidFill>
                                        <a:latin typeface="Cambria Math" panose="02040503050406030204" pitchFamily="18" charset="0"/>
                                      </a:rPr>
                                      <m:t>𝑩</m:t>
                                    </m:r>
                                  </m:e>
                                  <m:sup>
                                    <m:r>
                                      <a:rPr lang="en-US" altLang="zh-CN" sz="2400" b="1" i="1" smtClean="0">
                                        <a:solidFill>
                                          <a:sysClr val="windowText" lastClr="000000"/>
                                        </a:solidFill>
                                        <a:latin typeface="Cambria Math" panose="02040503050406030204" pitchFamily="18" charset="0"/>
                                      </a:rPr>
                                      <m:t>−</m:t>
                                    </m:r>
                                    <m:r>
                                      <a:rPr lang="en-US" altLang="zh-CN" sz="2400" b="1" i="1" smtClean="0">
                                        <a:solidFill>
                                          <a:sysClr val="windowText" lastClr="000000"/>
                                        </a:solidFill>
                                        <a:latin typeface="Cambria Math" panose="02040503050406030204" pitchFamily="18" charset="0"/>
                                      </a:rPr>
                                      <m:t>𝟏</m:t>
                                    </m:r>
                                  </m:sup>
                                </m:sSup>
                                <m:acc>
                                  <m:accPr>
                                    <m:chr m:val="⃗"/>
                                    <m:ctrlPr>
                                      <a:rPr lang="en-US" altLang="zh-CN" sz="2400" b="1" i="1">
                                        <a:solidFill>
                                          <a:sysClr val="windowText" lastClr="000000"/>
                                        </a:solidFill>
                                        <a:latin typeface="Cambria Math" panose="02040503050406030204" pitchFamily="18" charset="0"/>
                                      </a:rPr>
                                    </m:ctrlPr>
                                  </m:accPr>
                                  <m:e>
                                    <m:r>
                                      <a:rPr lang="en-US" altLang="zh-CN" sz="2400" b="1" i="1" smtClean="0">
                                        <a:solidFill>
                                          <a:sysClr val="windowText" lastClr="000000"/>
                                        </a:solidFill>
                                        <a:latin typeface="Cambria Math" panose="02040503050406030204" pitchFamily="18" charset="0"/>
                                      </a:rPr>
                                      <m:t>𝒃</m:t>
                                    </m:r>
                                  </m:e>
                                </m:acc>
                              </m:oMath>
                            </m:oMathPara>
                          </a14:m>
                          <a:endParaRPr lang="zh-CN" altLang="en-US" sz="2000" b="1" dirty="0"/>
                        </a:p>
                      </a:txBody>
                      <a:tcPr anchor="ct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000" b="0" i="1" smtClean="0">
                                    <a:solidFill>
                                      <a:sysClr val="windowText" lastClr="000000"/>
                                    </a:solidFill>
                                    <a:latin typeface="Cambria Math" panose="02040503050406030204" pitchFamily="18" charset="0"/>
                                  </a:rPr>
                                  <m:t>𝜃</m:t>
                                </m:r>
                              </m:oMath>
                            </m:oMathPara>
                          </a14:m>
                          <a:endParaRPr lang="zh-CN" altLang="en-US" sz="2000" dirty="0">
                            <a:solidFill>
                              <a:sysClr val="windowText" lastClr="000000"/>
                            </a:solidFill>
                          </a:endParaRPr>
                        </a:p>
                      </a:txBody>
                      <a:tcPr anchor="ctr"/>
                    </a:tc>
                    <a:extLst>
                      <a:ext uri="{0D108BD9-81ED-4DB2-BD59-A6C34878D82A}">
                        <a16:rowId xmlns:a16="http://schemas.microsoft.com/office/drawing/2014/main" val="2237396716"/>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𝟏</m:t>
                                    </m:r>
                                  </m:sub>
                                </m:sSub>
                              </m:oMath>
                            </m:oMathPara>
                          </a14:m>
                          <a:endParaRPr lang="zh-CN" altLang="en-US" sz="2000" b="1" dirty="0"/>
                        </a:p>
                      </a:txBody>
                      <a:tcPr anchor="ct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5</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800" b="0" dirty="0">
                              <a:solidFill>
                                <a:schemeClr val="tx1"/>
                              </a:solidFill>
                            </a:rPr>
                            <a:t>1</a:t>
                          </a:r>
                          <a:endParaRPr lang="zh-CN" altLang="en-US" sz="1800" b="0"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0</a:t>
                          </a:r>
                          <a:endParaRPr lang="zh-CN" altLang="en-US" sz="1800" b="0"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2/3</a:t>
                          </a:r>
                          <a:endParaRPr lang="zh-CN" altLang="en-US" sz="1800" b="0"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-1/3</a:t>
                          </a:r>
                          <a:endParaRPr lang="zh-CN" altLang="en-US" sz="1800" b="0"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𝟐</m:t>
                                    </m:r>
                                  </m:sub>
                                </m:sSub>
                              </m:oMath>
                            </m:oMathPara>
                          </a14:m>
                          <a:endParaRPr lang="zh-CN" altLang="en-US" sz="2000" b="1" dirty="0"/>
                        </a:p>
                      </a:txBody>
                      <a:tcPr anchor="ct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2</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800" b="0" dirty="0">
                              <a:solidFill>
                                <a:schemeClr val="tx1"/>
                              </a:solidFill>
                            </a:rPr>
                            <a:t>0</a:t>
                          </a:r>
                          <a:endParaRPr lang="zh-CN" altLang="en-US" sz="1800" b="0"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a:t>
                          </a:r>
                          <a:endParaRPr lang="zh-CN" altLang="en-US" sz="1800" b="0"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-1/3</a:t>
                          </a:r>
                          <a:endParaRPr lang="zh-CN" altLang="en-US" sz="1800" b="0"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2/3</a:t>
                          </a:r>
                          <a:endParaRPr lang="zh-CN" altLang="en-US" sz="1800" b="0"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2709">
                    <a:tc gridSpan="3">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i="1" smtClean="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𝜎</m:t>
                                        </m:r>
                                      </m:e>
                                    </m:acc>
                                  </m:e>
                                  <m:sup>
                                    <m:r>
                                      <a:rPr lang="en-US" altLang="zh-CN" sz="2000" i="1">
                                        <a:latin typeface="Cambria Math" panose="02040503050406030204" pitchFamily="18" charset="0"/>
                                      </a:rPr>
                                      <m:t>𝑇</m:t>
                                    </m:r>
                                  </m:sup>
                                </m:sSup>
                              </m:oMath>
                            </m:oMathPara>
                          </a14:m>
                          <a:endParaRPr lang="zh-CN" altLang="en-US" sz="2000" b="1" dirty="0"/>
                        </a:p>
                      </a:txBody>
                      <a:tcPr anchor="ct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-1/3</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-1/3</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Choice>
        <mc:Fallback xmlns="">
          <p:graphicFrame>
            <p:nvGraphicFramePr>
              <p:cNvPr id="5" name="表格 4">
                <a:extLst>
                  <a:ext uri="{FF2B5EF4-FFF2-40B4-BE49-F238E27FC236}">
                    <a16:creationId xmlns:a16="http://schemas.microsoft.com/office/drawing/2014/main" id="{5356FA93-1D53-4F08-AB4E-DD6DA02806CF}"/>
                  </a:ext>
                </a:extLst>
              </p:cNvPr>
              <p:cNvGraphicFramePr>
                <a:graphicFrameLocks noGrp="1"/>
              </p:cNvGraphicFramePr>
              <p:nvPr>
                <p:extLst>
                  <p:ext uri="{D42A27DB-BD31-4B8C-83A1-F6EECF244321}">
                    <p14:modId xmlns:p14="http://schemas.microsoft.com/office/powerpoint/2010/main" val="331608501"/>
                  </p:ext>
                </p:extLst>
              </p:nvPr>
            </p:nvGraphicFramePr>
            <p:xfrm>
              <a:off x="1524000" y="3771708"/>
              <a:ext cx="6096000" cy="2210498"/>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775034011"/>
                        </a:ext>
                      </a:extLst>
                    </a:gridCol>
                    <a:gridCol w="762000">
                      <a:extLst>
                        <a:ext uri="{9D8B030D-6E8A-4147-A177-3AD203B41FA5}">
                          <a16:colId xmlns:a16="http://schemas.microsoft.com/office/drawing/2014/main" val="1586977620"/>
                        </a:ext>
                      </a:extLst>
                    </a:gridCol>
                    <a:gridCol w="762000">
                      <a:extLst>
                        <a:ext uri="{9D8B030D-6E8A-4147-A177-3AD203B41FA5}">
                          <a16:colId xmlns:a16="http://schemas.microsoft.com/office/drawing/2014/main" val="2459346512"/>
                        </a:ext>
                      </a:extLst>
                    </a:gridCol>
                    <a:gridCol w="762000">
                      <a:extLst>
                        <a:ext uri="{9D8B030D-6E8A-4147-A177-3AD203B41FA5}">
                          <a16:colId xmlns:a16="http://schemas.microsoft.com/office/drawing/2014/main" val="1426368105"/>
                        </a:ext>
                      </a:extLst>
                    </a:gridCol>
                    <a:gridCol w="762000">
                      <a:extLst>
                        <a:ext uri="{9D8B030D-6E8A-4147-A177-3AD203B41FA5}">
                          <a16:colId xmlns:a16="http://schemas.microsoft.com/office/drawing/2014/main" val="1783729747"/>
                        </a:ext>
                      </a:extLst>
                    </a:gridCol>
                    <a:gridCol w="762000">
                      <a:extLst>
                        <a:ext uri="{9D8B030D-6E8A-4147-A177-3AD203B41FA5}">
                          <a16:colId xmlns:a16="http://schemas.microsoft.com/office/drawing/2014/main" val="3541072806"/>
                        </a:ext>
                      </a:extLst>
                    </a:gridCol>
                    <a:gridCol w="762000">
                      <a:extLst>
                        <a:ext uri="{9D8B030D-6E8A-4147-A177-3AD203B41FA5}">
                          <a16:colId xmlns:a16="http://schemas.microsoft.com/office/drawing/2014/main" val="1037422741"/>
                        </a:ext>
                      </a:extLst>
                    </a:gridCol>
                    <a:gridCol w="762000">
                      <a:extLst>
                        <a:ext uri="{9D8B030D-6E8A-4147-A177-3AD203B41FA5}">
                          <a16:colId xmlns:a16="http://schemas.microsoft.com/office/drawing/2014/main" val="3359340276"/>
                        </a:ext>
                      </a:extLst>
                    </a:gridCol>
                  </a:tblGrid>
                  <a:tr h="401701">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4">
                      <a:txBody>
                        <a:bodyPr/>
                        <a:lstStyle/>
                        <a:p>
                          <a:endParaRPr lang="zh-CN"/>
                        </a:p>
                      </a:txBody>
                      <a:tcPr anchor="ctr">
                        <a:blipFill>
                          <a:blip r:embed="rId3"/>
                          <a:stretch>
                            <a:fillRect l="-75400" t="-1515" r="-26000" b="-477273"/>
                          </a:stretch>
                        </a:blipFill>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511493">
                    <a:tc>
                      <a:txBody>
                        <a:bodyPr/>
                        <a:lstStyle/>
                        <a:p>
                          <a:endParaRPr lang="zh-CN"/>
                        </a:p>
                      </a:txBody>
                      <a:tcPr anchor="ctr">
                        <a:blipFill>
                          <a:blip r:embed="rId3"/>
                          <a:stretch>
                            <a:fillRect l="-1600" t="-79762" r="-704000" b="-275000"/>
                          </a:stretch>
                        </a:blipFill>
                      </a:tcPr>
                    </a:tc>
                    <a:tc>
                      <a:txBody>
                        <a:bodyPr/>
                        <a:lstStyle/>
                        <a:p>
                          <a:endParaRPr lang="zh-CN"/>
                        </a:p>
                      </a:txBody>
                      <a:tcPr anchor="ctr">
                        <a:blipFill>
                          <a:blip r:embed="rId3"/>
                          <a:stretch>
                            <a:fillRect l="-101600" t="-79762" r="-604000" b="-275000"/>
                          </a:stretch>
                        </a:blipFill>
                      </a:tcPr>
                    </a:tc>
                    <a:tc>
                      <a:txBody>
                        <a:bodyPr/>
                        <a:lstStyle/>
                        <a:p>
                          <a:endParaRPr lang="zh-CN"/>
                        </a:p>
                      </a:txBody>
                      <a:tcPr anchor="ctr">
                        <a:blipFill>
                          <a:blip r:embed="rId3"/>
                          <a:stretch>
                            <a:fillRect l="-201600" t="-79762" r="-504000" b="-275000"/>
                          </a:stretch>
                        </a:blipFill>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endParaRPr lang="zh-CN"/>
                        </a:p>
                      </a:txBody>
                      <a:tcPr anchor="ctr">
                        <a:blipFill>
                          <a:blip r:embed="rId3"/>
                          <a:stretch>
                            <a:fillRect l="-701600" t="-79762" r="-4000" b="-275000"/>
                          </a:stretch>
                        </a:blipFill>
                      </a:tcPr>
                    </a:tc>
                    <a:extLst>
                      <a:ext uri="{0D108BD9-81ED-4DB2-BD59-A6C34878D82A}">
                        <a16:rowId xmlns:a16="http://schemas.microsoft.com/office/drawing/2014/main" val="2237396716"/>
                      </a:ext>
                    </a:extLst>
                  </a:tr>
                  <a:tr h="450532">
                    <a:tc>
                      <a:txBody>
                        <a:bodyPr/>
                        <a:lstStyle/>
                        <a:p>
                          <a:endParaRPr lang="zh-CN"/>
                        </a:p>
                      </a:txBody>
                      <a:tcPr anchor="ctr">
                        <a:blipFill>
                          <a:blip r:embed="rId3"/>
                          <a:stretch>
                            <a:fillRect l="-1600" t="-201333" r="-704000" b="-208000"/>
                          </a:stretch>
                        </a:blipFill>
                      </a:tcP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5</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800" b="0" dirty="0">
                              <a:solidFill>
                                <a:schemeClr val="tx1"/>
                              </a:solidFill>
                            </a:rPr>
                            <a:t>1</a:t>
                          </a:r>
                          <a:endParaRPr lang="zh-CN" altLang="en-US" sz="1800" b="0"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0</a:t>
                          </a:r>
                          <a:endParaRPr lang="zh-CN" altLang="en-US" sz="1800" b="0"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2/3</a:t>
                          </a:r>
                          <a:endParaRPr lang="zh-CN" altLang="en-US" sz="1800" b="0"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-1/3</a:t>
                          </a:r>
                          <a:endParaRPr lang="zh-CN" altLang="en-US" sz="1800" b="0"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450532">
                    <a:tc>
                      <a:txBody>
                        <a:bodyPr/>
                        <a:lstStyle/>
                        <a:p>
                          <a:endParaRPr lang="zh-CN"/>
                        </a:p>
                      </a:txBody>
                      <a:tcPr anchor="ctr">
                        <a:blipFill>
                          <a:blip r:embed="rId3"/>
                          <a:stretch>
                            <a:fillRect l="-1600" t="-305405" r="-704000" b="-110811"/>
                          </a:stretch>
                        </a:blipFill>
                      </a:tcP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2</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800" b="0" dirty="0">
                              <a:solidFill>
                                <a:schemeClr val="tx1"/>
                              </a:solidFill>
                            </a:rPr>
                            <a:t>0</a:t>
                          </a:r>
                          <a:endParaRPr lang="zh-CN" altLang="en-US" sz="1800" b="0"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a:t>
                          </a:r>
                          <a:endParaRPr lang="zh-CN" altLang="en-US" sz="1800" b="0"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-1/3</a:t>
                          </a:r>
                          <a:endParaRPr lang="zh-CN" altLang="en-US" sz="1800" b="0"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2/3</a:t>
                          </a:r>
                          <a:endParaRPr lang="zh-CN" altLang="en-US" sz="1800" b="0"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6240">
                    <a:tc gridSpan="3">
                      <a:txBody>
                        <a:bodyPr/>
                        <a:lstStyle/>
                        <a:p>
                          <a:endParaRPr lang="zh-CN"/>
                        </a:p>
                      </a:txBody>
                      <a:tcPr anchor="ctr">
                        <a:blipFill>
                          <a:blip r:embed="rId3"/>
                          <a:stretch>
                            <a:fillRect l="-533" t="-461538" r="-168000" b="-26154"/>
                          </a:stretch>
                        </a:blipFill>
                      </a:tcP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-1/3</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-1/3</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Fallback>
      </mc:AlternateContent>
      <p:sp>
        <p:nvSpPr>
          <p:cNvPr id="2" name="文本框 1">
            <a:extLst>
              <a:ext uri="{FF2B5EF4-FFF2-40B4-BE49-F238E27FC236}">
                <a16:creationId xmlns:a16="http://schemas.microsoft.com/office/drawing/2014/main" id="{185D8565-EE4C-4D4F-870A-16ADD8F77887}"/>
              </a:ext>
            </a:extLst>
          </p:cNvPr>
          <p:cNvSpPr txBox="1"/>
          <p:nvPr/>
        </p:nvSpPr>
        <p:spPr>
          <a:xfrm>
            <a:off x="4639733" y="2716960"/>
            <a:ext cx="646331" cy="369332"/>
          </a:xfrm>
          <a:prstGeom prst="rect">
            <a:avLst/>
          </a:prstGeom>
          <a:noFill/>
        </p:spPr>
        <p:txBody>
          <a:bodyPr wrap="none" rtlCol="0">
            <a:spAutoFit/>
          </a:bodyPr>
          <a:lstStyle/>
          <a:p>
            <a:r>
              <a:rPr lang="zh-CN" altLang="en-US" dirty="0"/>
              <a:t>换入</a:t>
            </a:r>
          </a:p>
        </p:txBody>
      </p:sp>
      <p:sp>
        <p:nvSpPr>
          <p:cNvPr id="6" name="文本框 5">
            <a:extLst>
              <a:ext uri="{FF2B5EF4-FFF2-40B4-BE49-F238E27FC236}">
                <a16:creationId xmlns:a16="http://schemas.microsoft.com/office/drawing/2014/main" id="{958BD0C7-1BB0-42A5-A04C-BED8DC6FD250}"/>
              </a:ext>
            </a:extLst>
          </p:cNvPr>
          <p:cNvSpPr txBox="1"/>
          <p:nvPr/>
        </p:nvSpPr>
        <p:spPr>
          <a:xfrm>
            <a:off x="877669" y="1896533"/>
            <a:ext cx="646331" cy="369332"/>
          </a:xfrm>
          <a:prstGeom prst="rect">
            <a:avLst/>
          </a:prstGeom>
          <a:noFill/>
        </p:spPr>
        <p:txBody>
          <a:bodyPr wrap="none" rtlCol="0">
            <a:spAutoFit/>
          </a:bodyPr>
          <a:lstStyle/>
          <a:p>
            <a:r>
              <a:rPr lang="zh-CN" altLang="en-US" dirty="0"/>
              <a:t>换出</a:t>
            </a:r>
          </a:p>
        </p:txBody>
      </p:sp>
    </p:spTree>
    <p:extLst>
      <p:ext uri="{BB962C8B-B14F-4D97-AF65-F5344CB8AC3E}">
        <p14:creationId xmlns:p14="http://schemas.microsoft.com/office/powerpoint/2010/main" val="3554927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hidden="1">
            <a:extLst>
              <a:ext uri="{FF2B5EF4-FFF2-40B4-BE49-F238E27FC236}">
                <a16:creationId xmlns:a16="http://schemas.microsoft.com/office/drawing/2014/main" id="{5BF013E8-52DC-487F-BC89-55BCA515B1F6}"/>
              </a:ext>
            </a:extLst>
          </p:cNvPr>
          <p:cNvSpPr>
            <a:spLocks noGrp="1"/>
          </p:cNvSpPr>
          <p:nvPr>
            <p:ph type="title"/>
          </p:nvPr>
        </p:nvSpPr>
        <p:spPr/>
        <p:txBody>
          <a:bodyPr/>
          <a:lstStyle/>
          <a:p>
            <a:pPr eaLnBrk="1" hangingPunct="1"/>
            <a:r>
              <a:rPr lang="zh-CN" altLang="en-US"/>
              <a:t>迭代</a:t>
            </a:r>
            <a:r>
              <a:rPr lang="en-US" altLang="zh-CN"/>
              <a:t>-</a:t>
            </a:r>
            <a:r>
              <a:rPr lang="zh-CN" altLang="en-US"/>
              <a:t>高斯消元法</a:t>
            </a:r>
          </a:p>
        </p:txBody>
      </p:sp>
      <p:pic>
        <p:nvPicPr>
          <p:cNvPr id="3" name="图片 2">
            <a:extLst>
              <a:ext uri="{FF2B5EF4-FFF2-40B4-BE49-F238E27FC236}">
                <a16:creationId xmlns:a16="http://schemas.microsoft.com/office/drawing/2014/main" id="{75CAECD0-33DC-4A68-ACA6-318FB744323F}"/>
              </a:ext>
            </a:extLst>
          </p:cNvPr>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214454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hidden="1">
            <a:extLst>
              <a:ext uri="{FF2B5EF4-FFF2-40B4-BE49-F238E27FC236}">
                <a16:creationId xmlns:a16="http://schemas.microsoft.com/office/drawing/2014/main" id="{2ECF8AE0-C974-4E2B-BFDD-63DB539BF81C}"/>
              </a:ext>
            </a:extLst>
          </p:cNvPr>
          <p:cNvSpPr>
            <a:spLocks noGrp="1"/>
          </p:cNvSpPr>
          <p:nvPr>
            <p:ph type="title"/>
          </p:nvPr>
        </p:nvSpPr>
        <p:spPr/>
        <p:txBody>
          <a:bodyPr/>
          <a:lstStyle/>
          <a:p>
            <a:pPr eaLnBrk="1" hangingPunct="1"/>
            <a:r>
              <a:rPr lang="zh-CN" altLang="en-US"/>
              <a:t>迭代</a:t>
            </a:r>
            <a:r>
              <a:rPr lang="en-US" altLang="zh-CN"/>
              <a:t>-</a:t>
            </a:r>
            <a:r>
              <a:rPr lang="zh-CN" altLang="en-US"/>
              <a:t>高斯消元法</a:t>
            </a:r>
          </a:p>
        </p:txBody>
      </p:sp>
      <p:pic>
        <p:nvPicPr>
          <p:cNvPr id="3" name="图片 2">
            <a:extLst>
              <a:ext uri="{FF2B5EF4-FFF2-40B4-BE49-F238E27FC236}">
                <a16:creationId xmlns:a16="http://schemas.microsoft.com/office/drawing/2014/main" id="{B1888154-CC18-4A58-A16C-50ACD0A4969F}"/>
              </a:ext>
            </a:extLst>
          </p:cNvPr>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444946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hidden="1">
            <a:extLst>
              <a:ext uri="{FF2B5EF4-FFF2-40B4-BE49-F238E27FC236}">
                <a16:creationId xmlns:a16="http://schemas.microsoft.com/office/drawing/2014/main" id="{26FAC94B-6120-4AF7-BF5D-380F02641429}"/>
              </a:ext>
            </a:extLst>
          </p:cNvPr>
          <p:cNvSpPr>
            <a:spLocks noGrp="1"/>
          </p:cNvSpPr>
          <p:nvPr>
            <p:ph type="title"/>
          </p:nvPr>
        </p:nvSpPr>
        <p:spPr/>
        <p:txBody>
          <a:bodyPr/>
          <a:lstStyle/>
          <a:p>
            <a:pPr eaLnBrk="1" hangingPunct="1"/>
            <a:r>
              <a:rPr lang="zh-CN" altLang="en-US"/>
              <a:t>迭代</a:t>
            </a:r>
            <a:r>
              <a:rPr lang="en-US" altLang="zh-CN"/>
              <a:t>-</a:t>
            </a:r>
            <a:r>
              <a:rPr lang="zh-CN" altLang="en-US"/>
              <a:t>高斯消元法</a:t>
            </a:r>
          </a:p>
        </p:txBody>
      </p:sp>
      <p:pic>
        <p:nvPicPr>
          <p:cNvPr id="3" name="图片 2">
            <a:extLst>
              <a:ext uri="{FF2B5EF4-FFF2-40B4-BE49-F238E27FC236}">
                <a16:creationId xmlns:a16="http://schemas.microsoft.com/office/drawing/2014/main" id="{092D1F18-9BE8-4862-91DC-1B8EF43B4ECE}"/>
              </a:ext>
            </a:extLst>
          </p:cNvPr>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710752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hidden="1">
            <a:extLst>
              <a:ext uri="{FF2B5EF4-FFF2-40B4-BE49-F238E27FC236}">
                <a16:creationId xmlns:a16="http://schemas.microsoft.com/office/drawing/2014/main" id="{0D0DECFC-D348-472E-9281-3C2C2343CD62}"/>
              </a:ext>
            </a:extLst>
          </p:cNvPr>
          <p:cNvSpPr>
            <a:spLocks noGrp="1"/>
          </p:cNvSpPr>
          <p:nvPr>
            <p:ph type="title"/>
          </p:nvPr>
        </p:nvSpPr>
        <p:spPr/>
        <p:txBody>
          <a:bodyPr/>
          <a:lstStyle/>
          <a:p>
            <a:pPr eaLnBrk="1" hangingPunct="1"/>
            <a:r>
              <a:rPr lang="zh-CN" altLang="en-US"/>
              <a:t>迭代</a:t>
            </a:r>
            <a:r>
              <a:rPr lang="en-US" altLang="zh-CN"/>
              <a:t>-</a:t>
            </a:r>
            <a:r>
              <a:rPr lang="zh-CN" altLang="en-US"/>
              <a:t>高斯消元法</a:t>
            </a:r>
          </a:p>
        </p:txBody>
      </p:sp>
      <p:pic>
        <p:nvPicPr>
          <p:cNvPr id="3" name="图片 2">
            <a:extLst>
              <a:ext uri="{FF2B5EF4-FFF2-40B4-BE49-F238E27FC236}">
                <a16:creationId xmlns:a16="http://schemas.microsoft.com/office/drawing/2014/main" id="{835BB88A-198B-4764-A1AC-CB237B548D23}"/>
              </a:ext>
            </a:extLst>
          </p:cNvPr>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998693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hidden="1">
            <a:extLst>
              <a:ext uri="{FF2B5EF4-FFF2-40B4-BE49-F238E27FC236}">
                <a16:creationId xmlns:a16="http://schemas.microsoft.com/office/drawing/2014/main" id="{AD6FA9D1-9A9B-4824-B7E2-3F9BDC4A14CC}"/>
              </a:ext>
            </a:extLst>
          </p:cNvPr>
          <p:cNvSpPr>
            <a:spLocks noGrp="1"/>
          </p:cNvSpPr>
          <p:nvPr>
            <p:ph type="title"/>
          </p:nvPr>
        </p:nvSpPr>
        <p:spPr/>
        <p:txBody>
          <a:bodyPr/>
          <a:lstStyle/>
          <a:p>
            <a:pPr eaLnBrk="1" hangingPunct="1"/>
            <a:r>
              <a:rPr lang="zh-CN" altLang="en-US"/>
              <a:t>单纯形表</a:t>
            </a:r>
          </a:p>
        </p:txBody>
      </p:sp>
      <p:pic>
        <p:nvPicPr>
          <p:cNvPr id="3" name="图片 2">
            <a:extLst>
              <a:ext uri="{FF2B5EF4-FFF2-40B4-BE49-F238E27FC236}">
                <a16:creationId xmlns:a16="http://schemas.microsoft.com/office/drawing/2014/main" id="{B06D83AE-1031-4EB1-9FD4-22BEAE3C95D6}"/>
              </a:ext>
            </a:extLst>
          </p:cNvPr>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5540885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12A9DABA-1931-4060-9E65-118B2014C050}"/>
              </a:ext>
            </a:extLst>
          </p:cNvPr>
          <p:cNvSpPr>
            <a:spLocks noGrp="1" noChangeArrowheads="1"/>
          </p:cNvSpPr>
          <p:nvPr>
            <p:ph type="title"/>
          </p:nvPr>
        </p:nvSpPr>
        <p:spPr/>
        <p:txBody>
          <a:bodyPr/>
          <a:lstStyle/>
          <a:p>
            <a:pPr eaLnBrk="1" hangingPunct="1"/>
            <a:r>
              <a:rPr lang="zh-CN" altLang="en-US"/>
              <a:t>单纯形表</a:t>
            </a:r>
          </a:p>
        </p:txBody>
      </p:sp>
      <p:sp>
        <p:nvSpPr>
          <p:cNvPr id="113667" name="Rectangle 436">
            <a:extLst>
              <a:ext uri="{FF2B5EF4-FFF2-40B4-BE49-F238E27FC236}">
                <a16:creationId xmlns:a16="http://schemas.microsoft.com/office/drawing/2014/main" id="{97D3DDB4-B1E8-4133-9667-FAE412A23D91}"/>
              </a:ext>
            </a:extLst>
          </p:cNvPr>
          <p:cNvSpPr>
            <a:spLocks noChangeArrowheads="1"/>
          </p:cNvSpPr>
          <p:nvPr/>
        </p:nvSpPr>
        <p:spPr bwMode="auto">
          <a:xfrm>
            <a:off x="1219200" y="2514600"/>
            <a:ext cx="381000" cy="1600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3668" name="Rectangle 437">
            <a:extLst>
              <a:ext uri="{FF2B5EF4-FFF2-40B4-BE49-F238E27FC236}">
                <a16:creationId xmlns:a16="http://schemas.microsoft.com/office/drawing/2014/main" id="{E8517D05-7892-45CC-A236-D3F630211725}"/>
              </a:ext>
            </a:extLst>
          </p:cNvPr>
          <p:cNvSpPr>
            <a:spLocks noChangeArrowheads="1"/>
          </p:cNvSpPr>
          <p:nvPr/>
        </p:nvSpPr>
        <p:spPr bwMode="auto">
          <a:xfrm>
            <a:off x="533400" y="2590800"/>
            <a:ext cx="381000" cy="1524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3669" name="Text Box 4">
            <a:extLst>
              <a:ext uri="{FF2B5EF4-FFF2-40B4-BE49-F238E27FC236}">
                <a16:creationId xmlns:a16="http://schemas.microsoft.com/office/drawing/2014/main" id="{61011D18-82F2-4C34-B699-CF65600DFD3B}"/>
              </a:ext>
            </a:extLst>
          </p:cNvPr>
          <p:cNvSpPr txBox="1">
            <a:spLocks noChangeArrowheads="1"/>
          </p:cNvSpPr>
          <p:nvPr/>
        </p:nvSpPr>
        <p:spPr bwMode="auto">
          <a:xfrm>
            <a:off x="685800" y="1219200"/>
            <a:ext cx="4800600" cy="338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求解线性规划问题：</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Max   z =2x</a:t>
            </a:r>
            <a:r>
              <a:rPr kumimoji="0" lang="en-US" altLang="zh-CN" sz="2800" b="0"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0"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+3x</a:t>
            </a:r>
            <a:r>
              <a:rPr kumimoji="0" lang="en-US" altLang="zh-CN" sz="2800" b="0"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0"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+0x</a:t>
            </a:r>
            <a:r>
              <a:rPr kumimoji="0" lang="en-US" altLang="zh-CN" sz="2800" b="0"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3</a:t>
            </a:r>
            <a:r>
              <a:rPr kumimoji="0"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+0x</a:t>
            </a:r>
            <a:r>
              <a:rPr kumimoji="0" lang="en-US" altLang="zh-CN" sz="2800" b="0"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4</a:t>
            </a:r>
            <a:r>
              <a:rPr kumimoji="0"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+0x</a:t>
            </a:r>
            <a:r>
              <a:rPr kumimoji="0" lang="en-US" altLang="zh-CN" sz="2800" b="0"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5</a:t>
            </a:r>
          </a:p>
          <a:p>
            <a:pPr marL="0" marR="0" lvl="0" indent="0" algn="l" defTabSz="914400" rtl="0" eaLnBrk="1" fontAlgn="base" latinLnBrk="0" hangingPunct="1">
              <a:lnSpc>
                <a:spcPct val="75000"/>
              </a:lnSpc>
              <a:spcBef>
                <a:spcPct val="5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s.t.     x</a:t>
            </a:r>
            <a:r>
              <a:rPr kumimoji="0" lang="en-US" altLang="zh-CN" sz="2800" b="0"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0"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+2x</a:t>
            </a:r>
            <a:r>
              <a:rPr kumimoji="0" lang="en-US" altLang="zh-CN" sz="2800" b="0"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0"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0" lang="en-US" altLang="zh-CN" sz="2800" b="0"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3                </a:t>
            </a:r>
            <a:r>
              <a:rPr kumimoji="0"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=8</a:t>
            </a:r>
          </a:p>
          <a:p>
            <a:pPr marL="0" marR="0" lvl="0" indent="0" algn="l" defTabSz="914400" rtl="0" eaLnBrk="1" fontAlgn="base" latinLnBrk="0" hangingPunct="1">
              <a:lnSpc>
                <a:spcPct val="75000"/>
              </a:lnSpc>
              <a:spcBef>
                <a:spcPct val="5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4x</a:t>
            </a:r>
            <a:r>
              <a:rPr kumimoji="0" lang="en-US" altLang="zh-CN" sz="2800" b="0"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1                    </a:t>
            </a:r>
            <a:r>
              <a:rPr kumimoji="0"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0" lang="en-US" altLang="zh-CN" sz="2800" b="0"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4       </a:t>
            </a:r>
            <a:r>
              <a:rPr kumimoji="0"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=16</a:t>
            </a:r>
          </a:p>
          <a:p>
            <a:pPr marL="0" marR="0" lvl="0" indent="0" algn="l" defTabSz="914400" rtl="0" eaLnBrk="1" fontAlgn="base" latinLnBrk="0" hangingPunct="1">
              <a:lnSpc>
                <a:spcPct val="75000"/>
              </a:lnSpc>
              <a:spcBef>
                <a:spcPct val="5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4x</a:t>
            </a:r>
            <a:r>
              <a:rPr kumimoji="0" lang="en-US" altLang="zh-CN" sz="2800" b="0"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2                  </a:t>
            </a:r>
            <a:r>
              <a:rPr kumimoji="0"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0" lang="en-US" altLang="zh-CN" sz="2800" b="0"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5</a:t>
            </a:r>
            <a:r>
              <a:rPr kumimoji="0"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=12</a:t>
            </a:r>
          </a:p>
          <a:p>
            <a:pPr marL="0" marR="0" lvl="0" indent="0" algn="l" defTabSz="914400" rtl="0" eaLnBrk="1" fontAlgn="base" latinLnBrk="0" hangingPunct="1">
              <a:lnSpc>
                <a:spcPct val="75000"/>
              </a:lnSpc>
              <a:spcBef>
                <a:spcPct val="5000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x</a:t>
            </a:r>
            <a:r>
              <a:rPr kumimoji="0" lang="en-US" altLang="zh-CN" sz="2800" b="0"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0"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x</a:t>
            </a:r>
            <a:r>
              <a:rPr kumimoji="0" lang="en-US" altLang="zh-CN" sz="2800" b="0"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0"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x</a:t>
            </a:r>
            <a:r>
              <a:rPr kumimoji="0" lang="en-US" altLang="zh-CN" sz="2800" b="0"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3</a:t>
            </a:r>
            <a:r>
              <a:rPr kumimoji="0"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x</a:t>
            </a:r>
            <a:r>
              <a:rPr kumimoji="0" lang="en-US" altLang="zh-CN" sz="2800" b="0"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4</a:t>
            </a:r>
            <a:r>
              <a:rPr kumimoji="0"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x</a:t>
            </a:r>
            <a:r>
              <a:rPr kumimoji="0" lang="en-US" altLang="zh-CN" sz="2800" b="0"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5</a:t>
            </a:r>
            <a:r>
              <a:rPr kumimoji="0"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≥0</a:t>
            </a:r>
            <a:r>
              <a:rPr kumimoji="0" lang="en-US" altLang="zh-CN"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4C72B0A0-0BCD-4A73-9C3D-9B294595D382}"/>
              </a:ext>
            </a:extLst>
          </p:cNvPr>
          <p:cNvSpPr>
            <a:spLocks noGrp="1" noChangeArrowheads="1"/>
          </p:cNvSpPr>
          <p:nvPr>
            <p:ph type="title"/>
          </p:nvPr>
        </p:nvSpPr>
        <p:spPr>
          <a:xfrm>
            <a:off x="503238" y="266700"/>
            <a:ext cx="8229600" cy="1139825"/>
          </a:xfrm>
        </p:spPr>
        <p:txBody>
          <a:bodyPr/>
          <a:lstStyle/>
          <a:p>
            <a:pPr eaLnBrk="1" hangingPunct="1"/>
            <a:r>
              <a:rPr lang="zh-CN" altLang="en-US"/>
              <a:t>单纯形表</a:t>
            </a:r>
          </a:p>
        </p:txBody>
      </p:sp>
      <p:graphicFrame>
        <p:nvGraphicFramePr>
          <p:cNvPr id="18" name="Group 719">
            <a:extLst>
              <a:ext uri="{FF2B5EF4-FFF2-40B4-BE49-F238E27FC236}">
                <a16:creationId xmlns:a16="http://schemas.microsoft.com/office/drawing/2014/main" id="{D9C19C2E-A4BE-49A9-A630-287969597D3B}"/>
              </a:ext>
            </a:extLst>
          </p:cNvPr>
          <p:cNvGraphicFramePr>
            <a:graphicFrameLocks noGrp="1"/>
          </p:cNvGraphicFramePr>
          <p:nvPr/>
        </p:nvGraphicFramePr>
        <p:xfrm>
          <a:off x="349250" y="1600200"/>
          <a:ext cx="7008813" cy="4535492"/>
        </p:xfrm>
        <a:graphic>
          <a:graphicData uri="http://schemas.openxmlformats.org/drawingml/2006/table">
            <a:tbl>
              <a:tblPr/>
              <a:tblGrid>
                <a:gridCol w="779463">
                  <a:extLst>
                    <a:ext uri="{9D8B030D-6E8A-4147-A177-3AD203B41FA5}">
                      <a16:colId xmlns:a16="http://schemas.microsoft.com/office/drawing/2014/main" val="20000"/>
                    </a:ext>
                  </a:extLst>
                </a:gridCol>
                <a:gridCol w="1020762">
                  <a:extLst>
                    <a:ext uri="{9D8B030D-6E8A-4147-A177-3AD203B41FA5}">
                      <a16:colId xmlns:a16="http://schemas.microsoft.com/office/drawing/2014/main" val="20001"/>
                    </a:ext>
                  </a:extLst>
                </a:gridCol>
                <a:gridCol w="647700">
                  <a:extLst>
                    <a:ext uri="{9D8B030D-6E8A-4147-A177-3AD203B41FA5}">
                      <a16:colId xmlns:a16="http://schemas.microsoft.com/office/drawing/2014/main" val="20002"/>
                    </a:ext>
                  </a:extLst>
                </a:gridCol>
                <a:gridCol w="668338">
                  <a:extLst>
                    <a:ext uri="{9D8B030D-6E8A-4147-A177-3AD203B41FA5}">
                      <a16:colId xmlns:a16="http://schemas.microsoft.com/office/drawing/2014/main" val="20003"/>
                    </a:ext>
                  </a:extLst>
                </a:gridCol>
                <a:gridCol w="776287">
                  <a:extLst>
                    <a:ext uri="{9D8B030D-6E8A-4147-A177-3AD203B41FA5}">
                      <a16:colId xmlns:a16="http://schemas.microsoft.com/office/drawing/2014/main" val="20004"/>
                    </a:ext>
                  </a:extLst>
                </a:gridCol>
                <a:gridCol w="779463">
                  <a:extLst>
                    <a:ext uri="{9D8B030D-6E8A-4147-A177-3AD203B41FA5}">
                      <a16:colId xmlns:a16="http://schemas.microsoft.com/office/drawing/2014/main" val="20005"/>
                    </a:ext>
                  </a:extLst>
                </a:gridCol>
                <a:gridCol w="779462">
                  <a:extLst>
                    <a:ext uri="{9D8B030D-6E8A-4147-A177-3AD203B41FA5}">
                      <a16:colId xmlns:a16="http://schemas.microsoft.com/office/drawing/2014/main" val="20006"/>
                    </a:ext>
                  </a:extLst>
                </a:gridCol>
                <a:gridCol w="777875">
                  <a:extLst>
                    <a:ext uri="{9D8B030D-6E8A-4147-A177-3AD203B41FA5}">
                      <a16:colId xmlns:a16="http://schemas.microsoft.com/office/drawing/2014/main" val="20007"/>
                    </a:ext>
                  </a:extLst>
                </a:gridCol>
                <a:gridCol w="779463">
                  <a:extLst>
                    <a:ext uri="{9D8B030D-6E8A-4147-A177-3AD203B41FA5}">
                      <a16:colId xmlns:a16="http://schemas.microsoft.com/office/drawing/2014/main" val="20008"/>
                    </a:ext>
                  </a:extLst>
                </a:gridCol>
              </a:tblGrid>
              <a:tr h="457207">
                <a:tc gridSpan="3">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1" u="none" strike="noStrike" cap="none" normalizeH="0" baseline="0" dirty="0" err="1">
                          <a:ln>
                            <a:noFill/>
                          </a:ln>
                          <a:solidFill>
                            <a:schemeClr val="bg2"/>
                          </a:solidFill>
                          <a:effectLst/>
                          <a:latin typeface="Times New Roman" panose="02020603050405020304" pitchFamily="18" charset="0"/>
                          <a:ea typeface="华文细黑" panose="02010600040101010101" pitchFamily="2" charset="-122"/>
                        </a:rPr>
                        <a:t>c</a:t>
                      </a:r>
                      <a:r>
                        <a:rPr kumimoji="1" lang="en-US" altLang="zh-CN" sz="2000" b="1" i="1" u="none" strike="noStrike" cap="none" normalizeH="0" baseline="-25000" dirty="0" err="1">
                          <a:ln>
                            <a:noFill/>
                          </a:ln>
                          <a:solidFill>
                            <a:schemeClr val="bg2"/>
                          </a:solidFill>
                          <a:effectLst/>
                          <a:latin typeface="Times New Roman" panose="02020603050405020304" pitchFamily="18" charset="0"/>
                          <a:ea typeface="华文细黑" panose="02010600040101010101" pitchFamily="2" charset="-122"/>
                        </a:rPr>
                        <a:t>j</a:t>
                      </a:r>
                      <a:endParaRPr kumimoji="1" lang="en-US" altLang="zh-CN" sz="2000" b="1" i="1" u="none" strike="noStrike" cap="none" normalizeH="0" baseline="-2500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anchor="ctr" anchorCtr="1" horzOverflow="overflow">
                    <a:lnL w="3810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T="45721" marB="45721" anchor="ctr" anchorCtr="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T="45721" marB="45721"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1" marB="45721"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T="45721" marB="45721"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row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θ</a:t>
                      </a:r>
                      <a:r>
                        <a:rPr kumimoji="1" lang="en-US" altLang="zh-CN" sz="1600" b="1" i="1" u="none" strike="noStrike" cap="none" normalizeH="0" baseline="-30000">
                          <a:ln>
                            <a:noFill/>
                          </a:ln>
                          <a:solidFill>
                            <a:schemeClr val="bg2"/>
                          </a:solidFill>
                          <a:effectLst/>
                          <a:latin typeface="Times New Roman" panose="02020603050405020304" pitchFamily="18" charset="0"/>
                          <a:ea typeface="华文细黑" panose="02010600040101010101" pitchFamily="2" charset="-122"/>
                        </a:rPr>
                        <a:t>i</a:t>
                      </a:r>
                    </a:p>
                  </a:txBody>
                  <a:tcPr marT="45721" marB="45721" anchor="ctr"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20629">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T="45721" marB="45721"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0"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endParaRPr kumimoji="0" lang="zh-CN" altLang="en-US"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b</a:t>
                      </a: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p>
                  </a:txBody>
                  <a:tcPr marT="45721" marB="4572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3</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30000" dirty="0">
                        <a:ln>
                          <a:noFill/>
                        </a:ln>
                        <a:solidFill>
                          <a:schemeClr val="bg2"/>
                        </a:solidFill>
                        <a:effectLst/>
                        <a:latin typeface="Times New Roman" panose="02020603050405020304" pitchFamily="18" charset="0"/>
                        <a:ea typeface="宋体" panose="02010600030101010101" pitchFamily="2" charset="-122"/>
                      </a:endParaRP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vMerge="1">
                  <a:txBody>
                    <a:bodyPr/>
                    <a:lstStyle/>
                    <a:p>
                      <a:endParaRPr lang="zh-CN" altLang="en-US"/>
                    </a:p>
                  </a:txBody>
                  <a:tcPr/>
                </a:tc>
                <a:extLst>
                  <a:ext uri="{0D108BD9-81ED-4DB2-BD59-A6C34878D82A}">
                    <a16:rowId xmlns:a16="http://schemas.microsoft.com/office/drawing/2014/main" val="10001"/>
                  </a:ext>
                </a:extLst>
              </a:tr>
              <a:tr h="457207">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1" marB="45721"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3</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8</a:t>
                      </a: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a:t>
                      </a:r>
                    </a:p>
                  </a:txBody>
                  <a:tcPr marT="45721" marB="4572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1</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a:t>
                      </a: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7">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T="45721" marB="45721"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16</a:t>
                      </a: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folHlink"/>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4</a:t>
                      </a:r>
                    </a:p>
                  </a:txBody>
                  <a:tcPr marT="45721" marB="4572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rgbClr val="FF3399"/>
                          </a:solidFill>
                          <a:effectLst/>
                          <a:latin typeface="Times New Roman" panose="02020603050405020304" pitchFamily="18" charset="0"/>
                          <a:ea typeface="华文细黑" panose="02010600040101010101" pitchFamily="2" charset="-122"/>
                        </a:rPr>
                        <a:t>1</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rgbClr val="FF3399"/>
                          </a:solidFill>
                          <a:effectLst/>
                          <a:latin typeface="Times New Roman" panose="02020603050405020304" pitchFamily="18" charset="0"/>
                          <a:ea typeface="华文细黑" panose="02010600040101010101" pitchFamily="2" charset="-122"/>
                        </a:rPr>
                        <a:t>0</a:t>
                      </a: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07">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1" marB="45721"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12</a:t>
                      </a: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folHlink"/>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1" marB="4572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4</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1</a:t>
                      </a: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07">
                <a:tc grid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lang="el-GR" altLang="zh-CN" sz="1800" b="1" dirty="0">
                          <a:latin typeface="Times New Roman" panose="02020603050405020304" pitchFamily="18" charset="0"/>
                        </a:rPr>
                        <a:t>σ</a:t>
                      </a:r>
                      <a:r>
                        <a:rPr lang="en-US" altLang="zh-CN" sz="1800" b="1" i="1" baseline="-25000" dirty="0">
                          <a:latin typeface="Times New Roman" panose="02020603050405020304" pitchFamily="18" charset="0"/>
                        </a:rPr>
                        <a:t>j</a:t>
                      </a:r>
                      <a:r>
                        <a:rPr lang="en-US" altLang="zh-CN" sz="1800" b="1" dirty="0">
                          <a:latin typeface="Times New Roman" panose="02020603050405020304" pitchFamily="18" charset="0"/>
                        </a:rPr>
                        <a:t>=</a:t>
                      </a:r>
                      <a:r>
                        <a:rPr lang="en-US" altLang="zh-CN" sz="1800" b="1" dirty="0" err="1">
                          <a:latin typeface="Times New Roman" panose="02020603050405020304" pitchFamily="18" charset="0"/>
                        </a:rPr>
                        <a:t>c</a:t>
                      </a:r>
                      <a:r>
                        <a:rPr lang="en-US" altLang="zh-CN" sz="1800" b="1" i="1" baseline="-25000" dirty="0" err="1">
                          <a:latin typeface="Times New Roman" panose="02020603050405020304" pitchFamily="18" charset="0"/>
                        </a:rPr>
                        <a:t>j</a:t>
                      </a:r>
                      <a:r>
                        <a:rPr lang="en-US" altLang="zh-CN" sz="1800" b="1" dirty="0" err="1">
                          <a:latin typeface="Times New Roman" panose="02020603050405020304" pitchFamily="18" charset="0"/>
                        </a:rPr>
                        <a:t>-z</a:t>
                      </a:r>
                      <a:r>
                        <a:rPr lang="en-US" altLang="zh-CN" sz="1800" b="1" i="1" baseline="-25000" dirty="0" err="1">
                          <a:latin typeface="Times New Roman" panose="02020603050405020304" pitchFamily="18" charset="0"/>
                        </a:rPr>
                        <a:t>j</a:t>
                      </a:r>
                      <a:endParaRPr lang="en-US" altLang="zh-CN" sz="1800" b="1" i="1" baseline="-25000" dirty="0">
                        <a:latin typeface="Times New Roman" panose="02020603050405020304" pitchFamily="18" charset="0"/>
                      </a:endParaRPr>
                    </a:p>
                  </a:txBody>
                  <a:tcPr marT="45721" marB="45721"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2</a:t>
                      </a:r>
                    </a:p>
                  </a:txBody>
                  <a:tcPr marT="45721" marB="4572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3</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华文细黑" panose="02010600040101010101" pitchFamily="2" charset="-122"/>
                        </a:rPr>
                        <a:t>0</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华文细黑" panose="02010600040101010101" pitchFamily="2" charset="-122"/>
                        </a:rPr>
                        <a:t>0</a:t>
                      </a: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5"/>
                  </a:ext>
                </a:extLst>
              </a:tr>
              <a:tr h="457207">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1" marB="45721"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3</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rgbClr val="FFFF00"/>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7207">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T="45721" marB="45721"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rgbClr val="FFFF00"/>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folHlink"/>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7207">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rgbClr val="FFFF00"/>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folHlink"/>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57207">
                <a:tc grid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lang="el-GR" altLang="zh-CN" sz="1800" b="1" dirty="0">
                          <a:latin typeface="Times New Roman" panose="02020603050405020304" pitchFamily="18" charset="0"/>
                        </a:rPr>
                        <a:t>σ</a:t>
                      </a:r>
                      <a:r>
                        <a:rPr lang="en-US" altLang="zh-CN" sz="1800" b="1" i="1" baseline="-25000" dirty="0">
                          <a:latin typeface="Times New Roman" panose="02020603050405020304" pitchFamily="18" charset="0"/>
                        </a:rPr>
                        <a:t>j</a:t>
                      </a:r>
                      <a:r>
                        <a:rPr lang="en-US" altLang="zh-CN" sz="1800" b="1" dirty="0">
                          <a:latin typeface="Times New Roman" panose="02020603050405020304" pitchFamily="18" charset="0"/>
                        </a:rPr>
                        <a:t>=</a:t>
                      </a:r>
                      <a:r>
                        <a:rPr lang="en-US" altLang="zh-CN" sz="1800" b="1" dirty="0" err="1">
                          <a:latin typeface="Times New Roman" panose="02020603050405020304" pitchFamily="18" charset="0"/>
                        </a:rPr>
                        <a:t>c</a:t>
                      </a:r>
                      <a:r>
                        <a:rPr lang="en-US" altLang="zh-CN" sz="1800" b="1" i="1" baseline="-25000" dirty="0" err="1">
                          <a:latin typeface="Times New Roman" panose="02020603050405020304" pitchFamily="18" charset="0"/>
                        </a:rPr>
                        <a:t>j</a:t>
                      </a:r>
                      <a:r>
                        <a:rPr lang="en-US" altLang="zh-CN" sz="1800" b="1" dirty="0" err="1">
                          <a:latin typeface="Times New Roman" panose="02020603050405020304" pitchFamily="18" charset="0"/>
                        </a:rPr>
                        <a:t>-z</a:t>
                      </a:r>
                      <a:r>
                        <a:rPr lang="en-US" altLang="zh-CN" sz="1800" b="1" i="1" baseline="-25000" dirty="0" err="1">
                          <a:latin typeface="Times New Roman" panose="02020603050405020304" pitchFamily="18" charset="0"/>
                        </a:rPr>
                        <a:t>j</a:t>
                      </a:r>
                      <a:endParaRPr kumimoji="1" lang="zh-CN"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9"/>
                  </a:ext>
                </a:extLst>
              </a:tr>
            </a:tbl>
          </a:graphicData>
        </a:graphic>
      </p:graphicFrame>
      <p:sp>
        <p:nvSpPr>
          <p:cNvPr id="21" name="Text Box 641">
            <a:extLst>
              <a:ext uri="{FF2B5EF4-FFF2-40B4-BE49-F238E27FC236}">
                <a16:creationId xmlns:a16="http://schemas.microsoft.com/office/drawing/2014/main" id="{286F6B5E-B645-4523-AB91-EBC1C091791F}"/>
              </a:ext>
            </a:extLst>
          </p:cNvPr>
          <p:cNvSpPr txBox="1">
            <a:spLocks noChangeArrowheads="1"/>
          </p:cNvSpPr>
          <p:nvPr/>
        </p:nvSpPr>
        <p:spPr bwMode="auto">
          <a:xfrm>
            <a:off x="6777038" y="2481263"/>
            <a:ext cx="35718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srgbClr val="009900"/>
                </a:solidFill>
                <a:effectLst/>
                <a:uLnTx/>
                <a:uFillTx/>
                <a:latin typeface="Arial" panose="020B0604020202020204" pitchFamily="34" charset="0"/>
                <a:ea typeface="宋体" panose="02010600030101010101" pitchFamily="2" charset="-122"/>
                <a:cs typeface="+mn-cs"/>
              </a:rPr>
              <a:t>4</a:t>
            </a:r>
          </a:p>
        </p:txBody>
      </p:sp>
      <p:sp>
        <p:nvSpPr>
          <p:cNvPr id="22" name="Text Box 642">
            <a:extLst>
              <a:ext uri="{FF2B5EF4-FFF2-40B4-BE49-F238E27FC236}">
                <a16:creationId xmlns:a16="http://schemas.microsoft.com/office/drawing/2014/main" id="{FB0CAC90-DA2B-4885-A236-99467A42337C}"/>
              </a:ext>
            </a:extLst>
          </p:cNvPr>
          <p:cNvSpPr txBox="1">
            <a:spLocks noChangeArrowheads="1"/>
          </p:cNvSpPr>
          <p:nvPr/>
        </p:nvSpPr>
        <p:spPr bwMode="auto">
          <a:xfrm>
            <a:off x="6731000" y="2909888"/>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009900"/>
                </a:solidFill>
                <a:effectLst/>
                <a:uLnTx/>
                <a:uFillTx/>
                <a:latin typeface="Arial" panose="020B0604020202020204" pitchFamily="34" charset="0"/>
                <a:ea typeface="宋体" panose="02010600030101010101" pitchFamily="2" charset="-122"/>
                <a:cs typeface="+mn-cs"/>
              </a:rPr>
              <a:t>－</a:t>
            </a:r>
          </a:p>
        </p:txBody>
      </p:sp>
      <p:sp>
        <p:nvSpPr>
          <p:cNvPr id="71" name="Text Box 641">
            <a:extLst>
              <a:ext uri="{FF2B5EF4-FFF2-40B4-BE49-F238E27FC236}">
                <a16:creationId xmlns:a16="http://schemas.microsoft.com/office/drawing/2014/main" id="{CF78DC02-1DB8-4E12-AEAD-0ABBF65F4005}"/>
              </a:ext>
            </a:extLst>
          </p:cNvPr>
          <p:cNvSpPr txBox="1">
            <a:spLocks noChangeArrowheads="1"/>
          </p:cNvSpPr>
          <p:nvPr/>
        </p:nvSpPr>
        <p:spPr bwMode="auto">
          <a:xfrm>
            <a:off x="6777038" y="3352800"/>
            <a:ext cx="35718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srgbClr val="009900"/>
                </a:solidFill>
                <a:effectLst/>
                <a:uLnTx/>
                <a:uFillTx/>
                <a:latin typeface="Arial" panose="020B0604020202020204" pitchFamily="34" charset="0"/>
                <a:ea typeface="宋体" panose="02010600030101010101" pitchFamily="2" charset="-122"/>
                <a:cs typeface="+mn-cs"/>
              </a:rPr>
              <a:t>3</a:t>
            </a:r>
          </a:p>
        </p:txBody>
      </p:sp>
      <p:sp>
        <p:nvSpPr>
          <p:cNvPr id="72" name="AutoShape 519">
            <a:extLst>
              <a:ext uri="{FF2B5EF4-FFF2-40B4-BE49-F238E27FC236}">
                <a16:creationId xmlns:a16="http://schemas.microsoft.com/office/drawing/2014/main" id="{D3E56978-8550-4241-B31E-5F8ECDBC3C89}"/>
              </a:ext>
            </a:extLst>
          </p:cNvPr>
          <p:cNvSpPr>
            <a:spLocks/>
          </p:cNvSpPr>
          <p:nvPr/>
        </p:nvSpPr>
        <p:spPr bwMode="auto">
          <a:xfrm>
            <a:off x="2562225" y="838200"/>
            <a:ext cx="1023938" cy="381000"/>
          </a:xfrm>
          <a:prstGeom prst="borderCallout2">
            <a:avLst>
              <a:gd name="adj1" fmla="val 30000"/>
              <a:gd name="adj2" fmla="val 107440"/>
              <a:gd name="adj3" fmla="val 30000"/>
              <a:gd name="adj4" fmla="val 123102"/>
              <a:gd name="adj5" fmla="val 185833"/>
              <a:gd name="adj6" fmla="val 123875"/>
            </a:avLst>
          </a:prstGeom>
          <a:solidFill>
            <a:srgbClr val="FFFF00"/>
          </a:solidFill>
          <a:ln w="9525">
            <a:solidFill>
              <a:schemeClr val="tx1"/>
            </a:solidFill>
            <a:miter lim="800000"/>
            <a:headEnd/>
            <a:tailEnd type="triangle" w="med" len="me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20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rPr>
              <a:t>换入列</a:t>
            </a:r>
          </a:p>
        </p:txBody>
      </p:sp>
      <p:sp>
        <p:nvSpPr>
          <p:cNvPr id="75" name="Line 518">
            <a:extLst>
              <a:ext uri="{FF2B5EF4-FFF2-40B4-BE49-F238E27FC236}">
                <a16:creationId xmlns:a16="http://schemas.microsoft.com/office/drawing/2014/main" id="{33EEA438-1553-409A-BDF6-443620CD71C4}"/>
              </a:ext>
            </a:extLst>
          </p:cNvPr>
          <p:cNvSpPr>
            <a:spLocks noChangeShapeType="1"/>
          </p:cNvSpPr>
          <p:nvPr/>
        </p:nvSpPr>
        <p:spPr bwMode="auto">
          <a:xfrm flipV="1">
            <a:off x="4010025" y="3886200"/>
            <a:ext cx="0" cy="381000"/>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6" name="AutoShape 522">
            <a:extLst>
              <a:ext uri="{FF2B5EF4-FFF2-40B4-BE49-F238E27FC236}">
                <a16:creationId xmlns:a16="http://schemas.microsoft.com/office/drawing/2014/main" id="{CB78F191-9854-48EC-9B19-F4363CA5473C}"/>
              </a:ext>
            </a:extLst>
          </p:cNvPr>
          <p:cNvSpPr>
            <a:spLocks/>
          </p:cNvSpPr>
          <p:nvPr/>
        </p:nvSpPr>
        <p:spPr bwMode="auto">
          <a:xfrm>
            <a:off x="5076825" y="838200"/>
            <a:ext cx="1657350" cy="431800"/>
          </a:xfrm>
          <a:prstGeom prst="borderCallout2">
            <a:avLst>
              <a:gd name="adj1" fmla="val 26472"/>
              <a:gd name="adj2" fmla="val 104597"/>
              <a:gd name="adj3" fmla="val 26472"/>
              <a:gd name="adj4" fmla="val 115134"/>
              <a:gd name="adj5" fmla="val 158088"/>
              <a:gd name="adj6" fmla="val 115134"/>
            </a:avLst>
          </a:prstGeom>
          <a:solidFill>
            <a:srgbClr val="FFFF00"/>
          </a:solidFill>
          <a:ln w="9525">
            <a:solidFill>
              <a:schemeClr val="tx1"/>
            </a:solidFill>
            <a:miter lim="800000"/>
            <a:headEnd/>
            <a:tailEnd type="triangle" w="med" len="me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1" lang="en-US" altLang="zh-CN" sz="2000" b="0" i="1"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rPr>
              <a:t>b</a:t>
            </a:r>
            <a:r>
              <a:rPr kumimoji="1" lang="en-US" altLang="zh-CN" sz="2000" b="0" i="1" u="none" strike="noStrike" kern="1200" cap="none" spc="0" normalizeH="0" baseline="-30000" noProof="0">
                <a:ln>
                  <a:noFill/>
                </a:ln>
                <a:solidFill>
                  <a:srgbClr val="5F5F5F"/>
                </a:solidFill>
                <a:effectLst/>
                <a:uLnTx/>
                <a:uFillTx/>
                <a:latin typeface="Arial" panose="020B0604020202020204" pitchFamily="34" charset="0"/>
                <a:ea typeface="宋体" panose="02010600030101010101" pitchFamily="2" charset="-122"/>
                <a:cs typeface="+mn-cs"/>
              </a:rPr>
              <a:t>i </a:t>
            </a:r>
            <a:r>
              <a:rPr kumimoji="1" lang="en-US" altLang="zh-CN" sz="2000" b="0" i="1"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rPr>
              <a:t>/a</a:t>
            </a:r>
            <a:r>
              <a:rPr kumimoji="1" lang="en-US" altLang="zh-CN" sz="2000" b="0" i="1" u="none" strike="noStrike" kern="1200" cap="none" spc="0" normalizeH="0" baseline="-30000" noProof="0">
                <a:ln>
                  <a:noFill/>
                </a:ln>
                <a:solidFill>
                  <a:srgbClr val="5F5F5F"/>
                </a:solidFill>
                <a:effectLst/>
                <a:uLnTx/>
                <a:uFillTx/>
                <a:latin typeface="Arial" panose="020B0604020202020204" pitchFamily="34" charset="0"/>
                <a:ea typeface="宋体" panose="02010600030101010101" pitchFamily="2" charset="-122"/>
                <a:cs typeface="+mn-cs"/>
              </a:rPr>
              <a:t>i2</a:t>
            </a:r>
            <a:r>
              <a:rPr kumimoji="1" lang="zh-CN" altLang="en-US" sz="20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rPr>
              <a:t>，</a:t>
            </a:r>
            <a:r>
              <a:rPr kumimoji="1" lang="en-US" altLang="zh-CN" sz="2000" b="0" i="1"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rPr>
              <a:t>a</a:t>
            </a:r>
            <a:r>
              <a:rPr kumimoji="1" lang="en-US" altLang="zh-CN" sz="2000" b="0" i="1" u="none" strike="noStrike" kern="1200" cap="none" spc="0" normalizeH="0" baseline="-30000" noProof="0">
                <a:ln>
                  <a:noFill/>
                </a:ln>
                <a:solidFill>
                  <a:srgbClr val="5F5F5F"/>
                </a:solidFill>
                <a:effectLst/>
                <a:uLnTx/>
                <a:uFillTx/>
                <a:latin typeface="Arial" panose="020B0604020202020204" pitchFamily="34" charset="0"/>
                <a:ea typeface="宋体" panose="02010600030101010101" pitchFamily="2" charset="-122"/>
                <a:cs typeface="+mn-cs"/>
              </a:rPr>
              <a:t>i2</a:t>
            </a:r>
            <a:r>
              <a:rPr kumimoji="1" lang="en-US" altLang="zh-CN" sz="20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rPr>
              <a:t>&gt;0</a:t>
            </a:r>
          </a:p>
        </p:txBody>
      </p:sp>
      <p:sp>
        <p:nvSpPr>
          <p:cNvPr id="77" name="Line 526">
            <a:extLst>
              <a:ext uri="{FF2B5EF4-FFF2-40B4-BE49-F238E27FC236}">
                <a16:creationId xmlns:a16="http://schemas.microsoft.com/office/drawing/2014/main" id="{A704E0E7-E828-4598-AF51-4C49588C384D}"/>
              </a:ext>
            </a:extLst>
          </p:cNvPr>
          <p:cNvSpPr>
            <a:spLocks noChangeShapeType="1"/>
          </p:cNvSpPr>
          <p:nvPr/>
        </p:nvSpPr>
        <p:spPr bwMode="auto">
          <a:xfrm>
            <a:off x="1069975" y="3581400"/>
            <a:ext cx="381000" cy="0"/>
          </a:xfrm>
          <a:prstGeom prst="line">
            <a:avLst/>
          </a:prstGeom>
          <a:noFill/>
          <a:ln w="9525">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8" name="AutoShape 528">
            <a:extLst>
              <a:ext uri="{FF2B5EF4-FFF2-40B4-BE49-F238E27FC236}">
                <a16:creationId xmlns:a16="http://schemas.microsoft.com/office/drawing/2014/main" id="{15865E88-5E2D-49FF-8270-DBF687B6678B}"/>
              </a:ext>
            </a:extLst>
          </p:cNvPr>
          <p:cNvSpPr>
            <a:spLocks/>
          </p:cNvSpPr>
          <p:nvPr/>
        </p:nvSpPr>
        <p:spPr bwMode="auto">
          <a:xfrm>
            <a:off x="7743825" y="2424113"/>
            <a:ext cx="431800" cy="1081087"/>
          </a:xfrm>
          <a:prstGeom prst="borderCallout1">
            <a:avLst>
              <a:gd name="adj1" fmla="val 107046"/>
              <a:gd name="adj2" fmla="val 73528"/>
              <a:gd name="adj3" fmla="val 107046"/>
              <a:gd name="adj4" fmla="val -83454"/>
            </a:avLst>
          </a:prstGeom>
          <a:solidFill>
            <a:srgbClr val="FFFF00"/>
          </a:solidFill>
          <a:ln w="9525" algn="ctr">
            <a:solidFill>
              <a:schemeClr val="tx1"/>
            </a:solidFill>
            <a:miter lim="800000"/>
            <a:headEnd type="triangle" w="med" len="me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Pct val="85000"/>
              <a:buFontTx/>
              <a:buNone/>
              <a:tabLst/>
              <a:defRPr/>
            </a:pPr>
            <a:r>
              <a:rPr kumimoji="1" lang="zh-CN" altLang="en-US" sz="2000" b="0" i="0" u="none" strike="noStrike" kern="1200" cap="none" spc="0" normalizeH="0" baseline="0" noProof="0">
                <a:ln>
                  <a:noFill/>
                </a:ln>
                <a:solidFill>
                  <a:srgbClr val="003300"/>
                </a:solidFill>
                <a:effectLst/>
                <a:uLnTx/>
                <a:uFillTx/>
                <a:latin typeface="Arial" panose="020B0604020202020204" pitchFamily="34" charset="0"/>
                <a:ea typeface="宋体" panose="02010600030101010101" pitchFamily="2" charset="-122"/>
                <a:cs typeface="+mn-cs"/>
              </a:rPr>
              <a:t>换出行</a:t>
            </a:r>
          </a:p>
        </p:txBody>
      </p:sp>
      <p:sp>
        <p:nvSpPr>
          <p:cNvPr id="79" name="Oval 529">
            <a:extLst>
              <a:ext uri="{FF2B5EF4-FFF2-40B4-BE49-F238E27FC236}">
                <a16:creationId xmlns:a16="http://schemas.microsoft.com/office/drawing/2014/main" id="{57C7F6D3-FFB7-4CC6-9AA6-25C31BF79EFA}"/>
              </a:ext>
            </a:extLst>
          </p:cNvPr>
          <p:cNvSpPr>
            <a:spLocks noChangeArrowheads="1"/>
          </p:cNvSpPr>
          <p:nvPr/>
        </p:nvSpPr>
        <p:spPr bwMode="auto">
          <a:xfrm>
            <a:off x="3629025" y="3429000"/>
            <a:ext cx="457200" cy="381000"/>
          </a:xfrm>
          <a:prstGeom prst="ellipse">
            <a:avLst/>
          </a:prstGeom>
          <a:noFill/>
          <a:ln w="952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0" name="AutoShape 530">
            <a:extLst>
              <a:ext uri="{FF2B5EF4-FFF2-40B4-BE49-F238E27FC236}">
                <a16:creationId xmlns:a16="http://schemas.microsoft.com/office/drawing/2014/main" id="{84D5B2B1-8E36-47BA-BDD6-3114B3746E46}"/>
              </a:ext>
            </a:extLst>
          </p:cNvPr>
          <p:cNvSpPr>
            <a:spLocks/>
          </p:cNvSpPr>
          <p:nvPr/>
        </p:nvSpPr>
        <p:spPr bwMode="auto">
          <a:xfrm>
            <a:off x="152400" y="1149350"/>
            <a:ext cx="1274763" cy="360363"/>
          </a:xfrm>
          <a:prstGeom prst="borderCallout2">
            <a:avLst>
              <a:gd name="adj1" fmla="val 31718"/>
              <a:gd name="adj2" fmla="val 105977"/>
              <a:gd name="adj3" fmla="val 31718"/>
              <a:gd name="adj4" fmla="val 213699"/>
              <a:gd name="adj5" fmla="val 646019"/>
              <a:gd name="adj6" fmla="val 279796"/>
            </a:avLst>
          </a:prstGeom>
          <a:solidFill>
            <a:schemeClr val="bg1"/>
          </a:solidFill>
          <a:ln w="9525">
            <a:solidFill>
              <a:schemeClr val="tx1"/>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rPr>
              <a:t>将</a:t>
            </a:r>
            <a:r>
              <a:rPr kumimoji="1" lang="en-US" altLang="zh-CN"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rPr>
              <a:t>4</a:t>
            </a:r>
            <a:r>
              <a:rPr kumimoji="1" lang="zh-CN" altLang="en-US"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rPr>
              <a:t>化为</a:t>
            </a:r>
            <a:r>
              <a:rPr kumimoji="1" lang="en-US" altLang="zh-CN" sz="18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rPr>
              <a:t>1</a:t>
            </a:r>
          </a:p>
        </p:txBody>
      </p:sp>
      <p:sp>
        <p:nvSpPr>
          <p:cNvPr id="89" name="Text Box 641">
            <a:extLst>
              <a:ext uri="{FF2B5EF4-FFF2-40B4-BE49-F238E27FC236}">
                <a16:creationId xmlns:a16="http://schemas.microsoft.com/office/drawing/2014/main" id="{7A4898EE-B221-475B-867A-34B59E7C3133}"/>
              </a:ext>
            </a:extLst>
          </p:cNvPr>
          <p:cNvSpPr txBox="1">
            <a:spLocks noChangeArrowheads="1"/>
          </p:cNvSpPr>
          <p:nvPr/>
        </p:nvSpPr>
        <p:spPr bwMode="auto">
          <a:xfrm>
            <a:off x="3675063" y="5243513"/>
            <a:ext cx="30003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a:ln>
                  <a:noFill/>
                </a:ln>
                <a:solidFill>
                  <a:srgbClr val="FF3399"/>
                </a:solidFill>
                <a:effectLst/>
                <a:uLnTx/>
                <a:uFillTx/>
                <a:latin typeface="Times New Roman" panose="02020603050405020304" pitchFamily="18" charset="0"/>
                <a:ea typeface="华文细黑" panose="02010600040101010101" pitchFamily="2" charset="-122"/>
                <a:cs typeface="+mn-cs"/>
              </a:rPr>
              <a:t>1</a:t>
            </a:r>
          </a:p>
        </p:txBody>
      </p:sp>
      <p:sp>
        <p:nvSpPr>
          <p:cNvPr id="90" name="Text Box 641">
            <a:extLst>
              <a:ext uri="{FF2B5EF4-FFF2-40B4-BE49-F238E27FC236}">
                <a16:creationId xmlns:a16="http://schemas.microsoft.com/office/drawing/2014/main" id="{66D4D17E-B7AD-4BD0-954A-EB76DF78BF90}"/>
              </a:ext>
            </a:extLst>
          </p:cNvPr>
          <p:cNvSpPr txBox="1">
            <a:spLocks noChangeArrowheads="1"/>
          </p:cNvSpPr>
          <p:nvPr/>
        </p:nvSpPr>
        <p:spPr bwMode="auto">
          <a:xfrm>
            <a:off x="2333625" y="5241925"/>
            <a:ext cx="312738"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3</a:t>
            </a:r>
          </a:p>
        </p:txBody>
      </p:sp>
      <p:sp>
        <p:nvSpPr>
          <p:cNvPr id="91" name="Text Box 641">
            <a:extLst>
              <a:ext uri="{FF2B5EF4-FFF2-40B4-BE49-F238E27FC236}">
                <a16:creationId xmlns:a16="http://schemas.microsoft.com/office/drawing/2014/main" id="{8DEDA5ED-AD30-4BAF-B170-3BFFB86B8123}"/>
              </a:ext>
            </a:extLst>
          </p:cNvPr>
          <p:cNvSpPr txBox="1">
            <a:spLocks noChangeArrowheads="1"/>
          </p:cNvSpPr>
          <p:nvPr/>
        </p:nvSpPr>
        <p:spPr bwMode="auto">
          <a:xfrm>
            <a:off x="3005138" y="5257800"/>
            <a:ext cx="300037"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a:ln>
                  <a:noFill/>
                </a:ln>
                <a:solidFill>
                  <a:srgbClr val="5F5F5F"/>
                </a:solidFill>
                <a:effectLst/>
                <a:uLnTx/>
                <a:uFillTx/>
                <a:latin typeface="Times New Roman" panose="02020603050405020304" pitchFamily="18" charset="0"/>
                <a:ea typeface="华文细黑" panose="02010600040101010101" pitchFamily="2" charset="-122"/>
                <a:cs typeface="+mn-cs"/>
              </a:rPr>
              <a:t>0</a:t>
            </a:r>
          </a:p>
        </p:txBody>
      </p:sp>
      <p:sp>
        <p:nvSpPr>
          <p:cNvPr id="92" name="Text Box 641">
            <a:extLst>
              <a:ext uri="{FF2B5EF4-FFF2-40B4-BE49-F238E27FC236}">
                <a16:creationId xmlns:a16="http://schemas.microsoft.com/office/drawing/2014/main" id="{A11A26CD-BDE8-4810-AA0B-947B5F5FA333}"/>
              </a:ext>
            </a:extLst>
          </p:cNvPr>
          <p:cNvSpPr txBox="1">
            <a:spLocks noChangeArrowheads="1"/>
          </p:cNvSpPr>
          <p:nvPr/>
        </p:nvSpPr>
        <p:spPr bwMode="auto">
          <a:xfrm>
            <a:off x="4467225" y="5257800"/>
            <a:ext cx="30003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a:ln>
                  <a:noFill/>
                </a:ln>
                <a:solidFill>
                  <a:srgbClr val="FF3399"/>
                </a:solidFill>
                <a:effectLst/>
                <a:uLnTx/>
                <a:uFillTx/>
                <a:latin typeface="Times New Roman" panose="02020603050405020304" pitchFamily="18" charset="0"/>
                <a:ea typeface="华文细黑" panose="02010600040101010101" pitchFamily="2" charset="-122"/>
                <a:cs typeface="+mn-cs"/>
              </a:rPr>
              <a:t>0</a:t>
            </a:r>
          </a:p>
        </p:txBody>
      </p:sp>
      <p:sp>
        <p:nvSpPr>
          <p:cNvPr id="93" name="Text Box 641">
            <a:extLst>
              <a:ext uri="{FF2B5EF4-FFF2-40B4-BE49-F238E27FC236}">
                <a16:creationId xmlns:a16="http://schemas.microsoft.com/office/drawing/2014/main" id="{E2C97B32-1281-40DA-9301-9233018CCC47}"/>
              </a:ext>
            </a:extLst>
          </p:cNvPr>
          <p:cNvSpPr txBox="1">
            <a:spLocks noChangeArrowheads="1"/>
          </p:cNvSpPr>
          <p:nvPr/>
        </p:nvSpPr>
        <p:spPr bwMode="auto">
          <a:xfrm>
            <a:off x="5295900" y="5257800"/>
            <a:ext cx="30003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a:ln>
                  <a:noFill/>
                </a:ln>
                <a:solidFill>
                  <a:srgbClr val="FF3399"/>
                </a:solidFill>
                <a:effectLst/>
                <a:uLnTx/>
                <a:uFillTx/>
                <a:latin typeface="Times New Roman" panose="02020603050405020304" pitchFamily="18" charset="0"/>
                <a:ea typeface="华文细黑" panose="02010600040101010101" pitchFamily="2" charset="-122"/>
                <a:cs typeface="+mn-cs"/>
              </a:rPr>
              <a:t>0</a:t>
            </a:r>
          </a:p>
        </p:txBody>
      </p:sp>
      <p:sp>
        <p:nvSpPr>
          <p:cNvPr id="94" name="Text Box 641">
            <a:extLst>
              <a:ext uri="{FF2B5EF4-FFF2-40B4-BE49-F238E27FC236}">
                <a16:creationId xmlns:a16="http://schemas.microsoft.com/office/drawing/2014/main" id="{4A7E7CD2-A3FE-4EC1-A311-3A26638A34B5}"/>
              </a:ext>
            </a:extLst>
          </p:cNvPr>
          <p:cNvSpPr txBox="1">
            <a:spLocks noChangeArrowheads="1"/>
          </p:cNvSpPr>
          <p:nvPr/>
        </p:nvSpPr>
        <p:spPr bwMode="auto">
          <a:xfrm>
            <a:off x="5935663" y="5257800"/>
            <a:ext cx="51276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a:ln>
                  <a:noFill/>
                </a:ln>
                <a:solidFill>
                  <a:srgbClr val="5F5F5F"/>
                </a:solidFill>
                <a:effectLst/>
                <a:uLnTx/>
                <a:uFillTx/>
                <a:latin typeface="Times New Roman" panose="02020603050405020304" pitchFamily="18" charset="0"/>
                <a:ea typeface="华文细黑" panose="02010600040101010101" pitchFamily="2" charset="-122"/>
                <a:cs typeface="+mn-cs"/>
              </a:rPr>
              <a:t>1/4</a:t>
            </a:r>
          </a:p>
        </p:txBody>
      </p:sp>
      <p:sp>
        <p:nvSpPr>
          <p:cNvPr id="95" name="Text Box 641">
            <a:extLst>
              <a:ext uri="{FF2B5EF4-FFF2-40B4-BE49-F238E27FC236}">
                <a16:creationId xmlns:a16="http://schemas.microsoft.com/office/drawing/2014/main" id="{9A556CDD-AE9F-45CE-8991-3BA9D4866977}"/>
              </a:ext>
            </a:extLst>
          </p:cNvPr>
          <p:cNvSpPr txBox="1">
            <a:spLocks noChangeArrowheads="1"/>
          </p:cNvSpPr>
          <p:nvPr/>
        </p:nvSpPr>
        <p:spPr bwMode="auto">
          <a:xfrm>
            <a:off x="3705225" y="4357688"/>
            <a:ext cx="3000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a:ln>
                  <a:noFill/>
                </a:ln>
                <a:solidFill>
                  <a:srgbClr val="FF3399"/>
                </a:solidFill>
                <a:effectLst/>
                <a:uLnTx/>
                <a:uFillTx/>
                <a:latin typeface="Times New Roman" panose="02020603050405020304" pitchFamily="18" charset="0"/>
                <a:ea typeface="华文细黑" panose="02010600040101010101" pitchFamily="2" charset="-122"/>
                <a:cs typeface="+mn-cs"/>
              </a:rPr>
              <a:t>0</a:t>
            </a:r>
          </a:p>
        </p:txBody>
      </p:sp>
      <p:sp>
        <p:nvSpPr>
          <p:cNvPr id="96" name="Text Box 641">
            <a:extLst>
              <a:ext uri="{FF2B5EF4-FFF2-40B4-BE49-F238E27FC236}">
                <a16:creationId xmlns:a16="http://schemas.microsoft.com/office/drawing/2014/main" id="{719F0856-51D0-43FD-853E-83A7FFD18A42}"/>
              </a:ext>
            </a:extLst>
          </p:cNvPr>
          <p:cNvSpPr txBox="1">
            <a:spLocks noChangeArrowheads="1"/>
          </p:cNvSpPr>
          <p:nvPr/>
        </p:nvSpPr>
        <p:spPr bwMode="auto">
          <a:xfrm>
            <a:off x="2333625" y="4354513"/>
            <a:ext cx="312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2</a:t>
            </a:r>
          </a:p>
        </p:txBody>
      </p:sp>
      <p:sp>
        <p:nvSpPr>
          <p:cNvPr id="97" name="Text Box 641">
            <a:extLst>
              <a:ext uri="{FF2B5EF4-FFF2-40B4-BE49-F238E27FC236}">
                <a16:creationId xmlns:a16="http://schemas.microsoft.com/office/drawing/2014/main" id="{E0CA4CBA-3AB3-4352-BF05-9D7AEF7AFA02}"/>
              </a:ext>
            </a:extLst>
          </p:cNvPr>
          <p:cNvSpPr txBox="1">
            <a:spLocks noChangeArrowheads="1"/>
          </p:cNvSpPr>
          <p:nvPr/>
        </p:nvSpPr>
        <p:spPr bwMode="auto">
          <a:xfrm>
            <a:off x="3019425" y="4343400"/>
            <a:ext cx="30003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a:ln>
                  <a:noFill/>
                </a:ln>
                <a:solidFill>
                  <a:srgbClr val="5F5F5F"/>
                </a:solidFill>
                <a:effectLst/>
                <a:uLnTx/>
                <a:uFillTx/>
                <a:latin typeface="Times New Roman" panose="02020603050405020304" pitchFamily="18" charset="0"/>
                <a:ea typeface="华文细黑" panose="02010600040101010101" pitchFamily="2" charset="-122"/>
                <a:cs typeface="+mn-cs"/>
              </a:rPr>
              <a:t>1</a:t>
            </a:r>
          </a:p>
        </p:txBody>
      </p:sp>
      <p:sp>
        <p:nvSpPr>
          <p:cNvPr id="98" name="Text Box 641">
            <a:extLst>
              <a:ext uri="{FF2B5EF4-FFF2-40B4-BE49-F238E27FC236}">
                <a16:creationId xmlns:a16="http://schemas.microsoft.com/office/drawing/2014/main" id="{8773CAF6-ECBD-47B8-AD92-D36E9EB9EB3C}"/>
              </a:ext>
            </a:extLst>
          </p:cNvPr>
          <p:cNvSpPr txBox="1">
            <a:spLocks noChangeArrowheads="1"/>
          </p:cNvSpPr>
          <p:nvPr/>
        </p:nvSpPr>
        <p:spPr bwMode="auto">
          <a:xfrm>
            <a:off x="4479925" y="4354513"/>
            <a:ext cx="3000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a:ln>
                  <a:noFill/>
                </a:ln>
                <a:solidFill>
                  <a:srgbClr val="FF3399"/>
                </a:solidFill>
                <a:effectLst/>
                <a:uLnTx/>
                <a:uFillTx/>
                <a:latin typeface="Times New Roman" panose="02020603050405020304" pitchFamily="18" charset="0"/>
                <a:ea typeface="华文细黑" panose="02010600040101010101" pitchFamily="2" charset="-122"/>
                <a:cs typeface="+mn-cs"/>
              </a:rPr>
              <a:t>1</a:t>
            </a:r>
          </a:p>
        </p:txBody>
      </p:sp>
      <p:sp>
        <p:nvSpPr>
          <p:cNvPr id="99" name="Text Box 641">
            <a:extLst>
              <a:ext uri="{FF2B5EF4-FFF2-40B4-BE49-F238E27FC236}">
                <a16:creationId xmlns:a16="http://schemas.microsoft.com/office/drawing/2014/main" id="{1DD30EB2-6A09-43FB-BF8B-C97D519CFF84}"/>
              </a:ext>
            </a:extLst>
          </p:cNvPr>
          <p:cNvSpPr txBox="1">
            <a:spLocks noChangeArrowheads="1"/>
          </p:cNvSpPr>
          <p:nvPr/>
        </p:nvSpPr>
        <p:spPr bwMode="auto">
          <a:xfrm>
            <a:off x="5233988" y="4343400"/>
            <a:ext cx="300037"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a:ln>
                  <a:noFill/>
                </a:ln>
                <a:solidFill>
                  <a:srgbClr val="FF3399"/>
                </a:solidFill>
                <a:effectLst/>
                <a:uLnTx/>
                <a:uFillTx/>
                <a:latin typeface="Times New Roman" panose="02020603050405020304" pitchFamily="18" charset="0"/>
                <a:ea typeface="华文细黑" panose="02010600040101010101" pitchFamily="2" charset="-122"/>
                <a:cs typeface="+mn-cs"/>
              </a:rPr>
              <a:t>0</a:t>
            </a:r>
          </a:p>
        </p:txBody>
      </p:sp>
      <p:sp>
        <p:nvSpPr>
          <p:cNvPr id="100" name="Text Box 641">
            <a:extLst>
              <a:ext uri="{FF2B5EF4-FFF2-40B4-BE49-F238E27FC236}">
                <a16:creationId xmlns:a16="http://schemas.microsoft.com/office/drawing/2014/main" id="{7CA6A523-A04F-45A3-818B-AEE7513737A7}"/>
              </a:ext>
            </a:extLst>
          </p:cNvPr>
          <p:cNvSpPr txBox="1">
            <a:spLocks noChangeArrowheads="1"/>
          </p:cNvSpPr>
          <p:nvPr/>
        </p:nvSpPr>
        <p:spPr bwMode="auto">
          <a:xfrm>
            <a:off x="5915025" y="4343400"/>
            <a:ext cx="5556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a:ln>
                  <a:noFill/>
                </a:ln>
                <a:solidFill>
                  <a:srgbClr val="5F5F5F"/>
                </a:solidFill>
                <a:effectLst/>
                <a:uLnTx/>
                <a:uFillTx/>
                <a:latin typeface="Times New Roman" panose="02020603050405020304" pitchFamily="18" charset="0"/>
                <a:ea typeface="华文细黑" panose="02010600040101010101" pitchFamily="2" charset="-122"/>
                <a:cs typeface="+mn-cs"/>
              </a:rPr>
              <a:t>-1/2</a:t>
            </a:r>
          </a:p>
        </p:txBody>
      </p:sp>
      <p:sp>
        <p:nvSpPr>
          <p:cNvPr id="101" name="Text Box 641">
            <a:extLst>
              <a:ext uri="{FF2B5EF4-FFF2-40B4-BE49-F238E27FC236}">
                <a16:creationId xmlns:a16="http://schemas.microsoft.com/office/drawing/2014/main" id="{255ABC26-947F-40EF-96B4-AC37C2DF4163}"/>
              </a:ext>
            </a:extLst>
          </p:cNvPr>
          <p:cNvSpPr txBox="1">
            <a:spLocks noChangeArrowheads="1"/>
          </p:cNvSpPr>
          <p:nvPr/>
        </p:nvSpPr>
        <p:spPr bwMode="auto">
          <a:xfrm>
            <a:off x="2268538" y="4816475"/>
            <a:ext cx="4413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16</a:t>
            </a:r>
          </a:p>
        </p:txBody>
      </p:sp>
      <p:sp>
        <p:nvSpPr>
          <p:cNvPr id="102" name="Text Box 641">
            <a:extLst>
              <a:ext uri="{FF2B5EF4-FFF2-40B4-BE49-F238E27FC236}">
                <a16:creationId xmlns:a16="http://schemas.microsoft.com/office/drawing/2014/main" id="{959204A3-058D-4773-86AA-4640D31C95EA}"/>
              </a:ext>
            </a:extLst>
          </p:cNvPr>
          <p:cNvSpPr txBox="1">
            <a:spLocks noChangeArrowheads="1"/>
          </p:cNvSpPr>
          <p:nvPr/>
        </p:nvSpPr>
        <p:spPr bwMode="auto">
          <a:xfrm>
            <a:off x="3019425" y="4811713"/>
            <a:ext cx="3000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a:ln>
                  <a:noFill/>
                </a:ln>
                <a:solidFill>
                  <a:srgbClr val="5F5F5F"/>
                </a:solidFill>
                <a:effectLst/>
                <a:uLnTx/>
                <a:uFillTx/>
                <a:latin typeface="Times New Roman" panose="02020603050405020304" pitchFamily="18" charset="0"/>
                <a:ea typeface="华文细黑" panose="02010600040101010101" pitchFamily="2" charset="-122"/>
                <a:cs typeface="+mn-cs"/>
              </a:rPr>
              <a:t>4</a:t>
            </a:r>
          </a:p>
        </p:txBody>
      </p:sp>
      <p:sp>
        <p:nvSpPr>
          <p:cNvPr id="103" name="Text Box 641">
            <a:extLst>
              <a:ext uri="{FF2B5EF4-FFF2-40B4-BE49-F238E27FC236}">
                <a16:creationId xmlns:a16="http://schemas.microsoft.com/office/drawing/2014/main" id="{FF8841DB-A059-4F9F-86B2-A466B8A039FC}"/>
              </a:ext>
            </a:extLst>
          </p:cNvPr>
          <p:cNvSpPr txBox="1">
            <a:spLocks noChangeArrowheads="1"/>
          </p:cNvSpPr>
          <p:nvPr/>
        </p:nvSpPr>
        <p:spPr bwMode="auto">
          <a:xfrm>
            <a:off x="3705225" y="4811713"/>
            <a:ext cx="3000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a:ln>
                  <a:noFill/>
                </a:ln>
                <a:solidFill>
                  <a:srgbClr val="FF3399"/>
                </a:solidFill>
                <a:effectLst/>
                <a:uLnTx/>
                <a:uFillTx/>
                <a:latin typeface="Times New Roman" panose="02020603050405020304" pitchFamily="18" charset="0"/>
                <a:ea typeface="华文细黑" panose="02010600040101010101" pitchFamily="2" charset="-122"/>
                <a:cs typeface="+mn-cs"/>
              </a:rPr>
              <a:t>0</a:t>
            </a:r>
          </a:p>
        </p:txBody>
      </p:sp>
      <p:sp>
        <p:nvSpPr>
          <p:cNvPr id="104" name="Text Box 641">
            <a:extLst>
              <a:ext uri="{FF2B5EF4-FFF2-40B4-BE49-F238E27FC236}">
                <a16:creationId xmlns:a16="http://schemas.microsoft.com/office/drawing/2014/main" id="{4FE00F99-F3F6-43A9-BCD8-18B81DD46186}"/>
              </a:ext>
            </a:extLst>
          </p:cNvPr>
          <p:cNvSpPr txBox="1">
            <a:spLocks noChangeArrowheads="1"/>
          </p:cNvSpPr>
          <p:nvPr/>
        </p:nvSpPr>
        <p:spPr bwMode="auto">
          <a:xfrm>
            <a:off x="4479925" y="4794250"/>
            <a:ext cx="300038"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a:ln>
                  <a:noFill/>
                </a:ln>
                <a:solidFill>
                  <a:srgbClr val="FF3399"/>
                </a:solidFill>
                <a:effectLst/>
                <a:uLnTx/>
                <a:uFillTx/>
                <a:latin typeface="Times New Roman" panose="02020603050405020304" pitchFamily="18" charset="0"/>
                <a:ea typeface="华文细黑" panose="02010600040101010101" pitchFamily="2" charset="-122"/>
                <a:cs typeface="+mn-cs"/>
              </a:rPr>
              <a:t>0</a:t>
            </a:r>
          </a:p>
        </p:txBody>
      </p:sp>
      <p:sp>
        <p:nvSpPr>
          <p:cNvPr id="105" name="Text Box 641">
            <a:extLst>
              <a:ext uri="{FF2B5EF4-FFF2-40B4-BE49-F238E27FC236}">
                <a16:creationId xmlns:a16="http://schemas.microsoft.com/office/drawing/2014/main" id="{00C49168-8939-48E3-848D-A18C0A41531F}"/>
              </a:ext>
            </a:extLst>
          </p:cNvPr>
          <p:cNvSpPr txBox="1">
            <a:spLocks noChangeArrowheads="1"/>
          </p:cNvSpPr>
          <p:nvPr/>
        </p:nvSpPr>
        <p:spPr bwMode="auto">
          <a:xfrm>
            <a:off x="5294313" y="4811713"/>
            <a:ext cx="30003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a:ln>
                  <a:noFill/>
                </a:ln>
                <a:solidFill>
                  <a:srgbClr val="FF3399"/>
                </a:solidFill>
                <a:effectLst/>
                <a:uLnTx/>
                <a:uFillTx/>
                <a:latin typeface="Times New Roman" panose="02020603050405020304" pitchFamily="18" charset="0"/>
                <a:ea typeface="华文细黑" panose="02010600040101010101" pitchFamily="2" charset="-122"/>
                <a:cs typeface="+mn-cs"/>
              </a:rPr>
              <a:t>1</a:t>
            </a:r>
          </a:p>
        </p:txBody>
      </p:sp>
      <p:sp>
        <p:nvSpPr>
          <p:cNvPr id="106" name="Text Box 641">
            <a:extLst>
              <a:ext uri="{FF2B5EF4-FFF2-40B4-BE49-F238E27FC236}">
                <a16:creationId xmlns:a16="http://schemas.microsoft.com/office/drawing/2014/main" id="{587FABD9-FF9D-41D3-91B8-56A455155058}"/>
              </a:ext>
            </a:extLst>
          </p:cNvPr>
          <p:cNvSpPr txBox="1">
            <a:spLocks noChangeArrowheads="1"/>
          </p:cNvSpPr>
          <p:nvPr/>
        </p:nvSpPr>
        <p:spPr bwMode="auto">
          <a:xfrm>
            <a:off x="6072188" y="4811713"/>
            <a:ext cx="30003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a:ln>
                  <a:noFill/>
                </a:ln>
                <a:solidFill>
                  <a:srgbClr val="5F5F5F"/>
                </a:solidFill>
                <a:effectLst/>
                <a:uLnTx/>
                <a:uFillTx/>
                <a:latin typeface="Times New Roman" panose="02020603050405020304" pitchFamily="18" charset="0"/>
                <a:ea typeface="华文细黑" panose="02010600040101010101" pitchFamily="2" charset="-122"/>
                <a:cs typeface="+mn-cs"/>
              </a:rPr>
              <a:t>0</a:t>
            </a:r>
          </a:p>
        </p:txBody>
      </p:sp>
      <p:sp>
        <p:nvSpPr>
          <p:cNvPr id="107" name="Text Box 641">
            <a:extLst>
              <a:ext uri="{FF2B5EF4-FFF2-40B4-BE49-F238E27FC236}">
                <a16:creationId xmlns:a16="http://schemas.microsoft.com/office/drawing/2014/main" id="{E8286758-F129-4A99-AA45-EA34A57090BA}"/>
              </a:ext>
            </a:extLst>
          </p:cNvPr>
          <p:cNvSpPr txBox="1">
            <a:spLocks noChangeArrowheads="1"/>
          </p:cNvSpPr>
          <p:nvPr/>
        </p:nvSpPr>
        <p:spPr bwMode="auto">
          <a:xfrm>
            <a:off x="3019425" y="5715000"/>
            <a:ext cx="30003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a:ln>
                  <a:noFill/>
                </a:ln>
                <a:solidFill>
                  <a:srgbClr val="5F5F5F"/>
                </a:solidFill>
                <a:effectLst/>
                <a:uLnTx/>
                <a:uFillTx/>
                <a:latin typeface="Times New Roman" panose="02020603050405020304" pitchFamily="18" charset="0"/>
                <a:ea typeface="华文细黑" panose="02010600040101010101" pitchFamily="2" charset="-122"/>
                <a:cs typeface="+mn-cs"/>
              </a:rPr>
              <a:t>2</a:t>
            </a:r>
          </a:p>
        </p:txBody>
      </p:sp>
      <p:sp>
        <p:nvSpPr>
          <p:cNvPr id="108" name="Text Box 641">
            <a:extLst>
              <a:ext uri="{FF2B5EF4-FFF2-40B4-BE49-F238E27FC236}">
                <a16:creationId xmlns:a16="http://schemas.microsoft.com/office/drawing/2014/main" id="{787F5615-0F2F-4DDF-A484-F53559A5C4F1}"/>
              </a:ext>
            </a:extLst>
          </p:cNvPr>
          <p:cNvSpPr txBox="1">
            <a:spLocks noChangeArrowheads="1"/>
          </p:cNvSpPr>
          <p:nvPr/>
        </p:nvSpPr>
        <p:spPr bwMode="auto">
          <a:xfrm>
            <a:off x="3705225" y="5715000"/>
            <a:ext cx="30003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a:ln>
                  <a:noFill/>
                </a:ln>
                <a:solidFill>
                  <a:srgbClr val="5F5F5F"/>
                </a:solidFill>
                <a:effectLst/>
                <a:uLnTx/>
                <a:uFillTx/>
                <a:latin typeface="Times New Roman" panose="02020603050405020304" pitchFamily="18" charset="0"/>
                <a:ea typeface="华文细黑" panose="02010600040101010101" pitchFamily="2" charset="-122"/>
                <a:cs typeface="+mn-cs"/>
              </a:rPr>
              <a:t>0</a:t>
            </a:r>
          </a:p>
        </p:txBody>
      </p:sp>
      <p:sp>
        <p:nvSpPr>
          <p:cNvPr id="109" name="Text Box 641">
            <a:extLst>
              <a:ext uri="{FF2B5EF4-FFF2-40B4-BE49-F238E27FC236}">
                <a16:creationId xmlns:a16="http://schemas.microsoft.com/office/drawing/2014/main" id="{6D244BAB-3249-4903-9970-F609F8F9E1C0}"/>
              </a:ext>
            </a:extLst>
          </p:cNvPr>
          <p:cNvSpPr txBox="1">
            <a:spLocks noChangeArrowheads="1"/>
          </p:cNvSpPr>
          <p:nvPr/>
        </p:nvSpPr>
        <p:spPr bwMode="auto">
          <a:xfrm>
            <a:off x="4486275" y="5721350"/>
            <a:ext cx="30003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a:ln>
                  <a:noFill/>
                </a:ln>
                <a:solidFill>
                  <a:srgbClr val="5F5F5F"/>
                </a:solidFill>
                <a:effectLst/>
                <a:uLnTx/>
                <a:uFillTx/>
                <a:latin typeface="Times New Roman" panose="02020603050405020304" pitchFamily="18" charset="0"/>
                <a:ea typeface="华文细黑" panose="02010600040101010101" pitchFamily="2" charset="-122"/>
                <a:cs typeface="+mn-cs"/>
              </a:rPr>
              <a:t>0</a:t>
            </a:r>
          </a:p>
        </p:txBody>
      </p:sp>
      <p:sp>
        <p:nvSpPr>
          <p:cNvPr id="110" name="Text Box 641">
            <a:extLst>
              <a:ext uri="{FF2B5EF4-FFF2-40B4-BE49-F238E27FC236}">
                <a16:creationId xmlns:a16="http://schemas.microsoft.com/office/drawing/2014/main" id="{3E686E03-5ED4-489A-8521-E4340C6BC0EB}"/>
              </a:ext>
            </a:extLst>
          </p:cNvPr>
          <p:cNvSpPr txBox="1">
            <a:spLocks noChangeArrowheads="1"/>
          </p:cNvSpPr>
          <p:nvPr/>
        </p:nvSpPr>
        <p:spPr bwMode="auto">
          <a:xfrm>
            <a:off x="5353050" y="5703888"/>
            <a:ext cx="300038"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a:ln>
                  <a:noFill/>
                </a:ln>
                <a:solidFill>
                  <a:srgbClr val="5F5F5F"/>
                </a:solidFill>
                <a:effectLst/>
                <a:uLnTx/>
                <a:uFillTx/>
                <a:latin typeface="Times New Roman" panose="02020603050405020304" pitchFamily="18" charset="0"/>
                <a:ea typeface="华文细黑" panose="02010600040101010101" pitchFamily="2" charset="-122"/>
                <a:cs typeface="+mn-cs"/>
              </a:rPr>
              <a:t>0</a:t>
            </a:r>
          </a:p>
        </p:txBody>
      </p:sp>
      <p:sp>
        <p:nvSpPr>
          <p:cNvPr id="111" name="Text Box 641">
            <a:extLst>
              <a:ext uri="{FF2B5EF4-FFF2-40B4-BE49-F238E27FC236}">
                <a16:creationId xmlns:a16="http://schemas.microsoft.com/office/drawing/2014/main" id="{780C2C85-A44D-4945-A357-9BB32EF76784}"/>
              </a:ext>
            </a:extLst>
          </p:cNvPr>
          <p:cNvSpPr txBox="1">
            <a:spLocks noChangeArrowheads="1"/>
          </p:cNvSpPr>
          <p:nvPr/>
        </p:nvSpPr>
        <p:spPr bwMode="auto">
          <a:xfrm>
            <a:off x="5915025" y="5726113"/>
            <a:ext cx="5556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a:ln>
                  <a:noFill/>
                </a:ln>
                <a:solidFill>
                  <a:srgbClr val="5F5F5F"/>
                </a:solidFill>
                <a:effectLst/>
                <a:uLnTx/>
                <a:uFillTx/>
                <a:latin typeface="Times New Roman" panose="02020603050405020304" pitchFamily="18" charset="0"/>
                <a:ea typeface="华文细黑" panose="02010600040101010101" pitchFamily="2" charset="-122"/>
                <a:cs typeface="+mn-cs"/>
              </a:rPr>
              <a:t>-3/4</a:t>
            </a:r>
          </a:p>
        </p:txBody>
      </p:sp>
      <p:sp>
        <p:nvSpPr>
          <p:cNvPr id="112" name="Line 518">
            <a:extLst>
              <a:ext uri="{FF2B5EF4-FFF2-40B4-BE49-F238E27FC236}">
                <a16:creationId xmlns:a16="http://schemas.microsoft.com/office/drawing/2014/main" id="{76E96155-39B1-481F-9896-BD717FDD9869}"/>
              </a:ext>
            </a:extLst>
          </p:cNvPr>
          <p:cNvSpPr>
            <a:spLocks noChangeShapeType="1"/>
          </p:cNvSpPr>
          <p:nvPr/>
        </p:nvSpPr>
        <p:spPr bwMode="auto">
          <a:xfrm flipV="1">
            <a:off x="3319463" y="5710238"/>
            <a:ext cx="0" cy="381000"/>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3" name="Text Box 641">
            <a:extLst>
              <a:ext uri="{FF2B5EF4-FFF2-40B4-BE49-F238E27FC236}">
                <a16:creationId xmlns:a16="http://schemas.microsoft.com/office/drawing/2014/main" id="{D1EC74F0-F033-4604-858C-6386EAA9B888}"/>
              </a:ext>
            </a:extLst>
          </p:cNvPr>
          <p:cNvSpPr txBox="1">
            <a:spLocks noChangeArrowheads="1"/>
          </p:cNvSpPr>
          <p:nvPr/>
        </p:nvSpPr>
        <p:spPr bwMode="auto">
          <a:xfrm>
            <a:off x="6796088" y="4325938"/>
            <a:ext cx="35718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srgbClr val="009900"/>
                </a:solidFill>
                <a:effectLst/>
                <a:uLnTx/>
                <a:uFillTx/>
                <a:latin typeface="Arial" panose="020B0604020202020204" pitchFamily="34" charset="0"/>
                <a:ea typeface="宋体" panose="02010600030101010101" pitchFamily="2" charset="-122"/>
                <a:cs typeface="+mn-cs"/>
              </a:rPr>
              <a:t>2</a:t>
            </a:r>
          </a:p>
        </p:txBody>
      </p:sp>
      <p:sp>
        <p:nvSpPr>
          <p:cNvPr id="114" name="Text Box 641">
            <a:extLst>
              <a:ext uri="{FF2B5EF4-FFF2-40B4-BE49-F238E27FC236}">
                <a16:creationId xmlns:a16="http://schemas.microsoft.com/office/drawing/2014/main" id="{F7692291-FF38-4105-A64B-02C95092A5C3}"/>
              </a:ext>
            </a:extLst>
          </p:cNvPr>
          <p:cNvSpPr txBox="1">
            <a:spLocks noChangeArrowheads="1"/>
          </p:cNvSpPr>
          <p:nvPr/>
        </p:nvSpPr>
        <p:spPr bwMode="auto">
          <a:xfrm>
            <a:off x="6813550" y="4748213"/>
            <a:ext cx="3556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srgbClr val="009900"/>
                </a:solidFill>
                <a:effectLst/>
                <a:uLnTx/>
                <a:uFillTx/>
                <a:latin typeface="Arial" panose="020B0604020202020204" pitchFamily="34" charset="0"/>
                <a:ea typeface="宋体" panose="02010600030101010101" pitchFamily="2" charset="-122"/>
                <a:cs typeface="+mn-cs"/>
              </a:rPr>
              <a:t>4</a:t>
            </a:r>
          </a:p>
        </p:txBody>
      </p:sp>
      <p:sp>
        <p:nvSpPr>
          <p:cNvPr id="115" name="Text Box 642">
            <a:extLst>
              <a:ext uri="{FF2B5EF4-FFF2-40B4-BE49-F238E27FC236}">
                <a16:creationId xmlns:a16="http://schemas.microsoft.com/office/drawing/2014/main" id="{22948607-3F78-4C54-85E8-838C4AD506B3}"/>
              </a:ext>
            </a:extLst>
          </p:cNvPr>
          <p:cNvSpPr txBox="1">
            <a:spLocks noChangeArrowheads="1"/>
          </p:cNvSpPr>
          <p:nvPr/>
        </p:nvSpPr>
        <p:spPr bwMode="auto">
          <a:xfrm>
            <a:off x="6765925" y="5237163"/>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009900"/>
                </a:solidFill>
                <a:effectLst/>
                <a:uLnTx/>
                <a:uFillTx/>
                <a:latin typeface="Arial" panose="020B0604020202020204" pitchFamily="34" charset="0"/>
                <a:ea typeface="宋体" panose="02010600030101010101" pitchFamily="2" charset="-122"/>
                <a:cs typeface="+mn-cs"/>
              </a:rPr>
              <a:t>－</a:t>
            </a:r>
          </a:p>
        </p:txBody>
      </p:sp>
      <p:sp>
        <p:nvSpPr>
          <p:cNvPr id="116" name="Line 526">
            <a:extLst>
              <a:ext uri="{FF2B5EF4-FFF2-40B4-BE49-F238E27FC236}">
                <a16:creationId xmlns:a16="http://schemas.microsoft.com/office/drawing/2014/main" id="{0BB8CB48-8F8D-47C1-B431-5AF774D48A24}"/>
              </a:ext>
            </a:extLst>
          </p:cNvPr>
          <p:cNvSpPr>
            <a:spLocks noChangeShapeType="1"/>
          </p:cNvSpPr>
          <p:nvPr/>
        </p:nvSpPr>
        <p:spPr bwMode="auto">
          <a:xfrm>
            <a:off x="1069975" y="4540250"/>
            <a:ext cx="381000" cy="0"/>
          </a:xfrm>
          <a:prstGeom prst="line">
            <a:avLst/>
          </a:prstGeom>
          <a:noFill/>
          <a:ln w="9525">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8" name="AutoShape 528">
            <a:extLst>
              <a:ext uri="{FF2B5EF4-FFF2-40B4-BE49-F238E27FC236}">
                <a16:creationId xmlns:a16="http://schemas.microsoft.com/office/drawing/2014/main" id="{BD36E6AF-531C-4498-BB74-C09C4104F097}"/>
              </a:ext>
            </a:extLst>
          </p:cNvPr>
          <p:cNvSpPr>
            <a:spLocks/>
          </p:cNvSpPr>
          <p:nvPr/>
        </p:nvSpPr>
        <p:spPr bwMode="auto">
          <a:xfrm>
            <a:off x="7729538" y="3425825"/>
            <a:ext cx="431800" cy="1081088"/>
          </a:xfrm>
          <a:prstGeom prst="borderCallout1">
            <a:avLst>
              <a:gd name="adj1" fmla="val 107046"/>
              <a:gd name="adj2" fmla="val 73528"/>
              <a:gd name="adj3" fmla="val 107046"/>
              <a:gd name="adj4" fmla="val -83454"/>
            </a:avLst>
          </a:prstGeom>
          <a:solidFill>
            <a:srgbClr val="FFFF00"/>
          </a:solidFill>
          <a:ln w="9525" algn="ctr">
            <a:solidFill>
              <a:schemeClr val="tx1"/>
            </a:solidFill>
            <a:miter lim="800000"/>
            <a:headEnd type="triangle" w="med" len="me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Pct val="85000"/>
              <a:buFontTx/>
              <a:buNone/>
              <a:tabLst/>
              <a:defRPr/>
            </a:pPr>
            <a:r>
              <a:rPr kumimoji="1" lang="zh-CN" altLang="en-US" sz="2000" b="0" i="0" u="none" strike="noStrike" kern="1200" cap="none" spc="0" normalizeH="0" baseline="0" noProof="0">
                <a:ln>
                  <a:noFill/>
                </a:ln>
                <a:solidFill>
                  <a:srgbClr val="003300"/>
                </a:solidFill>
                <a:effectLst/>
                <a:uLnTx/>
                <a:uFillTx/>
                <a:latin typeface="Arial" panose="020B0604020202020204" pitchFamily="34" charset="0"/>
                <a:ea typeface="宋体" panose="02010600030101010101" pitchFamily="2" charset="-122"/>
                <a:cs typeface="+mn-cs"/>
              </a:rPr>
              <a:t>换出行</a:t>
            </a:r>
          </a:p>
        </p:txBody>
      </p:sp>
      <p:sp>
        <p:nvSpPr>
          <p:cNvPr id="119" name="Oval 529">
            <a:extLst>
              <a:ext uri="{FF2B5EF4-FFF2-40B4-BE49-F238E27FC236}">
                <a16:creationId xmlns:a16="http://schemas.microsoft.com/office/drawing/2014/main" id="{44D8E7ED-4FC7-4616-9678-99A1CF2B0146}"/>
              </a:ext>
            </a:extLst>
          </p:cNvPr>
          <p:cNvSpPr>
            <a:spLocks noChangeArrowheads="1"/>
          </p:cNvSpPr>
          <p:nvPr/>
        </p:nvSpPr>
        <p:spPr bwMode="auto">
          <a:xfrm>
            <a:off x="2943225" y="4343400"/>
            <a:ext cx="457200" cy="381000"/>
          </a:xfrm>
          <a:prstGeom prst="ellipse">
            <a:avLst/>
          </a:prstGeom>
          <a:noFill/>
          <a:ln w="952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pSp>
        <p:nvGrpSpPr>
          <p:cNvPr id="120" name="组合 119">
            <a:extLst>
              <a:ext uri="{FF2B5EF4-FFF2-40B4-BE49-F238E27FC236}">
                <a16:creationId xmlns:a16="http://schemas.microsoft.com/office/drawing/2014/main" id="{7822F257-882E-42CF-AA43-4B61977586F5}"/>
              </a:ext>
            </a:extLst>
          </p:cNvPr>
          <p:cNvGrpSpPr>
            <a:grpSpLocks/>
          </p:cNvGrpSpPr>
          <p:nvPr/>
        </p:nvGrpSpPr>
        <p:grpSpPr bwMode="auto">
          <a:xfrm>
            <a:off x="2444750" y="4679950"/>
            <a:ext cx="5022850" cy="2025650"/>
            <a:chOff x="1982788" y="4260850"/>
            <a:chExt cx="5022850" cy="2025650"/>
          </a:xfrm>
        </p:grpSpPr>
        <p:grpSp>
          <p:nvGrpSpPr>
            <p:cNvPr id="114857" name="Group 23">
              <a:extLst>
                <a:ext uri="{FF2B5EF4-FFF2-40B4-BE49-F238E27FC236}">
                  <a16:creationId xmlns:a16="http://schemas.microsoft.com/office/drawing/2014/main" id="{E72A2099-E80B-4213-9DB2-2ABCBA712DC3}"/>
                </a:ext>
              </a:extLst>
            </p:cNvPr>
            <p:cNvGrpSpPr>
              <a:grpSpLocks/>
            </p:cNvGrpSpPr>
            <p:nvPr/>
          </p:nvGrpSpPr>
          <p:grpSpPr bwMode="auto">
            <a:xfrm>
              <a:off x="3500438" y="4260850"/>
              <a:ext cx="3505200" cy="2025650"/>
              <a:chOff x="3552" y="1344"/>
              <a:chExt cx="2208" cy="1276"/>
            </a:xfrm>
          </p:grpSpPr>
          <p:sp>
            <p:nvSpPr>
              <p:cNvPr id="114859" name="Line 20">
                <a:extLst>
                  <a:ext uri="{FF2B5EF4-FFF2-40B4-BE49-F238E27FC236}">
                    <a16:creationId xmlns:a16="http://schemas.microsoft.com/office/drawing/2014/main" id="{E1163B5A-A202-4591-906E-E8A410D47B4C}"/>
                  </a:ext>
                </a:extLst>
              </p:cNvPr>
              <p:cNvSpPr>
                <a:spLocks noChangeShapeType="1"/>
              </p:cNvSpPr>
              <p:nvPr/>
            </p:nvSpPr>
            <p:spPr bwMode="auto">
              <a:xfrm>
                <a:off x="3731" y="2421"/>
                <a:ext cx="2029" cy="0"/>
              </a:xfrm>
              <a:prstGeom prst="line">
                <a:avLst/>
              </a:prstGeom>
              <a:noFill/>
              <a:ln w="12700">
                <a:solidFill>
                  <a:schemeClr val="hlink"/>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4860" name="Freeform 9">
                <a:extLst>
                  <a:ext uri="{FF2B5EF4-FFF2-40B4-BE49-F238E27FC236}">
                    <a16:creationId xmlns:a16="http://schemas.microsoft.com/office/drawing/2014/main" id="{3EFCDBDD-E612-4533-A551-F8BA6D594EA9}"/>
                  </a:ext>
                </a:extLst>
              </p:cNvPr>
              <p:cNvSpPr>
                <a:spLocks/>
              </p:cNvSpPr>
              <p:nvPr/>
            </p:nvSpPr>
            <p:spPr bwMode="auto">
              <a:xfrm>
                <a:off x="3731" y="1802"/>
                <a:ext cx="884" cy="619"/>
              </a:xfrm>
              <a:custGeom>
                <a:avLst/>
                <a:gdLst>
                  <a:gd name="T0" fmla="*/ 0 w 1296"/>
                  <a:gd name="T1" fmla="*/ 1 h 1104"/>
                  <a:gd name="T2" fmla="*/ 0 w 1296"/>
                  <a:gd name="T3" fmla="*/ 0 h 1104"/>
                  <a:gd name="T4" fmla="*/ 1 w 1296"/>
                  <a:gd name="T5" fmla="*/ 0 h 1104"/>
                  <a:gd name="T6" fmla="*/ 1 w 1296"/>
                  <a:gd name="T7" fmla="*/ 1 h 1104"/>
                  <a:gd name="T8" fmla="*/ 1 w 1296"/>
                  <a:gd name="T9" fmla="*/ 1 h 1104"/>
                  <a:gd name="T10" fmla="*/ 0 w 1296"/>
                  <a:gd name="T11" fmla="*/ 1 h 1104"/>
                  <a:gd name="T12" fmla="*/ 0 60000 65536"/>
                  <a:gd name="T13" fmla="*/ 0 60000 65536"/>
                  <a:gd name="T14" fmla="*/ 0 60000 65536"/>
                  <a:gd name="T15" fmla="*/ 0 60000 65536"/>
                  <a:gd name="T16" fmla="*/ 0 60000 65536"/>
                  <a:gd name="T17" fmla="*/ 0 60000 65536"/>
                  <a:gd name="T18" fmla="*/ 0 w 1296"/>
                  <a:gd name="T19" fmla="*/ 0 h 1104"/>
                  <a:gd name="T20" fmla="*/ 1296 w 1296"/>
                  <a:gd name="T21" fmla="*/ 1104 h 1104"/>
                </a:gdLst>
                <a:ahLst/>
                <a:cxnLst>
                  <a:cxn ang="T12">
                    <a:pos x="T0" y="T1"/>
                  </a:cxn>
                  <a:cxn ang="T13">
                    <a:pos x="T2" y="T3"/>
                  </a:cxn>
                  <a:cxn ang="T14">
                    <a:pos x="T4" y="T5"/>
                  </a:cxn>
                  <a:cxn ang="T15">
                    <a:pos x="T6" y="T7"/>
                  </a:cxn>
                  <a:cxn ang="T16">
                    <a:pos x="T8" y="T9"/>
                  </a:cxn>
                  <a:cxn ang="T17">
                    <a:pos x="T10" y="T11"/>
                  </a:cxn>
                </a:cxnLst>
                <a:rect l="T18" t="T19" r="T20" b="T21"/>
                <a:pathLst>
                  <a:path w="1296" h="1104">
                    <a:moveTo>
                      <a:pt x="0" y="1104"/>
                    </a:moveTo>
                    <a:lnTo>
                      <a:pt x="0" y="0"/>
                    </a:lnTo>
                    <a:lnTo>
                      <a:pt x="720" y="0"/>
                    </a:lnTo>
                    <a:lnTo>
                      <a:pt x="1296" y="336"/>
                    </a:lnTo>
                    <a:lnTo>
                      <a:pt x="1296" y="1104"/>
                    </a:lnTo>
                    <a:lnTo>
                      <a:pt x="0" y="1104"/>
                    </a:lnTo>
                    <a:close/>
                  </a:path>
                </a:pathLst>
              </a:custGeom>
              <a:solidFill>
                <a:srgbClr val="99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4861" name="Line 10">
                <a:extLst>
                  <a:ext uri="{FF2B5EF4-FFF2-40B4-BE49-F238E27FC236}">
                    <a16:creationId xmlns:a16="http://schemas.microsoft.com/office/drawing/2014/main" id="{8A79A6C6-8BDB-4281-B085-9EFC5E60395F}"/>
                  </a:ext>
                </a:extLst>
              </p:cNvPr>
              <p:cNvSpPr>
                <a:spLocks noChangeShapeType="1"/>
              </p:cNvSpPr>
              <p:nvPr/>
            </p:nvSpPr>
            <p:spPr bwMode="auto">
              <a:xfrm flipH="1" flipV="1">
                <a:off x="3731" y="1344"/>
                <a:ext cx="1" cy="1077"/>
              </a:xfrm>
              <a:prstGeom prst="line">
                <a:avLst/>
              </a:prstGeom>
              <a:noFill/>
              <a:ln w="12700">
                <a:solidFill>
                  <a:schemeClr val="hlink"/>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4862" name="Line 13">
                <a:extLst>
                  <a:ext uri="{FF2B5EF4-FFF2-40B4-BE49-F238E27FC236}">
                    <a16:creationId xmlns:a16="http://schemas.microsoft.com/office/drawing/2014/main" id="{F1E85329-B12E-40CF-81A8-DE3DE8B4B14E}"/>
                  </a:ext>
                </a:extLst>
              </p:cNvPr>
              <p:cNvSpPr>
                <a:spLocks noChangeShapeType="1"/>
              </p:cNvSpPr>
              <p:nvPr/>
            </p:nvSpPr>
            <p:spPr bwMode="auto">
              <a:xfrm>
                <a:off x="3732" y="1560"/>
                <a:ext cx="1733" cy="861"/>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4863" name="Line 14">
                <a:extLst>
                  <a:ext uri="{FF2B5EF4-FFF2-40B4-BE49-F238E27FC236}">
                    <a16:creationId xmlns:a16="http://schemas.microsoft.com/office/drawing/2014/main" id="{04E1E2A3-16D4-4252-9A4A-3B012ADEBDCA}"/>
                  </a:ext>
                </a:extLst>
              </p:cNvPr>
              <p:cNvSpPr>
                <a:spLocks noChangeShapeType="1"/>
              </p:cNvSpPr>
              <p:nvPr/>
            </p:nvSpPr>
            <p:spPr bwMode="auto">
              <a:xfrm flipV="1">
                <a:off x="4615" y="1532"/>
                <a:ext cx="0" cy="889"/>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4864" name="Line 15">
                <a:extLst>
                  <a:ext uri="{FF2B5EF4-FFF2-40B4-BE49-F238E27FC236}">
                    <a16:creationId xmlns:a16="http://schemas.microsoft.com/office/drawing/2014/main" id="{AAA25AFA-DE91-484E-A4B8-2C963DD60DCC}"/>
                  </a:ext>
                </a:extLst>
              </p:cNvPr>
              <p:cNvSpPr>
                <a:spLocks noChangeShapeType="1"/>
              </p:cNvSpPr>
              <p:nvPr/>
            </p:nvSpPr>
            <p:spPr bwMode="auto">
              <a:xfrm>
                <a:off x="3731" y="1802"/>
                <a:ext cx="1113"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4865" name="Text Box 11">
                <a:extLst>
                  <a:ext uri="{FF2B5EF4-FFF2-40B4-BE49-F238E27FC236}">
                    <a16:creationId xmlns:a16="http://schemas.microsoft.com/office/drawing/2014/main" id="{4A5841BD-8B9F-4E3F-884E-218F79988157}"/>
                  </a:ext>
                </a:extLst>
              </p:cNvPr>
              <p:cNvSpPr txBox="1">
                <a:spLocks noChangeArrowheads="1"/>
              </p:cNvSpPr>
              <p:nvPr/>
            </p:nvSpPr>
            <p:spPr bwMode="auto">
              <a:xfrm>
                <a:off x="3666" y="2428"/>
                <a:ext cx="202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0     1     2     3     4     5     6     7     8</a:t>
                </a:r>
              </a:p>
            </p:txBody>
          </p:sp>
          <p:sp>
            <p:nvSpPr>
              <p:cNvPr id="114866" name="Text Box 12">
                <a:extLst>
                  <a:ext uri="{FF2B5EF4-FFF2-40B4-BE49-F238E27FC236}">
                    <a16:creationId xmlns:a16="http://schemas.microsoft.com/office/drawing/2014/main" id="{F88B0636-D245-4867-B3FE-558242666A5A}"/>
                  </a:ext>
                </a:extLst>
              </p:cNvPr>
              <p:cNvSpPr txBox="1">
                <a:spLocks noChangeArrowheads="1"/>
              </p:cNvSpPr>
              <p:nvPr/>
            </p:nvSpPr>
            <p:spPr bwMode="auto">
              <a:xfrm>
                <a:off x="3552" y="1776"/>
                <a:ext cx="192" cy="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3</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2</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1</a:t>
                </a:r>
              </a:p>
            </p:txBody>
          </p:sp>
          <p:sp>
            <p:nvSpPr>
              <p:cNvPr id="114867" name="Text Box 16">
                <a:extLst>
                  <a:ext uri="{FF2B5EF4-FFF2-40B4-BE49-F238E27FC236}">
                    <a16:creationId xmlns:a16="http://schemas.microsoft.com/office/drawing/2014/main" id="{D0C1BA90-40C1-4441-A0AE-B17688AD923E}"/>
                  </a:ext>
                </a:extLst>
              </p:cNvPr>
              <p:cNvSpPr txBox="1">
                <a:spLocks noChangeArrowheads="1"/>
              </p:cNvSpPr>
              <p:nvPr/>
            </p:nvSpPr>
            <p:spPr bwMode="auto">
              <a:xfrm>
                <a:off x="4582" y="2272"/>
                <a:ext cx="31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Q</a:t>
                </a:r>
                <a:r>
                  <a:rPr kumimoji="0" lang="en-US" altLang="zh-CN" sz="1400" b="0" i="0" u="none" strike="noStrike" kern="1200" cap="none" spc="0" normalizeH="0" baseline="-25000" noProof="0">
                    <a:ln>
                      <a:noFill/>
                    </a:ln>
                    <a:solidFill>
                      <a:srgbClr val="000000"/>
                    </a:solidFill>
                    <a:effectLst/>
                    <a:uLnTx/>
                    <a:uFillTx/>
                    <a:latin typeface="Arial" panose="020B0604020202020204" pitchFamily="34" charset="0"/>
                    <a:ea typeface="宋体" panose="02010600030101010101" pitchFamily="2" charset="-122"/>
                    <a:cs typeface="+mn-cs"/>
                  </a:rPr>
                  <a:t>1</a:t>
                </a:r>
              </a:p>
            </p:txBody>
          </p:sp>
          <p:sp>
            <p:nvSpPr>
              <p:cNvPr id="114868" name="Text Box 17">
                <a:extLst>
                  <a:ext uri="{FF2B5EF4-FFF2-40B4-BE49-F238E27FC236}">
                    <a16:creationId xmlns:a16="http://schemas.microsoft.com/office/drawing/2014/main" id="{6530721F-07B4-4A20-A5C2-E597336904AF}"/>
                  </a:ext>
                </a:extLst>
              </p:cNvPr>
              <p:cNvSpPr txBox="1">
                <a:spLocks noChangeArrowheads="1"/>
              </p:cNvSpPr>
              <p:nvPr/>
            </p:nvSpPr>
            <p:spPr bwMode="auto">
              <a:xfrm>
                <a:off x="4582" y="1872"/>
                <a:ext cx="7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Q</a:t>
                </a:r>
                <a:r>
                  <a:rPr kumimoji="0" lang="en-US" altLang="zh-CN" sz="1400" b="0" i="0" u="none" strike="noStrike" kern="1200" cap="none" spc="0" normalizeH="0" baseline="-25000" noProof="0">
                    <a:ln>
                      <a:noFill/>
                    </a:ln>
                    <a:solidFill>
                      <a:srgbClr val="000000"/>
                    </a:solidFill>
                    <a:effectLst/>
                    <a:uLnTx/>
                    <a:uFillTx/>
                    <a:latin typeface="Arial" panose="020B0604020202020204" pitchFamily="34" charset="0"/>
                    <a:ea typeface="宋体" panose="02010600030101010101" pitchFamily="2" charset="-122"/>
                    <a:cs typeface="+mn-cs"/>
                  </a:rPr>
                  <a:t>2</a:t>
                </a: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Wingdings" panose="05000000000000000000" pitchFamily="2" charset="2"/>
                  </a:rPr>
                  <a:t>(4, 2)</a:t>
                </a:r>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4869" name="Text Box 18">
                <a:extLst>
                  <a:ext uri="{FF2B5EF4-FFF2-40B4-BE49-F238E27FC236}">
                    <a16:creationId xmlns:a16="http://schemas.microsoft.com/office/drawing/2014/main" id="{0D7EDC50-A75C-4487-A5A7-AD535E8AF4F3}"/>
                  </a:ext>
                </a:extLst>
              </p:cNvPr>
              <p:cNvSpPr txBox="1">
                <a:spLocks noChangeArrowheads="1"/>
              </p:cNvSpPr>
              <p:nvPr/>
            </p:nvSpPr>
            <p:spPr bwMode="auto">
              <a:xfrm>
                <a:off x="4080" y="1584"/>
                <a:ext cx="6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Q</a:t>
                </a:r>
                <a:r>
                  <a:rPr kumimoji="0" lang="en-US" altLang="zh-CN" sz="1400" b="0" i="0" u="none" strike="noStrike" kern="1200" cap="none" spc="0" normalizeH="0" baseline="-25000" noProof="0">
                    <a:ln>
                      <a:noFill/>
                    </a:ln>
                    <a:solidFill>
                      <a:srgbClr val="000000"/>
                    </a:solidFill>
                    <a:effectLst/>
                    <a:uLnTx/>
                    <a:uFillTx/>
                    <a:latin typeface="Arial" panose="020B0604020202020204" pitchFamily="34" charset="0"/>
                    <a:ea typeface="宋体" panose="02010600030101010101" pitchFamily="2" charset="-122"/>
                    <a:cs typeface="+mn-cs"/>
                  </a:rPr>
                  <a:t>3 </a:t>
                </a: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(2, 3)</a:t>
                </a:r>
              </a:p>
            </p:txBody>
          </p:sp>
          <p:sp>
            <p:nvSpPr>
              <p:cNvPr id="114870" name="Text Box 19">
                <a:extLst>
                  <a:ext uri="{FF2B5EF4-FFF2-40B4-BE49-F238E27FC236}">
                    <a16:creationId xmlns:a16="http://schemas.microsoft.com/office/drawing/2014/main" id="{205821CE-BC1A-41EC-8043-0BB89B36B9E4}"/>
                  </a:ext>
                </a:extLst>
              </p:cNvPr>
              <p:cNvSpPr txBox="1">
                <a:spLocks noChangeArrowheads="1"/>
              </p:cNvSpPr>
              <p:nvPr/>
            </p:nvSpPr>
            <p:spPr bwMode="auto">
              <a:xfrm>
                <a:off x="3696" y="1632"/>
                <a:ext cx="3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Q</a:t>
                </a:r>
                <a:r>
                  <a:rPr kumimoji="0" lang="en-US" altLang="zh-CN" sz="1400" b="0" i="0" u="none" strike="noStrike" kern="1200" cap="none" spc="0" normalizeH="0" baseline="-25000" noProof="0">
                    <a:ln>
                      <a:noFill/>
                    </a:ln>
                    <a:solidFill>
                      <a:srgbClr val="000000"/>
                    </a:solidFill>
                    <a:effectLst/>
                    <a:uLnTx/>
                    <a:uFillTx/>
                    <a:latin typeface="Arial" panose="020B0604020202020204" pitchFamily="34" charset="0"/>
                    <a:ea typeface="宋体" panose="02010600030101010101" pitchFamily="2" charset="-122"/>
                    <a:cs typeface="+mn-cs"/>
                  </a:rPr>
                  <a:t>4</a:t>
                </a:r>
              </a:p>
            </p:txBody>
          </p:sp>
        </p:grpSp>
        <p:sp>
          <p:nvSpPr>
            <p:cNvPr id="122" name="箭头: 上弧形 121">
              <a:extLst>
                <a:ext uri="{FF2B5EF4-FFF2-40B4-BE49-F238E27FC236}">
                  <a16:creationId xmlns:a16="http://schemas.microsoft.com/office/drawing/2014/main" id="{B37E27C2-BA76-435C-965E-25FB7F6571FE}"/>
                </a:ext>
              </a:extLst>
            </p:cNvPr>
            <p:cNvSpPr/>
            <p:nvPr/>
          </p:nvSpPr>
          <p:spPr>
            <a:xfrm rot="10800000" flipH="1">
              <a:off x="1982788" y="5138738"/>
              <a:ext cx="2062163" cy="561975"/>
            </a:xfrm>
            <a:prstGeom prst="curvedDownArrow">
              <a:avLst/>
            </a:prstGeom>
            <a:solidFill>
              <a:srgbClr val="FF33CC"/>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33CC"/>
                </a:solidFill>
                <a:effectLst/>
                <a:uLnTx/>
                <a:uFillTx/>
                <a:latin typeface="Arial"/>
                <a:ea typeface="宋体"/>
                <a:cs typeface="+mn-cs"/>
              </a:endParaRPr>
            </a:p>
          </p:txBody>
        </p:sp>
      </p:grpSp>
      <p:sp>
        <p:nvSpPr>
          <p:cNvPr id="135" name="AutoShape 519">
            <a:extLst>
              <a:ext uri="{FF2B5EF4-FFF2-40B4-BE49-F238E27FC236}">
                <a16:creationId xmlns:a16="http://schemas.microsoft.com/office/drawing/2014/main" id="{31FE333B-2B06-401C-9180-E4952EB05A5F}"/>
              </a:ext>
            </a:extLst>
          </p:cNvPr>
          <p:cNvSpPr>
            <a:spLocks/>
          </p:cNvSpPr>
          <p:nvPr/>
        </p:nvSpPr>
        <p:spPr bwMode="auto">
          <a:xfrm>
            <a:off x="1871663" y="1066800"/>
            <a:ext cx="1023937" cy="381000"/>
          </a:xfrm>
          <a:prstGeom prst="borderCallout2">
            <a:avLst>
              <a:gd name="adj1" fmla="val 30000"/>
              <a:gd name="adj2" fmla="val 107440"/>
              <a:gd name="adj3" fmla="val 30000"/>
              <a:gd name="adj4" fmla="val 123102"/>
              <a:gd name="adj5" fmla="val 185833"/>
              <a:gd name="adj6" fmla="val 123875"/>
            </a:avLst>
          </a:prstGeom>
          <a:solidFill>
            <a:srgbClr val="FFFF00"/>
          </a:solidFill>
          <a:ln w="9525">
            <a:solidFill>
              <a:schemeClr val="tx1"/>
            </a:solidFill>
            <a:miter lim="800000"/>
            <a:headEnd/>
            <a:tailEnd type="triangle" w="med" len="me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2000" b="0" i="0" u="none" strike="noStrike" kern="1200" cap="none" spc="0" normalizeH="0" baseline="0" noProof="0">
                <a:ln>
                  <a:noFill/>
                </a:ln>
                <a:solidFill>
                  <a:srgbClr val="5F5F5F"/>
                </a:solidFill>
                <a:effectLst/>
                <a:uLnTx/>
                <a:uFillTx/>
                <a:latin typeface="Arial" panose="020B0604020202020204" pitchFamily="34" charset="0"/>
                <a:ea typeface="宋体" panose="02010600030101010101" pitchFamily="2" charset="-122"/>
                <a:cs typeface="+mn-cs"/>
              </a:rPr>
              <a:t>换入列</a:t>
            </a:r>
          </a:p>
        </p:txBody>
      </p:sp>
      <p:grpSp>
        <p:nvGrpSpPr>
          <p:cNvPr id="151" name="组合 150">
            <a:extLst>
              <a:ext uri="{FF2B5EF4-FFF2-40B4-BE49-F238E27FC236}">
                <a16:creationId xmlns:a16="http://schemas.microsoft.com/office/drawing/2014/main" id="{1C6329B6-30DF-480F-B665-C0E2DBE9C11F}"/>
              </a:ext>
            </a:extLst>
          </p:cNvPr>
          <p:cNvGrpSpPr>
            <a:grpSpLocks/>
          </p:cNvGrpSpPr>
          <p:nvPr/>
        </p:nvGrpSpPr>
        <p:grpSpPr bwMode="auto">
          <a:xfrm>
            <a:off x="2286000" y="2057400"/>
            <a:ext cx="5099050" cy="2025650"/>
            <a:chOff x="1906588" y="4260850"/>
            <a:chExt cx="5099050" cy="2025650"/>
          </a:xfrm>
        </p:grpSpPr>
        <p:grpSp>
          <p:nvGrpSpPr>
            <p:cNvPr id="114843" name="Group 23">
              <a:extLst>
                <a:ext uri="{FF2B5EF4-FFF2-40B4-BE49-F238E27FC236}">
                  <a16:creationId xmlns:a16="http://schemas.microsoft.com/office/drawing/2014/main" id="{4786E715-1074-4319-98CA-0A892B8B3557}"/>
                </a:ext>
              </a:extLst>
            </p:cNvPr>
            <p:cNvGrpSpPr>
              <a:grpSpLocks/>
            </p:cNvGrpSpPr>
            <p:nvPr/>
          </p:nvGrpSpPr>
          <p:grpSpPr bwMode="auto">
            <a:xfrm>
              <a:off x="3500438" y="4260850"/>
              <a:ext cx="3505200" cy="2025650"/>
              <a:chOff x="3552" y="1344"/>
              <a:chExt cx="2208" cy="1276"/>
            </a:xfrm>
          </p:grpSpPr>
          <p:sp>
            <p:nvSpPr>
              <p:cNvPr id="114845" name="Line 20">
                <a:extLst>
                  <a:ext uri="{FF2B5EF4-FFF2-40B4-BE49-F238E27FC236}">
                    <a16:creationId xmlns:a16="http://schemas.microsoft.com/office/drawing/2014/main" id="{69FA5CD5-BB72-456E-99CB-EBED71B621EB}"/>
                  </a:ext>
                </a:extLst>
              </p:cNvPr>
              <p:cNvSpPr>
                <a:spLocks noChangeShapeType="1"/>
              </p:cNvSpPr>
              <p:nvPr/>
            </p:nvSpPr>
            <p:spPr bwMode="auto">
              <a:xfrm>
                <a:off x="3731" y="2421"/>
                <a:ext cx="2029" cy="0"/>
              </a:xfrm>
              <a:prstGeom prst="line">
                <a:avLst/>
              </a:prstGeom>
              <a:noFill/>
              <a:ln w="12700">
                <a:solidFill>
                  <a:schemeClr val="hlink"/>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4846" name="Freeform 9">
                <a:extLst>
                  <a:ext uri="{FF2B5EF4-FFF2-40B4-BE49-F238E27FC236}">
                    <a16:creationId xmlns:a16="http://schemas.microsoft.com/office/drawing/2014/main" id="{CC4B6146-5080-4E27-8993-DB51598D2307}"/>
                  </a:ext>
                </a:extLst>
              </p:cNvPr>
              <p:cNvSpPr>
                <a:spLocks/>
              </p:cNvSpPr>
              <p:nvPr/>
            </p:nvSpPr>
            <p:spPr bwMode="auto">
              <a:xfrm>
                <a:off x="3731" y="1802"/>
                <a:ext cx="884" cy="619"/>
              </a:xfrm>
              <a:custGeom>
                <a:avLst/>
                <a:gdLst>
                  <a:gd name="T0" fmla="*/ 0 w 1296"/>
                  <a:gd name="T1" fmla="*/ 1 h 1104"/>
                  <a:gd name="T2" fmla="*/ 0 w 1296"/>
                  <a:gd name="T3" fmla="*/ 0 h 1104"/>
                  <a:gd name="T4" fmla="*/ 1 w 1296"/>
                  <a:gd name="T5" fmla="*/ 0 h 1104"/>
                  <a:gd name="T6" fmla="*/ 1 w 1296"/>
                  <a:gd name="T7" fmla="*/ 1 h 1104"/>
                  <a:gd name="T8" fmla="*/ 1 w 1296"/>
                  <a:gd name="T9" fmla="*/ 1 h 1104"/>
                  <a:gd name="T10" fmla="*/ 0 w 1296"/>
                  <a:gd name="T11" fmla="*/ 1 h 1104"/>
                  <a:gd name="T12" fmla="*/ 0 60000 65536"/>
                  <a:gd name="T13" fmla="*/ 0 60000 65536"/>
                  <a:gd name="T14" fmla="*/ 0 60000 65536"/>
                  <a:gd name="T15" fmla="*/ 0 60000 65536"/>
                  <a:gd name="T16" fmla="*/ 0 60000 65536"/>
                  <a:gd name="T17" fmla="*/ 0 60000 65536"/>
                  <a:gd name="T18" fmla="*/ 0 w 1296"/>
                  <a:gd name="T19" fmla="*/ 0 h 1104"/>
                  <a:gd name="T20" fmla="*/ 1296 w 1296"/>
                  <a:gd name="T21" fmla="*/ 1104 h 1104"/>
                </a:gdLst>
                <a:ahLst/>
                <a:cxnLst>
                  <a:cxn ang="T12">
                    <a:pos x="T0" y="T1"/>
                  </a:cxn>
                  <a:cxn ang="T13">
                    <a:pos x="T2" y="T3"/>
                  </a:cxn>
                  <a:cxn ang="T14">
                    <a:pos x="T4" y="T5"/>
                  </a:cxn>
                  <a:cxn ang="T15">
                    <a:pos x="T6" y="T7"/>
                  </a:cxn>
                  <a:cxn ang="T16">
                    <a:pos x="T8" y="T9"/>
                  </a:cxn>
                  <a:cxn ang="T17">
                    <a:pos x="T10" y="T11"/>
                  </a:cxn>
                </a:cxnLst>
                <a:rect l="T18" t="T19" r="T20" b="T21"/>
                <a:pathLst>
                  <a:path w="1296" h="1104">
                    <a:moveTo>
                      <a:pt x="0" y="1104"/>
                    </a:moveTo>
                    <a:lnTo>
                      <a:pt x="0" y="0"/>
                    </a:lnTo>
                    <a:lnTo>
                      <a:pt x="720" y="0"/>
                    </a:lnTo>
                    <a:lnTo>
                      <a:pt x="1296" y="336"/>
                    </a:lnTo>
                    <a:lnTo>
                      <a:pt x="1296" y="1104"/>
                    </a:lnTo>
                    <a:lnTo>
                      <a:pt x="0" y="1104"/>
                    </a:lnTo>
                    <a:close/>
                  </a:path>
                </a:pathLst>
              </a:custGeom>
              <a:solidFill>
                <a:srgbClr val="99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4847" name="Line 10">
                <a:extLst>
                  <a:ext uri="{FF2B5EF4-FFF2-40B4-BE49-F238E27FC236}">
                    <a16:creationId xmlns:a16="http://schemas.microsoft.com/office/drawing/2014/main" id="{74BB0098-71F2-4896-B4A6-BE020249CA91}"/>
                  </a:ext>
                </a:extLst>
              </p:cNvPr>
              <p:cNvSpPr>
                <a:spLocks noChangeShapeType="1"/>
              </p:cNvSpPr>
              <p:nvPr/>
            </p:nvSpPr>
            <p:spPr bwMode="auto">
              <a:xfrm flipH="1" flipV="1">
                <a:off x="3731" y="1344"/>
                <a:ext cx="1" cy="1077"/>
              </a:xfrm>
              <a:prstGeom prst="line">
                <a:avLst/>
              </a:prstGeom>
              <a:noFill/>
              <a:ln w="12700">
                <a:solidFill>
                  <a:schemeClr val="hlink"/>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4848" name="Line 13">
                <a:extLst>
                  <a:ext uri="{FF2B5EF4-FFF2-40B4-BE49-F238E27FC236}">
                    <a16:creationId xmlns:a16="http://schemas.microsoft.com/office/drawing/2014/main" id="{DEA0C36B-1513-4868-9773-2691A5A741AD}"/>
                  </a:ext>
                </a:extLst>
              </p:cNvPr>
              <p:cNvSpPr>
                <a:spLocks noChangeShapeType="1"/>
              </p:cNvSpPr>
              <p:nvPr/>
            </p:nvSpPr>
            <p:spPr bwMode="auto">
              <a:xfrm>
                <a:off x="3732" y="1560"/>
                <a:ext cx="1733" cy="861"/>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4849" name="Line 14">
                <a:extLst>
                  <a:ext uri="{FF2B5EF4-FFF2-40B4-BE49-F238E27FC236}">
                    <a16:creationId xmlns:a16="http://schemas.microsoft.com/office/drawing/2014/main" id="{FAC82A3E-6EE7-4162-9661-B2E469654252}"/>
                  </a:ext>
                </a:extLst>
              </p:cNvPr>
              <p:cNvSpPr>
                <a:spLocks noChangeShapeType="1"/>
              </p:cNvSpPr>
              <p:nvPr/>
            </p:nvSpPr>
            <p:spPr bwMode="auto">
              <a:xfrm flipV="1">
                <a:off x="4615" y="1532"/>
                <a:ext cx="0" cy="889"/>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4850" name="Line 15">
                <a:extLst>
                  <a:ext uri="{FF2B5EF4-FFF2-40B4-BE49-F238E27FC236}">
                    <a16:creationId xmlns:a16="http://schemas.microsoft.com/office/drawing/2014/main" id="{47134676-98C8-472C-9E35-CA7E65B15A70}"/>
                  </a:ext>
                </a:extLst>
              </p:cNvPr>
              <p:cNvSpPr>
                <a:spLocks noChangeShapeType="1"/>
              </p:cNvSpPr>
              <p:nvPr/>
            </p:nvSpPr>
            <p:spPr bwMode="auto">
              <a:xfrm>
                <a:off x="3731" y="1802"/>
                <a:ext cx="1113"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4851" name="Text Box 11">
                <a:extLst>
                  <a:ext uri="{FF2B5EF4-FFF2-40B4-BE49-F238E27FC236}">
                    <a16:creationId xmlns:a16="http://schemas.microsoft.com/office/drawing/2014/main" id="{EDA36551-07B9-4F04-B877-2B39E17679AA}"/>
                  </a:ext>
                </a:extLst>
              </p:cNvPr>
              <p:cNvSpPr txBox="1">
                <a:spLocks noChangeArrowheads="1"/>
              </p:cNvSpPr>
              <p:nvPr/>
            </p:nvSpPr>
            <p:spPr bwMode="auto">
              <a:xfrm>
                <a:off x="3666" y="2428"/>
                <a:ext cx="202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0     1     2     3     4     5     6     7     8</a:t>
                </a:r>
              </a:p>
            </p:txBody>
          </p:sp>
          <p:sp>
            <p:nvSpPr>
              <p:cNvPr id="114852" name="Text Box 12">
                <a:extLst>
                  <a:ext uri="{FF2B5EF4-FFF2-40B4-BE49-F238E27FC236}">
                    <a16:creationId xmlns:a16="http://schemas.microsoft.com/office/drawing/2014/main" id="{3582A1CB-D465-4F1A-8E7E-ED7775E4D938}"/>
                  </a:ext>
                </a:extLst>
              </p:cNvPr>
              <p:cNvSpPr txBox="1">
                <a:spLocks noChangeArrowheads="1"/>
              </p:cNvSpPr>
              <p:nvPr/>
            </p:nvSpPr>
            <p:spPr bwMode="auto">
              <a:xfrm>
                <a:off x="3552" y="1776"/>
                <a:ext cx="192" cy="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3</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2</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1</a:t>
                </a:r>
              </a:p>
            </p:txBody>
          </p:sp>
          <p:sp>
            <p:nvSpPr>
              <p:cNvPr id="114853" name="Text Box 16">
                <a:extLst>
                  <a:ext uri="{FF2B5EF4-FFF2-40B4-BE49-F238E27FC236}">
                    <a16:creationId xmlns:a16="http://schemas.microsoft.com/office/drawing/2014/main" id="{231063DF-EDC8-40B2-81CD-39A66DE3EEF3}"/>
                  </a:ext>
                </a:extLst>
              </p:cNvPr>
              <p:cNvSpPr txBox="1">
                <a:spLocks noChangeArrowheads="1"/>
              </p:cNvSpPr>
              <p:nvPr/>
            </p:nvSpPr>
            <p:spPr bwMode="auto">
              <a:xfrm>
                <a:off x="4582" y="2272"/>
                <a:ext cx="31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Q</a:t>
                </a:r>
                <a:r>
                  <a:rPr kumimoji="0" lang="en-US" altLang="zh-CN" sz="1400" b="0" i="0" u="none" strike="noStrike" kern="1200" cap="none" spc="0" normalizeH="0" baseline="-25000" noProof="0">
                    <a:ln>
                      <a:noFill/>
                    </a:ln>
                    <a:solidFill>
                      <a:srgbClr val="000000"/>
                    </a:solidFill>
                    <a:effectLst/>
                    <a:uLnTx/>
                    <a:uFillTx/>
                    <a:latin typeface="Arial" panose="020B0604020202020204" pitchFamily="34" charset="0"/>
                    <a:ea typeface="宋体" panose="02010600030101010101" pitchFamily="2" charset="-122"/>
                    <a:cs typeface="+mn-cs"/>
                  </a:rPr>
                  <a:t>1</a:t>
                </a:r>
              </a:p>
            </p:txBody>
          </p:sp>
          <p:sp>
            <p:nvSpPr>
              <p:cNvPr id="114854" name="Text Box 17">
                <a:extLst>
                  <a:ext uri="{FF2B5EF4-FFF2-40B4-BE49-F238E27FC236}">
                    <a16:creationId xmlns:a16="http://schemas.microsoft.com/office/drawing/2014/main" id="{141E6791-0119-42F5-8D6A-C35A2982B969}"/>
                  </a:ext>
                </a:extLst>
              </p:cNvPr>
              <p:cNvSpPr txBox="1">
                <a:spLocks noChangeArrowheads="1"/>
              </p:cNvSpPr>
              <p:nvPr/>
            </p:nvSpPr>
            <p:spPr bwMode="auto">
              <a:xfrm>
                <a:off x="4582" y="1872"/>
                <a:ext cx="7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Q</a:t>
                </a:r>
                <a:r>
                  <a:rPr kumimoji="0" lang="en-US" altLang="zh-CN" sz="1400" b="0" i="0" u="none" strike="noStrike" kern="1200" cap="none" spc="0" normalizeH="0" baseline="-25000" noProof="0">
                    <a:ln>
                      <a:noFill/>
                    </a:ln>
                    <a:solidFill>
                      <a:srgbClr val="000000"/>
                    </a:solidFill>
                    <a:effectLst/>
                    <a:uLnTx/>
                    <a:uFillTx/>
                    <a:latin typeface="Arial" panose="020B0604020202020204" pitchFamily="34" charset="0"/>
                    <a:ea typeface="宋体" panose="02010600030101010101" pitchFamily="2" charset="-122"/>
                    <a:cs typeface="+mn-cs"/>
                  </a:rPr>
                  <a:t>2</a:t>
                </a: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Wingdings" panose="05000000000000000000" pitchFamily="2" charset="2"/>
                  </a:rPr>
                  <a:t>(4, 2)</a:t>
                </a:r>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4855" name="Text Box 18">
                <a:extLst>
                  <a:ext uri="{FF2B5EF4-FFF2-40B4-BE49-F238E27FC236}">
                    <a16:creationId xmlns:a16="http://schemas.microsoft.com/office/drawing/2014/main" id="{04F95C6D-C8B9-48A9-B312-E08DD1CD3501}"/>
                  </a:ext>
                </a:extLst>
              </p:cNvPr>
              <p:cNvSpPr txBox="1">
                <a:spLocks noChangeArrowheads="1"/>
              </p:cNvSpPr>
              <p:nvPr/>
            </p:nvSpPr>
            <p:spPr bwMode="auto">
              <a:xfrm>
                <a:off x="4080" y="1584"/>
                <a:ext cx="6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Q</a:t>
                </a:r>
                <a:r>
                  <a:rPr kumimoji="0" lang="en-US" altLang="zh-CN" sz="1400" b="0" i="0" u="none" strike="noStrike" kern="1200" cap="none" spc="0" normalizeH="0" baseline="-25000" noProof="0">
                    <a:ln>
                      <a:noFill/>
                    </a:ln>
                    <a:solidFill>
                      <a:srgbClr val="000000"/>
                    </a:solidFill>
                    <a:effectLst/>
                    <a:uLnTx/>
                    <a:uFillTx/>
                    <a:latin typeface="Arial" panose="020B0604020202020204" pitchFamily="34" charset="0"/>
                    <a:ea typeface="宋体" panose="02010600030101010101" pitchFamily="2" charset="-122"/>
                    <a:cs typeface="+mn-cs"/>
                  </a:rPr>
                  <a:t>3 </a:t>
                </a: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(2, 3)</a:t>
                </a:r>
              </a:p>
            </p:txBody>
          </p:sp>
          <p:sp>
            <p:nvSpPr>
              <p:cNvPr id="114856" name="Text Box 19">
                <a:extLst>
                  <a:ext uri="{FF2B5EF4-FFF2-40B4-BE49-F238E27FC236}">
                    <a16:creationId xmlns:a16="http://schemas.microsoft.com/office/drawing/2014/main" id="{E5A99A70-6AB8-4999-A88B-6B6901F04998}"/>
                  </a:ext>
                </a:extLst>
              </p:cNvPr>
              <p:cNvSpPr txBox="1">
                <a:spLocks noChangeArrowheads="1"/>
              </p:cNvSpPr>
              <p:nvPr/>
            </p:nvSpPr>
            <p:spPr bwMode="auto">
              <a:xfrm>
                <a:off x="3696" y="1632"/>
                <a:ext cx="3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Q</a:t>
                </a:r>
                <a:r>
                  <a:rPr kumimoji="0" lang="en-US" altLang="zh-CN" sz="1400" b="0" i="0" u="none" strike="noStrike" kern="1200" cap="none" spc="0" normalizeH="0" baseline="-25000" noProof="0">
                    <a:ln>
                      <a:noFill/>
                    </a:ln>
                    <a:solidFill>
                      <a:srgbClr val="000000"/>
                    </a:solidFill>
                    <a:effectLst/>
                    <a:uLnTx/>
                    <a:uFillTx/>
                    <a:latin typeface="Arial" panose="020B0604020202020204" pitchFamily="34" charset="0"/>
                    <a:ea typeface="宋体" panose="02010600030101010101" pitchFamily="2" charset="-122"/>
                    <a:cs typeface="+mn-cs"/>
                  </a:rPr>
                  <a:t>4</a:t>
                </a:r>
              </a:p>
            </p:txBody>
          </p:sp>
        </p:grpSp>
        <p:sp>
          <p:nvSpPr>
            <p:cNvPr id="153" name="箭头: 上弧形 152">
              <a:extLst>
                <a:ext uri="{FF2B5EF4-FFF2-40B4-BE49-F238E27FC236}">
                  <a16:creationId xmlns:a16="http://schemas.microsoft.com/office/drawing/2014/main" id="{2528169D-F48B-46B4-99B9-8FE580041AC9}"/>
                </a:ext>
              </a:extLst>
            </p:cNvPr>
            <p:cNvSpPr/>
            <p:nvPr/>
          </p:nvSpPr>
          <p:spPr>
            <a:xfrm rot="10800000" flipH="1" flipV="1">
              <a:off x="1906588" y="5175250"/>
              <a:ext cx="2062163" cy="665163"/>
            </a:xfrm>
            <a:prstGeom prst="curvedDownArrow">
              <a:avLst/>
            </a:prstGeom>
            <a:solidFill>
              <a:srgbClr val="FF33CC"/>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33CC"/>
                </a:solidFill>
                <a:effectLst/>
                <a:uLnTx/>
                <a:uFillTx/>
                <a:latin typeface="Arial"/>
                <a:ea typeface="宋体"/>
                <a:cs typeface="+mn-cs"/>
              </a:endParaRPr>
            </a:p>
          </p:txBody>
        </p:sp>
      </p:grpSp>
      <p:graphicFrame>
        <p:nvGraphicFramePr>
          <p:cNvPr id="81" name="对象 80">
            <a:extLst>
              <a:ext uri="{FF2B5EF4-FFF2-40B4-BE49-F238E27FC236}">
                <a16:creationId xmlns:a16="http://schemas.microsoft.com/office/drawing/2014/main" id="{9D76457F-170C-4380-AE32-FD56AFE886E3}"/>
              </a:ext>
            </a:extLst>
          </p:cNvPr>
          <p:cNvGraphicFramePr>
            <a:graphicFrameLocks noChangeAspect="1"/>
          </p:cNvGraphicFramePr>
          <p:nvPr/>
        </p:nvGraphicFramePr>
        <p:xfrm>
          <a:off x="4246563" y="52388"/>
          <a:ext cx="3303587" cy="736600"/>
        </p:xfrm>
        <a:graphic>
          <a:graphicData uri="http://schemas.openxmlformats.org/presentationml/2006/ole">
            <mc:AlternateContent xmlns:mc="http://schemas.openxmlformats.org/markup-compatibility/2006">
              <mc:Choice xmlns:v="urn:schemas-microsoft-com:vml" Requires="v">
                <p:oleObj spid="_x0000_s1036" name="Equation" r:id="rId3" imgW="2108200" imgH="469900" progId="Equation.DSMT4">
                  <p:embed/>
                </p:oleObj>
              </mc:Choice>
              <mc:Fallback>
                <p:oleObj name="Equation" r:id="rId3" imgW="2108200" imgH="469900" progId="Equation.DSMT4">
                  <p:embed/>
                  <p:pic>
                    <p:nvPicPr>
                      <p:cNvPr id="81" name="对象 80">
                        <a:extLst>
                          <a:ext uri="{FF2B5EF4-FFF2-40B4-BE49-F238E27FC236}">
                            <a16:creationId xmlns:a16="http://schemas.microsoft.com/office/drawing/2014/main" id="{9D76457F-170C-4380-AE32-FD56AFE886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6563" y="52388"/>
                        <a:ext cx="3303587" cy="7366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barn(inVertical)">
                                      <p:cBhvr>
                                        <p:cTn id="7" dur="500"/>
                                        <p:tgtEl>
                                          <p:spTgt spid="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75"/>
                                        </p:tgtEl>
                                        <p:attrNameLst>
                                          <p:attrName>style.visibility</p:attrName>
                                        </p:attrNameLst>
                                      </p:cBhvr>
                                      <p:to>
                                        <p:strVal val="visible"/>
                                      </p:to>
                                    </p:set>
                                    <p:anim calcmode="lin" valueType="num">
                                      <p:cBhvr additive="base">
                                        <p:cTn id="12" dur="500" fill="hold"/>
                                        <p:tgtEl>
                                          <p:spTgt spid="75"/>
                                        </p:tgtEl>
                                        <p:attrNameLst>
                                          <p:attrName>ppt_x</p:attrName>
                                        </p:attrNameLst>
                                      </p:cBhvr>
                                      <p:tavLst>
                                        <p:tav tm="0">
                                          <p:val>
                                            <p:strVal val="0-#ppt_w/2"/>
                                          </p:val>
                                        </p:tav>
                                        <p:tav tm="100000">
                                          <p:val>
                                            <p:strVal val="#ppt_x"/>
                                          </p:val>
                                        </p:tav>
                                      </p:tavLst>
                                    </p:anim>
                                    <p:anim calcmode="lin" valueType="num">
                                      <p:cBhvr additive="base">
                                        <p:cTn id="13" dur="500" fill="hold"/>
                                        <p:tgtEl>
                                          <p:spTgt spid="75"/>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72"/>
                                        </p:tgtEl>
                                        <p:attrNameLst>
                                          <p:attrName>style.visibility</p:attrName>
                                        </p:attrNameLst>
                                      </p:cBhvr>
                                      <p:to>
                                        <p:strVal val="visible"/>
                                      </p:to>
                                    </p:set>
                                    <p:animEffect transition="in" filter="blinds(horizontal)">
                                      <p:cBhvr>
                                        <p:cTn id="18" dur="500"/>
                                        <p:tgtEl>
                                          <p:spTgt spid="7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76"/>
                                        </p:tgtEl>
                                        <p:attrNameLst>
                                          <p:attrName>style.visibility</p:attrName>
                                        </p:attrNameLst>
                                      </p:cBhvr>
                                      <p:to>
                                        <p:strVal val="visible"/>
                                      </p:to>
                                    </p:set>
                                    <p:animEffect transition="in" filter="blinds(horizontal)">
                                      <p:cBhvr>
                                        <p:cTn id="23" dur="500"/>
                                        <p:tgtEl>
                                          <p:spTgt spid="7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box(in)">
                                      <p:cBhvr>
                                        <p:cTn id="28" dur="500"/>
                                        <p:tgtEl>
                                          <p:spTgt spid="2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box(in)">
                                      <p:cBhvr>
                                        <p:cTn id="33" dur="500"/>
                                        <p:tgtEl>
                                          <p:spTgt spid="2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71"/>
                                        </p:tgtEl>
                                        <p:attrNameLst>
                                          <p:attrName>style.visibility</p:attrName>
                                        </p:attrNameLst>
                                      </p:cBhvr>
                                      <p:to>
                                        <p:strVal val="visible"/>
                                      </p:to>
                                    </p:set>
                                    <p:animEffect transition="in" filter="box(in)">
                                      <p:cBhvr>
                                        <p:cTn id="38" dur="500"/>
                                        <p:tgtEl>
                                          <p:spTgt spid="7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nodeType="clickEffect">
                                  <p:stCondLst>
                                    <p:cond delay="0"/>
                                  </p:stCondLst>
                                  <p:childTnLst>
                                    <p:set>
                                      <p:cBhvr>
                                        <p:cTn id="42" dur="1" fill="hold">
                                          <p:stCondLst>
                                            <p:cond delay="0"/>
                                          </p:stCondLst>
                                        </p:cTn>
                                        <p:tgtEl>
                                          <p:spTgt spid="77"/>
                                        </p:tgtEl>
                                        <p:attrNameLst>
                                          <p:attrName>style.visibility</p:attrName>
                                        </p:attrNameLst>
                                      </p:cBhvr>
                                      <p:to>
                                        <p:strVal val="visible"/>
                                      </p:to>
                                    </p:set>
                                    <p:anim calcmode="lin" valueType="num">
                                      <p:cBhvr additive="base">
                                        <p:cTn id="43" dur="500" fill="hold"/>
                                        <p:tgtEl>
                                          <p:spTgt spid="77"/>
                                        </p:tgtEl>
                                        <p:attrNameLst>
                                          <p:attrName>ppt_x</p:attrName>
                                        </p:attrNameLst>
                                      </p:cBhvr>
                                      <p:tavLst>
                                        <p:tav tm="0">
                                          <p:val>
                                            <p:strVal val="1+#ppt_w/2"/>
                                          </p:val>
                                        </p:tav>
                                        <p:tav tm="100000">
                                          <p:val>
                                            <p:strVal val="#ppt_x"/>
                                          </p:val>
                                        </p:tav>
                                      </p:tavLst>
                                    </p:anim>
                                    <p:anim calcmode="lin" valueType="num">
                                      <p:cBhvr additive="base">
                                        <p:cTn id="44" dur="500" fill="hold"/>
                                        <p:tgtEl>
                                          <p:spTgt spid="77"/>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78"/>
                                        </p:tgtEl>
                                        <p:attrNameLst>
                                          <p:attrName>style.visibility</p:attrName>
                                        </p:attrNameLst>
                                      </p:cBhvr>
                                      <p:to>
                                        <p:strVal val="visible"/>
                                      </p:to>
                                    </p:set>
                                    <p:animEffect transition="in" filter="fade">
                                      <p:cBhvr>
                                        <p:cTn id="49" dur="500"/>
                                        <p:tgtEl>
                                          <p:spTgt spid="7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9" presetClass="entr" presetSubtype="10" fill="hold" nodeType="clickEffect">
                                  <p:stCondLst>
                                    <p:cond delay="0"/>
                                  </p:stCondLst>
                                  <p:childTnLst>
                                    <p:set>
                                      <p:cBhvr>
                                        <p:cTn id="53" dur="1" fill="hold">
                                          <p:stCondLst>
                                            <p:cond delay="0"/>
                                          </p:stCondLst>
                                        </p:cTn>
                                        <p:tgtEl>
                                          <p:spTgt spid="79"/>
                                        </p:tgtEl>
                                        <p:attrNameLst>
                                          <p:attrName>style.visibility</p:attrName>
                                        </p:attrNameLst>
                                      </p:cBhvr>
                                      <p:to>
                                        <p:strVal val="visible"/>
                                      </p:to>
                                    </p:set>
                                    <p:anim calcmode="lin" valueType="num">
                                      <p:cBhvr>
                                        <p:cTn id="54" dur="5000" fill="hold"/>
                                        <p:tgtEl>
                                          <p:spTgt spid="79"/>
                                        </p:tgtEl>
                                        <p:attrNameLst>
                                          <p:attrName>ppt_w</p:attrName>
                                        </p:attrNameLst>
                                      </p:cBhvr>
                                      <p:tavLst>
                                        <p:tav tm="0" fmla="#ppt_w*sin(2.5*pi*$)">
                                          <p:val>
                                            <p:fltVal val="0"/>
                                          </p:val>
                                        </p:tav>
                                        <p:tav tm="100000">
                                          <p:val>
                                            <p:fltVal val="1"/>
                                          </p:val>
                                        </p:tav>
                                      </p:tavLst>
                                    </p:anim>
                                    <p:anim calcmode="lin" valueType="num">
                                      <p:cBhvr>
                                        <p:cTn id="55" dur="5000" fill="hold"/>
                                        <p:tgtEl>
                                          <p:spTgt spid="79"/>
                                        </p:tgtEl>
                                        <p:attrNameLst>
                                          <p:attrName>ppt_h</p:attrName>
                                        </p:attrNameLst>
                                      </p:cBhvr>
                                      <p:tavLst>
                                        <p:tav tm="0">
                                          <p:val>
                                            <p:strVal val="#ppt_h"/>
                                          </p:val>
                                        </p:tav>
                                        <p:tav tm="100000">
                                          <p:val>
                                            <p:strVal val="#ppt_h"/>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19" presetClass="entr" presetSubtype="10" fill="hold" grpId="0" nodeType="clickEffect">
                                  <p:stCondLst>
                                    <p:cond delay="0"/>
                                  </p:stCondLst>
                                  <p:childTnLst>
                                    <p:set>
                                      <p:cBhvr>
                                        <p:cTn id="59" dur="1" fill="hold">
                                          <p:stCondLst>
                                            <p:cond delay="0"/>
                                          </p:stCondLst>
                                        </p:cTn>
                                        <p:tgtEl>
                                          <p:spTgt spid="80"/>
                                        </p:tgtEl>
                                        <p:attrNameLst>
                                          <p:attrName>style.visibility</p:attrName>
                                        </p:attrNameLst>
                                      </p:cBhvr>
                                      <p:to>
                                        <p:strVal val="visible"/>
                                      </p:to>
                                    </p:set>
                                    <p:anim calcmode="lin" valueType="num">
                                      <p:cBhvr>
                                        <p:cTn id="60" dur="5000" fill="hold"/>
                                        <p:tgtEl>
                                          <p:spTgt spid="80"/>
                                        </p:tgtEl>
                                        <p:attrNameLst>
                                          <p:attrName>ppt_w</p:attrName>
                                        </p:attrNameLst>
                                      </p:cBhvr>
                                      <p:tavLst>
                                        <p:tav tm="0" fmla="#ppt_w*sin(2.5*pi*$)">
                                          <p:val>
                                            <p:fltVal val="0"/>
                                          </p:val>
                                        </p:tav>
                                        <p:tav tm="100000">
                                          <p:val>
                                            <p:fltVal val="1"/>
                                          </p:val>
                                        </p:tav>
                                      </p:tavLst>
                                    </p:anim>
                                    <p:anim calcmode="lin" valueType="num">
                                      <p:cBhvr>
                                        <p:cTn id="61" dur="5000" fill="hold"/>
                                        <p:tgtEl>
                                          <p:spTgt spid="80"/>
                                        </p:tgtEl>
                                        <p:attrNameLst>
                                          <p:attrName>ppt_h</p:attrName>
                                        </p:attrNameLst>
                                      </p:cBhvr>
                                      <p:tavLst>
                                        <p:tav tm="0">
                                          <p:val>
                                            <p:strVal val="#ppt_h"/>
                                          </p:val>
                                        </p:tav>
                                        <p:tav tm="100000">
                                          <p:val>
                                            <p:strVal val="#ppt_h"/>
                                          </p:val>
                                        </p:tav>
                                      </p:tavLst>
                                    </p:anim>
                                  </p:childTnLst>
                                  <p:subTnLst>
                                    <p:set>
                                      <p:cBhvr override="childStyle">
                                        <p:cTn dur="1" fill="hold" display="0" masterRel="sameClick" afterEffect="1">
                                          <p:stCondLst>
                                            <p:cond evt="end" delay="0">
                                              <p:tn val="58"/>
                                            </p:cond>
                                          </p:stCondLst>
                                        </p:cTn>
                                        <p:tgtEl>
                                          <p:spTgt spid="80"/>
                                        </p:tgtEl>
                                        <p:attrNameLst>
                                          <p:attrName>style.visibility</p:attrName>
                                        </p:attrNameLst>
                                      </p:cBhvr>
                                      <p:to>
                                        <p:strVal val="hidden"/>
                                      </p:to>
                                    </p:set>
                                  </p:subTnLst>
                                </p:cTn>
                              </p:par>
                            </p:childTnLst>
                          </p:cTn>
                        </p:par>
                      </p:childTnLst>
                    </p:cTn>
                  </p:par>
                  <p:par>
                    <p:cTn id="62" fill="hold" nodeType="clickPar">
                      <p:stCondLst>
                        <p:cond delay="indefinite"/>
                      </p:stCondLst>
                      <p:childTnLst>
                        <p:par>
                          <p:cTn id="63" fill="hold" nodeType="withGroup">
                            <p:stCondLst>
                              <p:cond delay="0"/>
                            </p:stCondLst>
                            <p:childTnLst>
                              <p:par>
                                <p:cTn id="64" presetID="4" presetClass="entr" presetSubtype="16" fill="hold" grpId="0" nodeType="clickEffect">
                                  <p:stCondLst>
                                    <p:cond delay="0"/>
                                  </p:stCondLst>
                                  <p:childTnLst>
                                    <p:set>
                                      <p:cBhvr>
                                        <p:cTn id="65" dur="1" fill="hold">
                                          <p:stCondLst>
                                            <p:cond delay="0"/>
                                          </p:stCondLst>
                                        </p:cTn>
                                        <p:tgtEl>
                                          <p:spTgt spid="89"/>
                                        </p:tgtEl>
                                        <p:attrNameLst>
                                          <p:attrName>style.visibility</p:attrName>
                                        </p:attrNameLst>
                                      </p:cBhvr>
                                      <p:to>
                                        <p:strVal val="visible"/>
                                      </p:to>
                                    </p:set>
                                    <p:animEffect transition="in" filter="box(in)">
                                      <p:cBhvr>
                                        <p:cTn id="66" dur="500"/>
                                        <p:tgtEl>
                                          <p:spTgt spid="89"/>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4" presetClass="entr" presetSubtype="16" fill="hold" grpId="0" nodeType="clickEffect">
                                  <p:stCondLst>
                                    <p:cond delay="0"/>
                                  </p:stCondLst>
                                  <p:childTnLst>
                                    <p:set>
                                      <p:cBhvr>
                                        <p:cTn id="70" dur="1" fill="hold">
                                          <p:stCondLst>
                                            <p:cond delay="0"/>
                                          </p:stCondLst>
                                        </p:cTn>
                                        <p:tgtEl>
                                          <p:spTgt spid="90"/>
                                        </p:tgtEl>
                                        <p:attrNameLst>
                                          <p:attrName>style.visibility</p:attrName>
                                        </p:attrNameLst>
                                      </p:cBhvr>
                                      <p:to>
                                        <p:strVal val="visible"/>
                                      </p:to>
                                    </p:set>
                                    <p:animEffect transition="in" filter="box(in)">
                                      <p:cBhvr>
                                        <p:cTn id="71" dur="500"/>
                                        <p:tgtEl>
                                          <p:spTgt spid="90"/>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4" presetClass="entr" presetSubtype="16" fill="hold" grpId="0" nodeType="clickEffect">
                                  <p:stCondLst>
                                    <p:cond delay="0"/>
                                  </p:stCondLst>
                                  <p:childTnLst>
                                    <p:set>
                                      <p:cBhvr>
                                        <p:cTn id="75" dur="1" fill="hold">
                                          <p:stCondLst>
                                            <p:cond delay="0"/>
                                          </p:stCondLst>
                                        </p:cTn>
                                        <p:tgtEl>
                                          <p:spTgt spid="91"/>
                                        </p:tgtEl>
                                        <p:attrNameLst>
                                          <p:attrName>style.visibility</p:attrName>
                                        </p:attrNameLst>
                                      </p:cBhvr>
                                      <p:to>
                                        <p:strVal val="visible"/>
                                      </p:to>
                                    </p:set>
                                    <p:animEffect transition="in" filter="box(in)">
                                      <p:cBhvr>
                                        <p:cTn id="76" dur="500"/>
                                        <p:tgtEl>
                                          <p:spTgt spid="91"/>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4" presetClass="entr" presetSubtype="16" fill="hold" grpId="0" nodeType="clickEffect">
                                  <p:stCondLst>
                                    <p:cond delay="0"/>
                                  </p:stCondLst>
                                  <p:childTnLst>
                                    <p:set>
                                      <p:cBhvr>
                                        <p:cTn id="80" dur="1" fill="hold">
                                          <p:stCondLst>
                                            <p:cond delay="0"/>
                                          </p:stCondLst>
                                        </p:cTn>
                                        <p:tgtEl>
                                          <p:spTgt spid="92"/>
                                        </p:tgtEl>
                                        <p:attrNameLst>
                                          <p:attrName>style.visibility</p:attrName>
                                        </p:attrNameLst>
                                      </p:cBhvr>
                                      <p:to>
                                        <p:strVal val="visible"/>
                                      </p:to>
                                    </p:set>
                                    <p:animEffect transition="in" filter="box(in)">
                                      <p:cBhvr>
                                        <p:cTn id="81" dur="500"/>
                                        <p:tgtEl>
                                          <p:spTgt spid="92"/>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4" presetClass="entr" presetSubtype="16" fill="hold" grpId="0" nodeType="clickEffect">
                                  <p:stCondLst>
                                    <p:cond delay="0"/>
                                  </p:stCondLst>
                                  <p:childTnLst>
                                    <p:set>
                                      <p:cBhvr>
                                        <p:cTn id="85" dur="1" fill="hold">
                                          <p:stCondLst>
                                            <p:cond delay="0"/>
                                          </p:stCondLst>
                                        </p:cTn>
                                        <p:tgtEl>
                                          <p:spTgt spid="93"/>
                                        </p:tgtEl>
                                        <p:attrNameLst>
                                          <p:attrName>style.visibility</p:attrName>
                                        </p:attrNameLst>
                                      </p:cBhvr>
                                      <p:to>
                                        <p:strVal val="visible"/>
                                      </p:to>
                                    </p:set>
                                    <p:animEffect transition="in" filter="box(in)">
                                      <p:cBhvr>
                                        <p:cTn id="86" dur="500"/>
                                        <p:tgtEl>
                                          <p:spTgt spid="93"/>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4" presetClass="entr" presetSubtype="16" fill="hold" grpId="0" nodeType="clickEffect">
                                  <p:stCondLst>
                                    <p:cond delay="0"/>
                                  </p:stCondLst>
                                  <p:childTnLst>
                                    <p:set>
                                      <p:cBhvr>
                                        <p:cTn id="90" dur="1" fill="hold">
                                          <p:stCondLst>
                                            <p:cond delay="0"/>
                                          </p:stCondLst>
                                        </p:cTn>
                                        <p:tgtEl>
                                          <p:spTgt spid="94"/>
                                        </p:tgtEl>
                                        <p:attrNameLst>
                                          <p:attrName>style.visibility</p:attrName>
                                        </p:attrNameLst>
                                      </p:cBhvr>
                                      <p:to>
                                        <p:strVal val="visible"/>
                                      </p:to>
                                    </p:set>
                                    <p:animEffect transition="in" filter="box(in)">
                                      <p:cBhvr>
                                        <p:cTn id="91" dur="500"/>
                                        <p:tgtEl>
                                          <p:spTgt spid="94"/>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4" presetClass="entr" presetSubtype="16" fill="hold" grpId="0" nodeType="clickEffect">
                                  <p:stCondLst>
                                    <p:cond delay="0"/>
                                  </p:stCondLst>
                                  <p:childTnLst>
                                    <p:set>
                                      <p:cBhvr>
                                        <p:cTn id="95" dur="1" fill="hold">
                                          <p:stCondLst>
                                            <p:cond delay="0"/>
                                          </p:stCondLst>
                                        </p:cTn>
                                        <p:tgtEl>
                                          <p:spTgt spid="95"/>
                                        </p:tgtEl>
                                        <p:attrNameLst>
                                          <p:attrName>style.visibility</p:attrName>
                                        </p:attrNameLst>
                                      </p:cBhvr>
                                      <p:to>
                                        <p:strVal val="visible"/>
                                      </p:to>
                                    </p:set>
                                    <p:animEffect transition="in" filter="box(in)">
                                      <p:cBhvr>
                                        <p:cTn id="96" dur="500"/>
                                        <p:tgtEl>
                                          <p:spTgt spid="95"/>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4" presetClass="entr" presetSubtype="16" fill="hold" grpId="0" nodeType="clickEffect">
                                  <p:stCondLst>
                                    <p:cond delay="0"/>
                                  </p:stCondLst>
                                  <p:childTnLst>
                                    <p:set>
                                      <p:cBhvr>
                                        <p:cTn id="100" dur="1" fill="hold">
                                          <p:stCondLst>
                                            <p:cond delay="0"/>
                                          </p:stCondLst>
                                        </p:cTn>
                                        <p:tgtEl>
                                          <p:spTgt spid="96"/>
                                        </p:tgtEl>
                                        <p:attrNameLst>
                                          <p:attrName>style.visibility</p:attrName>
                                        </p:attrNameLst>
                                      </p:cBhvr>
                                      <p:to>
                                        <p:strVal val="visible"/>
                                      </p:to>
                                    </p:set>
                                    <p:animEffect transition="in" filter="box(in)">
                                      <p:cBhvr>
                                        <p:cTn id="101" dur="500"/>
                                        <p:tgtEl>
                                          <p:spTgt spid="96"/>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4" presetClass="entr" presetSubtype="16" fill="hold" grpId="0" nodeType="clickEffect">
                                  <p:stCondLst>
                                    <p:cond delay="0"/>
                                  </p:stCondLst>
                                  <p:childTnLst>
                                    <p:set>
                                      <p:cBhvr>
                                        <p:cTn id="105" dur="1" fill="hold">
                                          <p:stCondLst>
                                            <p:cond delay="0"/>
                                          </p:stCondLst>
                                        </p:cTn>
                                        <p:tgtEl>
                                          <p:spTgt spid="97"/>
                                        </p:tgtEl>
                                        <p:attrNameLst>
                                          <p:attrName>style.visibility</p:attrName>
                                        </p:attrNameLst>
                                      </p:cBhvr>
                                      <p:to>
                                        <p:strVal val="visible"/>
                                      </p:to>
                                    </p:set>
                                    <p:animEffect transition="in" filter="box(in)">
                                      <p:cBhvr>
                                        <p:cTn id="106" dur="500"/>
                                        <p:tgtEl>
                                          <p:spTgt spid="97"/>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4" presetClass="entr" presetSubtype="16" fill="hold" grpId="0" nodeType="clickEffect">
                                  <p:stCondLst>
                                    <p:cond delay="0"/>
                                  </p:stCondLst>
                                  <p:childTnLst>
                                    <p:set>
                                      <p:cBhvr>
                                        <p:cTn id="110" dur="1" fill="hold">
                                          <p:stCondLst>
                                            <p:cond delay="0"/>
                                          </p:stCondLst>
                                        </p:cTn>
                                        <p:tgtEl>
                                          <p:spTgt spid="98"/>
                                        </p:tgtEl>
                                        <p:attrNameLst>
                                          <p:attrName>style.visibility</p:attrName>
                                        </p:attrNameLst>
                                      </p:cBhvr>
                                      <p:to>
                                        <p:strVal val="visible"/>
                                      </p:to>
                                    </p:set>
                                    <p:animEffect transition="in" filter="box(in)">
                                      <p:cBhvr>
                                        <p:cTn id="111" dur="500"/>
                                        <p:tgtEl>
                                          <p:spTgt spid="98"/>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4" presetClass="entr" presetSubtype="16" fill="hold" grpId="0" nodeType="clickEffect">
                                  <p:stCondLst>
                                    <p:cond delay="0"/>
                                  </p:stCondLst>
                                  <p:childTnLst>
                                    <p:set>
                                      <p:cBhvr>
                                        <p:cTn id="115" dur="1" fill="hold">
                                          <p:stCondLst>
                                            <p:cond delay="0"/>
                                          </p:stCondLst>
                                        </p:cTn>
                                        <p:tgtEl>
                                          <p:spTgt spid="99"/>
                                        </p:tgtEl>
                                        <p:attrNameLst>
                                          <p:attrName>style.visibility</p:attrName>
                                        </p:attrNameLst>
                                      </p:cBhvr>
                                      <p:to>
                                        <p:strVal val="visible"/>
                                      </p:to>
                                    </p:set>
                                    <p:animEffect transition="in" filter="box(in)">
                                      <p:cBhvr>
                                        <p:cTn id="116" dur="500"/>
                                        <p:tgtEl>
                                          <p:spTgt spid="99"/>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4" presetClass="entr" presetSubtype="16" fill="hold" grpId="0" nodeType="clickEffect">
                                  <p:stCondLst>
                                    <p:cond delay="0"/>
                                  </p:stCondLst>
                                  <p:childTnLst>
                                    <p:set>
                                      <p:cBhvr>
                                        <p:cTn id="120" dur="1" fill="hold">
                                          <p:stCondLst>
                                            <p:cond delay="0"/>
                                          </p:stCondLst>
                                        </p:cTn>
                                        <p:tgtEl>
                                          <p:spTgt spid="100"/>
                                        </p:tgtEl>
                                        <p:attrNameLst>
                                          <p:attrName>style.visibility</p:attrName>
                                        </p:attrNameLst>
                                      </p:cBhvr>
                                      <p:to>
                                        <p:strVal val="visible"/>
                                      </p:to>
                                    </p:set>
                                    <p:animEffect transition="in" filter="box(in)">
                                      <p:cBhvr>
                                        <p:cTn id="121" dur="500"/>
                                        <p:tgtEl>
                                          <p:spTgt spid="100"/>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4" presetClass="entr" presetSubtype="16" fill="hold" grpId="0" nodeType="clickEffect">
                                  <p:stCondLst>
                                    <p:cond delay="0"/>
                                  </p:stCondLst>
                                  <p:childTnLst>
                                    <p:set>
                                      <p:cBhvr>
                                        <p:cTn id="125" dur="1" fill="hold">
                                          <p:stCondLst>
                                            <p:cond delay="0"/>
                                          </p:stCondLst>
                                        </p:cTn>
                                        <p:tgtEl>
                                          <p:spTgt spid="101"/>
                                        </p:tgtEl>
                                        <p:attrNameLst>
                                          <p:attrName>style.visibility</p:attrName>
                                        </p:attrNameLst>
                                      </p:cBhvr>
                                      <p:to>
                                        <p:strVal val="visible"/>
                                      </p:to>
                                    </p:set>
                                    <p:animEffect transition="in" filter="box(in)">
                                      <p:cBhvr>
                                        <p:cTn id="126" dur="500"/>
                                        <p:tgtEl>
                                          <p:spTgt spid="101"/>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4" presetClass="entr" presetSubtype="16" fill="hold" grpId="0" nodeType="clickEffect">
                                  <p:stCondLst>
                                    <p:cond delay="0"/>
                                  </p:stCondLst>
                                  <p:childTnLst>
                                    <p:set>
                                      <p:cBhvr>
                                        <p:cTn id="130" dur="1" fill="hold">
                                          <p:stCondLst>
                                            <p:cond delay="0"/>
                                          </p:stCondLst>
                                        </p:cTn>
                                        <p:tgtEl>
                                          <p:spTgt spid="102"/>
                                        </p:tgtEl>
                                        <p:attrNameLst>
                                          <p:attrName>style.visibility</p:attrName>
                                        </p:attrNameLst>
                                      </p:cBhvr>
                                      <p:to>
                                        <p:strVal val="visible"/>
                                      </p:to>
                                    </p:set>
                                    <p:animEffect transition="in" filter="box(in)">
                                      <p:cBhvr>
                                        <p:cTn id="131" dur="500"/>
                                        <p:tgtEl>
                                          <p:spTgt spid="102"/>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4" presetClass="entr" presetSubtype="16" fill="hold" grpId="0" nodeType="clickEffect">
                                  <p:stCondLst>
                                    <p:cond delay="0"/>
                                  </p:stCondLst>
                                  <p:childTnLst>
                                    <p:set>
                                      <p:cBhvr>
                                        <p:cTn id="135" dur="1" fill="hold">
                                          <p:stCondLst>
                                            <p:cond delay="0"/>
                                          </p:stCondLst>
                                        </p:cTn>
                                        <p:tgtEl>
                                          <p:spTgt spid="103"/>
                                        </p:tgtEl>
                                        <p:attrNameLst>
                                          <p:attrName>style.visibility</p:attrName>
                                        </p:attrNameLst>
                                      </p:cBhvr>
                                      <p:to>
                                        <p:strVal val="visible"/>
                                      </p:to>
                                    </p:set>
                                    <p:animEffect transition="in" filter="box(in)">
                                      <p:cBhvr>
                                        <p:cTn id="136" dur="500"/>
                                        <p:tgtEl>
                                          <p:spTgt spid="103"/>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4" presetClass="entr" presetSubtype="16" fill="hold" grpId="0" nodeType="clickEffect">
                                  <p:stCondLst>
                                    <p:cond delay="0"/>
                                  </p:stCondLst>
                                  <p:childTnLst>
                                    <p:set>
                                      <p:cBhvr>
                                        <p:cTn id="140" dur="1" fill="hold">
                                          <p:stCondLst>
                                            <p:cond delay="0"/>
                                          </p:stCondLst>
                                        </p:cTn>
                                        <p:tgtEl>
                                          <p:spTgt spid="104"/>
                                        </p:tgtEl>
                                        <p:attrNameLst>
                                          <p:attrName>style.visibility</p:attrName>
                                        </p:attrNameLst>
                                      </p:cBhvr>
                                      <p:to>
                                        <p:strVal val="visible"/>
                                      </p:to>
                                    </p:set>
                                    <p:animEffect transition="in" filter="box(in)">
                                      <p:cBhvr>
                                        <p:cTn id="141" dur="500"/>
                                        <p:tgtEl>
                                          <p:spTgt spid="104"/>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4" presetClass="entr" presetSubtype="16" fill="hold" grpId="0" nodeType="clickEffect">
                                  <p:stCondLst>
                                    <p:cond delay="0"/>
                                  </p:stCondLst>
                                  <p:childTnLst>
                                    <p:set>
                                      <p:cBhvr>
                                        <p:cTn id="145" dur="1" fill="hold">
                                          <p:stCondLst>
                                            <p:cond delay="0"/>
                                          </p:stCondLst>
                                        </p:cTn>
                                        <p:tgtEl>
                                          <p:spTgt spid="105"/>
                                        </p:tgtEl>
                                        <p:attrNameLst>
                                          <p:attrName>style.visibility</p:attrName>
                                        </p:attrNameLst>
                                      </p:cBhvr>
                                      <p:to>
                                        <p:strVal val="visible"/>
                                      </p:to>
                                    </p:set>
                                    <p:animEffect transition="in" filter="box(in)">
                                      <p:cBhvr>
                                        <p:cTn id="146" dur="500"/>
                                        <p:tgtEl>
                                          <p:spTgt spid="105"/>
                                        </p:tgtEl>
                                      </p:cBhvr>
                                    </p:animEffec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4" presetClass="entr" presetSubtype="16" fill="hold" grpId="0" nodeType="clickEffect">
                                  <p:stCondLst>
                                    <p:cond delay="0"/>
                                  </p:stCondLst>
                                  <p:childTnLst>
                                    <p:set>
                                      <p:cBhvr>
                                        <p:cTn id="150" dur="1" fill="hold">
                                          <p:stCondLst>
                                            <p:cond delay="0"/>
                                          </p:stCondLst>
                                        </p:cTn>
                                        <p:tgtEl>
                                          <p:spTgt spid="106"/>
                                        </p:tgtEl>
                                        <p:attrNameLst>
                                          <p:attrName>style.visibility</p:attrName>
                                        </p:attrNameLst>
                                      </p:cBhvr>
                                      <p:to>
                                        <p:strVal val="visible"/>
                                      </p:to>
                                    </p:set>
                                    <p:animEffect transition="in" filter="box(in)">
                                      <p:cBhvr>
                                        <p:cTn id="151" dur="500"/>
                                        <p:tgtEl>
                                          <p:spTgt spid="106"/>
                                        </p:tgtEl>
                                      </p:cBhvr>
                                    </p:animEffec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4" presetClass="entr" presetSubtype="16" fill="hold" grpId="0" nodeType="clickEffect">
                                  <p:stCondLst>
                                    <p:cond delay="0"/>
                                  </p:stCondLst>
                                  <p:childTnLst>
                                    <p:set>
                                      <p:cBhvr>
                                        <p:cTn id="155" dur="1" fill="hold">
                                          <p:stCondLst>
                                            <p:cond delay="0"/>
                                          </p:stCondLst>
                                        </p:cTn>
                                        <p:tgtEl>
                                          <p:spTgt spid="107"/>
                                        </p:tgtEl>
                                        <p:attrNameLst>
                                          <p:attrName>style.visibility</p:attrName>
                                        </p:attrNameLst>
                                      </p:cBhvr>
                                      <p:to>
                                        <p:strVal val="visible"/>
                                      </p:to>
                                    </p:set>
                                    <p:animEffect transition="in" filter="box(in)">
                                      <p:cBhvr>
                                        <p:cTn id="156" dur="500"/>
                                        <p:tgtEl>
                                          <p:spTgt spid="107"/>
                                        </p:tgtEl>
                                      </p:cBhvr>
                                    </p:animEffec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4" presetClass="entr" presetSubtype="16" fill="hold" grpId="0" nodeType="clickEffect">
                                  <p:stCondLst>
                                    <p:cond delay="0"/>
                                  </p:stCondLst>
                                  <p:childTnLst>
                                    <p:set>
                                      <p:cBhvr>
                                        <p:cTn id="160" dur="1" fill="hold">
                                          <p:stCondLst>
                                            <p:cond delay="0"/>
                                          </p:stCondLst>
                                        </p:cTn>
                                        <p:tgtEl>
                                          <p:spTgt spid="108"/>
                                        </p:tgtEl>
                                        <p:attrNameLst>
                                          <p:attrName>style.visibility</p:attrName>
                                        </p:attrNameLst>
                                      </p:cBhvr>
                                      <p:to>
                                        <p:strVal val="visible"/>
                                      </p:to>
                                    </p:set>
                                    <p:animEffect transition="in" filter="box(in)">
                                      <p:cBhvr>
                                        <p:cTn id="161" dur="500"/>
                                        <p:tgtEl>
                                          <p:spTgt spid="108"/>
                                        </p:tgtEl>
                                      </p:cBhvr>
                                    </p:animEffec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4" presetClass="entr" presetSubtype="16" fill="hold" grpId="0" nodeType="clickEffect">
                                  <p:stCondLst>
                                    <p:cond delay="0"/>
                                  </p:stCondLst>
                                  <p:childTnLst>
                                    <p:set>
                                      <p:cBhvr>
                                        <p:cTn id="165" dur="1" fill="hold">
                                          <p:stCondLst>
                                            <p:cond delay="0"/>
                                          </p:stCondLst>
                                        </p:cTn>
                                        <p:tgtEl>
                                          <p:spTgt spid="109"/>
                                        </p:tgtEl>
                                        <p:attrNameLst>
                                          <p:attrName>style.visibility</p:attrName>
                                        </p:attrNameLst>
                                      </p:cBhvr>
                                      <p:to>
                                        <p:strVal val="visible"/>
                                      </p:to>
                                    </p:set>
                                    <p:animEffect transition="in" filter="box(in)">
                                      <p:cBhvr>
                                        <p:cTn id="166" dur="500"/>
                                        <p:tgtEl>
                                          <p:spTgt spid="109"/>
                                        </p:tgtEl>
                                      </p:cBhvr>
                                    </p:animEffect>
                                  </p:childTnLst>
                                </p:cTn>
                              </p:par>
                            </p:childTnLst>
                          </p:cTn>
                        </p:par>
                      </p:childTnLst>
                    </p:cTn>
                  </p:par>
                  <p:par>
                    <p:cTn id="167" fill="hold" nodeType="clickPar">
                      <p:stCondLst>
                        <p:cond delay="indefinite"/>
                      </p:stCondLst>
                      <p:childTnLst>
                        <p:par>
                          <p:cTn id="168" fill="hold" nodeType="withGroup">
                            <p:stCondLst>
                              <p:cond delay="0"/>
                            </p:stCondLst>
                            <p:childTnLst>
                              <p:par>
                                <p:cTn id="169" presetID="4" presetClass="entr" presetSubtype="16" fill="hold" grpId="0" nodeType="clickEffect">
                                  <p:stCondLst>
                                    <p:cond delay="0"/>
                                  </p:stCondLst>
                                  <p:childTnLst>
                                    <p:set>
                                      <p:cBhvr>
                                        <p:cTn id="170" dur="1" fill="hold">
                                          <p:stCondLst>
                                            <p:cond delay="0"/>
                                          </p:stCondLst>
                                        </p:cTn>
                                        <p:tgtEl>
                                          <p:spTgt spid="110"/>
                                        </p:tgtEl>
                                        <p:attrNameLst>
                                          <p:attrName>style.visibility</p:attrName>
                                        </p:attrNameLst>
                                      </p:cBhvr>
                                      <p:to>
                                        <p:strVal val="visible"/>
                                      </p:to>
                                    </p:set>
                                    <p:animEffect transition="in" filter="box(in)">
                                      <p:cBhvr>
                                        <p:cTn id="171" dur="500"/>
                                        <p:tgtEl>
                                          <p:spTgt spid="110"/>
                                        </p:tgtEl>
                                      </p:cBhvr>
                                    </p:animEffect>
                                  </p:childTnLst>
                                </p:cTn>
                              </p:par>
                            </p:childTnLst>
                          </p:cTn>
                        </p:par>
                      </p:childTnLst>
                    </p:cTn>
                  </p:par>
                  <p:par>
                    <p:cTn id="172" fill="hold" nodeType="clickPar">
                      <p:stCondLst>
                        <p:cond delay="indefinite"/>
                      </p:stCondLst>
                      <p:childTnLst>
                        <p:par>
                          <p:cTn id="173" fill="hold" nodeType="withGroup">
                            <p:stCondLst>
                              <p:cond delay="0"/>
                            </p:stCondLst>
                            <p:childTnLst>
                              <p:par>
                                <p:cTn id="174" presetID="4" presetClass="entr" presetSubtype="16" fill="hold" grpId="0" nodeType="clickEffect">
                                  <p:stCondLst>
                                    <p:cond delay="0"/>
                                  </p:stCondLst>
                                  <p:childTnLst>
                                    <p:set>
                                      <p:cBhvr>
                                        <p:cTn id="175" dur="1" fill="hold">
                                          <p:stCondLst>
                                            <p:cond delay="0"/>
                                          </p:stCondLst>
                                        </p:cTn>
                                        <p:tgtEl>
                                          <p:spTgt spid="111"/>
                                        </p:tgtEl>
                                        <p:attrNameLst>
                                          <p:attrName>style.visibility</p:attrName>
                                        </p:attrNameLst>
                                      </p:cBhvr>
                                      <p:to>
                                        <p:strVal val="visible"/>
                                      </p:to>
                                    </p:set>
                                    <p:animEffect transition="in" filter="box(in)">
                                      <p:cBhvr>
                                        <p:cTn id="176" dur="500"/>
                                        <p:tgtEl>
                                          <p:spTgt spid="111"/>
                                        </p:tgtEl>
                                      </p:cBhvr>
                                    </p:animEffect>
                                  </p:childTnLst>
                                </p:cTn>
                              </p:par>
                            </p:childTnLst>
                          </p:cTn>
                        </p:par>
                      </p:childTnLst>
                    </p:cTn>
                  </p:par>
                  <p:par>
                    <p:cTn id="177" fill="hold" nodeType="clickPar">
                      <p:stCondLst>
                        <p:cond delay="indefinite"/>
                      </p:stCondLst>
                      <p:childTnLst>
                        <p:par>
                          <p:cTn id="178" fill="hold" nodeType="withGroup">
                            <p:stCondLst>
                              <p:cond delay="0"/>
                            </p:stCondLst>
                            <p:childTnLst>
                              <p:par>
                                <p:cTn id="179" presetID="2" presetClass="entr" presetSubtype="8" fill="hold" nodeType="clickEffect">
                                  <p:stCondLst>
                                    <p:cond delay="0"/>
                                  </p:stCondLst>
                                  <p:childTnLst>
                                    <p:set>
                                      <p:cBhvr>
                                        <p:cTn id="180" dur="1" fill="hold">
                                          <p:stCondLst>
                                            <p:cond delay="0"/>
                                          </p:stCondLst>
                                        </p:cTn>
                                        <p:tgtEl>
                                          <p:spTgt spid="112"/>
                                        </p:tgtEl>
                                        <p:attrNameLst>
                                          <p:attrName>style.visibility</p:attrName>
                                        </p:attrNameLst>
                                      </p:cBhvr>
                                      <p:to>
                                        <p:strVal val="visible"/>
                                      </p:to>
                                    </p:set>
                                    <p:anim calcmode="lin" valueType="num">
                                      <p:cBhvr additive="base">
                                        <p:cTn id="181" dur="500" fill="hold"/>
                                        <p:tgtEl>
                                          <p:spTgt spid="112"/>
                                        </p:tgtEl>
                                        <p:attrNameLst>
                                          <p:attrName>ppt_x</p:attrName>
                                        </p:attrNameLst>
                                      </p:cBhvr>
                                      <p:tavLst>
                                        <p:tav tm="0">
                                          <p:val>
                                            <p:strVal val="0-#ppt_w/2"/>
                                          </p:val>
                                        </p:tav>
                                        <p:tav tm="100000">
                                          <p:val>
                                            <p:strVal val="#ppt_x"/>
                                          </p:val>
                                        </p:tav>
                                      </p:tavLst>
                                    </p:anim>
                                    <p:anim calcmode="lin" valueType="num">
                                      <p:cBhvr additive="base">
                                        <p:cTn id="182" dur="500" fill="hold"/>
                                        <p:tgtEl>
                                          <p:spTgt spid="112"/>
                                        </p:tgtEl>
                                        <p:attrNameLst>
                                          <p:attrName>ppt_y</p:attrName>
                                        </p:attrNameLst>
                                      </p:cBhvr>
                                      <p:tavLst>
                                        <p:tav tm="0">
                                          <p:val>
                                            <p:strVal val="#ppt_y"/>
                                          </p:val>
                                        </p:tav>
                                        <p:tav tm="100000">
                                          <p:val>
                                            <p:strVal val="#ppt_y"/>
                                          </p:val>
                                        </p:tav>
                                      </p:tavLst>
                                    </p:anim>
                                  </p:childTnLst>
                                </p:cTn>
                              </p:par>
                            </p:childTnLst>
                          </p:cTn>
                        </p:par>
                      </p:childTnLst>
                    </p:cTn>
                  </p:par>
                  <p:par>
                    <p:cTn id="183" fill="hold" nodeType="clickPar">
                      <p:stCondLst>
                        <p:cond delay="indefinite"/>
                      </p:stCondLst>
                      <p:childTnLst>
                        <p:par>
                          <p:cTn id="184" fill="hold" nodeType="withGroup">
                            <p:stCondLst>
                              <p:cond delay="0"/>
                            </p:stCondLst>
                            <p:childTnLst>
                              <p:par>
                                <p:cTn id="185" presetID="3" presetClass="entr" presetSubtype="10" fill="hold" grpId="0" nodeType="clickEffect">
                                  <p:stCondLst>
                                    <p:cond delay="0"/>
                                  </p:stCondLst>
                                  <p:childTnLst>
                                    <p:set>
                                      <p:cBhvr>
                                        <p:cTn id="186" dur="1" fill="hold">
                                          <p:stCondLst>
                                            <p:cond delay="0"/>
                                          </p:stCondLst>
                                        </p:cTn>
                                        <p:tgtEl>
                                          <p:spTgt spid="135"/>
                                        </p:tgtEl>
                                        <p:attrNameLst>
                                          <p:attrName>style.visibility</p:attrName>
                                        </p:attrNameLst>
                                      </p:cBhvr>
                                      <p:to>
                                        <p:strVal val="visible"/>
                                      </p:to>
                                    </p:set>
                                    <p:animEffect transition="in" filter="blinds(horizontal)">
                                      <p:cBhvr>
                                        <p:cTn id="187" dur="500"/>
                                        <p:tgtEl>
                                          <p:spTgt spid="135"/>
                                        </p:tgtEl>
                                      </p:cBhvr>
                                    </p:animEffect>
                                  </p:childTnLst>
                                </p:cTn>
                              </p:par>
                            </p:childTnLst>
                          </p:cTn>
                        </p:par>
                      </p:childTnLst>
                    </p:cTn>
                  </p:par>
                  <p:par>
                    <p:cTn id="188" fill="hold" nodeType="clickPar">
                      <p:stCondLst>
                        <p:cond delay="indefinite"/>
                      </p:stCondLst>
                      <p:childTnLst>
                        <p:par>
                          <p:cTn id="189" fill="hold" nodeType="withGroup">
                            <p:stCondLst>
                              <p:cond delay="0"/>
                            </p:stCondLst>
                            <p:childTnLst>
                              <p:par>
                                <p:cTn id="190" presetID="4" presetClass="entr" presetSubtype="16" fill="hold" grpId="0" nodeType="clickEffect">
                                  <p:stCondLst>
                                    <p:cond delay="0"/>
                                  </p:stCondLst>
                                  <p:childTnLst>
                                    <p:set>
                                      <p:cBhvr>
                                        <p:cTn id="191" dur="1" fill="hold">
                                          <p:stCondLst>
                                            <p:cond delay="0"/>
                                          </p:stCondLst>
                                        </p:cTn>
                                        <p:tgtEl>
                                          <p:spTgt spid="113"/>
                                        </p:tgtEl>
                                        <p:attrNameLst>
                                          <p:attrName>style.visibility</p:attrName>
                                        </p:attrNameLst>
                                      </p:cBhvr>
                                      <p:to>
                                        <p:strVal val="visible"/>
                                      </p:to>
                                    </p:set>
                                    <p:animEffect transition="in" filter="box(in)">
                                      <p:cBhvr>
                                        <p:cTn id="192" dur="500"/>
                                        <p:tgtEl>
                                          <p:spTgt spid="113"/>
                                        </p:tgtEl>
                                      </p:cBhvr>
                                    </p:animEffect>
                                  </p:childTnLst>
                                </p:cTn>
                              </p:par>
                            </p:childTnLst>
                          </p:cTn>
                        </p:par>
                      </p:childTnLst>
                    </p:cTn>
                  </p:par>
                  <p:par>
                    <p:cTn id="193" fill="hold" nodeType="clickPar">
                      <p:stCondLst>
                        <p:cond delay="indefinite"/>
                      </p:stCondLst>
                      <p:childTnLst>
                        <p:par>
                          <p:cTn id="194" fill="hold" nodeType="withGroup">
                            <p:stCondLst>
                              <p:cond delay="0"/>
                            </p:stCondLst>
                            <p:childTnLst>
                              <p:par>
                                <p:cTn id="195" presetID="4" presetClass="entr" presetSubtype="16" fill="hold" grpId="0" nodeType="clickEffect">
                                  <p:stCondLst>
                                    <p:cond delay="0"/>
                                  </p:stCondLst>
                                  <p:childTnLst>
                                    <p:set>
                                      <p:cBhvr>
                                        <p:cTn id="196" dur="1" fill="hold">
                                          <p:stCondLst>
                                            <p:cond delay="0"/>
                                          </p:stCondLst>
                                        </p:cTn>
                                        <p:tgtEl>
                                          <p:spTgt spid="114"/>
                                        </p:tgtEl>
                                        <p:attrNameLst>
                                          <p:attrName>style.visibility</p:attrName>
                                        </p:attrNameLst>
                                      </p:cBhvr>
                                      <p:to>
                                        <p:strVal val="visible"/>
                                      </p:to>
                                    </p:set>
                                    <p:animEffect transition="in" filter="box(in)">
                                      <p:cBhvr>
                                        <p:cTn id="197" dur="500"/>
                                        <p:tgtEl>
                                          <p:spTgt spid="114"/>
                                        </p:tgtEl>
                                      </p:cBhvr>
                                    </p:animEffec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4" presetClass="entr" presetSubtype="16" fill="hold" grpId="0" nodeType="clickEffect">
                                  <p:stCondLst>
                                    <p:cond delay="0"/>
                                  </p:stCondLst>
                                  <p:childTnLst>
                                    <p:set>
                                      <p:cBhvr>
                                        <p:cTn id="201" dur="1" fill="hold">
                                          <p:stCondLst>
                                            <p:cond delay="0"/>
                                          </p:stCondLst>
                                        </p:cTn>
                                        <p:tgtEl>
                                          <p:spTgt spid="115"/>
                                        </p:tgtEl>
                                        <p:attrNameLst>
                                          <p:attrName>style.visibility</p:attrName>
                                        </p:attrNameLst>
                                      </p:cBhvr>
                                      <p:to>
                                        <p:strVal val="visible"/>
                                      </p:to>
                                    </p:set>
                                    <p:animEffect transition="in" filter="box(in)">
                                      <p:cBhvr>
                                        <p:cTn id="202" dur="500"/>
                                        <p:tgtEl>
                                          <p:spTgt spid="115"/>
                                        </p:tgtEl>
                                      </p:cBhvr>
                                    </p:animEffect>
                                  </p:childTnLst>
                                </p:cTn>
                              </p:par>
                            </p:childTnLst>
                          </p:cTn>
                        </p:par>
                      </p:childTnLst>
                    </p:cTn>
                  </p:par>
                  <p:par>
                    <p:cTn id="203" fill="hold" nodeType="clickPar">
                      <p:stCondLst>
                        <p:cond delay="indefinite"/>
                      </p:stCondLst>
                      <p:childTnLst>
                        <p:par>
                          <p:cTn id="204" fill="hold" nodeType="withGroup">
                            <p:stCondLst>
                              <p:cond delay="0"/>
                            </p:stCondLst>
                            <p:childTnLst>
                              <p:par>
                                <p:cTn id="205" presetID="2" presetClass="entr" presetSubtype="2" fill="hold" nodeType="clickEffect">
                                  <p:stCondLst>
                                    <p:cond delay="0"/>
                                  </p:stCondLst>
                                  <p:childTnLst>
                                    <p:set>
                                      <p:cBhvr>
                                        <p:cTn id="206" dur="1" fill="hold">
                                          <p:stCondLst>
                                            <p:cond delay="0"/>
                                          </p:stCondLst>
                                        </p:cTn>
                                        <p:tgtEl>
                                          <p:spTgt spid="116"/>
                                        </p:tgtEl>
                                        <p:attrNameLst>
                                          <p:attrName>style.visibility</p:attrName>
                                        </p:attrNameLst>
                                      </p:cBhvr>
                                      <p:to>
                                        <p:strVal val="visible"/>
                                      </p:to>
                                    </p:set>
                                    <p:anim calcmode="lin" valueType="num">
                                      <p:cBhvr additive="base">
                                        <p:cTn id="207" dur="500" fill="hold"/>
                                        <p:tgtEl>
                                          <p:spTgt spid="116"/>
                                        </p:tgtEl>
                                        <p:attrNameLst>
                                          <p:attrName>ppt_x</p:attrName>
                                        </p:attrNameLst>
                                      </p:cBhvr>
                                      <p:tavLst>
                                        <p:tav tm="0">
                                          <p:val>
                                            <p:strVal val="1+#ppt_w/2"/>
                                          </p:val>
                                        </p:tav>
                                        <p:tav tm="100000">
                                          <p:val>
                                            <p:strVal val="#ppt_x"/>
                                          </p:val>
                                        </p:tav>
                                      </p:tavLst>
                                    </p:anim>
                                    <p:anim calcmode="lin" valueType="num">
                                      <p:cBhvr additive="base">
                                        <p:cTn id="208" dur="500" fill="hold"/>
                                        <p:tgtEl>
                                          <p:spTgt spid="116"/>
                                        </p:tgtEl>
                                        <p:attrNameLst>
                                          <p:attrName>ppt_y</p:attrName>
                                        </p:attrNameLst>
                                      </p:cBhvr>
                                      <p:tavLst>
                                        <p:tav tm="0">
                                          <p:val>
                                            <p:strVal val="#ppt_y"/>
                                          </p:val>
                                        </p:tav>
                                        <p:tav tm="100000">
                                          <p:val>
                                            <p:strVal val="#ppt_y"/>
                                          </p:val>
                                        </p:tav>
                                      </p:tavLst>
                                    </p:anim>
                                  </p:childTnLst>
                                </p:cTn>
                              </p:par>
                            </p:childTnLst>
                          </p:cTn>
                        </p:par>
                      </p:childTnLst>
                    </p:cTn>
                  </p:par>
                  <p:par>
                    <p:cTn id="209" fill="hold" nodeType="clickPar">
                      <p:stCondLst>
                        <p:cond delay="indefinite"/>
                      </p:stCondLst>
                      <p:childTnLst>
                        <p:par>
                          <p:cTn id="210" fill="hold" nodeType="withGroup">
                            <p:stCondLst>
                              <p:cond delay="0"/>
                            </p:stCondLst>
                            <p:childTnLst>
                              <p:par>
                                <p:cTn id="211" presetID="10" presetClass="entr" presetSubtype="0" fill="hold" grpId="0" nodeType="clickEffect">
                                  <p:stCondLst>
                                    <p:cond delay="0"/>
                                  </p:stCondLst>
                                  <p:childTnLst>
                                    <p:set>
                                      <p:cBhvr>
                                        <p:cTn id="212" dur="1" fill="hold">
                                          <p:stCondLst>
                                            <p:cond delay="0"/>
                                          </p:stCondLst>
                                        </p:cTn>
                                        <p:tgtEl>
                                          <p:spTgt spid="118"/>
                                        </p:tgtEl>
                                        <p:attrNameLst>
                                          <p:attrName>style.visibility</p:attrName>
                                        </p:attrNameLst>
                                      </p:cBhvr>
                                      <p:to>
                                        <p:strVal val="visible"/>
                                      </p:to>
                                    </p:set>
                                    <p:animEffect transition="in" filter="fade">
                                      <p:cBhvr>
                                        <p:cTn id="213" dur="500"/>
                                        <p:tgtEl>
                                          <p:spTgt spid="118"/>
                                        </p:tgtEl>
                                      </p:cBhvr>
                                    </p:animEffect>
                                  </p:childTnLst>
                                </p:cTn>
                              </p:par>
                            </p:childTnLst>
                          </p:cTn>
                        </p:par>
                      </p:childTnLst>
                    </p:cTn>
                  </p:par>
                  <p:par>
                    <p:cTn id="214" fill="hold" nodeType="clickPar">
                      <p:stCondLst>
                        <p:cond delay="indefinite"/>
                      </p:stCondLst>
                      <p:childTnLst>
                        <p:par>
                          <p:cTn id="215" fill="hold" nodeType="withGroup">
                            <p:stCondLst>
                              <p:cond delay="0"/>
                            </p:stCondLst>
                            <p:childTnLst>
                              <p:par>
                                <p:cTn id="216" presetID="19" presetClass="entr" presetSubtype="10" fill="hold" nodeType="clickEffect">
                                  <p:stCondLst>
                                    <p:cond delay="0"/>
                                  </p:stCondLst>
                                  <p:childTnLst>
                                    <p:set>
                                      <p:cBhvr>
                                        <p:cTn id="217" dur="1" fill="hold">
                                          <p:stCondLst>
                                            <p:cond delay="0"/>
                                          </p:stCondLst>
                                        </p:cTn>
                                        <p:tgtEl>
                                          <p:spTgt spid="119"/>
                                        </p:tgtEl>
                                        <p:attrNameLst>
                                          <p:attrName>style.visibility</p:attrName>
                                        </p:attrNameLst>
                                      </p:cBhvr>
                                      <p:to>
                                        <p:strVal val="visible"/>
                                      </p:to>
                                    </p:set>
                                    <p:anim calcmode="lin" valueType="num">
                                      <p:cBhvr>
                                        <p:cTn id="218" dur="5000" fill="hold"/>
                                        <p:tgtEl>
                                          <p:spTgt spid="119"/>
                                        </p:tgtEl>
                                        <p:attrNameLst>
                                          <p:attrName>ppt_w</p:attrName>
                                        </p:attrNameLst>
                                      </p:cBhvr>
                                      <p:tavLst>
                                        <p:tav tm="0" fmla="#ppt_w*sin(2.5*pi*$)">
                                          <p:val>
                                            <p:fltVal val="0"/>
                                          </p:val>
                                        </p:tav>
                                        <p:tav tm="100000">
                                          <p:val>
                                            <p:fltVal val="1"/>
                                          </p:val>
                                        </p:tav>
                                      </p:tavLst>
                                    </p:anim>
                                    <p:anim calcmode="lin" valueType="num">
                                      <p:cBhvr>
                                        <p:cTn id="219" dur="5000" fill="hold"/>
                                        <p:tgtEl>
                                          <p:spTgt spid="119"/>
                                        </p:tgtEl>
                                        <p:attrNameLst>
                                          <p:attrName>ppt_h</p:attrName>
                                        </p:attrNameLst>
                                      </p:cBhvr>
                                      <p:tavLst>
                                        <p:tav tm="0">
                                          <p:val>
                                            <p:strVal val="#ppt_h"/>
                                          </p:val>
                                        </p:tav>
                                        <p:tav tm="100000">
                                          <p:val>
                                            <p:strVal val="#ppt_h"/>
                                          </p:val>
                                        </p:tav>
                                      </p:tavLst>
                                    </p:anim>
                                  </p:childTnLst>
                                </p:cTn>
                              </p:par>
                            </p:childTnLst>
                          </p:cTn>
                        </p:par>
                      </p:childTnLst>
                    </p:cTn>
                  </p:par>
                  <p:par>
                    <p:cTn id="220" fill="hold" nodeType="clickPar">
                      <p:stCondLst>
                        <p:cond delay="indefinite"/>
                      </p:stCondLst>
                      <p:childTnLst>
                        <p:par>
                          <p:cTn id="221" fill="hold" nodeType="withGroup">
                            <p:stCondLst>
                              <p:cond delay="0"/>
                            </p:stCondLst>
                            <p:childTnLst>
                              <p:par>
                                <p:cTn id="222" presetID="10" presetClass="entr" presetSubtype="0" fill="hold" nodeType="clickEffect">
                                  <p:stCondLst>
                                    <p:cond delay="0"/>
                                  </p:stCondLst>
                                  <p:childTnLst>
                                    <p:set>
                                      <p:cBhvr>
                                        <p:cTn id="223" dur="1" fill="hold">
                                          <p:stCondLst>
                                            <p:cond delay="0"/>
                                          </p:stCondLst>
                                        </p:cTn>
                                        <p:tgtEl>
                                          <p:spTgt spid="151"/>
                                        </p:tgtEl>
                                        <p:attrNameLst>
                                          <p:attrName>style.visibility</p:attrName>
                                        </p:attrNameLst>
                                      </p:cBhvr>
                                      <p:to>
                                        <p:strVal val="visible"/>
                                      </p:to>
                                    </p:set>
                                    <p:animEffect transition="in" filter="fade">
                                      <p:cBhvr>
                                        <p:cTn id="224" dur="500"/>
                                        <p:tgtEl>
                                          <p:spTgt spid="151"/>
                                        </p:tgtEl>
                                      </p:cBhvr>
                                    </p:animEffect>
                                  </p:childTnLst>
                                </p:cTn>
                              </p:par>
                            </p:childTnLst>
                          </p:cTn>
                        </p:par>
                      </p:childTnLst>
                    </p:cTn>
                  </p:par>
                  <p:par>
                    <p:cTn id="225" fill="hold" nodeType="clickPar">
                      <p:stCondLst>
                        <p:cond delay="indefinite"/>
                      </p:stCondLst>
                      <p:childTnLst>
                        <p:par>
                          <p:cTn id="226" fill="hold" nodeType="withGroup">
                            <p:stCondLst>
                              <p:cond delay="0"/>
                            </p:stCondLst>
                            <p:childTnLst>
                              <p:par>
                                <p:cTn id="227" presetID="10" presetClass="entr" presetSubtype="0" fill="hold" nodeType="clickEffect">
                                  <p:stCondLst>
                                    <p:cond delay="0"/>
                                  </p:stCondLst>
                                  <p:childTnLst>
                                    <p:set>
                                      <p:cBhvr>
                                        <p:cTn id="228" dur="1" fill="hold">
                                          <p:stCondLst>
                                            <p:cond delay="0"/>
                                          </p:stCondLst>
                                        </p:cTn>
                                        <p:tgtEl>
                                          <p:spTgt spid="120"/>
                                        </p:tgtEl>
                                        <p:attrNameLst>
                                          <p:attrName>style.visibility</p:attrName>
                                        </p:attrNameLst>
                                      </p:cBhvr>
                                      <p:to>
                                        <p:strVal val="visible"/>
                                      </p:to>
                                    </p:set>
                                    <p:animEffect transition="in" filter="fade">
                                      <p:cBhvr>
                                        <p:cTn id="229" dur="5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utoUpdateAnimBg="0"/>
      <p:bldP spid="22" grpId="0" autoUpdateAnimBg="0"/>
      <p:bldP spid="71" grpId="0" autoUpdateAnimBg="0"/>
      <p:bldP spid="72" grpId="0" animBg="1" autoUpdateAnimBg="0"/>
      <p:bldP spid="76" grpId="0" animBg="1" autoUpdateAnimBg="0"/>
      <p:bldP spid="78" grpId="0" animBg="1"/>
      <p:bldP spid="80" grpId="0" animBg="1" autoUpdateAnimBg="0"/>
      <p:bldP spid="89" grpId="0" autoUpdateAnimBg="0"/>
      <p:bldP spid="90" grpId="0" autoUpdateAnimBg="0"/>
      <p:bldP spid="91" grpId="0" autoUpdateAnimBg="0"/>
      <p:bldP spid="92" grpId="0" autoUpdateAnimBg="0"/>
      <p:bldP spid="93" grpId="0" autoUpdateAnimBg="0"/>
      <p:bldP spid="94" grpId="0" autoUpdateAnimBg="0"/>
      <p:bldP spid="95" grpId="0" autoUpdateAnimBg="0"/>
      <p:bldP spid="96" grpId="0" autoUpdateAnimBg="0"/>
      <p:bldP spid="97" grpId="0" autoUpdateAnimBg="0"/>
      <p:bldP spid="98" grpId="0" autoUpdateAnimBg="0"/>
      <p:bldP spid="99" grpId="0" autoUpdateAnimBg="0"/>
      <p:bldP spid="100" grpId="0" autoUpdateAnimBg="0"/>
      <p:bldP spid="101" grpId="0" autoUpdateAnimBg="0"/>
      <p:bldP spid="102" grpId="0" autoUpdateAnimBg="0"/>
      <p:bldP spid="103" grpId="0" autoUpdateAnimBg="0"/>
      <p:bldP spid="104" grpId="0" autoUpdateAnimBg="0"/>
      <p:bldP spid="105" grpId="0" autoUpdateAnimBg="0"/>
      <p:bldP spid="106" grpId="0" autoUpdateAnimBg="0"/>
      <p:bldP spid="107" grpId="0" autoUpdateAnimBg="0"/>
      <p:bldP spid="108" grpId="0" autoUpdateAnimBg="0"/>
      <p:bldP spid="109" grpId="0" autoUpdateAnimBg="0"/>
      <p:bldP spid="110" grpId="0" autoUpdateAnimBg="0"/>
      <p:bldP spid="111" grpId="0" autoUpdateAnimBg="0"/>
      <p:bldP spid="113" grpId="0" autoUpdateAnimBg="0"/>
      <p:bldP spid="114" grpId="0" autoUpdateAnimBg="0"/>
      <p:bldP spid="115" grpId="0" autoUpdateAnimBg="0"/>
      <p:bldP spid="118" grpId="0" animBg="1"/>
      <p:bldP spid="135"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37851A20-EE1B-43A0-A22D-ACFA18BB455B}"/>
              </a:ext>
            </a:extLst>
          </p:cNvPr>
          <p:cNvSpPr>
            <a:spLocks noGrp="1" noChangeArrowheads="1"/>
          </p:cNvSpPr>
          <p:nvPr>
            <p:ph type="title"/>
          </p:nvPr>
        </p:nvSpPr>
        <p:spPr/>
        <p:txBody>
          <a:bodyPr/>
          <a:lstStyle/>
          <a:p>
            <a:pPr eaLnBrk="1" hangingPunct="1"/>
            <a:r>
              <a:rPr lang="zh-CN" altLang="en-US"/>
              <a:t>单纯形表</a:t>
            </a:r>
          </a:p>
        </p:txBody>
      </p:sp>
      <p:graphicFrame>
        <p:nvGraphicFramePr>
          <p:cNvPr id="18" name="Group 719">
            <a:extLst>
              <a:ext uri="{FF2B5EF4-FFF2-40B4-BE49-F238E27FC236}">
                <a16:creationId xmlns:a16="http://schemas.microsoft.com/office/drawing/2014/main" id="{69F726FE-A260-479D-AD74-40234FCFDFD2}"/>
              </a:ext>
            </a:extLst>
          </p:cNvPr>
          <p:cNvGraphicFramePr>
            <a:graphicFrameLocks noGrp="1"/>
          </p:cNvGraphicFramePr>
          <p:nvPr/>
        </p:nvGraphicFramePr>
        <p:xfrm>
          <a:off x="763588" y="1219200"/>
          <a:ext cx="7008813" cy="4535492"/>
        </p:xfrm>
        <a:graphic>
          <a:graphicData uri="http://schemas.openxmlformats.org/drawingml/2006/table">
            <a:tbl>
              <a:tblPr/>
              <a:tblGrid>
                <a:gridCol w="779463">
                  <a:extLst>
                    <a:ext uri="{9D8B030D-6E8A-4147-A177-3AD203B41FA5}">
                      <a16:colId xmlns:a16="http://schemas.microsoft.com/office/drawing/2014/main" val="20000"/>
                    </a:ext>
                  </a:extLst>
                </a:gridCol>
                <a:gridCol w="1020762">
                  <a:extLst>
                    <a:ext uri="{9D8B030D-6E8A-4147-A177-3AD203B41FA5}">
                      <a16:colId xmlns:a16="http://schemas.microsoft.com/office/drawing/2014/main" val="20001"/>
                    </a:ext>
                  </a:extLst>
                </a:gridCol>
                <a:gridCol w="647700">
                  <a:extLst>
                    <a:ext uri="{9D8B030D-6E8A-4147-A177-3AD203B41FA5}">
                      <a16:colId xmlns:a16="http://schemas.microsoft.com/office/drawing/2014/main" val="20002"/>
                    </a:ext>
                  </a:extLst>
                </a:gridCol>
                <a:gridCol w="668338">
                  <a:extLst>
                    <a:ext uri="{9D8B030D-6E8A-4147-A177-3AD203B41FA5}">
                      <a16:colId xmlns:a16="http://schemas.microsoft.com/office/drawing/2014/main" val="20003"/>
                    </a:ext>
                  </a:extLst>
                </a:gridCol>
                <a:gridCol w="776287">
                  <a:extLst>
                    <a:ext uri="{9D8B030D-6E8A-4147-A177-3AD203B41FA5}">
                      <a16:colId xmlns:a16="http://schemas.microsoft.com/office/drawing/2014/main" val="20004"/>
                    </a:ext>
                  </a:extLst>
                </a:gridCol>
                <a:gridCol w="779463">
                  <a:extLst>
                    <a:ext uri="{9D8B030D-6E8A-4147-A177-3AD203B41FA5}">
                      <a16:colId xmlns:a16="http://schemas.microsoft.com/office/drawing/2014/main" val="20005"/>
                    </a:ext>
                  </a:extLst>
                </a:gridCol>
                <a:gridCol w="779462">
                  <a:extLst>
                    <a:ext uri="{9D8B030D-6E8A-4147-A177-3AD203B41FA5}">
                      <a16:colId xmlns:a16="http://schemas.microsoft.com/office/drawing/2014/main" val="20006"/>
                    </a:ext>
                  </a:extLst>
                </a:gridCol>
                <a:gridCol w="777875">
                  <a:extLst>
                    <a:ext uri="{9D8B030D-6E8A-4147-A177-3AD203B41FA5}">
                      <a16:colId xmlns:a16="http://schemas.microsoft.com/office/drawing/2014/main" val="20007"/>
                    </a:ext>
                  </a:extLst>
                </a:gridCol>
                <a:gridCol w="779463">
                  <a:extLst>
                    <a:ext uri="{9D8B030D-6E8A-4147-A177-3AD203B41FA5}">
                      <a16:colId xmlns:a16="http://schemas.microsoft.com/office/drawing/2014/main" val="20008"/>
                    </a:ext>
                  </a:extLst>
                </a:gridCol>
              </a:tblGrid>
              <a:tr h="457207">
                <a:tc gridSpan="3">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1" u="none" strike="noStrike" cap="none" normalizeH="0" baseline="0" dirty="0" err="1">
                          <a:ln>
                            <a:noFill/>
                          </a:ln>
                          <a:solidFill>
                            <a:schemeClr val="bg2"/>
                          </a:solidFill>
                          <a:effectLst/>
                          <a:latin typeface="Times New Roman" panose="02020603050405020304" pitchFamily="18" charset="0"/>
                          <a:ea typeface="华文细黑" panose="02010600040101010101" pitchFamily="2" charset="-122"/>
                        </a:rPr>
                        <a:t>c</a:t>
                      </a:r>
                      <a:r>
                        <a:rPr kumimoji="1" lang="en-US" altLang="zh-CN" sz="2000" b="1" i="1" u="none" strike="noStrike" cap="none" normalizeH="0" baseline="-25000" dirty="0" err="1">
                          <a:ln>
                            <a:noFill/>
                          </a:ln>
                          <a:solidFill>
                            <a:schemeClr val="bg2"/>
                          </a:solidFill>
                          <a:effectLst/>
                          <a:latin typeface="Times New Roman" panose="02020603050405020304" pitchFamily="18" charset="0"/>
                          <a:ea typeface="华文细黑" panose="02010600040101010101" pitchFamily="2" charset="-122"/>
                        </a:rPr>
                        <a:t>j</a:t>
                      </a:r>
                      <a:endParaRPr kumimoji="1" lang="en-US" altLang="zh-CN" sz="2000" b="1" i="1" u="none" strike="noStrike" cap="none" normalizeH="0" baseline="-2500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anchor="ctr" anchorCtr="1" horzOverflow="overflow">
                    <a:lnL w="3810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T="45721" marB="45721" anchor="ctr" anchorCtr="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T="45721" marB="45721"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1" marB="45721"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T="45721" marB="45721"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row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θ</a:t>
                      </a:r>
                      <a:r>
                        <a:rPr kumimoji="1" lang="en-US" altLang="zh-CN" sz="1600" b="1" i="1" u="none" strike="noStrike" cap="none" normalizeH="0" baseline="-30000">
                          <a:ln>
                            <a:noFill/>
                          </a:ln>
                          <a:solidFill>
                            <a:schemeClr val="bg2"/>
                          </a:solidFill>
                          <a:effectLst/>
                          <a:latin typeface="Times New Roman" panose="02020603050405020304" pitchFamily="18" charset="0"/>
                          <a:ea typeface="华文细黑" panose="02010600040101010101" pitchFamily="2" charset="-122"/>
                        </a:rPr>
                        <a:t>i</a:t>
                      </a:r>
                    </a:p>
                  </a:txBody>
                  <a:tcPr marT="45721" marB="45721" anchor="ctr"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20629">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T="45721" marB="45721"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0"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endParaRPr kumimoji="0" lang="zh-CN" altLang="en-US"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b</a:t>
                      </a: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p>
                  </a:txBody>
                  <a:tcPr marT="45721" marB="4572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3</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30000" dirty="0">
                        <a:ln>
                          <a:noFill/>
                        </a:ln>
                        <a:solidFill>
                          <a:schemeClr val="bg2"/>
                        </a:solidFill>
                        <a:effectLst/>
                        <a:latin typeface="Times New Roman" panose="02020603050405020304" pitchFamily="18" charset="0"/>
                        <a:ea typeface="宋体" panose="02010600030101010101" pitchFamily="2" charset="-122"/>
                      </a:endParaRP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vMerge="1">
                  <a:txBody>
                    <a:bodyPr/>
                    <a:lstStyle/>
                    <a:p>
                      <a:endParaRPr lang="zh-CN" altLang="en-US"/>
                    </a:p>
                  </a:txBody>
                  <a:tcPr/>
                </a:tc>
                <a:extLst>
                  <a:ext uri="{0D108BD9-81ED-4DB2-BD59-A6C34878D82A}">
                    <a16:rowId xmlns:a16="http://schemas.microsoft.com/office/drawing/2014/main" val="10001"/>
                  </a:ext>
                </a:extLst>
              </a:tr>
              <a:tr h="457207">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T="45721" marB="45721"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2</a:t>
                      </a: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1</a:t>
                      </a:r>
                    </a:p>
                  </a:txBody>
                  <a:tcPr marT="45721" marB="4572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1</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-1/2</a:t>
                      </a: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rgbClr val="00CC00"/>
                          </a:solidFill>
                          <a:effectLst/>
                          <a:latin typeface="Times New Roman" panose="02020603050405020304" pitchFamily="18" charset="0"/>
                          <a:ea typeface="华文细黑" panose="02010600040101010101" pitchFamily="2" charset="-122"/>
                        </a:rPr>
                        <a:t>-</a:t>
                      </a:r>
                      <a:endParaRPr kumimoji="1" lang="zh-CN" altLang="zh-CN" sz="2000" b="1" i="0" u="none" strike="noStrike" cap="none" normalizeH="0" baseline="0" dirty="0">
                        <a:ln>
                          <a:noFill/>
                        </a:ln>
                        <a:solidFill>
                          <a:srgbClr val="00CC00"/>
                        </a:solidFill>
                        <a:effectLst/>
                        <a:latin typeface="Times New Roman" panose="02020603050405020304" pitchFamily="18" charset="0"/>
                        <a:ea typeface="华文细黑" panose="02010600040101010101" pitchFamily="2" charset="-122"/>
                      </a:endParaRPr>
                    </a:p>
                  </a:txBody>
                  <a:tcPr marT="45721" marB="45721"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7">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T="45721" marB="45721"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8</a:t>
                      </a: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folHlink"/>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a:t>
                      </a:r>
                    </a:p>
                  </a:txBody>
                  <a:tcPr marT="45721" marB="4572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-4</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rgbClr val="FF3399"/>
                          </a:solidFill>
                          <a:effectLst/>
                          <a:latin typeface="Times New Roman" panose="02020603050405020304" pitchFamily="18" charset="0"/>
                          <a:ea typeface="华文细黑" panose="02010600040101010101" pitchFamily="2" charset="-122"/>
                        </a:rPr>
                        <a:t>1</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2</a:t>
                      </a: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rgbClr val="00CC00"/>
                          </a:solidFill>
                          <a:effectLst/>
                          <a:latin typeface="Times New Roman" panose="02020603050405020304" pitchFamily="18" charset="0"/>
                          <a:ea typeface="华文细黑" panose="02010600040101010101" pitchFamily="2" charset="-122"/>
                        </a:rPr>
                        <a:t>4</a:t>
                      </a:r>
                      <a:endParaRPr kumimoji="1" lang="zh-CN" altLang="zh-CN" sz="2000" b="1" i="0" u="none" strike="noStrike" cap="none" normalizeH="0" baseline="0" dirty="0">
                        <a:ln>
                          <a:noFill/>
                        </a:ln>
                        <a:solidFill>
                          <a:srgbClr val="00CC00"/>
                        </a:solidFill>
                        <a:effectLst/>
                        <a:latin typeface="Times New Roman" panose="02020603050405020304" pitchFamily="18" charset="0"/>
                        <a:ea typeface="华文细黑" panose="02010600040101010101" pitchFamily="2" charset="-122"/>
                      </a:endParaRPr>
                    </a:p>
                  </a:txBody>
                  <a:tcPr marT="45721" marB="45721"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07">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T="45721" marB="45721"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3</a:t>
                      </a: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folHlink"/>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a:t>
                      </a:r>
                    </a:p>
                  </a:txBody>
                  <a:tcPr marT="45721" marB="4572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1</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0</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1/4</a:t>
                      </a: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rgbClr val="00CC00"/>
                          </a:solidFill>
                          <a:effectLst/>
                          <a:latin typeface="Times New Roman" panose="02020603050405020304" pitchFamily="18" charset="0"/>
                          <a:ea typeface="华文细黑" panose="02010600040101010101" pitchFamily="2" charset="-122"/>
                        </a:rPr>
                        <a:t>12</a:t>
                      </a:r>
                      <a:endParaRPr kumimoji="1" lang="zh-CN" altLang="zh-CN" sz="2000" b="1" i="0" u="none" strike="noStrike" cap="none" normalizeH="0" baseline="0" dirty="0">
                        <a:ln>
                          <a:noFill/>
                        </a:ln>
                        <a:solidFill>
                          <a:srgbClr val="00CC00"/>
                        </a:solidFill>
                        <a:effectLst/>
                        <a:latin typeface="Times New Roman" panose="02020603050405020304" pitchFamily="18" charset="0"/>
                        <a:ea typeface="华文细黑" panose="02010600040101010101" pitchFamily="2" charset="-122"/>
                      </a:endParaRPr>
                    </a:p>
                  </a:txBody>
                  <a:tcPr marT="45721" marB="45721"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07">
                <a:tc grid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lang="el-GR" altLang="zh-CN" sz="1800" b="1" dirty="0">
                          <a:latin typeface="Times New Roman" panose="02020603050405020304" pitchFamily="18" charset="0"/>
                        </a:rPr>
                        <a:t>σ</a:t>
                      </a:r>
                      <a:r>
                        <a:rPr lang="en-US" altLang="zh-CN" sz="1800" b="1" i="1" baseline="-25000" dirty="0">
                          <a:latin typeface="Times New Roman" panose="02020603050405020304" pitchFamily="18" charset="0"/>
                        </a:rPr>
                        <a:t>j</a:t>
                      </a:r>
                      <a:r>
                        <a:rPr lang="en-US" altLang="zh-CN" sz="1800" b="1" dirty="0">
                          <a:latin typeface="Times New Roman" panose="02020603050405020304" pitchFamily="18" charset="0"/>
                        </a:rPr>
                        <a:t>=</a:t>
                      </a:r>
                      <a:r>
                        <a:rPr lang="en-US" altLang="zh-CN" sz="1800" b="1" dirty="0" err="1">
                          <a:latin typeface="Times New Roman" panose="02020603050405020304" pitchFamily="18" charset="0"/>
                        </a:rPr>
                        <a:t>c</a:t>
                      </a:r>
                      <a:r>
                        <a:rPr lang="en-US" altLang="zh-CN" sz="1800" b="1" i="1" baseline="-25000" dirty="0" err="1">
                          <a:latin typeface="Times New Roman" panose="02020603050405020304" pitchFamily="18" charset="0"/>
                        </a:rPr>
                        <a:t>j</a:t>
                      </a:r>
                      <a:r>
                        <a:rPr lang="en-US" altLang="zh-CN" sz="1800" b="1" dirty="0" err="1">
                          <a:latin typeface="Times New Roman" panose="02020603050405020304" pitchFamily="18" charset="0"/>
                        </a:rPr>
                        <a:t>-z</a:t>
                      </a:r>
                      <a:r>
                        <a:rPr lang="en-US" altLang="zh-CN" sz="1800" b="1" i="1" baseline="-25000" dirty="0" err="1">
                          <a:latin typeface="Times New Roman" panose="02020603050405020304" pitchFamily="18" charset="0"/>
                        </a:rPr>
                        <a:t>j</a:t>
                      </a:r>
                      <a:endParaRPr lang="en-US" altLang="zh-CN" sz="1800" b="1" i="1" baseline="-25000" dirty="0">
                        <a:latin typeface="Times New Roman" panose="02020603050405020304" pitchFamily="18" charset="0"/>
                      </a:endParaRPr>
                    </a:p>
                  </a:txBody>
                  <a:tcPr marT="45721" marB="45721"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1" marB="4572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-2</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华文细黑" panose="02010600040101010101" pitchFamily="2" charset="-122"/>
                        </a:rPr>
                        <a:t>0</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1/4</a:t>
                      </a: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5"/>
                  </a:ext>
                </a:extLst>
              </a:tr>
              <a:tr h="457207">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T="45721" marB="45721"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4</a:t>
                      </a:r>
                      <a:endParaRPr kumimoji="1" lang="zh-CN"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1</a:t>
                      </a:r>
                      <a:endParaRPr kumimoji="1" lang="zh-CN"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endParaRPr>
                    </a:p>
                  </a:txBody>
                  <a:tcPr marT="45721" marB="4572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a:t>
                      </a:r>
                      <a:endParaRPr kumimoji="1" lang="zh-CN"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1/4</a:t>
                      </a: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a:t>
                      </a:r>
                      <a:endParaRPr kumimoji="1" lang="zh-CN"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endParaRP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7207">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T="45721" marB="45721"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4</a:t>
                      </a:r>
                      <a:endParaRPr kumimoji="1" lang="zh-CN"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folHlink"/>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a:t>
                      </a:r>
                      <a:endParaRPr kumimoji="1" lang="zh-CN"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endParaRPr>
                    </a:p>
                  </a:txBody>
                  <a:tcPr marT="45721" marB="4572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a:t>
                      </a:r>
                      <a:endParaRPr kumimoji="1" lang="zh-CN"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1/2</a:t>
                      </a: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1</a:t>
                      </a:r>
                      <a:endParaRPr kumimoji="1" lang="zh-CN"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endParaRP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7207">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2</a:t>
                      </a:r>
                      <a:endParaRPr kumimoji="1" lang="zh-CN"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folHlink"/>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a:t>
                      </a:r>
                      <a:endParaRPr kumimoji="1" lang="zh-CN"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endParaRPr>
                    </a:p>
                  </a:txBody>
                  <a:tcPr marT="45721" marB="4572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1</a:t>
                      </a:r>
                      <a:endParaRPr kumimoji="1" lang="zh-CN"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1/2</a:t>
                      </a: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-1/8</a:t>
                      </a: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a:t>
                      </a:r>
                      <a:endParaRPr kumimoji="1" lang="zh-CN"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endParaRP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57207">
                <a:tc grid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lang="el-GR" altLang="zh-CN" sz="1800" b="1" dirty="0">
                          <a:latin typeface="Times New Roman" panose="02020603050405020304" pitchFamily="18" charset="0"/>
                        </a:rPr>
                        <a:t>σ</a:t>
                      </a:r>
                      <a:r>
                        <a:rPr lang="en-US" altLang="zh-CN" sz="1800" b="1" i="1" baseline="-25000" dirty="0">
                          <a:latin typeface="Times New Roman" panose="02020603050405020304" pitchFamily="18" charset="0"/>
                        </a:rPr>
                        <a:t>j</a:t>
                      </a:r>
                      <a:r>
                        <a:rPr lang="en-US" altLang="zh-CN" sz="1800" b="1" dirty="0">
                          <a:latin typeface="Times New Roman" panose="02020603050405020304" pitchFamily="18" charset="0"/>
                        </a:rPr>
                        <a:t>=</a:t>
                      </a:r>
                      <a:r>
                        <a:rPr lang="en-US" altLang="zh-CN" sz="1800" b="1" dirty="0" err="1">
                          <a:latin typeface="Times New Roman" panose="02020603050405020304" pitchFamily="18" charset="0"/>
                        </a:rPr>
                        <a:t>c</a:t>
                      </a:r>
                      <a:r>
                        <a:rPr lang="en-US" altLang="zh-CN" sz="1800" b="1" i="1" baseline="-25000" dirty="0" err="1">
                          <a:latin typeface="Times New Roman" panose="02020603050405020304" pitchFamily="18" charset="0"/>
                        </a:rPr>
                        <a:t>j</a:t>
                      </a:r>
                      <a:r>
                        <a:rPr lang="en-US" altLang="zh-CN" sz="1800" b="1" dirty="0" err="1">
                          <a:latin typeface="Times New Roman" panose="02020603050405020304" pitchFamily="18" charset="0"/>
                        </a:rPr>
                        <a:t>-z</a:t>
                      </a:r>
                      <a:r>
                        <a:rPr lang="en-US" altLang="zh-CN" sz="1800" b="1" i="1" baseline="-25000" dirty="0" err="1">
                          <a:latin typeface="Times New Roman" panose="02020603050405020304" pitchFamily="18" charset="0"/>
                        </a:rPr>
                        <a:t>j</a:t>
                      </a:r>
                      <a:endParaRPr kumimoji="1" lang="zh-CN"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-3/2</a:t>
                      </a: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-1/8</a:t>
                      </a: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1" marB="45721"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9"/>
                  </a:ext>
                </a:extLst>
              </a:tr>
            </a:tbl>
          </a:graphicData>
        </a:graphic>
      </p:graphicFrame>
      <p:sp>
        <p:nvSpPr>
          <p:cNvPr id="115823" name="Oval 529">
            <a:extLst>
              <a:ext uri="{FF2B5EF4-FFF2-40B4-BE49-F238E27FC236}">
                <a16:creationId xmlns:a16="http://schemas.microsoft.com/office/drawing/2014/main" id="{78674698-52F1-4530-AA38-C88126A69456}"/>
              </a:ext>
            </a:extLst>
          </p:cNvPr>
          <p:cNvSpPr>
            <a:spLocks noChangeArrowheads="1"/>
          </p:cNvSpPr>
          <p:nvPr/>
        </p:nvSpPr>
        <p:spPr bwMode="auto">
          <a:xfrm>
            <a:off x="6400800" y="2590800"/>
            <a:ext cx="457200" cy="381000"/>
          </a:xfrm>
          <a:prstGeom prst="ellipse">
            <a:avLst/>
          </a:prstGeom>
          <a:noFill/>
          <a:ln w="952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pSp>
        <p:nvGrpSpPr>
          <p:cNvPr id="85" name="组合 84">
            <a:extLst>
              <a:ext uri="{FF2B5EF4-FFF2-40B4-BE49-F238E27FC236}">
                <a16:creationId xmlns:a16="http://schemas.microsoft.com/office/drawing/2014/main" id="{E00CBA32-1D32-4C4F-8E0E-130832D0F07E}"/>
              </a:ext>
            </a:extLst>
          </p:cNvPr>
          <p:cNvGrpSpPr>
            <a:grpSpLocks/>
          </p:cNvGrpSpPr>
          <p:nvPr/>
        </p:nvGrpSpPr>
        <p:grpSpPr bwMode="auto">
          <a:xfrm>
            <a:off x="2825750" y="1600200"/>
            <a:ext cx="5022850" cy="2025650"/>
            <a:chOff x="1982788" y="4260850"/>
            <a:chExt cx="5022850" cy="2025650"/>
          </a:xfrm>
        </p:grpSpPr>
        <p:grpSp>
          <p:nvGrpSpPr>
            <p:cNvPr id="115840" name="Group 23">
              <a:extLst>
                <a:ext uri="{FF2B5EF4-FFF2-40B4-BE49-F238E27FC236}">
                  <a16:creationId xmlns:a16="http://schemas.microsoft.com/office/drawing/2014/main" id="{1A7C74F1-D0FF-4696-87B3-4327C4F1822C}"/>
                </a:ext>
              </a:extLst>
            </p:cNvPr>
            <p:cNvGrpSpPr>
              <a:grpSpLocks/>
            </p:cNvGrpSpPr>
            <p:nvPr/>
          </p:nvGrpSpPr>
          <p:grpSpPr bwMode="auto">
            <a:xfrm>
              <a:off x="3500438" y="4260850"/>
              <a:ext cx="3505200" cy="2025650"/>
              <a:chOff x="3552" y="1344"/>
              <a:chExt cx="2208" cy="1276"/>
            </a:xfrm>
          </p:grpSpPr>
          <p:sp>
            <p:nvSpPr>
              <p:cNvPr id="115842" name="Line 20">
                <a:extLst>
                  <a:ext uri="{FF2B5EF4-FFF2-40B4-BE49-F238E27FC236}">
                    <a16:creationId xmlns:a16="http://schemas.microsoft.com/office/drawing/2014/main" id="{399186FF-1634-4FED-9EEA-E156F4D497F3}"/>
                  </a:ext>
                </a:extLst>
              </p:cNvPr>
              <p:cNvSpPr>
                <a:spLocks noChangeShapeType="1"/>
              </p:cNvSpPr>
              <p:nvPr/>
            </p:nvSpPr>
            <p:spPr bwMode="auto">
              <a:xfrm>
                <a:off x="3731" y="2421"/>
                <a:ext cx="2029" cy="0"/>
              </a:xfrm>
              <a:prstGeom prst="line">
                <a:avLst/>
              </a:prstGeom>
              <a:noFill/>
              <a:ln w="12700">
                <a:solidFill>
                  <a:schemeClr val="hlink"/>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5843" name="Freeform 9">
                <a:extLst>
                  <a:ext uri="{FF2B5EF4-FFF2-40B4-BE49-F238E27FC236}">
                    <a16:creationId xmlns:a16="http://schemas.microsoft.com/office/drawing/2014/main" id="{B81102DB-E554-45EA-9CDB-B399C2C9502B}"/>
                  </a:ext>
                </a:extLst>
              </p:cNvPr>
              <p:cNvSpPr>
                <a:spLocks/>
              </p:cNvSpPr>
              <p:nvPr/>
            </p:nvSpPr>
            <p:spPr bwMode="auto">
              <a:xfrm>
                <a:off x="3731" y="1802"/>
                <a:ext cx="884" cy="619"/>
              </a:xfrm>
              <a:custGeom>
                <a:avLst/>
                <a:gdLst>
                  <a:gd name="T0" fmla="*/ 0 w 1296"/>
                  <a:gd name="T1" fmla="*/ 1 h 1104"/>
                  <a:gd name="T2" fmla="*/ 0 w 1296"/>
                  <a:gd name="T3" fmla="*/ 0 h 1104"/>
                  <a:gd name="T4" fmla="*/ 1 w 1296"/>
                  <a:gd name="T5" fmla="*/ 0 h 1104"/>
                  <a:gd name="T6" fmla="*/ 1 w 1296"/>
                  <a:gd name="T7" fmla="*/ 1 h 1104"/>
                  <a:gd name="T8" fmla="*/ 1 w 1296"/>
                  <a:gd name="T9" fmla="*/ 1 h 1104"/>
                  <a:gd name="T10" fmla="*/ 0 w 1296"/>
                  <a:gd name="T11" fmla="*/ 1 h 1104"/>
                  <a:gd name="T12" fmla="*/ 0 60000 65536"/>
                  <a:gd name="T13" fmla="*/ 0 60000 65536"/>
                  <a:gd name="T14" fmla="*/ 0 60000 65536"/>
                  <a:gd name="T15" fmla="*/ 0 60000 65536"/>
                  <a:gd name="T16" fmla="*/ 0 60000 65536"/>
                  <a:gd name="T17" fmla="*/ 0 60000 65536"/>
                  <a:gd name="T18" fmla="*/ 0 w 1296"/>
                  <a:gd name="T19" fmla="*/ 0 h 1104"/>
                  <a:gd name="T20" fmla="*/ 1296 w 1296"/>
                  <a:gd name="T21" fmla="*/ 1104 h 1104"/>
                </a:gdLst>
                <a:ahLst/>
                <a:cxnLst>
                  <a:cxn ang="T12">
                    <a:pos x="T0" y="T1"/>
                  </a:cxn>
                  <a:cxn ang="T13">
                    <a:pos x="T2" y="T3"/>
                  </a:cxn>
                  <a:cxn ang="T14">
                    <a:pos x="T4" y="T5"/>
                  </a:cxn>
                  <a:cxn ang="T15">
                    <a:pos x="T6" y="T7"/>
                  </a:cxn>
                  <a:cxn ang="T16">
                    <a:pos x="T8" y="T9"/>
                  </a:cxn>
                  <a:cxn ang="T17">
                    <a:pos x="T10" y="T11"/>
                  </a:cxn>
                </a:cxnLst>
                <a:rect l="T18" t="T19" r="T20" b="T21"/>
                <a:pathLst>
                  <a:path w="1296" h="1104">
                    <a:moveTo>
                      <a:pt x="0" y="1104"/>
                    </a:moveTo>
                    <a:lnTo>
                      <a:pt x="0" y="0"/>
                    </a:lnTo>
                    <a:lnTo>
                      <a:pt x="720" y="0"/>
                    </a:lnTo>
                    <a:lnTo>
                      <a:pt x="1296" y="336"/>
                    </a:lnTo>
                    <a:lnTo>
                      <a:pt x="1296" y="1104"/>
                    </a:lnTo>
                    <a:lnTo>
                      <a:pt x="0" y="1104"/>
                    </a:lnTo>
                    <a:close/>
                  </a:path>
                </a:pathLst>
              </a:custGeom>
              <a:solidFill>
                <a:srgbClr val="99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5844" name="Line 10">
                <a:extLst>
                  <a:ext uri="{FF2B5EF4-FFF2-40B4-BE49-F238E27FC236}">
                    <a16:creationId xmlns:a16="http://schemas.microsoft.com/office/drawing/2014/main" id="{F76AA263-8E9A-489A-BC1D-3EDCB20AA14C}"/>
                  </a:ext>
                </a:extLst>
              </p:cNvPr>
              <p:cNvSpPr>
                <a:spLocks noChangeShapeType="1"/>
              </p:cNvSpPr>
              <p:nvPr/>
            </p:nvSpPr>
            <p:spPr bwMode="auto">
              <a:xfrm flipH="1" flipV="1">
                <a:off x="3731" y="1344"/>
                <a:ext cx="1" cy="1077"/>
              </a:xfrm>
              <a:prstGeom prst="line">
                <a:avLst/>
              </a:prstGeom>
              <a:noFill/>
              <a:ln w="12700">
                <a:solidFill>
                  <a:schemeClr val="hlink"/>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5845" name="Line 13">
                <a:extLst>
                  <a:ext uri="{FF2B5EF4-FFF2-40B4-BE49-F238E27FC236}">
                    <a16:creationId xmlns:a16="http://schemas.microsoft.com/office/drawing/2014/main" id="{FBD6A7A7-2585-4B08-AABF-CC3BD2E36203}"/>
                  </a:ext>
                </a:extLst>
              </p:cNvPr>
              <p:cNvSpPr>
                <a:spLocks noChangeShapeType="1"/>
              </p:cNvSpPr>
              <p:nvPr/>
            </p:nvSpPr>
            <p:spPr bwMode="auto">
              <a:xfrm>
                <a:off x="3732" y="1560"/>
                <a:ext cx="1733" cy="861"/>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5846" name="Line 14">
                <a:extLst>
                  <a:ext uri="{FF2B5EF4-FFF2-40B4-BE49-F238E27FC236}">
                    <a16:creationId xmlns:a16="http://schemas.microsoft.com/office/drawing/2014/main" id="{E695E47C-3144-4FFE-BAB8-9645750C7239}"/>
                  </a:ext>
                </a:extLst>
              </p:cNvPr>
              <p:cNvSpPr>
                <a:spLocks noChangeShapeType="1"/>
              </p:cNvSpPr>
              <p:nvPr/>
            </p:nvSpPr>
            <p:spPr bwMode="auto">
              <a:xfrm flipV="1">
                <a:off x="4615" y="1532"/>
                <a:ext cx="0" cy="889"/>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5847" name="Line 15">
                <a:extLst>
                  <a:ext uri="{FF2B5EF4-FFF2-40B4-BE49-F238E27FC236}">
                    <a16:creationId xmlns:a16="http://schemas.microsoft.com/office/drawing/2014/main" id="{3586AAF1-20F9-4C8C-8A16-FD643D5C5CCC}"/>
                  </a:ext>
                </a:extLst>
              </p:cNvPr>
              <p:cNvSpPr>
                <a:spLocks noChangeShapeType="1"/>
              </p:cNvSpPr>
              <p:nvPr/>
            </p:nvSpPr>
            <p:spPr bwMode="auto">
              <a:xfrm>
                <a:off x="3731" y="1802"/>
                <a:ext cx="1113"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5848" name="Text Box 11">
                <a:extLst>
                  <a:ext uri="{FF2B5EF4-FFF2-40B4-BE49-F238E27FC236}">
                    <a16:creationId xmlns:a16="http://schemas.microsoft.com/office/drawing/2014/main" id="{EE5D94BA-799E-4879-A017-8DEAAD916AF7}"/>
                  </a:ext>
                </a:extLst>
              </p:cNvPr>
              <p:cNvSpPr txBox="1">
                <a:spLocks noChangeArrowheads="1"/>
              </p:cNvSpPr>
              <p:nvPr/>
            </p:nvSpPr>
            <p:spPr bwMode="auto">
              <a:xfrm>
                <a:off x="3666" y="2428"/>
                <a:ext cx="202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0     1     2     3     4     5     6     7     8</a:t>
                </a:r>
              </a:p>
            </p:txBody>
          </p:sp>
          <p:sp>
            <p:nvSpPr>
              <p:cNvPr id="115849" name="Text Box 12">
                <a:extLst>
                  <a:ext uri="{FF2B5EF4-FFF2-40B4-BE49-F238E27FC236}">
                    <a16:creationId xmlns:a16="http://schemas.microsoft.com/office/drawing/2014/main" id="{979015E2-8455-4C01-AA93-5947AE0692F9}"/>
                  </a:ext>
                </a:extLst>
              </p:cNvPr>
              <p:cNvSpPr txBox="1">
                <a:spLocks noChangeArrowheads="1"/>
              </p:cNvSpPr>
              <p:nvPr/>
            </p:nvSpPr>
            <p:spPr bwMode="auto">
              <a:xfrm>
                <a:off x="3552" y="1776"/>
                <a:ext cx="192" cy="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3</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2</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1</a:t>
                </a:r>
              </a:p>
            </p:txBody>
          </p:sp>
          <p:sp>
            <p:nvSpPr>
              <p:cNvPr id="115850" name="Text Box 16">
                <a:extLst>
                  <a:ext uri="{FF2B5EF4-FFF2-40B4-BE49-F238E27FC236}">
                    <a16:creationId xmlns:a16="http://schemas.microsoft.com/office/drawing/2014/main" id="{74DCDA52-AED9-4B73-8FCE-139E21F65D54}"/>
                  </a:ext>
                </a:extLst>
              </p:cNvPr>
              <p:cNvSpPr txBox="1">
                <a:spLocks noChangeArrowheads="1"/>
              </p:cNvSpPr>
              <p:nvPr/>
            </p:nvSpPr>
            <p:spPr bwMode="auto">
              <a:xfrm>
                <a:off x="4582" y="2272"/>
                <a:ext cx="31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Q</a:t>
                </a:r>
                <a:r>
                  <a:rPr kumimoji="0" lang="en-US" altLang="zh-CN" sz="1400" b="0" i="0" u="none" strike="noStrike" kern="1200" cap="none" spc="0" normalizeH="0" baseline="-25000" noProof="0">
                    <a:ln>
                      <a:noFill/>
                    </a:ln>
                    <a:solidFill>
                      <a:srgbClr val="000000"/>
                    </a:solidFill>
                    <a:effectLst/>
                    <a:uLnTx/>
                    <a:uFillTx/>
                    <a:latin typeface="Arial" panose="020B0604020202020204" pitchFamily="34" charset="0"/>
                    <a:ea typeface="宋体" panose="02010600030101010101" pitchFamily="2" charset="-122"/>
                    <a:cs typeface="+mn-cs"/>
                  </a:rPr>
                  <a:t>1</a:t>
                </a:r>
              </a:p>
            </p:txBody>
          </p:sp>
          <p:sp>
            <p:nvSpPr>
              <p:cNvPr id="115851" name="Text Box 17">
                <a:extLst>
                  <a:ext uri="{FF2B5EF4-FFF2-40B4-BE49-F238E27FC236}">
                    <a16:creationId xmlns:a16="http://schemas.microsoft.com/office/drawing/2014/main" id="{13672FB0-5DC7-46A4-ABB8-629052B0715A}"/>
                  </a:ext>
                </a:extLst>
              </p:cNvPr>
              <p:cNvSpPr txBox="1">
                <a:spLocks noChangeArrowheads="1"/>
              </p:cNvSpPr>
              <p:nvPr/>
            </p:nvSpPr>
            <p:spPr bwMode="auto">
              <a:xfrm>
                <a:off x="4582" y="1872"/>
                <a:ext cx="7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Q</a:t>
                </a:r>
                <a:r>
                  <a:rPr kumimoji="0" lang="en-US" altLang="zh-CN" sz="1400" b="0" i="0" u="none" strike="noStrike" kern="1200" cap="none" spc="0" normalizeH="0" baseline="-25000" noProof="0">
                    <a:ln>
                      <a:noFill/>
                    </a:ln>
                    <a:solidFill>
                      <a:srgbClr val="000000"/>
                    </a:solidFill>
                    <a:effectLst/>
                    <a:uLnTx/>
                    <a:uFillTx/>
                    <a:latin typeface="Arial" panose="020B0604020202020204" pitchFamily="34" charset="0"/>
                    <a:ea typeface="宋体" panose="02010600030101010101" pitchFamily="2" charset="-122"/>
                    <a:cs typeface="+mn-cs"/>
                  </a:rPr>
                  <a:t>2</a:t>
                </a: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Wingdings" panose="05000000000000000000" pitchFamily="2" charset="2"/>
                  </a:rPr>
                  <a:t>(4, 2)</a:t>
                </a:r>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5852" name="Text Box 18">
                <a:extLst>
                  <a:ext uri="{FF2B5EF4-FFF2-40B4-BE49-F238E27FC236}">
                    <a16:creationId xmlns:a16="http://schemas.microsoft.com/office/drawing/2014/main" id="{2232E9A1-C872-47FD-BB31-D6A35EA3A915}"/>
                  </a:ext>
                </a:extLst>
              </p:cNvPr>
              <p:cNvSpPr txBox="1">
                <a:spLocks noChangeArrowheads="1"/>
              </p:cNvSpPr>
              <p:nvPr/>
            </p:nvSpPr>
            <p:spPr bwMode="auto">
              <a:xfrm>
                <a:off x="4080" y="1584"/>
                <a:ext cx="6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Q</a:t>
                </a:r>
                <a:r>
                  <a:rPr kumimoji="0" lang="en-US" altLang="zh-CN" sz="1400" b="0" i="0" u="none" strike="noStrike" kern="1200" cap="none" spc="0" normalizeH="0" baseline="-25000" noProof="0">
                    <a:ln>
                      <a:noFill/>
                    </a:ln>
                    <a:solidFill>
                      <a:srgbClr val="000000"/>
                    </a:solidFill>
                    <a:effectLst/>
                    <a:uLnTx/>
                    <a:uFillTx/>
                    <a:latin typeface="Arial" panose="020B0604020202020204" pitchFamily="34" charset="0"/>
                    <a:ea typeface="宋体" panose="02010600030101010101" pitchFamily="2" charset="-122"/>
                    <a:cs typeface="+mn-cs"/>
                  </a:rPr>
                  <a:t>3 </a:t>
                </a: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(2, 3)</a:t>
                </a:r>
              </a:p>
            </p:txBody>
          </p:sp>
          <p:sp>
            <p:nvSpPr>
              <p:cNvPr id="115853" name="Text Box 19">
                <a:extLst>
                  <a:ext uri="{FF2B5EF4-FFF2-40B4-BE49-F238E27FC236}">
                    <a16:creationId xmlns:a16="http://schemas.microsoft.com/office/drawing/2014/main" id="{17CA1EDA-E869-483D-85AC-B7C3F017C657}"/>
                  </a:ext>
                </a:extLst>
              </p:cNvPr>
              <p:cNvSpPr txBox="1">
                <a:spLocks noChangeArrowheads="1"/>
              </p:cNvSpPr>
              <p:nvPr/>
            </p:nvSpPr>
            <p:spPr bwMode="auto">
              <a:xfrm>
                <a:off x="3696" y="1632"/>
                <a:ext cx="3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Q</a:t>
                </a:r>
                <a:r>
                  <a:rPr kumimoji="0" lang="en-US" altLang="zh-CN" sz="1400" b="0" i="0" u="none" strike="noStrike" kern="1200" cap="none" spc="0" normalizeH="0" baseline="-25000" noProof="0">
                    <a:ln>
                      <a:noFill/>
                    </a:ln>
                    <a:solidFill>
                      <a:srgbClr val="000000"/>
                    </a:solidFill>
                    <a:effectLst/>
                    <a:uLnTx/>
                    <a:uFillTx/>
                    <a:latin typeface="Arial" panose="020B0604020202020204" pitchFamily="34" charset="0"/>
                    <a:ea typeface="宋体" panose="02010600030101010101" pitchFamily="2" charset="-122"/>
                    <a:cs typeface="+mn-cs"/>
                  </a:rPr>
                  <a:t>4</a:t>
                </a:r>
              </a:p>
            </p:txBody>
          </p:sp>
        </p:grpSp>
        <p:sp>
          <p:nvSpPr>
            <p:cNvPr id="87" name="箭头: 上弧形 86">
              <a:extLst>
                <a:ext uri="{FF2B5EF4-FFF2-40B4-BE49-F238E27FC236}">
                  <a16:creationId xmlns:a16="http://schemas.microsoft.com/office/drawing/2014/main" id="{63ABF6B7-2D63-47C4-9045-D91A0209BA55}"/>
                </a:ext>
              </a:extLst>
            </p:cNvPr>
            <p:cNvSpPr/>
            <p:nvPr/>
          </p:nvSpPr>
          <p:spPr>
            <a:xfrm rot="10800000" flipH="1">
              <a:off x="1982788" y="5138738"/>
              <a:ext cx="2660650" cy="561975"/>
            </a:xfrm>
            <a:prstGeom prst="curvedDownArrow">
              <a:avLst/>
            </a:prstGeom>
            <a:solidFill>
              <a:srgbClr val="FF33CC"/>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33CC"/>
                </a:solidFill>
                <a:effectLst/>
                <a:uLnTx/>
                <a:uFillTx/>
                <a:latin typeface="Arial"/>
                <a:ea typeface="宋体"/>
                <a:cs typeface="+mn-cs"/>
              </a:endParaRPr>
            </a:p>
          </p:txBody>
        </p:sp>
      </p:grpSp>
      <p:grpSp>
        <p:nvGrpSpPr>
          <p:cNvPr id="146" name="组合 145">
            <a:extLst>
              <a:ext uri="{FF2B5EF4-FFF2-40B4-BE49-F238E27FC236}">
                <a16:creationId xmlns:a16="http://schemas.microsoft.com/office/drawing/2014/main" id="{DEDF6F6C-D0A7-4096-B1EE-414517365F62}"/>
              </a:ext>
            </a:extLst>
          </p:cNvPr>
          <p:cNvGrpSpPr>
            <a:grpSpLocks/>
          </p:cNvGrpSpPr>
          <p:nvPr/>
        </p:nvGrpSpPr>
        <p:grpSpPr bwMode="auto">
          <a:xfrm>
            <a:off x="2971800" y="3460750"/>
            <a:ext cx="4870450" cy="2025650"/>
            <a:chOff x="2135188" y="4260850"/>
            <a:chExt cx="4870450" cy="2025650"/>
          </a:xfrm>
        </p:grpSpPr>
        <p:grpSp>
          <p:nvGrpSpPr>
            <p:cNvPr id="115826" name="Group 23">
              <a:extLst>
                <a:ext uri="{FF2B5EF4-FFF2-40B4-BE49-F238E27FC236}">
                  <a16:creationId xmlns:a16="http://schemas.microsoft.com/office/drawing/2014/main" id="{BD6A58E5-FC19-4A97-8F24-89FB83A0A609}"/>
                </a:ext>
              </a:extLst>
            </p:cNvPr>
            <p:cNvGrpSpPr>
              <a:grpSpLocks/>
            </p:cNvGrpSpPr>
            <p:nvPr/>
          </p:nvGrpSpPr>
          <p:grpSpPr bwMode="auto">
            <a:xfrm>
              <a:off x="3500438" y="4260850"/>
              <a:ext cx="3505200" cy="2025650"/>
              <a:chOff x="3552" y="1344"/>
              <a:chExt cx="2208" cy="1276"/>
            </a:xfrm>
          </p:grpSpPr>
          <p:sp>
            <p:nvSpPr>
              <p:cNvPr id="115828" name="Line 20">
                <a:extLst>
                  <a:ext uri="{FF2B5EF4-FFF2-40B4-BE49-F238E27FC236}">
                    <a16:creationId xmlns:a16="http://schemas.microsoft.com/office/drawing/2014/main" id="{BD1361E9-7324-4EF0-9208-49999004D105}"/>
                  </a:ext>
                </a:extLst>
              </p:cNvPr>
              <p:cNvSpPr>
                <a:spLocks noChangeShapeType="1"/>
              </p:cNvSpPr>
              <p:nvPr/>
            </p:nvSpPr>
            <p:spPr bwMode="auto">
              <a:xfrm>
                <a:off x="3731" y="2421"/>
                <a:ext cx="2029" cy="0"/>
              </a:xfrm>
              <a:prstGeom prst="line">
                <a:avLst/>
              </a:prstGeom>
              <a:noFill/>
              <a:ln w="12700">
                <a:solidFill>
                  <a:schemeClr val="hlink"/>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5829" name="Freeform 9">
                <a:extLst>
                  <a:ext uri="{FF2B5EF4-FFF2-40B4-BE49-F238E27FC236}">
                    <a16:creationId xmlns:a16="http://schemas.microsoft.com/office/drawing/2014/main" id="{A1E56FB2-4CA1-4310-85C8-1E798A1A64D7}"/>
                  </a:ext>
                </a:extLst>
              </p:cNvPr>
              <p:cNvSpPr>
                <a:spLocks/>
              </p:cNvSpPr>
              <p:nvPr/>
            </p:nvSpPr>
            <p:spPr bwMode="auto">
              <a:xfrm>
                <a:off x="3731" y="1802"/>
                <a:ext cx="884" cy="619"/>
              </a:xfrm>
              <a:custGeom>
                <a:avLst/>
                <a:gdLst>
                  <a:gd name="T0" fmla="*/ 0 w 1296"/>
                  <a:gd name="T1" fmla="*/ 1 h 1104"/>
                  <a:gd name="T2" fmla="*/ 0 w 1296"/>
                  <a:gd name="T3" fmla="*/ 0 h 1104"/>
                  <a:gd name="T4" fmla="*/ 1 w 1296"/>
                  <a:gd name="T5" fmla="*/ 0 h 1104"/>
                  <a:gd name="T6" fmla="*/ 1 w 1296"/>
                  <a:gd name="T7" fmla="*/ 1 h 1104"/>
                  <a:gd name="T8" fmla="*/ 1 w 1296"/>
                  <a:gd name="T9" fmla="*/ 1 h 1104"/>
                  <a:gd name="T10" fmla="*/ 0 w 1296"/>
                  <a:gd name="T11" fmla="*/ 1 h 1104"/>
                  <a:gd name="T12" fmla="*/ 0 60000 65536"/>
                  <a:gd name="T13" fmla="*/ 0 60000 65536"/>
                  <a:gd name="T14" fmla="*/ 0 60000 65536"/>
                  <a:gd name="T15" fmla="*/ 0 60000 65536"/>
                  <a:gd name="T16" fmla="*/ 0 60000 65536"/>
                  <a:gd name="T17" fmla="*/ 0 60000 65536"/>
                  <a:gd name="T18" fmla="*/ 0 w 1296"/>
                  <a:gd name="T19" fmla="*/ 0 h 1104"/>
                  <a:gd name="T20" fmla="*/ 1296 w 1296"/>
                  <a:gd name="T21" fmla="*/ 1104 h 1104"/>
                </a:gdLst>
                <a:ahLst/>
                <a:cxnLst>
                  <a:cxn ang="T12">
                    <a:pos x="T0" y="T1"/>
                  </a:cxn>
                  <a:cxn ang="T13">
                    <a:pos x="T2" y="T3"/>
                  </a:cxn>
                  <a:cxn ang="T14">
                    <a:pos x="T4" y="T5"/>
                  </a:cxn>
                  <a:cxn ang="T15">
                    <a:pos x="T6" y="T7"/>
                  </a:cxn>
                  <a:cxn ang="T16">
                    <a:pos x="T8" y="T9"/>
                  </a:cxn>
                  <a:cxn ang="T17">
                    <a:pos x="T10" y="T11"/>
                  </a:cxn>
                </a:cxnLst>
                <a:rect l="T18" t="T19" r="T20" b="T21"/>
                <a:pathLst>
                  <a:path w="1296" h="1104">
                    <a:moveTo>
                      <a:pt x="0" y="1104"/>
                    </a:moveTo>
                    <a:lnTo>
                      <a:pt x="0" y="0"/>
                    </a:lnTo>
                    <a:lnTo>
                      <a:pt x="720" y="0"/>
                    </a:lnTo>
                    <a:lnTo>
                      <a:pt x="1296" y="336"/>
                    </a:lnTo>
                    <a:lnTo>
                      <a:pt x="1296" y="1104"/>
                    </a:lnTo>
                    <a:lnTo>
                      <a:pt x="0" y="1104"/>
                    </a:lnTo>
                    <a:close/>
                  </a:path>
                </a:pathLst>
              </a:custGeom>
              <a:solidFill>
                <a:srgbClr val="99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5830" name="Line 10">
                <a:extLst>
                  <a:ext uri="{FF2B5EF4-FFF2-40B4-BE49-F238E27FC236}">
                    <a16:creationId xmlns:a16="http://schemas.microsoft.com/office/drawing/2014/main" id="{0D2ECD06-F858-4DE9-BBCF-22EC8A55A9F1}"/>
                  </a:ext>
                </a:extLst>
              </p:cNvPr>
              <p:cNvSpPr>
                <a:spLocks noChangeShapeType="1"/>
              </p:cNvSpPr>
              <p:nvPr/>
            </p:nvSpPr>
            <p:spPr bwMode="auto">
              <a:xfrm flipH="1" flipV="1">
                <a:off x="3731" y="1344"/>
                <a:ext cx="1" cy="1077"/>
              </a:xfrm>
              <a:prstGeom prst="line">
                <a:avLst/>
              </a:prstGeom>
              <a:noFill/>
              <a:ln w="12700">
                <a:solidFill>
                  <a:schemeClr val="hlink"/>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5831" name="Line 13">
                <a:extLst>
                  <a:ext uri="{FF2B5EF4-FFF2-40B4-BE49-F238E27FC236}">
                    <a16:creationId xmlns:a16="http://schemas.microsoft.com/office/drawing/2014/main" id="{8C021F0E-6102-493C-B26C-0215387F91AD}"/>
                  </a:ext>
                </a:extLst>
              </p:cNvPr>
              <p:cNvSpPr>
                <a:spLocks noChangeShapeType="1"/>
              </p:cNvSpPr>
              <p:nvPr/>
            </p:nvSpPr>
            <p:spPr bwMode="auto">
              <a:xfrm>
                <a:off x="3732" y="1560"/>
                <a:ext cx="1733" cy="861"/>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5832" name="Line 14">
                <a:extLst>
                  <a:ext uri="{FF2B5EF4-FFF2-40B4-BE49-F238E27FC236}">
                    <a16:creationId xmlns:a16="http://schemas.microsoft.com/office/drawing/2014/main" id="{F0D7588C-A67D-4E81-AA9D-5CC17C2B7BA4}"/>
                  </a:ext>
                </a:extLst>
              </p:cNvPr>
              <p:cNvSpPr>
                <a:spLocks noChangeShapeType="1"/>
              </p:cNvSpPr>
              <p:nvPr/>
            </p:nvSpPr>
            <p:spPr bwMode="auto">
              <a:xfrm flipV="1">
                <a:off x="4615" y="1532"/>
                <a:ext cx="0" cy="889"/>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5833" name="Line 15">
                <a:extLst>
                  <a:ext uri="{FF2B5EF4-FFF2-40B4-BE49-F238E27FC236}">
                    <a16:creationId xmlns:a16="http://schemas.microsoft.com/office/drawing/2014/main" id="{8D2BD68F-5467-4F81-AE93-1825F5C5E709}"/>
                  </a:ext>
                </a:extLst>
              </p:cNvPr>
              <p:cNvSpPr>
                <a:spLocks noChangeShapeType="1"/>
              </p:cNvSpPr>
              <p:nvPr/>
            </p:nvSpPr>
            <p:spPr bwMode="auto">
              <a:xfrm>
                <a:off x="3731" y="1802"/>
                <a:ext cx="1113"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5834" name="Text Box 11">
                <a:extLst>
                  <a:ext uri="{FF2B5EF4-FFF2-40B4-BE49-F238E27FC236}">
                    <a16:creationId xmlns:a16="http://schemas.microsoft.com/office/drawing/2014/main" id="{A3BA687D-77DC-4A6D-B744-4869FD8FE980}"/>
                  </a:ext>
                </a:extLst>
              </p:cNvPr>
              <p:cNvSpPr txBox="1">
                <a:spLocks noChangeArrowheads="1"/>
              </p:cNvSpPr>
              <p:nvPr/>
            </p:nvSpPr>
            <p:spPr bwMode="auto">
              <a:xfrm>
                <a:off x="3666" y="2428"/>
                <a:ext cx="202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0     1     2     3     4     5     6     7     8</a:t>
                </a:r>
              </a:p>
            </p:txBody>
          </p:sp>
          <p:sp>
            <p:nvSpPr>
              <p:cNvPr id="115835" name="Text Box 12">
                <a:extLst>
                  <a:ext uri="{FF2B5EF4-FFF2-40B4-BE49-F238E27FC236}">
                    <a16:creationId xmlns:a16="http://schemas.microsoft.com/office/drawing/2014/main" id="{E58B6A26-EA17-42AD-AB36-B9814FA3CCAC}"/>
                  </a:ext>
                </a:extLst>
              </p:cNvPr>
              <p:cNvSpPr txBox="1">
                <a:spLocks noChangeArrowheads="1"/>
              </p:cNvSpPr>
              <p:nvPr/>
            </p:nvSpPr>
            <p:spPr bwMode="auto">
              <a:xfrm>
                <a:off x="3552" y="1776"/>
                <a:ext cx="192" cy="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3</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2</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1</a:t>
                </a:r>
              </a:p>
            </p:txBody>
          </p:sp>
          <p:sp>
            <p:nvSpPr>
              <p:cNvPr id="115836" name="Text Box 16">
                <a:extLst>
                  <a:ext uri="{FF2B5EF4-FFF2-40B4-BE49-F238E27FC236}">
                    <a16:creationId xmlns:a16="http://schemas.microsoft.com/office/drawing/2014/main" id="{39629B5B-0BCC-4D41-9127-617002AB9191}"/>
                  </a:ext>
                </a:extLst>
              </p:cNvPr>
              <p:cNvSpPr txBox="1">
                <a:spLocks noChangeArrowheads="1"/>
              </p:cNvSpPr>
              <p:nvPr/>
            </p:nvSpPr>
            <p:spPr bwMode="auto">
              <a:xfrm>
                <a:off x="4582" y="2272"/>
                <a:ext cx="31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Q</a:t>
                </a:r>
                <a:r>
                  <a:rPr kumimoji="0" lang="en-US" altLang="zh-CN" sz="1400" b="0" i="0" u="none" strike="noStrike" kern="1200" cap="none" spc="0" normalizeH="0" baseline="-25000" noProof="0">
                    <a:ln>
                      <a:noFill/>
                    </a:ln>
                    <a:solidFill>
                      <a:srgbClr val="000000"/>
                    </a:solidFill>
                    <a:effectLst/>
                    <a:uLnTx/>
                    <a:uFillTx/>
                    <a:latin typeface="Arial" panose="020B0604020202020204" pitchFamily="34" charset="0"/>
                    <a:ea typeface="宋体" panose="02010600030101010101" pitchFamily="2" charset="-122"/>
                    <a:cs typeface="+mn-cs"/>
                  </a:rPr>
                  <a:t>1</a:t>
                </a:r>
              </a:p>
            </p:txBody>
          </p:sp>
          <p:sp>
            <p:nvSpPr>
              <p:cNvPr id="115837" name="Text Box 17">
                <a:extLst>
                  <a:ext uri="{FF2B5EF4-FFF2-40B4-BE49-F238E27FC236}">
                    <a16:creationId xmlns:a16="http://schemas.microsoft.com/office/drawing/2014/main" id="{665470FF-5CD7-4D86-872F-85300F2B7A6F}"/>
                  </a:ext>
                </a:extLst>
              </p:cNvPr>
              <p:cNvSpPr txBox="1">
                <a:spLocks noChangeArrowheads="1"/>
              </p:cNvSpPr>
              <p:nvPr/>
            </p:nvSpPr>
            <p:spPr bwMode="auto">
              <a:xfrm>
                <a:off x="4582" y="1872"/>
                <a:ext cx="7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Q</a:t>
                </a:r>
                <a:r>
                  <a:rPr kumimoji="0" lang="en-US" altLang="zh-CN" sz="1400" b="0" i="0" u="none" strike="noStrike" kern="1200" cap="none" spc="0" normalizeH="0" baseline="-25000" noProof="0">
                    <a:ln>
                      <a:noFill/>
                    </a:ln>
                    <a:solidFill>
                      <a:srgbClr val="000000"/>
                    </a:solidFill>
                    <a:effectLst/>
                    <a:uLnTx/>
                    <a:uFillTx/>
                    <a:latin typeface="Arial" panose="020B0604020202020204" pitchFamily="34" charset="0"/>
                    <a:ea typeface="宋体" panose="02010600030101010101" pitchFamily="2" charset="-122"/>
                    <a:cs typeface="+mn-cs"/>
                  </a:rPr>
                  <a:t>2</a:t>
                </a: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Wingdings" panose="05000000000000000000" pitchFamily="2" charset="2"/>
                  </a:rPr>
                  <a:t>(4, 2)</a:t>
                </a:r>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5838" name="Text Box 18">
                <a:extLst>
                  <a:ext uri="{FF2B5EF4-FFF2-40B4-BE49-F238E27FC236}">
                    <a16:creationId xmlns:a16="http://schemas.microsoft.com/office/drawing/2014/main" id="{BBCC334A-65B7-4A88-B8D1-2A02C6475C8D}"/>
                  </a:ext>
                </a:extLst>
              </p:cNvPr>
              <p:cNvSpPr txBox="1">
                <a:spLocks noChangeArrowheads="1"/>
              </p:cNvSpPr>
              <p:nvPr/>
            </p:nvSpPr>
            <p:spPr bwMode="auto">
              <a:xfrm>
                <a:off x="4080" y="1584"/>
                <a:ext cx="6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Q</a:t>
                </a:r>
                <a:r>
                  <a:rPr kumimoji="0" lang="en-US" altLang="zh-CN" sz="1400" b="0" i="0" u="none" strike="noStrike" kern="1200" cap="none" spc="0" normalizeH="0" baseline="-25000" noProof="0">
                    <a:ln>
                      <a:noFill/>
                    </a:ln>
                    <a:solidFill>
                      <a:srgbClr val="000000"/>
                    </a:solidFill>
                    <a:effectLst/>
                    <a:uLnTx/>
                    <a:uFillTx/>
                    <a:latin typeface="Arial" panose="020B0604020202020204" pitchFamily="34" charset="0"/>
                    <a:ea typeface="宋体" panose="02010600030101010101" pitchFamily="2" charset="-122"/>
                    <a:cs typeface="+mn-cs"/>
                  </a:rPr>
                  <a:t>3 </a:t>
                </a: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(2, 3)</a:t>
                </a:r>
              </a:p>
            </p:txBody>
          </p:sp>
          <p:sp>
            <p:nvSpPr>
              <p:cNvPr id="115839" name="Text Box 19">
                <a:extLst>
                  <a:ext uri="{FF2B5EF4-FFF2-40B4-BE49-F238E27FC236}">
                    <a16:creationId xmlns:a16="http://schemas.microsoft.com/office/drawing/2014/main" id="{1482DA9C-BD9C-4F69-9BBC-C9E4905D42BA}"/>
                  </a:ext>
                </a:extLst>
              </p:cNvPr>
              <p:cNvSpPr txBox="1">
                <a:spLocks noChangeArrowheads="1"/>
              </p:cNvSpPr>
              <p:nvPr/>
            </p:nvSpPr>
            <p:spPr bwMode="auto">
              <a:xfrm>
                <a:off x="3696" y="1632"/>
                <a:ext cx="3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Q</a:t>
                </a:r>
                <a:r>
                  <a:rPr kumimoji="0" lang="en-US" altLang="zh-CN" sz="1400" b="0" i="0" u="none" strike="noStrike" kern="1200" cap="none" spc="0" normalizeH="0" baseline="-25000" noProof="0">
                    <a:ln>
                      <a:noFill/>
                    </a:ln>
                    <a:solidFill>
                      <a:srgbClr val="000000"/>
                    </a:solidFill>
                    <a:effectLst/>
                    <a:uLnTx/>
                    <a:uFillTx/>
                    <a:latin typeface="Arial" panose="020B0604020202020204" pitchFamily="34" charset="0"/>
                    <a:ea typeface="宋体" panose="02010600030101010101" pitchFamily="2" charset="-122"/>
                    <a:cs typeface="+mn-cs"/>
                  </a:rPr>
                  <a:t>4</a:t>
                </a:r>
              </a:p>
            </p:txBody>
          </p:sp>
        </p:grpSp>
        <p:sp>
          <p:nvSpPr>
            <p:cNvPr id="148" name="箭头: 上弧形 147">
              <a:extLst>
                <a:ext uri="{FF2B5EF4-FFF2-40B4-BE49-F238E27FC236}">
                  <a16:creationId xmlns:a16="http://schemas.microsoft.com/office/drawing/2014/main" id="{75958F74-4165-4F2F-916E-B0DC6A1ABF92}"/>
                </a:ext>
              </a:extLst>
            </p:cNvPr>
            <p:cNvSpPr/>
            <p:nvPr/>
          </p:nvSpPr>
          <p:spPr>
            <a:xfrm rot="10800000" flipH="1">
              <a:off x="2135188" y="5338763"/>
              <a:ext cx="3200400" cy="579437"/>
            </a:xfrm>
            <a:prstGeom prst="curvedDownArrow">
              <a:avLst/>
            </a:prstGeom>
            <a:solidFill>
              <a:srgbClr val="FF33CC"/>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33CC"/>
                </a:solidFill>
                <a:effectLst/>
                <a:uLnTx/>
                <a:uFillTx/>
                <a:latin typeface="Arial"/>
                <a:ea typeface="宋体"/>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fade">
                                      <p:cBhvr>
                                        <p:cTn id="7" dur="500"/>
                                        <p:tgtEl>
                                          <p:spTgt spid="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46"/>
                                        </p:tgtEl>
                                        <p:attrNameLst>
                                          <p:attrName>style.visibility</p:attrName>
                                        </p:attrNameLst>
                                      </p:cBhvr>
                                      <p:to>
                                        <p:strVal val="visible"/>
                                      </p:to>
                                    </p:set>
                                    <p:animEffect transition="in" filter="fade">
                                      <p:cBhvr>
                                        <p:cTn id="12" dur="500"/>
                                        <p:tgtEl>
                                          <p:spTgt spid="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hidden="1">
            <a:extLst>
              <a:ext uri="{FF2B5EF4-FFF2-40B4-BE49-F238E27FC236}">
                <a16:creationId xmlns:a16="http://schemas.microsoft.com/office/drawing/2014/main" id="{33B24B94-E4AC-4CC1-981A-7C04A229640A}"/>
              </a:ext>
            </a:extLst>
          </p:cNvPr>
          <p:cNvSpPr>
            <a:spLocks noGrp="1"/>
          </p:cNvSpPr>
          <p:nvPr>
            <p:ph type="title"/>
          </p:nvPr>
        </p:nvSpPr>
        <p:spPr/>
        <p:txBody>
          <a:bodyPr/>
          <a:lstStyle/>
          <a:p>
            <a:pPr algn="ctr" eaLnBrk="1" hangingPunct="1"/>
            <a:r>
              <a:rPr lang="zh-CN" altLang="en-US"/>
              <a:t>有没有更加智能的求解方法呢？</a:t>
            </a:r>
          </a:p>
        </p:txBody>
      </p:sp>
      <p:pic>
        <p:nvPicPr>
          <p:cNvPr id="3" name="图片 2">
            <a:extLst>
              <a:ext uri="{FF2B5EF4-FFF2-40B4-BE49-F238E27FC236}">
                <a16:creationId xmlns:a16="http://schemas.microsoft.com/office/drawing/2014/main" id="{2722AF77-E32A-4979-B9E3-C99530730C0F}"/>
              </a:ext>
            </a:extLst>
          </p:cNvPr>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5441930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hidden="1">
            <a:extLst>
              <a:ext uri="{FF2B5EF4-FFF2-40B4-BE49-F238E27FC236}">
                <a16:creationId xmlns:a16="http://schemas.microsoft.com/office/drawing/2014/main" id="{EF849C49-F84E-43FC-9664-A4AB8747297E}"/>
              </a:ext>
            </a:extLst>
          </p:cNvPr>
          <p:cNvSpPr>
            <a:spLocks noGrp="1"/>
          </p:cNvSpPr>
          <p:nvPr>
            <p:ph type="title"/>
          </p:nvPr>
        </p:nvSpPr>
        <p:spPr/>
        <p:txBody>
          <a:bodyPr/>
          <a:lstStyle/>
          <a:p>
            <a:pPr algn="ctr" eaLnBrk="1" hangingPunct="1"/>
            <a:r>
              <a:rPr lang="zh-CN" altLang="en-US"/>
              <a:t>利用</a:t>
            </a:r>
            <a:r>
              <a:rPr lang="en-US" altLang="zh-CN"/>
              <a:t>Lingo</a:t>
            </a:r>
            <a:r>
              <a:rPr lang="zh-CN" altLang="en-US"/>
              <a:t>求解线性规划问题</a:t>
            </a:r>
          </a:p>
        </p:txBody>
      </p:sp>
      <p:pic>
        <p:nvPicPr>
          <p:cNvPr id="3" name="图片 2">
            <a:extLst>
              <a:ext uri="{FF2B5EF4-FFF2-40B4-BE49-F238E27FC236}">
                <a16:creationId xmlns:a16="http://schemas.microsoft.com/office/drawing/2014/main" id="{BBCEDBB7-9D45-4E7A-A92A-2589DA33200B}"/>
              </a:ext>
            </a:extLst>
          </p:cNvPr>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617649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4">
            <a:extLst>
              <a:ext uri="{FF2B5EF4-FFF2-40B4-BE49-F238E27FC236}">
                <a16:creationId xmlns:a16="http://schemas.microsoft.com/office/drawing/2014/main" id="{08128350-BF4B-41D3-821C-645BF8100C63}"/>
              </a:ext>
            </a:extLst>
          </p:cNvPr>
          <p:cNvSpPr>
            <a:spLocks noGrp="1" noChangeArrowheads="1"/>
          </p:cNvSpPr>
          <p:nvPr>
            <p:ph type="ctrTitle"/>
          </p:nvPr>
        </p:nvSpPr>
        <p:spPr/>
        <p:txBody>
          <a:bodyPr/>
          <a:lstStyle/>
          <a:p>
            <a:pPr eaLnBrk="1" hangingPunct="1"/>
            <a:r>
              <a:rPr lang="zh-CN" altLang="en-US" sz="3600"/>
              <a:t>第二章之第四节</a:t>
            </a:r>
            <a:endParaRPr lang="zh-CN" altLang="en-US"/>
          </a:p>
        </p:txBody>
      </p:sp>
      <p:sp>
        <p:nvSpPr>
          <p:cNvPr id="118787" name="Rectangle 5">
            <a:extLst>
              <a:ext uri="{FF2B5EF4-FFF2-40B4-BE49-F238E27FC236}">
                <a16:creationId xmlns:a16="http://schemas.microsoft.com/office/drawing/2014/main" id="{71B13D13-0F20-4DC7-A32B-A6C480952F6C}"/>
              </a:ext>
            </a:extLst>
          </p:cNvPr>
          <p:cNvSpPr>
            <a:spLocks noGrp="1" noChangeArrowheads="1"/>
          </p:cNvSpPr>
          <p:nvPr>
            <p:ph type="subTitle" idx="1"/>
          </p:nvPr>
        </p:nvSpPr>
        <p:spPr>
          <a:xfrm>
            <a:off x="1981200" y="2971800"/>
            <a:ext cx="6553200" cy="1752600"/>
          </a:xfrm>
        </p:spPr>
        <p:txBody>
          <a:bodyPr/>
          <a:lstStyle/>
          <a:p>
            <a:pPr eaLnBrk="1" hangingPunct="1"/>
            <a:r>
              <a:rPr lang="zh-CN" altLang="en-US" sz="5400">
                <a:solidFill>
                  <a:schemeClr val="tx2"/>
                </a:solidFill>
              </a:rPr>
              <a:t>单纯形的进一步讨论</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A8BA425C-FB08-4227-8344-935AC5E7E3F5}"/>
              </a:ext>
            </a:extLst>
          </p:cNvPr>
          <p:cNvSpPr>
            <a:spLocks noGrp="1" noChangeArrowheads="1"/>
          </p:cNvSpPr>
          <p:nvPr>
            <p:ph type="title"/>
          </p:nvPr>
        </p:nvSpPr>
        <p:spPr/>
        <p:txBody>
          <a:bodyPr/>
          <a:lstStyle/>
          <a:p>
            <a:pPr eaLnBrk="1" hangingPunct="1"/>
            <a:r>
              <a:rPr lang="zh-CN" altLang="en-US"/>
              <a:t>单纯形法的进一步讨论</a:t>
            </a:r>
          </a:p>
        </p:txBody>
      </p:sp>
      <p:sp>
        <p:nvSpPr>
          <p:cNvPr id="84995" name="Rectangle 3">
            <a:extLst>
              <a:ext uri="{FF2B5EF4-FFF2-40B4-BE49-F238E27FC236}">
                <a16:creationId xmlns:a16="http://schemas.microsoft.com/office/drawing/2014/main" id="{7CD8364C-C2D2-4420-9FCC-736A56A50FC5}"/>
              </a:ext>
            </a:extLst>
          </p:cNvPr>
          <p:cNvSpPr>
            <a:spLocks noGrp="1" noChangeArrowheads="1"/>
          </p:cNvSpPr>
          <p:nvPr>
            <p:ph type="body" sz="half" idx="1"/>
          </p:nvPr>
        </p:nvSpPr>
        <p:spPr>
          <a:xfrm>
            <a:off x="457200" y="1295400"/>
            <a:ext cx="7772400" cy="5334000"/>
          </a:xfrm>
        </p:spPr>
        <p:txBody>
          <a:bodyPr/>
          <a:lstStyle/>
          <a:p>
            <a:pPr eaLnBrk="1" hangingPunct="1"/>
            <a:r>
              <a:rPr lang="zh-CN" altLang="en-US" dirty="0"/>
              <a:t>人工变量法</a:t>
            </a:r>
            <a:r>
              <a:rPr lang="en-US" altLang="zh-CN" dirty="0"/>
              <a:t>: </a:t>
            </a:r>
          </a:p>
          <a:p>
            <a:pPr lvl="1" eaLnBrk="1" hangingPunct="1"/>
            <a:r>
              <a:rPr lang="zh-CN" altLang="en-US" b="1" dirty="0"/>
              <a:t>应用于大规模运算，找不到基可行解</a:t>
            </a:r>
          </a:p>
          <a:p>
            <a:pPr lvl="1" eaLnBrk="1" hangingPunct="1"/>
            <a:r>
              <a:rPr lang="zh-CN" altLang="en-US" dirty="0"/>
              <a:t>设约束条件是 ∑</a:t>
            </a:r>
            <a:r>
              <a:rPr lang="en-US" altLang="zh-CN" b="1" dirty="0" err="1">
                <a:latin typeface="Times New Roman" panose="02020603050405020304" pitchFamily="18" charset="0"/>
              </a:rPr>
              <a:t>P</a:t>
            </a:r>
            <a:r>
              <a:rPr lang="en-US" altLang="zh-CN" baseline="-25000" dirty="0" err="1">
                <a:latin typeface="Times New Roman" panose="02020603050405020304" pitchFamily="18" charset="0"/>
              </a:rPr>
              <a:t>j</a:t>
            </a:r>
            <a:r>
              <a:rPr lang="en-US" altLang="zh-CN" dirty="0" err="1">
                <a:latin typeface="Times New Roman" panose="02020603050405020304" pitchFamily="18" charset="0"/>
              </a:rPr>
              <a:t>x</a:t>
            </a:r>
            <a:r>
              <a:rPr lang="en-US" altLang="zh-CN" baseline="-25000" dirty="0" err="1">
                <a:latin typeface="Times New Roman" panose="02020603050405020304" pitchFamily="18" charset="0"/>
              </a:rPr>
              <a:t>j</a:t>
            </a:r>
            <a:r>
              <a:rPr lang="en-US" altLang="zh-CN" dirty="0">
                <a:latin typeface="Times New Roman" panose="02020603050405020304" pitchFamily="18" charset="0"/>
              </a:rPr>
              <a:t>=</a:t>
            </a:r>
            <a:r>
              <a:rPr lang="en-US" altLang="zh-CN" b="1" dirty="0">
                <a:latin typeface="Times New Roman" panose="02020603050405020304" pitchFamily="18" charset="0"/>
              </a:rPr>
              <a:t>b</a:t>
            </a:r>
          </a:p>
          <a:p>
            <a:pPr lvl="1" eaLnBrk="1" hangingPunct="1"/>
            <a:r>
              <a:rPr lang="zh-CN" altLang="en-US" dirty="0">
                <a:latin typeface="Times New Roman" panose="02020603050405020304" pitchFamily="18" charset="0"/>
              </a:rPr>
              <a:t>分别给每个约束加上一个人工变量得</a:t>
            </a:r>
          </a:p>
          <a:p>
            <a:pPr lvl="1" eaLnBrk="1" hangingPunct="1"/>
            <a:endParaRPr lang="zh-CN" altLang="en-US" dirty="0">
              <a:latin typeface="Times New Roman" panose="02020603050405020304" pitchFamily="18" charset="0"/>
            </a:endParaRPr>
          </a:p>
          <a:p>
            <a:pPr lvl="1" eaLnBrk="1" hangingPunct="1"/>
            <a:endParaRPr lang="zh-CN" altLang="en-US" dirty="0">
              <a:latin typeface="Times New Roman" panose="02020603050405020304" pitchFamily="18" charset="0"/>
            </a:endParaRPr>
          </a:p>
          <a:p>
            <a:pPr lvl="1" eaLnBrk="1" hangingPunct="1"/>
            <a:endParaRPr lang="zh-CN" altLang="en-US" dirty="0">
              <a:latin typeface="Times New Roman" panose="02020603050405020304" pitchFamily="18" charset="0"/>
            </a:endParaRPr>
          </a:p>
          <a:p>
            <a:pPr lvl="1" eaLnBrk="1" hangingPunct="1"/>
            <a:endParaRPr lang="zh-CN" altLang="en-US" dirty="0">
              <a:latin typeface="Times New Roman" panose="02020603050405020304" pitchFamily="18" charset="0"/>
            </a:endParaRPr>
          </a:p>
          <a:p>
            <a:pPr lvl="1" eaLnBrk="1" hangingPunct="1"/>
            <a:endParaRPr lang="zh-CN" altLang="en-US" dirty="0">
              <a:latin typeface="Times New Roman" panose="02020603050405020304" pitchFamily="18" charset="0"/>
            </a:endParaRPr>
          </a:p>
          <a:p>
            <a:pPr lvl="1" eaLnBrk="1" hangingPunct="1"/>
            <a:r>
              <a:rPr lang="zh-CN" altLang="en-US" dirty="0">
                <a:latin typeface="Times New Roman" panose="02020603050405020304" pitchFamily="18" charset="0"/>
              </a:rPr>
              <a:t>初始基可行解 </a:t>
            </a:r>
            <a:r>
              <a:rPr lang="en-US" altLang="zh-CN" dirty="0">
                <a:latin typeface="Times New Roman" panose="02020603050405020304" pitchFamily="18" charset="0"/>
              </a:rPr>
              <a:t>X(0)=(0,0,…,0,b</a:t>
            </a:r>
            <a:r>
              <a:rPr lang="en-US" altLang="zh-CN" baseline="-25000" dirty="0">
                <a:latin typeface="Times New Roman" panose="02020603050405020304" pitchFamily="18" charset="0"/>
              </a:rPr>
              <a:t>1</a:t>
            </a:r>
            <a:r>
              <a:rPr lang="en-US" altLang="zh-CN" dirty="0">
                <a:latin typeface="Times New Roman" panose="02020603050405020304" pitchFamily="18" charset="0"/>
              </a:rPr>
              <a:t>,b</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dirty="0" err="1">
                <a:latin typeface="Times New Roman" panose="02020603050405020304" pitchFamily="18" charset="0"/>
              </a:rPr>
              <a:t>b</a:t>
            </a:r>
            <a:r>
              <a:rPr lang="en-US" altLang="zh-CN" baseline="-25000" dirty="0" err="1">
                <a:latin typeface="Times New Roman" panose="02020603050405020304" pitchFamily="18" charset="0"/>
              </a:rPr>
              <a:t>m</a:t>
            </a:r>
            <a:r>
              <a:rPr lang="en-US" altLang="zh-CN" dirty="0">
                <a:latin typeface="Times New Roman" panose="02020603050405020304" pitchFamily="18" charset="0"/>
              </a:rPr>
              <a:t>)</a:t>
            </a:r>
            <a:r>
              <a:rPr lang="en-US" altLang="zh-CN" baseline="30000" dirty="0">
                <a:latin typeface="Times New Roman" panose="02020603050405020304" pitchFamily="18" charset="0"/>
              </a:rPr>
              <a:t>T</a:t>
            </a:r>
          </a:p>
          <a:p>
            <a:pPr lvl="1" eaLnBrk="1" hangingPunct="1"/>
            <a:r>
              <a:rPr lang="zh-CN" altLang="en-US" dirty="0">
                <a:latin typeface="Times New Roman" panose="02020603050405020304" pitchFamily="18" charset="0"/>
              </a:rPr>
              <a:t>迭代后，基变量中不含非零的人工变量，表示问题有解；否则，无可行解</a:t>
            </a:r>
          </a:p>
        </p:txBody>
      </p:sp>
      <p:grpSp>
        <p:nvGrpSpPr>
          <p:cNvPr id="2" name="Group 7">
            <a:extLst>
              <a:ext uri="{FF2B5EF4-FFF2-40B4-BE49-F238E27FC236}">
                <a16:creationId xmlns:a16="http://schemas.microsoft.com/office/drawing/2014/main" id="{1097B03F-A9CA-4D74-A0BE-6F7F1E2A5875}"/>
              </a:ext>
            </a:extLst>
          </p:cNvPr>
          <p:cNvGrpSpPr>
            <a:grpSpLocks/>
          </p:cNvGrpSpPr>
          <p:nvPr/>
        </p:nvGrpSpPr>
        <p:grpSpPr bwMode="auto">
          <a:xfrm>
            <a:off x="1676400" y="3104606"/>
            <a:ext cx="6248400" cy="2171700"/>
            <a:chOff x="1056" y="1632"/>
            <a:chExt cx="3936" cy="1368"/>
          </a:xfrm>
        </p:grpSpPr>
        <p:graphicFrame>
          <p:nvGraphicFramePr>
            <p:cNvPr id="119813" name="Object 4">
              <a:extLst>
                <a:ext uri="{FF2B5EF4-FFF2-40B4-BE49-F238E27FC236}">
                  <a16:creationId xmlns:a16="http://schemas.microsoft.com/office/drawing/2014/main" id="{803DD1D9-88A0-4F90-921E-2433BD8ED727}"/>
                </a:ext>
              </a:extLst>
            </p:cNvPr>
            <p:cNvGraphicFramePr>
              <a:graphicFrameLocks noChangeAspect="1"/>
            </p:cNvGraphicFramePr>
            <p:nvPr/>
          </p:nvGraphicFramePr>
          <p:xfrm>
            <a:off x="1152" y="1632"/>
            <a:ext cx="3840" cy="1368"/>
          </p:xfrm>
          <a:graphic>
            <a:graphicData uri="http://schemas.openxmlformats.org/presentationml/2006/ole">
              <mc:AlternateContent xmlns:mc="http://schemas.openxmlformats.org/markup-compatibility/2006">
                <mc:Choice xmlns:v="urn:schemas-microsoft-com:vml" Requires="v">
                  <p:oleObj spid="_x0000_s2061" name="公式" r:id="rId3" imgW="3009900" imgH="1143000" progId="Equation.3">
                    <p:embed/>
                  </p:oleObj>
                </mc:Choice>
                <mc:Fallback>
                  <p:oleObj name="公式" r:id="rId3" imgW="3009900" imgH="1143000" progId="Equation.3">
                    <p:embed/>
                    <p:pic>
                      <p:nvPicPr>
                        <p:cNvPr id="119813" name="Object 4">
                          <a:extLst>
                            <a:ext uri="{FF2B5EF4-FFF2-40B4-BE49-F238E27FC236}">
                              <a16:creationId xmlns:a16="http://schemas.microsoft.com/office/drawing/2014/main" id="{803DD1D9-88A0-4F90-921E-2433BD8ED7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2" y="1632"/>
                          <a:ext cx="3840" cy="1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9814" name="AutoShape 6">
              <a:extLst>
                <a:ext uri="{FF2B5EF4-FFF2-40B4-BE49-F238E27FC236}">
                  <a16:creationId xmlns:a16="http://schemas.microsoft.com/office/drawing/2014/main" id="{93FDE2C1-3A91-410C-AE4F-CA1D52833596}"/>
                </a:ext>
              </a:extLst>
            </p:cNvPr>
            <p:cNvSpPr>
              <a:spLocks/>
            </p:cNvSpPr>
            <p:nvPr/>
          </p:nvSpPr>
          <p:spPr bwMode="auto">
            <a:xfrm>
              <a:off x="1056" y="1728"/>
              <a:ext cx="48" cy="1200"/>
            </a:xfrm>
            <a:prstGeom prst="leftBrace">
              <a:avLst>
                <a:gd name="adj1" fmla="val 208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animEffect transition="in" filter="blinds(horizontal)">
                                      <p:cBhvr>
                                        <p:cTn id="7" dur="500"/>
                                        <p:tgtEl>
                                          <p:spTgt spid="849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4995">
                                            <p:txEl>
                                              <p:pRg st="1" end="1"/>
                                            </p:txEl>
                                          </p:spTgt>
                                        </p:tgtEl>
                                        <p:attrNameLst>
                                          <p:attrName>style.visibility</p:attrName>
                                        </p:attrNameLst>
                                      </p:cBhvr>
                                      <p:to>
                                        <p:strVal val="visible"/>
                                      </p:to>
                                    </p:set>
                                    <p:animEffect transition="in" filter="blinds(horizontal)">
                                      <p:cBhvr>
                                        <p:cTn id="12" dur="500"/>
                                        <p:tgtEl>
                                          <p:spTgt spid="849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4995">
                                            <p:txEl>
                                              <p:pRg st="2" end="2"/>
                                            </p:txEl>
                                          </p:spTgt>
                                        </p:tgtEl>
                                        <p:attrNameLst>
                                          <p:attrName>style.visibility</p:attrName>
                                        </p:attrNameLst>
                                      </p:cBhvr>
                                      <p:to>
                                        <p:strVal val="visible"/>
                                      </p:to>
                                    </p:set>
                                    <p:animEffect transition="in" filter="blinds(horizontal)">
                                      <p:cBhvr>
                                        <p:cTn id="17" dur="500"/>
                                        <p:tgtEl>
                                          <p:spTgt spid="849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4995">
                                            <p:txEl>
                                              <p:pRg st="3" end="3"/>
                                            </p:txEl>
                                          </p:spTgt>
                                        </p:tgtEl>
                                        <p:attrNameLst>
                                          <p:attrName>style.visibility</p:attrName>
                                        </p:attrNameLst>
                                      </p:cBhvr>
                                      <p:to>
                                        <p:strVal val="visible"/>
                                      </p:to>
                                    </p:set>
                                    <p:animEffect transition="in" filter="blinds(horizontal)">
                                      <p:cBhvr>
                                        <p:cTn id="22" dur="500"/>
                                        <p:tgtEl>
                                          <p:spTgt spid="84995">
                                            <p:txEl>
                                              <p:pRg st="3" end="3"/>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blinds(horizontal)">
                                      <p:cBhvr>
                                        <p:cTn id="25" dur="500"/>
                                        <p:tgtEl>
                                          <p:spTgt spid="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84995">
                                            <p:txEl>
                                              <p:pRg st="9" end="9"/>
                                            </p:txEl>
                                          </p:spTgt>
                                        </p:tgtEl>
                                        <p:attrNameLst>
                                          <p:attrName>style.visibility</p:attrName>
                                        </p:attrNameLst>
                                      </p:cBhvr>
                                      <p:to>
                                        <p:strVal val="visible"/>
                                      </p:to>
                                    </p:set>
                                    <p:animEffect transition="in" filter="blinds(horizontal)">
                                      <p:cBhvr>
                                        <p:cTn id="30" dur="500"/>
                                        <p:tgtEl>
                                          <p:spTgt spid="84995">
                                            <p:txEl>
                                              <p:pRg st="9" end="9"/>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84995">
                                            <p:txEl>
                                              <p:pRg st="10" end="10"/>
                                            </p:txEl>
                                          </p:spTgt>
                                        </p:tgtEl>
                                        <p:attrNameLst>
                                          <p:attrName>style.visibility</p:attrName>
                                        </p:attrNameLst>
                                      </p:cBhvr>
                                      <p:to>
                                        <p:strVal val="visible"/>
                                      </p:to>
                                    </p:set>
                                    <p:animEffect transition="in" filter="blinds(horizontal)">
                                      <p:cBhvr>
                                        <p:cTn id="35" dur="500"/>
                                        <p:tgtEl>
                                          <p:spTgt spid="8499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uild="p" bldLvl="2"/>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1AB1A9F4-DACC-43F6-A3A8-596E98AEE559}"/>
              </a:ext>
            </a:extLst>
          </p:cNvPr>
          <p:cNvSpPr>
            <a:spLocks noGrp="1" noChangeArrowheads="1"/>
          </p:cNvSpPr>
          <p:nvPr>
            <p:ph type="title"/>
          </p:nvPr>
        </p:nvSpPr>
        <p:spPr/>
        <p:txBody>
          <a:bodyPr/>
          <a:lstStyle/>
          <a:p>
            <a:pPr eaLnBrk="1" hangingPunct="1"/>
            <a:r>
              <a:rPr lang="zh-CN" altLang="en-US"/>
              <a:t>单纯形法的进一步讨论</a:t>
            </a:r>
          </a:p>
        </p:txBody>
      </p:sp>
      <p:sp>
        <p:nvSpPr>
          <p:cNvPr id="120835" name="Rectangle 3">
            <a:extLst>
              <a:ext uri="{FF2B5EF4-FFF2-40B4-BE49-F238E27FC236}">
                <a16:creationId xmlns:a16="http://schemas.microsoft.com/office/drawing/2014/main" id="{B26C51D3-E937-4CEC-B8F3-821B109B8631}"/>
              </a:ext>
            </a:extLst>
          </p:cNvPr>
          <p:cNvSpPr>
            <a:spLocks noGrp="1" noChangeArrowheads="1"/>
          </p:cNvSpPr>
          <p:nvPr>
            <p:ph type="body" sz="half" idx="1"/>
          </p:nvPr>
        </p:nvSpPr>
        <p:spPr>
          <a:xfrm>
            <a:off x="457200" y="1295400"/>
            <a:ext cx="7772400" cy="5334000"/>
          </a:xfrm>
        </p:spPr>
        <p:txBody>
          <a:bodyPr/>
          <a:lstStyle/>
          <a:p>
            <a:pPr eaLnBrk="1" hangingPunct="1"/>
            <a:r>
              <a:rPr lang="zh-CN" altLang="en-US" dirty="0"/>
              <a:t>人工变量法</a:t>
            </a:r>
          </a:p>
          <a:p>
            <a:pPr lvl="1" eaLnBrk="1" hangingPunct="1"/>
            <a:endParaRPr lang="zh-CN" altLang="en-US" dirty="0"/>
          </a:p>
          <a:p>
            <a:pPr lvl="1" eaLnBrk="1" hangingPunct="1"/>
            <a:r>
              <a:rPr lang="zh-CN" altLang="en-US" dirty="0"/>
              <a:t>大</a:t>
            </a:r>
            <a:r>
              <a:rPr lang="en-US" altLang="zh-CN" dirty="0"/>
              <a:t>M</a:t>
            </a:r>
            <a:r>
              <a:rPr lang="zh-CN" altLang="en-US" dirty="0"/>
              <a:t>法</a:t>
            </a:r>
          </a:p>
          <a:p>
            <a:pPr lvl="1" eaLnBrk="1" hangingPunct="1"/>
            <a:endParaRPr lang="zh-CN" altLang="en-US" dirty="0"/>
          </a:p>
          <a:p>
            <a:pPr lvl="1" eaLnBrk="1" hangingPunct="1"/>
            <a:r>
              <a:rPr lang="zh-CN" altLang="en-US" dirty="0"/>
              <a:t>两阶段法</a:t>
            </a:r>
            <a:endParaRPr lang="zh-CN" altLang="en-US" dirty="0">
              <a:latin typeface="Times New Roman" panose="02020603050405020304" pitchFamily="18" charset="0"/>
            </a:endParaRPr>
          </a:p>
          <a:p>
            <a:pPr lvl="1" eaLnBrk="1" hangingPunct="1"/>
            <a:endParaRPr lang="zh-CN" altLang="en-US" dirty="0">
              <a:latin typeface="Times New Roman" panose="02020603050405020304" pitchFamily="18" charset="0"/>
            </a:endParaRPr>
          </a:p>
          <a:p>
            <a:pPr lvl="1" eaLnBrk="1" hangingPunct="1"/>
            <a:endParaRPr lang="en-US" altLang="zh-CN" dirty="0">
              <a:latin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D3AAA29C-A6B7-4485-BC91-2C5B96ECF7FB}"/>
              </a:ext>
            </a:extLst>
          </p:cNvPr>
          <p:cNvSpPr>
            <a:spLocks noGrp="1" noChangeArrowheads="1"/>
          </p:cNvSpPr>
          <p:nvPr>
            <p:ph type="title"/>
          </p:nvPr>
        </p:nvSpPr>
        <p:spPr/>
        <p:txBody>
          <a:bodyPr/>
          <a:lstStyle/>
          <a:p>
            <a:pPr eaLnBrk="1" hangingPunct="1"/>
            <a:r>
              <a:rPr lang="zh-CN" altLang="en-US" dirty="0"/>
              <a:t>大 </a:t>
            </a:r>
            <a:r>
              <a:rPr lang="en-US" altLang="zh-CN" dirty="0"/>
              <a:t>M </a:t>
            </a:r>
            <a:r>
              <a:rPr lang="zh-CN" altLang="en-US" dirty="0"/>
              <a:t>法</a:t>
            </a:r>
          </a:p>
        </p:txBody>
      </p:sp>
      <p:sp>
        <p:nvSpPr>
          <p:cNvPr id="88067" name="Rectangle 3">
            <a:extLst>
              <a:ext uri="{FF2B5EF4-FFF2-40B4-BE49-F238E27FC236}">
                <a16:creationId xmlns:a16="http://schemas.microsoft.com/office/drawing/2014/main" id="{13D83418-AC84-4533-948F-7B9D8493DB0C}"/>
              </a:ext>
            </a:extLst>
          </p:cNvPr>
          <p:cNvSpPr>
            <a:spLocks noGrp="1" noChangeArrowheads="1"/>
          </p:cNvSpPr>
          <p:nvPr>
            <p:ph type="body" idx="1"/>
          </p:nvPr>
        </p:nvSpPr>
        <p:spPr/>
        <p:txBody>
          <a:bodyPr/>
          <a:lstStyle/>
          <a:p>
            <a:pPr eaLnBrk="1" hangingPunct="1"/>
            <a:r>
              <a:rPr lang="zh-CN" altLang="en-US" dirty="0"/>
              <a:t>对于</a:t>
            </a:r>
            <a:r>
              <a:rPr lang="en-US" altLang="zh-CN" dirty="0"/>
              <a:t>max</a:t>
            </a:r>
            <a:r>
              <a:rPr lang="zh-CN" altLang="en-US" dirty="0"/>
              <a:t>问题，假定人工变量在目标函数中系数为（</a:t>
            </a:r>
            <a:r>
              <a:rPr lang="en-US" altLang="zh-CN" dirty="0"/>
              <a:t>-M</a:t>
            </a:r>
            <a:r>
              <a:rPr lang="zh-CN" altLang="en-US" dirty="0"/>
              <a:t>），</a:t>
            </a:r>
            <a:r>
              <a:rPr lang="en-US" altLang="zh-CN" dirty="0"/>
              <a:t>M</a:t>
            </a:r>
            <a:r>
              <a:rPr lang="zh-CN" altLang="en-US" dirty="0"/>
              <a:t>为足够大的正数</a:t>
            </a:r>
          </a:p>
          <a:p>
            <a:pPr lvl="1" eaLnBrk="1" hangingPunct="1"/>
            <a:r>
              <a:rPr lang="zh-CN" altLang="en-US" dirty="0"/>
              <a:t>确保必须将人工变量换出</a:t>
            </a:r>
          </a:p>
          <a:p>
            <a:pPr lvl="1" eaLnBrk="1" hangingPunct="1"/>
            <a:endParaRPr lang="zh-CN" altLang="en-US" dirty="0"/>
          </a:p>
          <a:p>
            <a:pPr eaLnBrk="1" hangingPunct="1"/>
            <a:r>
              <a:rPr lang="zh-CN" altLang="en-US" dirty="0"/>
              <a:t>在计算机编程中，</a:t>
            </a:r>
            <a:r>
              <a:rPr lang="en-US" altLang="zh-CN" dirty="0"/>
              <a:t>M</a:t>
            </a:r>
            <a:r>
              <a:rPr lang="zh-CN" altLang="en-US" dirty="0"/>
              <a:t>不易取定</a:t>
            </a:r>
          </a:p>
          <a:p>
            <a:pPr lvl="1" eaLnBrk="1" hangingPunct="1"/>
            <a:r>
              <a:rPr lang="zh-CN" altLang="en-US" dirty="0"/>
              <a:t>大多数商业化的线性规划程序都不采用大</a:t>
            </a:r>
            <a:r>
              <a:rPr lang="en-US" altLang="zh-CN" dirty="0"/>
              <a:t>M</a:t>
            </a:r>
            <a:r>
              <a:rPr lang="zh-CN" altLang="en-US" dirty="0"/>
              <a:t>法</a:t>
            </a:r>
          </a:p>
          <a:p>
            <a:pPr lvl="1" eaLnBrk="1" hangingPunct="1"/>
            <a:r>
              <a:rPr lang="zh-CN" altLang="en-US" dirty="0"/>
              <a:t>采用两阶段算法 </a:t>
            </a:r>
          </a:p>
          <a:p>
            <a:pPr lvl="1" eaLnBrk="1" hangingPunct="1"/>
            <a:endParaRPr lang="zh-CN" altLang="en-US" dirty="0"/>
          </a:p>
          <a:p>
            <a:pPr eaLnBrk="1" hangingPunct="1"/>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animEffect transition="in" filter="blinds(horizontal)">
                                      <p:cBhvr>
                                        <p:cTn id="7" dur="500"/>
                                        <p:tgtEl>
                                          <p:spTgt spid="8806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8067">
                                            <p:txEl>
                                              <p:pRg st="1" end="1"/>
                                            </p:txEl>
                                          </p:spTgt>
                                        </p:tgtEl>
                                        <p:attrNameLst>
                                          <p:attrName>style.visibility</p:attrName>
                                        </p:attrNameLst>
                                      </p:cBhvr>
                                      <p:to>
                                        <p:strVal val="visible"/>
                                      </p:to>
                                    </p:set>
                                    <p:animEffect transition="in" filter="blinds(horizontal)">
                                      <p:cBhvr>
                                        <p:cTn id="10" dur="500"/>
                                        <p:tgtEl>
                                          <p:spTgt spid="88067">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88067">
                                            <p:txEl>
                                              <p:pRg st="3" end="3"/>
                                            </p:txEl>
                                          </p:spTgt>
                                        </p:tgtEl>
                                        <p:attrNameLst>
                                          <p:attrName>style.visibility</p:attrName>
                                        </p:attrNameLst>
                                      </p:cBhvr>
                                      <p:to>
                                        <p:strVal val="visible"/>
                                      </p:to>
                                    </p:set>
                                    <p:animEffect transition="in" filter="blinds(horizontal)">
                                      <p:cBhvr>
                                        <p:cTn id="15" dur="500"/>
                                        <p:tgtEl>
                                          <p:spTgt spid="88067">
                                            <p:txEl>
                                              <p:pRg st="3" end="3"/>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8067">
                                            <p:txEl>
                                              <p:pRg st="4" end="4"/>
                                            </p:txEl>
                                          </p:spTgt>
                                        </p:tgtEl>
                                        <p:attrNameLst>
                                          <p:attrName>style.visibility</p:attrName>
                                        </p:attrNameLst>
                                      </p:cBhvr>
                                      <p:to>
                                        <p:strVal val="visible"/>
                                      </p:to>
                                    </p:set>
                                    <p:animEffect transition="in" filter="blinds(horizontal)">
                                      <p:cBhvr>
                                        <p:cTn id="18" dur="500"/>
                                        <p:tgtEl>
                                          <p:spTgt spid="88067">
                                            <p:txEl>
                                              <p:pRg st="4" end="4"/>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88067">
                                            <p:txEl>
                                              <p:pRg st="5" end="5"/>
                                            </p:txEl>
                                          </p:spTgt>
                                        </p:tgtEl>
                                        <p:attrNameLst>
                                          <p:attrName>style.visibility</p:attrName>
                                        </p:attrNameLst>
                                      </p:cBhvr>
                                      <p:to>
                                        <p:strVal val="visible"/>
                                      </p:to>
                                    </p:set>
                                    <p:animEffect transition="in" filter="blinds(horizontal)">
                                      <p:cBhvr>
                                        <p:cTn id="21" dur="500"/>
                                        <p:tgtEl>
                                          <p:spTgt spid="880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CCFBD6-3C95-4612-9455-93BF8B86BF4B}"/>
              </a:ext>
            </a:extLst>
          </p:cNvPr>
          <p:cNvSpPr>
            <a:spLocks noGrp="1"/>
          </p:cNvSpPr>
          <p:nvPr>
            <p:ph type="title"/>
          </p:nvPr>
        </p:nvSpPr>
        <p:spPr/>
        <p:txBody>
          <a:bodyPr/>
          <a:lstStyle/>
          <a:p>
            <a:r>
              <a:rPr lang="zh-CN" altLang="en-US" dirty="0"/>
              <a:t>例子：</a:t>
            </a:r>
          </a:p>
        </p:txBody>
      </p:sp>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BFDFA32B-8EE4-422C-8182-B0CA055EEAA5}"/>
                  </a:ext>
                </a:extLst>
              </p:cNvPr>
              <p:cNvSpPr txBox="1">
                <a:spLocks/>
              </p:cNvSpPr>
              <p:nvPr/>
            </p:nvSpPr>
            <p:spPr>
              <a:xfrm>
                <a:off x="595998" y="1239309"/>
                <a:ext cx="4637853" cy="146034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14:m>
                  <m:oMath xmlns:m="http://schemas.openxmlformats.org/officeDocument/2006/math">
                    <m:func>
                      <m:funcPr>
                        <m:ctrlPr>
                          <a:rPr lang="en-US" altLang="zh-CN" sz="2000" i="1" smtClean="0">
                            <a:latin typeface="Cambria Math" panose="02040503050406030204" pitchFamily="18" charset="0"/>
                          </a:rPr>
                        </m:ctrlPr>
                      </m:funcPr>
                      <m:fName>
                        <m:r>
                          <m:rPr>
                            <m:sty m:val="p"/>
                          </m:rPr>
                          <a:rPr lang="en-US" altLang="zh-CN" sz="2000" i="1">
                            <a:latin typeface="Cambria Math" panose="02040503050406030204" pitchFamily="18" charset="0"/>
                          </a:rPr>
                          <m:t>min</m:t>
                        </m:r>
                      </m:fName>
                      <m:e>
                        <m:r>
                          <a:rPr lang="en-US" altLang="zh-CN" sz="2000" i="1">
                            <a:latin typeface="Cambria Math" panose="02040503050406030204" pitchFamily="18" charset="0"/>
                          </a:rPr>
                          <m:t>𝑧</m:t>
                        </m:r>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2</m:t>
                            </m:r>
                          </m:sub>
                        </m:sSub>
                      </m:e>
                    </m:func>
                    <m:r>
                      <a:rPr lang="en-US" altLang="zh-CN" sz="2000" b="0" i="1" smtClean="0">
                        <a:latin typeface="Cambria Math" panose="02040503050406030204" pitchFamily="18" charset="0"/>
                      </a:rPr>
                      <m:t>⇔</m:t>
                    </m:r>
                    <m:func>
                      <m:funcPr>
                        <m:ctrlPr>
                          <a:rPr lang="en-US" altLang="zh-CN" sz="2000" b="0" i="1" smtClean="0">
                            <a:latin typeface="Cambria Math" panose="02040503050406030204" pitchFamily="18" charset="0"/>
                          </a:rPr>
                        </m:ctrlPr>
                      </m:funcPr>
                      <m:fName>
                        <m:r>
                          <m:rPr>
                            <m:sty m:val="p"/>
                          </m:rPr>
                          <a:rPr lang="en-US" altLang="zh-CN" sz="2000" b="0" i="0" smtClean="0">
                            <a:latin typeface="Cambria Math" panose="02040503050406030204" pitchFamily="18" charset="0"/>
                          </a:rPr>
                          <m:t>max</m:t>
                        </m:r>
                      </m:fName>
                      <m:e>
                        <m:r>
                          <a:rPr lang="en-US" altLang="zh-CN" sz="2000" b="0" i="1" smtClean="0">
                            <a:latin typeface="Cambria Math" panose="02040503050406030204" pitchFamily="18" charset="0"/>
                          </a:rPr>
                          <m:t>𝑧</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2</m:t>
                            </m:r>
                          </m:sub>
                        </m:sSub>
                      </m:e>
                    </m:func>
                  </m:oMath>
                </a14:m>
                <a:endParaRPr lang="en-US" altLang="zh-CN" sz="2000" dirty="0"/>
              </a:p>
              <a:p>
                <a14:m>
                  <m:oMath xmlns:m="http://schemas.openxmlformats.org/officeDocument/2006/math">
                    <m:r>
                      <a:rPr lang="en-US" altLang="zh-CN" sz="2000" i="1">
                        <a:latin typeface="Cambria Math" panose="02040503050406030204" pitchFamily="18" charset="0"/>
                      </a:rPr>
                      <m:t>𝑠</m:t>
                    </m:r>
                    <m:r>
                      <a:rPr lang="en-US" altLang="zh-CN" sz="2000" i="1">
                        <a:latin typeface="Cambria Math" panose="02040503050406030204" pitchFamily="18" charset="0"/>
                      </a:rPr>
                      <m:t>.</m:t>
                    </m:r>
                    <m:r>
                      <a:rPr lang="en-US" altLang="zh-CN" sz="2000" i="1">
                        <a:latin typeface="Cambria Math" panose="02040503050406030204" pitchFamily="18" charset="0"/>
                      </a:rPr>
                      <m:t>𝑡</m:t>
                    </m:r>
                    <m:r>
                      <a:rPr lang="en-US" altLang="zh-CN" sz="2000" i="1">
                        <a:latin typeface="Cambria Math" panose="02040503050406030204" pitchFamily="18" charset="0"/>
                      </a:rPr>
                      <m:t>. </m:t>
                    </m:r>
                    <m:d>
                      <m:dPr>
                        <m:begChr m:val="{"/>
                        <m:endChr m:val=""/>
                        <m:ctrlPr>
                          <a:rPr lang="en-US" altLang="zh-CN" sz="2000" i="1">
                            <a:latin typeface="Cambria Math" panose="02040503050406030204" pitchFamily="18" charset="0"/>
                          </a:rPr>
                        </m:ctrlPr>
                      </m:dPr>
                      <m:e>
                        <m:m>
                          <m:mPr>
                            <m:mcs>
                              <m:mc>
                                <m:mcPr>
                                  <m:count m:val="1"/>
                                  <m:mcJc m:val="center"/>
                                </m:mcPr>
                              </m:mc>
                            </m:mcs>
                            <m:ctrlPr>
                              <a:rPr lang="en-US" altLang="zh-CN" sz="2000" i="1">
                                <a:latin typeface="Cambria Math" panose="02040503050406030204" pitchFamily="18" charset="0"/>
                              </a:rPr>
                            </m:ctrlPr>
                          </m:mPr>
                          <m:m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2</m:t>
                                  </m:r>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1</m:t>
                                  </m:r>
                                </m:sub>
                              </m:sSub>
                              <m:r>
                                <m:rPr>
                                  <m:brk m:alnAt="7"/>
                                </m:rP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3</m:t>
                                  </m:r>
                                </m:sub>
                              </m:sSub>
                              <m:r>
                                <a:rPr lang="en-US" altLang="zh-CN" sz="2000" i="1">
                                  <a:latin typeface="Cambria Math" panose="02040503050406030204" pitchFamily="18" charset="0"/>
                                </a:rPr>
                                <m:t>=12</m:t>
                              </m:r>
                            </m:e>
                          </m:mr>
                          <m:mr>
                            <m:e>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1</m:t>
                                  </m:r>
                                </m:sub>
                              </m:sSub>
                              <m:r>
                                <m:rPr>
                                  <m:brk m:alnAt="7"/>
                                </m:rPr>
                                <a:rPr lang="en-US" altLang="zh-CN" sz="2000" i="1">
                                  <a:latin typeface="Cambria Math" panose="02040503050406030204" pitchFamily="18" charset="0"/>
                                </a:rPr>
                                <m:t>+</m:t>
                              </m:r>
                              <m:r>
                                <a:rPr lang="en-US" altLang="zh-CN" sz="2000" i="1">
                                  <a:latin typeface="Cambria Math" panose="02040503050406030204" pitchFamily="18" charset="0"/>
                                </a:rPr>
                                <m:t>2</m:t>
                              </m:r>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4</m:t>
                                  </m:r>
                                </m:sub>
                              </m:sSub>
                              <m:r>
                                <a:rPr lang="en-US" altLang="zh-CN" sz="2000" i="1">
                                  <a:latin typeface="Cambria Math" panose="02040503050406030204" pitchFamily="18" charset="0"/>
                                </a:rPr>
                                <m:t>=9</m:t>
                              </m:r>
                            </m:e>
                          </m:mr>
                          <m:m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3</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4</m:t>
                                  </m:r>
                                </m:sub>
                              </m:sSub>
                              <m:r>
                                <a:rPr lang="en-US" altLang="zh-CN" sz="2000" i="1">
                                  <a:latin typeface="Cambria Math" panose="02040503050406030204" pitchFamily="18" charset="0"/>
                                </a:rPr>
                                <m:t>≥0</m:t>
                              </m:r>
                            </m:e>
                          </m:mr>
                        </m:m>
                      </m:e>
                    </m:d>
                  </m:oMath>
                </a14:m>
                <a:endParaRPr lang="zh-CN" altLang="en-US" sz="2000" dirty="0"/>
              </a:p>
            </p:txBody>
          </p:sp>
        </mc:Choice>
        <mc:Fallback xmlns="">
          <p:sp>
            <p:nvSpPr>
              <p:cNvPr id="4" name="内容占位符 2">
                <a:extLst>
                  <a:ext uri="{FF2B5EF4-FFF2-40B4-BE49-F238E27FC236}">
                    <a16:creationId xmlns:a16="http://schemas.microsoft.com/office/drawing/2014/main" id="{BFDFA32B-8EE4-422C-8182-B0CA055EEAA5}"/>
                  </a:ext>
                </a:extLst>
              </p:cNvPr>
              <p:cNvSpPr txBox="1">
                <a:spLocks noRot="1" noChangeAspect="1" noMove="1" noResize="1" noEditPoints="1" noAdjustHandles="1" noChangeArrowheads="1" noChangeShapeType="1" noTextEdit="1"/>
              </p:cNvSpPr>
              <p:nvPr/>
            </p:nvSpPr>
            <p:spPr>
              <a:xfrm>
                <a:off x="595998" y="1239309"/>
                <a:ext cx="4637853" cy="1460348"/>
              </a:xfrm>
              <a:prstGeom prst="rect">
                <a:avLst/>
              </a:prstGeom>
              <a:blipFill>
                <a:blip r:embed="rId2"/>
                <a:stretch>
                  <a:fillRect l="-1183" t="-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4FE49B80-973E-44EF-92B4-884E6C654813}"/>
                  </a:ext>
                </a:extLst>
              </p:cNvPr>
              <p:cNvSpPr txBox="1">
                <a:spLocks/>
              </p:cNvSpPr>
              <p:nvPr/>
            </p:nvSpPr>
            <p:spPr>
              <a:xfrm>
                <a:off x="595998" y="2623972"/>
                <a:ext cx="4637853" cy="146034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14:m>
                  <m:oMath xmlns:m="http://schemas.openxmlformats.org/officeDocument/2006/math">
                    <m:func>
                      <m:funcPr>
                        <m:ctrlPr>
                          <a:rPr lang="en-US" altLang="zh-CN" sz="2000" b="0" i="1" smtClean="0">
                            <a:latin typeface="Cambria Math" panose="02040503050406030204" pitchFamily="18" charset="0"/>
                          </a:rPr>
                        </m:ctrlPr>
                      </m:funcPr>
                      <m:fName>
                        <m:r>
                          <m:rPr>
                            <m:sty m:val="p"/>
                          </m:rPr>
                          <a:rPr lang="en-US" altLang="zh-CN" sz="2000" b="0" i="0" smtClean="0">
                            <a:latin typeface="Cambria Math" panose="02040503050406030204" pitchFamily="18" charset="0"/>
                          </a:rPr>
                          <m:t>max</m:t>
                        </m:r>
                      </m:fName>
                      <m:e>
                        <m:r>
                          <a:rPr lang="en-US" altLang="zh-CN" sz="2000" b="0" i="1" smtClean="0">
                            <a:latin typeface="Cambria Math" panose="02040503050406030204" pitchFamily="18" charset="0"/>
                          </a:rPr>
                          <m:t>𝑧</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2</m:t>
                            </m:r>
                          </m:sub>
                        </m:sSub>
                      </m:e>
                    </m:func>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𝑀</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5</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𝑀</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6</m:t>
                        </m:r>
                      </m:sub>
                    </m:sSub>
                  </m:oMath>
                </a14:m>
                <a:endParaRPr lang="en-US" altLang="zh-CN" sz="2000" dirty="0"/>
              </a:p>
              <a:p>
                <a14:m>
                  <m:oMath xmlns:m="http://schemas.openxmlformats.org/officeDocument/2006/math">
                    <m:r>
                      <a:rPr lang="en-US" altLang="zh-CN" sz="2000" i="1">
                        <a:latin typeface="Cambria Math" panose="02040503050406030204" pitchFamily="18" charset="0"/>
                      </a:rPr>
                      <m:t>𝑠</m:t>
                    </m:r>
                    <m:r>
                      <a:rPr lang="en-US" altLang="zh-CN" sz="2000" i="1">
                        <a:latin typeface="Cambria Math" panose="02040503050406030204" pitchFamily="18" charset="0"/>
                      </a:rPr>
                      <m:t>.</m:t>
                    </m:r>
                    <m:r>
                      <a:rPr lang="en-US" altLang="zh-CN" sz="2000" i="1">
                        <a:latin typeface="Cambria Math" panose="02040503050406030204" pitchFamily="18" charset="0"/>
                      </a:rPr>
                      <m:t>𝑡</m:t>
                    </m:r>
                    <m:r>
                      <a:rPr lang="en-US" altLang="zh-CN" sz="2000" i="1">
                        <a:latin typeface="Cambria Math" panose="02040503050406030204" pitchFamily="18" charset="0"/>
                      </a:rPr>
                      <m:t>. </m:t>
                    </m:r>
                    <m:d>
                      <m:dPr>
                        <m:begChr m:val="{"/>
                        <m:endChr m:val=""/>
                        <m:ctrlPr>
                          <a:rPr lang="en-US" altLang="zh-CN" sz="2000" i="1">
                            <a:latin typeface="Cambria Math" panose="02040503050406030204" pitchFamily="18" charset="0"/>
                          </a:rPr>
                        </m:ctrlPr>
                      </m:dPr>
                      <m:e>
                        <m:m>
                          <m:mPr>
                            <m:mcs>
                              <m:mc>
                                <m:mcPr>
                                  <m:count m:val="1"/>
                                  <m:mcJc m:val="center"/>
                                </m:mcPr>
                              </m:mc>
                            </m:mcs>
                            <m:ctrlPr>
                              <a:rPr lang="en-US" altLang="zh-CN" sz="2000" i="1">
                                <a:latin typeface="Cambria Math" panose="02040503050406030204" pitchFamily="18" charset="0"/>
                              </a:rPr>
                            </m:ctrlPr>
                          </m:mPr>
                          <m:m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2</m:t>
                                  </m:r>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1</m:t>
                                  </m:r>
                                </m:sub>
                              </m:sSub>
                              <m:r>
                                <m:rPr>
                                  <m:brk m:alnAt="7"/>
                                </m:rP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3</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5</m:t>
                                  </m:r>
                                </m:sub>
                              </m:sSub>
                              <m:r>
                                <a:rPr lang="en-US" altLang="zh-CN" sz="2000" i="1">
                                  <a:latin typeface="Cambria Math" panose="02040503050406030204" pitchFamily="18" charset="0"/>
                                </a:rPr>
                                <m:t>=12</m:t>
                              </m:r>
                            </m:e>
                          </m:mr>
                          <m:mr>
                            <m:e>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1</m:t>
                                  </m:r>
                                </m:sub>
                              </m:sSub>
                              <m:r>
                                <m:rPr>
                                  <m:brk m:alnAt="7"/>
                                </m:rPr>
                                <a:rPr lang="en-US" altLang="zh-CN" sz="2000" i="1">
                                  <a:latin typeface="Cambria Math" panose="02040503050406030204" pitchFamily="18" charset="0"/>
                                </a:rPr>
                                <m:t>+</m:t>
                              </m:r>
                              <m:r>
                                <a:rPr lang="en-US" altLang="zh-CN" sz="2000" i="1">
                                  <a:latin typeface="Cambria Math" panose="02040503050406030204" pitchFamily="18" charset="0"/>
                                </a:rPr>
                                <m:t>2</m:t>
                              </m:r>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4</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6</m:t>
                                  </m:r>
                                </m:sub>
                              </m:sSub>
                              <m:r>
                                <a:rPr lang="en-US" altLang="zh-CN" sz="2000" i="1">
                                  <a:latin typeface="Cambria Math" panose="02040503050406030204" pitchFamily="18" charset="0"/>
                                </a:rPr>
                                <m:t>=9</m:t>
                              </m:r>
                            </m:e>
                          </m:mr>
                          <m:m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3</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4</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5</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6</m:t>
                                  </m:r>
                                </m:sub>
                              </m:sSub>
                              <m:r>
                                <a:rPr lang="en-US" altLang="zh-CN" sz="2000" i="1">
                                  <a:latin typeface="Cambria Math" panose="02040503050406030204" pitchFamily="18" charset="0"/>
                                </a:rPr>
                                <m:t>≥0</m:t>
                              </m:r>
                            </m:e>
                          </m:mr>
                        </m:m>
                      </m:e>
                    </m:d>
                  </m:oMath>
                </a14:m>
                <a:endParaRPr lang="zh-CN" altLang="en-US" sz="2000" dirty="0"/>
              </a:p>
            </p:txBody>
          </p:sp>
        </mc:Choice>
        <mc:Fallback xmlns="">
          <p:sp>
            <p:nvSpPr>
              <p:cNvPr id="5" name="内容占位符 2">
                <a:extLst>
                  <a:ext uri="{FF2B5EF4-FFF2-40B4-BE49-F238E27FC236}">
                    <a16:creationId xmlns:a16="http://schemas.microsoft.com/office/drawing/2014/main" id="{4FE49B80-973E-44EF-92B4-884E6C654813}"/>
                  </a:ext>
                </a:extLst>
              </p:cNvPr>
              <p:cNvSpPr txBox="1">
                <a:spLocks noRot="1" noChangeAspect="1" noMove="1" noResize="1" noEditPoints="1" noAdjustHandles="1" noChangeArrowheads="1" noChangeShapeType="1" noTextEdit="1"/>
              </p:cNvSpPr>
              <p:nvPr/>
            </p:nvSpPr>
            <p:spPr>
              <a:xfrm>
                <a:off x="595998" y="2623972"/>
                <a:ext cx="4637853" cy="1460348"/>
              </a:xfrm>
              <a:prstGeom prst="rect">
                <a:avLst/>
              </a:prstGeom>
              <a:blipFill>
                <a:blip r:embed="rId3"/>
                <a:stretch>
                  <a:fillRect l="-1183" t="-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BDCA0BE1-BB99-4039-B974-D7B5E7736531}"/>
                  </a:ext>
                </a:extLst>
              </p:cNvPr>
              <p:cNvGraphicFramePr>
                <a:graphicFrameLocks noGrp="1"/>
              </p:cNvGraphicFramePr>
              <p:nvPr>
                <p:extLst>
                  <p:ext uri="{D42A27DB-BD31-4B8C-83A1-F6EECF244321}">
                    <p14:modId xmlns:p14="http://schemas.microsoft.com/office/powerpoint/2010/main" val="778509123"/>
                  </p:ext>
                </p:extLst>
              </p:nvPr>
            </p:nvGraphicFramePr>
            <p:xfrm>
              <a:off x="595998" y="4005381"/>
              <a:ext cx="6096000" cy="2301748"/>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3775034011"/>
                        </a:ext>
                      </a:extLst>
                    </a:gridCol>
                    <a:gridCol w="609600">
                      <a:extLst>
                        <a:ext uri="{9D8B030D-6E8A-4147-A177-3AD203B41FA5}">
                          <a16:colId xmlns:a16="http://schemas.microsoft.com/office/drawing/2014/main" val="1586977620"/>
                        </a:ext>
                      </a:extLst>
                    </a:gridCol>
                    <a:gridCol w="609600">
                      <a:extLst>
                        <a:ext uri="{9D8B030D-6E8A-4147-A177-3AD203B41FA5}">
                          <a16:colId xmlns:a16="http://schemas.microsoft.com/office/drawing/2014/main" val="2459346512"/>
                        </a:ext>
                      </a:extLst>
                    </a:gridCol>
                    <a:gridCol w="609600">
                      <a:extLst>
                        <a:ext uri="{9D8B030D-6E8A-4147-A177-3AD203B41FA5}">
                          <a16:colId xmlns:a16="http://schemas.microsoft.com/office/drawing/2014/main" val="1426368105"/>
                        </a:ext>
                      </a:extLst>
                    </a:gridCol>
                    <a:gridCol w="609600">
                      <a:extLst>
                        <a:ext uri="{9D8B030D-6E8A-4147-A177-3AD203B41FA5}">
                          <a16:colId xmlns:a16="http://schemas.microsoft.com/office/drawing/2014/main" val="1783729747"/>
                        </a:ext>
                      </a:extLst>
                    </a:gridCol>
                    <a:gridCol w="609600">
                      <a:extLst>
                        <a:ext uri="{9D8B030D-6E8A-4147-A177-3AD203B41FA5}">
                          <a16:colId xmlns:a16="http://schemas.microsoft.com/office/drawing/2014/main" val="3541072806"/>
                        </a:ext>
                      </a:extLst>
                    </a:gridCol>
                    <a:gridCol w="609600">
                      <a:extLst>
                        <a:ext uri="{9D8B030D-6E8A-4147-A177-3AD203B41FA5}">
                          <a16:colId xmlns:a16="http://schemas.microsoft.com/office/drawing/2014/main" val="1037422741"/>
                        </a:ext>
                      </a:extLst>
                    </a:gridCol>
                    <a:gridCol w="609600">
                      <a:extLst>
                        <a:ext uri="{9D8B030D-6E8A-4147-A177-3AD203B41FA5}">
                          <a16:colId xmlns:a16="http://schemas.microsoft.com/office/drawing/2014/main" val="691002581"/>
                        </a:ext>
                      </a:extLst>
                    </a:gridCol>
                    <a:gridCol w="609600">
                      <a:extLst>
                        <a:ext uri="{9D8B030D-6E8A-4147-A177-3AD203B41FA5}">
                          <a16:colId xmlns:a16="http://schemas.microsoft.com/office/drawing/2014/main" val="2707926419"/>
                        </a:ext>
                      </a:extLst>
                    </a:gridCol>
                    <a:gridCol w="609600">
                      <a:extLst>
                        <a:ext uri="{9D8B030D-6E8A-4147-A177-3AD203B41FA5}">
                          <a16:colId xmlns:a16="http://schemas.microsoft.com/office/drawing/2014/main" val="3359340276"/>
                        </a:ext>
                      </a:extLst>
                    </a:gridCol>
                  </a:tblGrid>
                  <a:tr h="313958">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6">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b="1" i="1" smtClean="0">
                                        <a:solidFill>
                                          <a:schemeClr val="bg1"/>
                                        </a:solidFill>
                                        <a:latin typeface="Cambria Math" panose="02040503050406030204" pitchFamily="18" charset="0"/>
                                      </a:rPr>
                                    </m:ctrlPr>
                                  </m:sSupPr>
                                  <m:e>
                                    <m:acc>
                                      <m:accPr>
                                        <m:chr m:val="⃗"/>
                                        <m:ctrlPr>
                                          <a:rPr lang="en-US" altLang="zh-CN" sz="2000" b="1" i="1" smtClean="0">
                                            <a:solidFill>
                                              <a:schemeClr val="bg1"/>
                                            </a:solidFill>
                                            <a:latin typeface="Cambria Math" panose="02040503050406030204" pitchFamily="18" charset="0"/>
                                          </a:rPr>
                                        </m:ctrlPr>
                                      </m:accPr>
                                      <m:e>
                                        <m:r>
                                          <a:rPr lang="en-US" altLang="zh-CN" sz="2000" b="1" i="1" smtClean="0">
                                            <a:solidFill>
                                              <a:schemeClr val="bg1"/>
                                            </a:solidFill>
                                            <a:latin typeface="Cambria Math" panose="02040503050406030204" pitchFamily="18" charset="0"/>
                                          </a:rPr>
                                          <m:t>𝒄</m:t>
                                        </m:r>
                                      </m:e>
                                    </m:acc>
                                  </m:e>
                                  <m:sup>
                                    <m:r>
                                      <a:rPr lang="en-US" altLang="zh-CN" sz="2000" b="1" i="1" smtClean="0">
                                        <a:solidFill>
                                          <a:schemeClr val="bg1"/>
                                        </a:solidFill>
                                        <a:latin typeface="Cambria Math" panose="02040503050406030204" pitchFamily="18" charset="0"/>
                                      </a:rPr>
                                      <m:t>𝑻</m:t>
                                    </m:r>
                                  </m:sup>
                                </m:sSup>
                              </m:oMath>
                            </m:oMathPara>
                          </a14:m>
                          <a:endParaRPr lang="zh-CN" altLang="en-US" sz="2000" b="1" dirty="0"/>
                        </a:p>
                      </a:txBody>
                      <a:tcPr anchor="ct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𝒙</m:t>
                                        </m:r>
                                      </m:e>
                                    </m:acc>
                                  </m:e>
                                  <m:sub>
                                    <m:r>
                                      <a:rPr lang="en-US" altLang="zh-CN" sz="2000" b="1" i="1" smtClean="0">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solidFill>
                                          <a:schemeClr val="tx1"/>
                                        </a:solidFill>
                                        <a:latin typeface="Cambria Math" panose="02040503050406030204" pitchFamily="18" charset="0"/>
                                      </a:rPr>
                                    </m:ctrlPr>
                                  </m:sSubPr>
                                  <m:e>
                                    <m:acc>
                                      <m:accPr>
                                        <m:chr m:val="⃗"/>
                                        <m:ctrlPr>
                                          <a:rPr lang="en-US" altLang="zh-CN" sz="2000" b="1" i="1" smtClean="0">
                                            <a:solidFill>
                                              <a:schemeClr val="tx1"/>
                                            </a:solidFill>
                                            <a:latin typeface="Cambria Math" panose="02040503050406030204" pitchFamily="18" charset="0"/>
                                          </a:rPr>
                                        </m:ctrlPr>
                                      </m:accPr>
                                      <m:e>
                                        <m:r>
                                          <a:rPr lang="en-US" altLang="zh-CN" sz="2000" b="1" i="1" smtClean="0">
                                            <a:solidFill>
                                              <a:schemeClr val="tx1"/>
                                            </a:solidFill>
                                            <a:latin typeface="Cambria Math" panose="02040503050406030204" pitchFamily="18" charset="0"/>
                                          </a:rPr>
                                          <m:t>𝒄</m:t>
                                        </m:r>
                                      </m:e>
                                    </m:acc>
                                  </m:e>
                                  <m:sub>
                                    <m:r>
                                      <a:rPr lang="en-US" altLang="zh-CN" sz="2000" b="1" i="1" smtClean="0">
                                        <a:solidFill>
                                          <a:schemeClr val="tx1"/>
                                        </a:solidFill>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CN" sz="1800" b="1" i="1" smtClean="0">
                                        <a:solidFill>
                                          <a:sysClr val="windowText" lastClr="000000"/>
                                        </a:solidFill>
                                        <a:latin typeface="Cambria Math" panose="02040503050406030204" pitchFamily="18" charset="0"/>
                                      </a:rPr>
                                    </m:ctrlPr>
                                  </m:sSupPr>
                                  <m:e>
                                    <m:r>
                                      <a:rPr lang="en-US" altLang="zh-CN" sz="1800" b="1" i="1" smtClean="0">
                                        <a:solidFill>
                                          <a:sysClr val="windowText" lastClr="000000"/>
                                        </a:solidFill>
                                        <a:latin typeface="Cambria Math" panose="02040503050406030204" pitchFamily="18" charset="0"/>
                                      </a:rPr>
                                      <m:t>𝑩</m:t>
                                    </m:r>
                                  </m:e>
                                  <m:sup>
                                    <m:r>
                                      <a:rPr lang="en-US" altLang="zh-CN" sz="1800" b="1" i="1" smtClean="0">
                                        <a:solidFill>
                                          <a:sysClr val="windowText" lastClr="000000"/>
                                        </a:solidFill>
                                        <a:latin typeface="Cambria Math" panose="02040503050406030204" pitchFamily="18" charset="0"/>
                                      </a:rPr>
                                      <m:t>−</m:t>
                                    </m:r>
                                    <m:r>
                                      <a:rPr lang="en-US" altLang="zh-CN" sz="1800" b="1" i="1" smtClean="0">
                                        <a:solidFill>
                                          <a:sysClr val="windowText" lastClr="000000"/>
                                        </a:solidFill>
                                        <a:latin typeface="Cambria Math" panose="02040503050406030204" pitchFamily="18" charset="0"/>
                                      </a:rPr>
                                      <m:t>𝟏</m:t>
                                    </m:r>
                                  </m:sup>
                                </m:sSup>
                                <m:acc>
                                  <m:accPr>
                                    <m:chr m:val="⃗"/>
                                    <m:ctrlPr>
                                      <a:rPr lang="en-US" altLang="zh-CN" sz="1800" b="1" i="1">
                                        <a:solidFill>
                                          <a:sysClr val="windowText" lastClr="000000"/>
                                        </a:solidFill>
                                        <a:latin typeface="Cambria Math" panose="02040503050406030204" pitchFamily="18" charset="0"/>
                                      </a:rPr>
                                    </m:ctrlPr>
                                  </m:accPr>
                                  <m:e>
                                    <m:r>
                                      <a:rPr lang="en-US" altLang="zh-CN" sz="1800" b="1" i="1" smtClean="0">
                                        <a:solidFill>
                                          <a:sysClr val="windowText" lastClr="000000"/>
                                        </a:solidFill>
                                        <a:latin typeface="Cambria Math" panose="02040503050406030204" pitchFamily="18" charset="0"/>
                                      </a:rPr>
                                      <m:t>𝒃</m:t>
                                    </m:r>
                                  </m:e>
                                </m:acc>
                              </m:oMath>
                            </m:oMathPara>
                          </a14:m>
                          <a:endParaRPr lang="zh-CN" altLang="en-US" sz="1600" b="1" dirty="0"/>
                        </a:p>
                      </a:txBody>
                      <a:tcPr anchor="ct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-M</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-M</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000" b="0" i="1" smtClean="0">
                                    <a:solidFill>
                                      <a:sysClr val="windowText" lastClr="000000"/>
                                    </a:solidFill>
                                    <a:latin typeface="Cambria Math" panose="02040503050406030204" pitchFamily="18" charset="0"/>
                                  </a:rPr>
                                  <m:t>𝜃</m:t>
                                </m:r>
                              </m:oMath>
                            </m:oMathPara>
                          </a14:m>
                          <a:endParaRPr lang="zh-CN" altLang="en-US" sz="2000" dirty="0">
                            <a:solidFill>
                              <a:sysClr val="windowText" lastClr="000000"/>
                            </a:solidFill>
                          </a:endParaRPr>
                        </a:p>
                      </a:txBody>
                      <a:tcPr anchor="ctr"/>
                    </a:tc>
                    <a:extLst>
                      <a:ext uri="{0D108BD9-81ED-4DB2-BD59-A6C34878D82A}">
                        <a16:rowId xmlns:a16="http://schemas.microsoft.com/office/drawing/2014/main" val="2237396716"/>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𝟓</m:t>
                                    </m:r>
                                  </m:sub>
                                </m:sSub>
                              </m:oMath>
                            </m:oMathPara>
                          </a14:m>
                          <a:endParaRPr lang="zh-CN" altLang="en-US" sz="2000" b="1" dirty="0"/>
                        </a:p>
                      </a:txBody>
                      <a:tcPr anchor="ctr"/>
                    </a:tc>
                    <a:tc>
                      <a:txBody>
                        <a:bodyPr/>
                        <a:lstStyle/>
                        <a:p>
                          <a:pPr algn="ctr"/>
                          <a:r>
                            <a:rPr lang="en-US" altLang="zh-CN" sz="2000" b="1" dirty="0"/>
                            <a:t>-M</a:t>
                          </a:r>
                          <a:endParaRPr lang="zh-CN" altLang="en-US" sz="2000" b="1" dirty="0"/>
                        </a:p>
                      </a:txBody>
                      <a:tcPr anchor="ctr"/>
                    </a:tc>
                    <a:tc>
                      <a:txBody>
                        <a:bodyPr/>
                        <a:lstStyle/>
                        <a:p>
                          <a:pPr algn="ctr"/>
                          <a:r>
                            <a:rPr lang="en-US" altLang="zh-CN" sz="2000" b="1" dirty="0"/>
                            <a:t>12</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2</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highlight>
                                <a:srgbClr val="FFFF00"/>
                              </a:highlight>
                            </a:rPr>
                            <a:t>6</a:t>
                          </a:r>
                          <a:endParaRPr lang="zh-CN" altLang="en-US" sz="2000" b="1" dirty="0">
                            <a:highlight>
                              <a:srgbClr val="FFFF00"/>
                            </a:highlight>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𝟔</m:t>
                                    </m:r>
                                  </m:sub>
                                </m:sSub>
                              </m:oMath>
                            </m:oMathPara>
                          </a14:m>
                          <a:endParaRPr lang="zh-CN" altLang="en-US" sz="2000" b="1" dirty="0"/>
                        </a:p>
                      </a:txBody>
                      <a:tcPr anchor="ctr"/>
                    </a:tc>
                    <a:tc>
                      <a:txBody>
                        <a:bodyPr/>
                        <a:lstStyle/>
                        <a:p>
                          <a:pPr algn="ctr"/>
                          <a:r>
                            <a:rPr lang="en-US" altLang="zh-CN" sz="2000" b="1" dirty="0"/>
                            <a:t>-M</a:t>
                          </a:r>
                          <a:endParaRPr lang="zh-CN" altLang="en-US" sz="2000" b="1" dirty="0"/>
                        </a:p>
                      </a:txBody>
                      <a:tcPr anchor="ctr"/>
                    </a:tc>
                    <a:tc>
                      <a:txBody>
                        <a:bodyPr/>
                        <a:lstStyle/>
                        <a:p>
                          <a:pPr algn="ctr"/>
                          <a:r>
                            <a:rPr lang="en-US" altLang="zh-CN" sz="2000" b="1" dirty="0"/>
                            <a:t>9</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2</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9</a:t>
                          </a: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2709">
                    <a:tc gridSpan="3">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i="1" smtClean="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𝜎</m:t>
                                        </m:r>
                                      </m:e>
                                    </m:acc>
                                  </m:e>
                                  <m:sup>
                                    <m:r>
                                      <a:rPr lang="en-US" altLang="zh-CN" sz="2000" i="1">
                                        <a:latin typeface="Cambria Math" panose="02040503050406030204" pitchFamily="18" charset="0"/>
                                      </a:rPr>
                                      <m:t>𝑇</m:t>
                                    </m:r>
                                  </m:sup>
                                </m:sSup>
                              </m:oMath>
                            </m:oMathPara>
                          </a14:m>
                          <a:endParaRPr lang="zh-CN" altLang="en-US" sz="2000" b="1" dirty="0"/>
                        </a:p>
                      </a:txBody>
                      <a:tcPr anchor="ct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2000" b="1" dirty="0">
                              <a:highlight>
                                <a:srgbClr val="FFFF00"/>
                              </a:highlight>
                            </a:rPr>
                            <a:t>3M-1</a:t>
                          </a:r>
                          <a:endParaRPr lang="zh-CN" altLang="en-US" sz="2000" b="1" dirty="0">
                            <a:highlight>
                              <a:srgbClr val="FFFF00"/>
                            </a:highlight>
                          </a:endParaRPr>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3M-1</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-M</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-M</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Choice>
        <mc:Fallback xmlns="">
          <p:graphicFrame>
            <p:nvGraphicFramePr>
              <p:cNvPr id="6" name="表格 5">
                <a:extLst>
                  <a:ext uri="{FF2B5EF4-FFF2-40B4-BE49-F238E27FC236}">
                    <a16:creationId xmlns:a16="http://schemas.microsoft.com/office/drawing/2014/main" id="{BDCA0BE1-BB99-4039-B974-D7B5E7736531}"/>
                  </a:ext>
                </a:extLst>
              </p:cNvPr>
              <p:cNvGraphicFramePr>
                <a:graphicFrameLocks noGrp="1"/>
              </p:cNvGraphicFramePr>
              <p:nvPr>
                <p:extLst>
                  <p:ext uri="{D42A27DB-BD31-4B8C-83A1-F6EECF244321}">
                    <p14:modId xmlns:p14="http://schemas.microsoft.com/office/powerpoint/2010/main" val="778509123"/>
                  </p:ext>
                </p:extLst>
              </p:nvPr>
            </p:nvGraphicFramePr>
            <p:xfrm>
              <a:off x="595998" y="4005381"/>
              <a:ext cx="6096000" cy="2301748"/>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3775034011"/>
                        </a:ext>
                      </a:extLst>
                    </a:gridCol>
                    <a:gridCol w="609600">
                      <a:extLst>
                        <a:ext uri="{9D8B030D-6E8A-4147-A177-3AD203B41FA5}">
                          <a16:colId xmlns:a16="http://schemas.microsoft.com/office/drawing/2014/main" val="1586977620"/>
                        </a:ext>
                      </a:extLst>
                    </a:gridCol>
                    <a:gridCol w="609600">
                      <a:extLst>
                        <a:ext uri="{9D8B030D-6E8A-4147-A177-3AD203B41FA5}">
                          <a16:colId xmlns:a16="http://schemas.microsoft.com/office/drawing/2014/main" val="2459346512"/>
                        </a:ext>
                      </a:extLst>
                    </a:gridCol>
                    <a:gridCol w="609600">
                      <a:extLst>
                        <a:ext uri="{9D8B030D-6E8A-4147-A177-3AD203B41FA5}">
                          <a16:colId xmlns:a16="http://schemas.microsoft.com/office/drawing/2014/main" val="1426368105"/>
                        </a:ext>
                      </a:extLst>
                    </a:gridCol>
                    <a:gridCol w="609600">
                      <a:extLst>
                        <a:ext uri="{9D8B030D-6E8A-4147-A177-3AD203B41FA5}">
                          <a16:colId xmlns:a16="http://schemas.microsoft.com/office/drawing/2014/main" val="1783729747"/>
                        </a:ext>
                      </a:extLst>
                    </a:gridCol>
                    <a:gridCol w="609600">
                      <a:extLst>
                        <a:ext uri="{9D8B030D-6E8A-4147-A177-3AD203B41FA5}">
                          <a16:colId xmlns:a16="http://schemas.microsoft.com/office/drawing/2014/main" val="3541072806"/>
                        </a:ext>
                      </a:extLst>
                    </a:gridCol>
                    <a:gridCol w="609600">
                      <a:extLst>
                        <a:ext uri="{9D8B030D-6E8A-4147-A177-3AD203B41FA5}">
                          <a16:colId xmlns:a16="http://schemas.microsoft.com/office/drawing/2014/main" val="1037422741"/>
                        </a:ext>
                      </a:extLst>
                    </a:gridCol>
                    <a:gridCol w="609600">
                      <a:extLst>
                        <a:ext uri="{9D8B030D-6E8A-4147-A177-3AD203B41FA5}">
                          <a16:colId xmlns:a16="http://schemas.microsoft.com/office/drawing/2014/main" val="691002581"/>
                        </a:ext>
                      </a:extLst>
                    </a:gridCol>
                    <a:gridCol w="609600">
                      <a:extLst>
                        <a:ext uri="{9D8B030D-6E8A-4147-A177-3AD203B41FA5}">
                          <a16:colId xmlns:a16="http://schemas.microsoft.com/office/drawing/2014/main" val="2707926419"/>
                        </a:ext>
                      </a:extLst>
                    </a:gridCol>
                    <a:gridCol w="609600">
                      <a:extLst>
                        <a:ext uri="{9D8B030D-6E8A-4147-A177-3AD203B41FA5}">
                          <a16:colId xmlns:a16="http://schemas.microsoft.com/office/drawing/2014/main" val="3359340276"/>
                        </a:ext>
                      </a:extLst>
                    </a:gridCol>
                  </a:tblGrid>
                  <a:tr h="401701">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6">
                      <a:txBody>
                        <a:bodyPr/>
                        <a:lstStyle/>
                        <a:p>
                          <a:endParaRPr lang="zh-CN"/>
                        </a:p>
                      </a:txBody>
                      <a:tcPr anchor="ctr">
                        <a:blipFill>
                          <a:blip r:embed="rId4"/>
                          <a:stretch>
                            <a:fillRect l="-50083" t="-1515" r="-17304" b="-501515"/>
                          </a:stretch>
                        </a:blipFill>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406527">
                    <a:tc>
                      <a:txBody>
                        <a:bodyPr/>
                        <a:lstStyle/>
                        <a:p>
                          <a:endParaRPr lang="zh-CN"/>
                        </a:p>
                      </a:txBody>
                      <a:tcPr anchor="ctr">
                        <a:blipFill>
                          <a:blip r:embed="rId4"/>
                          <a:stretch>
                            <a:fillRect l="-1000" t="-100000" r="-905000" b="-394030"/>
                          </a:stretch>
                        </a:blipFill>
                      </a:tcPr>
                    </a:tc>
                    <a:tc>
                      <a:txBody>
                        <a:bodyPr/>
                        <a:lstStyle/>
                        <a:p>
                          <a:endParaRPr lang="zh-CN"/>
                        </a:p>
                      </a:txBody>
                      <a:tcPr anchor="ctr">
                        <a:blipFill>
                          <a:blip r:embed="rId4"/>
                          <a:stretch>
                            <a:fillRect l="-101000" t="-100000" r="-805000" b="-394030"/>
                          </a:stretch>
                        </a:blipFill>
                      </a:tcPr>
                    </a:tc>
                    <a:tc>
                      <a:txBody>
                        <a:bodyPr/>
                        <a:lstStyle/>
                        <a:p>
                          <a:endParaRPr lang="zh-CN"/>
                        </a:p>
                      </a:txBody>
                      <a:tcPr anchor="ctr">
                        <a:blipFill>
                          <a:blip r:embed="rId4"/>
                          <a:stretch>
                            <a:fillRect l="-201000" t="-100000" r="-705000" b="-394030"/>
                          </a:stretch>
                        </a:blipFill>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-M</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-M</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endParaRPr lang="zh-CN"/>
                        </a:p>
                      </a:txBody>
                      <a:tcPr anchor="ctr">
                        <a:blipFill>
                          <a:blip r:embed="rId4"/>
                          <a:stretch>
                            <a:fillRect l="-902000" t="-100000" r="-4000" b="-394030"/>
                          </a:stretch>
                        </a:blipFill>
                      </a:tcPr>
                    </a:tc>
                    <a:extLst>
                      <a:ext uri="{0D108BD9-81ED-4DB2-BD59-A6C34878D82A}">
                        <a16:rowId xmlns:a16="http://schemas.microsoft.com/office/drawing/2014/main" val="2237396716"/>
                      </a:ext>
                    </a:extLst>
                  </a:tr>
                  <a:tr h="396240">
                    <a:tc>
                      <a:txBody>
                        <a:bodyPr/>
                        <a:lstStyle/>
                        <a:p>
                          <a:endParaRPr lang="zh-CN"/>
                        </a:p>
                      </a:txBody>
                      <a:tcPr anchor="ctr">
                        <a:blipFill>
                          <a:blip r:embed="rId4"/>
                          <a:stretch>
                            <a:fillRect l="-1000" t="-206154" r="-905000" b="-306154"/>
                          </a:stretch>
                        </a:blipFill>
                      </a:tcPr>
                    </a:tc>
                    <a:tc>
                      <a:txBody>
                        <a:bodyPr/>
                        <a:lstStyle/>
                        <a:p>
                          <a:pPr algn="ctr"/>
                          <a:r>
                            <a:rPr lang="en-US" altLang="zh-CN" sz="2000" b="1" dirty="0"/>
                            <a:t>-M</a:t>
                          </a:r>
                          <a:endParaRPr lang="zh-CN" altLang="en-US" sz="2000" b="1" dirty="0"/>
                        </a:p>
                      </a:txBody>
                      <a:tcPr anchor="ctr"/>
                    </a:tc>
                    <a:tc>
                      <a:txBody>
                        <a:bodyPr/>
                        <a:lstStyle/>
                        <a:p>
                          <a:pPr algn="ctr"/>
                          <a:r>
                            <a:rPr lang="en-US" altLang="zh-CN" sz="2000" b="1" dirty="0"/>
                            <a:t>12</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2</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highlight>
                                <a:srgbClr val="FFFF00"/>
                              </a:highlight>
                            </a:rPr>
                            <a:t>6</a:t>
                          </a:r>
                          <a:endParaRPr lang="zh-CN" altLang="en-US" sz="2000" b="1" dirty="0">
                            <a:highlight>
                              <a:srgbClr val="FFFF00"/>
                            </a:highlight>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396240">
                    <a:tc>
                      <a:txBody>
                        <a:bodyPr/>
                        <a:lstStyle/>
                        <a:p>
                          <a:endParaRPr lang="zh-CN"/>
                        </a:p>
                      </a:txBody>
                      <a:tcPr anchor="ctr">
                        <a:blipFill>
                          <a:blip r:embed="rId4"/>
                          <a:stretch>
                            <a:fillRect l="-1000" t="-306154" r="-905000" b="-206154"/>
                          </a:stretch>
                        </a:blipFill>
                      </a:tcPr>
                    </a:tc>
                    <a:tc>
                      <a:txBody>
                        <a:bodyPr/>
                        <a:lstStyle/>
                        <a:p>
                          <a:pPr algn="ctr"/>
                          <a:r>
                            <a:rPr lang="en-US" altLang="zh-CN" sz="2000" b="1" dirty="0"/>
                            <a:t>-M</a:t>
                          </a:r>
                          <a:endParaRPr lang="zh-CN" altLang="en-US" sz="2000" b="1" dirty="0"/>
                        </a:p>
                      </a:txBody>
                      <a:tcPr anchor="ctr"/>
                    </a:tc>
                    <a:tc>
                      <a:txBody>
                        <a:bodyPr/>
                        <a:lstStyle/>
                        <a:p>
                          <a:pPr algn="ctr"/>
                          <a:r>
                            <a:rPr lang="en-US" altLang="zh-CN" sz="2000" b="1" dirty="0"/>
                            <a:t>9</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2</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9</a:t>
                          </a: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701040">
                    <a:tc gridSpan="3">
                      <a:txBody>
                        <a:bodyPr/>
                        <a:lstStyle/>
                        <a:p>
                          <a:endParaRPr lang="zh-CN"/>
                        </a:p>
                      </a:txBody>
                      <a:tcPr anchor="ctr">
                        <a:blipFill>
                          <a:blip r:embed="rId4"/>
                          <a:stretch>
                            <a:fillRect l="-333" t="-229565" r="-235000" b="-16522"/>
                          </a:stretch>
                        </a:blipFill>
                      </a:tcP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2000" b="1" dirty="0">
                              <a:highlight>
                                <a:srgbClr val="FFFF00"/>
                              </a:highlight>
                            </a:rPr>
                            <a:t>3M-1</a:t>
                          </a:r>
                          <a:endParaRPr lang="zh-CN" altLang="en-US" sz="2000" b="1" dirty="0">
                            <a:highlight>
                              <a:srgbClr val="FFFF00"/>
                            </a:highlight>
                          </a:endParaRPr>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3M-1</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-M</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-M</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Fallback>
      </mc:AlternateContent>
    </p:spTree>
    <p:extLst>
      <p:ext uri="{BB962C8B-B14F-4D97-AF65-F5344CB8AC3E}">
        <p14:creationId xmlns:p14="http://schemas.microsoft.com/office/powerpoint/2010/main" val="17259623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6BA42FAD-09A8-496D-85F0-AC5D42B92E90}"/>
                  </a:ext>
                </a:extLst>
              </p:cNvPr>
              <p:cNvGraphicFramePr>
                <a:graphicFrameLocks noGrp="1"/>
              </p:cNvGraphicFramePr>
              <p:nvPr>
                <p:extLst>
                  <p:ext uri="{D42A27DB-BD31-4B8C-83A1-F6EECF244321}">
                    <p14:modId xmlns:p14="http://schemas.microsoft.com/office/powerpoint/2010/main" val="1164148513"/>
                  </p:ext>
                </p:extLst>
              </p:nvPr>
            </p:nvGraphicFramePr>
            <p:xfrm>
              <a:off x="450400" y="365198"/>
              <a:ext cx="8243200" cy="1996948"/>
            </p:xfrm>
            <a:graphic>
              <a:graphicData uri="http://schemas.openxmlformats.org/drawingml/2006/table">
                <a:tbl>
                  <a:tblPr firstRow="1" bandRow="1">
                    <a:tableStyleId>{5C22544A-7EE6-4342-B048-85BDC9FD1C3A}</a:tableStyleId>
                  </a:tblPr>
                  <a:tblGrid>
                    <a:gridCol w="824320">
                      <a:extLst>
                        <a:ext uri="{9D8B030D-6E8A-4147-A177-3AD203B41FA5}">
                          <a16:colId xmlns:a16="http://schemas.microsoft.com/office/drawing/2014/main" val="3775034011"/>
                        </a:ext>
                      </a:extLst>
                    </a:gridCol>
                    <a:gridCol w="824320">
                      <a:extLst>
                        <a:ext uri="{9D8B030D-6E8A-4147-A177-3AD203B41FA5}">
                          <a16:colId xmlns:a16="http://schemas.microsoft.com/office/drawing/2014/main" val="1586977620"/>
                        </a:ext>
                      </a:extLst>
                    </a:gridCol>
                    <a:gridCol w="618034">
                      <a:extLst>
                        <a:ext uri="{9D8B030D-6E8A-4147-A177-3AD203B41FA5}">
                          <a16:colId xmlns:a16="http://schemas.microsoft.com/office/drawing/2014/main" val="2459346512"/>
                        </a:ext>
                      </a:extLst>
                    </a:gridCol>
                    <a:gridCol w="801189">
                      <a:extLst>
                        <a:ext uri="{9D8B030D-6E8A-4147-A177-3AD203B41FA5}">
                          <a16:colId xmlns:a16="http://schemas.microsoft.com/office/drawing/2014/main" val="1426368105"/>
                        </a:ext>
                      </a:extLst>
                    </a:gridCol>
                    <a:gridCol w="1053737">
                      <a:extLst>
                        <a:ext uri="{9D8B030D-6E8A-4147-A177-3AD203B41FA5}">
                          <a16:colId xmlns:a16="http://schemas.microsoft.com/office/drawing/2014/main" val="1783729747"/>
                        </a:ext>
                      </a:extLst>
                    </a:gridCol>
                    <a:gridCol w="824320">
                      <a:extLst>
                        <a:ext uri="{9D8B030D-6E8A-4147-A177-3AD203B41FA5}">
                          <a16:colId xmlns:a16="http://schemas.microsoft.com/office/drawing/2014/main" val="3541072806"/>
                        </a:ext>
                      </a:extLst>
                    </a:gridCol>
                    <a:gridCol w="824320">
                      <a:extLst>
                        <a:ext uri="{9D8B030D-6E8A-4147-A177-3AD203B41FA5}">
                          <a16:colId xmlns:a16="http://schemas.microsoft.com/office/drawing/2014/main" val="1037422741"/>
                        </a:ext>
                      </a:extLst>
                    </a:gridCol>
                    <a:gridCol w="1042309">
                      <a:extLst>
                        <a:ext uri="{9D8B030D-6E8A-4147-A177-3AD203B41FA5}">
                          <a16:colId xmlns:a16="http://schemas.microsoft.com/office/drawing/2014/main" val="691002581"/>
                        </a:ext>
                      </a:extLst>
                    </a:gridCol>
                    <a:gridCol w="606331">
                      <a:extLst>
                        <a:ext uri="{9D8B030D-6E8A-4147-A177-3AD203B41FA5}">
                          <a16:colId xmlns:a16="http://schemas.microsoft.com/office/drawing/2014/main" val="2707926419"/>
                        </a:ext>
                      </a:extLst>
                    </a:gridCol>
                    <a:gridCol w="824320">
                      <a:extLst>
                        <a:ext uri="{9D8B030D-6E8A-4147-A177-3AD203B41FA5}">
                          <a16:colId xmlns:a16="http://schemas.microsoft.com/office/drawing/2014/main" val="3359340276"/>
                        </a:ext>
                      </a:extLst>
                    </a:gridCol>
                  </a:tblGrid>
                  <a:tr h="313958">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6">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b="1" i="1" smtClean="0">
                                        <a:solidFill>
                                          <a:schemeClr val="bg1"/>
                                        </a:solidFill>
                                        <a:latin typeface="Cambria Math" panose="02040503050406030204" pitchFamily="18" charset="0"/>
                                      </a:rPr>
                                    </m:ctrlPr>
                                  </m:sSupPr>
                                  <m:e>
                                    <m:acc>
                                      <m:accPr>
                                        <m:chr m:val="⃗"/>
                                        <m:ctrlPr>
                                          <a:rPr lang="en-US" altLang="zh-CN" sz="2000" b="1" i="1" smtClean="0">
                                            <a:solidFill>
                                              <a:schemeClr val="bg1"/>
                                            </a:solidFill>
                                            <a:latin typeface="Cambria Math" panose="02040503050406030204" pitchFamily="18" charset="0"/>
                                          </a:rPr>
                                        </m:ctrlPr>
                                      </m:accPr>
                                      <m:e>
                                        <m:r>
                                          <a:rPr lang="en-US" altLang="zh-CN" sz="2000" b="1" i="1" smtClean="0">
                                            <a:solidFill>
                                              <a:schemeClr val="bg1"/>
                                            </a:solidFill>
                                            <a:latin typeface="Cambria Math" panose="02040503050406030204" pitchFamily="18" charset="0"/>
                                          </a:rPr>
                                          <m:t>𝒄</m:t>
                                        </m:r>
                                      </m:e>
                                    </m:acc>
                                  </m:e>
                                  <m:sup>
                                    <m:r>
                                      <a:rPr lang="en-US" altLang="zh-CN" sz="2000" b="1" i="1" smtClean="0">
                                        <a:solidFill>
                                          <a:schemeClr val="bg1"/>
                                        </a:solidFill>
                                        <a:latin typeface="Cambria Math" panose="02040503050406030204" pitchFamily="18" charset="0"/>
                                      </a:rPr>
                                      <m:t>𝑻</m:t>
                                    </m:r>
                                  </m:sup>
                                </m:sSup>
                              </m:oMath>
                            </m:oMathPara>
                          </a14:m>
                          <a:endParaRPr lang="zh-CN" altLang="en-US" sz="2000" b="1" dirty="0"/>
                        </a:p>
                      </a:txBody>
                      <a:tcPr anchor="ct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𝒙</m:t>
                                        </m:r>
                                      </m:e>
                                    </m:acc>
                                  </m:e>
                                  <m:sub>
                                    <m:r>
                                      <a:rPr lang="en-US" altLang="zh-CN" sz="2000" b="1" i="1" smtClean="0">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solidFill>
                                          <a:schemeClr val="tx1"/>
                                        </a:solidFill>
                                        <a:latin typeface="Cambria Math" panose="02040503050406030204" pitchFamily="18" charset="0"/>
                                      </a:rPr>
                                    </m:ctrlPr>
                                  </m:sSubPr>
                                  <m:e>
                                    <m:acc>
                                      <m:accPr>
                                        <m:chr m:val="⃗"/>
                                        <m:ctrlPr>
                                          <a:rPr lang="en-US" altLang="zh-CN" sz="2000" b="1" i="1" smtClean="0">
                                            <a:solidFill>
                                              <a:schemeClr val="tx1"/>
                                            </a:solidFill>
                                            <a:latin typeface="Cambria Math" panose="02040503050406030204" pitchFamily="18" charset="0"/>
                                          </a:rPr>
                                        </m:ctrlPr>
                                      </m:accPr>
                                      <m:e>
                                        <m:r>
                                          <a:rPr lang="en-US" altLang="zh-CN" sz="2000" b="1" i="1" smtClean="0">
                                            <a:solidFill>
                                              <a:schemeClr val="tx1"/>
                                            </a:solidFill>
                                            <a:latin typeface="Cambria Math" panose="02040503050406030204" pitchFamily="18" charset="0"/>
                                          </a:rPr>
                                          <m:t>𝒄</m:t>
                                        </m:r>
                                      </m:e>
                                    </m:acc>
                                  </m:e>
                                  <m:sub>
                                    <m:r>
                                      <a:rPr lang="en-US" altLang="zh-CN" sz="2000" b="1" i="1" smtClean="0">
                                        <a:solidFill>
                                          <a:schemeClr val="tx1"/>
                                        </a:solidFill>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CN" sz="1800" b="1" i="1" smtClean="0">
                                        <a:solidFill>
                                          <a:sysClr val="windowText" lastClr="000000"/>
                                        </a:solidFill>
                                        <a:latin typeface="Cambria Math" panose="02040503050406030204" pitchFamily="18" charset="0"/>
                                      </a:rPr>
                                    </m:ctrlPr>
                                  </m:sSupPr>
                                  <m:e>
                                    <m:r>
                                      <a:rPr lang="en-US" altLang="zh-CN" sz="1800" b="1" i="1" smtClean="0">
                                        <a:solidFill>
                                          <a:sysClr val="windowText" lastClr="000000"/>
                                        </a:solidFill>
                                        <a:latin typeface="Cambria Math" panose="02040503050406030204" pitchFamily="18" charset="0"/>
                                      </a:rPr>
                                      <m:t>𝑩</m:t>
                                    </m:r>
                                  </m:e>
                                  <m:sup>
                                    <m:r>
                                      <a:rPr lang="en-US" altLang="zh-CN" sz="1800" b="1" i="1" smtClean="0">
                                        <a:solidFill>
                                          <a:sysClr val="windowText" lastClr="000000"/>
                                        </a:solidFill>
                                        <a:latin typeface="Cambria Math" panose="02040503050406030204" pitchFamily="18" charset="0"/>
                                      </a:rPr>
                                      <m:t>−</m:t>
                                    </m:r>
                                    <m:r>
                                      <a:rPr lang="en-US" altLang="zh-CN" sz="1800" b="1" i="1" smtClean="0">
                                        <a:solidFill>
                                          <a:sysClr val="windowText" lastClr="000000"/>
                                        </a:solidFill>
                                        <a:latin typeface="Cambria Math" panose="02040503050406030204" pitchFamily="18" charset="0"/>
                                      </a:rPr>
                                      <m:t>𝟏</m:t>
                                    </m:r>
                                  </m:sup>
                                </m:sSup>
                                <m:acc>
                                  <m:accPr>
                                    <m:chr m:val="⃗"/>
                                    <m:ctrlPr>
                                      <a:rPr lang="en-US" altLang="zh-CN" sz="1800" b="1" i="1">
                                        <a:solidFill>
                                          <a:sysClr val="windowText" lastClr="000000"/>
                                        </a:solidFill>
                                        <a:latin typeface="Cambria Math" panose="02040503050406030204" pitchFamily="18" charset="0"/>
                                      </a:rPr>
                                    </m:ctrlPr>
                                  </m:accPr>
                                  <m:e>
                                    <m:r>
                                      <a:rPr lang="en-US" altLang="zh-CN" sz="1800" b="1" i="1" smtClean="0">
                                        <a:solidFill>
                                          <a:sysClr val="windowText" lastClr="000000"/>
                                        </a:solidFill>
                                        <a:latin typeface="Cambria Math" panose="02040503050406030204" pitchFamily="18" charset="0"/>
                                      </a:rPr>
                                      <m:t>𝒃</m:t>
                                    </m:r>
                                  </m:e>
                                </m:acc>
                              </m:oMath>
                            </m:oMathPara>
                          </a14:m>
                          <a:endParaRPr lang="zh-CN" altLang="en-US" sz="1600" b="1" dirty="0"/>
                        </a:p>
                      </a:txBody>
                      <a:tcPr anchor="ct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-M</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-M</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000" b="0" i="1" smtClean="0">
                                    <a:solidFill>
                                      <a:sysClr val="windowText" lastClr="000000"/>
                                    </a:solidFill>
                                    <a:latin typeface="Cambria Math" panose="02040503050406030204" pitchFamily="18" charset="0"/>
                                  </a:rPr>
                                  <m:t>𝜃</m:t>
                                </m:r>
                              </m:oMath>
                            </m:oMathPara>
                          </a14:m>
                          <a:endParaRPr lang="zh-CN" altLang="en-US" sz="2000" dirty="0">
                            <a:solidFill>
                              <a:sysClr val="windowText" lastClr="000000"/>
                            </a:solidFill>
                          </a:endParaRPr>
                        </a:p>
                      </a:txBody>
                      <a:tcPr anchor="ctr"/>
                    </a:tc>
                    <a:extLst>
                      <a:ext uri="{0D108BD9-81ED-4DB2-BD59-A6C34878D82A}">
                        <a16:rowId xmlns:a16="http://schemas.microsoft.com/office/drawing/2014/main" val="2237396716"/>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𝟏</m:t>
                                    </m:r>
                                  </m:sub>
                                </m:sSub>
                              </m:oMath>
                            </m:oMathPara>
                          </a14:m>
                          <a:endParaRPr lang="zh-CN" altLang="en-US" sz="2000" b="1" dirty="0"/>
                        </a:p>
                      </a:txBody>
                      <a:tcPr anchor="ct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6</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𝟔</m:t>
                                    </m:r>
                                  </m:sub>
                                </m:sSub>
                              </m:oMath>
                            </m:oMathPara>
                          </a14:m>
                          <a:endParaRPr lang="zh-CN" altLang="en-US" sz="2000" b="1" dirty="0"/>
                        </a:p>
                      </a:txBody>
                      <a:tcPr anchor="ctr"/>
                    </a:tc>
                    <a:tc>
                      <a:txBody>
                        <a:bodyPr/>
                        <a:lstStyle/>
                        <a:p>
                          <a:pPr algn="ctr"/>
                          <a:r>
                            <a:rPr lang="en-US" altLang="zh-CN" sz="2000" b="1" dirty="0"/>
                            <a:t>-M</a:t>
                          </a:r>
                          <a:endParaRPr lang="zh-CN" altLang="en-US" sz="2000" b="1" dirty="0"/>
                        </a:p>
                      </a:txBody>
                      <a:tcPr anchor="ctr"/>
                    </a:tc>
                    <a:tc>
                      <a:txBody>
                        <a:bodyPr/>
                        <a:lstStyle/>
                        <a:p>
                          <a:pPr algn="ctr"/>
                          <a:r>
                            <a:rPr lang="en-US" altLang="zh-CN" sz="2000" b="1" dirty="0"/>
                            <a:t>3</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0</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3/2</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highlight>
                                <a:srgbClr val="FFFF00"/>
                              </a:highlight>
                            </a:rPr>
                            <a:t>2</a:t>
                          </a:r>
                          <a:endParaRPr lang="zh-CN" altLang="en-US" sz="2000" b="1" dirty="0">
                            <a:highlight>
                              <a:srgbClr val="FFFF00"/>
                            </a:highlight>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2709">
                    <a:tc gridSpan="3">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i="1" smtClean="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𝜎</m:t>
                                        </m:r>
                                      </m:e>
                                    </m:acc>
                                  </m:e>
                                  <m:sup>
                                    <m:r>
                                      <a:rPr lang="en-US" altLang="zh-CN" sz="2000" i="1">
                                        <a:latin typeface="Cambria Math" panose="02040503050406030204" pitchFamily="18" charset="0"/>
                                      </a:rPr>
                                      <m:t>𝑇</m:t>
                                    </m:r>
                                  </m:sup>
                                </m:sSup>
                              </m:oMath>
                            </m:oMathPara>
                          </a14:m>
                          <a:endParaRPr lang="zh-CN" altLang="en-US" sz="2000" b="1" dirty="0"/>
                        </a:p>
                      </a:txBody>
                      <a:tcPr anchor="ct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1400" b="1" dirty="0"/>
                            <a:t>0</a:t>
                          </a:r>
                          <a:endParaRPr lang="zh-CN" altLang="en-US" sz="14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1400" b="1" dirty="0">
                              <a:highlight>
                                <a:srgbClr val="FFFF00"/>
                              </a:highlight>
                            </a:rPr>
                            <a:t>3M/2-1/2</a:t>
                          </a:r>
                          <a:endParaRPr lang="zh-CN" altLang="en-US" sz="1400" b="1" dirty="0">
                            <a:highlight>
                              <a:srgbClr val="FFFF00"/>
                            </a:highlight>
                          </a:endParaRPr>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1400" b="1" dirty="0"/>
                            <a:t>M/2-1/2</a:t>
                          </a:r>
                          <a:endParaRPr lang="zh-CN" altLang="en-US" sz="14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1400" b="1" dirty="0"/>
                            <a:t>-M</a:t>
                          </a:r>
                          <a:endParaRPr lang="zh-CN" altLang="en-US" sz="14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1400" b="1" dirty="0"/>
                            <a:t>-3M/2+1/2</a:t>
                          </a:r>
                          <a:endParaRPr lang="zh-CN" altLang="en-US" sz="14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1400" b="1" dirty="0"/>
                            <a:t>0</a:t>
                          </a:r>
                          <a:endParaRPr lang="zh-CN" altLang="en-US" sz="14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1400" b="1" dirty="0"/>
                        </a:p>
                      </a:txBody>
                      <a:tcPr anchor="ctr"/>
                    </a:tc>
                    <a:extLst>
                      <a:ext uri="{0D108BD9-81ED-4DB2-BD59-A6C34878D82A}">
                        <a16:rowId xmlns:a16="http://schemas.microsoft.com/office/drawing/2014/main" val="3203426617"/>
                      </a:ext>
                    </a:extLst>
                  </a:tr>
                </a:tbl>
              </a:graphicData>
            </a:graphic>
          </p:graphicFrame>
        </mc:Choice>
        <mc:Fallback xmlns="">
          <p:graphicFrame>
            <p:nvGraphicFramePr>
              <p:cNvPr id="4" name="表格 3">
                <a:extLst>
                  <a:ext uri="{FF2B5EF4-FFF2-40B4-BE49-F238E27FC236}">
                    <a16:creationId xmlns:a16="http://schemas.microsoft.com/office/drawing/2014/main" id="{6BA42FAD-09A8-496D-85F0-AC5D42B92E90}"/>
                  </a:ext>
                </a:extLst>
              </p:cNvPr>
              <p:cNvGraphicFramePr>
                <a:graphicFrameLocks noGrp="1"/>
              </p:cNvGraphicFramePr>
              <p:nvPr>
                <p:extLst>
                  <p:ext uri="{D42A27DB-BD31-4B8C-83A1-F6EECF244321}">
                    <p14:modId xmlns:p14="http://schemas.microsoft.com/office/powerpoint/2010/main" val="1164148513"/>
                  </p:ext>
                </p:extLst>
              </p:nvPr>
            </p:nvGraphicFramePr>
            <p:xfrm>
              <a:off x="450400" y="365198"/>
              <a:ext cx="8243200" cy="1996948"/>
            </p:xfrm>
            <a:graphic>
              <a:graphicData uri="http://schemas.openxmlformats.org/drawingml/2006/table">
                <a:tbl>
                  <a:tblPr firstRow="1" bandRow="1">
                    <a:tableStyleId>{5C22544A-7EE6-4342-B048-85BDC9FD1C3A}</a:tableStyleId>
                  </a:tblPr>
                  <a:tblGrid>
                    <a:gridCol w="824320">
                      <a:extLst>
                        <a:ext uri="{9D8B030D-6E8A-4147-A177-3AD203B41FA5}">
                          <a16:colId xmlns:a16="http://schemas.microsoft.com/office/drawing/2014/main" val="3775034011"/>
                        </a:ext>
                      </a:extLst>
                    </a:gridCol>
                    <a:gridCol w="824320">
                      <a:extLst>
                        <a:ext uri="{9D8B030D-6E8A-4147-A177-3AD203B41FA5}">
                          <a16:colId xmlns:a16="http://schemas.microsoft.com/office/drawing/2014/main" val="1586977620"/>
                        </a:ext>
                      </a:extLst>
                    </a:gridCol>
                    <a:gridCol w="618034">
                      <a:extLst>
                        <a:ext uri="{9D8B030D-6E8A-4147-A177-3AD203B41FA5}">
                          <a16:colId xmlns:a16="http://schemas.microsoft.com/office/drawing/2014/main" val="2459346512"/>
                        </a:ext>
                      </a:extLst>
                    </a:gridCol>
                    <a:gridCol w="801189">
                      <a:extLst>
                        <a:ext uri="{9D8B030D-6E8A-4147-A177-3AD203B41FA5}">
                          <a16:colId xmlns:a16="http://schemas.microsoft.com/office/drawing/2014/main" val="1426368105"/>
                        </a:ext>
                      </a:extLst>
                    </a:gridCol>
                    <a:gridCol w="1053737">
                      <a:extLst>
                        <a:ext uri="{9D8B030D-6E8A-4147-A177-3AD203B41FA5}">
                          <a16:colId xmlns:a16="http://schemas.microsoft.com/office/drawing/2014/main" val="1783729747"/>
                        </a:ext>
                      </a:extLst>
                    </a:gridCol>
                    <a:gridCol w="824320">
                      <a:extLst>
                        <a:ext uri="{9D8B030D-6E8A-4147-A177-3AD203B41FA5}">
                          <a16:colId xmlns:a16="http://schemas.microsoft.com/office/drawing/2014/main" val="3541072806"/>
                        </a:ext>
                      </a:extLst>
                    </a:gridCol>
                    <a:gridCol w="824320">
                      <a:extLst>
                        <a:ext uri="{9D8B030D-6E8A-4147-A177-3AD203B41FA5}">
                          <a16:colId xmlns:a16="http://schemas.microsoft.com/office/drawing/2014/main" val="1037422741"/>
                        </a:ext>
                      </a:extLst>
                    </a:gridCol>
                    <a:gridCol w="1042309">
                      <a:extLst>
                        <a:ext uri="{9D8B030D-6E8A-4147-A177-3AD203B41FA5}">
                          <a16:colId xmlns:a16="http://schemas.microsoft.com/office/drawing/2014/main" val="691002581"/>
                        </a:ext>
                      </a:extLst>
                    </a:gridCol>
                    <a:gridCol w="606331">
                      <a:extLst>
                        <a:ext uri="{9D8B030D-6E8A-4147-A177-3AD203B41FA5}">
                          <a16:colId xmlns:a16="http://schemas.microsoft.com/office/drawing/2014/main" val="2707926419"/>
                        </a:ext>
                      </a:extLst>
                    </a:gridCol>
                    <a:gridCol w="824320">
                      <a:extLst>
                        <a:ext uri="{9D8B030D-6E8A-4147-A177-3AD203B41FA5}">
                          <a16:colId xmlns:a16="http://schemas.microsoft.com/office/drawing/2014/main" val="3359340276"/>
                        </a:ext>
                      </a:extLst>
                    </a:gridCol>
                  </a:tblGrid>
                  <a:tr h="401701">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6">
                      <a:txBody>
                        <a:bodyPr/>
                        <a:lstStyle/>
                        <a:p>
                          <a:endParaRPr lang="zh-CN"/>
                        </a:p>
                      </a:txBody>
                      <a:tcPr anchor="ctr">
                        <a:blipFill>
                          <a:blip r:embed="rId2"/>
                          <a:stretch>
                            <a:fillRect l="-44038" t="-1515" r="-16411" b="-401515"/>
                          </a:stretch>
                        </a:blipFill>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406527">
                    <a:tc>
                      <a:txBody>
                        <a:bodyPr/>
                        <a:lstStyle/>
                        <a:p>
                          <a:endParaRPr lang="zh-CN"/>
                        </a:p>
                      </a:txBody>
                      <a:tcPr anchor="ctr">
                        <a:blipFill>
                          <a:blip r:embed="rId2"/>
                          <a:stretch>
                            <a:fillRect l="-741" t="-100000" r="-905926" b="-295522"/>
                          </a:stretch>
                        </a:blipFill>
                      </a:tcPr>
                    </a:tc>
                    <a:tc>
                      <a:txBody>
                        <a:bodyPr/>
                        <a:lstStyle/>
                        <a:p>
                          <a:endParaRPr lang="zh-CN"/>
                        </a:p>
                      </a:txBody>
                      <a:tcPr anchor="ctr">
                        <a:blipFill>
                          <a:blip r:embed="rId2"/>
                          <a:stretch>
                            <a:fillRect l="-100000" t="-100000" r="-799265" b="-295522"/>
                          </a:stretch>
                        </a:blipFill>
                      </a:tcPr>
                    </a:tc>
                    <a:tc>
                      <a:txBody>
                        <a:bodyPr/>
                        <a:lstStyle/>
                        <a:p>
                          <a:endParaRPr lang="zh-CN"/>
                        </a:p>
                      </a:txBody>
                      <a:tcPr anchor="ctr">
                        <a:blipFill>
                          <a:blip r:embed="rId2"/>
                          <a:stretch>
                            <a:fillRect l="-269307" t="-100000" r="-976238" b="-295522"/>
                          </a:stretch>
                        </a:blipFill>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-M</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-M</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endParaRPr lang="zh-CN"/>
                        </a:p>
                      </a:txBody>
                      <a:tcPr anchor="ctr">
                        <a:blipFill>
                          <a:blip r:embed="rId2"/>
                          <a:stretch>
                            <a:fillRect l="-903704" t="-100000" r="-2963" b="-295522"/>
                          </a:stretch>
                        </a:blipFill>
                      </a:tcPr>
                    </a:tc>
                    <a:extLst>
                      <a:ext uri="{0D108BD9-81ED-4DB2-BD59-A6C34878D82A}">
                        <a16:rowId xmlns:a16="http://schemas.microsoft.com/office/drawing/2014/main" val="2237396716"/>
                      </a:ext>
                    </a:extLst>
                  </a:tr>
                  <a:tr h="396240">
                    <a:tc>
                      <a:txBody>
                        <a:bodyPr/>
                        <a:lstStyle/>
                        <a:p>
                          <a:endParaRPr lang="zh-CN"/>
                        </a:p>
                      </a:txBody>
                      <a:tcPr anchor="ctr">
                        <a:blipFill>
                          <a:blip r:embed="rId2"/>
                          <a:stretch>
                            <a:fillRect l="-741" t="-206154" r="-905926" b="-204615"/>
                          </a:stretch>
                        </a:blipFill>
                      </a:tcP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6</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396240">
                    <a:tc>
                      <a:txBody>
                        <a:bodyPr/>
                        <a:lstStyle/>
                        <a:p>
                          <a:endParaRPr lang="zh-CN"/>
                        </a:p>
                      </a:txBody>
                      <a:tcPr anchor="ctr">
                        <a:blipFill>
                          <a:blip r:embed="rId2"/>
                          <a:stretch>
                            <a:fillRect l="-741" t="-301515" r="-905926" b="-101515"/>
                          </a:stretch>
                        </a:blipFill>
                      </a:tcPr>
                    </a:tc>
                    <a:tc>
                      <a:txBody>
                        <a:bodyPr/>
                        <a:lstStyle/>
                        <a:p>
                          <a:pPr algn="ctr"/>
                          <a:r>
                            <a:rPr lang="en-US" altLang="zh-CN" sz="2000" b="1" dirty="0"/>
                            <a:t>-M</a:t>
                          </a:r>
                          <a:endParaRPr lang="zh-CN" altLang="en-US" sz="2000" b="1" dirty="0"/>
                        </a:p>
                      </a:txBody>
                      <a:tcPr anchor="ctr"/>
                    </a:tc>
                    <a:tc>
                      <a:txBody>
                        <a:bodyPr/>
                        <a:lstStyle/>
                        <a:p>
                          <a:pPr algn="ctr"/>
                          <a:r>
                            <a:rPr lang="en-US" altLang="zh-CN" sz="2000" b="1" dirty="0"/>
                            <a:t>3</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0</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3/2</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highlight>
                                <a:srgbClr val="FFFF00"/>
                              </a:highlight>
                            </a:rPr>
                            <a:t>2</a:t>
                          </a:r>
                          <a:endParaRPr lang="zh-CN" altLang="en-US" sz="2000" b="1" dirty="0">
                            <a:highlight>
                              <a:srgbClr val="FFFF00"/>
                            </a:highlight>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6240">
                    <a:tc gridSpan="3">
                      <a:txBody>
                        <a:bodyPr/>
                        <a:lstStyle/>
                        <a:p>
                          <a:endParaRPr lang="zh-CN"/>
                        </a:p>
                      </a:txBody>
                      <a:tcPr anchor="ctr">
                        <a:blipFill>
                          <a:blip r:embed="rId2"/>
                          <a:stretch>
                            <a:fillRect l="-269" t="-407692" r="-265054" b="-3077"/>
                          </a:stretch>
                        </a:blipFill>
                      </a:tcP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1400" b="1" dirty="0"/>
                            <a:t>0</a:t>
                          </a:r>
                          <a:endParaRPr lang="zh-CN" altLang="en-US" sz="14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1400" b="1" dirty="0">
                              <a:highlight>
                                <a:srgbClr val="FFFF00"/>
                              </a:highlight>
                            </a:rPr>
                            <a:t>3M/2-1/2</a:t>
                          </a:r>
                          <a:endParaRPr lang="zh-CN" altLang="en-US" sz="1400" b="1" dirty="0">
                            <a:highlight>
                              <a:srgbClr val="FFFF00"/>
                            </a:highlight>
                          </a:endParaRPr>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1400" b="1" dirty="0"/>
                            <a:t>M/2-1/2</a:t>
                          </a:r>
                          <a:endParaRPr lang="zh-CN" altLang="en-US" sz="14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1400" b="1" dirty="0"/>
                            <a:t>-M</a:t>
                          </a:r>
                          <a:endParaRPr lang="zh-CN" altLang="en-US" sz="14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1400" b="1" dirty="0"/>
                            <a:t>-3M/2+1/2</a:t>
                          </a:r>
                          <a:endParaRPr lang="zh-CN" altLang="en-US" sz="14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1400" b="1" dirty="0"/>
                            <a:t>0</a:t>
                          </a:r>
                          <a:endParaRPr lang="zh-CN" altLang="en-US" sz="14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1400" b="1" dirty="0"/>
                        </a:p>
                      </a:txBody>
                      <a:tcPr anchor="ctr"/>
                    </a:tc>
                    <a:extLst>
                      <a:ext uri="{0D108BD9-81ED-4DB2-BD59-A6C34878D82A}">
                        <a16:rowId xmlns:a16="http://schemas.microsoft.com/office/drawing/2014/main" val="320342661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EFB659C1-35AD-4D74-9F05-DCD4F3497735}"/>
                  </a:ext>
                </a:extLst>
              </p:cNvPr>
              <p:cNvGraphicFramePr>
                <a:graphicFrameLocks noGrp="1"/>
              </p:cNvGraphicFramePr>
              <p:nvPr>
                <p:extLst>
                  <p:ext uri="{D42A27DB-BD31-4B8C-83A1-F6EECF244321}">
                    <p14:modId xmlns:p14="http://schemas.microsoft.com/office/powerpoint/2010/main" val="3027935722"/>
                  </p:ext>
                </p:extLst>
              </p:nvPr>
            </p:nvGraphicFramePr>
            <p:xfrm>
              <a:off x="450400" y="3064856"/>
              <a:ext cx="8243200" cy="1996948"/>
            </p:xfrm>
            <a:graphic>
              <a:graphicData uri="http://schemas.openxmlformats.org/drawingml/2006/table">
                <a:tbl>
                  <a:tblPr firstRow="1" bandRow="1">
                    <a:tableStyleId>{5C22544A-7EE6-4342-B048-85BDC9FD1C3A}</a:tableStyleId>
                  </a:tblPr>
                  <a:tblGrid>
                    <a:gridCol w="824320">
                      <a:extLst>
                        <a:ext uri="{9D8B030D-6E8A-4147-A177-3AD203B41FA5}">
                          <a16:colId xmlns:a16="http://schemas.microsoft.com/office/drawing/2014/main" val="3775034011"/>
                        </a:ext>
                      </a:extLst>
                    </a:gridCol>
                    <a:gridCol w="824320">
                      <a:extLst>
                        <a:ext uri="{9D8B030D-6E8A-4147-A177-3AD203B41FA5}">
                          <a16:colId xmlns:a16="http://schemas.microsoft.com/office/drawing/2014/main" val="1586977620"/>
                        </a:ext>
                      </a:extLst>
                    </a:gridCol>
                    <a:gridCol w="824320">
                      <a:extLst>
                        <a:ext uri="{9D8B030D-6E8A-4147-A177-3AD203B41FA5}">
                          <a16:colId xmlns:a16="http://schemas.microsoft.com/office/drawing/2014/main" val="2459346512"/>
                        </a:ext>
                      </a:extLst>
                    </a:gridCol>
                    <a:gridCol w="824320">
                      <a:extLst>
                        <a:ext uri="{9D8B030D-6E8A-4147-A177-3AD203B41FA5}">
                          <a16:colId xmlns:a16="http://schemas.microsoft.com/office/drawing/2014/main" val="1426368105"/>
                        </a:ext>
                      </a:extLst>
                    </a:gridCol>
                    <a:gridCol w="824320">
                      <a:extLst>
                        <a:ext uri="{9D8B030D-6E8A-4147-A177-3AD203B41FA5}">
                          <a16:colId xmlns:a16="http://schemas.microsoft.com/office/drawing/2014/main" val="1783729747"/>
                        </a:ext>
                      </a:extLst>
                    </a:gridCol>
                    <a:gridCol w="824320">
                      <a:extLst>
                        <a:ext uri="{9D8B030D-6E8A-4147-A177-3AD203B41FA5}">
                          <a16:colId xmlns:a16="http://schemas.microsoft.com/office/drawing/2014/main" val="3541072806"/>
                        </a:ext>
                      </a:extLst>
                    </a:gridCol>
                    <a:gridCol w="824320">
                      <a:extLst>
                        <a:ext uri="{9D8B030D-6E8A-4147-A177-3AD203B41FA5}">
                          <a16:colId xmlns:a16="http://schemas.microsoft.com/office/drawing/2014/main" val="1037422741"/>
                        </a:ext>
                      </a:extLst>
                    </a:gridCol>
                    <a:gridCol w="824320">
                      <a:extLst>
                        <a:ext uri="{9D8B030D-6E8A-4147-A177-3AD203B41FA5}">
                          <a16:colId xmlns:a16="http://schemas.microsoft.com/office/drawing/2014/main" val="691002581"/>
                        </a:ext>
                      </a:extLst>
                    </a:gridCol>
                    <a:gridCol w="824320">
                      <a:extLst>
                        <a:ext uri="{9D8B030D-6E8A-4147-A177-3AD203B41FA5}">
                          <a16:colId xmlns:a16="http://schemas.microsoft.com/office/drawing/2014/main" val="2707926419"/>
                        </a:ext>
                      </a:extLst>
                    </a:gridCol>
                    <a:gridCol w="824320">
                      <a:extLst>
                        <a:ext uri="{9D8B030D-6E8A-4147-A177-3AD203B41FA5}">
                          <a16:colId xmlns:a16="http://schemas.microsoft.com/office/drawing/2014/main" val="3359340276"/>
                        </a:ext>
                      </a:extLst>
                    </a:gridCol>
                  </a:tblGrid>
                  <a:tr h="313958">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6">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b="1" i="1" smtClean="0">
                                        <a:solidFill>
                                          <a:schemeClr val="bg1"/>
                                        </a:solidFill>
                                        <a:latin typeface="Cambria Math" panose="02040503050406030204" pitchFamily="18" charset="0"/>
                                      </a:rPr>
                                    </m:ctrlPr>
                                  </m:sSupPr>
                                  <m:e>
                                    <m:acc>
                                      <m:accPr>
                                        <m:chr m:val="⃗"/>
                                        <m:ctrlPr>
                                          <a:rPr lang="en-US" altLang="zh-CN" sz="2000" b="1" i="1" smtClean="0">
                                            <a:solidFill>
                                              <a:schemeClr val="bg1"/>
                                            </a:solidFill>
                                            <a:latin typeface="Cambria Math" panose="02040503050406030204" pitchFamily="18" charset="0"/>
                                          </a:rPr>
                                        </m:ctrlPr>
                                      </m:accPr>
                                      <m:e>
                                        <m:r>
                                          <a:rPr lang="en-US" altLang="zh-CN" sz="2000" b="1" i="1" smtClean="0">
                                            <a:solidFill>
                                              <a:schemeClr val="bg1"/>
                                            </a:solidFill>
                                            <a:latin typeface="Cambria Math" panose="02040503050406030204" pitchFamily="18" charset="0"/>
                                          </a:rPr>
                                          <m:t>𝒄</m:t>
                                        </m:r>
                                      </m:e>
                                    </m:acc>
                                  </m:e>
                                  <m:sup>
                                    <m:r>
                                      <a:rPr lang="en-US" altLang="zh-CN" sz="2000" b="1" i="1" smtClean="0">
                                        <a:solidFill>
                                          <a:schemeClr val="bg1"/>
                                        </a:solidFill>
                                        <a:latin typeface="Cambria Math" panose="02040503050406030204" pitchFamily="18" charset="0"/>
                                      </a:rPr>
                                      <m:t>𝑻</m:t>
                                    </m:r>
                                  </m:sup>
                                </m:sSup>
                              </m:oMath>
                            </m:oMathPara>
                          </a14:m>
                          <a:endParaRPr lang="zh-CN" altLang="en-US" sz="2000" b="1" dirty="0"/>
                        </a:p>
                      </a:txBody>
                      <a:tcPr anchor="ct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𝒙</m:t>
                                        </m:r>
                                      </m:e>
                                    </m:acc>
                                  </m:e>
                                  <m:sub>
                                    <m:r>
                                      <a:rPr lang="en-US" altLang="zh-CN" sz="2000" b="1" i="1" smtClean="0">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solidFill>
                                          <a:schemeClr val="tx1"/>
                                        </a:solidFill>
                                        <a:latin typeface="Cambria Math" panose="02040503050406030204" pitchFamily="18" charset="0"/>
                                      </a:rPr>
                                    </m:ctrlPr>
                                  </m:sSubPr>
                                  <m:e>
                                    <m:acc>
                                      <m:accPr>
                                        <m:chr m:val="⃗"/>
                                        <m:ctrlPr>
                                          <a:rPr lang="en-US" altLang="zh-CN" sz="2000" b="1" i="1" smtClean="0">
                                            <a:solidFill>
                                              <a:schemeClr val="tx1"/>
                                            </a:solidFill>
                                            <a:latin typeface="Cambria Math" panose="02040503050406030204" pitchFamily="18" charset="0"/>
                                          </a:rPr>
                                        </m:ctrlPr>
                                      </m:accPr>
                                      <m:e>
                                        <m:r>
                                          <a:rPr lang="en-US" altLang="zh-CN" sz="2000" b="1" i="1" smtClean="0">
                                            <a:solidFill>
                                              <a:schemeClr val="tx1"/>
                                            </a:solidFill>
                                            <a:latin typeface="Cambria Math" panose="02040503050406030204" pitchFamily="18" charset="0"/>
                                          </a:rPr>
                                          <m:t>𝒄</m:t>
                                        </m:r>
                                      </m:e>
                                    </m:acc>
                                  </m:e>
                                  <m:sub>
                                    <m:r>
                                      <a:rPr lang="en-US" altLang="zh-CN" sz="2000" b="1" i="1" smtClean="0">
                                        <a:solidFill>
                                          <a:schemeClr val="tx1"/>
                                        </a:solidFill>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CN" sz="1800" b="1" i="1" smtClean="0">
                                        <a:solidFill>
                                          <a:sysClr val="windowText" lastClr="000000"/>
                                        </a:solidFill>
                                        <a:latin typeface="Cambria Math" panose="02040503050406030204" pitchFamily="18" charset="0"/>
                                      </a:rPr>
                                    </m:ctrlPr>
                                  </m:sSupPr>
                                  <m:e>
                                    <m:r>
                                      <a:rPr lang="en-US" altLang="zh-CN" sz="1800" b="1" i="1" smtClean="0">
                                        <a:solidFill>
                                          <a:sysClr val="windowText" lastClr="000000"/>
                                        </a:solidFill>
                                        <a:latin typeface="Cambria Math" panose="02040503050406030204" pitchFamily="18" charset="0"/>
                                      </a:rPr>
                                      <m:t>𝑩</m:t>
                                    </m:r>
                                  </m:e>
                                  <m:sup>
                                    <m:r>
                                      <a:rPr lang="en-US" altLang="zh-CN" sz="1800" b="1" i="1" smtClean="0">
                                        <a:solidFill>
                                          <a:sysClr val="windowText" lastClr="000000"/>
                                        </a:solidFill>
                                        <a:latin typeface="Cambria Math" panose="02040503050406030204" pitchFamily="18" charset="0"/>
                                      </a:rPr>
                                      <m:t>−</m:t>
                                    </m:r>
                                    <m:r>
                                      <a:rPr lang="en-US" altLang="zh-CN" sz="1800" b="1" i="1" smtClean="0">
                                        <a:solidFill>
                                          <a:sysClr val="windowText" lastClr="000000"/>
                                        </a:solidFill>
                                        <a:latin typeface="Cambria Math" panose="02040503050406030204" pitchFamily="18" charset="0"/>
                                      </a:rPr>
                                      <m:t>𝟏</m:t>
                                    </m:r>
                                  </m:sup>
                                </m:sSup>
                                <m:acc>
                                  <m:accPr>
                                    <m:chr m:val="⃗"/>
                                    <m:ctrlPr>
                                      <a:rPr lang="en-US" altLang="zh-CN" sz="1800" b="1" i="1">
                                        <a:solidFill>
                                          <a:sysClr val="windowText" lastClr="000000"/>
                                        </a:solidFill>
                                        <a:latin typeface="Cambria Math" panose="02040503050406030204" pitchFamily="18" charset="0"/>
                                      </a:rPr>
                                    </m:ctrlPr>
                                  </m:accPr>
                                  <m:e>
                                    <m:r>
                                      <a:rPr lang="en-US" altLang="zh-CN" sz="1800" b="1" i="1" smtClean="0">
                                        <a:solidFill>
                                          <a:sysClr val="windowText" lastClr="000000"/>
                                        </a:solidFill>
                                        <a:latin typeface="Cambria Math" panose="02040503050406030204" pitchFamily="18" charset="0"/>
                                      </a:rPr>
                                      <m:t>𝒃</m:t>
                                    </m:r>
                                  </m:e>
                                </m:acc>
                              </m:oMath>
                            </m:oMathPara>
                          </a14:m>
                          <a:endParaRPr lang="zh-CN" altLang="en-US" sz="1600" b="1" dirty="0"/>
                        </a:p>
                      </a:txBody>
                      <a:tcPr anchor="ct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-M</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-M</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000" b="0" i="1" smtClean="0">
                                    <a:solidFill>
                                      <a:sysClr val="windowText" lastClr="000000"/>
                                    </a:solidFill>
                                    <a:latin typeface="Cambria Math" panose="02040503050406030204" pitchFamily="18" charset="0"/>
                                  </a:rPr>
                                  <m:t>𝜃</m:t>
                                </m:r>
                              </m:oMath>
                            </m:oMathPara>
                          </a14:m>
                          <a:endParaRPr lang="zh-CN" altLang="en-US" sz="2000" dirty="0">
                            <a:solidFill>
                              <a:sysClr val="windowText" lastClr="000000"/>
                            </a:solidFill>
                          </a:endParaRPr>
                        </a:p>
                      </a:txBody>
                      <a:tcPr anchor="ctr"/>
                    </a:tc>
                    <a:extLst>
                      <a:ext uri="{0D108BD9-81ED-4DB2-BD59-A6C34878D82A}">
                        <a16:rowId xmlns:a16="http://schemas.microsoft.com/office/drawing/2014/main" val="2237396716"/>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𝟏</m:t>
                                    </m:r>
                                  </m:sub>
                                </m:sSub>
                              </m:oMath>
                            </m:oMathPara>
                          </a14:m>
                          <a:endParaRPr lang="zh-CN" altLang="en-US" sz="2000" b="1" dirty="0"/>
                        </a:p>
                      </a:txBody>
                      <a:tcPr anchor="ct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5</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-2/3</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1/3</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2/3</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-1/3</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CN" altLang="en-US" sz="2000" b="1" dirty="0">
                            <a:highlight>
                              <a:srgbClr val="FFFF00"/>
                            </a:highlight>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𝟐</m:t>
                                    </m:r>
                                  </m:sub>
                                </m:sSub>
                              </m:oMath>
                            </m:oMathPara>
                          </a14:m>
                          <a:endParaRPr lang="zh-CN" altLang="en-US" sz="2000" b="1" dirty="0"/>
                        </a:p>
                      </a:txBody>
                      <a:tcPr anchor="ct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2</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0</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1/3</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-2/3</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-1/3</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2/3</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2709">
                    <a:tc gridSpan="3">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i="1" smtClean="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𝜎</m:t>
                                        </m:r>
                                      </m:e>
                                    </m:acc>
                                  </m:e>
                                  <m:sup>
                                    <m:r>
                                      <a:rPr lang="en-US" altLang="zh-CN" sz="2000" i="1">
                                        <a:latin typeface="Cambria Math" panose="02040503050406030204" pitchFamily="18" charset="0"/>
                                      </a:rPr>
                                      <m:t>𝑇</m:t>
                                    </m:r>
                                  </m:sup>
                                </m:sSup>
                              </m:oMath>
                            </m:oMathPara>
                          </a14:m>
                          <a:endParaRPr lang="zh-CN" altLang="en-US" sz="2000" b="1" dirty="0"/>
                        </a:p>
                      </a:txBody>
                      <a:tcPr anchor="ct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2000" b="1" dirty="0">
                              <a:highlight>
                                <a:srgbClr val="FFFF00"/>
                              </a:highlight>
                            </a:rPr>
                            <a:t>0</a:t>
                          </a:r>
                          <a:endParaRPr lang="zh-CN" altLang="en-US" sz="2000" b="1" dirty="0">
                            <a:highlight>
                              <a:srgbClr val="FFFF00"/>
                            </a:highlight>
                          </a:endParaRPr>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-M</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-M</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-M+...</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-M+...</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Choice>
        <mc:Fallback xmlns="">
          <p:graphicFrame>
            <p:nvGraphicFramePr>
              <p:cNvPr id="5" name="表格 4">
                <a:extLst>
                  <a:ext uri="{FF2B5EF4-FFF2-40B4-BE49-F238E27FC236}">
                    <a16:creationId xmlns:a16="http://schemas.microsoft.com/office/drawing/2014/main" id="{EFB659C1-35AD-4D74-9F05-DCD4F3497735}"/>
                  </a:ext>
                </a:extLst>
              </p:cNvPr>
              <p:cNvGraphicFramePr>
                <a:graphicFrameLocks noGrp="1"/>
              </p:cNvGraphicFramePr>
              <p:nvPr>
                <p:extLst>
                  <p:ext uri="{D42A27DB-BD31-4B8C-83A1-F6EECF244321}">
                    <p14:modId xmlns:p14="http://schemas.microsoft.com/office/powerpoint/2010/main" val="3027935722"/>
                  </p:ext>
                </p:extLst>
              </p:nvPr>
            </p:nvGraphicFramePr>
            <p:xfrm>
              <a:off x="450400" y="3064856"/>
              <a:ext cx="8243200" cy="1996948"/>
            </p:xfrm>
            <a:graphic>
              <a:graphicData uri="http://schemas.openxmlformats.org/drawingml/2006/table">
                <a:tbl>
                  <a:tblPr firstRow="1" bandRow="1">
                    <a:tableStyleId>{5C22544A-7EE6-4342-B048-85BDC9FD1C3A}</a:tableStyleId>
                  </a:tblPr>
                  <a:tblGrid>
                    <a:gridCol w="824320">
                      <a:extLst>
                        <a:ext uri="{9D8B030D-6E8A-4147-A177-3AD203B41FA5}">
                          <a16:colId xmlns:a16="http://schemas.microsoft.com/office/drawing/2014/main" val="3775034011"/>
                        </a:ext>
                      </a:extLst>
                    </a:gridCol>
                    <a:gridCol w="824320">
                      <a:extLst>
                        <a:ext uri="{9D8B030D-6E8A-4147-A177-3AD203B41FA5}">
                          <a16:colId xmlns:a16="http://schemas.microsoft.com/office/drawing/2014/main" val="1586977620"/>
                        </a:ext>
                      </a:extLst>
                    </a:gridCol>
                    <a:gridCol w="824320">
                      <a:extLst>
                        <a:ext uri="{9D8B030D-6E8A-4147-A177-3AD203B41FA5}">
                          <a16:colId xmlns:a16="http://schemas.microsoft.com/office/drawing/2014/main" val="2459346512"/>
                        </a:ext>
                      </a:extLst>
                    </a:gridCol>
                    <a:gridCol w="824320">
                      <a:extLst>
                        <a:ext uri="{9D8B030D-6E8A-4147-A177-3AD203B41FA5}">
                          <a16:colId xmlns:a16="http://schemas.microsoft.com/office/drawing/2014/main" val="1426368105"/>
                        </a:ext>
                      </a:extLst>
                    </a:gridCol>
                    <a:gridCol w="824320">
                      <a:extLst>
                        <a:ext uri="{9D8B030D-6E8A-4147-A177-3AD203B41FA5}">
                          <a16:colId xmlns:a16="http://schemas.microsoft.com/office/drawing/2014/main" val="1783729747"/>
                        </a:ext>
                      </a:extLst>
                    </a:gridCol>
                    <a:gridCol w="824320">
                      <a:extLst>
                        <a:ext uri="{9D8B030D-6E8A-4147-A177-3AD203B41FA5}">
                          <a16:colId xmlns:a16="http://schemas.microsoft.com/office/drawing/2014/main" val="3541072806"/>
                        </a:ext>
                      </a:extLst>
                    </a:gridCol>
                    <a:gridCol w="824320">
                      <a:extLst>
                        <a:ext uri="{9D8B030D-6E8A-4147-A177-3AD203B41FA5}">
                          <a16:colId xmlns:a16="http://schemas.microsoft.com/office/drawing/2014/main" val="1037422741"/>
                        </a:ext>
                      </a:extLst>
                    </a:gridCol>
                    <a:gridCol w="824320">
                      <a:extLst>
                        <a:ext uri="{9D8B030D-6E8A-4147-A177-3AD203B41FA5}">
                          <a16:colId xmlns:a16="http://schemas.microsoft.com/office/drawing/2014/main" val="691002581"/>
                        </a:ext>
                      </a:extLst>
                    </a:gridCol>
                    <a:gridCol w="824320">
                      <a:extLst>
                        <a:ext uri="{9D8B030D-6E8A-4147-A177-3AD203B41FA5}">
                          <a16:colId xmlns:a16="http://schemas.microsoft.com/office/drawing/2014/main" val="2707926419"/>
                        </a:ext>
                      </a:extLst>
                    </a:gridCol>
                    <a:gridCol w="824320">
                      <a:extLst>
                        <a:ext uri="{9D8B030D-6E8A-4147-A177-3AD203B41FA5}">
                          <a16:colId xmlns:a16="http://schemas.microsoft.com/office/drawing/2014/main" val="3359340276"/>
                        </a:ext>
                      </a:extLst>
                    </a:gridCol>
                  </a:tblGrid>
                  <a:tr h="401701">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6">
                      <a:txBody>
                        <a:bodyPr/>
                        <a:lstStyle/>
                        <a:p>
                          <a:endParaRPr lang="zh-CN"/>
                        </a:p>
                      </a:txBody>
                      <a:tcPr anchor="ctr">
                        <a:blipFill>
                          <a:blip r:embed="rId3"/>
                          <a:stretch>
                            <a:fillRect l="-50062" t="-1515" r="-17097" b="-425758"/>
                          </a:stretch>
                        </a:blipFill>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406527">
                    <a:tc>
                      <a:txBody>
                        <a:bodyPr/>
                        <a:lstStyle/>
                        <a:p>
                          <a:endParaRPr lang="zh-CN"/>
                        </a:p>
                      </a:txBody>
                      <a:tcPr anchor="ctr">
                        <a:blipFill>
                          <a:blip r:embed="rId3"/>
                          <a:stretch>
                            <a:fillRect l="-741" t="-100000" r="-905926" b="-319403"/>
                          </a:stretch>
                        </a:blipFill>
                      </a:tcPr>
                    </a:tc>
                    <a:tc>
                      <a:txBody>
                        <a:bodyPr/>
                        <a:lstStyle/>
                        <a:p>
                          <a:endParaRPr lang="zh-CN"/>
                        </a:p>
                      </a:txBody>
                      <a:tcPr anchor="ctr">
                        <a:blipFill>
                          <a:blip r:embed="rId3"/>
                          <a:stretch>
                            <a:fillRect l="-100000" t="-100000" r="-799265" b="-319403"/>
                          </a:stretch>
                        </a:blipFill>
                      </a:tcPr>
                    </a:tc>
                    <a:tc>
                      <a:txBody>
                        <a:bodyPr/>
                        <a:lstStyle/>
                        <a:p>
                          <a:endParaRPr lang="zh-CN"/>
                        </a:p>
                      </a:txBody>
                      <a:tcPr anchor="ctr">
                        <a:blipFill>
                          <a:blip r:embed="rId3"/>
                          <a:stretch>
                            <a:fillRect l="-201481" t="-100000" r="-705185" b="-319403"/>
                          </a:stretch>
                        </a:blipFill>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-M</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-M</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endParaRPr lang="zh-CN"/>
                        </a:p>
                      </a:txBody>
                      <a:tcPr anchor="ctr">
                        <a:blipFill>
                          <a:blip r:embed="rId3"/>
                          <a:stretch>
                            <a:fillRect l="-903704" t="-100000" r="-2963" b="-319403"/>
                          </a:stretch>
                        </a:blipFill>
                      </a:tcPr>
                    </a:tc>
                    <a:extLst>
                      <a:ext uri="{0D108BD9-81ED-4DB2-BD59-A6C34878D82A}">
                        <a16:rowId xmlns:a16="http://schemas.microsoft.com/office/drawing/2014/main" val="2237396716"/>
                      </a:ext>
                    </a:extLst>
                  </a:tr>
                  <a:tr h="396240">
                    <a:tc>
                      <a:txBody>
                        <a:bodyPr/>
                        <a:lstStyle/>
                        <a:p>
                          <a:endParaRPr lang="zh-CN"/>
                        </a:p>
                      </a:txBody>
                      <a:tcPr anchor="ctr">
                        <a:blipFill>
                          <a:blip r:embed="rId3"/>
                          <a:stretch>
                            <a:fillRect l="-741" t="-206154" r="-905926" b="-229231"/>
                          </a:stretch>
                        </a:blipFill>
                      </a:tcP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5</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-2/3</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1/3</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2/3</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-1/3</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CN" altLang="en-US" sz="2000" b="1" dirty="0">
                            <a:highlight>
                              <a:srgbClr val="FFFF00"/>
                            </a:highlight>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396240">
                    <a:tc>
                      <a:txBody>
                        <a:bodyPr/>
                        <a:lstStyle/>
                        <a:p>
                          <a:endParaRPr lang="zh-CN"/>
                        </a:p>
                      </a:txBody>
                      <a:tcPr anchor="ctr">
                        <a:blipFill>
                          <a:blip r:embed="rId3"/>
                          <a:stretch>
                            <a:fillRect l="-741" t="-301515" r="-905926" b="-125758"/>
                          </a:stretch>
                        </a:blipFill>
                      </a:tcP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2</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0</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1/3</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-2/3</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-1/3</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2/3</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6240">
                    <a:tc gridSpan="3">
                      <a:txBody>
                        <a:bodyPr/>
                        <a:lstStyle/>
                        <a:p>
                          <a:endParaRPr lang="zh-CN"/>
                        </a:p>
                      </a:txBody>
                      <a:tcPr anchor="ctr">
                        <a:blipFill>
                          <a:blip r:embed="rId3"/>
                          <a:stretch>
                            <a:fillRect l="-246" t="-407692" r="-234483" b="-27692"/>
                          </a:stretch>
                        </a:blipFill>
                      </a:tcP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2000" b="1" dirty="0">
                              <a:highlight>
                                <a:srgbClr val="FFFF00"/>
                              </a:highlight>
                            </a:rPr>
                            <a:t>0</a:t>
                          </a:r>
                          <a:endParaRPr lang="zh-CN" altLang="en-US" sz="2000" b="1" dirty="0">
                            <a:highlight>
                              <a:srgbClr val="FFFF00"/>
                            </a:highlight>
                          </a:endParaRPr>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-M</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-M</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-M+...</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-M+...</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Fallback>
      </mc:AlternateContent>
    </p:spTree>
    <p:extLst>
      <p:ext uri="{BB962C8B-B14F-4D97-AF65-F5344CB8AC3E}">
        <p14:creationId xmlns:p14="http://schemas.microsoft.com/office/powerpoint/2010/main" val="27985830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9FD065ED-F602-4D3E-9038-14F48AC2FE1A}"/>
              </a:ext>
            </a:extLst>
          </p:cNvPr>
          <p:cNvSpPr>
            <a:spLocks noGrp="1" noChangeArrowheads="1"/>
          </p:cNvSpPr>
          <p:nvPr>
            <p:ph type="title"/>
          </p:nvPr>
        </p:nvSpPr>
        <p:spPr/>
        <p:txBody>
          <a:bodyPr/>
          <a:lstStyle/>
          <a:p>
            <a:pPr eaLnBrk="1" hangingPunct="1"/>
            <a:r>
              <a:rPr lang="zh-CN" altLang="en-US" dirty="0"/>
              <a:t>两阶段法</a:t>
            </a:r>
            <a:r>
              <a:rPr lang="en-US" altLang="zh-CN" dirty="0"/>
              <a:t>: </a:t>
            </a:r>
            <a:r>
              <a:rPr lang="zh-CN" altLang="en-US" dirty="0"/>
              <a:t>自学</a:t>
            </a:r>
          </a:p>
        </p:txBody>
      </p:sp>
      <p:sp>
        <p:nvSpPr>
          <p:cNvPr id="89091" name="Rectangle 3">
            <a:extLst>
              <a:ext uri="{FF2B5EF4-FFF2-40B4-BE49-F238E27FC236}">
                <a16:creationId xmlns:a16="http://schemas.microsoft.com/office/drawing/2014/main" id="{127D74F1-B951-4C51-8FE8-AD2FAEC16938}"/>
              </a:ext>
            </a:extLst>
          </p:cNvPr>
          <p:cNvSpPr>
            <a:spLocks noGrp="1" noChangeArrowheads="1"/>
          </p:cNvSpPr>
          <p:nvPr>
            <p:ph type="body" idx="1"/>
          </p:nvPr>
        </p:nvSpPr>
        <p:spPr>
          <a:xfrm>
            <a:off x="457200" y="1447800"/>
            <a:ext cx="8229600" cy="4530725"/>
          </a:xfrm>
        </p:spPr>
        <p:txBody>
          <a:bodyPr/>
          <a:lstStyle/>
          <a:p>
            <a:pPr algn="just" eaLnBrk="1" hangingPunct="1"/>
            <a:r>
              <a:rPr lang="zh-CN" altLang="en-US" dirty="0"/>
              <a:t>构造仅含人工变量的目标函数，</a:t>
            </a:r>
            <a:r>
              <a:rPr lang="zh-CN" altLang="en-US" dirty="0">
                <a:solidFill>
                  <a:srgbClr val="FF0000"/>
                </a:solidFill>
              </a:rPr>
              <a:t>并取最小化</a:t>
            </a:r>
          </a:p>
          <a:p>
            <a:pPr lvl="1" algn="just" eaLnBrk="1" hangingPunct="1"/>
            <a:r>
              <a:rPr lang="zh-CN" altLang="en-US" dirty="0"/>
              <a:t>单纯形法求解，若得目标函数为</a:t>
            </a:r>
            <a:r>
              <a:rPr lang="en-US" altLang="zh-CN" dirty="0"/>
              <a:t>0</a:t>
            </a:r>
            <a:r>
              <a:rPr lang="zh-CN" altLang="en-US" dirty="0"/>
              <a:t>，则原问题存在基可行解，可以继续；</a:t>
            </a:r>
          </a:p>
          <a:p>
            <a:pPr lvl="1" algn="just" eaLnBrk="1" hangingPunct="1"/>
            <a:r>
              <a:rPr lang="zh-CN" altLang="en-US" dirty="0"/>
              <a:t>否则，原问题无解，停止计算</a:t>
            </a:r>
          </a:p>
          <a:p>
            <a:pPr algn="just" eaLnBrk="1" hangingPunct="1"/>
            <a:r>
              <a:rPr lang="zh-CN" altLang="en-US" dirty="0"/>
              <a:t>在第一阶段计算最终表基础上更新，继续计算</a:t>
            </a:r>
          </a:p>
          <a:p>
            <a:pPr lvl="1" algn="just" eaLnBrk="1" hangingPunct="1"/>
            <a:r>
              <a:rPr lang="zh-CN" altLang="en-US" dirty="0"/>
              <a:t>除去人工变量</a:t>
            </a:r>
          </a:p>
          <a:p>
            <a:pPr lvl="1" algn="just" eaLnBrk="1" hangingPunct="1"/>
            <a:r>
              <a:rPr lang="zh-CN" altLang="en-US" dirty="0"/>
              <a:t>将目标函数行系数换回原问题的目标函数系数</a:t>
            </a:r>
          </a:p>
          <a:p>
            <a:pPr lvl="1" eaLnBrk="1" hangingPunct="1"/>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animEffect transition="in" filter="blinds(horizontal)">
                                      <p:cBhvr>
                                        <p:cTn id="7" dur="500"/>
                                        <p:tgtEl>
                                          <p:spTgt spid="890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9091">
                                            <p:txEl>
                                              <p:pRg st="1" end="1"/>
                                            </p:txEl>
                                          </p:spTgt>
                                        </p:tgtEl>
                                        <p:attrNameLst>
                                          <p:attrName>style.visibility</p:attrName>
                                        </p:attrNameLst>
                                      </p:cBhvr>
                                      <p:to>
                                        <p:strVal val="visible"/>
                                      </p:to>
                                    </p:set>
                                    <p:animEffect transition="in" filter="blinds(horizontal)">
                                      <p:cBhvr>
                                        <p:cTn id="12" dur="500"/>
                                        <p:tgtEl>
                                          <p:spTgt spid="890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9091">
                                            <p:txEl>
                                              <p:pRg st="2" end="2"/>
                                            </p:txEl>
                                          </p:spTgt>
                                        </p:tgtEl>
                                        <p:attrNameLst>
                                          <p:attrName>style.visibility</p:attrName>
                                        </p:attrNameLst>
                                      </p:cBhvr>
                                      <p:to>
                                        <p:strVal val="visible"/>
                                      </p:to>
                                    </p:set>
                                    <p:animEffect transition="in" filter="blinds(horizontal)">
                                      <p:cBhvr>
                                        <p:cTn id="17" dur="500"/>
                                        <p:tgtEl>
                                          <p:spTgt spid="890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9091">
                                            <p:txEl>
                                              <p:pRg st="3" end="3"/>
                                            </p:txEl>
                                          </p:spTgt>
                                        </p:tgtEl>
                                        <p:attrNameLst>
                                          <p:attrName>style.visibility</p:attrName>
                                        </p:attrNameLst>
                                      </p:cBhvr>
                                      <p:to>
                                        <p:strVal val="visible"/>
                                      </p:to>
                                    </p:set>
                                    <p:animEffect transition="in" filter="blinds(horizontal)">
                                      <p:cBhvr>
                                        <p:cTn id="22" dur="500"/>
                                        <p:tgtEl>
                                          <p:spTgt spid="890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9091">
                                            <p:txEl>
                                              <p:pRg st="4" end="4"/>
                                            </p:txEl>
                                          </p:spTgt>
                                        </p:tgtEl>
                                        <p:attrNameLst>
                                          <p:attrName>style.visibility</p:attrName>
                                        </p:attrNameLst>
                                      </p:cBhvr>
                                      <p:to>
                                        <p:strVal val="visible"/>
                                      </p:to>
                                    </p:set>
                                    <p:animEffect transition="in" filter="blinds(horizontal)">
                                      <p:cBhvr>
                                        <p:cTn id="27" dur="500"/>
                                        <p:tgtEl>
                                          <p:spTgt spid="8909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9091">
                                            <p:txEl>
                                              <p:pRg st="5" end="5"/>
                                            </p:txEl>
                                          </p:spTgt>
                                        </p:tgtEl>
                                        <p:attrNameLst>
                                          <p:attrName>style.visibility</p:attrName>
                                        </p:attrNameLst>
                                      </p:cBhvr>
                                      <p:to>
                                        <p:strVal val="visible"/>
                                      </p:to>
                                    </p:set>
                                    <p:animEffect transition="in" filter="blinds(horizontal)">
                                      <p:cBhvr>
                                        <p:cTn id="32" dur="500"/>
                                        <p:tgtEl>
                                          <p:spTgt spid="890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uild="p" bldLvl="2"/>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EFD369-BEB6-43D3-9007-4E55FABE786B}"/>
              </a:ext>
            </a:extLst>
          </p:cNvPr>
          <p:cNvSpPr>
            <a:spLocks noGrp="1"/>
          </p:cNvSpPr>
          <p:nvPr>
            <p:ph type="title"/>
          </p:nvPr>
        </p:nvSpPr>
        <p:spPr/>
        <p:txBody>
          <a:bodyPr/>
          <a:lstStyle/>
          <a:p>
            <a:r>
              <a:rPr lang="zh-CN" altLang="en-US" dirty="0"/>
              <a:t>例子</a:t>
            </a:r>
          </a:p>
        </p:txBody>
      </p:sp>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C7B6268C-5FCC-4113-8617-239BAFBF4110}"/>
                  </a:ext>
                </a:extLst>
              </p:cNvPr>
              <p:cNvSpPr txBox="1">
                <a:spLocks/>
              </p:cNvSpPr>
              <p:nvPr/>
            </p:nvSpPr>
            <p:spPr>
              <a:xfrm>
                <a:off x="595998" y="1239309"/>
                <a:ext cx="4637853" cy="146034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14:m>
                  <m:oMath xmlns:m="http://schemas.openxmlformats.org/officeDocument/2006/math">
                    <m:func>
                      <m:funcPr>
                        <m:ctrlPr>
                          <a:rPr lang="en-US" altLang="zh-CN" sz="2000" i="1" smtClean="0">
                            <a:latin typeface="Cambria Math" panose="02040503050406030204" pitchFamily="18" charset="0"/>
                          </a:rPr>
                        </m:ctrlPr>
                      </m:funcPr>
                      <m:fName>
                        <m:r>
                          <m:rPr>
                            <m:sty m:val="p"/>
                          </m:rPr>
                          <a:rPr lang="en-US" altLang="zh-CN" sz="2000" i="1">
                            <a:latin typeface="Cambria Math" panose="02040503050406030204" pitchFamily="18" charset="0"/>
                          </a:rPr>
                          <m:t>min</m:t>
                        </m:r>
                      </m:fName>
                      <m:e>
                        <m:r>
                          <a:rPr lang="en-US" altLang="zh-CN" sz="2000" i="1">
                            <a:latin typeface="Cambria Math" panose="02040503050406030204" pitchFamily="18" charset="0"/>
                          </a:rPr>
                          <m:t>𝑧</m:t>
                        </m:r>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2</m:t>
                            </m:r>
                          </m:sub>
                        </m:sSub>
                      </m:e>
                    </m:func>
                    <m:r>
                      <a:rPr lang="en-US" altLang="zh-CN" sz="2000" b="0" i="1" smtClean="0">
                        <a:latin typeface="Cambria Math" panose="02040503050406030204" pitchFamily="18" charset="0"/>
                      </a:rPr>
                      <m:t>⇔</m:t>
                    </m:r>
                    <m:func>
                      <m:funcPr>
                        <m:ctrlPr>
                          <a:rPr lang="en-US" altLang="zh-CN" sz="2000" b="0" i="1" smtClean="0">
                            <a:latin typeface="Cambria Math" panose="02040503050406030204" pitchFamily="18" charset="0"/>
                          </a:rPr>
                        </m:ctrlPr>
                      </m:funcPr>
                      <m:fName>
                        <m:r>
                          <m:rPr>
                            <m:sty m:val="p"/>
                          </m:rPr>
                          <a:rPr lang="en-US" altLang="zh-CN" sz="2000" b="0" i="0" smtClean="0">
                            <a:latin typeface="Cambria Math" panose="02040503050406030204" pitchFamily="18" charset="0"/>
                          </a:rPr>
                          <m:t>max</m:t>
                        </m:r>
                      </m:fName>
                      <m:e>
                        <m:r>
                          <a:rPr lang="en-US" altLang="zh-CN" sz="2000" b="0" i="1" smtClean="0">
                            <a:latin typeface="Cambria Math" panose="02040503050406030204" pitchFamily="18" charset="0"/>
                          </a:rPr>
                          <m:t>𝑧</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2</m:t>
                            </m:r>
                          </m:sub>
                        </m:sSub>
                      </m:e>
                    </m:func>
                  </m:oMath>
                </a14:m>
                <a:endParaRPr lang="en-US" altLang="zh-CN" sz="2000" dirty="0"/>
              </a:p>
              <a:p>
                <a14:m>
                  <m:oMath xmlns:m="http://schemas.openxmlformats.org/officeDocument/2006/math">
                    <m:r>
                      <a:rPr lang="en-US" altLang="zh-CN" sz="2000" i="1">
                        <a:latin typeface="Cambria Math" panose="02040503050406030204" pitchFamily="18" charset="0"/>
                      </a:rPr>
                      <m:t>𝑠</m:t>
                    </m:r>
                    <m:r>
                      <a:rPr lang="en-US" altLang="zh-CN" sz="2000" i="1">
                        <a:latin typeface="Cambria Math" panose="02040503050406030204" pitchFamily="18" charset="0"/>
                      </a:rPr>
                      <m:t>.</m:t>
                    </m:r>
                    <m:r>
                      <a:rPr lang="en-US" altLang="zh-CN" sz="2000" i="1">
                        <a:latin typeface="Cambria Math" panose="02040503050406030204" pitchFamily="18" charset="0"/>
                      </a:rPr>
                      <m:t>𝑡</m:t>
                    </m:r>
                    <m:r>
                      <a:rPr lang="en-US" altLang="zh-CN" sz="2000" i="1">
                        <a:latin typeface="Cambria Math" panose="02040503050406030204" pitchFamily="18" charset="0"/>
                      </a:rPr>
                      <m:t>. </m:t>
                    </m:r>
                    <m:d>
                      <m:dPr>
                        <m:begChr m:val="{"/>
                        <m:endChr m:val=""/>
                        <m:ctrlPr>
                          <a:rPr lang="en-US" altLang="zh-CN" sz="2000" i="1">
                            <a:latin typeface="Cambria Math" panose="02040503050406030204" pitchFamily="18" charset="0"/>
                          </a:rPr>
                        </m:ctrlPr>
                      </m:dPr>
                      <m:e>
                        <m:m>
                          <m:mPr>
                            <m:mcs>
                              <m:mc>
                                <m:mcPr>
                                  <m:count m:val="1"/>
                                  <m:mcJc m:val="center"/>
                                </m:mcPr>
                              </m:mc>
                            </m:mcs>
                            <m:ctrlPr>
                              <a:rPr lang="en-US" altLang="zh-CN" sz="2000" i="1">
                                <a:latin typeface="Cambria Math" panose="02040503050406030204" pitchFamily="18" charset="0"/>
                              </a:rPr>
                            </m:ctrlPr>
                          </m:mPr>
                          <m:m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2</m:t>
                                  </m:r>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1</m:t>
                                  </m:r>
                                </m:sub>
                              </m:sSub>
                              <m:r>
                                <m:rPr>
                                  <m:brk m:alnAt="7"/>
                                </m:rP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3</m:t>
                                  </m:r>
                                </m:sub>
                              </m:sSub>
                              <m:r>
                                <a:rPr lang="en-US" altLang="zh-CN" sz="2000" i="1">
                                  <a:latin typeface="Cambria Math" panose="02040503050406030204" pitchFamily="18" charset="0"/>
                                </a:rPr>
                                <m:t>=12</m:t>
                              </m:r>
                            </m:e>
                          </m:mr>
                          <m:mr>
                            <m:e>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1</m:t>
                                  </m:r>
                                </m:sub>
                              </m:sSub>
                              <m:r>
                                <m:rPr>
                                  <m:brk m:alnAt="7"/>
                                </m:rPr>
                                <a:rPr lang="en-US" altLang="zh-CN" sz="2000" i="1">
                                  <a:latin typeface="Cambria Math" panose="02040503050406030204" pitchFamily="18" charset="0"/>
                                </a:rPr>
                                <m:t>+</m:t>
                              </m:r>
                              <m:r>
                                <a:rPr lang="en-US" altLang="zh-CN" sz="2000" i="1">
                                  <a:latin typeface="Cambria Math" panose="02040503050406030204" pitchFamily="18" charset="0"/>
                                </a:rPr>
                                <m:t>2</m:t>
                              </m:r>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4</m:t>
                                  </m:r>
                                </m:sub>
                              </m:sSub>
                              <m:r>
                                <a:rPr lang="en-US" altLang="zh-CN" sz="2000" i="1">
                                  <a:latin typeface="Cambria Math" panose="02040503050406030204" pitchFamily="18" charset="0"/>
                                </a:rPr>
                                <m:t>=9</m:t>
                              </m:r>
                            </m:e>
                          </m:mr>
                          <m:m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3</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4</m:t>
                                  </m:r>
                                </m:sub>
                              </m:sSub>
                              <m:r>
                                <a:rPr lang="en-US" altLang="zh-CN" sz="2000" i="1">
                                  <a:latin typeface="Cambria Math" panose="02040503050406030204" pitchFamily="18" charset="0"/>
                                </a:rPr>
                                <m:t>≥0</m:t>
                              </m:r>
                            </m:e>
                          </m:mr>
                        </m:m>
                      </m:e>
                    </m:d>
                  </m:oMath>
                </a14:m>
                <a:endParaRPr lang="zh-CN" altLang="en-US" sz="2000" dirty="0"/>
              </a:p>
            </p:txBody>
          </p:sp>
        </mc:Choice>
        <mc:Fallback xmlns="">
          <p:sp>
            <p:nvSpPr>
              <p:cNvPr id="4" name="内容占位符 2">
                <a:extLst>
                  <a:ext uri="{FF2B5EF4-FFF2-40B4-BE49-F238E27FC236}">
                    <a16:creationId xmlns:a16="http://schemas.microsoft.com/office/drawing/2014/main" id="{C7B6268C-5FCC-4113-8617-239BAFBF4110}"/>
                  </a:ext>
                </a:extLst>
              </p:cNvPr>
              <p:cNvSpPr txBox="1">
                <a:spLocks noRot="1" noChangeAspect="1" noMove="1" noResize="1" noEditPoints="1" noAdjustHandles="1" noChangeArrowheads="1" noChangeShapeType="1" noTextEdit="1"/>
              </p:cNvSpPr>
              <p:nvPr/>
            </p:nvSpPr>
            <p:spPr>
              <a:xfrm>
                <a:off x="595998" y="1239309"/>
                <a:ext cx="4637853" cy="1460348"/>
              </a:xfrm>
              <a:prstGeom prst="rect">
                <a:avLst/>
              </a:prstGeom>
              <a:blipFill>
                <a:blip r:embed="rId2"/>
                <a:stretch>
                  <a:fillRect l="-1183" t="-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30B025A8-B6D2-4067-A3A2-DFA9AC711484}"/>
                  </a:ext>
                </a:extLst>
              </p:cNvPr>
              <p:cNvSpPr txBox="1">
                <a:spLocks/>
              </p:cNvSpPr>
              <p:nvPr/>
            </p:nvSpPr>
            <p:spPr>
              <a:xfrm>
                <a:off x="595998" y="2623972"/>
                <a:ext cx="4637853" cy="146034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14:m>
                  <m:oMath xmlns:m="http://schemas.openxmlformats.org/officeDocument/2006/math">
                    <m:r>
                      <a:rPr lang="en-US" altLang="zh-CN" sz="2000" i="1">
                        <a:latin typeface="Cambria Math" panose="02040503050406030204" pitchFamily="18" charset="0"/>
                      </a:rPr>
                      <m:t>𝑠</m:t>
                    </m:r>
                    <m:r>
                      <a:rPr lang="en-US" altLang="zh-CN" sz="2000" i="1">
                        <a:latin typeface="Cambria Math" panose="02040503050406030204" pitchFamily="18" charset="0"/>
                      </a:rPr>
                      <m:t>.</m:t>
                    </m:r>
                    <m:r>
                      <a:rPr lang="en-US" altLang="zh-CN" sz="2000" i="1">
                        <a:latin typeface="Cambria Math" panose="02040503050406030204" pitchFamily="18" charset="0"/>
                      </a:rPr>
                      <m:t>𝑡</m:t>
                    </m:r>
                    <m:r>
                      <a:rPr lang="en-US" altLang="zh-CN" sz="2000" i="1">
                        <a:latin typeface="Cambria Math" panose="02040503050406030204" pitchFamily="18" charset="0"/>
                      </a:rPr>
                      <m:t>. </m:t>
                    </m:r>
                    <m:d>
                      <m:dPr>
                        <m:begChr m:val="{"/>
                        <m:endChr m:val=""/>
                        <m:ctrlPr>
                          <a:rPr lang="en-US" altLang="zh-CN" sz="2000" i="1">
                            <a:latin typeface="Cambria Math" panose="02040503050406030204" pitchFamily="18" charset="0"/>
                          </a:rPr>
                        </m:ctrlPr>
                      </m:dPr>
                      <m:e>
                        <m:m>
                          <m:mPr>
                            <m:mcs>
                              <m:mc>
                                <m:mcPr>
                                  <m:count m:val="1"/>
                                  <m:mcJc m:val="center"/>
                                </m:mcPr>
                              </m:mc>
                            </m:mcs>
                            <m:ctrlPr>
                              <a:rPr lang="en-US" altLang="zh-CN" sz="2000" i="1">
                                <a:latin typeface="Cambria Math" panose="02040503050406030204" pitchFamily="18" charset="0"/>
                              </a:rPr>
                            </m:ctrlPr>
                          </m:mPr>
                          <m:m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2</m:t>
                                  </m:r>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1</m:t>
                                  </m:r>
                                </m:sub>
                              </m:sSub>
                              <m:r>
                                <m:rPr>
                                  <m:brk m:alnAt="7"/>
                                </m:rP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3</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5</m:t>
                                  </m:r>
                                </m:sub>
                              </m:sSub>
                              <m:r>
                                <a:rPr lang="en-US" altLang="zh-CN" sz="2000" i="1">
                                  <a:latin typeface="Cambria Math" panose="02040503050406030204" pitchFamily="18" charset="0"/>
                                </a:rPr>
                                <m:t>=12</m:t>
                              </m:r>
                            </m:e>
                          </m:mr>
                          <m:mr>
                            <m:e>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1</m:t>
                                  </m:r>
                                </m:sub>
                              </m:sSub>
                              <m:r>
                                <m:rPr>
                                  <m:brk m:alnAt="7"/>
                                </m:rPr>
                                <a:rPr lang="en-US" altLang="zh-CN" sz="2000" i="1">
                                  <a:latin typeface="Cambria Math" panose="02040503050406030204" pitchFamily="18" charset="0"/>
                                </a:rPr>
                                <m:t>+</m:t>
                              </m:r>
                              <m:r>
                                <a:rPr lang="en-US" altLang="zh-CN" sz="2000" i="1">
                                  <a:latin typeface="Cambria Math" panose="02040503050406030204" pitchFamily="18" charset="0"/>
                                </a:rPr>
                                <m:t>2</m:t>
                              </m:r>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4</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6</m:t>
                                  </m:r>
                                </m:sub>
                              </m:sSub>
                              <m:r>
                                <a:rPr lang="en-US" altLang="zh-CN" sz="2000" i="1">
                                  <a:latin typeface="Cambria Math" panose="02040503050406030204" pitchFamily="18" charset="0"/>
                                </a:rPr>
                                <m:t>=9</m:t>
                              </m:r>
                            </m:e>
                          </m:mr>
                          <m:m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3</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4</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5</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6</m:t>
                                  </m:r>
                                </m:sub>
                              </m:sSub>
                              <m:r>
                                <a:rPr lang="en-US" altLang="zh-CN" sz="2000" i="1">
                                  <a:latin typeface="Cambria Math" panose="02040503050406030204" pitchFamily="18" charset="0"/>
                                </a:rPr>
                                <m:t>≥0</m:t>
                              </m:r>
                            </m:e>
                          </m:mr>
                        </m:m>
                      </m:e>
                    </m:d>
                  </m:oMath>
                </a14:m>
                <a:endParaRPr lang="zh-CN" altLang="en-US" sz="2000" dirty="0"/>
              </a:p>
            </p:txBody>
          </p:sp>
        </mc:Choice>
        <mc:Fallback xmlns="">
          <p:sp>
            <p:nvSpPr>
              <p:cNvPr id="5" name="内容占位符 2">
                <a:extLst>
                  <a:ext uri="{FF2B5EF4-FFF2-40B4-BE49-F238E27FC236}">
                    <a16:creationId xmlns:a16="http://schemas.microsoft.com/office/drawing/2014/main" id="{30B025A8-B6D2-4067-A3A2-DFA9AC711484}"/>
                  </a:ext>
                </a:extLst>
              </p:cNvPr>
              <p:cNvSpPr txBox="1">
                <a:spLocks noRot="1" noChangeAspect="1" noMove="1" noResize="1" noEditPoints="1" noAdjustHandles="1" noChangeArrowheads="1" noChangeShapeType="1" noTextEdit="1"/>
              </p:cNvSpPr>
              <p:nvPr/>
            </p:nvSpPr>
            <p:spPr>
              <a:xfrm>
                <a:off x="595998" y="2623972"/>
                <a:ext cx="4637853" cy="146034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603F518C-DC37-4EA1-81B6-5A14E3A5FC14}"/>
                  </a:ext>
                </a:extLst>
              </p:cNvPr>
              <p:cNvSpPr txBox="1">
                <a:spLocks/>
              </p:cNvSpPr>
              <p:nvPr/>
            </p:nvSpPr>
            <p:spPr>
              <a:xfrm>
                <a:off x="595998" y="4015196"/>
                <a:ext cx="4637853" cy="146034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14:m>
                  <m:oMath xmlns:m="http://schemas.openxmlformats.org/officeDocument/2006/math">
                    <m:func>
                      <m:funcPr>
                        <m:ctrlPr>
                          <a:rPr lang="en-US" altLang="zh-CN" sz="2000" b="0" i="1" smtClean="0">
                            <a:latin typeface="Cambria Math" panose="02040503050406030204" pitchFamily="18" charset="0"/>
                          </a:rPr>
                        </m:ctrlPr>
                      </m:funcPr>
                      <m:fName>
                        <m:r>
                          <m:rPr>
                            <m:sty m:val="p"/>
                          </m:rPr>
                          <a:rPr lang="en-US" altLang="zh-CN" sz="2000" b="0" i="0" smtClean="0">
                            <a:latin typeface="Cambria Math" panose="02040503050406030204" pitchFamily="18" charset="0"/>
                          </a:rPr>
                          <m:t>min</m:t>
                        </m:r>
                      </m:fName>
                      <m:e>
                        <m:r>
                          <a:rPr lang="en-US" altLang="zh-CN" sz="2000" b="0" i="1" smtClean="0">
                            <a:latin typeface="Cambria Math" panose="02040503050406030204" pitchFamily="18" charset="0"/>
                          </a:rPr>
                          <m:t>𝜔</m:t>
                        </m:r>
                        <m:r>
                          <a:rPr lang="en-US" altLang="zh-CN" sz="2000" b="0" i="1" smtClean="0">
                            <a:latin typeface="Cambria Math" panose="02040503050406030204" pitchFamily="18" charset="0"/>
                          </a:rPr>
                          <m:t>=</m:t>
                        </m:r>
                      </m:e>
                    </m:func>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5</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6</m:t>
                        </m:r>
                      </m:sub>
                    </m:sSub>
                  </m:oMath>
                </a14:m>
                <a:r>
                  <a:rPr lang="en-US" altLang="zh-CN" sz="2000" dirty="0"/>
                  <a:t> </a:t>
                </a:r>
                <a14:m>
                  <m:oMath xmlns:m="http://schemas.openxmlformats.org/officeDocument/2006/math">
                    <m:r>
                      <a:rPr lang="en-US" altLang="zh-CN" sz="2000" i="1">
                        <a:latin typeface="Cambria Math" panose="02040503050406030204" pitchFamily="18" charset="0"/>
                      </a:rPr>
                      <m:t>⇔</m:t>
                    </m:r>
                    <m:func>
                      <m:funcPr>
                        <m:ctrlPr>
                          <a:rPr lang="en-US" altLang="zh-CN" sz="2000" i="1">
                            <a:latin typeface="Cambria Math" panose="02040503050406030204" pitchFamily="18" charset="0"/>
                          </a:rPr>
                        </m:ctrlPr>
                      </m:funcPr>
                      <m:fName>
                        <m:r>
                          <m:rPr>
                            <m:sty m:val="p"/>
                          </m:rPr>
                          <a:rPr lang="en-US" altLang="zh-CN" sz="2000">
                            <a:latin typeface="Cambria Math" panose="02040503050406030204" pitchFamily="18" charset="0"/>
                          </a:rPr>
                          <m:t>max</m:t>
                        </m:r>
                      </m:fName>
                      <m:e>
                        <m:r>
                          <a:rPr lang="en-US" altLang="zh-CN" sz="2000" i="1">
                            <a:latin typeface="Cambria Math" panose="02040503050406030204" pitchFamily="18" charset="0"/>
                          </a:rPr>
                          <m:t>𝜔</m:t>
                        </m:r>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5</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6</m:t>
                            </m:r>
                          </m:sub>
                        </m:sSub>
                      </m:e>
                    </m:func>
                  </m:oMath>
                </a14:m>
                <a:endParaRPr lang="en-US" altLang="zh-CN" sz="2000" dirty="0"/>
              </a:p>
              <a:p>
                <a14:m>
                  <m:oMath xmlns:m="http://schemas.openxmlformats.org/officeDocument/2006/math">
                    <m:r>
                      <a:rPr lang="en-US" altLang="zh-CN" sz="2000" i="1">
                        <a:latin typeface="Cambria Math" panose="02040503050406030204" pitchFamily="18" charset="0"/>
                      </a:rPr>
                      <m:t>𝑠</m:t>
                    </m:r>
                    <m:r>
                      <a:rPr lang="en-US" altLang="zh-CN" sz="2000" i="1">
                        <a:latin typeface="Cambria Math" panose="02040503050406030204" pitchFamily="18" charset="0"/>
                      </a:rPr>
                      <m:t>.</m:t>
                    </m:r>
                    <m:r>
                      <a:rPr lang="en-US" altLang="zh-CN" sz="2000" i="1">
                        <a:latin typeface="Cambria Math" panose="02040503050406030204" pitchFamily="18" charset="0"/>
                      </a:rPr>
                      <m:t>𝑡</m:t>
                    </m:r>
                    <m:r>
                      <a:rPr lang="en-US" altLang="zh-CN" sz="2000" i="1">
                        <a:latin typeface="Cambria Math" panose="02040503050406030204" pitchFamily="18" charset="0"/>
                      </a:rPr>
                      <m:t>. </m:t>
                    </m:r>
                    <m:d>
                      <m:dPr>
                        <m:begChr m:val="{"/>
                        <m:endChr m:val=""/>
                        <m:ctrlPr>
                          <a:rPr lang="en-US" altLang="zh-CN" sz="2000" i="1">
                            <a:latin typeface="Cambria Math" panose="02040503050406030204" pitchFamily="18" charset="0"/>
                          </a:rPr>
                        </m:ctrlPr>
                      </m:dPr>
                      <m:e>
                        <m:m>
                          <m:mPr>
                            <m:mcs>
                              <m:mc>
                                <m:mcPr>
                                  <m:count m:val="1"/>
                                  <m:mcJc m:val="center"/>
                                </m:mcPr>
                              </m:mc>
                            </m:mcs>
                            <m:ctrlPr>
                              <a:rPr lang="en-US" altLang="zh-CN" sz="2000" i="1">
                                <a:latin typeface="Cambria Math" panose="02040503050406030204" pitchFamily="18" charset="0"/>
                              </a:rPr>
                            </m:ctrlPr>
                          </m:mPr>
                          <m:m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2</m:t>
                                  </m:r>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1</m:t>
                                  </m:r>
                                </m:sub>
                              </m:sSub>
                              <m:r>
                                <m:rPr>
                                  <m:brk m:alnAt="7"/>
                                </m:rP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3</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5</m:t>
                                  </m:r>
                                </m:sub>
                              </m:sSub>
                              <m:r>
                                <a:rPr lang="en-US" altLang="zh-CN" sz="2000" i="1">
                                  <a:latin typeface="Cambria Math" panose="02040503050406030204" pitchFamily="18" charset="0"/>
                                </a:rPr>
                                <m:t>=12</m:t>
                              </m:r>
                            </m:e>
                          </m:mr>
                          <m:mr>
                            <m:e>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1</m:t>
                                  </m:r>
                                </m:sub>
                              </m:sSub>
                              <m:r>
                                <m:rPr>
                                  <m:brk m:alnAt="7"/>
                                </m:rPr>
                                <a:rPr lang="en-US" altLang="zh-CN" sz="2000" i="1">
                                  <a:latin typeface="Cambria Math" panose="02040503050406030204" pitchFamily="18" charset="0"/>
                                </a:rPr>
                                <m:t>+</m:t>
                              </m:r>
                              <m:r>
                                <a:rPr lang="en-US" altLang="zh-CN" sz="2000" i="1">
                                  <a:latin typeface="Cambria Math" panose="02040503050406030204" pitchFamily="18" charset="0"/>
                                </a:rPr>
                                <m:t>2</m:t>
                              </m:r>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4</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6</m:t>
                                  </m:r>
                                </m:sub>
                              </m:sSub>
                              <m:r>
                                <a:rPr lang="en-US" altLang="zh-CN" sz="2000" i="1">
                                  <a:latin typeface="Cambria Math" panose="02040503050406030204" pitchFamily="18" charset="0"/>
                                </a:rPr>
                                <m:t>=9</m:t>
                              </m:r>
                            </m:e>
                          </m:mr>
                          <m:m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3</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4</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5</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6</m:t>
                                  </m:r>
                                </m:sub>
                              </m:sSub>
                              <m:r>
                                <a:rPr lang="en-US" altLang="zh-CN" sz="2000" i="1">
                                  <a:latin typeface="Cambria Math" panose="02040503050406030204" pitchFamily="18" charset="0"/>
                                </a:rPr>
                                <m:t>≥0</m:t>
                              </m:r>
                            </m:e>
                          </m:mr>
                        </m:m>
                      </m:e>
                    </m:d>
                  </m:oMath>
                </a14:m>
                <a:endParaRPr lang="zh-CN" altLang="en-US" sz="2000" dirty="0"/>
              </a:p>
            </p:txBody>
          </p:sp>
        </mc:Choice>
        <mc:Fallback xmlns="">
          <p:sp>
            <p:nvSpPr>
              <p:cNvPr id="6" name="内容占位符 2">
                <a:extLst>
                  <a:ext uri="{FF2B5EF4-FFF2-40B4-BE49-F238E27FC236}">
                    <a16:creationId xmlns:a16="http://schemas.microsoft.com/office/drawing/2014/main" id="{603F518C-DC37-4EA1-81B6-5A14E3A5FC14}"/>
                  </a:ext>
                </a:extLst>
              </p:cNvPr>
              <p:cNvSpPr txBox="1">
                <a:spLocks noRot="1" noChangeAspect="1" noMove="1" noResize="1" noEditPoints="1" noAdjustHandles="1" noChangeArrowheads="1" noChangeShapeType="1" noTextEdit="1"/>
              </p:cNvSpPr>
              <p:nvPr/>
            </p:nvSpPr>
            <p:spPr>
              <a:xfrm>
                <a:off x="595998" y="4015196"/>
                <a:ext cx="4637853" cy="1460348"/>
              </a:xfrm>
              <a:prstGeom prst="rect">
                <a:avLst/>
              </a:prstGeom>
              <a:blipFill>
                <a:blip r:embed="rId4"/>
                <a:stretch>
                  <a:fillRect l="-1183" t="-2929"/>
                </a:stretch>
              </a:blipFill>
            </p:spPr>
            <p:txBody>
              <a:bodyPr/>
              <a:lstStyle/>
              <a:p>
                <a:r>
                  <a:rPr lang="zh-CN" altLang="en-US">
                    <a:noFill/>
                  </a:rPr>
                  <a:t> </a:t>
                </a:r>
              </a:p>
            </p:txBody>
          </p:sp>
        </mc:Fallback>
      </mc:AlternateContent>
      <p:sp>
        <p:nvSpPr>
          <p:cNvPr id="7" name="箭头: 右 6">
            <a:extLst>
              <a:ext uri="{FF2B5EF4-FFF2-40B4-BE49-F238E27FC236}">
                <a16:creationId xmlns:a16="http://schemas.microsoft.com/office/drawing/2014/main" id="{BF106927-9A97-461C-9628-81955AC421F8}"/>
              </a:ext>
            </a:extLst>
          </p:cNvPr>
          <p:cNvSpPr/>
          <p:nvPr/>
        </p:nvSpPr>
        <p:spPr>
          <a:xfrm rot="5400000">
            <a:off x="2348049" y="3657887"/>
            <a:ext cx="313508" cy="32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右 7">
            <a:extLst>
              <a:ext uri="{FF2B5EF4-FFF2-40B4-BE49-F238E27FC236}">
                <a16:creationId xmlns:a16="http://schemas.microsoft.com/office/drawing/2014/main" id="{3451B852-62EA-47DD-BD3F-D89E923A0EAA}"/>
              </a:ext>
            </a:extLst>
          </p:cNvPr>
          <p:cNvSpPr/>
          <p:nvPr/>
        </p:nvSpPr>
        <p:spPr>
          <a:xfrm>
            <a:off x="4807131" y="4683064"/>
            <a:ext cx="426720" cy="3657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5391EA7F-3B2A-4EAB-8C0C-76AB9F8963DF}"/>
              </a:ext>
            </a:extLst>
          </p:cNvPr>
          <p:cNvSpPr txBox="1"/>
          <p:nvPr/>
        </p:nvSpPr>
        <p:spPr>
          <a:xfrm>
            <a:off x="5312229" y="4542778"/>
            <a:ext cx="2492990" cy="646331"/>
          </a:xfrm>
          <a:prstGeom prst="rect">
            <a:avLst/>
          </a:prstGeom>
          <a:noFill/>
        </p:spPr>
        <p:txBody>
          <a:bodyPr wrap="none" rtlCol="0">
            <a:spAutoFit/>
          </a:bodyPr>
          <a:lstStyle/>
          <a:p>
            <a:r>
              <a:rPr lang="zh-CN" altLang="en-US" dirty="0"/>
              <a:t>求解这个线性规划问题</a:t>
            </a:r>
            <a:endParaRPr lang="en-US" altLang="zh-CN" dirty="0"/>
          </a:p>
          <a:p>
            <a:r>
              <a:rPr lang="zh-CN" altLang="en-US" dirty="0"/>
              <a:t>找到初始基可行解</a:t>
            </a:r>
          </a:p>
        </p:txBody>
      </p:sp>
    </p:spTree>
    <p:extLst>
      <p:ext uri="{BB962C8B-B14F-4D97-AF65-F5344CB8AC3E}">
        <p14:creationId xmlns:p14="http://schemas.microsoft.com/office/powerpoint/2010/main" val="16052099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BEFFEE84-B63C-47F6-B6A2-CF912FD59473}"/>
                  </a:ext>
                </a:extLst>
              </p:cNvPr>
              <p:cNvGraphicFramePr>
                <a:graphicFrameLocks noGrp="1"/>
              </p:cNvGraphicFramePr>
              <p:nvPr>
                <p:extLst>
                  <p:ext uri="{D42A27DB-BD31-4B8C-83A1-F6EECF244321}">
                    <p14:modId xmlns:p14="http://schemas.microsoft.com/office/powerpoint/2010/main" val="1994007284"/>
                  </p:ext>
                </p:extLst>
              </p:nvPr>
            </p:nvGraphicFramePr>
            <p:xfrm>
              <a:off x="367665" y="609038"/>
              <a:ext cx="8408670" cy="1996948"/>
            </p:xfrm>
            <a:graphic>
              <a:graphicData uri="http://schemas.openxmlformats.org/drawingml/2006/table">
                <a:tbl>
                  <a:tblPr firstRow="1" bandRow="1">
                    <a:tableStyleId>{5C22544A-7EE6-4342-B048-85BDC9FD1C3A}</a:tableStyleId>
                  </a:tblPr>
                  <a:tblGrid>
                    <a:gridCol w="840867">
                      <a:extLst>
                        <a:ext uri="{9D8B030D-6E8A-4147-A177-3AD203B41FA5}">
                          <a16:colId xmlns:a16="http://schemas.microsoft.com/office/drawing/2014/main" val="3775034011"/>
                        </a:ext>
                      </a:extLst>
                    </a:gridCol>
                    <a:gridCol w="840867">
                      <a:extLst>
                        <a:ext uri="{9D8B030D-6E8A-4147-A177-3AD203B41FA5}">
                          <a16:colId xmlns:a16="http://schemas.microsoft.com/office/drawing/2014/main" val="1586977620"/>
                        </a:ext>
                      </a:extLst>
                    </a:gridCol>
                    <a:gridCol w="840867">
                      <a:extLst>
                        <a:ext uri="{9D8B030D-6E8A-4147-A177-3AD203B41FA5}">
                          <a16:colId xmlns:a16="http://schemas.microsoft.com/office/drawing/2014/main" val="2459346512"/>
                        </a:ext>
                      </a:extLst>
                    </a:gridCol>
                    <a:gridCol w="840867">
                      <a:extLst>
                        <a:ext uri="{9D8B030D-6E8A-4147-A177-3AD203B41FA5}">
                          <a16:colId xmlns:a16="http://schemas.microsoft.com/office/drawing/2014/main" val="1426368105"/>
                        </a:ext>
                      </a:extLst>
                    </a:gridCol>
                    <a:gridCol w="840867">
                      <a:extLst>
                        <a:ext uri="{9D8B030D-6E8A-4147-A177-3AD203B41FA5}">
                          <a16:colId xmlns:a16="http://schemas.microsoft.com/office/drawing/2014/main" val="1783729747"/>
                        </a:ext>
                      </a:extLst>
                    </a:gridCol>
                    <a:gridCol w="840867">
                      <a:extLst>
                        <a:ext uri="{9D8B030D-6E8A-4147-A177-3AD203B41FA5}">
                          <a16:colId xmlns:a16="http://schemas.microsoft.com/office/drawing/2014/main" val="3541072806"/>
                        </a:ext>
                      </a:extLst>
                    </a:gridCol>
                    <a:gridCol w="840867">
                      <a:extLst>
                        <a:ext uri="{9D8B030D-6E8A-4147-A177-3AD203B41FA5}">
                          <a16:colId xmlns:a16="http://schemas.microsoft.com/office/drawing/2014/main" val="1037422741"/>
                        </a:ext>
                      </a:extLst>
                    </a:gridCol>
                    <a:gridCol w="840867">
                      <a:extLst>
                        <a:ext uri="{9D8B030D-6E8A-4147-A177-3AD203B41FA5}">
                          <a16:colId xmlns:a16="http://schemas.microsoft.com/office/drawing/2014/main" val="691002581"/>
                        </a:ext>
                      </a:extLst>
                    </a:gridCol>
                    <a:gridCol w="840867">
                      <a:extLst>
                        <a:ext uri="{9D8B030D-6E8A-4147-A177-3AD203B41FA5}">
                          <a16:colId xmlns:a16="http://schemas.microsoft.com/office/drawing/2014/main" val="2707926419"/>
                        </a:ext>
                      </a:extLst>
                    </a:gridCol>
                    <a:gridCol w="840867">
                      <a:extLst>
                        <a:ext uri="{9D8B030D-6E8A-4147-A177-3AD203B41FA5}">
                          <a16:colId xmlns:a16="http://schemas.microsoft.com/office/drawing/2014/main" val="3359340276"/>
                        </a:ext>
                      </a:extLst>
                    </a:gridCol>
                  </a:tblGrid>
                  <a:tr h="313958">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6">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b="1" i="1" smtClean="0">
                                        <a:solidFill>
                                          <a:schemeClr val="bg1"/>
                                        </a:solidFill>
                                        <a:latin typeface="Cambria Math" panose="02040503050406030204" pitchFamily="18" charset="0"/>
                                      </a:rPr>
                                    </m:ctrlPr>
                                  </m:sSupPr>
                                  <m:e>
                                    <m:acc>
                                      <m:accPr>
                                        <m:chr m:val="⃗"/>
                                        <m:ctrlPr>
                                          <a:rPr lang="en-US" altLang="zh-CN" sz="2000" b="1" i="1" smtClean="0">
                                            <a:solidFill>
                                              <a:schemeClr val="bg1"/>
                                            </a:solidFill>
                                            <a:latin typeface="Cambria Math" panose="02040503050406030204" pitchFamily="18" charset="0"/>
                                          </a:rPr>
                                        </m:ctrlPr>
                                      </m:accPr>
                                      <m:e>
                                        <m:r>
                                          <a:rPr lang="en-US" altLang="zh-CN" sz="2000" b="1" i="1" smtClean="0">
                                            <a:solidFill>
                                              <a:schemeClr val="bg1"/>
                                            </a:solidFill>
                                            <a:latin typeface="Cambria Math" panose="02040503050406030204" pitchFamily="18" charset="0"/>
                                          </a:rPr>
                                          <m:t>𝒄</m:t>
                                        </m:r>
                                      </m:e>
                                    </m:acc>
                                  </m:e>
                                  <m:sup>
                                    <m:r>
                                      <a:rPr lang="en-US" altLang="zh-CN" sz="2000" b="1" i="1" smtClean="0">
                                        <a:solidFill>
                                          <a:schemeClr val="bg1"/>
                                        </a:solidFill>
                                        <a:latin typeface="Cambria Math" panose="02040503050406030204" pitchFamily="18" charset="0"/>
                                      </a:rPr>
                                      <m:t>𝑻</m:t>
                                    </m:r>
                                  </m:sup>
                                </m:sSup>
                              </m:oMath>
                            </m:oMathPara>
                          </a14:m>
                          <a:endParaRPr lang="zh-CN" altLang="en-US" sz="2000" b="1" dirty="0"/>
                        </a:p>
                      </a:txBody>
                      <a:tcPr anchor="ct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𝒙</m:t>
                                        </m:r>
                                      </m:e>
                                    </m:acc>
                                  </m:e>
                                  <m:sub>
                                    <m:r>
                                      <a:rPr lang="en-US" altLang="zh-CN" sz="2000" b="1" i="1" smtClean="0">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solidFill>
                                          <a:schemeClr val="tx1"/>
                                        </a:solidFill>
                                        <a:latin typeface="Cambria Math" panose="02040503050406030204" pitchFamily="18" charset="0"/>
                                      </a:rPr>
                                    </m:ctrlPr>
                                  </m:sSubPr>
                                  <m:e>
                                    <m:acc>
                                      <m:accPr>
                                        <m:chr m:val="⃗"/>
                                        <m:ctrlPr>
                                          <a:rPr lang="en-US" altLang="zh-CN" sz="2000" b="1" i="1" smtClean="0">
                                            <a:solidFill>
                                              <a:schemeClr val="tx1"/>
                                            </a:solidFill>
                                            <a:latin typeface="Cambria Math" panose="02040503050406030204" pitchFamily="18" charset="0"/>
                                          </a:rPr>
                                        </m:ctrlPr>
                                      </m:accPr>
                                      <m:e>
                                        <m:r>
                                          <a:rPr lang="en-US" altLang="zh-CN" sz="2000" b="1" i="1" smtClean="0">
                                            <a:solidFill>
                                              <a:schemeClr val="tx1"/>
                                            </a:solidFill>
                                            <a:latin typeface="Cambria Math" panose="02040503050406030204" pitchFamily="18" charset="0"/>
                                          </a:rPr>
                                          <m:t>𝒄</m:t>
                                        </m:r>
                                      </m:e>
                                    </m:acc>
                                  </m:e>
                                  <m:sub>
                                    <m:r>
                                      <a:rPr lang="en-US" altLang="zh-CN" sz="2000" b="1" i="1" smtClean="0">
                                        <a:solidFill>
                                          <a:schemeClr val="tx1"/>
                                        </a:solidFill>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CN" sz="1800" b="1" i="1" smtClean="0">
                                        <a:solidFill>
                                          <a:sysClr val="windowText" lastClr="000000"/>
                                        </a:solidFill>
                                        <a:latin typeface="Cambria Math" panose="02040503050406030204" pitchFamily="18" charset="0"/>
                                      </a:rPr>
                                    </m:ctrlPr>
                                  </m:sSupPr>
                                  <m:e>
                                    <m:r>
                                      <a:rPr lang="en-US" altLang="zh-CN" sz="1800" b="1" i="1" smtClean="0">
                                        <a:solidFill>
                                          <a:sysClr val="windowText" lastClr="000000"/>
                                        </a:solidFill>
                                        <a:latin typeface="Cambria Math" panose="02040503050406030204" pitchFamily="18" charset="0"/>
                                      </a:rPr>
                                      <m:t>𝑩</m:t>
                                    </m:r>
                                  </m:e>
                                  <m:sup>
                                    <m:r>
                                      <a:rPr lang="en-US" altLang="zh-CN" sz="1800" b="1" i="1" smtClean="0">
                                        <a:solidFill>
                                          <a:sysClr val="windowText" lastClr="000000"/>
                                        </a:solidFill>
                                        <a:latin typeface="Cambria Math" panose="02040503050406030204" pitchFamily="18" charset="0"/>
                                      </a:rPr>
                                      <m:t>−</m:t>
                                    </m:r>
                                    <m:r>
                                      <a:rPr lang="en-US" altLang="zh-CN" sz="1800" b="1" i="1" smtClean="0">
                                        <a:solidFill>
                                          <a:sysClr val="windowText" lastClr="000000"/>
                                        </a:solidFill>
                                        <a:latin typeface="Cambria Math" panose="02040503050406030204" pitchFamily="18" charset="0"/>
                                      </a:rPr>
                                      <m:t>𝟏</m:t>
                                    </m:r>
                                  </m:sup>
                                </m:sSup>
                                <m:acc>
                                  <m:accPr>
                                    <m:chr m:val="⃗"/>
                                    <m:ctrlPr>
                                      <a:rPr lang="en-US" altLang="zh-CN" sz="1800" b="1" i="1">
                                        <a:solidFill>
                                          <a:sysClr val="windowText" lastClr="000000"/>
                                        </a:solidFill>
                                        <a:latin typeface="Cambria Math" panose="02040503050406030204" pitchFamily="18" charset="0"/>
                                      </a:rPr>
                                    </m:ctrlPr>
                                  </m:accPr>
                                  <m:e>
                                    <m:r>
                                      <a:rPr lang="en-US" altLang="zh-CN" sz="1800" b="1" i="1" smtClean="0">
                                        <a:solidFill>
                                          <a:sysClr val="windowText" lastClr="000000"/>
                                        </a:solidFill>
                                        <a:latin typeface="Cambria Math" panose="02040503050406030204" pitchFamily="18" charset="0"/>
                                      </a:rPr>
                                      <m:t>𝒃</m:t>
                                    </m:r>
                                  </m:e>
                                </m:acc>
                              </m:oMath>
                            </m:oMathPara>
                          </a14:m>
                          <a:endParaRPr lang="zh-CN" altLang="en-US" sz="1600" b="1" dirty="0"/>
                        </a:p>
                      </a:txBody>
                      <a:tcPr anchor="ct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000" b="0" i="1" smtClean="0">
                                    <a:solidFill>
                                      <a:sysClr val="windowText" lastClr="000000"/>
                                    </a:solidFill>
                                    <a:latin typeface="Cambria Math" panose="02040503050406030204" pitchFamily="18" charset="0"/>
                                  </a:rPr>
                                  <m:t>𝜃</m:t>
                                </m:r>
                              </m:oMath>
                            </m:oMathPara>
                          </a14:m>
                          <a:endParaRPr lang="zh-CN" altLang="en-US" sz="2000" dirty="0">
                            <a:solidFill>
                              <a:sysClr val="windowText" lastClr="000000"/>
                            </a:solidFill>
                          </a:endParaRPr>
                        </a:p>
                      </a:txBody>
                      <a:tcPr anchor="ctr"/>
                    </a:tc>
                    <a:extLst>
                      <a:ext uri="{0D108BD9-81ED-4DB2-BD59-A6C34878D82A}">
                        <a16:rowId xmlns:a16="http://schemas.microsoft.com/office/drawing/2014/main" val="2237396716"/>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𝟓</m:t>
                                    </m:r>
                                  </m:sub>
                                </m:sSub>
                              </m:oMath>
                            </m:oMathPara>
                          </a14:m>
                          <a:endParaRPr lang="zh-CN" altLang="en-US" sz="2000" b="1" dirty="0"/>
                        </a:p>
                      </a:txBody>
                      <a:tcPr anchor="ct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12</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2</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highlight>
                                <a:srgbClr val="FFFF00"/>
                              </a:highlight>
                            </a:rPr>
                            <a:t>6</a:t>
                          </a:r>
                          <a:endParaRPr lang="zh-CN" altLang="en-US" sz="2000" b="1" dirty="0">
                            <a:highlight>
                              <a:srgbClr val="FFFF00"/>
                            </a:highlight>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𝟔</m:t>
                                    </m:r>
                                  </m:sub>
                                </m:sSub>
                              </m:oMath>
                            </m:oMathPara>
                          </a14:m>
                          <a:endParaRPr lang="zh-CN" altLang="en-US" sz="2000" b="1" dirty="0"/>
                        </a:p>
                      </a:txBody>
                      <a:tcPr anchor="ct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9</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2</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9</a:t>
                          </a: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2709">
                    <a:tc gridSpan="3">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i="1" smtClean="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𝜎</m:t>
                                        </m:r>
                                      </m:e>
                                    </m:acc>
                                  </m:e>
                                  <m:sup>
                                    <m:r>
                                      <a:rPr lang="en-US" altLang="zh-CN" sz="2000" i="1">
                                        <a:latin typeface="Cambria Math" panose="02040503050406030204" pitchFamily="18" charset="0"/>
                                      </a:rPr>
                                      <m:t>𝑇</m:t>
                                    </m:r>
                                  </m:sup>
                                </m:sSup>
                              </m:oMath>
                            </m:oMathPara>
                          </a14:m>
                          <a:endParaRPr lang="zh-CN" altLang="en-US" sz="2000" b="1" dirty="0"/>
                        </a:p>
                      </a:txBody>
                      <a:tcPr anchor="ct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2000" b="1" dirty="0">
                              <a:highlight>
                                <a:srgbClr val="FFFF00"/>
                              </a:highlight>
                            </a:rPr>
                            <a:t>3</a:t>
                          </a:r>
                          <a:endParaRPr lang="zh-CN" altLang="en-US" sz="2000" b="1" dirty="0">
                            <a:highlight>
                              <a:srgbClr val="FFFF00"/>
                            </a:highlight>
                          </a:endParaRPr>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3</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Choice>
        <mc:Fallback xmlns="">
          <p:graphicFrame>
            <p:nvGraphicFramePr>
              <p:cNvPr id="4" name="表格 3">
                <a:extLst>
                  <a:ext uri="{FF2B5EF4-FFF2-40B4-BE49-F238E27FC236}">
                    <a16:creationId xmlns:a16="http://schemas.microsoft.com/office/drawing/2014/main" id="{BEFFEE84-B63C-47F6-B6A2-CF912FD59473}"/>
                  </a:ext>
                </a:extLst>
              </p:cNvPr>
              <p:cNvGraphicFramePr>
                <a:graphicFrameLocks noGrp="1"/>
              </p:cNvGraphicFramePr>
              <p:nvPr>
                <p:extLst>
                  <p:ext uri="{D42A27DB-BD31-4B8C-83A1-F6EECF244321}">
                    <p14:modId xmlns:p14="http://schemas.microsoft.com/office/powerpoint/2010/main" val="1994007284"/>
                  </p:ext>
                </p:extLst>
              </p:nvPr>
            </p:nvGraphicFramePr>
            <p:xfrm>
              <a:off x="367665" y="609038"/>
              <a:ext cx="8408670" cy="1996948"/>
            </p:xfrm>
            <a:graphic>
              <a:graphicData uri="http://schemas.openxmlformats.org/drawingml/2006/table">
                <a:tbl>
                  <a:tblPr firstRow="1" bandRow="1">
                    <a:tableStyleId>{5C22544A-7EE6-4342-B048-85BDC9FD1C3A}</a:tableStyleId>
                  </a:tblPr>
                  <a:tblGrid>
                    <a:gridCol w="840867">
                      <a:extLst>
                        <a:ext uri="{9D8B030D-6E8A-4147-A177-3AD203B41FA5}">
                          <a16:colId xmlns:a16="http://schemas.microsoft.com/office/drawing/2014/main" val="3775034011"/>
                        </a:ext>
                      </a:extLst>
                    </a:gridCol>
                    <a:gridCol w="840867">
                      <a:extLst>
                        <a:ext uri="{9D8B030D-6E8A-4147-A177-3AD203B41FA5}">
                          <a16:colId xmlns:a16="http://schemas.microsoft.com/office/drawing/2014/main" val="1586977620"/>
                        </a:ext>
                      </a:extLst>
                    </a:gridCol>
                    <a:gridCol w="840867">
                      <a:extLst>
                        <a:ext uri="{9D8B030D-6E8A-4147-A177-3AD203B41FA5}">
                          <a16:colId xmlns:a16="http://schemas.microsoft.com/office/drawing/2014/main" val="2459346512"/>
                        </a:ext>
                      </a:extLst>
                    </a:gridCol>
                    <a:gridCol w="840867">
                      <a:extLst>
                        <a:ext uri="{9D8B030D-6E8A-4147-A177-3AD203B41FA5}">
                          <a16:colId xmlns:a16="http://schemas.microsoft.com/office/drawing/2014/main" val="1426368105"/>
                        </a:ext>
                      </a:extLst>
                    </a:gridCol>
                    <a:gridCol w="840867">
                      <a:extLst>
                        <a:ext uri="{9D8B030D-6E8A-4147-A177-3AD203B41FA5}">
                          <a16:colId xmlns:a16="http://schemas.microsoft.com/office/drawing/2014/main" val="1783729747"/>
                        </a:ext>
                      </a:extLst>
                    </a:gridCol>
                    <a:gridCol w="840867">
                      <a:extLst>
                        <a:ext uri="{9D8B030D-6E8A-4147-A177-3AD203B41FA5}">
                          <a16:colId xmlns:a16="http://schemas.microsoft.com/office/drawing/2014/main" val="3541072806"/>
                        </a:ext>
                      </a:extLst>
                    </a:gridCol>
                    <a:gridCol w="840867">
                      <a:extLst>
                        <a:ext uri="{9D8B030D-6E8A-4147-A177-3AD203B41FA5}">
                          <a16:colId xmlns:a16="http://schemas.microsoft.com/office/drawing/2014/main" val="1037422741"/>
                        </a:ext>
                      </a:extLst>
                    </a:gridCol>
                    <a:gridCol w="840867">
                      <a:extLst>
                        <a:ext uri="{9D8B030D-6E8A-4147-A177-3AD203B41FA5}">
                          <a16:colId xmlns:a16="http://schemas.microsoft.com/office/drawing/2014/main" val="691002581"/>
                        </a:ext>
                      </a:extLst>
                    </a:gridCol>
                    <a:gridCol w="840867">
                      <a:extLst>
                        <a:ext uri="{9D8B030D-6E8A-4147-A177-3AD203B41FA5}">
                          <a16:colId xmlns:a16="http://schemas.microsoft.com/office/drawing/2014/main" val="2707926419"/>
                        </a:ext>
                      </a:extLst>
                    </a:gridCol>
                    <a:gridCol w="840867">
                      <a:extLst>
                        <a:ext uri="{9D8B030D-6E8A-4147-A177-3AD203B41FA5}">
                          <a16:colId xmlns:a16="http://schemas.microsoft.com/office/drawing/2014/main" val="3359340276"/>
                        </a:ext>
                      </a:extLst>
                    </a:gridCol>
                  </a:tblGrid>
                  <a:tr h="401701">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6">
                      <a:txBody>
                        <a:bodyPr/>
                        <a:lstStyle/>
                        <a:p>
                          <a:endParaRPr lang="zh-CN"/>
                        </a:p>
                      </a:txBody>
                      <a:tcPr anchor="ctr">
                        <a:blipFill>
                          <a:blip r:embed="rId2"/>
                          <a:stretch>
                            <a:fillRect l="-50121" t="-1515" r="-17150" b="-425758"/>
                          </a:stretch>
                        </a:blipFill>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406527">
                    <a:tc>
                      <a:txBody>
                        <a:bodyPr/>
                        <a:lstStyle/>
                        <a:p>
                          <a:endParaRPr lang="zh-CN"/>
                        </a:p>
                      </a:txBody>
                      <a:tcPr anchor="ctr">
                        <a:blipFill>
                          <a:blip r:embed="rId2"/>
                          <a:stretch>
                            <a:fillRect l="-725" t="-100000" r="-902899" b="-319403"/>
                          </a:stretch>
                        </a:blipFill>
                      </a:tcPr>
                    </a:tc>
                    <a:tc>
                      <a:txBody>
                        <a:bodyPr/>
                        <a:lstStyle/>
                        <a:p>
                          <a:endParaRPr lang="zh-CN"/>
                        </a:p>
                      </a:txBody>
                      <a:tcPr anchor="ctr">
                        <a:blipFill>
                          <a:blip r:embed="rId2"/>
                          <a:stretch>
                            <a:fillRect l="-100725" t="-100000" r="-802899" b="-319403"/>
                          </a:stretch>
                        </a:blipFill>
                      </a:tcPr>
                    </a:tc>
                    <a:tc>
                      <a:txBody>
                        <a:bodyPr/>
                        <a:lstStyle/>
                        <a:p>
                          <a:endParaRPr lang="zh-CN"/>
                        </a:p>
                      </a:txBody>
                      <a:tcPr anchor="ctr">
                        <a:blipFill>
                          <a:blip r:embed="rId2"/>
                          <a:stretch>
                            <a:fillRect l="-200725" t="-100000" r="-702899" b="-319403"/>
                          </a:stretch>
                        </a:blipFill>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endParaRPr lang="zh-CN"/>
                        </a:p>
                      </a:txBody>
                      <a:tcPr anchor="ctr">
                        <a:blipFill>
                          <a:blip r:embed="rId2"/>
                          <a:stretch>
                            <a:fillRect l="-900725" t="-100000" r="-2899" b="-319403"/>
                          </a:stretch>
                        </a:blipFill>
                      </a:tcPr>
                    </a:tc>
                    <a:extLst>
                      <a:ext uri="{0D108BD9-81ED-4DB2-BD59-A6C34878D82A}">
                        <a16:rowId xmlns:a16="http://schemas.microsoft.com/office/drawing/2014/main" val="2237396716"/>
                      </a:ext>
                    </a:extLst>
                  </a:tr>
                  <a:tr h="396240">
                    <a:tc>
                      <a:txBody>
                        <a:bodyPr/>
                        <a:lstStyle/>
                        <a:p>
                          <a:endParaRPr lang="zh-CN"/>
                        </a:p>
                      </a:txBody>
                      <a:tcPr anchor="ctr">
                        <a:blipFill>
                          <a:blip r:embed="rId2"/>
                          <a:stretch>
                            <a:fillRect l="-725" t="-206154" r="-902899" b="-229231"/>
                          </a:stretch>
                        </a:blipFill>
                      </a:tcP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12</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2</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highlight>
                                <a:srgbClr val="FFFF00"/>
                              </a:highlight>
                            </a:rPr>
                            <a:t>6</a:t>
                          </a:r>
                          <a:endParaRPr lang="zh-CN" altLang="en-US" sz="2000" b="1" dirty="0">
                            <a:highlight>
                              <a:srgbClr val="FFFF00"/>
                            </a:highlight>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396240">
                    <a:tc>
                      <a:txBody>
                        <a:bodyPr/>
                        <a:lstStyle/>
                        <a:p>
                          <a:endParaRPr lang="zh-CN"/>
                        </a:p>
                      </a:txBody>
                      <a:tcPr anchor="ctr">
                        <a:blipFill>
                          <a:blip r:embed="rId2"/>
                          <a:stretch>
                            <a:fillRect l="-725" t="-301515" r="-902899" b="-125758"/>
                          </a:stretch>
                        </a:blipFill>
                      </a:tcP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9</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2</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9</a:t>
                          </a: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6240">
                    <a:tc gridSpan="3">
                      <a:txBody>
                        <a:bodyPr/>
                        <a:lstStyle/>
                        <a:p>
                          <a:endParaRPr lang="zh-CN"/>
                        </a:p>
                      </a:txBody>
                      <a:tcPr anchor="ctr">
                        <a:blipFill>
                          <a:blip r:embed="rId2"/>
                          <a:stretch>
                            <a:fillRect l="-242" t="-407692" r="-234300" b="-27692"/>
                          </a:stretch>
                        </a:blipFill>
                      </a:tcP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2000" b="1" dirty="0">
                              <a:highlight>
                                <a:srgbClr val="FFFF00"/>
                              </a:highlight>
                            </a:rPr>
                            <a:t>3</a:t>
                          </a:r>
                          <a:endParaRPr lang="zh-CN" altLang="en-US" sz="2000" b="1" dirty="0">
                            <a:highlight>
                              <a:srgbClr val="FFFF00"/>
                            </a:highlight>
                          </a:endParaRPr>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3</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A4763105-17EF-412A-AF92-A59F5F4DBA12}"/>
                  </a:ext>
                </a:extLst>
              </p:cNvPr>
              <p:cNvGraphicFramePr>
                <a:graphicFrameLocks noGrp="1"/>
              </p:cNvGraphicFramePr>
              <p:nvPr>
                <p:extLst>
                  <p:ext uri="{D42A27DB-BD31-4B8C-83A1-F6EECF244321}">
                    <p14:modId xmlns:p14="http://schemas.microsoft.com/office/powerpoint/2010/main" val="1999102885"/>
                  </p:ext>
                </p:extLst>
              </p:nvPr>
            </p:nvGraphicFramePr>
            <p:xfrm>
              <a:off x="367665" y="2855849"/>
              <a:ext cx="8408670" cy="1996948"/>
            </p:xfrm>
            <a:graphic>
              <a:graphicData uri="http://schemas.openxmlformats.org/drawingml/2006/table">
                <a:tbl>
                  <a:tblPr firstRow="1" bandRow="1">
                    <a:tableStyleId>{5C22544A-7EE6-4342-B048-85BDC9FD1C3A}</a:tableStyleId>
                  </a:tblPr>
                  <a:tblGrid>
                    <a:gridCol w="840867">
                      <a:extLst>
                        <a:ext uri="{9D8B030D-6E8A-4147-A177-3AD203B41FA5}">
                          <a16:colId xmlns:a16="http://schemas.microsoft.com/office/drawing/2014/main" val="3775034011"/>
                        </a:ext>
                      </a:extLst>
                    </a:gridCol>
                    <a:gridCol w="840867">
                      <a:extLst>
                        <a:ext uri="{9D8B030D-6E8A-4147-A177-3AD203B41FA5}">
                          <a16:colId xmlns:a16="http://schemas.microsoft.com/office/drawing/2014/main" val="1586977620"/>
                        </a:ext>
                      </a:extLst>
                    </a:gridCol>
                    <a:gridCol w="840867">
                      <a:extLst>
                        <a:ext uri="{9D8B030D-6E8A-4147-A177-3AD203B41FA5}">
                          <a16:colId xmlns:a16="http://schemas.microsoft.com/office/drawing/2014/main" val="2459346512"/>
                        </a:ext>
                      </a:extLst>
                    </a:gridCol>
                    <a:gridCol w="840867">
                      <a:extLst>
                        <a:ext uri="{9D8B030D-6E8A-4147-A177-3AD203B41FA5}">
                          <a16:colId xmlns:a16="http://schemas.microsoft.com/office/drawing/2014/main" val="1426368105"/>
                        </a:ext>
                      </a:extLst>
                    </a:gridCol>
                    <a:gridCol w="840867">
                      <a:extLst>
                        <a:ext uri="{9D8B030D-6E8A-4147-A177-3AD203B41FA5}">
                          <a16:colId xmlns:a16="http://schemas.microsoft.com/office/drawing/2014/main" val="1783729747"/>
                        </a:ext>
                      </a:extLst>
                    </a:gridCol>
                    <a:gridCol w="840867">
                      <a:extLst>
                        <a:ext uri="{9D8B030D-6E8A-4147-A177-3AD203B41FA5}">
                          <a16:colId xmlns:a16="http://schemas.microsoft.com/office/drawing/2014/main" val="3541072806"/>
                        </a:ext>
                      </a:extLst>
                    </a:gridCol>
                    <a:gridCol w="840867">
                      <a:extLst>
                        <a:ext uri="{9D8B030D-6E8A-4147-A177-3AD203B41FA5}">
                          <a16:colId xmlns:a16="http://schemas.microsoft.com/office/drawing/2014/main" val="1037422741"/>
                        </a:ext>
                      </a:extLst>
                    </a:gridCol>
                    <a:gridCol w="840867">
                      <a:extLst>
                        <a:ext uri="{9D8B030D-6E8A-4147-A177-3AD203B41FA5}">
                          <a16:colId xmlns:a16="http://schemas.microsoft.com/office/drawing/2014/main" val="691002581"/>
                        </a:ext>
                      </a:extLst>
                    </a:gridCol>
                    <a:gridCol w="840867">
                      <a:extLst>
                        <a:ext uri="{9D8B030D-6E8A-4147-A177-3AD203B41FA5}">
                          <a16:colId xmlns:a16="http://schemas.microsoft.com/office/drawing/2014/main" val="2707926419"/>
                        </a:ext>
                      </a:extLst>
                    </a:gridCol>
                    <a:gridCol w="840867">
                      <a:extLst>
                        <a:ext uri="{9D8B030D-6E8A-4147-A177-3AD203B41FA5}">
                          <a16:colId xmlns:a16="http://schemas.microsoft.com/office/drawing/2014/main" val="3359340276"/>
                        </a:ext>
                      </a:extLst>
                    </a:gridCol>
                  </a:tblGrid>
                  <a:tr h="313958">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6">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b="1" i="1" smtClean="0">
                                        <a:solidFill>
                                          <a:schemeClr val="bg1"/>
                                        </a:solidFill>
                                        <a:latin typeface="Cambria Math" panose="02040503050406030204" pitchFamily="18" charset="0"/>
                                      </a:rPr>
                                    </m:ctrlPr>
                                  </m:sSupPr>
                                  <m:e>
                                    <m:acc>
                                      <m:accPr>
                                        <m:chr m:val="⃗"/>
                                        <m:ctrlPr>
                                          <a:rPr lang="en-US" altLang="zh-CN" sz="2000" b="1" i="1" smtClean="0">
                                            <a:solidFill>
                                              <a:schemeClr val="bg1"/>
                                            </a:solidFill>
                                            <a:latin typeface="Cambria Math" panose="02040503050406030204" pitchFamily="18" charset="0"/>
                                          </a:rPr>
                                        </m:ctrlPr>
                                      </m:accPr>
                                      <m:e>
                                        <m:r>
                                          <a:rPr lang="en-US" altLang="zh-CN" sz="2000" b="1" i="1" smtClean="0">
                                            <a:solidFill>
                                              <a:schemeClr val="bg1"/>
                                            </a:solidFill>
                                            <a:latin typeface="Cambria Math" panose="02040503050406030204" pitchFamily="18" charset="0"/>
                                          </a:rPr>
                                          <m:t>𝒄</m:t>
                                        </m:r>
                                      </m:e>
                                    </m:acc>
                                  </m:e>
                                  <m:sup>
                                    <m:r>
                                      <a:rPr lang="en-US" altLang="zh-CN" sz="2000" b="1" i="1" smtClean="0">
                                        <a:solidFill>
                                          <a:schemeClr val="bg1"/>
                                        </a:solidFill>
                                        <a:latin typeface="Cambria Math" panose="02040503050406030204" pitchFamily="18" charset="0"/>
                                      </a:rPr>
                                      <m:t>𝑻</m:t>
                                    </m:r>
                                  </m:sup>
                                </m:sSup>
                              </m:oMath>
                            </m:oMathPara>
                          </a14:m>
                          <a:endParaRPr lang="zh-CN" altLang="en-US" sz="2000" b="1" dirty="0"/>
                        </a:p>
                      </a:txBody>
                      <a:tcPr anchor="ct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𝒙</m:t>
                                        </m:r>
                                      </m:e>
                                    </m:acc>
                                  </m:e>
                                  <m:sub>
                                    <m:r>
                                      <a:rPr lang="en-US" altLang="zh-CN" sz="2000" b="1" i="1" smtClean="0">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solidFill>
                                          <a:schemeClr val="tx1"/>
                                        </a:solidFill>
                                        <a:latin typeface="Cambria Math" panose="02040503050406030204" pitchFamily="18" charset="0"/>
                                      </a:rPr>
                                    </m:ctrlPr>
                                  </m:sSubPr>
                                  <m:e>
                                    <m:acc>
                                      <m:accPr>
                                        <m:chr m:val="⃗"/>
                                        <m:ctrlPr>
                                          <a:rPr lang="en-US" altLang="zh-CN" sz="2000" b="1" i="1" smtClean="0">
                                            <a:solidFill>
                                              <a:schemeClr val="tx1"/>
                                            </a:solidFill>
                                            <a:latin typeface="Cambria Math" panose="02040503050406030204" pitchFamily="18" charset="0"/>
                                          </a:rPr>
                                        </m:ctrlPr>
                                      </m:accPr>
                                      <m:e>
                                        <m:r>
                                          <a:rPr lang="en-US" altLang="zh-CN" sz="2000" b="1" i="1" smtClean="0">
                                            <a:solidFill>
                                              <a:schemeClr val="tx1"/>
                                            </a:solidFill>
                                            <a:latin typeface="Cambria Math" panose="02040503050406030204" pitchFamily="18" charset="0"/>
                                          </a:rPr>
                                          <m:t>𝒄</m:t>
                                        </m:r>
                                      </m:e>
                                    </m:acc>
                                  </m:e>
                                  <m:sub>
                                    <m:r>
                                      <a:rPr lang="en-US" altLang="zh-CN" sz="2000" b="1" i="1" smtClean="0">
                                        <a:solidFill>
                                          <a:schemeClr val="tx1"/>
                                        </a:solidFill>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CN" sz="1800" b="1" i="1" smtClean="0">
                                        <a:solidFill>
                                          <a:sysClr val="windowText" lastClr="000000"/>
                                        </a:solidFill>
                                        <a:latin typeface="Cambria Math" panose="02040503050406030204" pitchFamily="18" charset="0"/>
                                      </a:rPr>
                                    </m:ctrlPr>
                                  </m:sSupPr>
                                  <m:e>
                                    <m:r>
                                      <a:rPr lang="en-US" altLang="zh-CN" sz="1800" b="1" i="1" smtClean="0">
                                        <a:solidFill>
                                          <a:sysClr val="windowText" lastClr="000000"/>
                                        </a:solidFill>
                                        <a:latin typeface="Cambria Math" panose="02040503050406030204" pitchFamily="18" charset="0"/>
                                      </a:rPr>
                                      <m:t>𝑩</m:t>
                                    </m:r>
                                  </m:e>
                                  <m:sup>
                                    <m:r>
                                      <a:rPr lang="en-US" altLang="zh-CN" sz="1800" b="1" i="1" smtClean="0">
                                        <a:solidFill>
                                          <a:sysClr val="windowText" lastClr="000000"/>
                                        </a:solidFill>
                                        <a:latin typeface="Cambria Math" panose="02040503050406030204" pitchFamily="18" charset="0"/>
                                      </a:rPr>
                                      <m:t>−</m:t>
                                    </m:r>
                                    <m:r>
                                      <a:rPr lang="en-US" altLang="zh-CN" sz="1800" b="1" i="1" smtClean="0">
                                        <a:solidFill>
                                          <a:sysClr val="windowText" lastClr="000000"/>
                                        </a:solidFill>
                                        <a:latin typeface="Cambria Math" panose="02040503050406030204" pitchFamily="18" charset="0"/>
                                      </a:rPr>
                                      <m:t>𝟏</m:t>
                                    </m:r>
                                  </m:sup>
                                </m:sSup>
                                <m:acc>
                                  <m:accPr>
                                    <m:chr m:val="⃗"/>
                                    <m:ctrlPr>
                                      <a:rPr lang="en-US" altLang="zh-CN" sz="1800" b="1" i="1">
                                        <a:solidFill>
                                          <a:sysClr val="windowText" lastClr="000000"/>
                                        </a:solidFill>
                                        <a:latin typeface="Cambria Math" panose="02040503050406030204" pitchFamily="18" charset="0"/>
                                      </a:rPr>
                                    </m:ctrlPr>
                                  </m:accPr>
                                  <m:e>
                                    <m:r>
                                      <a:rPr lang="en-US" altLang="zh-CN" sz="1800" b="1" i="1" smtClean="0">
                                        <a:solidFill>
                                          <a:sysClr val="windowText" lastClr="000000"/>
                                        </a:solidFill>
                                        <a:latin typeface="Cambria Math" panose="02040503050406030204" pitchFamily="18" charset="0"/>
                                      </a:rPr>
                                      <m:t>𝒃</m:t>
                                    </m:r>
                                  </m:e>
                                </m:acc>
                              </m:oMath>
                            </m:oMathPara>
                          </a14:m>
                          <a:endParaRPr lang="zh-CN" altLang="en-US" sz="1600" b="1" dirty="0"/>
                        </a:p>
                      </a:txBody>
                      <a:tcPr anchor="ct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000" b="0" i="1" smtClean="0">
                                    <a:solidFill>
                                      <a:sysClr val="windowText" lastClr="000000"/>
                                    </a:solidFill>
                                    <a:latin typeface="Cambria Math" panose="02040503050406030204" pitchFamily="18" charset="0"/>
                                  </a:rPr>
                                  <m:t>𝜃</m:t>
                                </m:r>
                              </m:oMath>
                            </m:oMathPara>
                          </a14:m>
                          <a:endParaRPr lang="zh-CN" altLang="en-US" sz="2000" dirty="0">
                            <a:solidFill>
                              <a:sysClr val="windowText" lastClr="000000"/>
                            </a:solidFill>
                          </a:endParaRPr>
                        </a:p>
                      </a:txBody>
                      <a:tcPr anchor="ctr"/>
                    </a:tc>
                    <a:extLst>
                      <a:ext uri="{0D108BD9-81ED-4DB2-BD59-A6C34878D82A}">
                        <a16:rowId xmlns:a16="http://schemas.microsoft.com/office/drawing/2014/main" val="2237396716"/>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𝟏</m:t>
                                    </m:r>
                                  </m:sub>
                                </m:sSub>
                              </m:oMath>
                            </m:oMathPara>
                          </a14:m>
                          <a:endParaRPr lang="zh-CN" altLang="en-US" sz="2000" b="1" dirty="0"/>
                        </a:p>
                      </a:txBody>
                      <a:tcPr anchor="ctr"/>
                    </a:tc>
                    <a:tc>
                      <a:txBody>
                        <a:bodyPr/>
                        <a:lstStyle/>
                        <a:p>
                          <a:pPr algn="ctr"/>
                          <a:r>
                            <a:rPr lang="en-US" altLang="zh-CN" sz="2000" b="1" dirty="0"/>
                            <a:t>0</a:t>
                          </a:r>
                          <a:endParaRPr lang="zh-CN" altLang="en-US" sz="2000" b="1" dirty="0"/>
                        </a:p>
                      </a:txBody>
                      <a:tcPr anchor="ctr"/>
                    </a:tc>
                    <a:tc>
                      <a:txBody>
                        <a:bodyPr/>
                        <a:lstStyle/>
                        <a:p>
                          <a:pPr algn="ctr"/>
                          <a:r>
                            <a:rPr lang="en-US" altLang="zh-CN" sz="2000" b="1" dirty="0"/>
                            <a:t>6</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𝟔</m:t>
                                    </m:r>
                                  </m:sub>
                                </m:sSub>
                              </m:oMath>
                            </m:oMathPara>
                          </a14:m>
                          <a:endParaRPr lang="zh-CN" altLang="en-US" sz="2000" b="1" dirty="0"/>
                        </a:p>
                      </a:txBody>
                      <a:tcPr anchor="ct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3</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0</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3/2</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highlight>
                                <a:srgbClr val="FFFF00"/>
                              </a:highlight>
                            </a:rPr>
                            <a:t>2</a:t>
                          </a:r>
                          <a:endParaRPr lang="zh-CN" altLang="en-US" sz="2000" b="1" dirty="0">
                            <a:highlight>
                              <a:srgbClr val="FFFF00"/>
                            </a:highlight>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2709">
                    <a:tc gridSpan="3">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i="1" smtClean="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𝜎</m:t>
                                        </m:r>
                                      </m:e>
                                    </m:acc>
                                  </m:e>
                                  <m:sup>
                                    <m:r>
                                      <a:rPr lang="en-US" altLang="zh-CN" sz="2000" i="1">
                                        <a:latin typeface="Cambria Math" panose="02040503050406030204" pitchFamily="18" charset="0"/>
                                      </a:rPr>
                                      <m:t>𝑇</m:t>
                                    </m:r>
                                  </m:sup>
                                </m:sSup>
                              </m:oMath>
                            </m:oMathPara>
                          </a14:m>
                          <a:endParaRPr lang="zh-CN" altLang="en-US" sz="2000" b="1" dirty="0"/>
                        </a:p>
                      </a:txBody>
                      <a:tcPr anchor="ct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highlight>
                                <a:srgbClr val="FFFF00"/>
                              </a:highlight>
                            </a:rPr>
                            <a:t>3/2</a:t>
                          </a:r>
                          <a:endParaRPr lang="zh-CN" altLang="en-US" sz="2000" b="1" dirty="0">
                            <a:highlight>
                              <a:srgbClr val="FFFF00"/>
                            </a:highlight>
                          </a:endParaRPr>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1/2</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-3/2</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Choice>
        <mc:Fallback xmlns="">
          <p:graphicFrame>
            <p:nvGraphicFramePr>
              <p:cNvPr id="5" name="表格 4">
                <a:extLst>
                  <a:ext uri="{FF2B5EF4-FFF2-40B4-BE49-F238E27FC236}">
                    <a16:creationId xmlns:a16="http://schemas.microsoft.com/office/drawing/2014/main" id="{A4763105-17EF-412A-AF92-A59F5F4DBA12}"/>
                  </a:ext>
                </a:extLst>
              </p:cNvPr>
              <p:cNvGraphicFramePr>
                <a:graphicFrameLocks noGrp="1"/>
              </p:cNvGraphicFramePr>
              <p:nvPr>
                <p:extLst>
                  <p:ext uri="{D42A27DB-BD31-4B8C-83A1-F6EECF244321}">
                    <p14:modId xmlns:p14="http://schemas.microsoft.com/office/powerpoint/2010/main" val="1999102885"/>
                  </p:ext>
                </p:extLst>
              </p:nvPr>
            </p:nvGraphicFramePr>
            <p:xfrm>
              <a:off x="367665" y="2855849"/>
              <a:ext cx="8408670" cy="1996948"/>
            </p:xfrm>
            <a:graphic>
              <a:graphicData uri="http://schemas.openxmlformats.org/drawingml/2006/table">
                <a:tbl>
                  <a:tblPr firstRow="1" bandRow="1">
                    <a:tableStyleId>{5C22544A-7EE6-4342-B048-85BDC9FD1C3A}</a:tableStyleId>
                  </a:tblPr>
                  <a:tblGrid>
                    <a:gridCol w="840867">
                      <a:extLst>
                        <a:ext uri="{9D8B030D-6E8A-4147-A177-3AD203B41FA5}">
                          <a16:colId xmlns:a16="http://schemas.microsoft.com/office/drawing/2014/main" val="3775034011"/>
                        </a:ext>
                      </a:extLst>
                    </a:gridCol>
                    <a:gridCol w="840867">
                      <a:extLst>
                        <a:ext uri="{9D8B030D-6E8A-4147-A177-3AD203B41FA5}">
                          <a16:colId xmlns:a16="http://schemas.microsoft.com/office/drawing/2014/main" val="1586977620"/>
                        </a:ext>
                      </a:extLst>
                    </a:gridCol>
                    <a:gridCol w="840867">
                      <a:extLst>
                        <a:ext uri="{9D8B030D-6E8A-4147-A177-3AD203B41FA5}">
                          <a16:colId xmlns:a16="http://schemas.microsoft.com/office/drawing/2014/main" val="2459346512"/>
                        </a:ext>
                      </a:extLst>
                    </a:gridCol>
                    <a:gridCol w="840867">
                      <a:extLst>
                        <a:ext uri="{9D8B030D-6E8A-4147-A177-3AD203B41FA5}">
                          <a16:colId xmlns:a16="http://schemas.microsoft.com/office/drawing/2014/main" val="1426368105"/>
                        </a:ext>
                      </a:extLst>
                    </a:gridCol>
                    <a:gridCol w="840867">
                      <a:extLst>
                        <a:ext uri="{9D8B030D-6E8A-4147-A177-3AD203B41FA5}">
                          <a16:colId xmlns:a16="http://schemas.microsoft.com/office/drawing/2014/main" val="1783729747"/>
                        </a:ext>
                      </a:extLst>
                    </a:gridCol>
                    <a:gridCol w="840867">
                      <a:extLst>
                        <a:ext uri="{9D8B030D-6E8A-4147-A177-3AD203B41FA5}">
                          <a16:colId xmlns:a16="http://schemas.microsoft.com/office/drawing/2014/main" val="3541072806"/>
                        </a:ext>
                      </a:extLst>
                    </a:gridCol>
                    <a:gridCol w="840867">
                      <a:extLst>
                        <a:ext uri="{9D8B030D-6E8A-4147-A177-3AD203B41FA5}">
                          <a16:colId xmlns:a16="http://schemas.microsoft.com/office/drawing/2014/main" val="1037422741"/>
                        </a:ext>
                      </a:extLst>
                    </a:gridCol>
                    <a:gridCol w="840867">
                      <a:extLst>
                        <a:ext uri="{9D8B030D-6E8A-4147-A177-3AD203B41FA5}">
                          <a16:colId xmlns:a16="http://schemas.microsoft.com/office/drawing/2014/main" val="691002581"/>
                        </a:ext>
                      </a:extLst>
                    </a:gridCol>
                    <a:gridCol w="840867">
                      <a:extLst>
                        <a:ext uri="{9D8B030D-6E8A-4147-A177-3AD203B41FA5}">
                          <a16:colId xmlns:a16="http://schemas.microsoft.com/office/drawing/2014/main" val="2707926419"/>
                        </a:ext>
                      </a:extLst>
                    </a:gridCol>
                    <a:gridCol w="840867">
                      <a:extLst>
                        <a:ext uri="{9D8B030D-6E8A-4147-A177-3AD203B41FA5}">
                          <a16:colId xmlns:a16="http://schemas.microsoft.com/office/drawing/2014/main" val="3359340276"/>
                        </a:ext>
                      </a:extLst>
                    </a:gridCol>
                  </a:tblGrid>
                  <a:tr h="401701">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6">
                      <a:txBody>
                        <a:bodyPr/>
                        <a:lstStyle/>
                        <a:p>
                          <a:endParaRPr lang="zh-CN"/>
                        </a:p>
                      </a:txBody>
                      <a:tcPr anchor="ctr">
                        <a:blipFill>
                          <a:blip r:embed="rId3"/>
                          <a:stretch>
                            <a:fillRect l="-50121" t="-1515" r="-17150" b="-425758"/>
                          </a:stretch>
                        </a:blipFill>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406527">
                    <a:tc>
                      <a:txBody>
                        <a:bodyPr/>
                        <a:lstStyle/>
                        <a:p>
                          <a:endParaRPr lang="zh-CN"/>
                        </a:p>
                      </a:txBody>
                      <a:tcPr anchor="ctr">
                        <a:blipFill>
                          <a:blip r:embed="rId3"/>
                          <a:stretch>
                            <a:fillRect l="-725" t="-100000" r="-902899" b="-319403"/>
                          </a:stretch>
                        </a:blipFill>
                      </a:tcPr>
                    </a:tc>
                    <a:tc>
                      <a:txBody>
                        <a:bodyPr/>
                        <a:lstStyle/>
                        <a:p>
                          <a:endParaRPr lang="zh-CN"/>
                        </a:p>
                      </a:txBody>
                      <a:tcPr anchor="ctr">
                        <a:blipFill>
                          <a:blip r:embed="rId3"/>
                          <a:stretch>
                            <a:fillRect l="-100725" t="-100000" r="-802899" b="-319403"/>
                          </a:stretch>
                        </a:blipFill>
                      </a:tcPr>
                    </a:tc>
                    <a:tc>
                      <a:txBody>
                        <a:bodyPr/>
                        <a:lstStyle/>
                        <a:p>
                          <a:endParaRPr lang="zh-CN"/>
                        </a:p>
                      </a:txBody>
                      <a:tcPr anchor="ctr">
                        <a:blipFill>
                          <a:blip r:embed="rId3"/>
                          <a:stretch>
                            <a:fillRect l="-200725" t="-100000" r="-702899" b="-319403"/>
                          </a:stretch>
                        </a:blipFill>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endParaRPr lang="zh-CN"/>
                        </a:p>
                      </a:txBody>
                      <a:tcPr anchor="ctr">
                        <a:blipFill>
                          <a:blip r:embed="rId3"/>
                          <a:stretch>
                            <a:fillRect l="-900725" t="-100000" r="-2899" b="-319403"/>
                          </a:stretch>
                        </a:blipFill>
                      </a:tcPr>
                    </a:tc>
                    <a:extLst>
                      <a:ext uri="{0D108BD9-81ED-4DB2-BD59-A6C34878D82A}">
                        <a16:rowId xmlns:a16="http://schemas.microsoft.com/office/drawing/2014/main" val="2237396716"/>
                      </a:ext>
                    </a:extLst>
                  </a:tr>
                  <a:tr h="396240">
                    <a:tc>
                      <a:txBody>
                        <a:bodyPr/>
                        <a:lstStyle/>
                        <a:p>
                          <a:endParaRPr lang="zh-CN"/>
                        </a:p>
                      </a:txBody>
                      <a:tcPr anchor="ctr">
                        <a:blipFill>
                          <a:blip r:embed="rId3"/>
                          <a:stretch>
                            <a:fillRect l="-725" t="-206154" r="-902899" b="-229231"/>
                          </a:stretch>
                        </a:blipFill>
                      </a:tcPr>
                    </a:tc>
                    <a:tc>
                      <a:txBody>
                        <a:bodyPr/>
                        <a:lstStyle/>
                        <a:p>
                          <a:pPr algn="ctr"/>
                          <a:r>
                            <a:rPr lang="en-US" altLang="zh-CN" sz="2000" b="1" dirty="0"/>
                            <a:t>0</a:t>
                          </a:r>
                          <a:endParaRPr lang="zh-CN" altLang="en-US" sz="2000" b="1" dirty="0"/>
                        </a:p>
                      </a:txBody>
                      <a:tcPr anchor="ctr"/>
                    </a:tc>
                    <a:tc>
                      <a:txBody>
                        <a:bodyPr/>
                        <a:lstStyle/>
                        <a:p>
                          <a:pPr algn="ctr"/>
                          <a:r>
                            <a:rPr lang="en-US" altLang="zh-CN" sz="2000" b="1" dirty="0"/>
                            <a:t>6</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396240">
                    <a:tc>
                      <a:txBody>
                        <a:bodyPr/>
                        <a:lstStyle/>
                        <a:p>
                          <a:endParaRPr lang="zh-CN"/>
                        </a:p>
                      </a:txBody>
                      <a:tcPr anchor="ctr">
                        <a:blipFill>
                          <a:blip r:embed="rId3"/>
                          <a:stretch>
                            <a:fillRect l="-725" t="-301515" r="-902899" b="-125758"/>
                          </a:stretch>
                        </a:blipFill>
                      </a:tcP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3</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0</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3/2</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highlight>
                                <a:srgbClr val="FFFF00"/>
                              </a:highlight>
                            </a:rPr>
                            <a:t>2</a:t>
                          </a:r>
                          <a:endParaRPr lang="zh-CN" altLang="en-US" sz="2000" b="1" dirty="0">
                            <a:highlight>
                              <a:srgbClr val="FFFF00"/>
                            </a:highlight>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6240">
                    <a:tc gridSpan="3">
                      <a:txBody>
                        <a:bodyPr/>
                        <a:lstStyle/>
                        <a:p>
                          <a:endParaRPr lang="zh-CN"/>
                        </a:p>
                      </a:txBody>
                      <a:tcPr anchor="ctr">
                        <a:blipFill>
                          <a:blip r:embed="rId3"/>
                          <a:stretch>
                            <a:fillRect l="-242" t="-407692" r="-234300" b="-27692"/>
                          </a:stretch>
                        </a:blipFill>
                      </a:tcP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highlight>
                                <a:srgbClr val="FFFF00"/>
                              </a:highlight>
                            </a:rPr>
                            <a:t>3/2</a:t>
                          </a:r>
                          <a:endParaRPr lang="zh-CN" altLang="en-US" sz="2000" b="1" dirty="0">
                            <a:highlight>
                              <a:srgbClr val="FFFF00"/>
                            </a:highlight>
                          </a:endParaRPr>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1/2</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-3/2</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Fallback>
      </mc:AlternateContent>
      <p:sp>
        <p:nvSpPr>
          <p:cNvPr id="6" name="文本框 5">
            <a:extLst>
              <a:ext uri="{FF2B5EF4-FFF2-40B4-BE49-F238E27FC236}">
                <a16:creationId xmlns:a16="http://schemas.microsoft.com/office/drawing/2014/main" id="{C3619D94-675C-43E6-8E2E-F7CB4200FAC1}"/>
              </a:ext>
            </a:extLst>
          </p:cNvPr>
          <p:cNvSpPr txBox="1"/>
          <p:nvPr/>
        </p:nvSpPr>
        <p:spPr>
          <a:xfrm>
            <a:off x="3979818" y="4852797"/>
            <a:ext cx="710451" cy="369332"/>
          </a:xfrm>
          <a:prstGeom prst="rect">
            <a:avLst/>
          </a:prstGeom>
          <a:noFill/>
        </p:spPr>
        <p:txBody>
          <a:bodyPr wrap="none" rtlCol="0">
            <a:spAutoFit/>
          </a:bodyPr>
          <a:lstStyle/>
          <a:p>
            <a:r>
              <a:rPr lang="en-US" altLang="zh-CN" dirty="0"/>
              <a:t>…….</a:t>
            </a:r>
            <a:endParaRPr lang="zh-CN" altLang="en-US" dirty="0"/>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15269AEE-7F04-495B-8A25-C2AC429D5C68}"/>
                  </a:ext>
                </a:extLst>
              </p:cNvPr>
              <p:cNvSpPr/>
              <p:nvPr/>
            </p:nvSpPr>
            <p:spPr>
              <a:xfrm>
                <a:off x="1448939" y="5102660"/>
                <a:ext cx="269317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a:latin typeface="Cambria Math" panose="02040503050406030204" pitchFamily="18" charset="0"/>
                            </a:rPr>
                            <m:t>𝒙</m:t>
                          </m:r>
                        </m:e>
                        <m:sub>
                          <m:r>
                            <a:rPr lang="en-US" altLang="zh-CN" b="1" i="1">
                              <a:latin typeface="Cambria Math" panose="02040503050406030204" pitchFamily="18" charset="0"/>
                            </a:rPr>
                            <m:t>𝟏</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𝟓</m:t>
                      </m:r>
                      <m:r>
                        <a:rPr lang="en-US" altLang="zh-CN" b="1" i="1" smtClean="0">
                          <a:latin typeface="Cambria Math" panose="02040503050406030204" pitchFamily="18" charset="0"/>
                        </a:rPr>
                        <m:t>, </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𝟐</m:t>
                      </m:r>
                      <m:r>
                        <a:rPr lang="en-US" altLang="zh-CN" b="1" i="1" smtClean="0">
                          <a:latin typeface="Cambria Math" panose="02040503050406030204" pitchFamily="18" charset="0"/>
                        </a:rPr>
                        <m:t>, </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𝟑</m:t>
                          </m:r>
                          <m:r>
                            <a:rPr lang="en-US" altLang="zh-CN" b="1" i="1" smtClean="0">
                              <a:latin typeface="Cambria Math" panose="02040503050406030204" pitchFamily="18" charset="0"/>
                            </a:rPr>
                            <m:t>−</m:t>
                          </m:r>
                          <m:r>
                            <a:rPr lang="en-US" altLang="zh-CN" b="1" i="1" smtClean="0">
                              <a:latin typeface="Cambria Math" panose="02040503050406030204" pitchFamily="18" charset="0"/>
                            </a:rPr>
                            <m:t>𝟔</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𝟎</m:t>
                      </m:r>
                    </m:oMath>
                  </m:oMathPara>
                </a14:m>
                <a:endParaRPr lang="zh-CN" altLang="en-US" dirty="0"/>
              </a:p>
            </p:txBody>
          </p:sp>
        </mc:Choice>
        <mc:Fallback xmlns="">
          <p:sp>
            <p:nvSpPr>
              <p:cNvPr id="8" name="矩形 7">
                <a:extLst>
                  <a:ext uri="{FF2B5EF4-FFF2-40B4-BE49-F238E27FC236}">
                    <a16:creationId xmlns:a16="http://schemas.microsoft.com/office/drawing/2014/main" id="{15269AEE-7F04-495B-8A25-C2AC429D5C68}"/>
                  </a:ext>
                </a:extLst>
              </p:cNvPr>
              <p:cNvSpPr>
                <a:spLocks noRot="1" noChangeAspect="1" noMove="1" noResize="1" noEditPoints="1" noAdjustHandles="1" noChangeArrowheads="1" noChangeShapeType="1" noTextEdit="1"/>
              </p:cNvSpPr>
              <p:nvPr/>
            </p:nvSpPr>
            <p:spPr>
              <a:xfrm>
                <a:off x="1448939" y="5102660"/>
                <a:ext cx="2693173" cy="369332"/>
              </a:xfrm>
              <a:prstGeom prst="rect">
                <a:avLst/>
              </a:prstGeom>
              <a:blipFill>
                <a:blip r:embed="rId4"/>
                <a:stretch>
                  <a:fillRect b="-163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900969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205DC9-B26E-4AAA-B958-53308E6D8CCB}"/>
              </a:ext>
            </a:extLst>
          </p:cNvPr>
          <p:cNvSpPr>
            <a:spLocks noGrp="1"/>
          </p:cNvSpPr>
          <p:nvPr>
            <p:ph type="title"/>
          </p:nvPr>
        </p:nvSpPr>
        <p:spPr/>
        <p:txBody>
          <a:bodyPr/>
          <a:lstStyle/>
          <a:p>
            <a:endParaRPr lang="zh-CN" altLang="en-US" dirty="0"/>
          </a:p>
        </p:txBody>
      </p:sp>
      <mc:AlternateContent xmlns:mc="http://schemas.openxmlformats.org/markup-compatibility/2006" xmlns:a14="http://schemas.microsoft.com/office/drawing/2010/main">
        <mc:Choice Requires="a14">
          <p:sp>
            <p:nvSpPr>
              <p:cNvPr id="7" name="内容占位符 2">
                <a:extLst>
                  <a:ext uri="{FF2B5EF4-FFF2-40B4-BE49-F238E27FC236}">
                    <a16:creationId xmlns:a16="http://schemas.microsoft.com/office/drawing/2014/main" id="{43E883CF-AE21-4B93-AE6C-818BA4CE1E57}"/>
                  </a:ext>
                </a:extLst>
              </p:cNvPr>
              <p:cNvSpPr txBox="1">
                <a:spLocks/>
              </p:cNvSpPr>
              <p:nvPr/>
            </p:nvSpPr>
            <p:spPr>
              <a:xfrm>
                <a:off x="457200" y="1570235"/>
                <a:ext cx="4637853" cy="146034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14:m>
                  <m:oMath xmlns:m="http://schemas.openxmlformats.org/officeDocument/2006/math">
                    <m:func>
                      <m:funcPr>
                        <m:ctrlPr>
                          <a:rPr lang="en-US" altLang="zh-CN" sz="2000" b="0" i="1" smtClean="0">
                            <a:latin typeface="Cambria Math" panose="02040503050406030204" pitchFamily="18" charset="0"/>
                          </a:rPr>
                        </m:ctrlPr>
                      </m:funcPr>
                      <m:fName>
                        <m:r>
                          <m:rPr>
                            <m:sty m:val="p"/>
                          </m:rPr>
                          <a:rPr lang="en-US" altLang="zh-CN" sz="2000" b="0" i="0" smtClean="0">
                            <a:latin typeface="Cambria Math" panose="02040503050406030204" pitchFamily="18" charset="0"/>
                          </a:rPr>
                          <m:t>min</m:t>
                        </m:r>
                      </m:fName>
                      <m:e>
                        <m:r>
                          <a:rPr lang="en-US" altLang="zh-CN" sz="2000" b="0" i="1" smtClean="0">
                            <a:latin typeface="Cambria Math" panose="02040503050406030204" pitchFamily="18" charset="0"/>
                          </a:rPr>
                          <m:t>𝜔</m:t>
                        </m:r>
                        <m:r>
                          <a:rPr lang="en-US" altLang="zh-CN" sz="2000" b="0" i="1" smtClean="0">
                            <a:latin typeface="Cambria Math" panose="02040503050406030204" pitchFamily="18" charset="0"/>
                          </a:rPr>
                          <m:t>=</m:t>
                        </m:r>
                      </m:e>
                    </m:func>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5</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6</m:t>
                        </m:r>
                      </m:sub>
                    </m:sSub>
                  </m:oMath>
                </a14:m>
                <a:r>
                  <a:rPr lang="en-US" altLang="zh-CN" sz="2000" dirty="0"/>
                  <a:t> </a:t>
                </a:r>
                <a14:m>
                  <m:oMath xmlns:m="http://schemas.openxmlformats.org/officeDocument/2006/math">
                    <m:r>
                      <a:rPr lang="en-US" altLang="zh-CN" sz="2000" i="1">
                        <a:latin typeface="Cambria Math" panose="02040503050406030204" pitchFamily="18" charset="0"/>
                      </a:rPr>
                      <m:t>⇔</m:t>
                    </m:r>
                    <m:func>
                      <m:funcPr>
                        <m:ctrlPr>
                          <a:rPr lang="en-US" altLang="zh-CN" sz="2000" i="1">
                            <a:latin typeface="Cambria Math" panose="02040503050406030204" pitchFamily="18" charset="0"/>
                          </a:rPr>
                        </m:ctrlPr>
                      </m:funcPr>
                      <m:fName>
                        <m:r>
                          <m:rPr>
                            <m:sty m:val="p"/>
                          </m:rPr>
                          <a:rPr lang="en-US" altLang="zh-CN" sz="2000">
                            <a:latin typeface="Cambria Math" panose="02040503050406030204" pitchFamily="18" charset="0"/>
                          </a:rPr>
                          <m:t>max</m:t>
                        </m:r>
                      </m:fName>
                      <m:e>
                        <m:r>
                          <a:rPr lang="en-US" altLang="zh-CN" sz="2000" i="1">
                            <a:latin typeface="Cambria Math" panose="02040503050406030204" pitchFamily="18" charset="0"/>
                          </a:rPr>
                          <m:t>𝜔</m:t>
                        </m:r>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5</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6</m:t>
                            </m:r>
                          </m:sub>
                        </m:sSub>
                      </m:e>
                    </m:func>
                  </m:oMath>
                </a14:m>
                <a:endParaRPr lang="en-US" altLang="zh-CN" sz="2000" dirty="0"/>
              </a:p>
              <a:p>
                <a14:m>
                  <m:oMath xmlns:m="http://schemas.openxmlformats.org/officeDocument/2006/math">
                    <m:r>
                      <a:rPr lang="en-US" altLang="zh-CN" sz="2000" i="1">
                        <a:latin typeface="Cambria Math" panose="02040503050406030204" pitchFamily="18" charset="0"/>
                      </a:rPr>
                      <m:t>𝑠</m:t>
                    </m:r>
                    <m:r>
                      <a:rPr lang="en-US" altLang="zh-CN" sz="2000" i="1">
                        <a:latin typeface="Cambria Math" panose="02040503050406030204" pitchFamily="18" charset="0"/>
                      </a:rPr>
                      <m:t>.</m:t>
                    </m:r>
                    <m:r>
                      <a:rPr lang="en-US" altLang="zh-CN" sz="2000" i="1">
                        <a:latin typeface="Cambria Math" panose="02040503050406030204" pitchFamily="18" charset="0"/>
                      </a:rPr>
                      <m:t>𝑡</m:t>
                    </m:r>
                    <m:r>
                      <a:rPr lang="en-US" altLang="zh-CN" sz="2000" i="1">
                        <a:latin typeface="Cambria Math" panose="02040503050406030204" pitchFamily="18" charset="0"/>
                      </a:rPr>
                      <m:t>. </m:t>
                    </m:r>
                    <m:d>
                      <m:dPr>
                        <m:begChr m:val="{"/>
                        <m:endChr m:val=""/>
                        <m:ctrlPr>
                          <a:rPr lang="en-US" altLang="zh-CN" sz="2000" i="1">
                            <a:latin typeface="Cambria Math" panose="02040503050406030204" pitchFamily="18" charset="0"/>
                          </a:rPr>
                        </m:ctrlPr>
                      </m:dPr>
                      <m:e>
                        <m:m>
                          <m:mPr>
                            <m:mcs>
                              <m:mc>
                                <m:mcPr>
                                  <m:count m:val="1"/>
                                  <m:mcJc m:val="center"/>
                                </m:mcPr>
                              </m:mc>
                            </m:mcs>
                            <m:ctrlPr>
                              <a:rPr lang="en-US" altLang="zh-CN" sz="2000" i="1">
                                <a:latin typeface="Cambria Math" panose="02040503050406030204" pitchFamily="18" charset="0"/>
                              </a:rPr>
                            </m:ctrlPr>
                          </m:mPr>
                          <m:m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2</m:t>
                                  </m:r>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1</m:t>
                                  </m:r>
                                </m:sub>
                              </m:sSub>
                              <m:r>
                                <m:rPr>
                                  <m:brk m:alnAt="7"/>
                                </m:rP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3</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5</m:t>
                                  </m:r>
                                </m:sub>
                              </m:sSub>
                              <m:r>
                                <a:rPr lang="en-US" altLang="zh-CN" sz="2000" i="1">
                                  <a:latin typeface="Cambria Math" panose="02040503050406030204" pitchFamily="18" charset="0"/>
                                </a:rPr>
                                <m:t>=12</m:t>
                              </m:r>
                            </m:e>
                          </m:mr>
                          <m:mr>
                            <m:e>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1</m:t>
                                  </m:r>
                                </m:sub>
                              </m:sSub>
                              <m:r>
                                <m:rPr>
                                  <m:brk m:alnAt="7"/>
                                </m:rPr>
                                <a:rPr lang="en-US" altLang="zh-CN" sz="2000" i="1">
                                  <a:latin typeface="Cambria Math" panose="02040503050406030204" pitchFamily="18" charset="0"/>
                                </a:rPr>
                                <m:t>+</m:t>
                              </m:r>
                              <m:r>
                                <a:rPr lang="en-US" altLang="zh-CN" sz="2000" i="1">
                                  <a:latin typeface="Cambria Math" panose="02040503050406030204" pitchFamily="18" charset="0"/>
                                </a:rPr>
                                <m:t>2</m:t>
                              </m:r>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4</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6</m:t>
                                  </m:r>
                                </m:sub>
                              </m:sSub>
                              <m:r>
                                <a:rPr lang="en-US" altLang="zh-CN" sz="2000" i="1">
                                  <a:latin typeface="Cambria Math" panose="02040503050406030204" pitchFamily="18" charset="0"/>
                                </a:rPr>
                                <m:t>=9</m:t>
                              </m:r>
                            </m:e>
                          </m:mr>
                          <m:m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3</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4</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5</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6</m:t>
                                  </m:r>
                                </m:sub>
                              </m:sSub>
                              <m:r>
                                <a:rPr lang="en-US" altLang="zh-CN" sz="2000" i="1">
                                  <a:latin typeface="Cambria Math" panose="02040503050406030204" pitchFamily="18" charset="0"/>
                                </a:rPr>
                                <m:t>≥0</m:t>
                              </m:r>
                            </m:e>
                          </m:mr>
                        </m:m>
                      </m:e>
                    </m:d>
                  </m:oMath>
                </a14:m>
                <a:endParaRPr lang="zh-CN" altLang="en-US" sz="2000" dirty="0"/>
              </a:p>
            </p:txBody>
          </p:sp>
        </mc:Choice>
        <mc:Fallback xmlns="">
          <p:sp>
            <p:nvSpPr>
              <p:cNvPr id="7" name="内容占位符 2">
                <a:extLst>
                  <a:ext uri="{FF2B5EF4-FFF2-40B4-BE49-F238E27FC236}">
                    <a16:creationId xmlns:a16="http://schemas.microsoft.com/office/drawing/2014/main" id="{43E883CF-AE21-4B93-AE6C-818BA4CE1E57}"/>
                  </a:ext>
                </a:extLst>
              </p:cNvPr>
              <p:cNvSpPr txBox="1">
                <a:spLocks noRot="1" noChangeAspect="1" noMove="1" noResize="1" noEditPoints="1" noAdjustHandles="1" noChangeArrowheads="1" noChangeShapeType="1" noTextEdit="1"/>
              </p:cNvSpPr>
              <p:nvPr/>
            </p:nvSpPr>
            <p:spPr>
              <a:xfrm>
                <a:off x="457200" y="1570235"/>
                <a:ext cx="4637853" cy="1460348"/>
              </a:xfrm>
              <a:prstGeom prst="rect">
                <a:avLst/>
              </a:prstGeom>
              <a:blipFill>
                <a:blip r:embed="rId2"/>
                <a:stretch>
                  <a:fillRect l="-1183" t="-29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DE6CF68C-7B23-4F7C-8945-2634F0A4D010}"/>
                  </a:ext>
                </a:extLst>
              </p:cNvPr>
              <p:cNvSpPr txBox="1"/>
              <p:nvPr/>
            </p:nvSpPr>
            <p:spPr>
              <a:xfrm>
                <a:off x="592723" y="3030583"/>
                <a:ext cx="4826193" cy="1200329"/>
              </a:xfrm>
              <a:prstGeom prst="rect">
                <a:avLst/>
              </a:prstGeom>
              <a:noFill/>
            </p:spPr>
            <p:txBody>
              <a:bodyPr wrap="none" rtlCol="0">
                <a:spAutoFit/>
              </a:bodyPr>
              <a:lstStyle/>
              <a:p>
                <a:r>
                  <a:rPr lang="zh-CN" altLang="en-US" dirty="0"/>
                  <a:t>找到初始基可行解后（此时必有</a:t>
                </a:r>
                <a14:m>
                  <m:oMath xmlns:m="http://schemas.openxmlformats.org/officeDocument/2006/math">
                    <m:sSub>
                      <m:sSubPr>
                        <m:ctrlPr>
                          <a:rPr lang="en-US" altLang="zh-CN" b="0" i="1" dirty="0" smtClean="0">
                            <a:latin typeface="Cambria Math" panose="02040503050406030204" pitchFamily="18" charset="0"/>
                          </a:rPr>
                        </m:ctrlPr>
                      </m:sSubPr>
                      <m:e>
                        <m:r>
                          <m:rPr>
                            <m:sty m:val="p"/>
                          </m:rPr>
                          <a:rPr lang="en-US" altLang="zh-CN" b="0" i="0" dirty="0" smtClean="0">
                            <a:latin typeface="Cambria Math" panose="02040503050406030204" pitchFamily="18" charset="0"/>
                          </a:rPr>
                          <m:t>x</m:t>
                        </m:r>
                      </m:e>
                      <m:sub>
                        <m:r>
                          <a:rPr lang="en-US" altLang="zh-CN" b="0" i="0" dirty="0" smtClean="0">
                            <a:latin typeface="Cambria Math" panose="02040503050406030204" pitchFamily="18" charset="0"/>
                          </a:rPr>
                          <m:t>5</m:t>
                        </m:r>
                      </m:sub>
                    </m:sSub>
                    <m:r>
                      <a:rPr lang="en-US" altLang="zh-CN" b="0" i="0"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m:rPr>
                            <m:sty m:val="p"/>
                          </m:rPr>
                          <a:rPr lang="en-US" altLang="zh-CN" i="1" dirty="0">
                            <a:latin typeface="Cambria Math" panose="02040503050406030204" pitchFamily="18" charset="0"/>
                          </a:rPr>
                          <m:t>x</m:t>
                        </m:r>
                      </m:e>
                      <m:sub>
                        <m:r>
                          <a:rPr lang="en-US" altLang="zh-CN" b="0" i="1" dirty="0" smtClean="0">
                            <a:latin typeface="Cambria Math" panose="02040503050406030204" pitchFamily="18" charset="0"/>
                          </a:rPr>
                          <m:t>6</m:t>
                        </m:r>
                      </m:sub>
                    </m:sSub>
                    <m:r>
                      <a:rPr lang="en-US" altLang="zh-CN" b="0" i="1" dirty="0" smtClean="0">
                        <a:latin typeface="Cambria Math" panose="02040503050406030204" pitchFamily="18" charset="0"/>
                      </a:rPr>
                      <m:t>=0</m:t>
                    </m:r>
                  </m:oMath>
                </a14:m>
                <a:r>
                  <a:rPr lang="zh-CN" altLang="en-US" dirty="0"/>
                  <a:t>）</a:t>
                </a:r>
                <a:endParaRPr lang="en-US" altLang="zh-CN" dirty="0"/>
              </a:p>
              <a:p>
                <a:r>
                  <a:rPr lang="zh-CN" altLang="en-US" dirty="0"/>
                  <a:t>将这个基解作为原问题的初始基可行解</a:t>
                </a:r>
                <a:endParaRPr lang="en-US" altLang="zh-CN" dirty="0"/>
              </a:p>
              <a:p>
                <a:r>
                  <a:rPr lang="zh-CN" altLang="en-US" dirty="0"/>
                  <a:t>将目标函数换回原来的形式</a:t>
                </a:r>
                <a:endParaRPr lang="en-US" altLang="zh-CN" dirty="0"/>
              </a:p>
              <a:p>
                <a:r>
                  <a:rPr lang="zh-CN" altLang="en-US" dirty="0"/>
                  <a:t>删去人工变量</a:t>
                </a:r>
                <a:endParaRPr lang="en-US" altLang="zh-CN" dirty="0"/>
              </a:p>
            </p:txBody>
          </p:sp>
        </mc:Choice>
        <mc:Fallback xmlns="">
          <p:sp>
            <p:nvSpPr>
              <p:cNvPr id="9" name="文本框 8">
                <a:extLst>
                  <a:ext uri="{FF2B5EF4-FFF2-40B4-BE49-F238E27FC236}">
                    <a16:creationId xmlns:a16="http://schemas.microsoft.com/office/drawing/2014/main" id="{DE6CF68C-7B23-4F7C-8945-2634F0A4D010}"/>
                  </a:ext>
                </a:extLst>
              </p:cNvPr>
              <p:cNvSpPr txBox="1">
                <a:spLocks noRot="1" noChangeAspect="1" noMove="1" noResize="1" noEditPoints="1" noAdjustHandles="1" noChangeArrowheads="1" noChangeShapeType="1" noTextEdit="1"/>
              </p:cNvSpPr>
              <p:nvPr/>
            </p:nvSpPr>
            <p:spPr>
              <a:xfrm>
                <a:off x="592723" y="3030583"/>
                <a:ext cx="4826193" cy="1200329"/>
              </a:xfrm>
              <a:prstGeom prst="rect">
                <a:avLst/>
              </a:prstGeom>
              <a:blipFill>
                <a:blip r:embed="rId3"/>
                <a:stretch>
                  <a:fillRect l="-1010" t="-3553" r="-505" b="-60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内容占位符 2">
                <a:extLst>
                  <a:ext uri="{FF2B5EF4-FFF2-40B4-BE49-F238E27FC236}">
                    <a16:creationId xmlns:a16="http://schemas.microsoft.com/office/drawing/2014/main" id="{8C80D2A1-FE77-4E82-9BC8-D9AB3746C431}"/>
                  </a:ext>
                </a:extLst>
              </p:cNvPr>
              <p:cNvSpPr txBox="1">
                <a:spLocks/>
              </p:cNvSpPr>
              <p:nvPr/>
            </p:nvSpPr>
            <p:spPr>
              <a:xfrm>
                <a:off x="457199" y="4383509"/>
                <a:ext cx="4637853" cy="146034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14:m>
                  <m:oMath xmlns:m="http://schemas.openxmlformats.org/officeDocument/2006/math">
                    <m:func>
                      <m:funcPr>
                        <m:ctrlPr>
                          <a:rPr lang="en-US" altLang="zh-CN" sz="2000" i="1" smtClean="0">
                            <a:latin typeface="Cambria Math" panose="02040503050406030204" pitchFamily="18" charset="0"/>
                          </a:rPr>
                        </m:ctrlPr>
                      </m:funcPr>
                      <m:fName>
                        <m:r>
                          <m:rPr>
                            <m:sty m:val="p"/>
                          </m:rPr>
                          <a:rPr lang="en-US" altLang="zh-CN" sz="2000" i="1">
                            <a:latin typeface="Cambria Math" panose="02040503050406030204" pitchFamily="18" charset="0"/>
                          </a:rPr>
                          <m:t>min</m:t>
                        </m:r>
                      </m:fName>
                      <m:e>
                        <m:r>
                          <a:rPr lang="en-US" altLang="zh-CN" sz="2000" i="1">
                            <a:latin typeface="Cambria Math" panose="02040503050406030204" pitchFamily="18" charset="0"/>
                          </a:rPr>
                          <m:t>𝑧</m:t>
                        </m:r>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2</m:t>
                            </m:r>
                          </m:sub>
                        </m:sSub>
                      </m:e>
                    </m:func>
                    <m:r>
                      <a:rPr lang="en-US" altLang="zh-CN" sz="2000" b="0" i="1" smtClean="0">
                        <a:latin typeface="Cambria Math" panose="02040503050406030204" pitchFamily="18" charset="0"/>
                      </a:rPr>
                      <m:t>⇔</m:t>
                    </m:r>
                    <m:func>
                      <m:funcPr>
                        <m:ctrlPr>
                          <a:rPr lang="en-US" altLang="zh-CN" sz="2000" b="0" i="1" smtClean="0">
                            <a:latin typeface="Cambria Math" panose="02040503050406030204" pitchFamily="18" charset="0"/>
                          </a:rPr>
                        </m:ctrlPr>
                      </m:funcPr>
                      <m:fName>
                        <m:r>
                          <m:rPr>
                            <m:sty m:val="p"/>
                          </m:rPr>
                          <a:rPr lang="en-US" altLang="zh-CN" sz="2000" b="0" i="0" smtClean="0">
                            <a:latin typeface="Cambria Math" panose="02040503050406030204" pitchFamily="18" charset="0"/>
                          </a:rPr>
                          <m:t>max</m:t>
                        </m:r>
                      </m:fName>
                      <m:e>
                        <m:r>
                          <a:rPr lang="en-US" altLang="zh-CN" sz="2000" b="0" i="1" smtClean="0">
                            <a:latin typeface="Cambria Math" panose="02040503050406030204" pitchFamily="18" charset="0"/>
                          </a:rPr>
                          <m:t>𝑧</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2</m:t>
                            </m:r>
                          </m:sub>
                        </m:sSub>
                      </m:e>
                    </m:func>
                  </m:oMath>
                </a14:m>
                <a:endParaRPr lang="en-US" altLang="zh-CN" sz="2000" dirty="0"/>
              </a:p>
              <a:p>
                <a14:m>
                  <m:oMath xmlns:m="http://schemas.openxmlformats.org/officeDocument/2006/math">
                    <m:r>
                      <a:rPr lang="en-US" altLang="zh-CN" sz="2000" i="1">
                        <a:latin typeface="Cambria Math" panose="02040503050406030204" pitchFamily="18" charset="0"/>
                      </a:rPr>
                      <m:t>𝑠</m:t>
                    </m:r>
                    <m:r>
                      <a:rPr lang="en-US" altLang="zh-CN" sz="2000" i="1">
                        <a:latin typeface="Cambria Math" panose="02040503050406030204" pitchFamily="18" charset="0"/>
                      </a:rPr>
                      <m:t>.</m:t>
                    </m:r>
                    <m:r>
                      <a:rPr lang="en-US" altLang="zh-CN" sz="2000" i="1">
                        <a:latin typeface="Cambria Math" panose="02040503050406030204" pitchFamily="18" charset="0"/>
                      </a:rPr>
                      <m:t>𝑡</m:t>
                    </m:r>
                    <m:r>
                      <a:rPr lang="en-US" altLang="zh-CN" sz="2000" i="1">
                        <a:latin typeface="Cambria Math" panose="02040503050406030204" pitchFamily="18" charset="0"/>
                      </a:rPr>
                      <m:t>. </m:t>
                    </m:r>
                    <m:d>
                      <m:dPr>
                        <m:begChr m:val="{"/>
                        <m:endChr m:val=""/>
                        <m:ctrlPr>
                          <a:rPr lang="en-US" altLang="zh-CN" sz="2000" i="1">
                            <a:latin typeface="Cambria Math" panose="02040503050406030204" pitchFamily="18" charset="0"/>
                          </a:rPr>
                        </m:ctrlPr>
                      </m:dPr>
                      <m:e>
                        <m:m>
                          <m:mPr>
                            <m:mcs>
                              <m:mc>
                                <m:mcPr>
                                  <m:count m:val="1"/>
                                  <m:mcJc m:val="center"/>
                                </m:mcPr>
                              </m:mc>
                            </m:mcs>
                            <m:ctrlPr>
                              <a:rPr lang="en-US" altLang="zh-CN" sz="2000" i="1">
                                <a:latin typeface="Cambria Math" panose="02040503050406030204" pitchFamily="18" charset="0"/>
                              </a:rPr>
                            </m:ctrlPr>
                          </m:mPr>
                          <m:m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2</m:t>
                                  </m:r>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1</m:t>
                                  </m:r>
                                </m:sub>
                              </m:sSub>
                              <m:r>
                                <m:rPr>
                                  <m:brk m:alnAt="7"/>
                                </m:rP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3</m:t>
                                  </m:r>
                                </m:sub>
                              </m:sSub>
                              <m:r>
                                <a:rPr lang="en-US" altLang="zh-CN" sz="2000" i="1">
                                  <a:latin typeface="Cambria Math" panose="02040503050406030204" pitchFamily="18" charset="0"/>
                                </a:rPr>
                                <m:t>=12</m:t>
                              </m:r>
                            </m:e>
                          </m:mr>
                          <m:mr>
                            <m:e>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1</m:t>
                                  </m:r>
                                </m:sub>
                              </m:sSub>
                              <m:r>
                                <m:rPr>
                                  <m:brk m:alnAt="7"/>
                                </m:rPr>
                                <a:rPr lang="en-US" altLang="zh-CN" sz="2000" i="1">
                                  <a:latin typeface="Cambria Math" panose="02040503050406030204" pitchFamily="18" charset="0"/>
                                </a:rPr>
                                <m:t>+</m:t>
                              </m:r>
                              <m:r>
                                <a:rPr lang="en-US" altLang="zh-CN" sz="2000" i="1">
                                  <a:latin typeface="Cambria Math" panose="02040503050406030204" pitchFamily="18" charset="0"/>
                                </a:rPr>
                                <m:t>2</m:t>
                              </m:r>
                              <m:sSub>
                                <m:sSubPr>
                                  <m:ctrlPr>
                                    <a:rPr lang="en-US" altLang="zh-CN" sz="2000" i="1">
                                      <a:latin typeface="Cambria Math" panose="02040503050406030204" pitchFamily="18" charset="0"/>
                                    </a:rPr>
                                  </m:ctrlPr>
                                </m:sSubPr>
                                <m:e>
                                  <m:r>
                                    <m:rPr>
                                      <m:brk m:alnAt="7"/>
                                    </m:rPr>
                                    <a:rPr lang="en-US" altLang="zh-CN" sz="2000" i="1">
                                      <a:latin typeface="Cambria Math" panose="02040503050406030204" pitchFamily="18" charset="0"/>
                                    </a:rPr>
                                    <m:t>𝑥</m:t>
                                  </m:r>
                                </m:e>
                                <m:sub>
                                  <m:r>
                                    <m:rPr>
                                      <m:brk m:alnAt="7"/>
                                    </m:rPr>
                                    <a:rPr lang="en-US" altLang="zh-CN" sz="2000" i="1">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4</m:t>
                                  </m:r>
                                </m:sub>
                              </m:sSub>
                              <m:r>
                                <a:rPr lang="en-US" altLang="zh-CN" sz="2000" i="1">
                                  <a:latin typeface="Cambria Math" panose="02040503050406030204" pitchFamily="18" charset="0"/>
                                </a:rPr>
                                <m:t>=9</m:t>
                              </m:r>
                            </m:e>
                          </m:mr>
                          <m:m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3</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4</m:t>
                                  </m:r>
                                </m:sub>
                              </m:sSub>
                              <m:r>
                                <a:rPr lang="en-US" altLang="zh-CN" sz="2000" i="1">
                                  <a:latin typeface="Cambria Math" panose="02040503050406030204" pitchFamily="18" charset="0"/>
                                </a:rPr>
                                <m:t>≥0</m:t>
                              </m:r>
                            </m:e>
                          </m:mr>
                        </m:m>
                      </m:e>
                    </m:d>
                  </m:oMath>
                </a14:m>
                <a:endParaRPr lang="zh-CN" altLang="en-US" sz="2000" dirty="0"/>
              </a:p>
            </p:txBody>
          </p:sp>
        </mc:Choice>
        <mc:Fallback xmlns="">
          <p:sp>
            <p:nvSpPr>
              <p:cNvPr id="10" name="内容占位符 2">
                <a:extLst>
                  <a:ext uri="{FF2B5EF4-FFF2-40B4-BE49-F238E27FC236}">
                    <a16:creationId xmlns:a16="http://schemas.microsoft.com/office/drawing/2014/main" id="{8C80D2A1-FE77-4E82-9BC8-D9AB3746C431}"/>
                  </a:ext>
                </a:extLst>
              </p:cNvPr>
              <p:cNvSpPr txBox="1">
                <a:spLocks noRot="1" noChangeAspect="1" noMove="1" noResize="1" noEditPoints="1" noAdjustHandles="1" noChangeArrowheads="1" noChangeShapeType="1" noTextEdit="1"/>
              </p:cNvSpPr>
              <p:nvPr/>
            </p:nvSpPr>
            <p:spPr>
              <a:xfrm>
                <a:off x="457199" y="4383509"/>
                <a:ext cx="4637853" cy="1460348"/>
              </a:xfrm>
              <a:prstGeom prst="rect">
                <a:avLst/>
              </a:prstGeom>
              <a:blipFill>
                <a:blip r:embed="rId4"/>
                <a:stretch>
                  <a:fillRect l="-1183" t="-291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413965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54B0A050-884E-4DC0-837A-57CC481156B9}"/>
              </a:ext>
            </a:extLst>
          </p:cNvPr>
          <p:cNvSpPr>
            <a:spLocks noGrp="1" noChangeArrowheads="1"/>
          </p:cNvSpPr>
          <p:nvPr>
            <p:ph type="title"/>
          </p:nvPr>
        </p:nvSpPr>
        <p:spPr/>
        <p:txBody>
          <a:bodyPr/>
          <a:lstStyle/>
          <a:p>
            <a:pPr eaLnBrk="1" hangingPunct="1"/>
            <a:r>
              <a:rPr lang="zh-CN" altLang="en-US" sz="3600"/>
              <a:t>解的判别（</a:t>
            </a:r>
            <a:r>
              <a:rPr lang="zh-CN" altLang="en-US" sz="3600">
                <a:solidFill>
                  <a:srgbClr val="FF33CC"/>
                </a:solidFill>
              </a:rPr>
              <a:t>目标函数极小化</a:t>
            </a:r>
            <a:r>
              <a:rPr lang="zh-CN" altLang="en-US" sz="3600"/>
              <a:t>）</a:t>
            </a:r>
          </a:p>
        </p:txBody>
      </p:sp>
      <p:sp>
        <p:nvSpPr>
          <p:cNvPr id="123907" name="Rectangle 3">
            <a:extLst>
              <a:ext uri="{FF2B5EF4-FFF2-40B4-BE49-F238E27FC236}">
                <a16:creationId xmlns:a16="http://schemas.microsoft.com/office/drawing/2014/main" id="{ED812C6D-7EDD-4AAE-BC4A-88EBCFB715B4}"/>
              </a:ext>
            </a:extLst>
          </p:cNvPr>
          <p:cNvSpPr>
            <a:spLocks noGrp="1" noChangeArrowheads="1"/>
          </p:cNvSpPr>
          <p:nvPr>
            <p:ph type="body" idx="1"/>
          </p:nvPr>
        </p:nvSpPr>
        <p:spPr>
          <a:xfrm>
            <a:off x="304800" y="1447800"/>
            <a:ext cx="8382000" cy="4572000"/>
          </a:xfrm>
        </p:spPr>
        <p:txBody>
          <a:bodyPr/>
          <a:lstStyle/>
          <a:p>
            <a:pPr eaLnBrk="1" hangingPunct="1"/>
            <a:r>
              <a:rPr kumimoji="1" lang="zh-CN" altLang="en-US"/>
              <a:t>唯一最优解</a:t>
            </a:r>
            <a:r>
              <a:rPr lang="zh-CN" altLang="en-US"/>
              <a:t>：对于一切 </a:t>
            </a:r>
            <a:r>
              <a:rPr lang="en-US" altLang="zh-CN">
                <a:latin typeface="Times New Roman" panose="02020603050405020304" pitchFamily="18" charset="0"/>
              </a:rPr>
              <a:t>j=m+1,…,n,</a:t>
            </a:r>
            <a:r>
              <a:rPr lang="zh-CN" altLang="en-US">
                <a:latin typeface="Times New Roman" panose="02020603050405020304" pitchFamily="18" charset="0"/>
              </a:rPr>
              <a:t>有 </a:t>
            </a:r>
            <a:r>
              <a:rPr kumimoji="1" lang="zh-CN" altLang="en-US">
                <a:latin typeface="Times New Roman" panose="02020603050405020304" pitchFamily="18" charset="0"/>
                <a:sym typeface="Symbol" panose="05050102010706020507" pitchFamily="18" charset="2"/>
              </a:rPr>
              <a:t></a:t>
            </a:r>
            <a:r>
              <a:rPr lang="en-US" altLang="zh-CN" baseline="-25000">
                <a:latin typeface="Times New Roman" panose="02020603050405020304" pitchFamily="18" charset="0"/>
                <a:sym typeface="Symbol" panose="05050102010706020507" pitchFamily="18" charset="2"/>
              </a:rPr>
              <a:t>j </a:t>
            </a:r>
            <a:r>
              <a:rPr lang="en-US" altLang="zh-CN">
                <a:solidFill>
                  <a:srgbClr val="FF0000"/>
                </a:solidFill>
                <a:latin typeface="Times New Roman" panose="02020603050405020304" pitchFamily="18" charset="0"/>
                <a:sym typeface="Symbol" panose="05050102010706020507" pitchFamily="18" charset="2"/>
              </a:rPr>
              <a:t>&gt; </a:t>
            </a:r>
            <a:r>
              <a:rPr kumimoji="1" lang="en-US" altLang="zh-CN">
                <a:latin typeface="Times New Roman" panose="02020603050405020304" pitchFamily="18" charset="0"/>
                <a:sym typeface="Symbol" panose="05050102010706020507" pitchFamily="18" charset="2"/>
              </a:rPr>
              <a:t>0</a:t>
            </a:r>
            <a:endParaRPr kumimoji="1" lang="zh-CN" altLang="en-US">
              <a:sym typeface="Symbol" panose="05050102010706020507" pitchFamily="18" charset="2"/>
            </a:endParaRPr>
          </a:p>
          <a:p>
            <a:pPr lvl="2" eaLnBrk="1" hangingPunct="1"/>
            <a:endParaRPr kumimoji="1" lang="zh-CN" altLang="en-US" sz="900">
              <a:sym typeface="Symbol" panose="05050102010706020507" pitchFamily="18" charset="2"/>
            </a:endParaRPr>
          </a:p>
          <a:p>
            <a:pPr eaLnBrk="1" hangingPunct="1"/>
            <a:endParaRPr kumimoji="1" lang="zh-CN" altLang="en-US">
              <a:sym typeface="Symbol" panose="05050102010706020507" pitchFamily="18" charset="2"/>
            </a:endParaRPr>
          </a:p>
          <a:p>
            <a:pPr algn="just" eaLnBrk="1" hangingPunct="1"/>
            <a:r>
              <a:rPr kumimoji="1" lang="zh-CN" altLang="en-US">
                <a:sym typeface="Symbol" panose="05050102010706020507" pitchFamily="18" charset="2"/>
              </a:rPr>
              <a:t>无穷多最优解：</a:t>
            </a:r>
            <a:r>
              <a:rPr lang="zh-CN" altLang="en-US"/>
              <a:t>对于一切 </a:t>
            </a:r>
            <a:r>
              <a:rPr lang="en-US" altLang="zh-CN">
                <a:latin typeface="Times New Roman" panose="02020603050405020304" pitchFamily="18" charset="0"/>
              </a:rPr>
              <a:t>j=m+1,…,n, </a:t>
            </a:r>
            <a:r>
              <a:rPr lang="zh-CN" altLang="en-US">
                <a:latin typeface="Times New Roman" panose="02020603050405020304" pitchFamily="18" charset="0"/>
              </a:rPr>
              <a:t>有</a:t>
            </a:r>
            <a:r>
              <a:rPr kumimoji="1" lang="zh-CN" altLang="en-US">
                <a:latin typeface="Times New Roman" panose="02020603050405020304" pitchFamily="18" charset="0"/>
                <a:sym typeface="Symbol" panose="05050102010706020507" pitchFamily="18" charset="2"/>
              </a:rPr>
              <a:t></a:t>
            </a:r>
            <a:r>
              <a:rPr lang="en-US" altLang="zh-CN" baseline="-25000">
                <a:latin typeface="Times New Roman" panose="02020603050405020304" pitchFamily="18" charset="0"/>
                <a:sym typeface="Symbol" panose="05050102010706020507" pitchFamily="18" charset="2"/>
              </a:rPr>
              <a:t>j</a:t>
            </a:r>
            <a:r>
              <a:rPr kumimoji="1" lang="en-US" altLang="zh-CN">
                <a:solidFill>
                  <a:srgbClr val="FF0000"/>
                </a:solidFill>
                <a:latin typeface="Times New Roman" panose="02020603050405020304" pitchFamily="18" charset="0"/>
                <a:sym typeface="Symbol" panose="05050102010706020507" pitchFamily="18" charset="2"/>
              </a:rPr>
              <a:t>≥</a:t>
            </a:r>
            <a:r>
              <a:rPr kumimoji="1" lang="en-US" altLang="zh-CN">
                <a:latin typeface="Times New Roman" panose="02020603050405020304" pitchFamily="18" charset="0"/>
                <a:sym typeface="Symbol" panose="05050102010706020507" pitchFamily="18" charset="2"/>
              </a:rPr>
              <a:t>0</a:t>
            </a:r>
            <a:r>
              <a:rPr kumimoji="1" lang="zh-CN" altLang="en-US">
                <a:latin typeface="Times New Roman" panose="02020603050405020304" pitchFamily="18" charset="0"/>
                <a:sym typeface="Symbol" panose="05050102010706020507" pitchFamily="18" charset="2"/>
              </a:rPr>
              <a:t>，</a:t>
            </a:r>
            <a:r>
              <a:rPr kumimoji="1" lang="zh-CN" altLang="en-US">
                <a:sym typeface="Symbol" panose="05050102010706020507" pitchFamily="18" charset="2"/>
              </a:rPr>
              <a:t>并且存在某个</a:t>
            </a:r>
            <a:r>
              <a:rPr kumimoji="1" lang="zh-CN" altLang="en-US">
                <a:latin typeface="Times New Roman" panose="02020603050405020304" pitchFamily="18" charset="0"/>
                <a:sym typeface="Symbol" panose="05050102010706020507" pitchFamily="18" charset="2"/>
              </a:rPr>
              <a:t></a:t>
            </a:r>
            <a:r>
              <a:rPr lang="en-US" altLang="zh-CN" baseline="-25000">
                <a:latin typeface="Times New Roman" panose="02020603050405020304" pitchFamily="18" charset="0"/>
                <a:sym typeface="Symbol" panose="05050102010706020507" pitchFamily="18" charset="2"/>
              </a:rPr>
              <a:t>m+k</a:t>
            </a:r>
            <a:r>
              <a:rPr kumimoji="1" lang="en-US" altLang="zh-CN">
                <a:latin typeface="Times New Roman" panose="02020603050405020304" pitchFamily="18" charset="0"/>
                <a:sym typeface="Symbol" panose="05050102010706020507" pitchFamily="18" charset="2"/>
              </a:rPr>
              <a:t>=0</a:t>
            </a:r>
          </a:p>
          <a:p>
            <a:pPr eaLnBrk="1" hangingPunct="1"/>
            <a:endParaRPr kumimoji="1" lang="zh-CN" altLang="en-US" sz="1200">
              <a:sym typeface="Symbol" panose="05050102010706020507" pitchFamily="18" charset="2"/>
            </a:endParaRPr>
          </a:p>
          <a:p>
            <a:pPr eaLnBrk="1" hangingPunct="1"/>
            <a:endParaRPr kumimoji="1" lang="zh-CN" altLang="en-US">
              <a:sym typeface="Symbol" panose="05050102010706020507" pitchFamily="18" charset="2"/>
            </a:endParaRPr>
          </a:p>
          <a:p>
            <a:pPr eaLnBrk="1" hangingPunct="1"/>
            <a:r>
              <a:rPr kumimoji="1" lang="zh-CN" altLang="en-US">
                <a:sym typeface="Symbol" panose="05050102010706020507" pitchFamily="18" charset="2"/>
              </a:rPr>
              <a:t>无界解（无最优解）：存在</a:t>
            </a:r>
            <a:r>
              <a:rPr kumimoji="1" lang="en-US" altLang="zh-CN">
                <a:latin typeface="Times New Roman" panose="02020603050405020304" pitchFamily="18" charset="0"/>
                <a:sym typeface="Symbol" panose="05050102010706020507" pitchFamily="18" charset="2"/>
              </a:rPr>
              <a:t></a:t>
            </a:r>
            <a:r>
              <a:rPr lang="en-US" altLang="zh-CN" baseline="-25000">
                <a:latin typeface="Times New Roman" panose="02020603050405020304" pitchFamily="18" charset="0"/>
                <a:sym typeface="Symbol" panose="05050102010706020507" pitchFamily="18" charset="2"/>
              </a:rPr>
              <a:t>m+k</a:t>
            </a:r>
            <a:r>
              <a:rPr kumimoji="1" lang="en-US" altLang="zh-CN">
                <a:solidFill>
                  <a:srgbClr val="FF0000"/>
                </a:solidFill>
                <a:latin typeface="Times New Roman" panose="02020603050405020304" pitchFamily="18" charset="0"/>
                <a:sym typeface="Symbol" panose="05050102010706020507" pitchFamily="18" charset="2"/>
              </a:rPr>
              <a:t>&lt;</a:t>
            </a:r>
            <a:r>
              <a:rPr kumimoji="1" lang="en-US" altLang="zh-CN">
                <a:latin typeface="Times New Roman" panose="02020603050405020304" pitchFamily="18" charset="0"/>
                <a:sym typeface="Symbol" panose="05050102010706020507" pitchFamily="18" charset="2"/>
              </a:rPr>
              <a:t> 0</a:t>
            </a:r>
            <a:r>
              <a:rPr kumimoji="1" lang="zh-CN" altLang="en-US">
                <a:latin typeface="Times New Roman" panose="02020603050405020304" pitchFamily="18" charset="0"/>
                <a:sym typeface="Symbol" panose="05050102010706020507" pitchFamily="18" charset="2"/>
              </a:rPr>
              <a:t>，且对 </a:t>
            </a:r>
            <a:r>
              <a:rPr kumimoji="1" lang="en-US" altLang="zh-CN">
                <a:latin typeface="Times New Roman" panose="02020603050405020304" pitchFamily="18" charset="0"/>
                <a:sym typeface="Symbol" panose="05050102010706020507" pitchFamily="18" charset="2"/>
              </a:rPr>
              <a:t>i=1,2,…,m </a:t>
            </a:r>
            <a:r>
              <a:rPr kumimoji="1" lang="zh-CN" altLang="en-US">
                <a:latin typeface="Times New Roman" panose="02020603050405020304" pitchFamily="18" charset="0"/>
                <a:sym typeface="Symbol" panose="05050102010706020507" pitchFamily="18" charset="2"/>
              </a:rPr>
              <a:t>有</a:t>
            </a:r>
            <a:r>
              <a:rPr kumimoji="1" lang="en-US" altLang="zh-CN" i="1">
                <a:latin typeface="Times New Roman" panose="02020603050405020304" pitchFamily="18" charset="0"/>
                <a:sym typeface="Symbol" panose="05050102010706020507" pitchFamily="18" charset="2"/>
              </a:rPr>
              <a:t>a</a:t>
            </a:r>
            <a:r>
              <a:rPr kumimoji="1" lang="en-US" altLang="zh-CN" baseline="-25000">
                <a:latin typeface="Times New Roman" panose="02020603050405020304" pitchFamily="18" charset="0"/>
                <a:sym typeface="Symbol" panose="05050102010706020507" pitchFamily="18" charset="2"/>
              </a:rPr>
              <a:t>i,m+k</a:t>
            </a:r>
            <a:r>
              <a:rPr kumimoji="1" lang="en-US" altLang="zh-CN">
                <a:latin typeface="Times New Roman" panose="02020603050405020304" pitchFamily="18" charset="0"/>
                <a:sym typeface="Symbol" panose="05050102010706020507" pitchFamily="18" charset="2"/>
              </a:rPr>
              <a:t> ≤ 0</a:t>
            </a:r>
            <a:endParaRPr kumimoji="1" lang="zh-CN" altLang="en-US">
              <a:latin typeface="Times New Roman" panose="02020603050405020304" pitchFamily="18" charset="0"/>
              <a:sym typeface="Symbol" panose="05050102010706020507" pitchFamily="18" charset="2"/>
            </a:endParaRPr>
          </a:p>
        </p:txBody>
      </p:sp>
      <p:sp>
        <p:nvSpPr>
          <p:cNvPr id="5" name="矩形 21">
            <a:extLst>
              <a:ext uri="{FF2B5EF4-FFF2-40B4-BE49-F238E27FC236}">
                <a16:creationId xmlns:a16="http://schemas.microsoft.com/office/drawing/2014/main" id="{2005867D-0054-4DE1-AA8B-A35CB429618F}"/>
              </a:ext>
            </a:extLst>
          </p:cNvPr>
          <p:cNvSpPr>
            <a:spLocks noChangeArrowheads="1"/>
          </p:cNvSpPr>
          <p:nvPr/>
        </p:nvSpPr>
        <p:spPr bwMode="auto">
          <a:xfrm>
            <a:off x="2676525" y="914400"/>
            <a:ext cx="3638550" cy="369888"/>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zh-CN" altLang="en-US" sz="1800" b="1" i="0" u="none" strike="noStrike" kern="1200" cap="none" spc="0" normalizeH="0" baseline="0" noProof="0">
                <a:ln>
                  <a:noFill/>
                </a:ln>
                <a:solidFill>
                  <a:srgbClr val="FF33CC"/>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所有有关检验数</a:t>
            </a:r>
            <a:r>
              <a:rPr kumimoji="1" lang="en-US" altLang="zh-CN" sz="1800" b="1" i="0" u="none" strike="noStrike" kern="1200" cap="none" spc="0" normalizeH="0" baseline="0" noProof="0">
                <a:ln>
                  <a:noFill/>
                </a:ln>
                <a:solidFill>
                  <a:srgbClr val="FF33CC"/>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zh-CN" altLang="en-US" sz="1800" b="1" i="0" u="none" strike="noStrike" kern="1200" cap="none" spc="0" normalizeH="0" baseline="0" noProof="0">
                <a:ln>
                  <a:noFill/>
                </a:ln>
                <a:solidFill>
                  <a:srgbClr val="FF33CC"/>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的不等式反号！</a:t>
            </a:r>
            <a:endParaRPr kumimoji="0" lang="en-US" altLang="zh-CN" sz="1800" b="0" i="0" u="none" strike="noStrike" kern="1200" cap="none" spc="0" normalizeH="0" baseline="0" noProof="0">
              <a:ln>
                <a:noFill/>
              </a:ln>
              <a:solidFill>
                <a:srgbClr val="FF33CC"/>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标题 1">
            <a:extLst>
              <a:ext uri="{FF2B5EF4-FFF2-40B4-BE49-F238E27FC236}">
                <a16:creationId xmlns:a16="http://schemas.microsoft.com/office/drawing/2014/main" id="{55739DFD-F4D5-4D57-81B1-06BDC5D55FF9}"/>
              </a:ext>
            </a:extLst>
          </p:cNvPr>
          <p:cNvSpPr>
            <a:spLocks noGrp="1" noChangeArrowheads="1"/>
          </p:cNvSpPr>
          <p:nvPr>
            <p:ph type="title"/>
          </p:nvPr>
        </p:nvSpPr>
        <p:spPr/>
        <p:txBody>
          <a:bodyPr/>
          <a:lstStyle/>
          <a:p>
            <a:r>
              <a:rPr lang="zh-CN" altLang="en-US" sz="4000"/>
              <a:t>基变换（</a:t>
            </a:r>
            <a:r>
              <a:rPr lang="zh-CN" altLang="en-US" sz="4000">
                <a:solidFill>
                  <a:srgbClr val="FF33CC"/>
                </a:solidFill>
              </a:rPr>
              <a:t>目标函数极小化</a:t>
            </a:r>
            <a:r>
              <a:rPr lang="zh-CN" altLang="en-US" sz="4000"/>
              <a:t>）</a:t>
            </a:r>
          </a:p>
        </p:txBody>
      </p:sp>
      <p:sp>
        <p:nvSpPr>
          <p:cNvPr id="125955" name="内容占位符 2">
            <a:extLst>
              <a:ext uri="{FF2B5EF4-FFF2-40B4-BE49-F238E27FC236}">
                <a16:creationId xmlns:a16="http://schemas.microsoft.com/office/drawing/2014/main" id="{C33941B0-F36D-42DE-A1E7-E6E1E9816A4E}"/>
              </a:ext>
            </a:extLst>
          </p:cNvPr>
          <p:cNvSpPr>
            <a:spLocks noGrp="1" noChangeArrowheads="1"/>
          </p:cNvSpPr>
          <p:nvPr>
            <p:ph idx="1"/>
          </p:nvPr>
        </p:nvSpPr>
        <p:spPr/>
        <p:txBody>
          <a:bodyPr/>
          <a:lstStyle/>
          <a:p>
            <a:r>
              <a:rPr lang="zh-CN" altLang="en-US" dirty="0"/>
              <a:t>寻找更好的基可行解，也即寻找新的基阵</a:t>
            </a:r>
            <a:endParaRPr lang="en-US" altLang="zh-CN" dirty="0"/>
          </a:p>
          <a:p>
            <a:r>
              <a:rPr lang="zh-CN" altLang="en-US" dirty="0"/>
              <a:t>进基</a:t>
            </a:r>
            <a:r>
              <a:rPr lang="en-US" altLang="zh-CN" dirty="0"/>
              <a:t>(</a:t>
            </a:r>
            <a:r>
              <a:rPr lang="zh-CN" altLang="en-US" dirty="0"/>
              <a:t>换入变量的确定</a:t>
            </a:r>
            <a:r>
              <a:rPr lang="en-US" altLang="zh-CN" dirty="0"/>
              <a:t>)</a:t>
            </a:r>
          </a:p>
          <a:p>
            <a:pPr lvl="1"/>
            <a:r>
              <a:rPr lang="zh-CN" altLang="en-US" dirty="0"/>
              <a:t>改善目标函数</a:t>
            </a:r>
            <a:endParaRPr lang="en-US" altLang="zh-CN" dirty="0"/>
          </a:p>
          <a:p>
            <a:pPr lvl="1"/>
            <a:r>
              <a:rPr lang="zh-CN" altLang="en-US" dirty="0">
                <a:latin typeface="Times New Roman" panose="02020603050405020304" pitchFamily="18" charset="0"/>
                <a:cs typeface="Times New Roman" panose="02020603050405020304" pitchFamily="18" charset="0"/>
              </a:rPr>
              <a:t>令 </a:t>
            </a:r>
            <a:r>
              <a:rPr kumimoji="1"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k</a:t>
            </a:r>
            <a:r>
              <a:rPr lang="en-US" altLang="zh-CN" dirty="0">
                <a:latin typeface="Times New Roman" panose="02020603050405020304" pitchFamily="18" charset="0"/>
                <a:cs typeface="Times New Roman" panose="02020603050405020304" pitchFamily="18" charset="0"/>
              </a:rPr>
              <a:t>= </a:t>
            </a:r>
            <a:r>
              <a:rPr lang="en-US" altLang="zh-CN" dirty="0">
                <a:solidFill>
                  <a:srgbClr val="FF0000"/>
                </a:solidFill>
                <a:latin typeface="Times New Roman" panose="02020603050405020304" pitchFamily="18" charset="0"/>
                <a:cs typeface="Times New Roman" panose="02020603050405020304" pitchFamily="18" charset="0"/>
              </a:rPr>
              <a:t>Min</a:t>
            </a:r>
            <a:r>
              <a:rPr lang="en-US" altLang="zh-CN"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j</a:t>
            </a:r>
            <a:r>
              <a:rPr kumimoji="1" lang="en-US" altLang="zh-CN"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&lt;</a:t>
            </a:r>
            <a:r>
              <a:rPr kumimoji="1" lang="en-US" altLang="zh-CN" dirty="0">
                <a:latin typeface="Times New Roman" panose="02020603050405020304" pitchFamily="18" charset="0"/>
                <a:cs typeface="Times New Roman" panose="02020603050405020304" pitchFamily="18" charset="0"/>
                <a:sym typeface="Symbol" panose="05050102010706020507" pitchFamily="18" charset="2"/>
              </a:rPr>
              <a:t>0</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对应 </a:t>
            </a:r>
            <a:r>
              <a:rPr lang="en-US" altLang="zh-CN" i="1" dirty="0" err="1">
                <a:latin typeface="Times New Roman" panose="02020603050405020304" pitchFamily="18" charset="0"/>
                <a:cs typeface="Times New Roman" panose="02020603050405020304" pitchFamily="18" charset="0"/>
              </a:rPr>
              <a:t>P</a:t>
            </a:r>
            <a:r>
              <a:rPr lang="en-US" altLang="zh-CN" i="1" baseline="-25000" dirty="0" err="1">
                <a:latin typeface="Times New Roman" panose="02020603050405020304" pitchFamily="18" charset="0"/>
                <a:cs typeface="Times New Roman" panose="02020603050405020304" pitchFamily="18" charset="0"/>
              </a:rPr>
              <a:t>k</a:t>
            </a:r>
            <a:r>
              <a:rPr lang="en-US" altLang="zh-CN" baseline="-25000"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进基</a:t>
            </a:r>
            <a:endParaRPr lang="en-US" altLang="zh-CN" baseline="-25000" dirty="0">
              <a:latin typeface="Times New Roman" panose="02020603050405020304" pitchFamily="18" charset="0"/>
              <a:cs typeface="Times New Roman" panose="02020603050405020304" pitchFamily="18" charset="0"/>
              <a:sym typeface="Symbol" panose="05050102010706020507" pitchFamily="18" charset="2"/>
            </a:endParaRPr>
          </a:p>
          <a:p>
            <a:r>
              <a:rPr lang="zh-CN" altLang="en-US" dirty="0"/>
              <a:t>出基</a:t>
            </a:r>
            <a:r>
              <a:rPr lang="en-US" altLang="zh-CN" dirty="0"/>
              <a:t>(</a:t>
            </a:r>
            <a:r>
              <a:rPr lang="zh-CN" altLang="en-US" dirty="0"/>
              <a:t>换出变量的确定</a:t>
            </a:r>
            <a:r>
              <a:rPr lang="en-US" altLang="zh-CN" dirty="0"/>
              <a:t>)</a:t>
            </a:r>
          </a:p>
          <a:p>
            <a:pPr lvl="1"/>
            <a:r>
              <a:rPr lang="zh-CN" altLang="en-US" dirty="0"/>
              <a:t>新基本解须可行</a:t>
            </a:r>
            <a:endParaRPr lang="en-US" altLang="zh-CN" dirty="0"/>
          </a:p>
          <a:p>
            <a:pPr lvl="1"/>
            <a:r>
              <a:rPr lang="zh-CN" altLang="en-US" dirty="0"/>
              <a:t>令 </a:t>
            </a:r>
            <a:r>
              <a:rPr kumimoji="1" lang="zh-CN" altLang="en-US" dirty="0">
                <a:latin typeface="Times New Roman" panose="02020603050405020304" pitchFamily="18" charset="0"/>
                <a:sym typeface="Symbol" panose="05050102010706020507" pitchFamily="18" charset="2"/>
              </a:rPr>
              <a:t> </a:t>
            </a:r>
            <a:r>
              <a:rPr kumimoji="1" lang="en-US" altLang="zh-CN" dirty="0">
                <a:latin typeface="Times New Roman" panose="02020603050405020304" pitchFamily="18" charset="0"/>
                <a:sym typeface="Symbol" panose="05050102010706020507" pitchFamily="18" charset="2"/>
              </a:rPr>
              <a:t>=min</a:t>
            </a:r>
            <a:r>
              <a:rPr kumimoji="1" lang="en-US" altLang="zh-CN" baseline="-25000" dirty="0">
                <a:latin typeface="Times New Roman" panose="02020603050405020304" pitchFamily="18" charset="0"/>
                <a:sym typeface="Symbol" panose="05050102010706020507" pitchFamily="18" charset="2"/>
              </a:rPr>
              <a:t>i</a:t>
            </a:r>
            <a:r>
              <a:rPr kumimoji="1" lang="en-US" altLang="zh-CN" dirty="0">
                <a:latin typeface="Times New Roman" panose="02020603050405020304" pitchFamily="18" charset="0"/>
                <a:sym typeface="Symbol" panose="05050102010706020507" pitchFamily="18" charset="2"/>
              </a:rPr>
              <a:t> ( b</a:t>
            </a:r>
            <a:r>
              <a:rPr kumimoji="1" lang="en-US" altLang="zh-CN" sz="2400" i="1" baseline="-25000" dirty="0">
                <a:latin typeface="Times New Roman" panose="02020603050405020304" pitchFamily="18" charset="0"/>
                <a:sym typeface="Symbol" panose="05050102010706020507" pitchFamily="18" charset="2"/>
              </a:rPr>
              <a:t>i </a:t>
            </a:r>
            <a:r>
              <a:rPr kumimoji="1" lang="en-US" altLang="zh-CN" dirty="0">
                <a:latin typeface="Times New Roman" panose="02020603050405020304" pitchFamily="18" charset="0"/>
              </a:rPr>
              <a:t>/</a:t>
            </a:r>
            <a:r>
              <a:rPr kumimoji="1" lang="en-US" altLang="zh-CN" dirty="0" err="1">
                <a:latin typeface="Times New Roman" panose="02020603050405020304" pitchFamily="18" charset="0"/>
                <a:sym typeface="Symbol" panose="05050102010706020507" pitchFamily="18" charset="2"/>
              </a:rPr>
              <a:t>a</a:t>
            </a:r>
            <a:r>
              <a:rPr kumimoji="1" lang="en-US" altLang="zh-CN" sz="2400" i="1" baseline="-25000" dirty="0" err="1">
                <a:latin typeface="Times New Roman" panose="02020603050405020304" pitchFamily="18" charset="0"/>
                <a:sym typeface="Symbol" panose="05050102010706020507" pitchFamily="18" charset="2"/>
              </a:rPr>
              <a:t>ik</a:t>
            </a:r>
            <a:r>
              <a:rPr kumimoji="1" lang="en-US" altLang="zh-CN" sz="2400" i="1" baseline="-25000" dirty="0">
                <a:latin typeface="Times New Roman" panose="02020603050405020304" pitchFamily="18" charset="0"/>
                <a:sym typeface="Symbol" panose="05050102010706020507" pitchFamily="18" charset="2"/>
              </a:rPr>
              <a:t> </a:t>
            </a:r>
            <a:r>
              <a:rPr kumimoji="1" lang="en-US" altLang="zh-CN" dirty="0">
                <a:latin typeface="Times New Roman" panose="02020603050405020304" pitchFamily="18" charset="0"/>
                <a:sym typeface="Symbol" panose="05050102010706020507" pitchFamily="18" charset="2"/>
              </a:rPr>
              <a:t>| </a:t>
            </a:r>
            <a:r>
              <a:rPr kumimoji="1" lang="en-US" altLang="zh-CN" dirty="0" err="1">
                <a:latin typeface="Times New Roman" panose="02020603050405020304" pitchFamily="18" charset="0"/>
                <a:sym typeface="Symbol" panose="05050102010706020507" pitchFamily="18" charset="2"/>
              </a:rPr>
              <a:t>a</a:t>
            </a:r>
            <a:r>
              <a:rPr kumimoji="1" lang="en-US" altLang="zh-CN" i="1" baseline="-25000" dirty="0" err="1">
                <a:latin typeface="Times New Roman" panose="02020603050405020304" pitchFamily="18" charset="0"/>
                <a:sym typeface="Symbol" panose="05050102010706020507" pitchFamily="18" charset="2"/>
              </a:rPr>
              <a:t>ik</a:t>
            </a:r>
            <a:r>
              <a:rPr kumimoji="1" lang="en-US" altLang="zh-CN" i="1" baseline="-25000" dirty="0">
                <a:latin typeface="Times New Roman" panose="02020603050405020304" pitchFamily="18" charset="0"/>
                <a:sym typeface="Symbol" panose="05050102010706020507" pitchFamily="18" charset="2"/>
              </a:rPr>
              <a:t> </a:t>
            </a:r>
            <a:r>
              <a:rPr kumimoji="1" lang="en-US" altLang="zh-CN" dirty="0">
                <a:latin typeface="Times New Roman" panose="02020603050405020304" pitchFamily="18" charset="0"/>
                <a:sym typeface="Symbol" panose="05050102010706020507" pitchFamily="18" charset="2"/>
              </a:rPr>
              <a:t>&gt;0) = </a:t>
            </a:r>
            <a:r>
              <a:rPr kumimoji="1" lang="en-US" altLang="zh-CN" dirty="0">
                <a:latin typeface="Times New Roman" panose="02020603050405020304" pitchFamily="18" charset="0"/>
              </a:rPr>
              <a:t>b</a:t>
            </a:r>
            <a:r>
              <a:rPr kumimoji="1" lang="en-US" altLang="zh-CN" sz="2400" i="1" baseline="-25000" dirty="0">
                <a:latin typeface="Times New Roman" panose="02020603050405020304" pitchFamily="18" charset="0"/>
              </a:rPr>
              <a:t>l </a:t>
            </a:r>
            <a:r>
              <a:rPr kumimoji="1" lang="en-US" altLang="zh-CN" dirty="0">
                <a:latin typeface="Times New Roman" panose="02020603050405020304" pitchFamily="18" charset="0"/>
              </a:rPr>
              <a:t>/</a:t>
            </a:r>
            <a:r>
              <a:rPr kumimoji="1" lang="en-US" altLang="zh-CN" dirty="0" err="1">
                <a:latin typeface="Times New Roman" panose="02020603050405020304" pitchFamily="18" charset="0"/>
                <a:sym typeface="Symbol" panose="05050102010706020507" pitchFamily="18" charset="2"/>
              </a:rPr>
              <a:t>a</a:t>
            </a:r>
            <a:r>
              <a:rPr kumimoji="1" lang="en-US" altLang="zh-CN" sz="2400" i="1" baseline="-25000" dirty="0" err="1">
                <a:latin typeface="Times New Roman" panose="02020603050405020304" pitchFamily="18" charset="0"/>
                <a:sym typeface="Symbol" panose="05050102010706020507" pitchFamily="18" charset="2"/>
              </a:rPr>
              <a:t>lk</a:t>
            </a:r>
            <a:r>
              <a:rPr kumimoji="1" lang="en-US" altLang="zh-CN" dirty="0">
                <a:latin typeface="Times New Roman" panose="02020603050405020304" pitchFamily="18" charset="0"/>
                <a:sym typeface="Symbol" panose="05050102010706020507" pitchFamily="18" charset="2"/>
              </a:rPr>
              <a:t>  </a:t>
            </a:r>
            <a:r>
              <a:rPr kumimoji="1" lang="zh-CN" altLang="en-US" dirty="0">
                <a:latin typeface="Times New Roman" panose="02020603050405020304" pitchFamily="18" charset="0"/>
                <a:sym typeface="Symbol" panose="05050102010706020507" pitchFamily="18" charset="2"/>
              </a:rPr>
              <a:t>对应</a:t>
            </a:r>
            <a:r>
              <a:rPr lang="en-US" altLang="zh-CN" i="1" dirty="0">
                <a:latin typeface="Times New Roman" panose="02020603050405020304" pitchFamily="18" charset="0"/>
                <a:cs typeface="Times New Roman" panose="02020603050405020304" pitchFamily="18" charset="0"/>
              </a:rPr>
              <a:t>P</a:t>
            </a:r>
            <a:r>
              <a:rPr lang="en-US" altLang="zh-CN" i="1" baseline="-25000" dirty="0">
                <a:latin typeface="Times New Roman" panose="02020603050405020304" pitchFamily="18" charset="0"/>
                <a:cs typeface="Times New Roman" panose="02020603050405020304" pitchFamily="18" charset="0"/>
              </a:rPr>
              <a:t>l</a:t>
            </a:r>
            <a:r>
              <a:rPr lang="en-US" altLang="zh-CN" baseline="-25000"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出基</a:t>
            </a:r>
            <a:endParaRPr lang="en-US" altLang="zh-CN" dirty="0"/>
          </a:p>
          <a:p>
            <a:pPr lvl="1"/>
            <a:endParaRPr lang="zh-CN" altLang="en-US" dirty="0"/>
          </a:p>
        </p:txBody>
      </p:sp>
      <p:sp>
        <p:nvSpPr>
          <p:cNvPr id="125956" name="矩形 21">
            <a:extLst>
              <a:ext uri="{FF2B5EF4-FFF2-40B4-BE49-F238E27FC236}">
                <a16:creationId xmlns:a16="http://schemas.microsoft.com/office/drawing/2014/main" id="{B227B9B6-1CDF-43A3-9064-33ED85DE0683}"/>
              </a:ext>
            </a:extLst>
          </p:cNvPr>
          <p:cNvSpPr>
            <a:spLocks noChangeArrowheads="1"/>
          </p:cNvSpPr>
          <p:nvPr/>
        </p:nvSpPr>
        <p:spPr bwMode="auto">
          <a:xfrm>
            <a:off x="1828800" y="5410200"/>
            <a:ext cx="2590800" cy="369888"/>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zh-CN" altLang="en-US" sz="1800" b="1" i="0" u="none" strike="noStrike" kern="1200" cap="none" spc="0" normalizeH="0" baseline="0" noProof="0">
                <a:ln>
                  <a:noFill/>
                </a:ln>
                <a:solidFill>
                  <a:srgbClr val="FF33CC"/>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最小比值规则或规则</a:t>
            </a:r>
            <a:endParaRPr kumimoji="0" lang="en-US" altLang="zh-CN" sz="1800" b="0" i="0" u="none" strike="noStrike" kern="1200" cap="none" spc="0" normalizeH="0" baseline="0" noProof="0">
              <a:ln>
                <a:noFill/>
              </a:ln>
              <a:solidFill>
                <a:srgbClr val="FF33CC"/>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6C7DF3-12C7-44FC-8B21-78BF0BADF2CF}"/>
              </a:ext>
            </a:extLst>
          </p:cNvPr>
          <p:cNvSpPr>
            <a:spLocks noGrp="1"/>
          </p:cNvSpPr>
          <p:nvPr>
            <p:ph type="title"/>
          </p:nvPr>
        </p:nvSpPr>
        <p:spPr/>
        <p:txBody>
          <a:bodyPr/>
          <a:lstStyle/>
          <a:p>
            <a:endParaRPr lang="zh-CN" altLang="en-US"/>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9AB844AD-F309-4D51-88CE-98439380DDD2}"/>
                  </a:ext>
                </a:extLst>
              </p:cNvPr>
              <p:cNvSpPr>
                <a:spLocks noGrp="1"/>
              </p:cNvSpPr>
              <p:nvPr>
                <p:ph idx="1"/>
              </p:nvPr>
            </p:nvSpPr>
            <p:spPr/>
            <p:txBody>
              <a:bodyPr/>
              <a:lstStyle/>
              <a:p>
                <a:pPr/>
                <a14:m>
                  <m:oMath xmlns:m="http://schemas.openxmlformats.org/officeDocument/2006/math">
                    <m:func>
                      <m:funcPr>
                        <m:ctrlPr>
                          <a:rPr lang="en-US" altLang="zh-CN" i="1" smtClean="0">
                            <a:latin typeface="Cambria Math" panose="02040503050406030204" pitchFamily="18" charset="0"/>
                          </a:rPr>
                        </m:ctrlPr>
                      </m:funcPr>
                      <m:fName>
                        <m:r>
                          <m:rPr>
                            <m:sty m:val="p"/>
                          </m:rPr>
                          <a:rPr lang="en-US" altLang="zh-CN" i="1">
                            <a:latin typeface="Cambria Math" panose="02040503050406030204" pitchFamily="18" charset="0"/>
                          </a:rPr>
                          <m:t>min</m:t>
                        </m:r>
                      </m:fName>
                      <m:e>
                        <m:r>
                          <a:rPr lang="en-US" altLang="zh-CN" i="1">
                            <a:latin typeface="Cambria Math" panose="02040503050406030204" pitchFamily="18" charset="0"/>
                          </a:rPr>
                          <m:t>𝑧</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e>
                    </m:func>
                  </m:oMath>
                </a14:m>
                <a:endParaRPr lang="en-US" altLang="zh-CN" dirty="0"/>
              </a:p>
              <a:p>
                <a:pPr/>
                <a14:m>
                  <m:oMath xmlns:m="http://schemas.openxmlformats.org/officeDocument/2006/math">
                    <m:r>
                      <a:rPr lang="en-US" altLang="zh-CN" i="1">
                        <a:latin typeface="Cambria Math" panose="02040503050406030204" pitchFamily="18" charset="0"/>
                      </a:rPr>
                      <m:t>𝑠</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 </m:t>
                    </m:r>
                    <m:d>
                      <m:dPr>
                        <m:begChr m:val="{"/>
                        <m:endChr m:val=""/>
                        <m:ctrlPr>
                          <a:rPr lang="en-US" altLang="zh-CN" i="1">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sSub>
                                <m:sSubPr>
                                  <m:ctrlPr>
                                    <a:rPr lang="en-US" altLang="zh-CN" i="1">
                                      <a:latin typeface="Cambria Math" panose="02040503050406030204" pitchFamily="18" charset="0"/>
                                    </a:rPr>
                                  </m:ctrlPr>
                                </m:sSubPr>
                                <m:e>
                                  <m:r>
                                    <a:rPr lang="en-US" altLang="zh-CN" i="1">
                                      <a:latin typeface="Cambria Math" panose="02040503050406030204" pitchFamily="18" charset="0"/>
                                    </a:rPr>
                                    <m:t>2</m:t>
                                  </m:r>
                                  <m:r>
                                    <m:rPr>
                                      <m:brk m:alnAt="7"/>
                                    </m:rPr>
                                    <a:rPr lang="en-US" altLang="zh-CN" i="1">
                                      <a:latin typeface="Cambria Math" panose="02040503050406030204" pitchFamily="18" charset="0"/>
                                    </a:rPr>
                                    <m:t>𝑥</m:t>
                                  </m:r>
                                </m:e>
                                <m:sub>
                                  <m:r>
                                    <m:rPr>
                                      <m:brk m:alnAt="7"/>
                                    </m:rPr>
                                    <a:rPr lang="en-US" altLang="zh-CN" i="1">
                                      <a:latin typeface="Cambria Math" panose="02040503050406030204" pitchFamily="18" charset="0"/>
                                    </a:rPr>
                                    <m:t>1</m:t>
                                  </m:r>
                                </m:sub>
                              </m:sSub>
                              <m:r>
                                <m:rPr>
                                  <m:brk m:alnAt="7"/>
                                </m:rPr>
                                <a:rPr lang="en-US" altLang="zh-CN" i="1">
                                  <a:latin typeface="Cambria Math" panose="02040503050406030204" pitchFamily="18" charset="0"/>
                                </a:rPr>
                                <m:t>+</m:t>
                              </m:r>
                              <m:sSub>
                                <m:sSubPr>
                                  <m:ctrlPr>
                                    <a:rPr lang="en-US" altLang="zh-CN" i="1">
                                      <a:latin typeface="Cambria Math" panose="02040503050406030204" pitchFamily="18" charset="0"/>
                                    </a:rPr>
                                  </m:ctrlPr>
                                </m:sSubPr>
                                <m:e>
                                  <m:r>
                                    <m:rPr>
                                      <m:brk m:alnAt="7"/>
                                    </m:rPr>
                                    <a:rPr lang="en-US" altLang="zh-CN" i="1">
                                      <a:latin typeface="Cambria Math" panose="02040503050406030204" pitchFamily="18" charset="0"/>
                                    </a:rPr>
                                    <m:t>𝑥</m:t>
                                  </m:r>
                                </m:e>
                                <m:sub>
                                  <m:r>
                                    <m:rPr>
                                      <m:brk m:alnAt="7"/>
                                    </m:rPr>
                                    <a:rPr lang="en-US" altLang="zh-CN" i="1">
                                      <a:latin typeface="Cambria Math" panose="02040503050406030204" pitchFamily="18" charset="0"/>
                                    </a:rPr>
                                    <m:t>2</m:t>
                                  </m:r>
                                </m:sub>
                              </m:sSub>
                              <m:r>
                                <a:rPr lang="en-US" altLang="zh-CN" b="0" i="1">
                                  <a:latin typeface="Cambria Math" panose="02040503050406030204" pitchFamily="18" charset="0"/>
                                </a:rPr>
                                <m:t>−</m:t>
                              </m:r>
                              <m:sSub>
                                <m:sSubPr>
                                  <m:ctrlPr>
                                    <a:rPr lang="en-US" altLang="zh-CN" i="1">
                                      <a:latin typeface="Cambria Math" panose="02040503050406030204" pitchFamily="18" charset="0"/>
                                    </a:rPr>
                                  </m:ctrlPr>
                                </m:sSubPr>
                                <m:e>
                                  <m:r>
                                    <m:rPr>
                                      <m:brk m:alnAt="7"/>
                                    </m:rPr>
                                    <a:rPr lang="en-US" altLang="zh-CN" i="1">
                                      <a:latin typeface="Cambria Math" panose="02040503050406030204" pitchFamily="18" charset="0"/>
                                    </a:rPr>
                                    <m:t>𝑥</m:t>
                                  </m:r>
                                </m:e>
                                <m:sub>
                                  <m:r>
                                    <m:rPr>
                                      <m:brk m:alnAt="7"/>
                                    </m:rPr>
                                    <a:rPr lang="en-US" altLang="zh-CN" i="1">
                                      <a:latin typeface="Cambria Math" panose="02040503050406030204" pitchFamily="18" charset="0"/>
                                    </a:rPr>
                                    <m:t>3</m:t>
                                  </m:r>
                                </m:sub>
                              </m:sSub>
                              <m:r>
                                <a:rPr lang="en-US" altLang="zh-CN" i="1">
                                  <a:latin typeface="Cambria Math" panose="02040503050406030204" pitchFamily="18" charset="0"/>
                                </a:rPr>
                                <m:t>=12</m:t>
                              </m:r>
                            </m:e>
                          </m:mr>
                          <m:mr>
                            <m:e>
                              <m:sSub>
                                <m:sSubPr>
                                  <m:ctrlPr>
                                    <a:rPr lang="en-US" altLang="zh-CN" i="1">
                                      <a:latin typeface="Cambria Math" panose="02040503050406030204" pitchFamily="18" charset="0"/>
                                    </a:rPr>
                                  </m:ctrlPr>
                                </m:sSubPr>
                                <m:e>
                                  <m:r>
                                    <m:rPr>
                                      <m:brk m:alnAt="7"/>
                                    </m:rPr>
                                    <a:rPr lang="en-US" altLang="zh-CN" i="1">
                                      <a:latin typeface="Cambria Math" panose="02040503050406030204" pitchFamily="18" charset="0"/>
                                    </a:rPr>
                                    <m:t>𝑥</m:t>
                                  </m:r>
                                </m:e>
                                <m:sub>
                                  <m:r>
                                    <m:rPr>
                                      <m:brk m:alnAt="7"/>
                                    </m:rPr>
                                    <a:rPr lang="en-US" altLang="zh-CN" i="1">
                                      <a:latin typeface="Cambria Math" panose="02040503050406030204" pitchFamily="18" charset="0"/>
                                    </a:rPr>
                                    <m:t>1</m:t>
                                  </m:r>
                                </m:sub>
                              </m:sSub>
                              <m:r>
                                <m:rPr>
                                  <m:brk m:alnAt="7"/>
                                </m:rPr>
                                <a:rPr lang="en-US" altLang="zh-CN" i="1">
                                  <a:latin typeface="Cambria Math" panose="02040503050406030204" pitchFamily="18" charset="0"/>
                                </a:rPr>
                                <m:t>+</m:t>
                              </m:r>
                              <m:r>
                                <a:rPr lang="en-US" altLang="zh-CN" i="1">
                                  <a:latin typeface="Cambria Math" panose="02040503050406030204" pitchFamily="18" charset="0"/>
                                </a:rPr>
                                <m:t>2</m:t>
                              </m:r>
                              <m:sSub>
                                <m:sSubPr>
                                  <m:ctrlPr>
                                    <a:rPr lang="en-US" altLang="zh-CN" i="1">
                                      <a:latin typeface="Cambria Math" panose="02040503050406030204" pitchFamily="18" charset="0"/>
                                    </a:rPr>
                                  </m:ctrlPr>
                                </m:sSubPr>
                                <m:e>
                                  <m:r>
                                    <m:rPr>
                                      <m:brk m:alnAt="7"/>
                                    </m:rPr>
                                    <a:rPr lang="en-US" altLang="zh-CN" i="1">
                                      <a:latin typeface="Cambria Math" panose="02040503050406030204" pitchFamily="18" charset="0"/>
                                    </a:rPr>
                                    <m:t>𝑥</m:t>
                                  </m:r>
                                </m:e>
                                <m:sub>
                                  <m:r>
                                    <m:rPr>
                                      <m:brk m:alnAt="7"/>
                                    </m:rPr>
                                    <a:rPr lang="en-US" altLang="zh-CN" i="1">
                                      <a:latin typeface="Cambria Math" panose="02040503050406030204" pitchFamily="18" charset="0"/>
                                    </a:rPr>
                                    <m:t>2</m:t>
                                  </m:r>
                                </m:sub>
                              </m:sSub>
                              <m:r>
                                <a:rPr lang="en-US" altLang="zh-CN" b="0"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4</m:t>
                                  </m:r>
                                </m:sub>
                              </m:sSub>
                              <m:r>
                                <a:rPr lang="en-US" altLang="zh-CN" i="1">
                                  <a:latin typeface="Cambria Math" panose="02040503050406030204" pitchFamily="18" charset="0"/>
                                </a:rPr>
                                <m:t>=9</m:t>
                              </m:r>
                            </m:e>
                          </m:mr>
                          <m:mr>
                            <m:e>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3</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4</m:t>
                                  </m:r>
                                </m:sub>
                              </m:sSub>
                              <m:r>
                                <a:rPr lang="en-US" altLang="zh-CN" i="1">
                                  <a:latin typeface="Cambria Math" panose="02040503050406030204" pitchFamily="18" charset="0"/>
                                </a:rPr>
                                <m:t>≥0</m:t>
                              </m:r>
                            </m:e>
                          </m:mr>
                        </m:m>
                      </m:e>
                    </m:d>
                  </m:oMath>
                </a14:m>
                <a:endParaRPr lang="en-US" altLang="zh-CN" dirty="0"/>
              </a:p>
              <a:p>
                <a:pPr/>
                <a:r>
                  <a:rPr lang="zh-CN" altLang="en-US" dirty="0"/>
                  <a:t>以</a:t>
                </a:r>
                <a14:m>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𝟑</m:t>
                        </m:r>
                      </m:sub>
                    </m:sSub>
                    <m:r>
                      <a:rPr lang="zh-CN" altLang="en-US" i="1">
                        <a:latin typeface="Cambria Math" panose="02040503050406030204" pitchFamily="18" charset="0"/>
                      </a:rPr>
                      <m:t>为</m:t>
                    </m:r>
                  </m:oMath>
                </a14:m>
                <a:r>
                  <a:rPr lang="zh-CN" altLang="en-US" dirty="0"/>
                  <a:t>基变量，</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b="1" i="1" smtClean="0">
                            <a:latin typeface="Cambria Math" panose="02040503050406030204" pitchFamily="18" charset="0"/>
                          </a:rPr>
                          <m:t>𝟐</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b="1" i="1" smtClean="0">
                            <a:latin typeface="Cambria Math" panose="02040503050406030204" pitchFamily="18" charset="0"/>
                          </a:rPr>
                          <m:t>𝟒</m:t>
                        </m:r>
                      </m:sub>
                    </m:sSub>
                  </m:oMath>
                </a14:m>
                <a:r>
                  <a:rPr lang="zh-CN" altLang="en-US" dirty="0"/>
                  <a:t>为非基变量，写出单纯形表，并求出换入换出变量</a:t>
                </a:r>
                <a:endParaRPr lang="en-US" altLang="zh-CN" dirty="0"/>
              </a:p>
              <a:p>
                <a:pPr/>
                <a:r>
                  <a:rPr lang="zh-CN" altLang="en-US" dirty="0"/>
                  <a:t>（</a:t>
                </a:r>
                <a14:m>
                  <m:oMath xmlns:m="http://schemas.openxmlformats.org/officeDocument/2006/math">
                    <m:r>
                      <a:rPr lang="en-US" altLang="zh-CN" b="1" i="1" smtClean="0">
                        <a:latin typeface="Cambria Math" panose="02040503050406030204" pitchFamily="18" charset="0"/>
                      </a:rPr>
                      <m:t>𝝈</m:t>
                    </m:r>
                    <m:r>
                      <a:rPr lang="en-US" altLang="zh-CN" b="1" i="1" smtClean="0">
                        <a:latin typeface="Cambria Math" panose="02040503050406030204" pitchFamily="18" charset="0"/>
                      </a:rPr>
                      <m:t>&lt;</m:t>
                    </m:r>
                    <m:r>
                      <a:rPr lang="en-US" altLang="zh-CN" b="1" i="1" smtClean="0">
                        <a:latin typeface="Cambria Math" panose="02040503050406030204" pitchFamily="18" charset="0"/>
                      </a:rPr>
                      <m:t>𝟎</m:t>
                    </m:r>
                    <m:r>
                      <a:rPr lang="zh-CN" altLang="en-US" i="1">
                        <a:latin typeface="Cambria Math" panose="02040503050406030204" pitchFamily="18" charset="0"/>
                      </a:rPr>
                      <m:t>意味着</m:t>
                    </m:r>
                  </m:oMath>
                </a14:m>
                <a:r>
                  <a:rPr lang="zh-CN" altLang="en-US" dirty="0"/>
                  <a:t>非基变量增大会使得目标函数减小）</a:t>
                </a:r>
              </a:p>
            </p:txBody>
          </p:sp>
        </mc:Choice>
        <mc:Fallback>
          <p:sp>
            <p:nvSpPr>
              <p:cNvPr id="3" name="内容占位符 2">
                <a:extLst>
                  <a:ext uri="{FF2B5EF4-FFF2-40B4-BE49-F238E27FC236}">
                    <a16:creationId xmlns:a16="http://schemas.microsoft.com/office/drawing/2014/main" id="{9AB844AD-F309-4D51-88CE-98439380DDD2}"/>
                  </a:ext>
                </a:extLst>
              </p:cNvPr>
              <p:cNvSpPr>
                <a:spLocks noGrp="1" noRot="1" noChangeAspect="1" noMove="1" noResize="1" noEditPoints="1" noAdjustHandles="1" noChangeArrowheads="1" noChangeShapeType="1" noTextEdit="1"/>
              </p:cNvSpPr>
              <p:nvPr>
                <p:ph idx="1"/>
              </p:nvPr>
            </p:nvSpPr>
            <p:spPr>
              <a:blipFill>
                <a:blip r:embed="rId2"/>
                <a:stretch>
                  <a:fillRect l="-667" r="-222" b="-52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480714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468B1A8D-45F5-464E-8D18-7DF2ED9F5270}"/>
              </a:ext>
            </a:extLst>
          </p:cNvPr>
          <p:cNvSpPr>
            <a:spLocks noGrp="1" noChangeArrowheads="1"/>
          </p:cNvSpPr>
          <p:nvPr>
            <p:ph type="title"/>
          </p:nvPr>
        </p:nvSpPr>
        <p:spPr/>
        <p:txBody>
          <a:bodyPr/>
          <a:lstStyle/>
          <a:p>
            <a:pPr eaLnBrk="1" hangingPunct="1"/>
            <a:r>
              <a:rPr lang="zh-CN" altLang="en-US"/>
              <a:t>退化解</a:t>
            </a:r>
          </a:p>
        </p:txBody>
      </p:sp>
      <p:sp>
        <p:nvSpPr>
          <p:cNvPr id="90115" name="Rectangle 3">
            <a:extLst>
              <a:ext uri="{FF2B5EF4-FFF2-40B4-BE49-F238E27FC236}">
                <a16:creationId xmlns:a16="http://schemas.microsoft.com/office/drawing/2014/main" id="{431B0586-5BD1-4938-8547-B7DA589106DF}"/>
              </a:ext>
            </a:extLst>
          </p:cNvPr>
          <p:cNvSpPr>
            <a:spLocks noGrp="1" noChangeArrowheads="1"/>
          </p:cNvSpPr>
          <p:nvPr>
            <p:ph type="body" idx="1"/>
          </p:nvPr>
        </p:nvSpPr>
        <p:spPr/>
        <p:txBody>
          <a:bodyPr/>
          <a:lstStyle/>
          <a:p>
            <a:pPr eaLnBrk="1" hangingPunct="1"/>
            <a:r>
              <a:rPr lang="zh-CN" altLang="en-US"/>
              <a:t>按</a:t>
            </a:r>
            <a:r>
              <a:rPr lang="el-GR" altLang="zh-CN"/>
              <a:t>θ</a:t>
            </a:r>
            <a:r>
              <a:rPr lang="zh-CN" altLang="en-US"/>
              <a:t>规则</a:t>
            </a:r>
            <a:r>
              <a:rPr lang="en-US" altLang="zh-CN"/>
              <a:t>, </a:t>
            </a:r>
            <a:r>
              <a:rPr lang="zh-CN" altLang="en-US"/>
              <a:t>存在两个或两个以上最小比值</a:t>
            </a:r>
          </a:p>
          <a:p>
            <a:pPr lvl="1" eaLnBrk="1" hangingPunct="1"/>
            <a:r>
              <a:rPr lang="zh-CN" altLang="en-US"/>
              <a:t>下一次迭代会产生一个或几个基变量等于零，即退化解</a:t>
            </a:r>
          </a:p>
          <a:p>
            <a:pPr lvl="1" eaLnBrk="1" hangingPunct="1"/>
            <a:r>
              <a:rPr lang="zh-CN" altLang="en-US"/>
              <a:t>可能产生计算循环，无法达到最优解</a:t>
            </a:r>
          </a:p>
          <a:p>
            <a:pPr lvl="1" eaLnBrk="1" hangingPunct="1"/>
            <a:endParaRPr lang="zh-CN" altLang="en-US"/>
          </a:p>
          <a:p>
            <a:pPr eaLnBrk="1" hangingPunct="1"/>
            <a:r>
              <a:rPr lang="zh-CN" altLang="en-US"/>
              <a:t>勃兰特规则</a:t>
            </a:r>
          </a:p>
          <a:p>
            <a:pPr lvl="1" eaLnBrk="1" hangingPunct="1"/>
            <a:r>
              <a:rPr lang="zh-CN" altLang="en-US"/>
              <a:t>选取</a:t>
            </a:r>
            <a:r>
              <a:rPr lang="en-US" altLang="zh-CN">
                <a:latin typeface="Times New Roman" panose="02020603050405020304" pitchFamily="18" charset="0"/>
              </a:rPr>
              <a:t>c</a:t>
            </a:r>
            <a:r>
              <a:rPr lang="en-US" altLang="zh-CN" baseline="-25000">
                <a:latin typeface="Times New Roman" panose="02020603050405020304" pitchFamily="18" charset="0"/>
              </a:rPr>
              <a:t>j</a:t>
            </a:r>
            <a:r>
              <a:rPr lang="en-US" altLang="zh-CN">
                <a:latin typeface="Times New Roman" panose="02020603050405020304" pitchFamily="18" charset="0"/>
              </a:rPr>
              <a:t>-z</a:t>
            </a:r>
            <a:r>
              <a:rPr lang="en-US" altLang="zh-CN" baseline="-25000">
                <a:latin typeface="Times New Roman" panose="02020603050405020304" pitchFamily="18" charset="0"/>
              </a:rPr>
              <a:t>j</a:t>
            </a:r>
            <a:r>
              <a:rPr lang="en-US" altLang="zh-CN">
                <a:latin typeface="Times New Roman" panose="02020603050405020304" pitchFamily="18" charset="0"/>
              </a:rPr>
              <a:t>&gt;0</a:t>
            </a:r>
            <a:r>
              <a:rPr lang="zh-CN" altLang="en-US"/>
              <a:t>中下标最小的非基变量作为换入变量</a:t>
            </a:r>
          </a:p>
          <a:p>
            <a:pPr lvl="1" eaLnBrk="1" hangingPunct="1"/>
            <a:r>
              <a:rPr lang="zh-CN" altLang="en-US"/>
              <a:t>按</a:t>
            </a:r>
            <a:r>
              <a:rPr lang="el-GR" altLang="zh-CN"/>
              <a:t>θ</a:t>
            </a:r>
            <a:r>
              <a:rPr lang="zh-CN" altLang="en-US"/>
              <a:t>规则存在两个或两个以上最小比值时，选取下标最小的基变量为换出变量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0115">
                                            <p:txEl>
                                              <p:pRg st="0" end="0"/>
                                            </p:txEl>
                                          </p:spTgt>
                                        </p:tgtEl>
                                        <p:attrNameLst>
                                          <p:attrName>style.visibility</p:attrName>
                                        </p:attrNameLst>
                                      </p:cBhvr>
                                      <p:to>
                                        <p:strVal val="visible"/>
                                      </p:to>
                                    </p:set>
                                    <p:animEffect transition="in" filter="blinds(horizontal)">
                                      <p:cBhvr>
                                        <p:cTn id="7" dur="500"/>
                                        <p:tgtEl>
                                          <p:spTgt spid="901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0115">
                                            <p:txEl>
                                              <p:pRg st="1" end="1"/>
                                            </p:txEl>
                                          </p:spTgt>
                                        </p:tgtEl>
                                        <p:attrNameLst>
                                          <p:attrName>style.visibility</p:attrName>
                                        </p:attrNameLst>
                                      </p:cBhvr>
                                      <p:to>
                                        <p:strVal val="visible"/>
                                      </p:to>
                                    </p:set>
                                    <p:animEffect transition="in" filter="blinds(horizontal)">
                                      <p:cBhvr>
                                        <p:cTn id="12" dur="500"/>
                                        <p:tgtEl>
                                          <p:spTgt spid="901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0115">
                                            <p:txEl>
                                              <p:pRg st="2" end="2"/>
                                            </p:txEl>
                                          </p:spTgt>
                                        </p:tgtEl>
                                        <p:attrNameLst>
                                          <p:attrName>style.visibility</p:attrName>
                                        </p:attrNameLst>
                                      </p:cBhvr>
                                      <p:to>
                                        <p:strVal val="visible"/>
                                      </p:to>
                                    </p:set>
                                    <p:animEffect transition="in" filter="blinds(horizontal)">
                                      <p:cBhvr>
                                        <p:cTn id="17" dur="500"/>
                                        <p:tgtEl>
                                          <p:spTgt spid="901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0115">
                                            <p:txEl>
                                              <p:pRg st="4" end="4"/>
                                            </p:txEl>
                                          </p:spTgt>
                                        </p:tgtEl>
                                        <p:attrNameLst>
                                          <p:attrName>style.visibility</p:attrName>
                                        </p:attrNameLst>
                                      </p:cBhvr>
                                      <p:to>
                                        <p:strVal val="visible"/>
                                      </p:to>
                                    </p:set>
                                    <p:animEffect transition="in" filter="blinds(horizontal)">
                                      <p:cBhvr>
                                        <p:cTn id="22" dur="500"/>
                                        <p:tgtEl>
                                          <p:spTgt spid="9011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0115">
                                            <p:txEl>
                                              <p:pRg st="5" end="5"/>
                                            </p:txEl>
                                          </p:spTgt>
                                        </p:tgtEl>
                                        <p:attrNameLst>
                                          <p:attrName>style.visibility</p:attrName>
                                        </p:attrNameLst>
                                      </p:cBhvr>
                                      <p:to>
                                        <p:strVal val="visible"/>
                                      </p:to>
                                    </p:set>
                                    <p:animEffect transition="in" filter="blinds(horizontal)">
                                      <p:cBhvr>
                                        <p:cTn id="27" dur="500"/>
                                        <p:tgtEl>
                                          <p:spTgt spid="90115">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90115">
                                            <p:txEl>
                                              <p:pRg st="6" end="6"/>
                                            </p:txEl>
                                          </p:spTgt>
                                        </p:tgtEl>
                                        <p:attrNameLst>
                                          <p:attrName>style.visibility</p:attrName>
                                        </p:attrNameLst>
                                      </p:cBhvr>
                                      <p:to>
                                        <p:strVal val="visible"/>
                                      </p:to>
                                    </p:set>
                                    <p:animEffect transition="in" filter="blinds(horizontal)">
                                      <p:cBhvr>
                                        <p:cTn id="32" dur="500"/>
                                        <p:tgtEl>
                                          <p:spTgt spid="901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build="p" bldLvl="2"/>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25B03E77-5349-4A50-8EBB-6134D548B36C}"/>
              </a:ext>
            </a:extLst>
          </p:cNvPr>
          <p:cNvSpPr>
            <a:spLocks noGrp="1" noChangeArrowheads="1"/>
          </p:cNvSpPr>
          <p:nvPr>
            <p:ph type="title"/>
          </p:nvPr>
        </p:nvSpPr>
        <p:spPr>
          <a:xfrm>
            <a:off x="304800" y="277813"/>
            <a:ext cx="8229600" cy="1139825"/>
          </a:xfrm>
        </p:spPr>
        <p:txBody>
          <a:bodyPr/>
          <a:lstStyle/>
          <a:p>
            <a:pPr eaLnBrk="1" hangingPunct="1"/>
            <a:r>
              <a:rPr lang="zh-CN" altLang="en-US" sz="3200"/>
              <a:t>单纯形法标准化（</a:t>
            </a:r>
            <a:r>
              <a:rPr lang="en-US" altLang="zh-CN" sz="3200"/>
              <a:t>P47</a:t>
            </a:r>
            <a:r>
              <a:rPr lang="zh-CN" altLang="en-US" sz="3200"/>
              <a:t>）</a:t>
            </a:r>
          </a:p>
        </p:txBody>
      </p:sp>
      <p:pic>
        <p:nvPicPr>
          <p:cNvPr id="128003" name="Picture 2">
            <a:extLst>
              <a:ext uri="{FF2B5EF4-FFF2-40B4-BE49-F238E27FC236}">
                <a16:creationId xmlns:a16="http://schemas.microsoft.com/office/drawing/2014/main" id="{7DA3708D-2E75-420A-ABFC-9FF53A2F72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752600"/>
            <a:ext cx="8183563" cy="391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椭圆 4">
            <a:extLst>
              <a:ext uri="{FF2B5EF4-FFF2-40B4-BE49-F238E27FC236}">
                <a16:creationId xmlns:a16="http://schemas.microsoft.com/office/drawing/2014/main" id="{D7A7EB2C-B8AD-47DE-B2F1-D0DCA4F556F6}"/>
              </a:ext>
            </a:extLst>
          </p:cNvPr>
          <p:cNvSpPr/>
          <p:nvPr/>
        </p:nvSpPr>
        <p:spPr>
          <a:xfrm>
            <a:off x="4572000" y="3733800"/>
            <a:ext cx="3810000" cy="304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宋体"/>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7C9F32EC-7BB4-49B9-8CDE-9ABDD86CE887}"/>
              </a:ext>
            </a:extLst>
          </p:cNvPr>
          <p:cNvSpPr>
            <a:spLocks noGrp="1" noChangeArrowheads="1"/>
          </p:cNvSpPr>
          <p:nvPr>
            <p:ph type="title"/>
          </p:nvPr>
        </p:nvSpPr>
        <p:spPr>
          <a:xfrm>
            <a:off x="304800" y="277813"/>
            <a:ext cx="8229600" cy="1139825"/>
          </a:xfrm>
        </p:spPr>
        <p:txBody>
          <a:bodyPr/>
          <a:lstStyle/>
          <a:p>
            <a:pPr eaLnBrk="1" hangingPunct="1"/>
            <a:r>
              <a:rPr lang="zh-CN" altLang="en-US" sz="3200"/>
              <a:t>单纯形法计算框图（</a:t>
            </a:r>
            <a:r>
              <a:rPr lang="en-US" altLang="zh-CN" sz="3200">
                <a:solidFill>
                  <a:srgbClr val="FF0000"/>
                </a:solidFill>
              </a:rPr>
              <a:t>Max</a:t>
            </a:r>
            <a:r>
              <a:rPr lang="zh-CN" altLang="en-US" sz="3200">
                <a:solidFill>
                  <a:srgbClr val="FF0000"/>
                </a:solidFill>
              </a:rPr>
              <a:t>类型</a:t>
            </a:r>
            <a:r>
              <a:rPr lang="zh-CN" altLang="en-US" sz="3200"/>
              <a:t>，</a:t>
            </a:r>
            <a:r>
              <a:rPr lang="en-US" altLang="zh-CN" sz="3200"/>
              <a:t>P47</a:t>
            </a:r>
            <a:r>
              <a:rPr lang="zh-CN" altLang="en-US" sz="3200"/>
              <a:t>）</a:t>
            </a:r>
          </a:p>
        </p:txBody>
      </p:sp>
      <p:pic>
        <p:nvPicPr>
          <p:cNvPr id="129027" name="Picture 2">
            <a:extLst>
              <a:ext uri="{FF2B5EF4-FFF2-40B4-BE49-F238E27FC236}">
                <a16:creationId xmlns:a16="http://schemas.microsoft.com/office/drawing/2014/main" id="{B7DBDB57-D52E-45C4-9FAE-4B03CE69B1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914400"/>
            <a:ext cx="5729288"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
            <a:extLst>
              <a:ext uri="{FF2B5EF4-FFF2-40B4-BE49-F238E27FC236}">
                <a16:creationId xmlns:a16="http://schemas.microsoft.com/office/drawing/2014/main" id="{05DF41D8-BFB3-4A7D-849C-66A324B3F998}"/>
              </a:ext>
            </a:extLst>
          </p:cNvPr>
          <p:cNvGrpSpPr>
            <a:grpSpLocks/>
          </p:cNvGrpSpPr>
          <p:nvPr/>
        </p:nvGrpSpPr>
        <p:grpSpPr bwMode="auto">
          <a:xfrm>
            <a:off x="3352800" y="1933575"/>
            <a:ext cx="3124200" cy="1543050"/>
            <a:chOff x="3352800" y="1932801"/>
            <a:chExt cx="3124200" cy="1544598"/>
          </a:xfrm>
        </p:grpSpPr>
        <p:sp>
          <p:nvSpPr>
            <p:cNvPr id="129029" name="矩形 1">
              <a:extLst>
                <a:ext uri="{FF2B5EF4-FFF2-40B4-BE49-F238E27FC236}">
                  <a16:creationId xmlns:a16="http://schemas.microsoft.com/office/drawing/2014/main" id="{234C1CFA-57DA-41B0-ABC7-CDB7B97C0237}"/>
                </a:ext>
              </a:extLst>
            </p:cNvPr>
            <p:cNvSpPr>
              <a:spLocks noChangeArrowheads="1"/>
            </p:cNvSpPr>
            <p:nvPr/>
          </p:nvSpPr>
          <p:spPr bwMode="auto">
            <a:xfrm>
              <a:off x="4343424" y="2542401"/>
              <a:ext cx="45717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P45</a:t>
              </a:r>
              <a:endParaRPr kumimoji="0" lang="zh-CN" altLang="en-US" sz="1200" b="0"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endParaRPr>
            </a:p>
          </p:txBody>
        </p:sp>
        <p:sp>
          <p:nvSpPr>
            <p:cNvPr id="129030" name="矩形 4">
              <a:extLst>
                <a:ext uri="{FF2B5EF4-FFF2-40B4-BE49-F238E27FC236}">
                  <a16:creationId xmlns:a16="http://schemas.microsoft.com/office/drawing/2014/main" id="{EC1A8D17-EBC4-4C0D-A8A2-A80264EFB81C}"/>
                </a:ext>
              </a:extLst>
            </p:cNvPr>
            <p:cNvSpPr>
              <a:spLocks noChangeArrowheads="1"/>
            </p:cNvSpPr>
            <p:nvPr/>
          </p:nvSpPr>
          <p:spPr bwMode="auto">
            <a:xfrm>
              <a:off x="3352800" y="3200400"/>
              <a:ext cx="45717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P33</a:t>
              </a:r>
              <a:endParaRPr kumimoji="0" lang="zh-CN" altLang="en-US" sz="1200" b="0"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endParaRPr>
            </a:p>
          </p:txBody>
        </p:sp>
        <p:sp>
          <p:nvSpPr>
            <p:cNvPr id="129031" name="矩形 5">
              <a:extLst>
                <a:ext uri="{FF2B5EF4-FFF2-40B4-BE49-F238E27FC236}">
                  <a16:creationId xmlns:a16="http://schemas.microsoft.com/office/drawing/2014/main" id="{1EC002A4-5719-477D-86C8-70522888C14E}"/>
                </a:ext>
              </a:extLst>
            </p:cNvPr>
            <p:cNvSpPr>
              <a:spLocks noChangeArrowheads="1"/>
            </p:cNvSpPr>
            <p:nvPr/>
          </p:nvSpPr>
          <p:spPr bwMode="auto">
            <a:xfrm>
              <a:off x="5832207" y="2544131"/>
              <a:ext cx="45717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P32</a:t>
              </a:r>
              <a:endParaRPr kumimoji="0" lang="zh-CN" altLang="en-US" sz="1200" b="0"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endParaRPr>
            </a:p>
          </p:txBody>
        </p:sp>
        <p:sp>
          <p:nvSpPr>
            <p:cNvPr id="129032" name="矩形 6">
              <a:extLst>
                <a:ext uri="{FF2B5EF4-FFF2-40B4-BE49-F238E27FC236}">
                  <a16:creationId xmlns:a16="http://schemas.microsoft.com/office/drawing/2014/main" id="{EC2669B3-1FDA-48A7-A9E9-B83612762844}"/>
                </a:ext>
              </a:extLst>
            </p:cNvPr>
            <p:cNvSpPr>
              <a:spLocks noChangeArrowheads="1"/>
            </p:cNvSpPr>
            <p:nvPr/>
          </p:nvSpPr>
          <p:spPr bwMode="auto">
            <a:xfrm>
              <a:off x="6019824" y="1932801"/>
              <a:ext cx="45717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P32</a:t>
              </a:r>
              <a:endParaRPr kumimoji="0" lang="zh-CN" altLang="en-US" sz="1200" b="0"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标题 1">
            <a:extLst>
              <a:ext uri="{FF2B5EF4-FFF2-40B4-BE49-F238E27FC236}">
                <a16:creationId xmlns:a16="http://schemas.microsoft.com/office/drawing/2014/main" id="{F645B0E2-7D1A-47AD-BA16-AADEDCD61B8A}"/>
              </a:ext>
            </a:extLst>
          </p:cNvPr>
          <p:cNvSpPr>
            <a:spLocks noGrp="1" noChangeArrowheads="1"/>
          </p:cNvSpPr>
          <p:nvPr>
            <p:ph type="title"/>
          </p:nvPr>
        </p:nvSpPr>
        <p:spPr>
          <a:xfrm>
            <a:off x="457200" y="277813"/>
            <a:ext cx="7010400" cy="788987"/>
          </a:xfrm>
        </p:spPr>
        <p:txBody>
          <a:bodyPr/>
          <a:lstStyle/>
          <a:p>
            <a:r>
              <a:rPr lang="zh-CN" altLang="en-US"/>
              <a:t>课后练习</a:t>
            </a:r>
            <a:r>
              <a:rPr lang="zh-CN" altLang="zh-CN"/>
              <a:t>题（运筹学第</a:t>
            </a:r>
            <a:r>
              <a:rPr lang="en-US" altLang="zh-CN"/>
              <a:t>4</a:t>
            </a:r>
            <a:r>
              <a:rPr lang="zh-CN" altLang="zh-CN"/>
              <a:t>版）</a:t>
            </a:r>
            <a:endParaRPr lang="zh-CN" altLang="en-US"/>
          </a:p>
        </p:txBody>
      </p:sp>
      <p:sp>
        <p:nvSpPr>
          <p:cNvPr id="130051" name="AutoShape 1" descr="C:\Users\john\AppData\Roaming\Tencent\Users\22892665\QQ\WinTemp\RichOle\~J5Q7I]{QM{GQR[]T5)7K.jpg">
            <a:extLst>
              <a:ext uri="{FF2B5EF4-FFF2-40B4-BE49-F238E27FC236}">
                <a16:creationId xmlns:a16="http://schemas.microsoft.com/office/drawing/2014/main" id="{DF2CDFEB-86E5-46CC-93DA-2E5EBDF18E40}"/>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0052" name="AutoShape 2" descr="C:\Users\john\AppData\Roaming\Tencent\Users\22892665\QQ\WinTemp\RichOle\~J5Q7I]{QM{GQR[]T5)7K.jpg">
            <a:extLst>
              <a:ext uri="{FF2B5EF4-FFF2-40B4-BE49-F238E27FC236}">
                <a16:creationId xmlns:a16="http://schemas.microsoft.com/office/drawing/2014/main" id="{ECCDEF34-5C4F-4DB0-B59D-92F07422BE50}"/>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0053" name="AutoShape 3" descr="C:\Users\john\AppData\Roaming\Tencent\Users\22892665\QQ\WinTemp\RichOle\~J5Q7I]{QM{GQR[]T5)7K.jpg">
            <a:extLst>
              <a:ext uri="{FF2B5EF4-FFF2-40B4-BE49-F238E27FC236}">
                <a16:creationId xmlns:a16="http://schemas.microsoft.com/office/drawing/2014/main" id="{CFBCC1F2-9004-48BB-B681-CF77091CACEB}"/>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 name="Rectangle 3">
            <a:extLst>
              <a:ext uri="{FF2B5EF4-FFF2-40B4-BE49-F238E27FC236}">
                <a16:creationId xmlns:a16="http://schemas.microsoft.com/office/drawing/2014/main" id="{0A193161-B7C7-4504-8824-6AAA7C4D05E3}"/>
              </a:ext>
            </a:extLst>
          </p:cNvPr>
          <p:cNvSpPr txBox="1">
            <a:spLocks noChangeArrowheads="1"/>
          </p:cNvSpPr>
          <p:nvPr/>
        </p:nvSpPr>
        <p:spPr bwMode="auto">
          <a:xfrm>
            <a:off x="228600" y="1219200"/>
            <a:ext cx="8763000" cy="5257800"/>
          </a:xfrm>
          <a:prstGeom prst="rect">
            <a:avLst/>
          </a:prstGeom>
          <a:noFill/>
          <a:ln w="9525">
            <a:noFill/>
            <a:miter lim="800000"/>
            <a:headEnd/>
            <a:tailEnd/>
          </a:ln>
        </p:spPr>
        <p:txBody>
          <a:bodyPr/>
          <a:lstStyle/>
          <a:p>
            <a:pPr marL="342900" marR="0" lvl="0" indent="-342900" algn="l" defTabSz="914400" rtl="0" eaLnBrk="1" fontAlgn="base" latinLnBrk="0" hangingPunct="1">
              <a:lnSpc>
                <a:spcPct val="100000"/>
              </a:lnSpc>
              <a:spcBef>
                <a:spcPct val="20000"/>
              </a:spcBef>
              <a:spcAft>
                <a:spcPct val="0"/>
              </a:spcAft>
              <a:buClr>
                <a:srgbClr val="CC9900"/>
              </a:buClr>
              <a:buSzPct val="65000"/>
              <a:buFont typeface="Wingdings" pitchFamily="2" charset="2"/>
              <a:buChar char="n"/>
              <a:tabLst/>
              <a:defRPr/>
            </a:pPr>
            <a:r>
              <a:rPr kumimoji="0" lang="zh-CN" altLang="zh-CN" sz="28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第</a:t>
            </a:r>
            <a:r>
              <a:rPr kumimoji="0" lang="en-US" altLang="zh-CN" sz="28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2</a:t>
            </a:r>
            <a:r>
              <a:rPr kumimoji="0" lang="zh-CN" altLang="en-US" sz="28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章 线性规划与单纯形法 （</a:t>
            </a:r>
            <a:r>
              <a:rPr kumimoji="0" lang="en-US" altLang="zh-CN" sz="28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P55-56</a:t>
            </a:r>
            <a:r>
              <a:rPr kumimoji="0" lang="zh-CN" altLang="en-US" sz="28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a:t>
            </a:r>
            <a:endParaRPr kumimoji="0" lang="en-US" altLang="zh-CN" sz="28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endParaRPr>
          </a:p>
          <a:p>
            <a:pPr marL="0" marR="0" lvl="0" indent="0" algn="l" defTabSz="914400" rtl="0" eaLnBrk="1" fontAlgn="base" latinLnBrk="0" hangingPunct="1">
              <a:lnSpc>
                <a:spcPct val="100000"/>
              </a:lnSpc>
              <a:spcBef>
                <a:spcPct val="20000"/>
              </a:spcBef>
              <a:spcAft>
                <a:spcPct val="0"/>
              </a:spcAft>
              <a:buClr>
                <a:srgbClr val="CC9900"/>
              </a:buClr>
              <a:buSzPct val="65000"/>
              <a:buFontTx/>
              <a:buNone/>
              <a:tabLst/>
              <a:defRPr/>
            </a:pPr>
            <a:r>
              <a:rPr kumimoji="0" lang="en-US" altLang="zh-CN" sz="28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    </a:t>
            </a:r>
            <a:r>
              <a:rPr kumimoji="0" lang="zh-CN" altLang="en-US" sz="28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交作业时间：布置作业一个星期</a:t>
            </a:r>
            <a:endParaRPr kumimoji="0" lang="zh-CN" altLang="en-US" sz="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a:p>
            <a:pPr marL="669925" marR="0" lvl="1" indent="-325438" algn="l" defTabSz="914400" rtl="0" eaLnBrk="1" fontAlgn="base" latinLnBrk="0" hangingPunct="1">
              <a:lnSpc>
                <a:spcPct val="100000"/>
              </a:lnSpc>
              <a:spcBef>
                <a:spcPct val="20000"/>
              </a:spcBef>
              <a:spcAft>
                <a:spcPct val="0"/>
              </a:spcAft>
              <a:buClr>
                <a:srgbClr val="3B812F"/>
              </a:buClr>
              <a:buSzPct val="60000"/>
              <a:buFont typeface="Wingdings"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2.3  </a:t>
            </a:r>
            <a:r>
              <a:rPr kumimoji="0" lang="zh-CN" altLang="en-US" sz="24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a:t>
            </a:r>
            <a:r>
              <a:rPr kumimoji="0" lang="en-US" altLang="zh-CN" sz="24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1</a:t>
            </a:r>
            <a:r>
              <a:rPr kumimoji="0" lang="zh-CN" altLang="en-US" sz="24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a:t>
            </a:r>
            <a:endParaRPr kumimoji="0" lang="en-US" altLang="zh-CN" sz="24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endParaRPr>
          </a:p>
          <a:p>
            <a:pPr marL="669925" marR="0" lvl="1" indent="-325438" algn="l" defTabSz="914400" rtl="0" eaLnBrk="1" fontAlgn="base" latinLnBrk="0" hangingPunct="1">
              <a:lnSpc>
                <a:spcPct val="100000"/>
              </a:lnSpc>
              <a:spcBef>
                <a:spcPct val="20000"/>
              </a:spcBef>
              <a:spcAft>
                <a:spcPct val="0"/>
              </a:spcAft>
              <a:buClr>
                <a:srgbClr val="3B812F"/>
              </a:buClr>
              <a:buSzPct val="60000"/>
              <a:buFont typeface="Wingdings"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2.8</a:t>
            </a:r>
          </a:p>
          <a:p>
            <a:pPr marL="344487" marR="0" lvl="1" indent="0" algn="l" defTabSz="914400" rtl="0" eaLnBrk="1" fontAlgn="base" latinLnBrk="0" hangingPunct="1">
              <a:lnSpc>
                <a:spcPct val="100000"/>
              </a:lnSpc>
              <a:spcBef>
                <a:spcPct val="20000"/>
              </a:spcBef>
              <a:spcAft>
                <a:spcPct val="0"/>
              </a:spcAft>
              <a:buClr>
                <a:srgbClr val="3B812F"/>
              </a:buClr>
              <a:buSzPct val="60000"/>
              <a:buFontTx/>
              <a:buNone/>
              <a:tabLst/>
              <a:defRPr/>
            </a:pPr>
            <a:endParaRPr kumimoji="0" lang="en-US" altLang="zh-CN" sz="28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endParaRPr>
          </a:p>
          <a:p>
            <a:pPr marL="344487" marR="0" lvl="1" indent="0" algn="l" defTabSz="914400" rtl="0" eaLnBrk="1" fontAlgn="base" latinLnBrk="0" hangingPunct="1">
              <a:lnSpc>
                <a:spcPct val="100000"/>
              </a:lnSpc>
              <a:spcBef>
                <a:spcPct val="20000"/>
              </a:spcBef>
              <a:spcAft>
                <a:spcPct val="0"/>
              </a:spcAft>
              <a:buClr>
                <a:srgbClr val="3B812F"/>
              </a:buClr>
              <a:buSzPct val="60000"/>
              <a:buFontTx/>
              <a:buNone/>
              <a:tabLst/>
              <a:defRPr/>
            </a:pPr>
            <a:r>
              <a:rPr kumimoji="0" lang="en-US" altLang="zh-CN" sz="28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a:t>
            </a:r>
            <a:r>
              <a:rPr kumimoji="0" lang="zh-CN" altLang="en-US" sz="28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准备一份</a:t>
            </a:r>
            <a:r>
              <a:rPr kumimoji="0" lang="en-US" altLang="zh-CN" sz="28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WORD)</a:t>
            </a:r>
            <a:endParaRPr kumimoji="0" lang="zh-CN" altLang="en-US" sz="28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endParaRPr>
          </a:p>
          <a:p>
            <a:pPr marL="669925" marR="0" lvl="1" indent="-325438" algn="l" defTabSz="914400" rtl="0" eaLnBrk="1" fontAlgn="base" latinLnBrk="0" hangingPunct="1">
              <a:lnSpc>
                <a:spcPct val="100000"/>
              </a:lnSpc>
              <a:spcBef>
                <a:spcPct val="20000"/>
              </a:spcBef>
              <a:spcAft>
                <a:spcPct val="0"/>
              </a:spcAft>
              <a:buClr>
                <a:srgbClr val="3B812F"/>
              </a:buClr>
              <a:buSzPct val="60000"/>
              <a:buFont typeface="Wingdings" pitchFamily="2" charset="2"/>
              <a:buChar char="q"/>
              <a:tabLst/>
              <a:defRPr/>
            </a:pPr>
            <a:r>
              <a:rPr kumimoji="0" lang="zh-CN" altLang="zh-CN" sz="24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线性规划</a:t>
            </a:r>
            <a:r>
              <a:rPr kumimoji="0" lang="en-US" altLang="zh-CN" sz="24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------LINDO</a:t>
            </a:r>
            <a:r>
              <a:rPr kumimoji="0" lang="zh-CN" altLang="zh-CN" sz="24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软件</a:t>
            </a:r>
            <a:r>
              <a:rPr kumimoji="0" lang="en-US" altLang="zh-CN" sz="24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/LINGO</a:t>
            </a:r>
            <a:r>
              <a:rPr kumimoji="0" lang="zh-CN" altLang="zh-CN" sz="24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软件</a:t>
            </a:r>
            <a:r>
              <a:rPr kumimoji="0" lang="zh-CN" altLang="en-US" sz="24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a:t>
            </a:r>
            <a:r>
              <a:rPr kumimoji="0" lang="zh-CN" altLang="zh-CN" sz="24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软件简介，安装，基本规则，如何用于求解线性规划问题</a:t>
            </a:r>
            <a:r>
              <a:rPr kumimoji="0" lang="zh-CN" altLang="en-US" sz="24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a:t>
            </a:r>
            <a:r>
              <a:rPr kumimoji="0" lang="zh-CN" altLang="en-US" sz="2400" b="0" i="0" u="none" strike="noStrike" kern="1200" cap="none" spc="0" normalizeH="0" baseline="0" noProof="0" dirty="0">
                <a:ln>
                  <a:noFill/>
                </a:ln>
                <a:solidFill>
                  <a:srgbClr val="FF0000"/>
                </a:solidFill>
                <a:effectLst/>
                <a:uLnTx/>
                <a:uFillTx/>
                <a:latin typeface="Calibri" pitchFamily="34" charset="0"/>
                <a:ea typeface="宋体" panose="02010600030101010101" pitchFamily="2" charset="-122"/>
                <a:cs typeface="Times New Roman" pitchFamily="18" charset="0"/>
              </a:rPr>
              <a:t>（规划问题任选）</a:t>
            </a:r>
            <a:endParaRPr kumimoji="0" lang="en-US" altLang="zh-CN" sz="2400" b="0" i="0" u="none" strike="noStrike" kern="1200" cap="none" spc="0" normalizeH="0" baseline="0" noProof="0" dirty="0">
              <a:ln>
                <a:noFill/>
              </a:ln>
              <a:solidFill>
                <a:srgbClr val="FF0000"/>
              </a:solidFill>
              <a:effectLst/>
              <a:uLnTx/>
              <a:uFillTx/>
              <a:latin typeface="Calibri" pitchFamily="34" charset="0"/>
              <a:ea typeface="宋体" panose="02010600030101010101" pitchFamily="2" charset="-122"/>
              <a:cs typeface="Times New Roman" pitchFamily="18" charset="0"/>
            </a:endParaRPr>
          </a:p>
          <a:p>
            <a:pPr marL="669925" marR="0" lvl="1" indent="-325438" algn="l" defTabSz="914400" rtl="0" eaLnBrk="1" fontAlgn="base" latinLnBrk="0" hangingPunct="1">
              <a:lnSpc>
                <a:spcPct val="100000"/>
              </a:lnSpc>
              <a:spcBef>
                <a:spcPct val="20000"/>
              </a:spcBef>
              <a:spcAft>
                <a:spcPct val="0"/>
              </a:spcAft>
              <a:buClr>
                <a:srgbClr val="3B812F"/>
              </a:buClr>
              <a:buSzPct val="60000"/>
              <a:buFont typeface="Wingdings" pitchFamily="2" charset="2"/>
              <a:buChar char="q"/>
              <a:tabLst/>
              <a:defRPr/>
            </a:pPr>
            <a:r>
              <a:rPr kumimoji="0" lang="zh-CN" altLang="zh-CN" sz="24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线性规划</a:t>
            </a:r>
            <a:r>
              <a:rPr kumimoji="0" lang="en-US" altLang="zh-CN" sz="24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a:t>
            </a:r>
            <a:r>
              <a:rPr kumimoji="0" lang="en-US" altLang="zh-CN" sz="2400" b="0" i="0" u="none" strike="noStrike" kern="1200" cap="none" spc="0" normalizeH="0" baseline="0" noProof="0" dirty="0" err="1">
                <a:ln>
                  <a:noFill/>
                </a:ln>
                <a:solidFill>
                  <a:srgbClr val="000000"/>
                </a:solidFill>
                <a:effectLst/>
                <a:uLnTx/>
                <a:uFillTx/>
                <a:latin typeface="Calibri" pitchFamily="34" charset="0"/>
                <a:ea typeface="宋体" panose="02010600030101010101" pitchFamily="2" charset="-122"/>
                <a:cs typeface="Times New Roman" pitchFamily="18" charset="0"/>
              </a:rPr>
              <a:t>Matlab</a:t>
            </a:r>
            <a:r>
              <a:rPr kumimoji="0" lang="zh-CN" altLang="zh-CN" sz="24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软件</a:t>
            </a:r>
            <a:r>
              <a:rPr kumimoji="0" lang="zh-CN" altLang="en-US" sz="24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a:t>
            </a:r>
            <a:r>
              <a:rPr kumimoji="0" lang="zh-CN" altLang="zh-CN" sz="24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软件简介，安装，基本规则，如何用于求解线性规划问题</a:t>
            </a:r>
            <a:r>
              <a:rPr kumimoji="0" lang="zh-CN" altLang="en-US" sz="24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rPr>
              <a:t>？</a:t>
            </a:r>
            <a:r>
              <a:rPr kumimoji="0" lang="zh-CN" altLang="en-US" sz="2400" b="0" i="0" u="none" strike="noStrike" kern="1200" cap="none" spc="0" normalizeH="0" baseline="0" noProof="0" dirty="0">
                <a:ln>
                  <a:noFill/>
                </a:ln>
                <a:solidFill>
                  <a:srgbClr val="FF0000"/>
                </a:solidFill>
                <a:effectLst/>
                <a:uLnTx/>
                <a:uFillTx/>
                <a:latin typeface="Calibri" pitchFamily="34" charset="0"/>
                <a:ea typeface="宋体" panose="02010600030101010101" pitchFamily="2" charset="-122"/>
                <a:cs typeface="Times New Roman" pitchFamily="18" charset="0"/>
              </a:rPr>
              <a:t>（规划问题任选）</a:t>
            </a:r>
            <a:endParaRPr kumimoji="0" lang="zh-CN" altLang="zh-CN" sz="2400" b="0" i="0" u="none" strike="noStrike" kern="1200" cap="none" spc="0" normalizeH="0" baseline="0" noProof="0" dirty="0">
              <a:ln>
                <a:noFill/>
              </a:ln>
              <a:solidFill>
                <a:srgbClr val="FF0000"/>
              </a:solidFill>
              <a:effectLst/>
              <a:uLnTx/>
              <a:uFillTx/>
              <a:latin typeface="Calibri" pitchFamily="34" charset="0"/>
              <a:ea typeface="宋体" panose="02010600030101010101" pitchFamily="2" charset="-122"/>
              <a:cs typeface="Times New Roman" pitchFamily="18" charset="0"/>
            </a:endParaRPr>
          </a:p>
          <a:p>
            <a:pPr marL="669925" marR="0" lvl="1" indent="-325438" algn="l" defTabSz="914400" rtl="0" eaLnBrk="1" fontAlgn="base" latinLnBrk="0" hangingPunct="1">
              <a:lnSpc>
                <a:spcPct val="100000"/>
              </a:lnSpc>
              <a:spcBef>
                <a:spcPct val="20000"/>
              </a:spcBef>
              <a:spcAft>
                <a:spcPct val="0"/>
              </a:spcAft>
              <a:buClr>
                <a:srgbClr val="3B812F"/>
              </a:buClr>
              <a:buSzPct val="60000"/>
              <a:buFont typeface="Wingdings" pitchFamily="2" charset="2"/>
              <a:buChar char="q"/>
              <a:tabLst/>
              <a:defRPr/>
            </a:pPr>
            <a:endParaRPr kumimoji="0" lang="en-US" altLang="zh-CN" sz="2400" b="0" i="0" u="none" strike="noStrike" kern="1200" cap="none" spc="0" normalizeH="0" baseline="0" noProof="0" dirty="0">
              <a:ln>
                <a:noFill/>
              </a:ln>
              <a:solidFill>
                <a:srgbClr val="FF0000"/>
              </a:solidFill>
              <a:effectLst/>
              <a:uLnTx/>
              <a:uFillTx/>
              <a:latin typeface="Calibri" pitchFamily="34" charset="0"/>
              <a:ea typeface="宋体" panose="02010600030101010101" pitchFamily="2"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FF0000"/>
                </a:solidFill>
                <a:effectLst/>
                <a:uLnTx/>
                <a:uFillTx/>
                <a:latin typeface="Calibri" pitchFamily="34" charset="0"/>
                <a:ea typeface="宋体" panose="02010600030101010101" pitchFamily="2" charset="-122"/>
                <a:cs typeface="Times New Roman" pitchFamily="18" charset="0"/>
              </a:rPr>
              <a:t>	</a:t>
            </a:r>
            <a:endParaRPr kumimoji="0" lang="zh-CN" altLang="zh-CN" sz="2400" b="0" i="0" u="none" strike="noStrike" kern="1200" cap="none" spc="0" normalizeH="0" baseline="0" noProof="0" dirty="0">
              <a:ln>
                <a:noFill/>
              </a:ln>
              <a:solidFill>
                <a:srgbClr val="FF0000"/>
              </a:solidFill>
              <a:effectLst/>
              <a:uLnTx/>
              <a:uFillTx/>
              <a:latin typeface="Calibri" pitchFamily="34" charset="0"/>
              <a:ea typeface="宋体" panose="02010600030101010101" pitchFamily="2" charset="-122"/>
              <a:cs typeface="Times New Roman" pitchFamily="18" charset="0"/>
            </a:endParaRPr>
          </a:p>
          <a:p>
            <a:pPr marL="669925" marR="0" lvl="1" indent="-325438" algn="l" defTabSz="914400" rtl="0" eaLnBrk="1" fontAlgn="base" latinLnBrk="0" hangingPunct="1">
              <a:lnSpc>
                <a:spcPct val="100000"/>
              </a:lnSpc>
              <a:spcBef>
                <a:spcPct val="20000"/>
              </a:spcBef>
              <a:spcAft>
                <a:spcPct val="0"/>
              </a:spcAft>
              <a:buClr>
                <a:srgbClr val="3B812F"/>
              </a:buClr>
              <a:buSzPct val="60000"/>
              <a:buFont typeface="Wingdings" pitchFamily="2" charset="2"/>
              <a:buChar char="q"/>
              <a:tabLst/>
              <a:defRPr/>
            </a:pPr>
            <a:endParaRPr kumimoji="0" lang="en-US" altLang="zh-CN" sz="36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a:p>
            <a:pPr marL="669925" marR="0" lvl="1" indent="-325438" algn="l" defTabSz="914400" rtl="0" eaLnBrk="1" fontAlgn="base" latinLnBrk="0" hangingPunct="1">
              <a:lnSpc>
                <a:spcPct val="100000"/>
              </a:lnSpc>
              <a:spcBef>
                <a:spcPct val="20000"/>
              </a:spcBef>
              <a:spcAft>
                <a:spcPct val="0"/>
              </a:spcAft>
              <a:buClr>
                <a:srgbClr val="3B812F"/>
              </a:buClr>
              <a:buSzPct val="60000"/>
              <a:buFont typeface="Wingdings" pitchFamily="2" charset="2"/>
              <a:buChar char="q"/>
              <a:tabLst/>
              <a:defRPr/>
            </a:pPr>
            <a:endParaRPr kumimoji="0" lang="zh-CN" altLang="en-US" sz="2400" b="0" i="0" u="none" strike="noStrike" kern="1200" cap="none" spc="0" normalizeH="0" baseline="0" noProof="0" dirty="0">
              <a:ln>
                <a:noFill/>
              </a:ln>
              <a:solidFill>
                <a:srgbClr val="FF0000"/>
              </a:solidFill>
              <a:effectLst/>
              <a:uLnTx/>
              <a:uFillTx/>
              <a:latin typeface="Calibri" pitchFamily="34" charset="0"/>
              <a:ea typeface="宋体" panose="02010600030101010101" pitchFamily="2" charset="-122"/>
              <a:cs typeface="Times New Roman" pitchFamily="18" charset="0"/>
            </a:endParaRPr>
          </a:p>
          <a:p>
            <a:pPr marL="669925" marR="0" lvl="1" indent="-325438" algn="l" defTabSz="914400" rtl="0" eaLnBrk="1" fontAlgn="base" latinLnBrk="0" hangingPunct="1">
              <a:lnSpc>
                <a:spcPct val="100000"/>
              </a:lnSpc>
              <a:spcBef>
                <a:spcPct val="20000"/>
              </a:spcBef>
              <a:spcAft>
                <a:spcPct val="0"/>
              </a:spcAft>
              <a:buClr>
                <a:srgbClr val="3B812F"/>
              </a:buClr>
              <a:buSzPct val="60000"/>
              <a:buFont typeface="Wingdings" pitchFamily="2" charset="2"/>
              <a:buChar char="q"/>
              <a:tabLst/>
              <a:defRPr/>
            </a:pPr>
            <a:endParaRPr kumimoji="0" lang="en-US" altLang="zh-CN" sz="2400" b="0" i="0" u="none" strike="noStrike" kern="1200" cap="none" spc="0" normalizeH="0" baseline="0" noProof="0" dirty="0">
              <a:ln>
                <a:noFill/>
              </a:ln>
              <a:solidFill>
                <a:srgbClr val="000000"/>
              </a:solidFill>
              <a:effectLst/>
              <a:uLnTx/>
              <a:uFillTx/>
              <a:latin typeface="Calibri" pitchFamily="34" charset="0"/>
              <a:ea typeface="宋体" panose="02010600030101010101" pitchFamily="2" charset="-122"/>
              <a:cs typeface="Times New Roman" pitchFamily="18" charset="0"/>
            </a:endParaRPr>
          </a:p>
          <a:p>
            <a:pPr marL="669925" marR="0" lvl="1" indent="-325438" algn="l" defTabSz="914400" rtl="0" eaLnBrk="1" fontAlgn="base" latinLnBrk="0" hangingPunct="1">
              <a:lnSpc>
                <a:spcPct val="100000"/>
              </a:lnSpc>
              <a:spcBef>
                <a:spcPct val="20000"/>
              </a:spcBef>
              <a:spcAft>
                <a:spcPct val="0"/>
              </a:spcAft>
              <a:buClr>
                <a:srgbClr val="3B812F"/>
              </a:buClr>
              <a:buSzPct val="60000"/>
              <a:buFont typeface="Wingdings" pitchFamily="2" charset="2"/>
              <a:buChar char="q"/>
              <a:tabLst/>
              <a:defRPr/>
            </a:pPr>
            <a:endParaRPr kumimoji="0" lang="zh-CN" altLang="en-US" sz="2400" b="0" i="0" u="none" strike="noStrike" kern="0" cap="none" spc="0" normalizeH="0" baseline="0" noProof="0" dirty="0">
              <a:ln>
                <a:noFill/>
              </a:ln>
              <a:solidFill>
                <a:srgbClr val="3333FF"/>
              </a:solidFill>
              <a:effectLst/>
              <a:uLnTx/>
              <a:uFillTx/>
              <a:latin typeface="华文细黑" pitchFamily="2" charset="-122"/>
              <a:ea typeface="宋体"/>
              <a:cs typeface="+mn-cs"/>
            </a:endParaRPr>
          </a:p>
          <a:p>
            <a:pPr marL="669925" marR="0" lvl="1" indent="-325438" algn="l" defTabSz="914400" rtl="0" eaLnBrk="1" fontAlgn="base" latinLnBrk="0" hangingPunct="1">
              <a:lnSpc>
                <a:spcPct val="100000"/>
              </a:lnSpc>
              <a:spcBef>
                <a:spcPct val="20000"/>
              </a:spcBef>
              <a:spcAft>
                <a:spcPct val="0"/>
              </a:spcAft>
              <a:buClr>
                <a:srgbClr val="3B812F"/>
              </a:buClr>
              <a:buSzPct val="60000"/>
              <a:buFont typeface="Wingdings" pitchFamily="2" charset="2"/>
              <a:buChar char="q"/>
              <a:tabLst/>
              <a:defRPr/>
            </a:pPr>
            <a:endParaRPr kumimoji="0" lang="en-US" altLang="zh-CN" sz="2400" b="0" i="0" u="none" strike="noStrike" kern="0" cap="none" spc="0" normalizeH="0" baseline="0" noProof="0" dirty="0">
              <a:ln>
                <a:noFill/>
              </a:ln>
              <a:solidFill>
                <a:srgbClr val="3333FF"/>
              </a:solidFill>
              <a:effectLst/>
              <a:uLnTx/>
              <a:uFillTx/>
              <a:latin typeface="华文细黑" pitchFamily="2" charset="-122"/>
              <a:ea typeface="宋体"/>
              <a:cs typeface="+mn-cs"/>
            </a:endParaRPr>
          </a:p>
          <a:p>
            <a:pPr marL="669925" marR="0" lvl="1" indent="-325438" algn="l" defTabSz="914400" rtl="0" eaLnBrk="1" fontAlgn="base" latinLnBrk="0" hangingPunct="1">
              <a:lnSpc>
                <a:spcPct val="100000"/>
              </a:lnSpc>
              <a:spcBef>
                <a:spcPct val="20000"/>
              </a:spcBef>
              <a:spcAft>
                <a:spcPct val="0"/>
              </a:spcAft>
              <a:buClr>
                <a:srgbClr val="3B812F"/>
              </a:buClr>
              <a:buSzPct val="60000"/>
              <a:buFont typeface="Wingdings" pitchFamily="2" charset="2"/>
              <a:buChar char="q"/>
              <a:tabLst/>
              <a:defRPr/>
            </a:pPr>
            <a:endParaRPr kumimoji="0" lang="en-US" altLang="zh-CN" sz="2400" b="0" i="0" u="none" strike="noStrike" kern="0" cap="none" spc="0" normalizeH="0" baseline="0" noProof="0" dirty="0">
              <a:ln>
                <a:noFill/>
              </a:ln>
              <a:solidFill>
                <a:srgbClr val="3333FF"/>
              </a:solidFill>
              <a:effectLst/>
              <a:uLnTx/>
              <a:uFillTx/>
              <a:latin typeface="华文细黑" pitchFamily="2" charset="-122"/>
              <a:ea typeface="宋体"/>
              <a:cs typeface="+mn-cs"/>
            </a:endParaRPr>
          </a:p>
          <a:p>
            <a:pPr marL="669925" marR="0" lvl="1" indent="-325438" algn="l" defTabSz="914400" rtl="0" eaLnBrk="1" fontAlgn="base" latinLnBrk="0" hangingPunct="1">
              <a:lnSpc>
                <a:spcPct val="100000"/>
              </a:lnSpc>
              <a:spcBef>
                <a:spcPct val="20000"/>
              </a:spcBef>
              <a:spcAft>
                <a:spcPct val="0"/>
              </a:spcAft>
              <a:buClr>
                <a:srgbClr val="3B812F"/>
              </a:buClr>
              <a:buSzPct val="60000"/>
              <a:buFont typeface="Wingdings" pitchFamily="2" charset="2"/>
              <a:buNone/>
              <a:tabLst/>
              <a:defRPr/>
            </a:pPr>
            <a:endParaRPr kumimoji="0" lang="en-US" altLang="zh-CN" sz="2200" b="0" i="0" u="none" strike="noStrike" kern="0" cap="none" spc="0" normalizeH="0" baseline="0" noProof="0" dirty="0">
              <a:ln>
                <a:noFill/>
              </a:ln>
              <a:solidFill>
                <a:srgbClr val="000000"/>
              </a:solidFill>
              <a:effectLst/>
              <a:uLnTx/>
              <a:uFillTx/>
              <a:latin typeface="Arial"/>
              <a:ea typeface="宋体"/>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标题 1">
            <a:extLst>
              <a:ext uri="{FF2B5EF4-FFF2-40B4-BE49-F238E27FC236}">
                <a16:creationId xmlns:a16="http://schemas.microsoft.com/office/drawing/2014/main" id="{6DF11716-37D9-409A-9F83-6915344565E9}"/>
              </a:ext>
            </a:extLst>
          </p:cNvPr>
          <p:cNvSpPr>
            <a:spLocks noGrp="1" noChangeArrowheads="1"/>
          </p:cNvSpPr>
          <p:nvPr>
            <p:ph type="title"/>
          </p:nvPr>
        </p:nvSpPr>
        <p:spPr>
          <a:xfrm>
            <a:off x="457200" y="277813"/>
            <a:ext cx="7010400" cy="788987"/>
          </a:xfrm>
        </p:spPr>
        <p:txBody>
          <a:bodyPr/>
          <a:lstStyle/>
          <a:p>
            <a:r>
              <a:rPr lang="zh-CN" altLang="en-US"/>
              <a:t>课后练习</a:t>
            </a:r>
            <a:r>
              <a:rPr lang="zh-CN" altLang="zh-CN"/>
              <a:t>题</a:t>
            </a:r>
            <a:r>
              <a:rPr lang="en-US" altLang="zh-CN"/>
              <a:t> 2.3(1)</a:t>
            </a:r>
            <a:endParaRPr lang="zh-CN" altLang="en-US"/>
          </a:p>
        </p:txBody>
      </p:sp>
      <p:sp>
        <p:nvSpPr>
          <p:cNvPr id="131075" name="AutoShape 1" descr="C:\Users\john\AppData\Roaming\Tencent\Users\22892665\QQ\WinTemp\RichOle\~J5Q7I]{QM{GQR[]T5)7K.jpg">
            <a:extLst>
              <a:ext uri="{FF2B5EF4-FFF2-40B4-BE49-F238E27FC236}">
                <a16:creationId xmlns:a16="http://schemas.microsoft.com/office/drawing/2014/main" id="{275BA82B-30D6-4926-9B36-33EFCF007124}"/>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1076" name="AutoShape 2" descr="C:\Users\john\AppData\Roaming\Tencent\Users\22892665\QQ\WinTemp\RichOle\~J5Q7I]{QM{GQR[]T5)7K.jpg">
            <a:extLst>
              <a:ext uri="{FF2B5EF4-FFF2-40B4-BE49-F238E27FC236}">
                <a16:creationId xmlns:a16="http://schemas.microsoft.com/office/drawing/2014/main" id="{E2EA1D48-2123-4D90-BE3C-4D4DEEC098B2}"/>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1077" name="AutoShape 3" descr="C:\Users\john\AppData\Roaming\Tencent\Users\22892665\QQ\WinTemp\RichOle\~J5Q7I]{QM{GQR[]T5)7K.jpg">
            <a:extLst>
              <a:ext uri="{FF2B5EF4-FFF2-40B4-BE49-F238E27FC236}">
                <a16:creationId xmlns:a16="http://schemas.microsoft.com/office/drawing/2014/main" id="{94DD1863-CD08-4274-B3EB-36AB495876A9}"/>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pic>
        <p:nvPicPr>
          <p:cNvPr id="131078" name="Picture 3">
            <a:extLst>
              <a:ext uri="{FF2B5EF4-FFF2-40B4-BE49-F238E27FC236}">
                <a16:creationId xmlns:a16="http://schemas.microsoft.com/office/drawing/2014/main" id="{FD6D3B2D-D721-4186-A807-2B6DCA1B6E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600200"/>
            <a:ext cx="7181850" cy="193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a:extLst>
              <a:ext uri="{FF2B5EF4-FFF2-40B4-BE49-F238E27FC236}">
                <a16:creationId xmlns:a16="http://schemas.microsoft.com/office/drawing/2014/main" id="{0A3E0D50-AB68-43B0-99C8-44A9F6930EAC}"/>
              </a:ext>
            </a:extLst>
          </p:cNvPr>
          <p:cNvSpPr/>
          <p:nvPr/>
        </p:nvSpPr>
        <p:spPr>
          <a:xfrm>
            <a:off x="533400" y="1600200"/>
            <a:ext cx="504825" cy="3698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FF0000"/>
                </a:solidFill>
                <a:effectLst/>
                <a:uLnTx/>
                <a:uFillTx/>
                <a:latin typeface="华文细黑" pitchFamily="2" charset="-122"/>
                <a:ea typeface="宋体" panose="02010600030101010101" pitchFamily="2" charset="-122"/>
                <a:cs typeface="+mn-cs"/>
              </a:rPr>
              <a:t>2.3</a:t>
            </a:r>
            <a:endParaRPr kumimoji="0" lang="zh-CN" altLang="en-US" sz="1800" b="0" i="0" u="none" strike="noStrike" kern="1200" cap="none" spc="0" normalizeH="0" baseline="0" noProof="0" dirty="0">
              <a:ln>
                <a:noFill/>
              </a:ln>
              <a:solidFill>
                <a:srgbClr val="000000"/>
              </a:solidFill>
              <a:effectLst/>
              <a:uLnTx/>
              <a:uFillTx/>
              <a:latin typeface="Arial" charset="0"/>
              <a:ea typeface="宋体" panose="02010600030101010101" pitchFamily="2" charset="-122"/>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标题 1">
            <a:extLst>
              <a:ext uri="{FF2B5EF4-FFF2-40B4-BE49-F238E27FC236}">
                <a16:creationId xmlns:a16="http://schemas.microsoft.com/office/drawing/2014/main" id="{27DA0857-C96C-48F8-9A11-34D12AC2F41B}"/>
              </a:ext>
            </a:extLst>
          </p:cNvPr>
          <p:cNvSpPr>
            <a:spLocks noGrp="1" noChangeArrowheads="1"/>
          </p:cNvSpPr>
          <p:nvPr>
            <p:ph type="title"/>
          </p:nvPr>
        </p:nvSpPr>
        <p:spPr>
          <a:xfrm>
            <a:off x="457200" y="277813"/>
            <a:ext cx="7010400" cy="788987"/>
          </a:xfrm>
        </p:spPr>
        <p:txBody>
          <a:bodyPr/>
          <a:lstStyle/>
          <a:p>
            <a:r>
              <a:rPr lang="zh-CN" altLang="en-US"/>
              <a:t>课后练习</a:t>
            </a:r>
            <a:r>
              <a:rPr lang="zh-CN" altLang="zh-CN"/>
              <a:t>题</a:t>
            </a:r>
            <a:r>
              <a:rPr lang="en-US" altLang="zh-CN"/>
              <a:t> 2.8</a:t>
            </a:r>
            <a:endParaRPr lang="zh-CN" altLang="en-US"/>
          </a:p>
        </p:txBody>
      </p:sp>
      <p:sp>
        <p:nvSpPr>
          <p:cNvPr id="132099" name="AutoShape 1" descr="C:\Users\john\AppData\Roaming\Tencent\Users\22892665\QQ\WinTemp\RichOle\~J5Q7I]{QM{GQR[]T5)7K.jpg">
            <a:extLst>
              <a:ext uri="{FF2B5EF4-FFF2-40B4-BE49-F238E27FC236}">
                <a16:creationId xmlns:a16="http://schemas.microsoft.com/office/drawing/2014/main" id="{72AFC59A-7348-43DC-9485-B4E094A8BD36}"/>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2100" name="AutoShape 2" descr="C:\Users\john\AppData\Roaming\Tencent\Users\22892665\QQ\WinTemp\RichOle\~J5Q7I]{QM{GQR[]T5)7K.jpg">
            <a:extLst>
              <a:ext uri="{FF2B5EF4-FFF2-40B4-BE49-F238E27FC236}">
                <a16:creationId xmlns:a16="http://schemas.microsoft.com/office/drawing/2014/main" id="{E8C9F16B-B38F-4B3F-A8B4-7261A844AB9C}"/>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2101" name="AutoShape 3" descr="C:\Users\john\AppData\Roaming\Tencent\Users\22892665\QQ\WinTemp\RichOle\~J5Q7I]{QM{GQR[]T5)7K.jpg">
            <a:extLst>
              <a:ext uri="{FF2B5EF4-FFF2-40B4-BE49-F238E27FC236}">
                <a16:creationId xmlns:a16="http://schemas.microsoft.com/office/drawing/2014/main" id="{3EF9EF40-354C-47D3-A7F6-5B2CAC25906B}"/>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 name="矩形 8">
            <a:extLst>
              <a:ext uri="{FF2B5EF4-FFF2-40B4-BE49-F238E27FC236}">
                <a16:creationId xmlns:a16="http://schemas.microsoft.com/office/drawing/2014/main" id="{5C72D90C-A358-4A1E-B0A8-52018F69CF03}"/>
              </a:ext>
            </a:extLst>
          </p:cNvPr>
          <p:cNvSpPr/>
          <p:nvPr/>
        </p:nvSpPr>
        <p:spPr>
          <a:xfrm>
            <a:off x="533400" y="990600"/>
            <a:ext cx="504825" cy="3698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FF0000"/>
                </a:solidFill>
                <a:effectLst/>
                <a:uLnTx/>
                <a:uFillTx/>
                <a:latin typeface="华文细黑" pitchFamily="2" charset="-122"/>
                <a:ea typeface="宋体" panose="02010600030101010101" pitchFamily="2" charset="-122"/>
                <a:cs typeface="+mn-cs"/>
              </a:rPr>
              <a:t>2.8</a:t>
            </a:r>
            <a:endParaRPr kumimoji="0" lang="zh-CN" altLang="en-US" sz="1800" b="0" i="0" u="none" strike="noStrike" kern="1200" cap="none" spc="0" normalizeH="0" baseline="0" noProof="0" dirty="0">
              <a:ln>
                <a:noFill/>
              </a:ln>
              <a:solidFill>
                <a:srgbClr val="000000"/>
              </a:solidFill>
              <a:effectLst/>
              <a:uLnTx/>
              <a:uFillTx/>
              <a:latin typeface="Arial" charset="0"/>
              <a:ea typeface="宋体" panose="02010600030101010101" pitchFamily="2" charset="-122"/>
              <a:cs typeface="+mn-cs"/>
            </a:endParaRPr>
          </a:p>
        </p:txBody>
      </p:sp>
      <p:pic>
        <p:nvPicPr>
          <p:cNvPr id="132103" name="Picture 2">
            <a:extLst>
              <a:ext uri="{FF2B5EF4-FFF2-40B4-BE49-F238E27FC236}">
                <a16:creationId xmlns:a16="http://schemas.microsoft.com/office/drawing/2014/main" id="{70DA6769-D350-4008-932F-5D2E6B655F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295400"/>
            <a:ext cx="7010400" cy="179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04" name="Picture 3">
            <a:extLst>
              <a:ext uri="{FF2B5EF4-FFF2-40B4-BE49-F238E27FC236}">
                <a16:creationId xmlns:a16="http://schemas.microsoft.com/office/drawing/2014/main" id="{F9BB3914-2726-436C-A012-08B384C23F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276600"/>
            <a:ext cx="7629525" cy="238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AutoShape 1" descr="C:\Users\john\AppData\Roaming\Tencent\Users\22892665\QQ\WinTemp\RichOle\~J5Q7I]{QM{GQR[]T5)7K.jpg">
            <a:extLst>
              <a:ext uri="{FF2B5EF4-FFF2-40B4-BE49-F238E27FC236}">
                <a16:creationId xmlns:a16="http://schemas.microsoft.com/office/drawing/2014/main" id="{4DE1889B-35D7-4004-B576-95B08E3460A1}"/>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3123" name="AutoShape 2" descr="C:\Users\john\AppData\Roaming\Tencent\Users\22892665\QQ\WinTemp\RichOle\~J5Q7I]{QM{GQR[]T5)7K.jpg">
            <a:extLst>
              <a:ext uri="{FF2B5EF4-FFF2-40B4-BE49-F238E27FC236}">
                <a16:creationId xmlns:a16="http://schemas.microsoft.com/office/drawing/2014/main" id="{0E788071-2AC8-4902-8891-CC6C089EF4C1}"/>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3124" name="TextBox 7">
            <a:extLst>
              <a:ext uri="{FF2B5EF4-FFF2-40B4-BE49-F238E27FC236}">
                <a16:creationId xmlns:a16="http://schemas.microsoft.com/office/drawing/2014/main" id="{BC383C3F-BF03-4A19-938F-641D6FBAFF82}"/>
              </a:ext>
            </a:extLst>
          </p:cNvPr>
          <p:cNvSpPr txBox="1">
            <a:spLocks noChangeArrowheads="1"/>
          </p:cNvSpPr>
          <p:nvPr/>
        </p:nvSpPr>
        <p:spPr bwMode="auto">
          <a:xfrm>
            <a:off x="457200" y="838200"/>
            <a:ext cx="914400"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3125" name="标题 1">
            <a:extLst>
              <a:ext uri="{FF2B5EF4-FFF2-40B4-BE49-F238E27FC236}">
                <a16:creationId xmlns:a16="http://schemas.microsoft.com/office/drawing/2014/main" id="{55EDC730-9A8C-4E80-9CD1-A349F0E2F473}"/>
              </a:ext>
            </a:extLst>
          </p:cNvPr>
          <p:cNvSpPr>
            <a:spLocks noGrp="1" noChangeArrowheads="1"/>
          </p:cNvSpPr>
          <p:nvPr>
            <p:ph type="title"/>
          </p:nvPr>
        </p:nvSpPr>
        <p:spPr>
          <a:xfrm>
            <a:off x="882650" y="2819400"/>
            <a:ext cx="7620000" cy="788988"/>
          </a:xfrm>
        </p:spPr>
        <p:txBody>
          <a:bodyPr/>
          <a:lstStyle/>
          <a:p>
            <a:pPr algn="ctr"/>
            <a:r>
              <a:rPr lang="zh-CN" altLang="en-US">
                <a:solidFill>
                  <a:srgbClr val="FF33CC"/>
                </a:solidFill>
              </a:rPr>
              <a:t>第</a:t>
            </a:r>
            <a:r>
              <a:rPr lang="en-US" altLang="zh-CN">
                <a:solidFill>
                  <a:srgbClr val="FF33CC"/>
                </a:solidFill>
              </a:rPr>
              <a:t>2</a:t>
            </a:r>
            <a:r>
              <a:rPr lang="zh-CN" altLang="en-US">
                <a:solidFill>
                  <a:srgbClr val="FF33CC"/>
                </a:solidFill>
              </a:rPr>
              <a:t>章完！</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标题 1">
            <a:extLst>
              <a:ext uri="{FF2B5EF4-FFF2-40B4-BE49-F238E27FC236}">
                <a16:creationId xmlns:a16="http://schemas.microsoft.com/office/drawing/2014/main" id="{3FFC85E9-00BC-49F7-AC86-839E0934B477}"/>
              </a:ext>
            </a:extLst>
          </p:cNvPr>
          <p:cNvSpPr>
            <a:spLocks noGrp="1" noChangeArrowheads="1"/>
          </p:cNvSpPr>
          <p:nvPr>
            <p:ph type="title"/>
          </p:nvPr>
        </p:nvSpPr>
        <p:spPr>
          <a:xfrm>
            <a:off x="457200" y="238125"/>
            <a:ext cx="8229600" cy="828675"/>
          </a:xfrm>
        </p:spPr>
        <p:txBody>
          <a:bodyPr/>
          <a:lstStyle/>
          <a:p>
            <a:r>
              <a:rPr lang="zh-CN" altLang="en-US"/>
              <a:t>例子</a:t>
            </a:r>
            <a:r>
              <a:rPr lang="en-US" altLang="zh-CN"/>
              <a:t>-</a:t>
            </a:r>
            <a:r>
              <a:rPr lang="zh-CN" altLang="en-US"/>
              <a:t>放射治疗中的线性规划</a:t>
            </a:r>
          </a:p>
        </p:txBody>
      </p:sp>
      <p:pic>
        <p:nvPicPr>
          <p:cNvPr id="134147" name="图片 2">
            <a:extLst>
              <a:ext uri="{FF2B5EF4-FFF2-40B4-BE49-F238E27FC236}">
                <a16:creationId xmlns:a16="http://schemas.microsoft.com/office/drawing/2014/main" id="{24426840-DADF-4CBC-A9AD-CA053C2A3B11}"/>
              </a:ext>
            </a:extLst>
          </p:cNvPr>
          <p:cNvPicPr>
            <a:picLocks noChangeAspect="1"/>
          </p:cNvPicPr>
          <p:nvPr/>
        </p:nvPicPr>
        <p:blipFill>
          <a:blip r:embed="rId2">
            <a:extLst>
              <a:ext uri="{28A0092B-C50C-407E-A947-70E740481C1C}">
                <a14:useLocalDpi xmlns:a14="http://schemas.microsoft.com/office/drawing/2010/main" val="0"/>
              </a:ext>
            </a:extLst>
          </a:blip>
          <a:srcRect l="24568"/>
          <a:stretch>
            <a:fillRect/>
          </a:stretch>
        </p:blipFill>
        <p:spPr bwMode="auto">
          <a:xfrm>
            <a:off x="6477000" y="1295400"/>
            <a:ext cx="2414588" cy="333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8">
            <a:extLst>
              <a:ext uri="{FF2B5EF4-FFF2-40B4-BE49-F238E27FC236}">
                <a16:creationId xmlns:a16="http://schemas.microsoft.com/office/drawing/2014/main" id="{801158E7-C4BD-43E8-A363-BF94B1E355FB}"/>
              </a:ext>
            </a:extLst>
          </p:cNvPr>
          <p:cNvSpPr>
            <a:spLocks noChangeArrowheads="1"/>
          </p:cNvSpPr>
          <p:nvPr/>
        </p:nvSpPr>
        <p:spPr bwMode="auto">
          <a:xfrm>
            <a:off x="304800" y="1530350"/>
            <a:ext cx="5867400" cy="2862263"/>
          </a:xfrm>
          <a:prstGeom prst="rect">
            <a:avLst/>
          </a:prstGeom>
          <a:noFill/>
          <a:ln>
            <a:noFill/>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宋体"/>
                <a:ea typeface="宋体"/>
                <a:cs typeface="+mn-cs"/>
              </a:rPr>
              <a:t>玛丽被诊断为晚期癌症，她的膀胱长了一个大的恶性肿瘤，将接受放射性治疗。肿瘤的尺寸和位置使得她的放射治疗需要比平常更加精细，需要尽可能的削弱放射束对健康关键组织的照射。</a:t>
            </a:r>
          </a:p>
        </p:txBody>
      </p:sp>
      <p:sp>
        <p:nvSpPr>
          <p:cNvPr id="6" name="Rectangle 8">
            <a:extLst>
              <a:ext uri="{FF2B5EF4-FFF2-40B4-BE49-F238E27FC236}">
                <a16:creationId xmlns:a16="http://schemas.microsoft.com/office/drawing/2014/main" id="{03AD1A81-DEC8-434D-BFC8-86DA4DA5F526}"/>
              </a:ext>
            </a:extLst>
          </p:cNvPr>
          <p:cNvSpPr>
            <a:spLocks noChangeArrowheads="1"/>
          </p:cNvSpPr>
          <p:nvPr/>
        </p:nvSpPr>
        <p:spPr bwMode="auto">
          <a:xfrm>
            <a:off x="349250" y="5068888"/>
            <a:ext cx="8534400" cy="858837"/>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1" lang="zh-CN" altLang="en-US" sz="1800" b="1"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纽约斯隆</a:t>
            </a:r>
            <a:r>
              <a:rPr kumimoji="1" lang="en-US" altLang="zh-CN" sz="1800" b="1"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a:t>
            </a:r>
            <a:r>
              <a:rPr kumimoji="1" lang="zh-CN" altLang="en-US" sz="1800" b="1"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凯瑟琳癌症中心</a:t>
            </a:r>
            <a:r>
              <a:rPr kumimoji="1" lang="en-US" altLang="zh-CN" sz="1800" b="1"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(MSKCC)</a:t>
            </a:r>
            <a:r>
              <a:rPr kumimoji="1" lang="zh-CN" altLang="en-US" sz="1800" b="1"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的基于线性规划的放疗计划</a:t>
            </a:r>
            <a:r>
              <a:rPr kumimoji="1" lang="en-US" altLang="zh-CN" sz="1800" b="1"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2007</a:t>
            </a:r>
            <a:r>
              <a:rPr kumimoji="1" lang="zh-CN" altLang="en-US" sz="1800" b="1"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年获得代表运筹学和管理学成就的</a:t>
            </a:r>
            <a:r>
              <a:rPr kumimoji="1" lang="en-US" altLang="zh-CN" sz="1800" b="1"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Franz Edelman</a:t>
            </a:r>
            <a:r>
              <a:rPr kumimoji="1" lang="zh-CN" altLang="en-US" sz="1800" b="1"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一等奖。</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标题 1">
            <a:extLst>
              <a:ext uri="{FF2B5EF4-FFF2-40B4-BE49-F238E27FC236}">
                <a16:creationId xmlns:a16="http://schemas.microsoft.com/office/drawing/2014/main" id="{C571E589-FA07-41E5-A2D4-5848715AE586}"/>
              </a:ext>
            </a:extLst>
          </p:cNvPr>
          <p:cNvSpPr>
            <a:spLocks noGrp="1" noChangeArrowheads="1"/>
          </p:cNvSpPr>
          <p:nvPr>
            <p:ph type="title"/>
          </p:nvPr>
        </p:nvSpPr>
        <p:spPr>
          <a:xfrm>
            <a:off x="457200" y="238125"/>
            <a:ext cx="8229600" cy="1139825"/>
          </a:xfrm>
        </p:spPr>
        <p:txBody>
          <a:bodyPr/>
          <a:lstStyle/>
          <a:p>
            <a:r>
              <a:rPr lang="zh-CN" altLang="en-US"/>
              <a:t>例子</a:t>
            </a:r>
            <a:r>
              <a:rPr lang="en-US" altLang="zh-CN"/>
              <a:t>-</a:t>
            </a:r>
            <a:r>
              <a:rPr lang="zh-CN" altLang="en-US"/>
              <a:t>放射治疗中的线性规划</a:t>
            </a:r>
          </a:p>
        </p:txBody>
      </p:sp>
      <p:pic>
        <p:nvPicPr>
          <p:cNvPr id="135171" name="图片 3">
            <a:extLst>
              <a:ext uri="{FF2B5EF4-FFF2-40B4-BE49-F238E27FC236}">
                <a16:creationId xmlns:a16="http://schemas.microsoft.com/office/drawing/2014/main" id="{583AC251-6DF5-4412-8C66-0B9AEC46AD42}"/>
              </a:ext>
            </a:extLst>
          </p:cNvPr>
          <p:cNvPicPr>
            <a:picLocks noChangeAspect="1"/>
          </p:cNvPicPr>
          <p:nvPr/>
        </p:nvPicPr>
        <p:blipFill>
          <a:blip r:embed="rId2">
            <a:extLst>
              <a:ext uri="{28A0092B-C50C-407E-A947-70E740481C1C}">
                <a14:useLocalDpi xmlns:a14="http://schemas.microsoft.com/office/drawing/2010/main" val="0"/>
              </a:ext>
            </a:extLst>
          </a:blip>
          <a:srcRect t="54521"/>
          <a:stretch>
            <a:fillRect/>
          </a:stretch>
        </p:blipFill>
        <p:spPr bwMode="auto">
          <a:xfrm>
            <a:off x="609600" y="914400"/>
            <a:ext cx="7072313" cy="186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8">
            <a:extLst>
              <a:ext uri="{FF2B5EF4-FFF2-40B4-BE49-F238E27FC236}">
                <a16:creationId xmlns:a16="http://schemas.microsoft.com/office/drawing/2014/main" id="{064F0AF3-B88A-453A-9A48-1D3E483972CF}"/>
              </a:ext>
            </a:extLst>
          </p:cNvPr>
          <p:cNvSpPr>
            <a:spLocks noChangeArrowheads="1"/>
          </p:cNvSpPr>
          <p:nvPr/>
        </p:nvSpPr>
        <p:spPr bwMode="auto">
          <a:xfrm>
            <a:off x="228600" y="2743200"/>
            <a:ext cx="8686800" cy="3416300"/>
          </a:xfrm>
          <a:prstGeom prst="rect">
            <a:avLst/>
          </a:prstGeom>
          <a:noFill/>
          <a:ln w="25400">
            <a:solidFill>
              <a:srgbClr val="FF0000"/>
            </a:solidFill>
            <a:miter lim="800000"/>
            <a:headEnd/>
            <a:tailEnd/>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1" lang="zh-CN" altLang="en-US" sz="1800" b="1" i="0" u="none" strike="noStrike" kern="1200" cap="none" spc="0" normalizeH="0" baseline="0" noProof="0" dirty="0">
                <a:ln>
                  <a:noFill/>
                </a:ln>
                <a:solidFill>
                  <a:srgbClr val="000000"/>
                </a:solidFill>
                <a:effectLst/>
                <a:uLnTx/>
                <a:uFillTx/>
                <a:latin typeface="宋体"/>
                <a:ea typeface="宋体"/>
                <a:cs typeface="+mn-cs"/>
              </a:rPr>
              <a:t>通过这种类型的分析以后，医疗小组仔细地验证了设计玛丽治疗的数据，见表</a:t>
            </a:r>
            <a:r>
              <a:rPr kumimoji="1" lang="en-US" altLang="zh-CN" sz="1800" b="1" i="0" u="none" strike="noStrike" kern="1200" cap="none" spc="0" normalizeH="0" baseline="0" noProof="0" dirty="0">
                <a:ln>
                  <a:noFill/>
                </a:ln>
                <a:solidFill>
                  <a:srgbClr val="000000"/>
                </a:solidFill>
                <a:effectLst/>
                <a:uLnTx/>
                <a:uFillTx/>
                <a:latin typeface="宋体"/>
                <a:ea typeface="宋体"/>
                <a:cs typeface="+mn-cs"/>
              </a:rPr>
              <a:t>3.7</a:t>
            </a:r>
            <a:r>
              <a:rPr kumimoji="1" lang="zh-CN" altLang="en-US" sz="1800" b="1" i="0" u="none" strike="noStrike" kern="1200" cap="none" spc="0" normalizeH="0" baseline="0" noProof="0" dirty="0">
                <a:ln>
                  <a:noFill/>
                </a:ln>
                <a:solidFill>
                  <a:srgbClr val="000000"/>
                </a:solidFill>
                <a:effectLst/>
                <a:uLnTx/>
                <a:uFillTx/>
                <a:latin typeface="宋体"/>
                <a:ea typeface="宋体"/>
                <a:cs typeface="+mn-cs"/>
              </a:rPr>
              <a:t>。第一列列出了被考虑的身体的区域，下两列给出了进入点被各自区域吸收的放射束平均放射剂量。例如，如果一束放射线在进入点的剂量水平是</a:t>
            </a:r>
            <a:r>
              <a:rPr kumimoji="1" lang="en-US" altLang="zh-CN" sz="1800" b="1" i="0" u="none" strike="noStrike" kern="1200" cap="none" spc="0" normalizeH="0" baseline="0" noProof="0" dirty="0">
                <a:ln>
                  <a:noFill/>
                </a:ln>
                <a:solidFill>
                  <a:srgbClr val="000000"/>
                </a:solidFill>
                <a:effectLst/>
                <a:uLnTx/>
                <a:uFillTx/>
                <a:latin typeface="宋体"/>
                <a:ea typeface="宋体"/>
                <a:cs typeface="+mn-cs"/>
              </a:rPr>
              <a:t>1</a:t>
            </a:r>
            <a:r>
              <a:rPr kumimoji="1" lang="zh-CN" altLang="en-US" sz="1800" b="1" i="0" u="none" strike="noStrike" kern="1200" cap="none" spc="0" normalizeH="0" baseline="0" noProof="0" dirty="0">
                <a:ln>
                  <a:noFill/>
                </a:ln>
                <a:solidFill>
                  <a:srgbClr val="000000"/>
                </a:solidFill>
                <a:effectLst/>
                <a:uLnTx/>
                <a:uFillTx/>
                <a:latin typeface="宋体"/>
                <a:ea typeface="宋体"/>
                <a:cs typeface="+mn-cs"/>
              </a:rPr>
              <a:t>千德拉</a:t>
            </a:r>
            <a:r>
              <a:rPr kumimoji="1" lang="en-US" altLang="zh-CN" sz="1800" b="1" i="0" u="none" strike="noStrike" kern="1200" cap="none" spc="0" normalizeH="0" baseline="0" noProof="0" dirty="0">
                <a:ln>
                  <a:noFill/>
                </a:ln>
                <a:solidFill>
                  <a:srgbClr val="000000"/>
                </a:solidFill>
                <a:effectLst/>
                <a:uLnTx/>
                <a:uFillTx/>
                <a:latin typeface="宋体"/>
                <a:ea typeface="宋体"/>
                <a:cs typeface="+mn-cs"/>
              </a:rPr>
              <a:t>/</a:t>
            </a:r>
            <a:r>
              <a:rPr kumimoji="1" lang="zh-CN" altLang="en-US" sz="1800" b="1" i="0" u="none" strike="noStrike" kern="1200" cap="none" spc="0" normalizeH="0" baseline="0" noProof="0" dirty="0">
                <a:ln>
                  <a:noFill/>
                </a:ln>
                <a:solidFill>
                  <a:srgbClr val="000000"/>
                </a:solidFill>
                <a:effectLst/>
                <a:uLnTx/>
                <a:uFillTx/>
                <a:latin typeface="宋体"/>
                <a:ea typeface="宋体"/>
                <a:cs typeface="+mn-cs"/>
              </a:rPr>
              <a:t>单位，那么在二维平面上健康的解剖组织将平均吸收</a:t>
            </a:r>
            <a:r>
              <a:rPr kumimoji="1" lang="en-US" altLang="zh-CN" sz="1800" b="1" i="0" u="none" strike="noStrike" kern="1200" cap="none" spc="0" normalizeH="0" baseline="0" noProof="0" dirty="0">
                <a:ln>
                  <a:noFill/>
                </a:ln>
                <a:solidFill>
                  <a:srgbClr val="000000"/>
                </a:solidFill>
                <a:effectLst/>
                <a:uLnTx/>
                <a:uFillTx/>
                <a:latin typeface="宋体"/>
                <a:ea typeface="宋体" panose="02010600030101010101" pitchFamily="2" charset="-122"/>
                <a:cs typeface="+mn-cs"/>
              </a:rPr>
              <a:t>0.4</a:t>
            </a:r>
            <a:r>
              <a:rPr kumimoji="1" lang="zh-CN" altLang="en-US" sz="1800" b="1" i="0" u="none" strike="noStrike" kern="1200" cap="none" spc="0" normalizeH="0" baseline="0" noProof="0" dirty="0">
                <a:ln>
                  <a:noFill/>
                </a:ln>
                <a:solidFill>
                  <a:srgbClr val="000000"/>
                </a:solidFill>
                <a:effectLst/>
                <a:uLnTx/>
                <a:uFillTx/>
                <a:latin typeface="宋体"/>
                <a:ea typeface="宋体" panose="02010600030101010101" pitchFamily="2" charset="-122"/>
                <a:cs typeface="+mn-cs"/>
              </a:rPr>
              <a:t>千德拉</a:t>
            </a:r>
            <a:r>
              <a:rPr kumimoji="1" lang="en-US" altLang="zh-CN" sz="1800" b="1" i="0" u="none" strike="noStrike" kern="1200" cap="none" spc="0" normalizeH="0" baseline="0" noProof="0" dirty="0">
                <a:ln>
                  <a:noFill/>
                </a:ln>
                <a:solidFill>
                  <a:srgbClr val="000000"/>
                </a:solidFill>
                <a:effectLst/>
                <a:uLnTx/>
                <a:uFillTx/>
                <a:latin typeface="宋体"/>
                <a:ea typeface="宋体" panose="02010600030101010101" pitchFamily="2" charset="-122"/>
                <a:cs typeface="+mn-cs"/>
              </a:rPr>
              <a:t>/</a:t>
            </a:r>
            <a:r>
              <a:rPr kumimoji="1" lang="zh-CN" altLang="en-US" sz="1800" b="1" i="0" u="none" strike="noStrike" kern="1200" cap="none" spc="0" normalizeH="0" baseline="0" noProof="0" dirty="0">
                <a:ln>
                  <a:noFill/>
                </a:ln>
                <a:solidFill>
                  <a:srgbClr val="000000"/>
                </a:solidFill>
                <a:effectLst/>
                <a:uLnTx/>
                <a:uFillTx/>
                <a:latin typeface="宋体"/>
                <a:ea typeface="宋体" panose="02010600030101010101" pitchFamily="2" charset="-122"/>
                <a:cs typeface="+mn-cs"/>
              </a:rPr>
              <a:t>单位的放射量，附近的关键组织将吸收</a:t>
            </a:r>
            <a:r>
              <a:rPr kumimoji="1" lang="en-US" altLang="zh-CN" sz="1800" b="1" i="0" u="none" strike="noStrike" kern="1200" cap="none" spc="0" normalizeH="0" baseline="0" noProof="0" dirty="0">
                <a:ln>
                  <a:noFill/>
                </a:ln>
                <a:solidFill>
                  <a:srgbClr val="000000"/>
                </a:solidFill>
                <a:effectLst/>
                <a:uLnTx/>
                <a:uFillTx/>
                <a:latin typeface="宋体"/>
                <a:ea typeface="宋体" panose="02010600030101010101" pitchFamily="2" charset="-122"/>
                <a:cs typeface="+mn-cs"/>
              </a:rPr>
              <a:t>0.3</a:t>
            </a:r>
            <a:r>
              <a:rPr kumimoji="1" lang="zh-CN" altLang="en-US" sz="1800" b="1" i="0" u="none" strike="noStrike" kern="1200" cap="none" spc="0" normalizeH="0" baseline="0" noProof="0" dirty="0">
                <a:ln>
                  <a:noFill/>
                </a:ln>
                <a:solidFill>
                  <a:srgbClr val="000000"/>
                </a:solidFill>
                <a:effectLst/>
                <a:uLnTx/>
                <a:uFillTx/>
                <a:latin typeface="宋体"/>
                <a:ea typeface="宋体" panose="02010600030101010101" pitchFamily="2" charset="-122"/>
                <a:cs typeface="+mn-cs"/>
              </a:rPr>
              <a:t>千德拉</a:t>
            </a:r>
            <a:r>
              <a:rPr kumimoji="1" lang="en-US" altLang="zh-CN" sz="1800" b="1" i="0" u="none" strike="noStrike" kern="1200" cap="none" spc="0" normalizeH="0" baseline="0" noProof="0" dirty="0">
                <a:ln>
                  <a:noFill/>
                </a:ln>
                <a:solidFill>
                  <a:srgbClr val="000000"/>
                </a:solidFill>
                <a:effectLst/>
                <a:uLnTx/>
                <a:uFillTx/>
                <a:latin typeface="宋体"/>
                <a:ea typeface="宋体" panose="02010600030101010101" pitchFamily="2" charset="-122"/>
                <a:cs typeface="+mn-cs"/>
              </a:rPr>
              <a:t>/</a:t>
            </a:r>
            <a:r>
              <a:rPr kumimoji="1" lang="zh-CN" altLang="en-US" sz="1800" b="1" i="0" u="none" strike="noStrike" kern="1200" cap="none" spc="0" normalizeH="0" baseline="0" noProof="0" dirty="0">
                <a:ln>
                  <a:noFill/>
                </a:ln>
                <a:solidFill>
                  <a:srgbClr val="000000"/>
                </a:solidFill>
                <a:effectLst/>
                <a:uLnTx/>
                <a:uFillTx/>
                <a:latin typeface="宋体"/>
                <a:ea typeface="宋体" panose="02010600030101010101" pitchFamily="2" charset="-122"/>
                <a:cs typeface="+mn-cs"/>
              </a:rPr>
              <a:t>单位，肿瘤的各个部分将吸收</a:t>
            </a:r>
            <a:r>
              <a:rPr kumimoji="1" lang="en-US" altLang="zh-CN" sz="1800" b="1" i="0" u="none" strike="noStrike" kern="1200" cap="none" spc="0" normalizeH="0" baseline="0" noProof="0" dirty="0">
                <a:ln>
                  <a:noFill/>
                </a:ln>
                <a:solidFill>
                  <a:srgbClr val="000000"/>
                </a:solidFill>
                <a:effectLst/>
                <a:uLnTx/>
                <a:uFillTx/>
                <a:latin typeface="宋体"/>
                <a:ea typeface="宋体" panose="02010600030101010101" pitchFamily="2" charset="-122"/>
                <a:cs typeface="+mn-cs"/>
              </a:rPr>
              <a:t>0.5</a:t>
            </a:r>
            <a:r>
              <a:rPr kumimoji="1" lang="zh-CN" altLang="en-US" sz="1800" b="1" i="0" u="none" strike="noStrike" kern="1200" cap="none" spc="0" normalizeH="0" baseline="0" noProof="0" dirty="0">
                <a:ln>
                  <a:noFill/>
                </a:ln>
                <a:solidFill>
                  <a:srgbClr val="000000"/>
                </a:solidFill>
                <a:effectLst/>
                <a:uLnTx/>
                <a:uFillTx/>
                <a:latin typeface="宋体"/>
                <a:ea typeface="宋体" panose="02010600030101010101" pitchFamily="2" charset="-122"/>
                <a:cs typeface="+mn-cs"/>
              </a:rPr>
              <a:t>千德拉</a:t>
            </a:r>
            <a:r>
              <a:rPr kumimoji="1" lang="en-US" altLang="zh-CN" sz="1800" b="1" i="0" u="none" strike="noStrike" kern="1200" cap="none" spc="0" normalizeH="0" baseline="0" noProof="0" dirty="0">
                <a:ln>
                  <a:noFill/>
                </a:ln>
                <a:solidFill>
                  <a:srgbClr val="000000"/>
                </a:solidFill>
                <a:effectLst/>
                <a:uLnTx/>
                <a:uFillTx/>
                <a:latin typeface="宋体"/>
                <a:ea typeface="宋体" panose="02010600030101010101" pitchFamily="2" charset="-122"/>
                <a:cs typeface="+mn-cs"/>
              </a:rPr>
              <a:t>/</a:t>
            </a:r>
            <a:r>
              <a:rPr kumimoji="1" lang="zh-CN" altLang="en-US" sz="1800" b="1" i="0" u="none" strike="noStrike" kern="1200" cap="none" spc="0" normalizeH="0" baseline="0" noProof="0" dirty="0">
                <a:ln>
                  <a:noFill/>
                </a:ln>
                <a:solidFill>
                  <a:srgbClr val="000000"/>
                </a:solidFill>
                <a:effectLst/>
                <a:uLnTx/>
                <a:uFillTx/>
                <a:latin typeface="宋体"/>
                <a:ea typeface="宋体" panose="02010600030101010101" pitchFamily="2" charset="-122"/>
                <a:cs typeface="+mn-cs"/>
              </a:rPr>
              <a:t>单位，肿瘤的中心部分将吸收</a:t>
            </a:r>
            <a:r>
              <a:rPr kumimoji="1" lang="en-US" altLang="zh-CN" sz="1800" b="1" i="0" u="none" strike="noStrike" kern="1200" cap="none" spc="0" normalizeH="0" baseline="0" noProof="0" dirty="0">
                <a:ln>
                  <a:noFill/>
                </a:ln>
                <a:solidFill>
                  <a:srgbClr val="000000"/>
                </a:solidFill>
                <a:effectLst/>
                <a:uLnTx/>
                <a:uFillTx/>
                <a:latin typeface="宋体"/>
                <a:ea typeface="宋体" panose="02010600030101010101" pitchFamily="2" charset="-122"/>
                <a:cs typeface="+mn-cs"/>
              </a:rPr>
              <a:t>0.6</a:t>
            </a:r>
            <a:r>
              <a:rPr kumimoji="1" lang="zh-CN" altLang="en-US" sz="1800" b="1" i="0" u="none" strike="noStrike" kern="1200" cap="none" spc="0" normalizeH="0" baseline="0" noProof="0" dirty="0">
                <a:ln>
                  <a:noFill/>
                </a:ln>
                <a:solidFill>
                  <a:srgbClr val="000000"/>
                </a:solidFill>
                <a:effectLst/>
                <a:uLnTx/>
                <a:uFillTx/>
                <a:latin typeface="宋体"/>
                <a:ea typeface="宋体" panose="02010600030101010101" pitchFamily="2" charset="-122"/>
                <a:cs typeface="+mn-cs"/>
              </a:rPr>
              <a:t>千德拉</a:t>
            </a:r>
            <a:r>
              <a:rPr kumimoji="1" lang="en-US" altLang="zh-CN" sz="1800" b="1" i="0" u="none" strike="noStrike" kern="1200" cap="none" spc="0" normalizeH="0" baseline="0" noProof="0" dirty="0">
                <a:ln>
                  <a:noFill/>
                </a:ln>
                <a:solidFill>
                  <a:srgbClr val="000000"/>
                </a:solidFill>
                <a:effectLst/>
                <a:uLnTx/>
                <a:uFillTx/>
                <a:latin typeface="宋体"/>
                <a:ea typeface="宋体" panose="02010600030101010101" pitchFamily="2" charset="-122"/>
                <a:cs typeface="+mn-cs"/>
              </a:rPr>
              <a:t>/</a:t>
            </a:r>
            <a:r>
              <a:rPr kumimoji="1" lang="zh-CN" altLang="en-US" sz="1800" b="1" i="0" u="none" strike="noStrike" kern="1200" cap="none" spc="0" normalizeH="0" baseline="0" noProof="0" dirty="0">
                <a:ln>
                  <a:noFill/>
                </a:ln>
                <a:solidFill>
                  <a:srgbClr val="000000"/>
                </a:solidFill>
                <a:effectLst/>
                <a:uLnTx/>
                <a:uFillTx/>
                <a:latin typeface="宋体"/>
                <a:ea typeface="宋体" panose="02010600030101010101" pitchFamily="2" charset="-122"/>
                <a:cs typeface="+mn-cs"/>
              </a:rPr>
              <a:t>单位。最后一列给出了被身体各个部分平均吸收两个放射束的总放射剂量的约束限制。尤其是健康的解剖组织的平均吸收量必须尽可能小，关键组织不能超过</a:t>
            </a:r>
            <a:r>
              <a:rPr kumimoji="1" lang="en-US" altLang="zh-CN" sz="1800" b="1" i="0" u="none" strike="noStrike" kern="1200" cap="none" spc="0" normalizeH="0" baseline="0" noProof="0" dirty="0">
                <a:ln>
                  <a:noFill/>
                </a:ln>
                <a:solidFill>
                  <a:srgbClr val="000000"/>
                </a:solidFill>
                <a:effectLst/>
                <a:uLnTx/>
                <a:uFillTx/>
                <a:latin typeface="宋体"/>
                <a:ea typeface="宋体" panose="02010600030101010101" pitchFamily="2" charset="-122"/>
                <a:cs typeface="+mn-cs"/>
              </a:rPr>
              <a:t>2.7</a:t>
            </a:r>
            <a:r>
              <a:rPr kumimoji="1" lang="zh-CN" altLang="en-US" sz="1800" b="1" i="0" u="none" strike="noStrike" kern="1200" cap="none" spc="0" normalizeH="0" baseline="0" noProof="0" dirty="0">
                <a:ln>
                  <a:noFill/>
                </a:ln>
                <a:solidFill>
                  <a:srgbClr val="000000"/>
                </a:solidFill>
                <a:effectLst/>
                <a:uLnTx/>
                <a:uFillTx/>
                <a:latin typeface="宋体"/>
                <a:ea typeface="宋体" panose="02010600030101010101" pitchFamily="2" charset="-122"/>
                <a:cs typeface="+mn-cs"/>
              </a:rPr>
              <a:t>千德拉，整个肿瘤平均必须</a:t>
            </a:r>
            <a:r>
              <a:rPr kumimoji="1" lang="en-US" altLang="zh-CN" sz="1800" b="1" i="0" u="none" strike="noStrike" kern="1200" cap="none" spc="0" normalizeH="0" baseline="0" noProof="0" dirty="0">
                <a:ln>
                  <a:noFill/>
                </a:ln>
                <a:solidFill>
                  <a:srgbClr val="000000"/>
                </a:solidFill>
                <a:effectLst/>
                <a:uLnTx/>
                <a:uFillTx/>
                <a:latin typeface="宋体"/>
                <a:ea typeface="宋体" panose="02010600030101010101" pitchFamily="2" charset="-122"/>
                <a:cs typeface="+mn-cs"/>
              </a:rPr>
              <a:t>6</a:t>
            </a:r>
            <a:r>
              <a:rPr kumimoji="1" lang="zh-CN" altLang="en-US" sz="1800" b="1" i="0" u="none" strike="noStrike" kern="1200" cap="none" spc="0" normalizeH="0" baseline="0" noProof="0" dirty="0">
                <a:ln>
                  <a:noFill/>
                </a:ln>
                <a:solidFill>
                  <a:srgbClr val="000000"/>
                </a:solidFill>
                <a:effectLst/>
                <a:uLnTx/>
                <a:uFillTx/>
                <a:latin typeface="宋体"/>
                <a:ea typeface="宋体" panose="02010600030101010101" pitchFamily="2" charset="-122"/>
                <a:cs typeface="+mn-cs"/>
              </a:rPr>
              <a:t>千德拉，肿瘤的中心至少为</a:t>
            </a:r>
            <a:r>
              <a:rPr kumimoji="1" lang="en-US" altLang="zh-CN" sz="1800" b="1" i="0" u="none" strike="noStrike" kern="1200" cap="none" spc="0" normalizeH="0" baseline="0" noProof="0" dirty="0">
                <a:ln>
                  <a:noFill/>
                </a:ln>
                <a:solidFill>
                  <a:srgbClr val="000000"/>
                </a:solidFill>
                <a:effectLst/>
                <a:uLnTx/>
                <a:uFillTx/>
                <a:latin typeface="宋体"/>
                <a:ea typeface="宋体" panose="02010600030101010101" pitchFamily="2" charset="-122"/>
                <a:cs typeface="+mn-cs"/>
              </a:rPr>
              <a:t>6</a:t>
            </a:r>
            <a:r>
              <a:rPr kumimoji="1" lang="zh-CN" altLang="en-US" sz="1800" b="1" i="0" u="none" strike="noStrike" kern="1200" cap="none" spc="0" normalizeH="0" baseline="0" noProof="0" dirty="0">
                <a:ln>
                  <a:noFill/>
                </a:ln>
                <a:solidFill>
                  <a:srgbClr val="000000"/>
                </a:solidFill>
                <a:effectLst/>
                <a:uLnTx/>
                <a:uFillTx/>
                <a:latin typeface="宋体"/>
                <a:ea typeface="宋体" panose="02010600030101010101" pitchFamily="2" charset="-122"/>
                <a:cs typeface="+mn-cs"/>
              </a:rPr>
              <a:t>千德拉。</a:t>
            </a:r>
            <a:endParaRPr kumimoji="1" lang="en-US" altLang="zh-CN" sz="18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标题 1">
            <a:extLst>
              <a:ext uri="{FF2B5EF4-FFF2-40B4-BE49-F238E27FC236}">
                <a16:creationId xmlns:a16="http://schemas.microsoft.com/office/drawing/2014/main" id="{67ECEE37-0DAC-4167-901D-716B00C62995}"/>
              </a:ext>
            </a:extLst>
          </p:cNvPr>
          <p:cNvSpPr>
            <a:spLocks noGrp="1" noChangeArrowheads="1"/>
          </p:cNvSpPr>
          <p:nvPr>
            <p:ph type="title"/>
          </p:nvPr>
        </p:nvSpPr>
        <p:spPr>
          <a:xfrm>
            <a:off x="457200" y="238125"/>
            <a:ext cx="8229600" cy="1139825"/>
          </a:xfrm>
        </p:spPr>
        <p:txBody>
          <a:bodyPr/>
          <a:lstStyle/>
          <a:p>
            <a:r>
              <a:rPr lang="zh-CN" altLang="en-US"/>
              <a:t>例子</a:t>
            </a:r>
            <a:r>
              <a:rPr lang="en-US" altLang="zh-CN"/>
              <a:t>-</a:t>
            </a:r>
            <a:r>
              <a:rPr lang="zh-CN" altLang="en-US"/>
              <a:t>放射治疗中的线性规划</a:t>
            </a:r>
          </a:p>
        </p:txBody>
      </p:sp>
      <p:sp>
        <p:nvSpPr>
          <p:cNvPr id="8" name="Rectangle 8">
            <a:extLst>
              <a:ext uri="{FF2B5EF4-FFF2-40B4-BE49-F238E27FC236}">
                <a16:creationId xmlns:a16="http://schemas.microsoft.com/office/drawing/2014/main" id="{6809A365-9AE8-4AB0-8D62-E5A04B67F7CC}"/>
              </a:ext>
            </a:extLst>
          </p:cNvPr>
          <p:cNvSpPr>
            <a:spLocks noChangeArrowheads="1"/>
          </p:cNvSpPr>
          <p:nvPr/>
        </p:nvSpPr>
        <p:spPr bwMode="auto">
          <a:xfrm>
            <a:off x="533400" y="881063"/>
            <a:ext cx="8305800" cy="2776537"/>
          </a:xfrm>
          <a:prstGeom prst="rect">
            <a:avLst/>
          </a:prstGeom>
          <a:noFill/>
          <a:ln w="25400">
            <a:noFill/>
            <a:miter lim="800000"/>
            <a:headEnd/>
            <a:tailEnd/>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宋体"/>
                <a:ea typeface="宋体"/>
                <a:cs typeface="+mn-cs"/>
              </a:rPr>
              <a:t>线性规划问题的建模</a:t>
            </a:r>
            <a:endParaRPr kumimoji="1" lang="en-US" altLang="zh-CN" sz="2400" b="1" i="0" u="none" strike="noStrike" kern="1200" cap="none" spc="0" normalizeH="0" baseline="0" noProof="0" dirty="0">
              <a:ln>
                <a:noFill/>
              </a:ln>
              <a:solidFill>
                <a:srgbClr val="000000"/>
              </a:solidFill>
              <a:effectLst/>
              <a:uLnTx/>
              <a:uFillTx/>
              <a:latin typeface="宋体"/>
              <a:ea typeface="宋体"/>
              <a:cs typeface="+mn-cs"/>
            </a:endParaRPr>
          </a:p>
          <a:p>
            <a:pPr marL="0" marR="0" lvl="0" indent="0" algn="l" defTabSz="914400" rtl="0" eaLnBrk="0" fontAlgn="base" latinLnBrk="0" hangingPunct="0">
              <a:lnSpc>
                <a:spcPct val="15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宋体"/>
                <a:ea typeface="宋体"/>
                <a:cs typeface="+mn-cs"/>
              </a:rPr>
              <a:t>两个决策变量</a:t>
            </a:r>
            <a:r>
              <a:rPr kumimoji="1" lang="en-US" altLang="zh-CN" sz="2400" b="1" i="1" u="none" strike="noStrike" kern="1200" cap="none" spc="0" normalizeH="0" baseline="0" noProof="0" dirty="0">
                <a:ln>
                  <a:noFill/>
                </a:ln>
                <a:solidFill>
                  <a:srgbClr val="000000"/>
                </a:solidFill>
                <a:effectLst/>
                <a:uLnTx/>
                <a:uFillTx/>
                <a:latin typeface="宋体"/>
                <a:ea typeface="宋体"/>
                <a:cs typeface="+mn-cs"/>
              </a:rPr>
              <a:t>x</a:t>
            </a:r>
            <a:r>
              <a:rPr kumimoji="1" lang="en-US" altLang="zh-CN" sz="2400" b="1" i="0" u="none" strike="noStrike" kern="1200" cap="none" spc="0" normalizeH="0" baseline="-25000" noProof="0" dirty="0">
                <a:ln>
                  <a:noFill/>
                </a:ln>
                <a:solidFill>
                  <a:srgbClr val="000000"/>
                </a:solidFill>
                <a:effectLst/>
                <a:uLnTx/>
                <a:uFillTx/>
                <a:latin typeface="宋体"/>
                <a:ea typeface="宋体"/>
                <a:cs typeface="+mn-cs"/>
              </a:rPr>
              <a:t>1</a:t>
            </a:r>
            <a:r>
              <a:rPr kumimoji="1" lang="en-US" altLang="zh-CN" sz="2400" b="1" i="0" u="none" strike="noStrike" kern="1200" cap="none" spc="0" normalizeH="0" baseline="0" noProof="0" dirty="0">
                <a:ln>
                  <a:noFill/>
                </a:ln>
                <a:solidFill>
                  <a:srgbClr val="000000"/>
                </a:solidFill>
                <a:effectLst/>
                <a:uLnTx/>
                <a:uFillTx/>
                <a:latin typeface="宋体"/>
                <a:ea typeface="宋体"/>
                <a:cs typeface="+mn-cs"/>
              </a:rPr>
              <a:t>,</a:t>
            </a:r>
            <a:r>
              <a:rPr kumimoji="1" lang="en-US" altLang="zh-CN" sz="2400" b="1" i="1" u="none" strike="noStrike" kern="1200" cap="none" spc="0" normalizeH="0" baseline="0" noProof="0" dirty="0">
                <a:ln>
                  <a:noFill/>
                </a:ln>
                <a:solidFill>
                  <a:srgbClr val="000000"/>
                </a:solidFill>
                <a:effectLst/>
                <a:uLnTx/>
                <a:uFillTx/>
                <a:latin typeface="宋体"/>
                <a:ea typeface="宋体"/>
                <a:cs typeface="+mn-cs"/>
              </a:rPr>
              <a:t>x</a:t>
            </a:r>
            <a:r>
              <a:rPr kumimoji="1" lang="en-US" altLang="zh-CN" sz="2400" b="1" i="0" u="none" strike="noStrike" kern="1200" cap="none" spc="0" normalizeH="0" baseline="-25000" noProof="0" dirty="0">
                <a:ln>
                  <a:noFill/>
                </a:ln>
                <a:solidFill>
                  <a:srgbClr val="000000"/>
                </a:solidFill>
                <a:effectLst/>
                <a:uLnTx/>
                <a:uFillTx/>
                <a:latin typeface="宋体"/>
                <a:ea typeface="宋体"/>
                <a:cs typeface="+mn-cs"/>
              </a:rPr>
              <a:t>2</a:t>
            </a:r>
            <a:r>
              <a:rPr kumimoji="1" lang="zh-CN" altLang="en-US" sz="2400" b="1" i="0" u="none" strike="noStrike" kern="1200" cap="none" spc="0" normalizeH="0" baseline="0" noProof="0" dirty="0">
                <a:ln>
                  <a:noFill/>
                </a:ln>
                <a:solidFill>
                  <a:srgbClr val="000000"/>
                </a:solidFill>
                <a:effectLst/>
                <a:uLnTx/>
                <a:uFillTx/>
                <a:latin typeface="宋体"/>
                <a:ea typeface="宋体"/>
                <a:cs typeface="+mn-cs"/>
              </a:rPr>
              <a:t>分别表示放射束</a:t>
            </a:r>
            <a:r>
              <a:rPr kumimoji="1" lang="en-US" altLang="zh-CN" sz="2400" b="1" i="0" u="none" strike="noStrike" kern="1200" cap="none" spc="0" normalizeH="0" baseline="0" noProof="0" dirty="0">
                <a:ln>
                  <a:noFill/>
                </a:ln>
                <a:solidFill>
                  <a:srgbClr val="000000"/>
                </a:solidFill>
                <a:effectLst/>
                <a:uLnTx/>
                <a:uFillTx/>
                <a:latin typeface="宋体"/>
                <a:ea typeface="宋体"/>
                <a:cs typeface="+mn-cs"/>
              </a:rPr>
              <a:t>1</a:t>
            </a:r>
            <a:r>
              <a:rPr kumimoji="1" lang="zh-CN" altLang="en-US" sz="2400" b="1" i="0" u="none" strike="noStrike" kern="1200" cap="none" spc="0" normalizeH="0" baseline="0" noProof="0" dirty="0">
                <a:ln>
                  <a:noFill/>
                </a:ln>
                <a:solidFill>
                  <a:srgbClr val="000000"/>
                </a:solidFill>
                <a:effectLst/>
                <a:uLnTx/>
                <a:uFillTx/>
                <a:latin typeface="宋体"/>
                <a:ea typeface="宋体"/>
                <a:cs typeface="+mn-cs"/>
              </a:rPr>
              <a:t>和放射束</a:t>
            </a:r>
            <a:r>
              <a:rPr kumimoji="1" lang="en-US" altLang="zh-CN" sz="2400" b="1" i="0" u="none" strike="noStrike" kern="1200" cap="none" spc="0" normalizeH="0" baseline="0" noProof="0" dirty="0">
                <a:ln>
                  <a:noFill/>
                </a:ln>
                <a:solidFill>
                  <a:srgbClr val="000000"/>
                </a:solidFill>
                <a:effectLst/>
                <a:uLnTx/>
                <a:uFillTx/>
                <a:latin typeface="宋体"/>
                <a:ea typeface="宋体"/>
                <a:cs typeface="+mn-cs"/>
              </a:rPr>
              <a:t>2</a:t>
            </a:r>
            <a:r>
              <a:rPr kumimoji="1" lang="zh-CN" altLang="en-US" sz="2400" b="1" i="0" u="none" strike="noStrike" kern="1200" cap="none" spc="0" normalizeH="0" baseline="0" noProof="0" dirty="0">
                <a:ln>
                  <a:noFill/>
                </a:ln>
                <a:solidFill>
                  <a:srgbClr val="000000"/>
                </a:solidFill>
                <a:effectLst/>
                <a:uLnTx/>
                <a:uFillTx/>
                <a:latin typeface="宋体"/>
                <a:ea typeface="宋体"/>
                <a:cs typeface="+mn-cs"/>
              </a:rPr>
              <a:t>的射入点的放射量（千德拉）。因为到达健康组织的放射量应该最小化，用目标函数</a:t>
            </a:r>
            <a:r>
              <a:rPr kumimoji="1" lang="en-US" altLang="zh-CN" sz="2400" b="1" i="1" u="none" strike="noStrike" kern="1200" cap="none" spc="0" normalizeH="0" baseline="0" noProof="0" dirty="0">
                <a:ln>
                  <a:noFill/>
                </a:ln>
                <a:solidFill>
                  <a:srgbClr val="000000"/>
                </a:solidFill>
                <a:effectLst/>
                <a:uLnTx/>
                <a:uFillTx/>
                <a:latin typeface="宋体"/>
                <a:ea typeface="宋体"/>
                <a:cs typeface="+mn-cs"/>
              </a:rPr>
              <a:t>z</a:t>
            </a:r>
            <a:r>
              <a:rPr kumimoji="1" lang="zh-CN" altLang="en-US" sz="2400" b="1" i="0" u="none" strike="noStrike" kern="1200" cap="none" spc="0" normalizeH="0" baseline="0" noProof="0" dirty="0">
                <a:ln>
                  <a:noFill/>
                </a:ln>
                <a:solidFill>
                  <a:srgbClr val="000000"/>
                </a:solidFill>
                <a:effectLst/>
                <a:uLnTx/>
                <a:uFillTx/>
                <a:latin typeface="宋体"/>
                <a:ea typeface="宋体"/>
                <a:cs typeface="+mn-cs"/>
              </a:rPr>
              <a:t>表示。使用表</a:t>
            </a:r>
            <a:r>
              <a:rPr kumimoji="1" lang="en-US" altLang="zh-CN" sz="2400" b="1" i="0" u="none" strike="noStrike" kern="1200" cap="none" spc="0" normalizeH="0" baseline="0" noProof="0" dirty="0">
                <a:ln>
                  <a:noFill/>
                </a:ln>
                <a:solidFill>
                  <a:srgbClr val="000000"/>
                </a:solidFill>
                <a:effectLst/>
                <a:uLnTx/>
                <a:uFillTx/>
                <a:latin typeface="宋体"/>
                <a:ea typeface="宋体"/>
                <a:cs typeface="+mn-cs"/>
              </a:rPr>
              <a:t>3.7</a:t>
            </a:r>
            <a:r>
              <a:rPr kumimoji="1" lang="zh-CN" altLang="en-US" sz="2400" b="1" i="0" u="none" strike="noStrike" kern="1200" cap="none" spc="0" normalizeH="0" baseline="0" noProof="0" dirty="0">
                <a:ln>
                  <a:noFill/>
                </a:ln>
                <a:solidFill>
                  <a:srgbClr val="000000"/>
                </a:solidFill>
                <a:effectLst/>
                <a:uLnTx/>
                <a:uFillTx/>
                <a:latin typeface="宋体"/>
                <a:ea typeface="宋体"/>
                <a:cs typeface="+mn-cs"/>
              </a:rPr>
              <a:t>的数据可以直接建立下面的线性规划模型</a:t>
            </a:r>
            <a:endParaRPr kumimoji="1" lang="en-US" altLang="zh-CN" sz="2400" b="1" i="0" u="none" strike="noStrike" kern="1200" cap="none" spc="0" normalizeH="0" baseline="0" noProof="0" dirty="0">
              <a:ln>
                <a:noFill/>
              </a:ln>
              <a:solidFill>
                <a:srgbClr val="000000"/>
              </a:solidFill>
              <a:effectLst/>
              <a:uLnTx/>
              <a:uFillTx/>
              <a:latin typeface="宋体"/>
              <a:ea typeface="宋体"/>
              <a:cs typeface="+mn-cs"/>
            </a:endParaRPr>
          </a:p>
        </p:txBody>
      </p:sp>
      <p:graphicFrame>
        <p:nvGraphicFramePr>
          <p:cNvPr id="136196" name="对象 33">
            <a:extLst>
              <a:ext uri="{FF2B5EF4-FFF2-40B4-BE49-F238E27FC236}">
                <a16:creationId xmlns:a16="http://schemas.microsoft.com/office/drawing/2014/main" id="{D9CC495A-9397-4E7C-878D-01725C59757F}"/>
              </a:ext>
            </a:extLst>
          </p:cNvPr>
          <p:cNvGraphicFramePr>
            <a:graphicFrameLocks noChangeAspect="1"/>
          </p:cNvGraphicFramePr>
          <p:nvPr/>
        </p:nvGraphicFramePr>
        <p:xfrm>
          <a:off x="2895600" y="3657600"/>
          <a:ext cx="2917825" cy="2316163"/>
        </p:xfrm>
        <a:graphic>
          <a:graphicData uri="http://schemas.openxmlformats.org/presentationml/2006/ole">
            <mc:AlternateContent xmlns:mc="http://schemas.openxmlformats.org/markup-compatibility/2006">
              <mc:Choice xmlns:v="urn:schemas-microsoft-com:vml" Requires="v">
                <p:oleObj spid="_x0000_s3084" name="Equation" r:id="rId3" imgW="1231366" imgH="977476" progId="Equation.DSMT4">
                  <p:embed/>
                </p:oleObj>
              </mc:Choice>
              <mc:Fallback>
                <p:oleObj name="Equation" r:id="rId3" imgW="1231366" imgH="977476" progId="Equation.DSMT4">
                  <p:embed/>
                  <p:pic>
                    <p:nvPicPr>
                      <p:cNvPr id="136196" name="对象 33">
                        <a:extLst>
                          <a:ext uri="{FF2B5EF4-FFF2-40B4-BE49-F238E27FC236}">
                            <a16:creationId xmlns:a16="http://schemas.microsoft.com/office/drawing/2014/main" id="{D9CC495A-9397-4E7C-878D-01725C5975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3657600"/>
                        <a:ext cx="2917825" cy="231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标题 1">
            <a:extLst>
              <a:ext uri="{FF2B5EF4-FFF2-40B4-BE49-F238E27FC236}">
                <a16:creationId xmlns:a16="http://schemas.microsoft.com/office/drawing/2014/main" id="{09DABBCE-5E5E-4A33-B57C-2FA5FD178F4D}"/>
              </a:ext>
            </a:extLst>
          </p:cNvPr>
          <p:cNvSpPr>
            <a:spLocks noGrp="1" noChangeArrowheads="1"/>
          </p:cNvSpPr>
          <p:nvPr>
            <p:ph type="title"/>
          </p:nvPr>
        </p:nvSpPr>
        <p:spPr>
          <a:xfrm>
            <a:off x="457200" y="238125"/>
            <a:ext cx="8229600" cy="1139825"/>
          </a:xfrm>
        </p:spPr>
        <p:txBody>
          <a:bodyPr/>
          <a:lstStyle/>
          <a:p>
            <a:r>
              <a:rPr lang="zh-CN" altLang="en-US"/>
              <a:t>例子</a:t>
            </a:r>
            <a:r>
              <a:rPr lang="en-US" altLang="zh-CN"/>
              <a:t>-</a:t>
            </a:r>
            <a:r>
              <a:rPr lang="zh-CN" altLang="en-US"/>
              <a:t>放射治疗中的线性规划</a:t>
            </a:r>
          </a:p>
        </p:txBody>
      </p:sp>
      <p:pic>
        <p:nvPicPr>
          <p:cNvPr id="137219" name="图片 3">
            <a:extLst>
              <a:ext uri="{FF2B5EF4-FFF2-40B4-BE49-F238E27FC236}">
                <a16:creationId xmlns:a16="http://schemas.microsoft.com/office/drawing/2014/main" id="{0F3E3F45-13C9-45B3-9D3F-455F2921D9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3463" y="1828800"/>
            <a:ext cx="4067175" cy="370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20" name="图片 5">
            <a:extLst>
              <a:ext uri="{FF2B5EF4-FFF2-40B4-BE49-F238E27FC236}">
                <a16:creationId xmlns:a16="http://schemas.microsoft.com/office/drawing/2014/main" id="{98948E54-766A-4F00-832F-DED6B33E2D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475" y="3902075"/>
            <a:ext cx="4352925"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221" name="矩形 9">
            <a:extLst>
              <a:ext uri="{FF2B5EF4-FFF2-40B4-BE49-F238E27FC236}">
                <a16:creationId xmlns:a16="http://schemas.microsoft.com/office/drawing/2014/main" id="{10C227B3-FAAD-405F-937B-E8D65A720D48}"/>
              </a:ext>
            </a:extLst>
          </p:cNvPr>
          <p:cNvSpPr>
            <a:spLocks noChangeArrowheads="1"/>
          </p:cNvSpPr>
          <p:nvPr/>
        </p:nvSpPr>
        <p:spPr bwMode="auto">
          <a:xfrm>
            <a:off x="1066800" y="914400"/>
            <a:ext cx="30099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0000FF"/>
                </a:solidFill>
                <a:effectLst/>
                <a:uLnTx/>
                <a:uFillTx/>
                <a:latin typeface="Courier New" panose="02070309020205020404" pitchFamily="49" charset="0"/>
                <a:ea typeface="宋体" panose="02010600030101010101" pitchFamily="2" charset="-122"/>
                <a:cs typeface="+mn-cs"/>
              </a:rPr>
              <a:t>model</a:t>
            </a:r>
            <a:r>
              <a:rPr kumimoji="0" lang="en-US" altLang="zh-CN" sz="1800" b="0" i="0" u="none" strike="noStrike" kern="1200" cap="none" spc="0" normalizeH="0" baseline="0" noProof="0">
                <a:ln>
                  <a:noFill/>
                </a:ln>
                <a:solidFill>
                  <a:srgbClr val="000000"/>
                </a:solidFill>
                <a:effectLst/>
                <a:uLnTx/>
                <a:uFillTx/>
                <a:latin typeface="Courier New" panose="02070309020205020404" pitchFamily="49" charset="0"/>
                <a:ea typeface="宋体" panose="02010600030101010101" pitchFamily="2" charset="-122"/>
                <a:cs typeface="+mn-cs"/>
              </a:rPr>
              <a:t>:</a:t>
            </a:r>
            <a:endParaRPr kumimoji="0" lang="zh-CN" altLang="en-US" sz="1800" b="0" i="0" u="none" strike="noStrike" kern="1200" cap="none" spc="0" normalizeH="0" baseline="0" noProof="0">
              <a:ln>
                <a:noFill/>
              </a:ln>
              <a:solidFill>
                <a:srgbClr val="000000"/>
              </a:solidFill>
              <a:effectLst/>
              <a:uLnTx/>
              <a:uFillTx/>
              <a:latin typeface="Courier New" panose="02070309020205020404" pitchFamily="49"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0000FF"/>
                </a:solidFill>
                <a:effectLst/>
                <a:uLnTx/>
                <a:uFillTx/>
                <a:latin typeface="Courier New" panose="02070309020205020404" pitchFamily="49" charset="0"/>
                <a:ea typeface="宋体" panose="02010600030101010101" pitchFamily="2" charset="-122"/>
                <a:cs typeface="+mn-cs"/>
              </a:rPr>
              <a:t>min</a:t>
            </a:r>
            <a:r>
              <a:rPr kumimoji="0" lang="zh-CN" altLang="en-US" sz="1800" b="0" i="0" u="none" strike="noStrike" kern="1200" cap="none" spc="0" normalizeH="0" baseline="0" noProof="0">
                <a:ln>
                  <a:noFill/>
                </a:ln>
                <a:solidFill>
                  <a:srgbClr val="000000"/>
                </a:solidFill>
                <a:effectLst/>
                <a:uLnTx/>
                <a:uFillTx/>
                <a:latin typeface="Courier New" panose="02070309020205020404" pitchFamily="49" charset="0"/>
                <a:ea typeface="宋体" panose="02010600030101010101" pitchFamily="2" charset="-122"/>
                <a:cs typeface="+mn-cs"/>
              </a:rPr>
              <a:t> </a:t>
            </a:r>
            <a:r>
              <a:rPr kumimoji="0" lang="en-US" altLang="zh-CN" sz="1800" b="0" i="0" u="none" strike="noStrike" kern="1200" cap="none" spc="0" normalizeH="0" baseline="0" noProof="0">
                <a:ln>
                  <a:noFill/>
                </a:ln>
                <a:solidFill>
                  <a:srgbClr val="000000"/>
                </a:solidFill>
                <a:effectLst/>
                <a:uLnTx/>
                <a:uFillTx/>
                <a:latin typeface="Courier New" panose="02070309020205020404" pitchFamily="49" charset="0"/>
                <a:ea typeface="宋体" panose="02010600030101010101" pitchFamily="2" charset="-122"/>
                <a:cs typeface="+mn-cs"/>
              </a:rPr>
              <a:t>=0.4*x1+0.5*x2;</a:t>
            </a:r>
            <a:endParaRPr kumimoji="0" lang="zh-CN" altLang="en-US" sz="1800" b="0" i="0" u="none" strike="noStrike" kern="1200" cap="none" spc="0" normalizeH="0" baseline="0" noProof="0">
              <a:ln>
                <a:noFill/>
              </a:ln>
              <a:solidFill>
                <a:srgbClr val="000000"/>
              </a:solidFill>
              <a:effectLst/>
              <a:uLnTx/>
              <a:uFillTx/>
              <a:latin typeface="Courier New" panose="02070309020205020404" pitchFamily="49"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urier New" panose="02070309020205020404" pitchFamily="49"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Courier New" panose="02070309020205020404" pitchFamily="49" charset="0"/>
                <a:ea typeface="宋体" panose="02010600030101010101" pitchFamily="2" charset="-122"/>
                <a:cs typeface="+mn-cs"/>
              </a:rPr>
              <a:t>0.3*x1+0.1*x2&lt;=2.7;</a:t>
            </a:r>
            <a:endParaRPr kumimoji="0" lang="zh-CN" altLang="en-US" sz="1800" b="0" i="0" u="none" strike="noStrike" kern="1200" cap="none" spc="0" normalizeH="0" baseline="0" noProof="0">
              <a:ln>
                <a:noFill/>
              </a:ln>
              <a:solidFill>
                <a:srgbClr val="000000"/>
              </a:solidFill>
              <a:effectLst/>
              <a:uLnTx/>
              <a:uFillTx/>
              <a:latin typeface="Courier New" panose="02070309020205020404" pitchFamily="49"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Courier New" panose="02070309020205020404" pitchFamily="49" charset="0"/>
                <a:ea typeface="宋体" panose="02010600030101010101" pitchFamily="2" charset="-122"/>
                <a:cs typeface="+mn-cs"/>
              </a:rPr>
              <a:t>0.5*x1+0.5*x2=6;</a:t>
            </a:r>
            <a:endParaRPr kumimoji="0" lang="zh-CN" altLang="en-US" sz="1800" b="0" i="0" u="none" strike="noStrike" kern="1200" cap="none" spc="0" normalizeH="0" baseline="0" noProof="0">
              <a:ln>
                <a:noFill/>
              </a:ln>
              <a:solidFill>
                <a:srgbClr val="000000"/>
              </a:solidFill>
              <a:effectLst/>
              <a:uLnTx/>
              <a:uFillTx/>
              <a:latin typeface="Courier New" panose="02070309020205020404" pitchFamily="49"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Courier New" panose="02070309020205020404" pitchFamily="49" charset="0"/>
                <a:ea typeface="宋体" panose="02010600030101010101" pitchFamily="2" charset="-122"/>
                <a:cs typeface="+mn-cs"/>
              </a:rPr>
              <a:t>0.6*x1+0.4*x2&gt;=6;</a:t>
            </a:r>
            <a:endParaRPr kumimoji="0" lang="zh-CN" altLang="en-US" sz="1800" b="0" i="0" u="none" strike="noStrike" kern="1200" cap="none" spc="0" normalizeH="0" baseline="0" noProof="0">
              <a:ln>
                <a:noFill/>
              </a:ln>
              <a:solidFill>
                <a:srgbClr val="000000"/>
              </a:solidFill>
              <a:effectLst/>
              <a:uLnTx/>
              <a:uFillTx/>
              <a:latin typeface="Courier New" panose="02070309020205020404" pitchFamily="49"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Courier New" panose="02070309020205020404" pitchFamily="49" charset="0"/>
                <a:ea typeface="宋体" panose="02010600030101010101" pitchFamily="2" charset="-122"/>
                <a:cs typeface="+mn-cs"/>
              </a:rPr>
              <a:t>x1&gt;=0;</a:t>
            </a:r>
            <a:endParaRPr kumimoji="0" lang="zh-CN" altLang="en-US" sz="1800" b="0" i="0" u="none" strike="noStrike" kern="1200" cap="none" spc="0" normalizeH="0" baseline="0" noProof="0">
              <a:ln>
                <a:noFill/>
              </a:ln>
              <a:solidFill>
                <a:srgbClr val="000000"/>
              </a:solidFill>
              <a:effectLst/>
              <a:uLnTx/>
              <a:uFillTx/>
              <a:latin typeface="Courier New" panose="02070309020205020404" pitchFamily="49"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Courier New" panose="02070309020205020404" pitchFamily="49" charset="0"/>
                <a:ea typeface="宋体" panose="02010600030101010101" pitchFamily="2" charset="-122"/>
                <a:cs typeface="+mn-cs"/>
              </a:rPr>
              <a:t>x2&gt;=0;</a:t>
            </a:r>
            <a:endParaRPr kumimoji="0" lang="zh-CN" altLang="en-US" sz="1800" b="0" i="0" u="none" strike="noStrike" kern="1200" cap="none" spc="0" normalizeH="0" baseline="0" noProof="0">
              <a:ln>
                <a:noFill/>
              </a:ln>
              <a:solidFill>
                <a:srgbClr val="000000"/>
              </a:solidFill>
              <a:effectLst/>
              <a:uLnTx/>
              <a:uFillTx/>
              <a:latin typeface="Courier New" panose="02070309020205020404" pitchFamily="49"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urier New" panose="02070309020205020404" pitchFamily="49"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0000FF"/>
                </a:solidFill>
                <a:effectLst/>
                <a:uLnTx/>
                <a:uFillTx/>
                <a:latin typeface="Courier New" panose="02070309020205020404" pitchFamily="49" charset="0"/>
                <a:ea typeface="宋体" panose="02010600030101010101" pitchFamily="2" charset="-122"/>
                <a:cs typeface="+mn-cs"/>
              </a:rPr>
              <a:t>end</a:t>
            </a:r>
            <a:endParaRPr kumimoji="0" lang="zh-CN" altLang="en-US" sz="1800" b="0" i="0" u="none" strike="noStrike" kern="1200" cap="none" spc="0" normalizeH="0" baseline="0" noProof="0">
              <a:ln>
                <a:noFill/>
              </a:ln>
              <a:solidFill>
                <a:srgbClr val="000000"/>
              </a:solidFill>
              <a:effectLst/>
              <a:uLnTx/>
              <a:uFillTx/>
              <a:latin typeface="Courier New" panose="02070309020205020404" pitchFamily="49" charset="0"/>
              <a:ea typeface="宋体" panose="02010600030101010101" pitchFamily="2" charset="-122"/>
              <a:cs typeface="+mn-cs"/>
            </a:endParaRPr>
          </a:p>
        </p:txBody>
      </p:sp>
    </p:spTree>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绪论">
  <a:themeElements>
    <a:clrScheme name="绪论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绪论">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绪论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绪论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绪论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绪论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绪论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绪论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绪论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绪论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绪论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
  <Words>2269</Words>
  <Application>Microsoft Office PowerPoint</Application>
  <PresentationFormat>全屏显示(4:3)</PresentationFormat>
  <Paragraphs>809</Paragraphs>
  <Slides>43</Slides>
  <Notes>1</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2</vt:i4>
      </vt:variant>
      <vt:variant>
        <vt:lpstr>幻灯片标题</vt:lpstr>
      </vt:variant>
      <vt:variant>
        <vt:i4>43</vt:i4>
      </vt:variant>
    </vt:vector>
  </HeadingPairs>
  <TitlesOfParts>
    <vt:vector size="61" baseType="lpstr">
      <vt:lpstr>等线</vt:lpstr>
      <vt:lpstr>等线 Light</vt:lpstr>
      <vt:lpstr>黑体</vt:lpstr>
      <vt:lpstr>华文细黑</vt:lpstr>
      <vt:lpstr>宋体</vt:lpstr>
      <vt:lpstr>Arial</vt:lpstr>
      <vt:lpstr>Calibri</vt:lpstr>
      <vt:lpstr>Calibri Light</vt:lpstr>
      <vt:lpstr>Cambria Math</vt:lpstr>
      <vt:lpstr>Courier New</vt:lpstr>
      <vt:lpstr>Garamond</vt:lpstr>
      <vt:lpstr>Symbol</vt:lpstr>
      <vt:lpstr>Times New Roman</vt:lpstr>
      <vt:lpstr>Wingdings</vt:lpstr>
      <vt:lpstr>Office 主题​​</vt:lpstr>
      <vt:lpstr>绪论</vt:lpstr>
      <vt:lpstr>Equation</vt:lpstr>
      <vt:lpstr>公式</vt:lpstr>
      <vt:lpstr>第二章之第三节</vt:lpstr>
      <vt:lpstr>通过矩阵表述获得单纯形表的基本思路</vt:lpstr>
      <vt:lpstr>例子</vt:lpstr>
      <vt:lpstr>PowerPoint 演示文稿</vt:lpstr>
      <vt:lpstr>PowerPoint 演示文稿</vt:lpstr>
      <vt:lpstr>复习：高斯消元法求逆矩阵</vt:lpstr>
      <vt:lpstr>PowerPoint 演示文稿</vt:lpstr>
      <vt:lpstr>习题：</vt:lpstr>
      <vt:lpstr>PowerPoint 演示文稿</vt:lpstr>
      <vt:lpstr>迭代-高斯消元法</vt:lpstr>
      <vt:lpstr>迭代-高斯消元法</vt:lpstr>
      <vt:lpstr>迭代-高斯消元法</vt:lpstr>
      <vt:lpstr>迭代-高斯消元法</vt:lpstr>
      <vt:lpstr>单纯形表</vt:lpstr>
      <vt:lpstr>单纯形表</vt:lpstr>
      <vt:lpstr>单纯形表</vt:lpstr>
      <vt:lpstr>单纯形表</vt:lpstr>
      <vt:lpstr>有没有更加智能的求解方法呢？</vt:lpstr>
      <vt:lpstr>利用Lingo求解线性规划问题</vt:lpstr>
      <vt:lpstr>第二章之第四节</vt:lpstr>
      <vt:lpstr>单纯形法的进一步讨论</vt:lpstr>
      <vt:lpstr>单纯形法的进一步讨论</vt:lpstr>
      <vt:lpstr>大 M 法</vt:lpstr>
      <vt:lpstr>例子：</vt:lpstr>
      <vt:lpstr>PowerPoint 演示文稿</vt:lpstr>
      <vt:lpstr>两阶段法: 自学</vt:lpstr>
      <vt:lpstr>例子</vt:lpstr>
      <vt:lpstr>PowerPoint 演示文稿</vt:lpstr>
      <vt:lpstr>PowerPoint 演示文稿</vt:lpstr>
      <vt:lpstr>解的判别（目标函数极小化）</vt:lpstr>
      <vt:lpstr>基变换（目标函数极小化）</vt:lpstr>
      <vt:lpstr>PowerPoint 演示文稿</vt:lpstr>
      <vt:lpstr>退化解</vt:lpstr>
      <vt:lpstr>单纯形法标准化（P47）</vt:lpstr>
      <vt:lpstr>单纯形法计算框图（Max类型，P47）</vt:lpstr>
      <vt:lpstr>课后练习题（运筹学第4版）</vt:lpstr>
      <vt:lpstr>课后练习题 2.3(1)</vt:lpstr>
      <vt:lpstr>课后练习题 2.8</vt:lpstr>
      <vt:lpstr>第2章完！</vt:lpstr>
      <vt:lpstr>例子-放射治疗中的线性规划</vt:lpstr>
      <vt:lpstr>例子-放射治疗中的线性规划</vt:lpstr>
      <vt:lpstr>例子-放射治疗中的线性规划</vt:lpstr>
      <vt:lpstr>例子-放射治疗中的线性规划</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dc:title>第二章之第三节</dc:title>
  <cp:revision>22</cp:revision>
</cp:coreProperties>
</file>